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3">
  <p:sldMasterIdLst>
    <p:sldMasterId id="2147483648" r:id="rId1"/>
  </p:sldMasterIdLst>
  <p:notesMasterIdLst>
    <p:notesMasterId r:id="rId4"/>
  </p:notesMasterIdLst>
  <p:sldIdLst>
    <p:sldId id="256" r:id="rId3"/>
    <p:sldId id="359" r:id="rId5"/>
    <p:sldId id="360" r:id="rId6"/>
    <p:sldId id="333" r:id="rId7"/>
    <p:sldId id="357" r:id="rId8"/>
    <p:sldId id="344" r:id="rId9"/>
    <p:sldId id="358" r:id="rId10"/>
    <p:sldId id="361" r:id="rId11"/>
    <p:sldId id="362" r:id="rId12"/>
    <p:sldId id="363" r:id="rId13"/>
    <p:sldId id="364" r:id="rId14"/>
    <p:sldId id="365" r:id="rId15"/>
    <p:sldId id="366" r:id="rId16"/>
    <p:sldId id="367" r:id="rId17"/>
    <p:sldId id="368" r:id="rId18"/>
    <p:sldId id="369" r:id="rId19"/>
    <p:sldId id="370" r:id="rId20"/>
    <p:sldId id="371" r:id="rId21"/>
    <p:sldId id="372" r:id="rId22"/>
    <p:sldId id="373" r:id="rId23"/>
    <p:sldId id="374" r:id="rId24"/>
    <p:sldId id="375" r:id="rId25"/>
    <p:sldId id="376" r:id="rId26"/>
    <p:sldId id="377" r:id="rId27"/>
    <p:sldId id="378" r:id="rId28"/>
    <p:sldId id="379" r:id="rId29"/>
    <p:sldId id="380" r:id="rId30"/>
    <p:sldId id="381" r:id="rId31"/>
    <p:sldId id="382" r:id="rId32"/>
    <p:sldId id="383" r:id="rId33"/>
    <p:sldId id="398" r:id="rId34"/>
    <p:sldId id="403" r:id="rId35"/>
    <p:sldId id="404" r:id="rId36"/>
    <p:sldId id="400" r:id="rId37"/>
    <p:sldId id="401" r:id="rId38"/>
    <p:sldId id="402" r:id="rId39"/>
    <p:sldId id="405" r:id="rId40"/>
    <p:sldId id="406" r:id="rId41"/>
    <p:sldId id="407" r:id="rId42"/>
    <p:sldId id="408" r:id="rId43"/>
    <p:sldId id="409" r:id="rId44"/>
    <p:sldId id="410" r:id="rId45"/>
    <p:sldId id="411" r:id="rId46"/>
    <p:sldId id="412" r:id="rId47"/>
    <p:sldId id="413" r:id="rId48"/>
    <p:sldId id="414" r:id="rId49"/>
    <p:sldId id="415" r:id="rId50"/>
    <p:sldId id="416" r:id="rId51"/>
    <p:sldId id="417" r:id="rId52"/>
    <p:sldId id="418" r:id="rId53"/>
    <p:sldId id="419" r:id="rId54"/>
    <p:sldId id="460" r:id="rId55"/>
    <p:sldId id="421" r:id="rId56"/>
    <p:sldId id="422" r:id="rId57"/>
    <p:sldId id="423" r:id="rId58"/>
    <p:sldId id="424" r:id="rId59"/>
    <p:sldId id="425" r:id="rId60"/>
    <p:sldId id="426" r:id="rId61"/>
    <p:sldId id="427" r:id="rId62"/>
    <p:sldId id="428" r:id="rId63"/>
    <p:sldId id="429" r:id="rId64"/>
    <p:sldId id="430" r:id="rId65"/>
    <p:sldId id="431" r:id="rId66"/>
    <p:sldId id="432" r:id="rId67"/>
    <p:sldId id="433" r:id="rId68"/>
    <p:sldId id="434" r:id="rId69"/>
    <p:sldId id="435" r:id="rId70"/>
    <p:sldId id="436" r:id="rId71"/>
    <p:sldId id="437" r:id="rId72"/>
    <p:sldId id="438" r:id="rId73"/>
    <p:sldId id="439" r:id="rId74"/>
    <p:sldId id="440" r:id="rId75"/>
    <p:sldId id="441" r:id="rId76"/>
    <p:sldId id="442" r:id="rId77"/>
    <p:sldId id="443" r:id="rId78"/>
    <p:sldId id="444" r:id="rId79"/>
    <p:sldId id="445" r:id="rId80"/>
    <p:sldId id="446" r:id="rId81"/>
    <p:sldId id="447" r:id="rId82"/>
    <p:sldId id="448" r:id="rId83"/>
    <p:sldId id="449" r:id="rId84"/>
    <p:sldId id="450" r:id="rId85"/>
    <p:sldId id="451" r:id="rId86"/>
    <p:sldId id="452" r:id="rId87"/>
    <p:sldId id="453" r:id="rId88"/>
    <p:sldId id="454" r:id="rId89"/>
    <p:sldId id="455" r:id="rId90"/>
    <p:sldId id="456" r:id="rId91"/>
    <p:sldId id="457" r:id="rId92"/>
    <p:sldId id="458" r:id="rId93"/>
    <p:sldId id="459" r:id="rId94"/>
    <p:sldId id="461" r:id="rId95"/>
    <p:sldId id="462" r:id="rId96"/>
    <p:sldId id="463" r:id="rId97"/>
    <p:sldId id="464" r:id="rId98"/>
    <p:sldId id="465" r:id="rId99"/>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46" userDrawn="1">
          <p15:clr>
            <a:srgbClr val="A4A3A4"/>
          </p15:clr>
        </p15:guide>
        <p15:guide id="2" pos="5375" userDrawn="1">
          <p15:clr>
            <a:srgbClr val="A4A3A4"/>
          </p15:clr>
        </p15:guide>
        <p15:guide id="3" pos="385" userDrawn="1">
          <p15:clr>
            <a:srgbClr val="A4A3A4"/>
          </p15:clr>
        </p15:guide>
        <p15:guide id="4" orient="horz" pos="3997" userDrawn="1">
          <p15:clr>
            <a:srgbClr val="A4A3A4"/>
          </p15:clr>
        </p15:guide>
        <p15:guide id="5" orient="horz" pos="288" userDrawn="1">
          <p15:clr>
            <a:srgbClr val="A4A3A4"/>
          </p15:clr>
        </p15:guide>
        <p15:guide id="6" orient="horz" pos="333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CC"/>
    <a:srgbClr val="0000FF"/>
    <a:srgbClr val="FF00FF"/>
    <a:srgbClr val="FF66FF"/>
    <a:srgbClr val="66FFCC"/>
    <a:srgbClr val="6600FF"/>
    <a:srgbClr val="66FF66"/>
    <a:srgbClr val="0070C0"/>
    <a:srgbClr val="00CC00"/>
    <a:srgbClr val="26262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67" autoAdjust="0"/>
    <p:restoredTop sz="94645" autoAdjust="0"/>
  </p:normalViewPr>
  <p:slideViewPr>
    <p:cSldViewPr snapToGrid="0" showGuides="1">
      <p:cViewPr varScale="1">
        <p:scale>
          <a:sx n="125" d="100"/>
          <a:sy n="125" d="100"/>
        </p:scale>
        <p:origin x="480" y="90"/>
      </p:cViewPr>
      <p:guideLst>
        <p:guide orient="horz" pos="346"/>
        <p:guide pos="5375"/>
        <p:guide pos="385"/>
        <p:guide orient="horz" pos="3997"/>
        <p:guide orient="horz" pos="288"/>
        <p:guide orient="horz" pos="3331"/>
      </p:guideLst>
    </p:cSldViewPr>
  </p:slideViewPr>
  <p:notesTextViewPr>
    <p:cViewPr>
      <p:scale>
        <a:sx n="3" d="2"/>
        <a:sy n="3" d="2"/>
      </p:scale>
      <p:origin x="0" y="0"/>
    </p:cViewPr>
  </p:notesTextViewPr>
  <p:sorterViewPr>
    <p:cViewPr>
      <p:scale>
        <a:sx n="125" d="100"/>
        <a:sy n="125" d="100"/>
      </p:scale>
      <p:origin x="0" y="0"/>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6.xml"/><Relationship Id="rId98" Type="http://schemas.openxmlformats.org/officeDocument/2006/relationships/slide" Target="slides/slide95.xml"/><Relationship Id="rId97" Type="http://schemas.openxmlformats.org/officeDocument/2006/relationships/slide" Target="slides/slide94.xml"/><Relationship Id="rId96" Type="http://schemas.openxmlformats.org/officeDocument/2006/relationships/slide" Target="slides/slide93.xml"/><Relationship Id="rId95" Type="http://schemas.openxmlformats.org/officeDocument/2006/relationships/slide" Target="slides/slide92.xml"/><Relationship Id="rId94" Type="http://schemas.openxmlformats.org/officeDocument/2006/relationships/slide" Target="slides/slide91.xml"/><Relationship Id="rId93" Type="http://schemas.openxmlformats.org/officeDocument/2006/relationships/slide" Target="slides/slide90.xml"/><Relationship Id="rId92" Type="http://schemas.openxmlformats.org/officeDocument/2006/relationships/slide" Target="slides/slide89.xml"/><Relationship Id="rId91" Type="http://schemas.openxmlformats.org/officeDocument/2006/relationships/slide" Target="slides/slide88.xml"/><Relationship Id="rId90" Type="http://schemas.openxmlformats.org/officeDocument/2006/relationships/slide" Target="slides/slide87.xml"/><Relationship Id="rId9" Type="http://schemas.openxmlformats.org/officeDocument/2006/relationships/slide" Target="slides/slide6.xml"/><Relationship Id="rId89" Type="http://schemas.openxmlformats.org/officeDocument/2006/relationships/slide" Target="slides/slide86.xml"/><Relationship Id="rId88" Type="http://schemas.openxmlformats.org/officeDocument/2006/relationships/slide" Target="slides/slide85.xml"/><Relationship Id="rId87" Type="http://schemas.openxmlformats.org/officeDocument/2006/relationships/slide" Target="slides/slide84.xml"/><Relationship Id="rId86" Type="http://schemas.openxmlformats.org/officeDocument/2006/relationships/slide" Target="slides/slide83.xml"/><Relationship Id="rId85" Type="http://schemas.openxmlformats.org/officeDocument/2006/relationships/slide" Target="slides/slide82.xml"/><Relationship Id="rId84" Type="http://schemas.openxmlformats.org/officeDocument/2006/relationships/slide" Target="slides/slide81.xml"/><Relationship Id="rId83" Type="http://schemas.openxmlformats.org/officeDocument/2006/relationships/slide" Target="slides/slide80.xml"/><Relationship Id="rId82" Type="http://schemas.openxmlformats.org/officeDocument/2006/relationships/slide" Target="slides/slide79.xml"/><Relationship Id="rId81" Type="http://schemas.openxmlformats.org/officeDocument/2006/relationships/slide" Target="slides/slide78.xml"/><Relationship Id="rId80" Type="http://schemas.openxmlformats.org/officeDocument/2006/relationships/slide" Target="slides/slide77.xml"/><Relationship Id="rId8" Type="http://schemas.openxmlformats.org/officeDocument/2006/relationships/slide" Target="slides/slide5.xml"/><Relationship Id="rId79" Type="http://schemas.openxmlformats.org/officeDocument/2006/relationships/slide" Target="slides/slide76.xml"/><Relationship Id="rId78" Type="http://schemas.openxmlformats.org/officeDocument/2006/relationships/slide" Target="slides/slide75.xml"/><Relationship Id="rId77" Type="http://schemas.openxmlformats.org/officeDocument/2006/relationships/slide" Target="slides/slide74.xml"/><Relationship Id="rId76" Type="http://schemas.openxmlformats.org/officeDocument/2006/relationships/slide" Target="slides/slide73.xml"/><Relationship Id="rId75" Type="http://schemas.openxmlformats.org/officeDocument/2006/relationships/slide" Target="slides/slide72.xml"/><Relationship Id="rId74" Type="http://schemas.openxmlformats.org/officeDocument/2006/relationships/slide" Target="slides/slide71.xml"/><Relationship Id="rId73" Type="http://schemas.openxmlformats.org/officeDocument/2006/relationships/slide" Target="slides/slide70.xml"/><Relationship Id="rId72" Type="http://schemas.openxmlformats.org/officeDocument/2006/relationships/slide" Target="slides/slide69.xml"/><Relationship Id="rId71" Type="http://schemas.openxmlformats.org/officeDocument/2006/relationships/slide" Target="slides/slide68.xml"/><Relationship Id="rId70" Type="http://schemas.openxmlformats.org/officeDocument/2006/relationships/slide" Target="slides/slide67.xml"/><Relationship Id="rId7" Type="http://schemas.openxmlformats.org/officeDocument/2006/relationships/slide" Target="slides/slide4.xml"/><Relationship Id="rId69" Type="http://schemas.openxmlformats.org/officeDocument/2006/relationships/slide" Target="slides/slide66.xml"/><Relationship Id="rId68" Type="http://schemas.openxmlformats.org/officeDocument/2006/relationships/slide" Target="slides/slide65.xml"/><Relationship Id="rId67" Type="http://schemas.openxmlformats.org/officeDocument/2006/relationships/slide" Target="slides/slide64.xml"/><Relationship Id="rId66" Type="http://schemas.openxmlformats.org/officeDocument/2006/relationships/slide" Target="slides/slide63.xml"/><Relationship Id="rId65" Type="http://schemas.openxmlformats.org/officeDocument/2006/relationships/slide" Target="slides/slide62.xml"/><Relationship Id="rId64" Type="http://schemas.openxmlformats.org/officeDocument/2006/relationships/slide" Target="slides/slide61.xml"/><Relationship Id="rId63" Type="http://schemas.openxmlformats.org/officeDocument/2006/relationships/slide" Target="slides/slide60.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2" Type="http://schemas.openxmlformats.org/officeDocument/2006/relationships/tableStyles" Target="tableStyles.xml"/><Relationship Id="rId101" Type="http://schemas.openxmlformats.org/officeDocument/2006/relationships/viewProps" Target="viewProps.xml"/><Relationship Id="rId100" Type="http://schemas.openxmlformats.org/officeDocument/2006/relationships/presProps" Target="presProps.xml"/><Relationship Id="rId10" Type="http://schemas.openxmlformats.org/officeDocument/2006/relationships/slide" Target="slides/slide7.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3.wmf"/><Relationship Id="rId1"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9" Type="http://schemas.openxmlformats.org/officeDocument/2006/relationships/image" Target="../media/image23.wmf"/><Relationship Id="rId8" Type="http://schemas.openxmlformats.org/officeDocument/2006/relationships/image" Target="../media/image22.wmf"/><Relationship Id="rId7" Type="http://schemas.openxmlformats.org/officeDocument/2006/relationships/image" Target="../media/image21.wmf"/><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18.wmf"/><Relationship Id="rId3" Type="http://schemas.openxmlformats.org/officeDocument/2006/relationships/image" Target="../media/image17.wmf"/><Relationship Id="rId2" Type="http://schemas.openxmlformats.org/officeDocument/2006/relationships/image" Target="../media/image16.wmf"/><Relationship Id="rId10" Type="http://schemas.openxmlformats.org/officeDocument/2006/relationships/image" Target="../media/image24.wmf"/><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5.vml.rels><?xml version="1.0" encoding="UTF-8" standalone="yes"?>
<Relationships xmlns="http://schemas.openxmlformats.org/package/2006/relationships"><Relationship Id="rId5" Type="http://schemas.openxmlformats.org/officeDocument/2006/relationships/image" Target="../media/image30.wmf"/><Relationship Id="rId4" Type="http://schemas.openxmlformats.org/officeDocument/2006/relationships/image" Target="../media/image29.wmf"/><Relationship Id="rId3" Type="http://schemas.openxmlformats.org/officeDocument/2006/relationships/image" Target="../media/image28.wmf"/><Relationship Id="rId2" Type="http://schemas.openxmlformats.org/officeDocument/2006/relationships/image" Target="../media/image27.emf"/><Relationship Id="rId1" Type="http://schemas.openxmlformats.org/officeDocument/2006/relationships/image" Target="../media/image26.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36.wmf"/><Relationship Id="rId7" Type="http://schemas.openxmlformats.org/officeDocument/2006/relationships/image" Target="../media/image35.wmf"/><Relationship Id="rId6" Type="http://schemas.openxmlformats.org/officeDocument/2006/relationships/image" Target="../media/image34.wmf"/><Relationship Id="rId5" Type="http://schemas.openxmlformats.org/officeDocument/2006/relationships/image" Target="../media/image30.wmf"/><Relationship Id="rId4" Type="http://schemas.openxmlformats.org/officeDocument/2006/relationships/image" Target="../media/image29.wmf"/><Relationship Id="rId3" Type="http://schemas.openxmlformats.org/officeDocument/2006/relationships/image" Target="../media/image33.wmf"/><Relationship Id="rId2" Type="http://schemas.openxmlformats.org/officeDocument/2006/relationships/image" Target="../media/image32.emf"/><Relationship Id="rId1" Type="http://schemas.openxmlformats.org/officeDocument/2006/relationships/image" Target="../media/image31.e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38.wmf"/><Relationship Id="rId1" Type="http://schemas.openxmlformats.org/officeDocument/2006/relationships/image" Target="../media/image37.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wmf"/><Relationship Id="rId1" Type="http://schemas.openxmlformats.org/officeDocument/2006/relationships/image" Target="../media/image39.wmf"/></Relationships>
</file>

<file path=ppt/drawings/_rels/vmlDrawing9.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wmf"/><Relationship Id="rId1" Type="http://schemas.openxmlformats.org/officeDocument/2006/relationships/image" Target="../media/image45.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52.wmf"/><Relationship Id="rId1" Type="http://schemas.openxmlformats.org/officeDocument/2006/relationships/image" Target="../media/image51.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3.emf"/></Relationships>
</file>

<file path=ppt/drawings/_rels/vmlDrawing13.v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image" Target="../media/image60.png"/></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63.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63.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63.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63.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63.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66.emf"/></Relationships>
</file>

<file path=ppt/drawings/_rels/vmlDrawing20.vml.rels><?xml version="1.0" encoding="UTF-8" standalone="yes"?>
<Relationships xmlns="http://schemas.openxmlformats.org/package/2006/relationships"><Relationship Id="rId4" Type="http://schemas.openxmlformats.org/officeDocument/2006/relationships/image" Target="../media/image71.wmf"/><Relationship Id="rId3" Type="http://schemas.openxmlformats.org/officeDocument/2006/relationships/image" Target="../media/image70.emf"/><Relationship Id="rId2" Type="http://schemas.openxmlformats.org/officeDocument/2006/relationships/image" Target="../media/image69.wmf"/><Relationship Id="rId1" Type="http://schemas.openxmlformats.org/officeDocument/2006/relationships/image" Target="../media/image68.wmf"/></Relationships>
</file>

<file path=ppt/drawings/_rels/vmlDrawing21.vml.rels><?xml version="1.0" encoding="UTF-8" standalone="yes"?>
<Relationships xmlns="http://schemas.openxmlformats.org/package/2006/relationships"><Relationship Id="rId6" Type="http://schemas.openxmlformats.org/officeDocument/2006/relationships/image" Target="../media/image83.wmf"/><Relationship Id="rId5" Type="http://schemas.openxmlformats.org/officeDocument/2006/relationships/image" Target="../media/image82.wmf"/><Relationship Id="rId4" Type="http://schemas.openxmlformats.org/officeDocument/2006/relationships/image" Target="../media/image81.wmf"/><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image" Target="../media/image84.emf"/></Relationships>
</file>

<file path=ppt/drawings/_rels/vmlDrawing23.vml.rels><?xml version="1.0" encoding="UTF-8" standalone="yes"?>
<Relationships xmlns="http://schemas.openxmlformats.org/package/2006/relationships"><Relationship Id="rId9" Type="http://schemas.openxmlformats.org/officeDocument/2006/relationships/image" Target="../media/image85.png"/><Relationship Id="rId8" Type="http://schemas.openxmlformats.org/officeDocument/2006/relationships/image" Target="../media/image94.wmf"/><Relationship Id="rId7" Type="http://schemas.openxmlformats.org/officeDocument/2006/relationships/image" Target="../media/image93.wmf"/><Relationship Id="rId6" Type="http://schemas.openxmlformats.org/officeDocument/2006/relationships/image" Target="../media/image92.wmf"/><Relationship Id="rId5" Type="http://schemas.openxmlformats.org/officeDocument/2006/relationships/image" Target="../media/image91.wmf"/><Relationship Id="rId4" Type="http://schemas.openxmlformats.org/officeDocument/2006/relationships/image" Target="../media/image90.wmf"/><Relationship Id="rId3" Type="http://schemas.openxmlformats.org/officeDocument/2006/relationships/image" Target="../media/image89.wmf"/><Relationship Id="rId2" Type="http://schemas.openxmlformats.org/officeDocument/2006/relationships/image" Target="../media/image88.wmf"/><Relationship Id="rId19" Type="http://schemas.openxmlformats.org/officeDocument/2006/relationships/image" Target="../media/image105.wmf"/><Relationship Id="rId18" Type="http://schemas.openxmlformats.org/officeDocument/2006/relationships/image" Target="../media/image104.wmf"/><Relationship Id="rId17" Type="http://schemas.openxmlformats.org/officeDocument/2006/relationships/image" Target="../media/image103.wmf"/><Relationship Id="rId16" Type="http://schemas.openxmlformats.org/officeDocument/2006/relationships/image" Target="../media/image102.wmf"/><Relationship Id="rId15" Type="http://schemas.openxmlformats.org/officeDocument/2006/relationships/image" Target="../media/image101.wmf"/><Relationship Id="rId14" Type="http://schemas.openxmlformats.org/officeDocument/2006/relationships/image" Target="../media/image100.wmf"/><Relationship Id="rId13" Type="http://schemas.openxmlformats.org/officeDocument/2006/relationships/image" Target="../media/image99.wmf"/><Relationship Id="rId12" Type="http://schemas.openxmlformats.org/officeDocument/2006/relationships/image" Target="../media/image98.wmf"/><Relationship Id="rId11" Type="http://schemas.openxmlformats.org/officeDocument/2006/relationships/image" Target="../media/image97.wmf"/><Relationship Id="rId10" Type="http://schemas.openxmlformats.org/officeDocument/2006/relationships/image" Target="../media/image96.wmf"/><Relationship Id="rId1" Type="http://schemas.openxmlformats.org/officeDocument/2006/relationships/image" Target="../media/image87.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06.emf"/></Relationships>
</file>

<file path=ppt/drawings/_rels/vmlDrawing25.vml.rels><?xml version="1.0" encoding="UTF-8" standalone="yes"?>
<Relationships xmlns="http://schemas.openxmlformats.org/package/2006/relationships"><Relationship Id="rId5" Type="http://schemas.openxmlformats.org/officeDocument/2006/relationships/image" Target="../media/image111.wmf"/><Relationship Id="rId4" Type="http://schemas.openxmlformats.org/officeDocument/2006/relationships/image" Target="../media/image110.wmf"/><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image" Target="../media/image107.emf"/></Relationships>
</file>

<file path=ppt/drawings/_rels/vmlDrawing26.vml.rels><?xml version="1.0" encoding="UTF-8" standalone="yes"?>
<Relationships xmlns="http://schemas.openxmlformats.org/package/2006/relationships"><Relationship Id="rId5" Type="http://schemas.openxmlformats.org/officeDocument/2006/relationships/image" Target="../media/image111.wmf"/><Relationship Id="rId4" Type="http://schemas.openxmlformats.org/officeDocument/2006/relationships/image" Target="../media/image110.wmf"/><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image" Target="../media/image107.emf"/></Relationships>
</file>

<file path=ppt/drawings/_rels/vmlDrawing27.vml.rels><?xml version="1.0" encoding="UTF-8" standalone="yes"?>
<Relationships xmlns="http://schemas.openxmlformats.org/package/2006/relationships"><Relationship Id="rId7" Type="http://schemas.openxmlformats.org/officeDocument/2006/relationships/image" Target="../media/image111.wmf"/><Relationship Id="rId6" Type="http://schemas.openxmlformats.org/officeDocument/2006/relationships/image" Target="../media/image110.wmf"/><Relationship Id="rId5" Type="http://schemas.openxmlformats.org/officeDocument/2006/relationships/image" Target="../media/image109.wmf"/><Relationship Id="rId4" Type="http://schemas.openxmlformats.org/officeDocument/2006/relationships/image" Target="../media/image108.wmf"/><Relationship Id="rId3" Type="http://schemas.openxmlformats.org/officeDocument/2006/relationships/image" Target="../media/image113.wmf"/><Relationship Id="rId2" Type="http://schemas.openxmlformats.org/officeDocument/2006/relationships/image" Target="../media/image112.wmf"/><Relationship Id="rId1" Type="http://schemas.openxmlformats.org/officeDocument/2006/relationships/image" Target="../media/image107.emf"/></Relationships>
</file>

<file path=ppt/drawings/_rels/vmlDrawing28.vml.rels><?xml version="1.0" encoding="UTF-8" standalone="yes"?>
<Relationships xmlns="http://schemas.openxmlformats.org/package/2006/relationships"><Relationship Id="rId9" Type="http://schemas.openxmlformats.org/officeDocument/2006/relationships/image" Target="../media/image115.wmf"/><Relationship Id="rId8" Type="http://schemas.openxmlformats.org/officeDocument/2006/relationships/image" Target="../media/image114.wmf"/><Relationship Id="rId7" Type="http://schemas.openxmlformats.org/officeDocument/2006/relationships/image" Target="../media/image113.wmf"/><Relationship Id="rId6" Type="http://schemas.openxmlformats.org/officeDocument/2006/relationships/image" Target="../media/image112.wmf"/><Relationship Id="rId5" Type="http://schemas.openxmlformats.org/officeDocument/2006/relationships/image" Target="../media/image111.wmf"/><Relationship Id="rId4" Type="http://schemas.openxmlformats.org/officeDocument/2006/relationships/image" Target="../media/image110.wmf"/><Relationship Id="rId3" Type="http://schemas.openxmlformats.org/officeDocument/2006/relationships/image" Target="../media/image109.wmf"/><Relationship Id="rId2" Type="http://schemas.openxmlformats.org/officeDocument/2006/relationships/image" Target="../media/image108.wmf"/><Relationship Id="rId1" Type="http://schemas.openxmlformats.org/officeDocument/2006/relationships/image" Target="../media/image107.e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105.wmf"/><Relationship Id="rId1" Type="http://schemas.openxmlformats.org/officeDocument/2006/relationships/image" Target="../media/image85.png"/></Relationships>
</file>

<file path=ppt/drawings/_rels/vmlDrawing30.vml.rels><?xml version="1.0" encoding="UTF-8" standalone="yes"?>
<Relationships xmlns="http://schemas.openxmlformats.org/package/2006/relationships"><Relationship Id="rId9" Type="http://schemas.openxmlformats.org/officeDocument/2006/relationships/image" Target="../media/image122.wmf"/><Relationship Id="rId8" Type="http://schemas.openxmlformats.org/officeDocument/2006/relationships/image" Target="../media/image105.wmf"/><Relationship Id="rId7" Type="http://schemas.openxmlformats.org/officeDocument/2006/relationships/image" Target="../media/image85.png"/><Relationship Id="rId6" Type="http://schemas.openxmlformats.org/officeDocument/2006/relationships/image" Target="../media/image121.wmf"/><Relationship Id="rId5" Type="http://schemas.openxmlformats.org/officeDocument/2006/relationships/image" Target="../media/image120.emf"/><Relationship Id="rId4" Type="http://schemas.openxmlformats.org/officeDocument/2006/relationships/image" Target="../media/image119.wmf"/><Relationship Id="rId3" Type="http://schemas.openxmlformats.org/officeDocument/2006/relationships/image" Target="../media/image118.wmf"/><Relationship Id="rId2" Type="http://schemas.openxmlformats.org/officeDocument/2006/relationships/image" Target="../media/image117.wmf"/><Relationship Id="rId10" Type="http://schemas.openxmlformats.org/officeDocument/2006/relationships/image" Target="../media/image123.wmf"/><Relationship Id="rId1" Type="http://schemas.openxmlformats.org/officeDocument/2006/relationships/image" Target="../media/image116.wmf"/></Relationships>
</file>

<file path=ppt/drawings/_rels/vmlDrawing31.vml.rels><?xml version="1.0" encoding="UTF-8" standalone="yes"?>
<Relationships xmlns="http://schemas.openxmlformats.org/package/2006/relationships"><Relationship Id="rId6" Type="http://schemas.openxmlformats.org/officeDocument/2006/relationships/image" Target="../media/image130.wmf"/><Relationship Id="rId5" Type="http://schemas.openxmlformats.org/officeDocument/2006/relationships/image" Target="../media/image129.wmf"/><Relationship Id="rId4" Type="http://schemas.openxmlformats.org/officeDocument/2006/relationships/image" Target="../media/image128.wmf"/><Relationship Id="rId3" Type="http://schemas.openxmlformats.org/officeDocument/2006/relationships/image" Target="../media/image127.wmf"/><Relationship Id="rId2" Type="http://schemas.openxmlformats.org/officeDocument/2006/relationships/image" Target="../media/image126.wmf"/><Relationship Id="rId1" Type="http://schemas.openxmlformats.org/officeDocument/2006/relationships/image" Target="../media/image125.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34.emf"/></Relationships>
</file>

<file path=ppt/drawings/_rels/vmlDrawing33.vml.rels><?xml version="1.0" encoding="UTF-8" standalone="yes"?>
<Relationships xmlns="http://schemas.openxmlformats.org/package/2006/relationships"><Relationship Id="rId2" Type="http://schemas.openxmlformats.org/officeDocument/2006/relationships/image" Target="../media/image138.emf"/><Relationship Id="rId1" Type="http://schemas.openxmlformats.org/officeDocument/2006/relationships/image" Target="../media/image137.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42.e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146.wmf"/><Relationship Id="rId2" Type="http://schemas.openxmlformats.org/officeDocument/2006/relationships/image" Target="../media/image145.wmf"/><Relationship Id="rId1" Type="http://schemas.openxmlformats.org/officeDocument/2006/relationships/image" Target="../media/image144.wmf"/></Relationships>
</file>

<file path=ppt/drawings/_rels/vmlDrawing36.vml.rels><?xml version="1.0" encoding="UTF-8" standalone="yes"?>
<Relationships xmlns="http://schemas.openxmlformats.org/package/2006/relationships"><Relationship Id="rId6" Type="http://schemas.openxmlformats.org/officeDocument/2006/relationships/image" Target="../media/image152.wmf"/><Relationship Id="rId5" Type="http://schemas.openxmlformats.org/officeDocument/2006/relationships/image" Target="../media/image151.wmf"/><Relationship Id="rId4" Type="http://schemas.openxmlformats.org/officeDocument/2006/relationships/image" Target="../media/image150.wmf"/><Relationship Id="rId3" Type="http://schemas.openxmlformats.org/officeDocument/2006/relationships/image" Target="../media/image149.wmf"/><Relationship Id="rId2" Type="http://schemas.openxmlformats.org/officeDocument/2006/relationships/image" Target="../media/image148.wmf"/><Relationship Id="rId1" Type="http://schemas.openxmlformats.org/officeDocument/2006/relationships/image" Target="../media/image147.emf"/></Relationships>
</file>

<file path=ppt/drawings/_rels/vmlDrawing37.vml.rels><?xml version="1.0" encoding="UTF-8" standalone="yes"?>
<Relationships xmlns="http://schemas.openxmlformats.org/package/2006/relationships"><Relationship Id="rId2" Type="http://schemas.openxmlformats.org/officeDocument/2006/relationships/image" Target="../media/image147.emf"/><Relationship Id="rId1" Type="http://schemas.openxmlformats.org/officeDocument/2006/relationships/image" Target="../media/image153.e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146.wmf"/><Relationship Id="rId2" Type="http://schemas.openxmlformats.org/officeDocument/2006/relationships/image" Target="../media/image145.wmf"/><Relationship Id="rId1" Type="http://schemas.openxmlformats.org/officeDocument/2006/relationships/image" Target="../media/image144.w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158.wmf"/><Relationship Id="rId1" Type="http://schemas.openxmlformats.org/officeDocument/2006/relationships/image" Target="../media/image157.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59.emf"/></Relationships>
</file>

<file path=ppt/drawings/_rels/vmlDrawing41.vml.rels><?xml version="1.0" encoding="UTF-8" standalone="yes"?>
<Relationships xmlns="http://schemas.openxmlformats.org/package/2006/relationships"><Relationship Id="rId3" Type="http://schemas.openxmlformats.org/officeDocument/2006/relationships/image" Target="../media/image164.wmf"/><Relationship Id="rId2" Type="http://schemas.openxmlformats.org/officeDocument/2006/relationships/image" Target="../media/image163.wmf"/><Relationship Id="rId1" Type="http://schemas.openxmlformats.org/officeDocument/2006/relationships/image" Target="../media/image162.emf"/></Relationships>
</file>

<file path=ppt/drawings/_rels/vmlDrawing42.vml.rels><?xml version="1.0" encoding="UTF-8" standalone="yes"?>
<Relationships xmlns="http://schemas.openxmlformats.org/package/2006/relationships"><Relationship Id="rId3" Type="http://schemas.openxmlformats.org/officeDocument/2006/relationships/image" Target="../media/image167.wmf"/><Relationship Id="rId2" Type="http://schemas.openxmlformats.org/officeDocument/2006/relationships/image" Target="../media/image166.wmf"/><Relationship Id="rId1" Type="http://schemas.openxmlformats.org/officeDocument/2006/relationships/image" Target="../media/image165.wmf"/></Relationships>
</file>

<file path=ppt/drawings/_rels/vmlDrawing43.vml.rels><?xml version="1.0" encoding="UTF-8" standalone="yes"?>
<Relationships xmlns="http://schemas.openxmlformats.org/package/2006/relationships"><Relationship Id="rId9" Type="http://schemas.openxmlformats.org/officeDocument/2006/relationships/image" Target="../media/image176.wmf"/><Relationship Id="rId8" Type="http://schemas.openxmlformats.org/officeDocument/2006/relationships/image" Target="../media/image175.wmf"/><Relationship Id="rId7" Type="http://schemas.openxmlformats.org/officeDocument/2006/relationships/image" Target="../media/image174.wmf"/><Relationship Id="rId6" Type="http://schemas.openxmlformats.org/officeDocument/2006/relationships/image" Target="../media/image173.wmf"/><Relationship Id="rId5" Type="http://schemas.openxmlformats.org/officeDocument/2006/relationships/image" Target="../media/image172.wmf"/><Relationship Id="rId4" Type="http://schemas.openxmlformats.org/officeDocument/2006/relationships/image" Target="../media/image171.wmf"/><Relationship Id="rId3" Type="http://schemas.openxmlformats.org/officeDocument/2006/relationships/image" Target="../media/image170.wmf"/><Relationship Id="rId2" Type="http://schemas.openxmlformats.org/officeDocument/2006/relationships/image" Target="../media/image169.emf"/><Relationship Id="rId13" Type="http://schemas.openxmlformats.org/officeDocument/2006/relationships/image" Target="../media/image180.wmf"/><Relationship Id="rId12" Type="http://schemas.openxmlformats.org/officeDocument/2006/relationships/image" Target="../media/image179.wmf"/><Relationship Id="rId11" Type="http://schemas.openxmlformats.org/officeDocument/2006/relationships/image" Target="../media/image178.wmf"/><Relationship Id="rId10" Type="http://schemas.openxmlformats.org/officeDocument/2006/relationships/image" Target="../media/image177.wmf"/><Relationship Id="rId1" Type="http://schemas.openxmlformats.org/officeDocument/2006/relationships/image" Target="../media/image168.wmf"/></Relationships>
</file>

<file path=ppt/drawings/_rels/vmlDrawing44.vml.rels><?xml version="1.0" encoding="UTF-8" standalone="yes"?>
<Relationships xmlns="http://schemas.openxmlformats.org/package/2006/relationships"><Relationship Id="rId5" Type="http://schemas.openxmlformats.org/officeDocument/2006/relationships/image" Target="../media/image185.wmf"/><Relationship Id="rId4" Type="http://schemas.openxmlformats.org/officeDocument/2006/relationships/image" Target="../media/image184.wmf"/><Relationship Id="rId3" Type="http://schemas.openxmlformats.org/officeDocument/2006/relationships/image" Target="../media/image183.wmf"/><Relationship Id="rId2" Type="http://schemas.openxmlformats.org/officeDocument/2006/relationships/image" Target="../media/image182.wmf"/><Relationship Id="rId1" Type="http://schemas.openxmlformats.org/officeDocument/2006/relationships/image" Target="../media/image181.emf"/></Relationships>
</file>

<file path=ppt/drawings/_rels/vmlDrawing45.vml.rels><?xml version="1.0" encoding="UTF-8" standalone="yes"?>
<Relationships xmlns="http://schemas.openxmlformats.org/package/2006/relationships"><Relationship Id="rId2" Type="http://schemas.openxmlformats.org/officeDocument/2006/relationships/image" Target="../media/image187.wmf"/><Relationship Id="rId1" Type="http://schemas.openxmlformats.org/officeDocument/2006/relationships/image" Target="../media/image186.emf"/></Relationships>
</file>

<file path=ppt/drawings/_rels/vmlDrawing46.vml.rels><?xml version="1.0" encoding="UTF-8" standalone="yes"?>
<Relationships xmlns="http://schemas.openxmlformats.org/package/2006/relationships"><Relationship Id="rId6" Type="http://schemas.openxmlformats.org/officeDocument/2006/relationships/image" Target="../media/image195.emf"/><Relationship Id="rId5" Type="http://schemas.openxmlformats.org/officeDocument/2006/relationships/image" Target="../media/image194.wmf"/><Relationship Id="rId4" Type="http://schemas.openxmlformats.org/officeDocument/2006/relationships/image" Target="../media/image193.wmf"/><Relationship Id="rId3" Type="http://schemas.openxmlformats.org/officeDocument/2006/relationships/image" Target="../media/image192.wmf"/><Relationship Id="rId2" Type="http://schemas.openxmlformats.org/officeDocument/2006/relationships/image" Target="../media/image191.wmf"/><Relationship Id="rId1" Type="http://schemas.openxmlformats.org/officeDocument/2006/relationships/image" Target="../media/image189.wmf"/></Relationships>
</file>

<file path=ppt/drawings/_rels/vmlDrawing47.vml.rels><?xml version="1.0" encoding="UTF-8" standalone="yes"?>
<Relationships xmlns="http://schemas.openxmlformats.org/package/2006/relationships"><Relationship Id="rId4" Type="http://schemas.openxmlformats.org/officeDocument/2006/relationships/image" Target="../media/image199.emf"/><Relationship Id="rId3" Type="http://schemas.openxmlformats.org/officeDocument/2006/relationships/image" Target="../media/image198.emf"/><Relationship Id="rId2" Type="http://schemas.openxmlformats.org/officeDocument/2006/relationships/image" Target="../media/image197.emf"/><Relationship Id="rId1" Type="http://schemas.openxmlformats.org/officeDocument/2006/relationships/image" Target="../media/image196.emf"/></Relationships>
</file>

<file path=ppt/drawings/_rels/vmlDrawing48.vml.rels><?xml version="1.0" encoding="UTF-8" standalone="yes"?>
<Relationships xmlns="http://schemas.openxmlformats.org/package/2006/relationships"><Relationship Id="rId4" Type="http://schemas.openxmlformats.org/officeDocument/2006/relationships/image" Target="../media/image203.emf"/><Relationship Id="rId3" Type="http://schemas.openxmlformats.org/officeDocument/2006/relationships/image" Target="../media/image202.wmf"/><Relationship Id="rId2" Type="http://schemas.openxmlformats.org/officeDocument/2006/relationships/image" Target="../media/image201.wmf"/><Relationship Id="rId1" Type="http://schemas.openxmlformats.org/officeDocument/2006/relationships/image" Target="../media/image200.wmf"/></Relationships>
</file>

<file path=ppt/drawings/_rels/vmlDrawing49.vml.rels><?xml version="1.0" encoding="UTF-8" standalone="yes"?>
<Relationships xmlns="http://schemas.openxmlformats.org/package/2006/relationships"><Relationship Id="rId6" Type="http://schemas.openxmlformats.org/officeDocument/2006/relationships/image" Target="../media/image209.wmf"/><Relationship Id="rId5" Type="http://schemas.openxmlformats.org/officeDocument/2006/relationships/image" Target="../media/image208.wmf"/><Relationship Id="rId4" Type="http://schemas.openxmlformats.org/officeDocument/2006/relationships/image" Target="../media/image207.wmf"/><Relationship Id="rId3" Type="http://schemas.openxmlformats.org/officeDocument/2006/relationships/image" Target="../media/image206.wmf"/><Relationship Id="rId2" Type="http://schemas.openxmlformats.org/officeDocument/2006/relationships/image" Target="../media/image205.wmf"/><Relationship Id="rId1" Type="http://schemas.openxmlformats.org/officeDocument/2006/relationships/image" Target="../media/image204.wmf"/></Relationships>
</file>

<file path=ppt/drawings/_rels/vmlDrawing50.vml.rels><?xml version="1.0" encoding="UTF-8" standalone="yes"?>
<Relationships xmlns="http://schemas.openxmlformats.org/package/2006/relationships"><Relationship Id="rId7" Type="http://schemas.openxmlformats.org/officeDocument/2006/relationships/image" Target="../media/image211.wmf"/><Relationship Id="rId6" Type="http://schemas.openxmlformats.org/officeDocument/2006/relationships/image" Target="../media/image208.wmf"/><Relationship Id="rId5" Type="http://schemas.openxmlformats.org/officeDocument/2006/relationships/image" Target="../media/image207.wmf"/><Relationship Id="rId4" Type="http://schemas.openxmlformats.org/officeDocument/2006/relationships/image" Target="../media/image206.wmf"/><Relationship Id="rId3" Type="http://schemas.openxmlformats.org/officeDocument/2006/relationships/image" Target="../media/image205.wmf"/><Relationship Id="rId2" Type="http://schemas.openxmlformats.org/officeDocument/2006/relationships/image" Target="../media/image204.wmf"/><Relationship Id="rId1" Type="http://schemas.openxmlformats.org/officeDocument/2006/relationships/image" Target="../media/image210.emf"/></Relationships>
</file>

<file path=ppt/drawings/_rels/vmlDrawing51.vml.rels><?xml version="1.0" encoding="UTF-8" standalone="yes"?>
<Relationships xmlns="http://schemas.openxmlformats.org/package/2006/relationships"><Relationship Id="rId3" Type="http://schemas.openxmlformats.org/officeDocument/2006/relationships/image" Target="../media/image217.wmf"/><Relationship Id="rId2" Type="http://schemas.openxmlformats.org/officeDocument/2006/relationships/image" Target="../media/image216.wmf"/><Relationship Id="rId1" Type="http://schemas.openxmlformats.org/officeDocument/2006/relationships/image" Target="../media/image215.emf"/></Relationships>
</file>

<file path=ppt/drawings/_rels/vmlDrawing52.vml.rels><?xml version="1.0" encoding="UTF-8" standalone="yes"?>
<Relationships xmlns="http://schemas.openxmlformats.org/package/2006/relationships"><Relationship Id="rId3" Type="http://schemas.openxmlformats.org/officeDocument/2006/relationships/image" Target="../media/image221.wmf"/><Relationship Id="rId2" Type="http://schemas.openxmlformats.org/officeDocument/2006/relationships/image" Target="../media/image220.wmf"/><Relationship Id="rId1" Type="http://schemas.openxmlformats.org/officeDocument/2006/relationships/image" Target="../media/image219.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222.emf"/></Relationships>
</file>

<file path=ppt/drawings/_rels/vmlDrawing54.vml.rels><?xml version="1.0" encoding="UTF-8" standalone="yes"?>
<Relationships xmlns="http://schemas.openxmlformats.org/package/2006/relationships"><Relationship Id="rId9" Type="http://schemas.openxmlformats.org/officeDocument/2006/relationships/image" Target="../media/image230.wmf"/><Relationship Id="rId8" Type="http://schemas.openxmlformats.org/officeDocument/2006/relationships/image" Target="../media/image229.wmf"/><Relationship Id="rId7" Type="http://schemas.openxmlformats.org/officeDocument/2006/relationships/image" Target="../media/image228.wmf"/><Relationship Id="rId6" Type="http://schemas.openxmlformats.org/officeDocument/2006/relationships/image" Target="../media/image219.wmf"/><Relationship Id="rId5" Type="http://schemas.openxmlformats.org/officeDocument/2006/relationships/image" Target="../media/image227.wmf"/><Relationship Id="rId4" Type="http://schemas.openxmlformats.org/officeDocument/2006/relationships/image" Target="../media/image226.wmf"/><Relationship Id="rId3" Type="http://schemas.openxmlformats.org/officeDocument/2006/relationships/image" Target="../media/image225.wmf"/><Relationship Id="rId2" Type="http://schemas.openxmlformats.org/officeDocument/2006/relationships/image" Target="../media/image224.wmf"/><Relationship Id="rId12" Type="http://schemas.openxmlformats.org/officeDocument/2006/relationships/image" Target="../media/image233.wmf"/><Relationship Id="rId11" Type="http://schemas.openxmlformats.org/officeDocument/2006/relationships/image" Target="../media/image232.wmf"/><Relationship Id="rId10" Type="http://schemas.openxmlformats.org/officeDocument/2006/relationships/image" Target="../media/image231.wmf"/><Relationship Id="rId1" Type="http://schemas.openxmlformats.org/officeDocument/2006/relationships/image" Target="../media/image223.wmf"/></Relationships>
</file>

<file path=ppt/drawings/_rels/vmlDrawing55.vml.rels><?xml version="1.0" encoding="UTF-8" standalone="yes"?>
<Relationships xmlns="http://schemas.openxmlformats.org/package/2006/relationships"><Relationship Id="rId7" Type="http://schemas.openxmlformats.org/officeDocument/2006/relationships/image" Target="../media/image232.wmf"/><Relationship Id="rId6" Type="http://schemas.openxmlformats.org/officeDocument/2006/relationships/image" Target="../media/image227.wmf"/><Relationship Id="rId5" Type="http://schemas.openxmlformats.org/officeDocument/2006/relationships/image" Target="../media/image226.wmf"/><Relationship Id="rId4" Type="http://schemas.openxmlformats.org/officeDocument/2006/relationships/image" Target="../media/image225.wmf"/><Relationship Id="rId3" Type="http://schemas.openxmlformats.org/officeDocument/2006/relationships/image" Target="../media/image224.wmf"/><Relationship Id="rId2" Type="http://schemas.openxmlformats.org/officeDocument/2006/relationships/image" Target="../media/image223.wmf"/><Relationship Id="rId1" Type="http://schemas.openxmlformats.org/officeDocument/2006/relationships/image" Target="../media/image234.wmf"/></Relationships>
</file>

<file path=ppt/drawings/_rels/vmlDrawing56.vml.rels><?xml version="1.0" encoding="UTF-8" standalone="yes"?>
<Relationships xmlns="http://schemas.openxmlformats.org/package/2006/relationships"><Relationship Id="rId9" Type="http://schemas.openxmlformats.org/officeDocument/2006/relationships/image" Target="../media/image243.wmf"/><Relationship Id="rId8" Type="http://schemas.openxmlformats.org/officeDocument/2006/relationships/image" Target="../media/image242.wmf"/><Relationship Id="rId7" Type="http://schemas.openxmlformats.org/officeDocument/2006/relationships/image" Target="../media/image241.wmf"/><Relationship Id="rId6" Type="http://schemas.openxmlformats.org/officeDocument/2006/relationships/image" Target="../media/image240.wmf"/><Relationship Id="rId5" Type="http://schemas.openxmlformats.org/officeDocument/2006/relationships/image" Target="../media/image239.wmf"/><Relationship Id="rId4" Type="http://schemas.openxmlformats.org/officeDocument/2006/relationships/image" Target="../media/image238.wmf"/><Relationship Id="rId3" Type="http://schemas.openxmlformats.org/officeDocument/2006/relationships/image" Target="../media/image237.wmf"/><Relationship Id="rId2" Type="http://schemas.openxmlformats.org/officeDocument/2006/relationships/image" Target="../media/image236.emf"/><Relationship Id="rId11" Type="http://schemas.openxmlformats.org/officeDocument/2006/relationships/image" Target="../media/image245.wmf"/><Relationship Id="rId10" Type="http://schemas.openxmlformats.org/officeDocument/2006/relationships/image" Target="../media/image244.wmf"/><Relationship Id="rId1" Type="http://schemas.openxmlformats.org/officeDocument/2006/relationships/image" Target="../media/image235.emf"/></Relationships>
</file>

<file path=ppt/drawings/_rels/vmlDrawing57.vml.rels><?xml version="1.0" encoding="UTF-8" standalone="yes"?>
<Relationships xmlns="http://schemas.openxmlformats.org/package/2006/relationships"><Relationship Id="rId2" Type="http://schemas.openxmlformats.org/officeDocument/2006/relationships/image" Target="../media/image247.emf"/><Relationship Id="rId1" Type="http://schemas.openxmlformats.org/officeDocument/2006/relationships/image" Target="../media/image246.emf"/></Relationships>
</file>

<file path=ppt/drawings/_rels/vmlDrawing58.vml.rels><?xml version="1.0" encoding="UTF-8" standalone="yes"?>
<Relationships xmlns="http://schemas.openxmlformats.org/package/2006/relationships"><Relationship Id="rId6" Type="http://schemas.openxmlformats.org/officeDocument/2006/relationships/image" Target="../media/image255.wmf"/><Relationship Id="rId5" Type="http://schemas.openxmlformats.org/officeDocument/2006/relationships/image" Target="../media/image253.wmf"/><Relationship Id="rId4" Type="http://schemas.openxmlformats.org/officeDocument/2006/relationships/image" Target="../media/image252.wmf"/><Relationship Id="rId3" Type="http://schemas.openxmlformats.org/officeDocument/2006/relationships/image" Target="../media/image251.wmf"/><Relationship Id="rId2" Type="http://schemas.openxmlformats.org/officeDocument/2006/relationships/image" Target="../media/image249.wmf"/><Relationship Id="rId1" Type="http://schemas.openxmlformats.org/officeDocument/2006/relationships/image" Target="../media/image248.wmf"/></Relationships>
</file>

<file path=ppt/drawings/_rels/vmlDrawing59.vml.rels><?xml version="1.0" encoding="UTF-8" standalone="yes"?>
<Relationships xmlns="http://schemas.openxmlformats.org/package/2006/relationships"><Relationship Id="rId8" Type="http://schemas.openxmlformats.org/officeDocument/2006/relationships/image" Target="../media/image264.wmf"/><Relationship Id="rId7" Type="http://schemas.openxmlformats.org/officeDocument/2006/relationships/image" Target="../media/image263.wmf"/><Relationship Id="rId6" Type="http://schemas.openxmlformats.org/officeDocument/2006/relationships/image" Target="../media/image262.wmf"/><Relationship Id="rId5" Type="http://schemas.openxmlformats.org/officeDocument/2006/relationships/image" Target="../media/image261.wmf"/><Relationship Id="rId4" Type="http://schemas.openxmlformats.org/officeDocument/2006/relationships/image" Target="../media/image259.wmf"/><Relationship Id="rId3" Type="http://schemas.openxmlformats.org/officeDocument/2006/relationships/image" Target="../media/image258.wmf"/><Relationship Id="rId2" Type="http://schemas.openxmlformats.org/officeDocument/2006/relationships/image" Target="../media/image252.wmf"/><Relationship Id="rId1" Type="http://schemas.openxmlformats.org/officeDocument/2006/relationships/image" Target="../media/image25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AD77B4-E4B4-4D3C-A9C5-EB900FF3B15E}"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960438" y="1143000"/>
            <a:ext cx="4937125"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AD5EBB-275F-4C24-B082-C5EEF143550F}"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6.xml"/></Relationships>
</file>

<file path=ppt/notesSlides/_rels/notesSlide4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4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4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4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2.xml"/></Relationships>
</file>

<file path=ppt/notesSlides/_rels/notesSlide4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_rels/notesSlide4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4.xml"/></Relationships>
</file>

<file path=ppt/notesSlides/_rels/notesSlide4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4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5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5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5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1.xml"/></Relationships>
</file>

<file path=ppt/notesSlides/_rels/notesSlide5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5.xml"/></Relationships>
</file>

<file path=ppt/notesSlides/_rels/notesSlide5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6.xml"/></Relationships>
</file>

<file path=ppt/notesSlides/_rels/notesSlide5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7.xml"/></Relationships>
</file>

<file path=ppt/notesSlides/_rels/notesSlide5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8.xml"/></Relationships>
</file>

<file path=ppt/notesSlides/_rels/notesSlide5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9.xml"/></Relationships>
</file>

<file path=ppt/notesSlides/_rels/notesSlide5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2.xml"/></Relationships>
</file>

<file path=ppt/notesSlides/_rels/notesSlide5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3.xml"/></Relationships>
</file>

<file path=ppt/notesSlides/_rels/notesSlide6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4.xml"/></Relationships>
</file>

<file path=ppt/notesSlides/_rels/notesSlide6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5.xml"/></Relationships>
</file>

<file path=ppt/notesSlides/_rels/notesSlide6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7.xml"/></Relationships>
</file>

<file path=ppt/notesSlides/_rels/notesSlide6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8.xml"/></Relationships>
</file>

<file path=ppt/notesSlides/_rels/notesSlide6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9.xml"/></Relationships>
</file>

<file path=ppt/notesSlides/_rels/notesSlide6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0.xml"/></Relationships>
</file>

<file path=ppt/notesSlides/_rels/notesSlide6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_rels/notesSlide6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3.xml"/></Relationships>
</file>

<file path=ppt/notesSlides/_rels/notesSlide6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4.xml"/></Relationships>
</file>

<file path=ppt/notesSlides/_rels/notesSlide6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5.xml"/></Relationships>
</file>

<file path=ppt/notesSlides/_rels/notesSlide7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960438" y="1143000"/>
            <a:ext cx="4937125" cy="3086100"/>
          </a:xfrm>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73AD5EBB-275F-4C24-B082-C5EEF143550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ransition>
    <p:random/>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transition>
    <p:random/>
  </p:transition>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 name="矩形 18"/>
          <p:cNvSpPr/>
          <p:nvPr userDrawn="1"/>
        </p:nvSpPr>
        <p:spPr>
          <a:xfrm>
            <a:off x="0" y="0"/>
            <a:ext cx="5737860" cy="6011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p:cNvSpPr/>
          <p:nvPr/>
        </p:nvSpPr>
        <p:spPr>
          <a:xfrm>
            <a:off x="3" y="556042"/>
            <a:ext cx="9143999" cy="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50" name="Picture 2"/>
          <p:cNvPicPr>
            <a:picLocks noChangeAspect="1" noChangeArrowheads="1"/>
          </p:cNvPicPr>
          <p:nvPr userDrawn="1"/>
        </p:nvPicPr>
        <p:blipFill>
          <a:blip r:embed="rId3" cstate="print"/>
          <a:srcRect/>
          <a:stretch>
            <a:fillRect/>
          </a:stretch>
        </p:blipFill>
        <p:spPr bwMode="auto">
          <a:xfrm>
            <a:off x="91442" y="25401"/>
            <a:ext cx="2307724" cy="478836"/>
          </a:xfrm>
          <a:prstGeom prst="rect">
            <a:avLst/>
          </a:prstGeom>
          <a:noFill/>
          <a:ln w="9525">
            <a:noFill/>
            <a:miter lim="800000"/>
            <a:headEnd/>
            <a:tailEnd/>
          </a:ln>
        </p:spPr>
      </p:pic>
      <p:sp>
        <p:nvSpPr>
          <p:cNvPr id="14" name="矩形 13"/>
          <p:cNvSpPr/>
          <p:nvPr userDrawn="1"/>
        </p:nvSpPr>
        <p:spPr>
          <a:xfrm>
            <a:off x="6789420" y="0"/>
            <a:ext cx="2354580" cy="5588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流程图: 数据 12"/>
          <p:cNvSpPr/>
          <p:nvPr userDrawn="1"/>
        </p:nvSpPr>
        <p:spPr>
          <a:xfrm>
            <a:off x="4846320" y="0"/>
            <a:ext cx="3855720" cy="558800"/>
          </a:xfrm>
          <a:prstGeom prst="flowChartInputOutpu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userDrawn="1"/>
        </p:nvSpPr>
        <p:spPr>
          <a:xfrm>
            <a:off x="5638803" y="1"/>
            <a:ext cx="3228975" cy="553998"/>
          </a:xfrm>
          <a:prstGeom prst="rect">
            <a:avLst/>
          </a:prstGeom>
        </p:spPr>
        <p:txBody>
          <a:bodyPr wrap="square">
            <a:spAutoFit/>
          </a:bodyPr>
          <a:lstStyle/>
          <a:p>
            <a:pPr algn="r">
              <a:lnSpc>
                <a:spcPct val="125000"/>
              </a:lnSpc>
            </a:pPr>
            <a:r>
              <a:rPr lang="zh-CN" altLang="en-US" sz="2400" b="1" cap="none" spc="0" dirty="0">
                <a:ln w="12700">
                  <a:solidFill>
                    <a:schemeClr val="bg2">
                      <a:lumMod val="75000"/>
                    </a:schemeClr>
                  </a:solidFill>
                  <a:prstDash val="solid"/>
                </a:ln>
                <a:solidFill>
                  <a:schemeClr val="bg1"/>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数字电子技术基础</a:t>
            </a:r>
            <a:endParaRPr lang="zh-CN" altLang="en-US" sz="2400" b="1" cap="none" spc="0" dirty="0">
              <a:ln w="12700">
                <a:solidFill>
                  <a:schemeClr val="bg2">
                    <a:lumMod val="75000"/>
                  </a:schemeClr>
                </a:solidFill>
                <a:prstDash val="solid"/>
              </a:ln>
              <a:solidFill>
                <a:schemeClr val="bg1"/>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p:random/>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3.jpe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vmlDrawing" Target="../drawings/vmlDrawing1.vml"/><Relationship Id="rId5" Type="http://schemas.openxmlformats.org/officeDocument/2006/relationships/slideLayout" Target="../slideLayouts/slideLayout2.xml"/><Relationship Id="rId4" Type="http://schemas.openxmlformats.org/officeDocument/2006/relationships/image" Target="../media/image6.wmf"/><Relationship Id="rId3" Type="http://schemas.openxmlformats.org/officeDocument/2006/relationships/oleObject" Target="../embeddings/oleObject1.bin"/><Relationship Id="rId2" Type="http://schemas.openxmlformats.org/officeDocument/2006/relationships/image" Target="../media/image5.png"/><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4.png"/></Relationships>
</file>

<file path=ppt/slides/_rels/slide10.xml.rels><?xml version="1.0" encoding="UTF-8" standalone="yes"?>
<Relationships xmlns="http://schemas.openxmlformats.org/package/2006/relationships"><Relationship Id="rId9" Type="http://schemas.openxmlformats.org/officeDocument/2006/relationships/image" Target="../media/image14.wmf"/><Relationship Id="rId8" Type="http://schemas.openxmlformats.org/officeDocument/2006/relationships/oleObject" Target="../embeddings/oleObject4.bin"/><Relationship Id="rId7" Type="http://schemas.openxmlformats.org/officeDocument/2006/relationships/image" Target="../media/image13.wmf"/><Relationship Id="rId6" Type="http://schemas.openxmlformats.org/officeDocument/2006/relationships/oleObject" Target="../embeddings/oleObject3.bin"/><Relationship Id="rId5" Type="http://schemas.openxmlformats.org/officeDocument/2006/relationships/image" Target="../media/image12.wmf"/><Relationship Id="rId4" Type="http://schemas.openxmlformats.org/officeDocument/2006/relationships/oleObject" Target="../embeddings/oleObject2.bin"/><Relationship Id="rId3" Type="http://schemas.openxmlformats.org/officeDocument/2006/relationships/image" Target="../media/image11.png"/><Relationship Id="rId2" Type="http://schemas.openxmlformats.org/officeDocument/2006/relationships/image" Target="../media/image10.png"/><Relationship Id="rId12" Type="http://schemas.openxmlformats.org/officeDocument/2006/relationships/notesSlide" Target="../notesSlides/notesSlide8.xml"/><Relationship Id="rId11" Type="http://schemas.openxmlformats.org/officeDocument/2006/relationships/vmlDrawing" Target="../drawings/vmlDrawing2.vml"/><Relationship Id="rId10" Type="http://schemas.openxmlformats.org/officeDocument/2006/relationships/slideLayout" Target="../slideLayouts/slideLayout2.xml"/><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9" Type="http://schemas.openxmlformats.org/officeDocument/2006/relationships/image" Target="../media/image17.wmf"/><Relationship Id="rId8" Type="http://schemas.openxmlformats.org/officeDocument/2006/relationships/oleObject" Target="../embeddings/oleObject7.bin"/><Relationship Id="rId7" Type="http://schemas.openxmlformats.org/officeDocument/2006/relationships/image" Target="../media/image16.wmf"/><Relationship Id="rId6" Type="http://schemas.openxmlformats.org/officeDocument/2006/relationships/oleObject" Target="../embeddings/oleObject6.bin"/><Relationship Id="rId5" Type="http://schemas.openxmlformats.org/officeDocument/2006/relationships/image" Target="../media/image15.wmf"/><Relationship Id="rId4" Type="http://schemas.openxmlformats.org/officeDocument/2006/relationships/oleObject" Target="../embeddings/oleObject5.bin"/><Relationship Id="rId3" Type="http://schemas.openxmlformats.org/officeDocument/2006/relationships/image" Target="../media/image11.png"/><Relationship Id="rId26" Type="http://schemas.openxmlformats.org/officeDocument/2006/relationships/notesSlide" Target="../notesSlides/notesSlide9.xml"/><Relationship Id="rId25" Type="http://schemas.openxmlformats.org/officeDocument/2006/relationships/vmlDrawing" Target="../drawings/vmlDrawing3.vml"/><Relationship Id="rId24" Type="http://schemas.openxmlformats.org/officeDocument/2006/relationships/slideLayout" Target="../slideLayouts/slideLayout2.xml"/><Relationship Id="rId23" Type="http://schemas.openxmlformats.org/officeDocument/2006/relationships/image" Target="../media/image24.wmf"/><Relationship Id="rId22" Type="http://schemas.openxmlformats.org/officeDocument/2006/relationships/oleObject" Target="../embeddings/oleObject14.bin"/><Relationship Id="rId21" Type="http://schemas.openxmlformats.org/officeDocument/2006/relationships/image" Target="../media/image23.wmf"/><Relationship Id="rId20" Type="http://schemas.openxmlformats.org/officeDocument/2006/relationships/oleObject" Target="../embeddings/oleObject13.bin"/><Relationship Id="rId2" Type="http://schemas.openxmlformats.org/officeDocument/2006/relationships/image" Target="../media/image10.png"/><Relationship Id="rId19" Type="http://schemas.openxmlformats.org/officeDocument/2006/relationships/image" Target="../media/image22.wmf"/><Relationship Id="rId18" Type="http://schemas.openxmlformats.org/officeDocument/2006/relationships/oleObject" Target="../embeddings/oleObject12.bin"/><Relationship Id="rId17" Type="http://schemas.openxmlformats.org/officeDocument/2006/relationships/image" Target="../media/image21.wmf"/><Relationship Id="rId16" Type="http://schemas.openxmlformats.org/officeDocument/2006/relationships/oleObject" Target="../embeddings/oleObject11.bin"/><Relationship Id="rId15" Type="http://schemas.openxmlformats.org/officeDocument/2006/relationships/image" Target="../media/image20.wmf"/><Relationship Id="rId14" Type="http://schemas.openxmlformats.org/officeDocument/2006/relationships/oleObject" Target="../embeddings/oleObject10.bin"/><Relationship Id="rId13" Type="http://schemas.openxmlformats.org/officeDocument/2006/relationships/image" Target="../media/image19.wmf"/><Relationship Id="rId12" Type="http://schemas.openxmlformats.org/officeDocument/2006/relationships/oleObject" Target="../embeddings/oleObject9.bin"/><Relationship Id="rId11" Type="http://schemas.openxmlformats.org/officeDocument/2006/relationships/image" Target="../media/image18.wmf"/><Relationship Id="rId10" Type="http://schemas.openxmlformats.org/officeDocument/2006/relationships/oleObject" Target="../embeddings/oleObject8.bin"/><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vmlDrawing" Target="../drawings/vmlDrawing4.vml"/><Relationship Id="rId5" Type="http://schemas.openxmlformats.org/officeDocument/2006/relationships/slideLayout" Target="../slideLayouts/slideLayout2.xml"/><Relationship Id="rId4" Type="http://schemas.openxmlformats.org/officeDocument/2006/relationships/image" Target="../media/image25.wmf"/><Relationship Id="rId3" Type="http://schemas.openxmlformats.org/officeDocument/2006/relationships/oleObject" Target="../embeddings/oleObject15.bin"/><Relationship Id="rId2" Type="http://schemas.openxmlformats.org/officeDocument/2006/relationships/image" Target="../media/image10.png"/><Relationship Id="rId1" Type="http://schemas.openxmlformats.org/officeDocument/2006/relationships/image" Target="../media/image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9" Type="http://schemas.openxmlformats.org/officeDocument/2006/relationships/image" Target="../media/image28.wmf"/><Relationship Id="rId8" Type="http://schemas.openxmlformats.org/officeDocument/2006/relationships/oleObject" Target="../embeddings/oleObject18.bin"/><Relationship Id="rId7" Type="http://schemas.openxmlformats.org/officeDocument/2006/relationships/image" Target="../media/image27.emf"/><Relationship Id="rId6" Type="http://schemas.openxmlformats.org/officeDocument/2006/relationships/oleObject" Target="../embeddings/oleObject17.bin"/><Relationship Id="rId5" Type="http://schemas.openxmlformats.org/officeDocument/2006/relationships/image" Target="../media/image26.wmf"/><Relationship Id="rId4" Type="http://schemas.openxmlformats.org/officeDocument/2006/relationships/oleObject" Target="../embeddings/oleObject16.bin"/><Relationship Id="rId3" Type="http://schemas.openxmlformats.org/officeDocument/2006/relationships/image" Target="../media/image11.png"/><Relationship Id="rId2" Type="http://schemas.openxmlformats.org/officeDocument/2006/relationships/image" Target="../media/image10.png"/><Relationship Id="rId16" Type="http://schemas.openxmlformats.org/officeDocument/2006/relationships/notesSlide" Target="../notesSlides/notesSlide12.xml"/><Relationship Id="rId15" Type="http://schemas.openxmlformats.org/officeDocument/2006/relationships/vmlDrawing" Target="../drawings/vmlDrawing5.vml"/><Relationship Id="rId14" Type="http://schemas.openxmlformats.org/officeDocument/2006/relationships/slideLayout" Target="../slideLayouts/slideLayout2.xml"/><Relationship Id="rId13" Type="http://schemas.openxmlformats.org/officeDocument/2006/relationships/image" Target="../media/image30.wmf"/><Relationship Id="rId12" Type="http://schemas.openxmlformats.org/officeDocument/2006/relationships/oleObject" Target="../embeddings/oleObject20.bin"/><Relationship Id="rId11" Type="http://schemas.openxmlformats.org/officeDocument/2006/relationships/image" Target="../media/image29.wmf"/><Relationship Id="rId10" Type="http://schemas.openxmlformats.org/officeDocument/2006/relationships/oleObject" Target="../embeddings/oleObject19.bin"/><Relationship Id="rId1" Type="http://schemas.openxmlformats.org/officeDocument/2006/relationships/image" Target="../media/image4.png"/></Relationships>
</file>

<file path=ppt/slides/_rels/slide16.xml.rels><?xml version="1.0" encoding="UTF-8" standalone="yes"?>
<Relationships xmlns="http://schemas.openxmlformats.org/package/2006/relationships"><Relationship Id="rId9" Type="http://schemas.openxmlformats.org/officeDocument/2006/relationships/image" Target="../media/image33.wmf"/><Relationship Id="rId8" Type="http://schemas.openxmlformats.org/officeDocument/2006/relationships/oleObject" Target="../embeddings/oleObject23.bin"/><Relationship Id="rId7" Type="http://schemas.openxmlformats.org/officeDocument/2006/relationships/image" Target="../media/image32.emf"/><Relationship Id="rId6" Type="http://schemas.openxmlformats.org/officeDocument/2006/relationships/oleObject" Target="../embeddings/oleObject22.bin"/><Relationship Id="rId5" Type="http://schemas.openxmlformats.org/officeDocument/2006/relationships/image" Target="../media/image31.emf"/><Relationship Id="rId4" Type="http://schemas.openxmlformats.org/officeDocument/2006/relationships/oleObject" Target="../embeddings/oleObject21.bin"/><Relationship Id="rId3" Type="http://schemas.openxmlformats.org/officeDocument/2006/relationships/image" Target="../media/image11.png"/><Relationship Id="rId22" Type="http://schemas.openxmlformats.org/officeDocument/2006/relationships/notesSlide" Target="../notesSlides/notesSlide13.xml"/><Relationship Id="rId21" Type="http://schemas.openxmlformats.org/officeDocument/2006/relationships/vmlDrawing" Target="../drawings/vmlDrawing6.vml"/><Relationship Id="rId20" Type="http://schemas.openxmlformats.org/officeDocument/2006/relationships/slideLayout" Target="../slideLayouts/slideLayout2.xml"/><Relationship Id="rId2" Type="http://schemas.openxmlformats.org/officeDocument/2006/relationships/image" Target="../media/image10.png"/><Relationship Id="rId19" Type="http://schemas.openxmlformats.org/officeDocument/2006/relationships/image" Target="../media/image36.wmf"/><Relationship Id="rId18" Type="http://schemas.openxmlformats.org/officeDocument/2006/relationships/oleObject" Target="../embeddings/oleObject28.bin"/><Relationship Id="rId17" Type="http://schemas.openxmlformats.org/officeDocument/2006/relationships/image" Target="../media/image35.wmf"/><Relationship Id="rId16" Type="http://schemas.openxmlformats.org/officeDocument/2006/relationships/oleObject" Target="../embeddings/oleObject27.bin"/><Relationship Id="rId15" Type="http://schemas.openxmlformats.org/officeDocument/2006/relationships/image" Target="../media/image34.wmf"/><Relationship Id="rId14" Type="http://schemas.openxmlformats.org/officeDocument/2006/relationships/oleObject" Target="../embeddings/oleObject26.bin"/><Relationship Id="rId13" Type="http://schemas.openxmlformats.org/officeDocument/2006/relationships/image" Target="../media/image30.wmf"/><Relationship Id="rId12" Type="http://schemas.openxmlformats.org/officeDocument/2006/relationships/oleObject" Target="../embeddings/oleObject25.bin"/><Relationship Id="rId11" Type="http://schemas.openxmlformats.org/officeDocument/2006/relationships/image" Target="../media/image29.wmf"/><Relationship Id="rId10" Type="http://schemas.openxmlformats.org/officeDocument/2006/relationships/oleObject" Target="../embeddings/oleObject24.bin"/><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9" Type="http://schemas.openxmlformats.org/officeDocument/2006/relationships/notesSlide" Target="../notesSlides/notesSlide14.xml"/><Relationship Id="rId8" Type="http://schemas.openxmlformats.org/officeDocument/2006/relationships/vmlDrawing" Target="../drawings/vmlDrawing7.vml"/><Relationship Id="rId7" Type="http://schemas.openxmlformats.org/officeDocument/2006/relationships/slideLayout" Target="../slideLayouts/slideLayout2.xml"/><Relationship Id="rId6" Type="http://schemas.openxmlformats.org/officeDocument/2006/relationships/image" Target="../media/image38.wmf"/><Relationship Id="rId5" Type="http://schemas.openxmlformats.org/officeDocument/2006/relationships/oleObject" Target="../embeddings/oleObject30.bin"/><Relationship Id="rId4" Type="http://schemas.openxmlformats.org/officeDocument/2006/relationships/image" Target="../media/image37.wmf"/><Relationship Id="rId3" Type="http://schemas.openxmlformats.org/officeDocument/2006/relationships/oleObject" Target="../embeddings/oleObject29.bin"/><Relationship Id="rId2" Type="http://schemas.openxmlformats.org/officeDocument/2006/relationships/image" Target="../media/image10.png"/><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9" Type="http://schemas.openxmlformats.org/officeDocument/2006/relationships/vmlDrawing" Target="../drawings/vmlDrawing8.vml"/><Relationship Id="rId8" Type="http://schemas.openxmlformats.org/officeDocument/2006/relationships/slideLayout" Target="../slideLayouts/slideLayout2.xml"/><Relationship Id="rId7" Type="http://schemas.openxmlformats.org/officeDocument/2006/relationships/image" Target="../media/image41.emf"/><Relationship Id="rId6" Type="http://schemas.openxmlformats.org/officeDocument/2006/relationships/oleObject" Target="../embeddings/oleObject33.bin"/><Relationship Id="rId5" Type="http://schemas.openxmlformats.org/officeDocument/2006/relationships/image" Target="../media/image40.wmf"/><Relationship Id="rId4" Type="http://schemas.openxmlformats.org/officeDocument/2006/relationships/oleObject" Target="../embeddings/oleObject32.bin"/><Relationship Id="rId3" Type="http://schemas.openxmlformats.org/officeDocument/2006/relationships/image" Target="../media/image39.wmf"/><Relationship Id="rId2" Type="http://schemas.openxmlformats.org/officeDocument/2006/relationships/oleObject" Target="../embeddings/oleObject31.bin"/><Relationship Id="rId10" Type="http://schemas.openxmlformats.org/officeDocument/2006/relationships/notesSlide" Target="../notesSlides/notesSlide18.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9" Type="http://schemas.openxmlformats.org/officeDocument/2006/relationships/vmlDrawing" Target="../drawings/vmlDrawing9.vml"/><Relationship Id="rId8" Type="http://schemas.openxmlformats.org/officeDocument/2006/relationships/slideLayout" Target="../slideLayouts/slideLayout2.xml"/><Relationship Id="rId7" Type="http://schemas.openxmlformats.org/officeDocument/2006/relationships/image" Target="../media/image4.png"/><Relationship Id="rId6" Type="http://schemas.openxmlformats.org/officeDocument/2006/relationships/image" Target="../media/image40.wmf"/><Relationship Id="rId5" Type="http://schemas.openxmlformats.org/officeDocument/2006/relationships/oleObject" Target="../embeddings/oleObject35.bin"/><Relationship Id="rId4" Type="http://schemas.openxmlformats.org/officeDocument/2006/relationships/image" Target="../media/image39.wmf"/><Relationship Id="rId3" Type="http://schemas.openxmlformats.org/officeDocument/2006/relationships/oleObject" Target="../embeddings/oleObject34.bin"/><Relationship Id="rId2" Type="http://schemas.openxmlformats.org/officeDocument/2006/relationships/image" Target="../media/image43.png"/><Relationship Id="rId10" Type="http://schemas.openxmlformats.org/officeDocument/2006/relationships/notesSlide" Target="../notesSlides/notesSlide19.xml"/><Relationship Id="rId1" Type="http://schemas.openxmlformats.org/officeDocument/2006/relationships/image" Target="../media/image42.png"/></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7.emf"/><Relationship Id="rId7" Type="http://schemas.openxmlformats.org/officeDocument/2006/relationships/oleObject" Target="../embeddings/oleObject38.bin"/><Relationship Id="rId6" Type="http://schemas.openxmlformats.org/officeDocument/2006/relationships/image" Target="../media/image46.wmf"/><Relationship Id="rId5" Type="http://schemas.openxmlformats.org/officeDocument/2006/relationships/oleObject" Target="../embeddings/oleObject37.bin"/><Relationship Id="rId4" Type="http://schemas.openxmlformats.org/officeDocument/2006/relationships/image" Target="../media/image45.wmf"/><Relationship Id="rId3" Type="http://schemas.openxmlformats.org/officeDocument/2006/relationships/oleObject" Target="../embeddings/oleObject36.bin"/><Relationship Id="rId2" Type="http://schemas.openxmlformats.org/officeDocument/2006/relationships/image" Target="../media/image44.png"/><Relationship Id="rId10" Type="http://schemas.openxmlformats.org/officeDocument/2006/relationships/vmlDrawing" Target="../drawings/vmlDrawing10.v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image" Target="../media/image4.png"/><Relationship Id="rId7" Type="http://schemas.openxmlformats.org/officeDocument/2006/relationships/image" Target="../media/image52.wmf"/><Relationship Id="rId6" Type="http://schemas.openxmlformats.org/officeDocument/2006/relationships/oleObject" Target="../embeddings/oleObject40.bin"/><Relationship Id="rId5" Type="http://schemas.openxmlformats.org/officeDocument/2006/relationships/image" Target="../media/image51.wmf"/><Relationship Id="rId4" Type="http://schemas.openxmlformats.org/officeDocument/2006/relationships/oleObject" Target="../embeddings/oleObject39.bin"/><Relationship Id="rId3" Type="http://schemas.openxmlformats.org/officeDocument/2006/relationships/image" Target="../media/image50.png"/><Relationship Id="rId2" Type="http://schemas.openxmlformats.org/officeDocument/2006/relationships/image" Target="../media/image49.png"/><Relationship Id="rId10" Type="http://schemas.openxmlformats.org/officeDocument/2006/relationships/vmlDrawing" Target="../drawings/vmlDrawing11.vml"/><Relationship Id="rId1" Type="http://schemas.openxmlformats.org/officeDocument/2006/relationships/image" Target="../media/image48.png"/></Relationships>
</file>

<file path=ppt/slides/_rels/slide25.xml.rels><?xml version="1.0" encoding="UTF-8" standalone="yes"?>
<Relationships xmlns="http://schemas.openxmlformats.org/package/2006/relationships"><Relationship Id="rId5" Type="http://schemas.openxmlformats.org/officeDocument/2006/relationships/vmlDrawing" Target="../drawings/vmlDrawing12.vml"/><Relationship Id="rId4" Type="http://schemas.openxmlformats.org/officeDocument/2006/relationships/slideLayout" Target="../slideLayouts/slideLayout2.xml"/><Relationship Id="rId3" Type="http://schemas.openxmlformats.org/officeDocument/2006/relationships/image" Target="../media/image53.emf"/><Relationship Id="rId2" Type="http://schemas.openxmlformats.org/officeDocument/2006/relationships/oleObject" Target="../embeddings/oleObject41.bin"/><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8" Type="http://schemas.openxmlformats.org/officeDocument/2006/relationships/notesSlide" Target="../notesSlides/notesSlide20.xml"/><Relationship Id="rId7"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9" Type="http://schemas.openxmlformats.org/officeDocument/2006/relationships/notesSlide" Target="../notesSlides/notesSlide21.xml"/><Relationship Id="rId8" Type="http://schemas.openxmlformats.org/officeDocument/2006/relationships/vmlDrawing" Target="../drawings/vmlDrawing13.vml"/><Relationship Id="rId7"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oleObject" Target="../embeddings/oleObject43.bin"/><Relationship Id="rId4" Type="http://schemas.openxmlformats.org/officeDocument/2006/relationships/image" Target="../media/image60.png"/><Relationship Id="rId3" Type="http://schemas.openxmlformats.org/officeDocument/2006/relationships/oleObject" Target="../embeddings/oleObject42.bin"/><Relationship Id="rId2" Type="http://schemas.openxmlformats.org/officeDocument/2006/relationships/image" Target="../media/image59.jpeg"/><Relationship Id="rId1" Type="http://schemas.openxmlformats.org/officeDocument/2006/relationships/image" Target="../media/image4.png"/></Relationships>
</file>

<file path=ppt/slides/_rels/slide28.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48.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24.xml"/><Relationship Id="rId3" Type="http://schemas.openxmlformats.org/officeDocument/2006/relationships/slideLayout" Target="../slideLayouts/slideLayout2.xml"/><Relationship Id="rId2" Type="http://schemas.openxmlformats.org/officeDocument/2006/relationships/image" Target="../media/image62.png"/><Relationship Id="rId1" Type="http://schemas.openxmlformats.org/officeDocument/2006/relationships/image" Target="../media/image4.png"/></Relationships>
</file>

<file path=ppt/slides/_rels/slide31.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vmlDrawing" Target="../drawings/vmlDrawing14.v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64.png"/><Relationship Id="rId2" Type="http://schemas.openxmlformats.org/officeDocument/2006/relationships/image" Target="../media/image63.emf"/><Relationship Id="rId1" Type="http://schemas.openxmlformats.org/officeDocument/2006/relationships/oleObject" Target="../embeddings/oleObject44.bin"/></Relationships>
</file>

<file path=ppt/slides/_rels/slide32.xml.rels><?xml version="1.0" encoding="UTF-8" standalone="yes"?>
<Relationships xmlns="http://schemas.openxmlformats.org/package/2006/relationships"><Relationship Id="rId7" Type="http://schemas.openxmlformats.org/officeDocument/2006/relationships/notesSlide" Target="../notesSlides/notesSlide26.xml"/><Relationship Id="rId6" Type="http://schemas.openxmlformats.org/officeDocument/2006/relationships/vmlDrawing" Target="../drawings/vmlDrawing15.v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64.png"/><Relationship Id="rId2" Type="http://schemas.openxmlformats.org/officeDocument/2006/relationships/image" Target="../media/image63.emf"/><Relationship Id="rId1" Type="http://schemas.openxmlformats.org/officeDocument/2006/relationships/oleObject" Target="../embeddings/oleObject45.bin"/></Relationships>
</file>

<file path=ppt/slides/_rels/slide33.xml.rels><?xml version="1.0" encoding="UTF-8" standalone="yes"?>
<Relationships xmlns="http://schemas.openxmlformats.org/package/2006/relationships"><Relationship Id="rId7" Type="http://schemas.openxmlformats.org/officeDocument/2006/relationships/notesSlide" Target="../notesSlides/notesSlide27.xml"/><Relationship Id="rId6" Type="http://schemas.openxmlformats.org/officeDocument/2006/relationships/vmlDrawing" Target="../drawings/vmlDrawing16.vml"/><Relationship Id="rId5" Type="http://schemas.openxmlformats.org/officeDocument/2006/relationships/slideLayout" Target="../slideLayouts/slideLayout2.xml"/><Relationship Id="rId4" Type="http://schemas.openxmlformats.org/officeDocument/2006/relationships/image" Target="../media/image64.png"/><Relationship Id="rId3" Type="http://schemas.openxmlformats.org/officeDocument/2006/relationships/image" Target="../media/image4.png"/><Relationship Id="rId2" Type="http://schemas.openxmlformats.org/officeDocument/2006/relationships/image" Target="../media/image63.emf"/><Relationship Id="rId1" Type="http://schemas.openxmlformats.org/officeDocument/2006/relationships/oleObject" Target="../embeddings/oleObject46.bin"/></Relationships>
</file>

<file path=ppt/slides/_rels/slide34.xml.rels><?xml version="1.0" encoding="UTF-8" standalone="yes"?>
<Relationships xmlns="http://schemas.openxmlformats.org/package/2006/relationships"><Relationship Id="rId7" Type="http://schemas.openxmlformats.org/officeDocument/2006/relationships/notesSlide" Target="../notesSlides/notesSlide28.xml"/><Relationship Id="rId6" Type="http://schemas.openxmlformats.org/officeDocument/2006/relationships/vmlDrawing" Target="../drawings/vmlDrawing17.vml"/><Relationship Id="rId5" Type="http://schemas.openxmlformats.org/officeDocument/2006/relationships/slideLayout" Target="../slideLayouts/slideLayout2.xml"/><Relationship Id="rId4" Type="http://schemas.openxmlformats.org/officeDocument/2006/relationships/image" Target="../media/image64.png"/><Relationship Id="rId3" Type="http://schemas.openxmlformats.org/officeDocument/2006/relationships/image" Target="../media/image4.png"/><Relationship Id="rId2" Type="http://schemas.openxmlformats.org/officeDocument/2006/relationships/image" Target="../media/image63.emf"/><Relationship Id="rId1" Type="http://schemas.openxmlformats.org/officeDocument/2006/relationships/oleObject" Target="../embeddings/oleObject47.bin"/></Relationships>
</file>

<file path=ppt/slides/_rels/slide35.xml.rels><?xml version="1.0" encoding="UTF-8" standalone="yes"?>
<Relationships xmlns="http://schemas.openxmlformats.org/package/2006/relationships"><Relationship Id="rId7" Type="http://schemas.openxmlformats.org/officeDocument/2006/relationships/notesSlide" Target="../notesSlides/notesSlide29.xml"/><Relationship Id="rId6" Type="http://schemas.openxmlformats.org/officeDocument/2006/relationships/vmlDrawing" Target="../drawings/vmlDrawing18.vml"/><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image" Target="../media/image64.png"/><Relationship Id="rId2" Type="http://schemas.openxmlformats.org/officeDocument/2006/relationships/image" Target="../media/image63.emf"/><Relationship Id="rId1" Type="http://schemas.openxmlformats.org/officeDocument/2006/relationships/oleObject" Target="../embeddings/oleObject48.bin"/></Relationships>
</file>

<file path=ppt/slides/_rels/slide3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65.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9.xml.rels><?xml version="1.0" encoding="UTF-8" standalone="yes"?>
<Relationships xmlns="http://schemas.openxmlformats.org/package/2006/relationships"><Relationship Id="rId6" Type="http://schemas.openxmlformats.org/officeDocument/2006/relationships/notesSlide" Target="../notesSlides/notesSlide32.xml"/><Relationship Id="rId5" Type="http://schemas.openxmlformats.org/officeDocument/2006/relationships/vmlDrawing" Target="../drawings/vmlDrawing19.vml"/><Relationship Id="rId4" Type="http://schemas.openxmlformats.org/officeDocument/2006/relationships/slideLayout" Target="../slideLayouts/slideLayout2.xml"/><Relationship Id="rId3" Type="http://schemas.openxmlformats.org/officeDocument/2006/relationships/image" Target="../media/image66.emf"/><Relationship Id="rId2" Type="http://schemas.openxmlformats.org/officeDocument/2006/relationships/oleObject" Target="../embeddings/oleObject49.bin"/><Relationship Id="rId1" Type="http://schemas.openxmlformats.org/officeDocument/2006/relationships/image" Target="../media/image4.png"/></Relationships>
</file>

<file path=ppt/slides/_rels/slide40.xml.rels><?xml version="1.0" encoding="UTF-8" standalone="yes"?>
<Relationships xmlns="http://schemas.openxmlformats.org/package/2006/relationships"><Relationship Id="rId9" Type="http://schemas.openxmlformats.org/officeDocument/2006/relationships/image" Target="../media/image70.emf"/><Relationship Id="rId8" Type="http://schemas.openxmlformats.org/officeDocument/2006/relationships/oleObject" Target="../embeddings/oleObject52.bin"/><Relationship Id="rId7" Type="http://schemas.openxmlformats.org/officeDocument/2006/relationships/image" Target="../media/image69.wmf"/><Relationship Id="rId6" Type="http://schemas.openxmlformats.org/officeDocument/2006/relationships/oleObject" Target="../embeddings/oleObject51.bin"/><Relationship Id="rId5" Type="http://schemas.openxmlformats.org/officeDocument/2006/relationships/image" Target="../media/image68.wmf"/><Relationship Id="rId4" Type="http://schemas.openxmlformats.org/officeDocument/2006/relationships/oleObject" Target="../embeddings/oleObject50.bin"/><Relationship Id="rId3" Type="http://schemas.openxmlformats.org/officeDocument/2006/relationships/image" Target="../media/image42.png"/><Relationship Id="rId2" Type="http://schemas.openxmlformats.org/officeDocument/2006/relationships/image" Target="../media/image4.png"/><Relationship Id="rId14" Type="http://schemas.openxmlformats.org/officeDocument/2006/relationships/notesSlide" Target="../notesSlides/notesSlide33.xml"/><Relationship Id="rId13" Type="http://schemas.openxmlformats.org/officeDocument/2006/relationships/vmlDrawing" Target="../drawings/vmlDrawing20.vml"/><Relationship Id="rId12" Type="http://schemas.openxmlformats.org/officeDocument/2006/relationships/slideLayout" Target="../slideLayouts/slideLayout2.xml"/><Relationship Id="rId11" Type="http://schemas.openxmlformats.org/officeDocument/2006/relationships/image" Target="../media/image71.wmf"/><Relationship Id="rId10" Type="http://schemas.openxmlformats.org/officeDocument/2006/relationships/oleObject" Target="../embeddings/oleObject53.bin"/><Relationship Id="rId1" Type="http://schemas.openxmlformats.org/officeDocument/2006/relationships/image" Target="../media/image67.png"/></Relationships>
</file>

<file path=ppt/slides/_rels/slide4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image" Target="../media/image72.png"/><Relationship Id="rId2" Type="http://schemas.openxmlformats.org/officeDocument/2006/relationships/image" Target="../media/image42.png"/><Relationship Id="rId1" Type="http://schemas.openxmlformats.org/officeDocument/2006/relationships/image" Target="../media/image4.png"/></Relationships>
</file>

<file path=ppt/slides/_rels/slide42.xml.rels><?xml version="1.0" encoding="UTF-8" standalone="yes"?>
<Relationships xmlns="http://schemas.openxmlformats.org/package/2006/relationships"><Relationship Id="rId5" Type="http://schemas.openxmlformats.org/officeDocument/2006/relationships/notesSlide" Target="../notesSlides/notesSlide34.xml"/><Relationship Id="rId4" Type="http://schemas.openxmlformats.org/officeDocument/2006/relationships/slideLayout" Target="../slideLayouts/slideLayout2.xml"/><Relationship Id="rId3" Type="http://schemas.openxmlformats.org/officeDocument/2006/relationships/image" Target="../media/image74.jpeg"/><Relationship Id="rId2" Type="http://schemas.openxmlformats.org/officeDocument/2006/relationships/image" Target="../media/image73.jpeg"/><Relationship Id="rId1" Type="http://schemas.openxmlformats.org/officeDocument/2006/relationships/image" Target="../media/image4.png"/></Relationships>
</file>

<file path=ppt/slides/_rels/slide43.xml.rels><?xml version="1.0" encoding="UTF-8" standalone="yes"?>
<Relationships xmlns="http://schemas.openxmlformats.org/package/2006/relationships"><Relationship Id="rId9" Type="http://schemas.openxmlformats.org/officeDocument/2006/relationships/oleObject" Target="../embeddings/oleObject56.bin"/><Relationship Id="rId8" Type="http://schemas.openxmlformats.org/officeDocument/2006/relationships/image" Target="../media/image79.wmf"/><Relationship Id="rId7" Type="http://schemas.openxmlformats.org/officeDocument/2006/relationships/oleObject" Target="../embeddings/oleObject55.bin"/><Relationship Id="rId6" Type="http://schemas.openxmlformats.org/officeDocument/2006/relationships/image" Target="../media/image78.wmf"/><Relationship Id="rId5" Type="http://schemas.openxmlformats.org/officeDocument/2006/relationships/oleObject" Target="../embeddings/oleObject54.bin"/><Relationship Id="rId4" Type="http://schemas.openxmlformats.org/officeDocument/2006/relationships/image" Target="../media/image77.png"/><Relationship Id="rId3" Type="http://schemas.openxmlformats.org/officeDocument/2006/relationships/image" Target="../media/image4.png"/><Relationship Id="rId2" Type="http://schemas.openxmlformats.org/officeDocument/2006/relationships/image" Target="../media/image76.png"/><Relationship Id="rId18" Type="http://schemas.openxmlformats.org/officeDocument/2006/relationships/vmlDrawing" Target="../drawings/vmlDrawing21.vml"/><Relationship Id="rId17" Type="http://schemas.openxmlformats.org/officeDocument/2006/relationships/slideLayout" Target="../slideLayouts/slideLayout1.xml"/><Relationship Id="rId16" Type="http://schemas.openxmlformats.org/officeDocument/2006/relationships/image" Target="../media/image83.wmf"/><Relationship Id="rId15" Type="http://schemas.openxmlformats.org/officeDocument/2006/relationships/oleObject" Target="../embeddings/oleObject59.bin"/><Relationship Id="rId14" Type="http://schemas.openxmlformats.org/officeDocument/2006/relationships/image" Target="../media/image82.wmf"/><Relationship Id="rId13" Type="http://schemas.openxmlformats.org/officeDocument/2006/relationships/oleObject" Target="../embeddings/oleObject58.bin"/><Relationship Id="rId12" Type="http://schemas.openxmlformats.org/officeDocument/2006/relationships/image" Target="../media/image81.wmf"/><Relationship Id="rId11" Type="http://schemas.openxmlformats.org/officeDocument/2006/relationships/oleObject" Target="../embeddings/oleObject57.bin"/><Relationship Id="rId10" Type="http://schemas.openxmlformats.org/officeDocument/2006/relationships/image" Target="../media/image80.wmf"/><Relationship Id="rId1" Type="http://schemas.openxmlformats.org/officeDocument/2006/relationships/image" Target="../media/image75.png"/></Relationships>
</file>

<file path=ppt/slides/_rels/slide44.xml.rels><?xml version="1.0" encoding="UTF-8" standalone="yes"?>
<Relationships xmlns="http://schemas.openxmlformats.org/package/2006/relationships"><Relationship Id="rId9" Type="http://schemas.openxmlformats.org/officeDocument/2006/relationships/vmlDrawing" Target="../drawings/vmlDrawing22.vml"/><Relationship Id="rId8" Type="http://schemas.openxmlformats.org/officeDocument/2006/relationships/slideLayout" Target="../slideLayouts/slideLayout1.xml"/><Relationship Id="rId7" Type="http://schemas.openxmlformats.org/officeDocument/2006/relationships/image" Target="../media/image86.png"/><Relationship Id="rId6" Type="http://schemas.openxmlformats.org/officeDocument/2006/relationships/oleObject" Target="../embeddings/oleObject62.bin"/><Relationship Id="rId5" Type="http://schemas.openxmlformats.org/officeDocument/2006/relationships/image" Target="../media/image85.png"/><Relationship Id="rId4" Type="http://schemas.openxmlformats.org/officeDocument/2006/relationships/oleObject" Target="../embeddings/oleObject61.bin"/><Relationship Id="rId3" Type="http://schemas.openxmlformats.org/officeDocument/2006/relationships/image" Target="../media/image4.png"/><Relationship Id="rId2" Type="http://schemas.openxmlformats.org/officeDocument/2006/relationships/image" Target="../media/image84.emf"/><Relationship Id="rId1" Type="http://schemas.openxmlformats.org/officeDocument/2006/relationships/oleObject" Target="../embeddings/oleObject60.bin"/></Relationships>
</file>

<file path=ppt/slides/_rels/slide45.xml.rels><?xml version="1.0" encoding="UTF-8" standalone="yes"?>
<Relationships xmlns="http://schemas.openxmlformats.org/package/2006/relationships"><Relationship Id="rId9" Type="http://schemas.openxmlformats.org/officeDocument/2006/relationships/oleObject" Target="../embeddings/oleObject67.bin"/><Relationship Id="rId8" Type="http://schemas.openxmlformats.org/officeDocument/2006/relationships/image" Target="../media/image90.wmf"/><Relationship Id="rId7" Type="http://schemas.openxmlformats.org/officeDocument/2006/relationships/oleObject" Target="../embeddings/oleObject66.bin"/><Relationship Id="rId6" Type="http://schemas.openxmlformats.org/officeDocument/2006/relationships/image" Target="../media/image89.wmf"/><Relationship Id="rId5" Type="http://schemas.openxmlformats.org/officeDocument/2006/relationships/oleObject" Target="../embeddings/oleObject65.bin"/><Relationship Id="rId44" Type="http://schemas.openxmlformats.org/officeDocument/2006/relationships/notesSlide" Target="../notesSlides/notesSlide35.xml"/><Relationship Id="rId43" Type="http://schemas.openxmlformats.org/officeDocument/2006/relationships/vmlDrawing" Target="../drawings/vmlDrawing23.vml"/><Relationship Id="rId42" Type="http://schemas.openxmlformats.org/officeDocument/2006/relationships/slideLayout" Target="../slideLayouts/slideLayout1.xml"/><Relationship Id="rId41" Type="http://schemas.openxmlformats.org/officeDocument/2006/relationships/image" Target="../media/image42.png"/><Relationship Id="rId40" Type="http://schemas.openxmlformats.org/officeDocument/2006/relationships/image" Target="../media/image105.wmf"/><Relationship Id="rId4" Type="http://schemas.openxmlformats.org/officeDocument/2006/relationships/image" Target="../media/image88.wmf"/><Relationship Id="rId39" Type="http://schemas.openxmlformats.org/officeDocument/2006/relationships/oleObject" Target="../embeddings/oleObject81.bin"/><Relationship Id="rId38" Type="http://schemas.openxmlformats.org/officeDocument/2006/relationships/image" Target="../media/image104.wmf"/><Relationship Id="rId37" Type="http://schemas.openxmlformats.org/officeDocument/2006/relationships/oleObject" Target="../embeddings/oleObject80.bin"/><Relationship Id="rId36" Type="http://schemas.openxmlformats.org/officeDocument/2006/relationships/image" Target="../media/image103.wmf"/><Relationship Id="rId35" Type="http://schemas.openxmlformats.org/officeDocument/2006/relationships/oleObject" Target="../embeddings/oleObject79.bin"/><Relationship Id="rId34" Type="http://schemas.openxmlformats.org/officeDocument/2006/relationships/image" Target="../media/image102.wmf"/><Relationship Id="rId33" Type="http://schemas.openxmlformats.org/officeDocument/2006/relationships/oleObject" Target="../embeddings/oleObject78.bin"/><Relationship Id="rId32" Type="http://schemas.openxmlformats.org/officeDocument/2006/relationships/image" Target="../media/image101.wmf"/><Relationship Id="rId31" Type="http://schemas.openxmlformats.org/officeDocument/2006/relationships/oleObject" Target="../embeddings/oleObject77.bin"/><Relationship Id="rId30" Type="http://schemas.openxmlformats.org/officeDocument/2006/relationships/image" Target="../media/image100.wmf"/><Relationship Id="rId3" Type="http://schemas.openxmlformats.org/officeDocument/2006/relationships/oleObject" Target="../embeddings/oleObject64.bin"/><Relationship Id="rId29" Type="http://schemas.openxmlformats.org/officeDocument/2006/relationships/oleObject" Target="../embeddings/oleObject76.bin"/><Relationship Id="rId28" Type="http://schemas.openxmlformats.org/officeDocument/2006/relationships/image" Target="../media/image99.wmf"/><Relationship Id="rId27" Type="http://schemas.openxmlformats.org/officeDocument/2006/relationships/oleObject" Target="../embeddings/oleObject75.bin"/><Relationship Id="rId26" Type="http://schemas.openxmlformats.org/officeDocument/2006/relationships/image" Target="../media/image98.wmf"/><Relationship Id="rId25" Type="http://schemas.openxmlformats.org/officeDocument/2006/relationships/oleObject" Target="../embeddings/oleObject74.bin"/><Relationship Id="rId24" Type="http://schemas.openxmlformats.org/officeDocument/2006/relationships/image" Target="../media/image97.wmf"/><Relationship Id="rId23" Type="http://schemas.openxmlformats.org/officeDocument/2006/relationships/oleObject" Target="../embeddings/oleObject73.bin"/><Relationship Id="rId22" Type="http://schemas.openxmlformats.org/officeDocument/2006/relationships/image" Target="../media/image96.wmf"/><Relationship Id="rId21" Type="http://schemas.openxmlformats.org/officeDocument/2006/relationships/oleObject" Target="../embeddings/oleObject72.bin"/><Relationship Id="rId20" Type="http://schemas.openxmlformats.org/officeDocument/2006/relationships/image" Target="../media/image95.png"/><Relationship Id="rId2" Type="http://schemas.openxmlformats.org/officeDocument/2006/relationships/image" Target="../media/image87.wmf"/><Relationship Id="rId19" Type="http://schemas.openxmlformats.org/officeDocument/2006/relationships/image" Target="../media/image85.png"/><Relationship Id="rId18" Type="http://schemas.openxmlformats.org/officeDocument/2006/relationships/oleObject" Target="../embeddings/oleObject71.bin"/><Relationship Id="rId17" Type="http://schemas.openxmlformats.org/officeDocument/2006/relationships/image" Target="../media/image4.png"/><Relationship Id="rId16" Type="http://schemas.openxmlformats.org/officeDocument/2006/relationships/image" Target="../media/image94.wmf"/><Relationship Id="rId15" Type="http://schemas.openxmlformats.org/officeDocument/2006/relationships/oleObject" Target="../embeddings/oleObject70.bin"/><Relationship Id="rId14" Type="http://schemas.openxmlformats.org/officeDocument/2006/relationships/image" Target="../media/image93.wmf"/><Relationship Id="rId13" Type="http://schemas.openxmlformats.org/officeDocument/2006/relationships/oleObject" Target="../embeddings/oleObject69.bin"/><Relationship Id="rId12" Type="http://schemas.openxmlformats.org/officeDocument/2006/relationships/image" Target="../media/image92.wmf"/><Relationship Id="rId11" Type="http://schemas.openxmlformats.org/officeDocument/2006/relationships/oleObject" Target="../embeddings/oleObject68.bin"/><Relationship Id="rId10" Type="http://schemas.openxmlformats.org/officeDocument/2006/relationships/image" Target="../media/image91.wmf"/><Relationship Id="rId1" Type="http://schemas.openxmlformats.org/officeDocument/2006/relationships/oleObject" Target="../embeddings/oleObject63.bin"/></Relationships>
</file>

<file path=ppt/slides/_rels/slide46.xml.rels><?xml version="1.0" encoding="UTF-8" standalone="yes"?>
<Relationships xmlns="http://schemas.openxmlformats.org/package/2006/relationships"><Relationship Id="rId6" Type="http://schemas.openxmlformats.org/officeDocument/2006/relationships/notesSlide" Target="../notesSlides/notesSlide36.xml"/><Relationship Id="rId5" Type="http://schemas.openxmlformats.org/officeDocument/2006/relationships/vmlDrawing" Target="../drawings/vmlDrawing24.vml"/><Relationship Id="rId4" Type="http://schemas.openxmlformats.org/officeDocument/2006/relationships/slideLayout" Target="../slideLayouts/slideLayout1.xml"/><Relationship Id="rId3" Type="http://schemas.openxmlformats.org/officeDocument/2006/relationships/image" Target="../media/image106.emf"/><Relationship Id="rId2" Type="http://schemas.openxmlformats.org/officeDocument/2006/relationships/oleObject" Target="../embeddings/oleObject82.bin"/><Relationship Id="rId1" Type="http://schemas.openxmlformats.org/officeDocument/2006/relationships/image" Target="../media/image4.png"/></Relationships>
</file>

<file path=ppt/slides/_rels/slide47.xml.rels><?xml version="1.0" encoding="UTF-8" standalone="yes"?>
<Relationships xmlns="http://schemas.openxmlformats.org/package/2006/relationships"><Relationship Id="rId9" Type="http://schemas.openxmlformats.org/officeDocument/2006/relationships/image" Target="../media/image110.wmf"/><Relationship Id="rId8" Type="http://schemas.openxmlformats.org/officeDocument/2006/relationships/oleObject" Target="../embeddings/oleObject86.bin"/><Relationship Id="rId7" Type="http://schemas.openxmlformats.org/officeDocument/2006/relationships/image" Target="../media/image109.wmf"/><Relationship Id="rId6" Type="http://schemas.openxmlformats.org/officeDocument/2006/relationships/oleObject" Target="../embeddings/oleObject85.bin"/><Relationship Id="rId5" Type="http://schemas.openxmlformats.org/officeDocument/2006/relationships/image" Target="../media/image108.wmf"/><Relationship Id="rId4" Type="http://schemas.openxmlformats.org/officeDocument/2006/relationships/oleObject" Target="../embeddings/oleObject84.bin"/><Relationship Id="rId3" Type="http://schemas.openxmlformats.org/officeDocument/2006/relationships/image" Target="../media/image107.emf"/><Relationship Id="rId2" Type="http://schemas.openxmlformats.org/officeDocument/2006/relationships/oleObject" Target="../embeddings/oleObject83.bin"/><Relationship Id="rId13" Type="http://schemas.openxmlformats.org/officeDocument/2006/relationships/vmlDrawing" Target="../drawings/vmlDrawing25.vml"/><Relationship Id="rId12" Type="http://schemas.openxmlformats.org/officeDocument/2006/relationships/slideLayout" Target="../slideLayouts/slideLayout1.xml"/><Relationship Id="rId11" Type="http://schemas.openxmlformats.org/officeDocument/2006/relationships/image" Target="../media/image111.wmf"/><Relationship Id="rId10" Type="http://schemas.openxmlformats.org/officeDocument/2006/relationships/oleObject" Target="../embeddings/oleObject87.bin"/><Relationship Id="rId1" Type="http://schemas.openxmlformats.org/officeDocument/2006/relationships/image" Target="../media/image4.png"/></Relationships>
</file>

<file path=ppt/slides/_rels/slide48.xml.rels><?xml version="1.0" encoding="UTF-8" standalone="yes"?>
<Relationships xmlns="http://schemas.openxmlformats.org/package/2006/relationships"><Relationship Id="rId9" Type="http://schemas.openxmlformats.org/officeDocument/2006/relationships/image" Target="../media/image110.wmf"/><Relationship Id="rId8" Type="http://schemas.openxmlformats.org/officeDocument/2006/relationships/oleObject" Target="../embeddings/oleObject91.bin"/><Relationship Id="rId7" Type="http://schemas.openxmlformats.org/officeDocument/2006/relationships/image" Target="../media/image109.wmf"/><Relationship Id="rId6" Type="http://schemas.openxmlformats.org/officeDocument/2006/relationships/oleObject" Target="../embeddings/oleObject90.bin"/><Relationship Id="rId5" Type="http://schemas.openxmlformats.org/officeDocument/2006/relationships/image" Target="../media/image108.wmf"/><Relationship Id="rId4" Type="http://schemas.openxmlformats.org/officeDocument/2006/relationships/oleObject" Target="../embeddings/oleObject89.bin"/><Relationship Id="rId3" Type="http://schemas.openxmlformats.org/officeDocument/2006/relationships/image" Target="../media/image107.emf"/><Relationship Id="rId2" Type="http://schemas.openxmlformats.org/officeDocument/2006/relationships/oleObject" Target="../embeddings/oleObject88.bin"/><Relationship Id="rId13" Type="http://schemas.openxmlformats.org/officeDocument/2006/relationships/vmlDrawing" Target="../drawings/vmlDrawing26.vml"/><Relationship Id="rId12" Type="http://schemas.openxmlformats.org/officeDocument/2006/relationships/slideLayout" Target="../slideLayouts/slideLayout1.xml"/><Relationship Id="rId11" Type="http://schemas.openxmlformats.org/officeDocument/2006/relationships/image" Target="../media/image111.wmf"/><Relationship Id="rId10" Type="http://schemas.openxmlformats.org/officeDocument/2006/relationships/oleObject" Target="../embeddings/oleObject92.bin"/><Relationship Id="rId1" Type="http://schemas.openxmlformats.org/officeDocument/2006/relationships/image" Target="../media/image4.png"/></Relationships>
</file>

<file path=ppt/slides/_rels/slide49.xml.rels><?xml version="1.0" encoding="UTF-8" standalone="yes"?>
<Relationships xmlns="http://schemas.openxmlformats.org/package/2006/relationships"><Relationship Id="rId9" Type="http://schemas.openxmlformats.org/officeDocument/2006/relationships/image" Target="../media/image108.wmf"/><Relationship Id="rId8" Type="http://schemas.openxmlformats.org/officeDocument/2006/relationships/oleObject" Target="../embeddings/oleObject96.bin"/><Relationship Id="rId7" Type="http://schemas.openxmlformats.org/officeDocument/2006/relationships/image" Target="../media/image113.wmf"/><Relationship Id="rId6" Type="http://schemas.openxmlformats.org/officeDocument/2006/relationships/oleObject" Target="../embeddings/oleObject95.bin"/><Relationship Id="rId5" Type="http://schemas.openxmlformats.org/officeDocument/2006/relationships/image" Target="../media/image112.wmf"/><Relationship Id="rId4" Type="http://schemas.openxmlformats.org/officeDocument/2006/relationships/oleObject" Target="../embeddings/oleObject94.bin"/><Relationship Id="rId3" Type="http://schemas.openxmlformats.org/officeDocument/2006/relationships/image" Target="../media/image107.emf"/><Relationship Id="rId2" Type="http://schemas.openxmlformats.org/officeDocument/2006/relationships/oleObject" Target="../embeddings/oleObject93.bin"/><Relationship Id="rId17" Type="http://schemas.openxmlformats.org/officeDocument/2006/relationships/vmlDrawing" Target="../drawings/vmlDrawing27.vml"/><Relationship Id="rId16" Type="http://schemas.openxmlformats.org/officeDocument/2006/relationships/slideLayout" Target="../slideLayouts/slideLayout1.xml"/><Relationship Id="rId15" Type="http://schemas.openxmlformats.org/officeDocument/2006/relationships/image" Target="../media/image111.wmf"/><Relationship Id="rId14" Type="http://schemas.openxmlformats.org/officeDocument/2006/relationships/oleObject" Target="../embeddings/oleObject99.bin"/><Relationship Id="rId13" Type="http://schemas.openxmlformats.org/officeDocument/2006/relationships/image" Target="../media/image110.wmf"/><Relationship Id="rId12" Type="http://schemas.openxmlformats.org/officeDocument/2006/relationships/oleObject" Target="../embeddings/oleObject98.bin"/><Relationship Id="rId11" Type="http://schemas.openxmlformats.org/officeDocument/2006/relationships/image" Target="../media/image109.wmf"/><Relationship Id="rId10" Type="http://schemas.openxmlformats.org/officeDocument/2006/relationships/oleObject" Target="../embeddings/oleObject97.bin"/><Relationship Id="rId1" Type="http://schemas.openxmlformats.org/officeDocument/2006/relationships/image" Target="../media/image4.png"/></Relationships>
</file>

<file path=ppt/slides/_rels/slide50.xml.rels><?xml version="1.0" encoding="UTF-8" standalone="yes"?>
<Relationships xmlns="http://schemas.openxmlformats.org/package/2006/relationships"><Relationship Id="rId9" Type="http://schemas.openxmlformats.org/officeDocument/2006/relationships/image" Target="../media/image110.wmf"/><Relationship Id="rId8" Type="http://schemas.openxmlformats.org/officeDocument/2006/relationships/oleObject" Target="../embeddings/oleObject103.bin"/><Relationship Id="rId7" Type="http://schemas.openxmlformats.org/officeDocument/2006/relationships/image" Target="../media/image109.wmf"/><Relationship Id="rId6" Type="http://schemas.openxmlformats.org/officeDocument/2006/relationships/oleObject" Target="../embeddings/oleObject102.bin"/><Relationship Id="rId5" Type="http://schemas.openxmlformats.org/officeDocument/2006/relationships/image" Target="../media/image108.wmf"/><Relationship Id="rId4" Type="http://schemas.openxmlformats.org/officeDocument/2006/relationships/oleObject" Target="../embeddings/oleObject101.bin"/><Relationship Id="rId3" Type="http://schemas.openxmlformats.org/officeDocument/2006/relationships/image" Target="../media/image107.emf"/><Relationship Id="rId21" Type="http://schemas.openxmlformats.org/officeDocument/2006/relationships/vmlDrawing" Target="../drawings/vmlDrawing28.vml"/><Relationship Id="rId20" Type="http://schemas.openxmlformats.org/officeDocument/2006/relationships/slideLayout" Target="../slideLayouts/slideLayout1.xml"/><Relationship Id="rId2" Type="http://schemas.openxmlformats.org/officeDocument/2006/relationships/oleObject" Target="../embeddings/oleObject100.bin"/><Relationship Id="rId19" Type="http://schemas.openxmlformats.org/officeDocument/2006/relationships/image" Target="../media/image115.wmf"/><Relationship Id="rId18" Type="http://schemas.openxmlformats.org/officeDocument/2006/relationships/oleObject" Target="../embeddings/oleObject108.bin"/><Relationship Id="rId17" Type="http://schemas.openxmlformats.org/officeDocument/2006/relationships/image" Target="../media/image114.wmf"/><Relationship Id="rId16" Type="http://schemas.openxmlformats.org/officeDocument/2006/relationships/oleObject" Target="../embeddings/oleObject107.bin"/><Relationship Id="rId15" Type="http://schemas.openxmlformats.org/officeDocument/2006/relationships/image" Target="../media/image113.wmf"/><Relationship Id="rId14" Type="http://schemas.openxmlformats.org/officeDocument/2006/relationships/oleObject" Target="../embeddings/oleObject106.bin"/><Relationship Id="rId13" Type="http://schemas.openxmlformats.org/officeDocument/2006/relationships/image" Target="../media/image112.wmf"/><Relationship Id="rId12" Type="http://schemas.openxmlformats.org/officeDocument/2006/relationships/oleObject" Target="../embeddings/oleObject105.bin"/><Relationship Id="rId11" Type="http://schemas.openxmlformats.org/officeDocument/2006/relationships/image" Target="../media/image111.wmf"/><Relationship Id="rId10" Type="http://schemas.openxmlformats.org/officeDocument/2006/relationships/oleObject" Target="../embeddings/oleObject104.bin"/><Relationship Id="rId1" Type="http://schemas.openxmlformats.org/officeDocument/2006/relationships/image" Target="../media/image4.png"/></Relationships>
</file>

<file path=ppt/slides/_rels/slide51.xml.rels><?xml version="1.0" encoding="UTF-8" standalone="yes"?>
<Relationships xmlns="http://schemas.openxmlformats.org/package/2006/relationships"><Relationship Id="rId7" Type="http://schemas.openxmlformats.org/officeDocument/2006/relationships/vmlDrawing" Target="../drawings/vmlDrawing29.vml"/><Relationship Id="rId6" Type="http://schemas.openxmlformats.org/officeDocument/2006/relationships/slideLayout" Target="../slideLayouts/slideLayout2.xml"/><Relationship Id="rId5" Type="http://schemas.openxmlformats.org/officeDocument/2006/relationships/image" Target="../media/image105.wmf"/><Relationship Id="rId4" Type="http://schemas.openxmlformats.org/officeDocument/2006/relationships/oleObject" Target="../embeddings/oleObject110.bin"/><Relationship Id="rId3" Type="http://schemas.openxmlformats.org/officeDocument/2006/relationships/image" Target="../media/image85.png"/><Relationship Id="rId2" Type="http://schemas.openxmlformats.org/officeDocument/2006/relationships/oleObject" Target="../embeddings/oleObject109.bin"/><Relationship Id="rId1" Type="http://schemas.openxmlformats.org/officeDocument/2006/relationships/image" Target="../media/image4.png"/></Relationships>
</file>

<file path=ppt/slides/_rels/slide52.xml.rels><?xml version="1.0" encoding="UTF-8" standalone="yes"?>
<Relationships xmlns="http://schemas.openxmlformats.org/package/2006/relationships"><Relationship Id="rId9" Type="http://schemas.openxmlformats.org/officeDocument/2006/relationships/image" Target="../media/image118.wmf"/><Relationship Id="rId8" Type="http://schemas.openxmlformats.org/officeDocument/2006/relationships/oleObject" Target="../embeddings/oleObject113.bin"/><Relationship Id="rId7" Type="http://schemas.openxmlformats.org/officeDocument/2006/relationships/image" Target="../media/image117.wmf"/><Relationship Id="rId6" Type="http://schemas.openxmlformats.org/officeDocument/2006/relationships/oleObject" Target="../embeddings/oleObject112.bin"/><Relationship Id="rId5" Type="http://schemas.openxmlformats.org/officeDocument/2006/relationships/image" Target="../media/image116.wmf"/><Relationship Id="rId4" Type="http://schemas.openxmlformats.org/officeDocument/2006/relationships/oleObject" Target="../embeddings/oleObject111.bin"/><Relationship Id="rId3" Type="http://schemas.openxmlformats.org/officeDocument/2006/relationships/image" Target="../media/image11.png"/><Relationship Id="rId25" Type="http://schemas.openxmlformats.org/officeDocument/2006/relationships/vmlDrawing" Target="../drawings/vmlDrawing30.vml"/><Relationship Id="rId24" Type="http://schemas.openxmlformats.org/officeDocument/2006/relationships/slideLayout" Target="../slideLayouts/slideLayout2.xml"/><Relationship Id="rId23" Type="http://schemas.openxmlformats.org/officeDocument/2006/relationships/image" Target="../media/image123.wmf"/><Relationship Id="rId22" Type="http://schemas.openxmlformats.org/officeDocument/2006/relationships/oleObject" Target="../embeddings/oleObject120.bin"/><Relationship Id="rId21" Type="http://schemas.openxmlformats.org/officeDocument/2006/relationships/image" Target="../media/image122.wmf"/><Relationship Id="rId20" Type="http://schemas.openxmlformats.org/officeDocument/2006/relationships/oleObject" Target="../embeddings/oleObject119.bin"/><Relationship Id="rId2" Type="http://schemas.openxmlformats.org/officeDocument/2006/relationships/image" Target="../media/image10.png"/><Relationship Id="rId19" Type="http://schemas.openxmlformats.org/officeDocument/2006/relationships/image" Target="../media/image105.wmf"/><Relationship Id="rId18" Type="http://schemas.openxmlformats.org/officeDocument/2006/relationships/oleObject" Target="../embeddings/oleObject118.bin"/><Relationship Id="rId17" Type="http://schemas.openxmlformats.org/officeDocument/2006/relationships/image" Target="../media/image85.png"/><Relationship Id="rId16" Type="http://schemas.openxmlformats.org/officeDocument/2006/relationships/oleObject" Target="../embeddings/oleObject117.bin"/><Relationship Id="rId15" Type="http://schemas.openxmlformats.org/officeDocument/2006/relationships/image" Target="../media/image121.wmf"/><Relationship Id="rId14" Type="http://schemas.openxmlformats.org/officeDocument/2006/relationships/oleObject" Target="../embeddings/oleObject116.bin"/><Relationship Id="rId13" Type="http://schemas.openxmlformats.org/officeDocument/2006/relationships/image" Target="../media/image120.emf"/><Relationship Id="rId12" Type="http://schemas.openxmlformats.org/officeDocument/2006/relationships/oleObject" Target="../embeddings/oleObject115.bin"/><Relationship Id="rId11" Type="http://schemas.openxmlformats.org/officeDocument/2006/relationships/image" Target="../media/image119.wmf"/><Relationship Id="rId10" Type="http://schemas.openxmlformats.org/officeDocument/2006/relationships/oleObject" Target="../embeddings/oleObject114.bin"/><Relationship Id="rId1" Type="http://schemas.openxmlformats.org/officeDocument/2006/relationships/image" Target="../media/image4.png"/></Relationships>
</file>

<file path=ppt/slides/_rels/slide53.xml.rels><?xml version="1.0" encoding="UTF-8" standalone="yes"?>
<Relationships xmlns="http://schemas.openxmlformats.org/package/2006/relationships"><Relationship Id="rId9" Type="http://schemas.openxmlformats.org/officeDocument/2006/relationships/oleObject" Target="../embeddings/oleObject123.bin"/><Relationship Id="rId8" Type="http://schemas.openxmlformats.org/officeDocument/2006/relationships/image" Target="../media/image126.wmf"/><Relationship Id="rId7" Type="http://schemas.openxmlformats.org/officeDocument/2006/relationships/oleObject" Target="../embeddings/oleObject122.bin"/><Relationship Id="rId6" Type="http://schemas.openxmlformats.org/officeDocument/2006/relationships/image" Target="../media/image125.wmf"/><Relationship Id="rId5" Type="http://schemas.openxmlformats.org/officeDocument/2006/relationships/oleObject" Target="../embeddings/oleObject121.bin"/><Relationship Id="rId4" Type="http://schemas.openxmlformats.org/officeDocument/2006/relationships/image" Target="../media/image11.png"/><Relationship Id="rId3" Type="http://schemas.openxmlformats.org/officeDocument/2006/relationships/image" Target="../media/image10.png"/><Relationship Id="rId22" Type="http://schemas.openxmlformats.org/officeDocument/2006/relationships/notesSlide" Target="../notesSlides/notesSlide37.xml"/><Relationship Id="rId21" Type="http://schemas.openxmlformats.org/officeDocument/2006/relationships/vmlDrawing" Target="../drawings/vmlDrawing31.vml"/><Relationship Id="rId20" Type="http://schemas.openxmlformats.org/officeDocument/2006/relationships/slideLayout" Target="../slideLayouts/slideLayout2.xml"/><Relationship Id="rId2" Type="http://schemas.openxmlformats.org/officeDocument/2006/relationships/image" Target="../media/image4.png"/><Relationship Id="rId19" Type="http://schemas.openxmlformats.org/officeDocument/2006/relationships/image" Target="../media/image133.png"/><Relationship Id="rId18" Type="http://schemas.openxmlformats.org/officeDocument/2006/relationships/image" Target="../media/image132.jpeg"/><Relationship Id="rId17" Type="http://schemas.openxmlformats.org/officeDocument/2006/relationships/image" Target="../media/image131.png"/><Relationship Id="rId16" Type="http://schemas.openxmlformats.org/officeDocument/2006/relationships/image" Target="../media/image130.wmf"/><Relationship Id="rId15" Type="http://schemas.openxmlformats.org/officeDocument/2006/relationships/oleObject" Target="../embeddings/oleObject126.bin"/><Relationship Id="rId14" Type="http://schemas.openxmlformats.org/officeDocument/2006/relationships/image" Target="../media/image129.wmf"/><Relationship Id="rId13" Type="http://schemas.openxmlformats.org/officeDocument/2006/relationships/oleObject" Target="../embeddings/oleObject125.bin"/><Relationship Id="rId12" Type="http://schemas.openxmlformats.org/officeDocument/2006/relationships/image" Target="../media/image128.wmf"/><Relationship Id="rId11" Type="http://schemas.openxmlformats.org/officeDocument/2006/relationships/oleObject" Target="../embeddings/oleObject124.bin"/><Relationship Id="rId10" Type="http://schemas.openxmlformats.org/officeDocument/2006/relationships/image" Target="../media/image127.wmf"/><Relationship Id="rId1" Type="http://schemas.openxmlformats.org/officeDocument/2006/relationships/image" Target="../media/image124.png"/></Relationships>
</file>

<file path=ppt/slides/_rels/slide54.xml.rels><?xml version="1.0" encoding="UTF-8" standalone="yes"?>
<Relationships xmlns="http://schemas.openxmlformats.org/package/2006/relationships"><Relationship Id="rId8" Type="http://schemas.openxmlformats.org/officeDocument/2006/relationships/notesSlide" Target="../notesSlides/notesSlide38.xml"/><Relationship Id="rId7" Type="http://schemas.openxmlformats.org/officeDocument/2006/relationships/vmlDrawing" Target="../drawings/vmlDrawing32.vml"/><Relationship Id="rId6" Type="http://schemas.openxmlformats.org/officeDocument/2006/relationships/slideLayout" Target="../slideLayouts/slideLayout1.xml"/><Relationship Id="rId5" Type="http://schemas.openxmlformats.org/officeDocument/2006/relationships/image" Target="../media/image136.jpeg"/><Relationship Id="rId4" Type="http://schemas.openxmlformats.org/officeDocument/2006/relationships/image" Target="../media/image135.jpeg"/><Relationship Id="rId3" Type="http://schemas.openxmlformats.org/officeDocument/2006/relationships/image" Target="../media/image134.emf"/><Relationship Id="rId2" Type="http://schemas.openxmlformats.org/officeDocument/2006/relationships/oleObject" Target="../embeddings/oleObject127.bin"/><Relationship Id="rId1" Type="http://schemas.openxmlformats.org/officeDocument/2006/relationships/image" Target="../media/image4.png"/></Relationships>
</file>

<file path=ppt/slides/_rels/slide55.xml.rels><?xml version="1.0" encoding="UTF-8" standalone="yes"?>
<Relationships xmlns="http://schemas.openxmlformats.org/package/2006/relationships"><Relationship Id="rId8" Type="http://schemas.openxmlformats.org/officeDocument/2006/relationships/notesSlide" Target="../notesSlides/notesSlide39.xml"/><Relationship Id="rId7" Type="http://schemas.openxmlformats.org/officeDocument/2006/relationships/vmlDrawing" Target="../drawings/vmlDrawing33.vml"/><Relationship Id="rId6"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138.emf"/><Relationship Id="rId3" Type="http://schemas.openxmlformats.org/officeDocument/2006/relationships/oleObject" Target="../embeddings/oleObject129.bin"/><Relationship Id="rId2" Type="http://schemas.openxmlformats.org/officeDocument/2006/relationships/image" Target="../media/image137.emf"/><Relationship Id="rId1" Type="http://schemas.openxmlformats.org/officeDocument/2006/relationships/oleObject" Target="../embeddings/oleObject128.bin"/></Relationships>
</file>

<file path=ppt/slides/_rels/slide56.xml.rels><?xml version="1.0" encoding="UTF-8" standalone="yes"?>
<Relationships xmlns="http://schemas.openxmlformats.org/package/2006/relationships"><Relationship Id="rId9" Type="http://schemas.openxmlformats.org/officeDocument/2006/relationships/notesSlide" Target="../notesSlides/notesSlide40.xml"/><Relationship Id="rId8" Type="http://schemas.openxmlformats.org/officeDocument/2006/relationships/vmlDrawing" Target="../drawings/vmlDrawing34.vml"/><Relationship Id="rId7"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42.emf"/><Relationship Id="rId4" Type="http://schemas.openxmlformats.org/officeDocument/2006/relationships/oleObject" Target="../embeddings/oleObject130.bin"/><Relationship Id="rId3" Type="http://schemas.openxmlformats.org/officeDocument/2006/relationships/image" Target="../media/image141.png"/><Relationship Id="rId2" Type="http://schemas.openxmlformats.org/officeDocument/2006/relationships/image" Target="../media/image140.png"/><Relationship Id="rId1" Type="http://schemas.openxmlformats.org/officeDocument/2006/relationships/image" Target="../media/image139.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146.wmf"/><Relationship Id="rId7" Type="http://schemas.openxmlformats.org/officeDocument/2006/relationships/oleObject" Target="../embeddings/oleObject133.bin"/><Relationship Id="rId6" Type="http://schemas.openxmlformats.org/officeDocument/2006/relationships/image" Target="../media/image145.wmf"/><Relationship Id="rId5" Type="http://schemas.openxmlformats.org/officeDocument/2006/relationships/oleObject" Target="../embeddings/oleObject132.bin"/><Relationship Id="rId4" Type="http://schemas.openxmlformats.org/officeDocument/2006/relationships/image" Target="../media/image144.wmf"/><Relationship Id="rId3" Type="http://schemas.openxmlformats.org/officeDocument/2006/relationships/oleObject" Target="../embeddings/oleObject131.bin"/><Relationship Id="rId2" Type="http://schemas.openxmlformats.org/officeDocument/2006/relationships/image" Target="../media/image143.png"/><Relationship Id="rId11" Type="http://schemas.openxmlformats.org/officeDocument/2006/relationships/notesSlide" Target="../notesSlides/notesSlide42.xml"/><Relationship Id="rId10" Type="http://schemas.openxmlformats.org/officeDocument/2006/relationships/vmlDrawing" Target="../drawings/vmlDrawing35.vml"/><Relationship Id="rId1" Type="http://schemas.openxmlformats.org/officeDocument/2006/relationships/image" Target="../media/image4.png"/></Relationships>
</file>

<file path=ppt/slides/_rels/slide59.xml.rels><?xml version="1.0" encoding="UTF-8" standalone="yes"?>
<Relationships xmlns="http://schemas.openxmlformats.org/package/2006/relationships"><Relationship Id="rId9" Type="http://schemas.openxmlformats.org/officeDocument/2006/relationships/image" Target="../media/image150.wmf"/><Relationship Id="rId8" Type="http://schemas.openxmlformats.org/officeDocument/2006/relationships/oleObject" Target="../embeddings/oleObject137.bin"/><Relationship Id="rId7" Type="http://schemas.openxmlformats.org/officeDocument/2006/relationships/image" Target="../media/image149.wmf"/><Relationship Id="rId6" Type="http://schemas.openxmlformats.org/officeDocument/2006/relationships/oleObject" Target="../embeddings/oleObject136.bin"/><Relationship Id="rId5" Type="http://schemas.openxmlformats.org/officeDocument/2006/relationships/image" Target="../media/image148.wmf"/><Relationship Id="rId4" Type="http://schemas.openxmlformats.org/officeDocument/2006/relationships/oleObject" Target="../embeddings/oleObject135.bin"/><Relationship Id="rId3" Type="http://schemas.openxmlformats.org/officeDocument/2006/relationships/image" Target="../media/image147.emf"/><Relationship Id="rId2" Type="http://schemas.openxmlformats.org/officeDocument/2006/relationships/oleObject" Target="../embeddings/oleObject134.bin"/><Relationship Id="rId16" Type="http://schemas.openxmlformats.org/officeDocument/2006/relationships/notesSlide" Target="../notesSlides/notesSlide43.xml"/><Relationship Id="rId15" Type="http://schemas.openxmlformats.org/officeDocument/2006/relationships/vmlDrawing" Target="../drawings/vmlDrawing36.vml"/><Relationship Id="rId14" Type="http://schemas.openxmlformats.org/officeDocument/2006/relationships/slideLayout" Target="../slideLayouts/slideLayout1.xml"/><Relationship Id="rId13" Type="http://schemas.openxmlformats.org/officeDocument/2006/relationships/image" Target="../media/image152.wmf"/><Relationship Id="rId12" Type="http://schemas.openxmlformats.org/officeDocument/2006/relationships/oleObject" Target="../embeddings/oleObject139.bin"/><Relationship Id="rId11" Type="http://schemas.openxmlformats.org/officeDocument/2006/relationships/image" Target="../media/image151.wmf"/><Relationship Id="rId10" Type="http://schemas.openxmlformats.org/officeDocument/2006/relationships/oleObject" Target="../embeddings/oleObject138.bin"/><Relationship Id="rId1" Type="http://schemas.openxmlformats.org/officeDocument/2006/relationships/image" Target="../media/image4.png"/></Relationships>
</file>

<file path=ppt/slides/_rels/slide60.xml.rels><?xml version="1.0" encoding="UTF-8" standalone="yes"?>
<Relationships xmlns="http://schemas.openxmlformats.org/package/2006/relationships"><Relationship Id="rId9" Type="http://schemas.openxmlformats.org/officeDocument/2006/relationships/vmlDrawing" Target="../drawings/vmlDrawing37.vml"/><Relationship Id="rId8" Type="http://schemas.openxmlformats.org/officeDocument/2006/relationships/slideLayout" Target="../slideLayouts/slideLayout2.xml"/><Relationship Id="rId7" Type="http://schemas.openxmlformats.org/officeDocument/2006/relationships/image" Target="../media/image147.emf"/><Relationship Id="rId6" Type="http://schemas.openxmlformats.org/officeDocument/2006/relationships/oleObject" Target="../embeddings/oleObject141.bin"/><Relationship Id="rId5" Type="http://schemas.openxmlformats.org/officeDocument/2006/relationships/image" Target="../media/image4.png"/><Relationship Id="rId4" Type="http://schemas.openxmlformats.org/officeDocument/2006/relationships/image" Target="../media/image132.jpeg"/><Relationship Id="rId3" Type="http://schemas.openxmlformats.org/officeDocument/2006/relationships/image" Target="../media/image154.png"/><Relationship Id="rId2" Type="http://schemas.openxmlformats.org/officeDocument/2006/relationships/image" Target="../media/image153.emf"/><Relationship Id="rId1" Type="http://schemas.openxmlformats.org/officeDocument/2006/relationships/oleObject" Target="../embeddings/oleObject140.bin"/></Relationships>
</file>

<file path=ppt/slides/_rels/slide61.xml.rels><?xml version="1.0" encoding="UTF-8" standalone="yes"?>
<Relationships xmlns="http://schemas.openxmlformats.org/package/2006/relationships"><Relationship Id="rId9" Type="http://schemas.openxmlformats.org/officeDocument/2006/relationships/oleObject" Target="../embeddings/oleObject145.bin"/><Relationship Id="rId8" Type="http://schemas.openxmlformats.org/officeDocument/2006/relationships/image" Target="../media/image146.wmf"/><Relationship Id="rId7" Type="http://schemas.openxmlformats.org/officeDocument/2006/relationships/oleObject" Target="../embeddings/oleObject144.bin"/><Relationship Id="rId6" Type="http://schemas.openxmlformats.org/officeDocument/2006/relationships/image" Target="../media/image145.wmf"/><Relationship Id="rId5" Type="http://schemas.openxmlformats.org/officeDocument/2006/relationships/oleObject" Target="../embeddings/oleObject143.bin"/><Relationship Id="rId4" Type="http://schemas.openxmlformats.org/officeDocument/2006/relationships/image" Target="../media/image144.wmf"/><Relationship Id="rId3" Type="http://schemas.openxmlformats.org/officeDocument/2006/relationships/oleObject" Target="../embeddings/oleObject142.bin"/><Relationship Id="rId2" Type="http://schemas.openxmlformats.org/officeDocument/2006/relationships/image" Target="../media/image143.png"/><Relationship Id="rId14" Type="http://schemas.openxmlformats.org/officeDocument/2006/relationships/notesSlide" Target="../notesSlides/notesSlide44.xml"/><Relationship Id="rId13" Type="http://schemas.openxmlformats.org/officeDocument/2006/relationships/vmlDrawing" Target="../drawings/vmlDrawing38.vml"/><Relationship Id="rId12" Type="http://schemas.openxmlformats.org/officeDocument/2006/relationships/slideLayout" Target="../slideLayouts/slideLayout1.xml"/><Relationship Id="rId11" Type="http://schemas.openxmlformats.org/officeDocument/2006/relationships/oleObject" Target="../embeddings/oleObject147.bin"/><Relationship Id="rId10" Type="http://schemas.openxmlformats.org/officeDocument/2006/relationships/oleObject" Target="../embeddings/oleObject146.bin"/><Relationship Id="rId1" Type="http://schemas.openxmlformats.org/officeDocument/2006/relationships/image" Target="../media/image4.png"/></Relationships>
</file>

<file path=ppt/slides/_rels/slide62.xml.rels><?xml version="1.0" encoding="UTF-8" standalone="yes"?>
<Relationships xmlns="http://schemas.openxmlformats.org/package/2006/relationships"><Relationship Id="rId9" Type="http://schemas.openxmlformats.org/officeDocument/2006/relationships/vmlDrawing" Target="../drawings/vmlDrawing39.vml"/><Relationship Id="rId8" Type="http://schemas.openxmlformats.org/officeDocument/2006/relationships/slideLayout" Target="../slideLayouts/slideLayout1.xml"/><Relationship Id="rId7" Type="http://schemas.openxmlformats.org/officeDocument/2006/relationships/image" Target="../media/image158.wmf"/><Relationship Id="rId6" Type="http://schemas.openxmlformats.org/officeDocument/2006/relationships/oleObject" Target="../embeddings/oleObject149.bin"/><Relationship Id="rId5" Type="http://schemas.openxmlformats.org/officeDocument/2006/relationships/image" Target="../media/image157.wmf"/><Relationship Id="rId4" Type="http://schemas.openxmlformats.org/officeDocument/2006/relationships/oleObject" Target="../embeddings/oleObject148.bin"/><Relationship Id="rId3" Type="http://schemas.openxmlformats.org/officeDocument/2006/relationships/image" Target="../media/image156.png"/><Relationship Id="rId2" Type="http://schemas.openxmlformats.org/officeDocument/2006/relationships/image" Target="../media/image4.png"/><Relationship Id="rId10" Type="http://schemas.openxmlformats.org/officeDocument/2006/relationships/notesSlide" Target="../notesSlides/notesSlide45.xml"/><Relationship Id="rId1" Type="http://schemas.openxmlformats.org/officeDocument/2006/relationships/image" Target="../media/image155.png"/></Relationships>
</file>

<file path=ppt/slides/_rels/slide63.xml.rels><?xml version="1.0" encoding="UTF-8" standalone="yes"?>
<Relationships xmlns="http://schemas.openxmlformats.org/package/2006/relationships"><Relationship Id="rId8" Type="http://schemas.openxmlformats.org/officeDocument/2006/relationships/notesSlide" Target="../notesSlides/notesSlide46.xml"/><Relationship Id="rId7" Type="http://schemas.openxmlformats.org/officeDocument/2006/relationships/vmlDrawing" Target="../drawings/vmlDrawing40.vml"/><Relationship Id="rId6" Type="http://schemas.openxmlformats.org/officeDocument/2006/relationships/slideLayout" Target="../slideLayouts/slideLayout2.xml"/><Relationship Id="rId5" Type="http://schemas.openxmlformats.org/officeDocument/2006/relationships/image" Target="../media/image161.png"/><Relationship Id="rId4" Type="http://schemas.openxmlformats.org/officeDocument/2006/relationships/image" Target="../media/image160.png"/><Relationship Id="rId3" Type="http://schemas.openxmlformats.org/officeDocument/2006/relationships/image" Target="../media/image159.emf"/><Relationship Id="rId2" Type="http://schemas.openxmlformats.org/officeDocument/2006/relationships/oleObject" Target="../embeddings/oleObject150.bin"/><Relationship Id="rId1" Type="http://schemas.openxmlformats.org/officeDocument/2006/relationships/image" Target="../media/image4.png"/></Relationships>
</file>

<file path=ppt/slides/_rels/slide64.xml.rels><?xml version="1.0" encoding="UTF-8" standalone="yes"?>
<Relationships xmlns="http://schemas.openxmlformats.org/package/2006/relationships"><Relationship Id="rId9" Type="http://schemas.openxmlformats.org/officeDocument/2006/relationships/vmlDrawing" Target="../drawings/vmlDrawing41.vml"/><Relationship Id="rId8" Type="http://schemas.openxmlformats.org/officeDocument/2006/relationships/slideLayout" Target="../slideLayouts/slideLayout2.xml"/><Relationship Id="rId7" Type="http://schemas.openxmlformats.org/officeDocument/2006/relationships/image" Target="../media/image164.wmf"/><Relationship Id="rId6" Type="http://schemas.openxmlformats.org/officeDocument/2006/relationships/oleObject" Target="../embeddings/oleObject153.bin"/><Relationship Id="rId5" Type="http://schemas.openxmlformats.org/officeDocument/2006/relationships/image" Target="../media/image163.wmf"/><Relationship Id="rId4" Type="http://schemas.openxmlformats.org/officeDocument/2006/relationships/oleObject" Target="../embeddings/oleObject152.bin"/><Relationship Id="rId3" Type="http://schemas.openxmlformats.org/officeDocument/2006/relationships/image" Target="../media/image162.emf"/><Relationship Id="rId2" Type="http://schemas.openxmlformats.org/officeDocument/2006/relationships/oleObject" Target="../embeddings/oleObject151.bin"/><Relationship Id="rId10" Type="http://schemas.openxmlformats.org/officeDocument/2006/relationships/notesSlide" Target="../notesSlides/notesSlide47.xml"/><Relationship Id="rId1" Type="http://schemas.openxmlformats.org/officeDocument/2006/relationships/image" Target="../media/image4.png"/></Relationships>
</file>

<file path=ppt/slides/_rels/slide65.xml.rels><?xml version="1.0" encoding="UTF-8" standalone="yes"?>
<Relationships xmlns="http://schemas.openxmlformats.org/package/2006/relationships"><Relationship Id="rId4" Type="http://schemas.openxmlformats.org/officeDocument/2006/relationships/notesSlide" Target="../notesSlides/notesSlide48.xml"/><Relationship Id="rId3" Type="http://schemas.openxmlformats.org/officeDocument/2006/relationships/slideLayout" Target="../slideLayouts/slideLayout1.xml"/><Relationship Id="rId2" Type="http://schemas.openxmlformats.org/officeDocument/2006/relationships/image" Target="../media/image160.png"/><Relationship Id="rId1" Type="http://schemas.openxmlformats.org/officeDocument/2006/relationships/image" Target="../media/image4.png"/></Relationships>
</file>

<file path=ppt/slides/_rels/slide66.xml.rels><?xml version="1.0" encoding="UTF-8" standalone="yes"?>
<Relationships xmlns="http://schemas.openxmlformats.org/package/2006/relationships"><Relationship Id="rId4" Type="http://schemas.openxmlformats.org/officeDocument/2006/relationships/notesSlide" Target="../notesSlides/notesSlide49.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160.png"/></Relationships>
</file>

<file path=ppt/slides/_rels/slide67.xml.rels><?xml version="1.0" encoding="UTF-8" standalone="yes"?>
<Relationships xmlns="http://schemas.openxmlformats.org/package/2006/relationships"><Relationship Id="rId4" Type="http://schemas.openxmlformats.org/officeDocument/2006/relationships/notesSlide" Target="../notesSlides/notesSlide50.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160.png"/></Relationships>
</file>

<file path=ppt/slides/_rels/slide68.xml.rels><?xml version="1.0" encoding="UTF-8" standalone="yes"?>
<Relationships xmlns="http://schemas.openxmlformats.org/package/2006/relationships"><Relationship Id="rId4" Type="http://schemas.openxmlformats.org/officeDocument/2006/relationships/notesSlide" Target="../notesSlides/notesSlide51.xml"/><Relationship Id="rId3" Type="http://schemas.openxmlformats.org/officeDocument/2006/relationships/slideLayout" Target="../slideLayouts/slideLayout1.xml"/><Relationship Id="rId2" Type="http://schemas.openxmlformats.org/officeDocument/2006/relationships/image" Target="../media/image4.png"/><Relationship Id="rId1" Type="http://schemas.openxmlformats.org/officeDocument/2006/relationships/image" Target="../media/image160.png"/></Relationships>
</file>

<file path=ppt/slides/_rels/slide69.xml.rels><?xml version="1.0" encoding="UTF-8" standalone="yes"?>
<Relationships xmlns="http://schemas.openxmlformats.org/package/2006/relationships"><Relationship Id="rId9" Type="http://schemas.openxmlformats.org/officeDocument/2006/relationships/vmlDrawing" Target="../drawings/vmlDrawing42.vml"/><Relationship Id="rId8" Type="http://schemas.openxmlformats.org/officeDocument/2006/relationships/slideLayout" Target="../slideLayouts/slideLayout1.xml"/><Relationship Id="rId7" Type="http://schemas.openxmlformats.org/officeDocument/2006/relationships/image" Target="../media/image167.wmf"/><Relationship Id="rId6" Type="http://schemas.openxmlformats.org/officeDocument/2006/relationships/oleObject" Target="../embeddings/oleObject156.bin"/><Relationship Id="rId5" Type="http://schemas.openxmlformats.org/officeDocument/2006/relationships/image" Target="../media/image166.wmf"/><Relationship Id="rId4" Type="http://schemas.openxmlformats.org/officeDocument/2006/relationships/oleObject" Target="../embeddings/oleObject155.bin"/><Relationship Id="rId3" Type="http://schemas.openxmlformats.org/officeDocument/2006/relationships/image" Target="../media/image4.png"/><Relationship Id="rId2" Type="http://schemas.openxmlformats.org/officeDocument/2006/relationships/image" Target="../media/image165.wmf"/><Relationship Id="rId1" Type="http://schemas.openxmlformats.org/officeDocument/2006/relationships/oleObject" Target="../embeddings/oleObject154.bin"/></Relationships>
</file>

<file path=ppt/slides/_rels/slide70.xml.rels><?xml version="1.0" encoding="UTF-8" standalone="yes"?>
<Relationships xmlns="http://schemas.openxmlformats.org/package/2006/relationships"><Relationship Id="rId9" Type="http://schemas.openxmlformats.org/officeDocument/2006/relationships/image" Target="../media/image171.wmf"/><Relationship Id="rId8" Type="http://schemas.openxmlformats.org/officeDocument/2006/relationships/oleObject" Target="../embeddings/oleObject160.bin"/><Relationship Id="rId7" Type="http://schemas.openxmlformats.org/officeDocument/2006/relationships/image" Target="../media/image10.png"/><Relationship Id="rId6" Type="http://schemas.openxmlformats.org/officeDocument/2006/relationships/image" Target="../media/image170.wmf"/><Relationship Id="rId5" Type="http://schemas.openxmlformats.org/officeDocument/2006/relationships/oleObject" Target="../embeddings/oleObject159.bin"/><Relationship Id="rId4" Type="http://schemas.openxmlformats.org/officeDocument/2006/relationships/image" Target="../media/image169.emf"/><Relationship Id="rId31" Type="http://schemas.openxmlformats.org/officeDocument/2006/relationships/vmlDrawing" Target="../drawings/vmlDrawing43.vml"/><Relationship Id="rId30" Type="http://schemas.openxmlformats.org/officeDocument/2006/relationships/slideLayout" Target="../slideLayouts/slideLayout2.xml"/><Relationship Id="rId3" Type="http://schemas.openxmlformats.org/officeDocument/2006/relationships/oleObject" Target="../embeddings/oleObject158.bin"/><Relationship Id="rId29" Type="http://schemas.openxmlformats.org/officeDocument/2006/relationships/image" Target="../media/image180.wmf"/><Relationship Id="rId28" Type="http://schemas.openxmlformats.org/officeDocument/2006/relationships/oleObject" Target="../embeddings/oleObject169.bin"/><Relationship Id="rId27" Type="http://schemas.openxmlformats.org/officeDocument/2006/relationships/image" Target="../media/image179.wmf"/><Relationship Id="rId26" Type="http://schemas.openxmlformats.org/officeDocument/2006/relationships/oleObject" Target="../embeddings/oleObject168.bin"/><Relationship Id="rId25" Type="http://schemas.openxmlformats.org/officeDocument/2006/relationships/image" Target="../media/image178.wmf"/><Relationship Id="rId24" Type="http://schemas.openxmlformats.org/officeDocument/2006/relationships/oleObject" Target="../embeddings/oleObject167.bin"/><Relationship Id="rId23" Type="http://schemas.openxmlformats.org/officeDocument/2006/relationships/image" Target="../media/image177.wmf"/><Relationship Id="rId22" Type="http://schemas.openxmlformats.org/officeDocument/2006/relationships/oleObject" Target="../embeddings/oleObject166.bin"/><Relationship Id="rId21" Type="http://schemas.openxmlformats.org/officeDocument/2006/relationships/image" Target="../media/image176.wmf"/><Relationship Id="rId20" Type="http://schemas.openxmlformats.org/officeDocument/2006/relationships/oleObject" Target="../embeddings/oleObject165.bin"/><Relationship Id="rId2" Type="http://schemas.openxmlformats.org/officeDocument/2006/relationships/image" Target="../media/image168.wmf"/><Relationship Id="rId19" Type="http://schemas.openxmlformats.org/officeDocument/2006/relationships/image" Target="../media/image175.wmf"/><Relationship Id="rId18" Type="http://schemas.openxmlformats.org/officeDocument/2006/relationships/oleObject" Target="../embeddings/oleObject164.bin"/><Relationship Id="rId17" Type="http://schemas.openxmlformats.org/officeDocument/2006/relationships/image" Target="../media/image174.wmf"/><Relationship Id="rId16" Type="http://schemas.openxmlformats.org/officeDocument/2006/relationships/oleObject" Target="../embeddings/oleObject163.bin"/><Relationship Id="rId15" Type="http://schemas.openxmlformats.org/officeDocument/2006/relationships/image" Target="../media/image173.wmf"/><Relationship Id="rId14" Type="http://schemas.openxmlformats.org/officeDocument/2006/relationships/oleObject" Target="../embeddings/oleObject162.bin"/><Relationship Id="rId13" Type="http://schemas.openxmlformats.org/officeDocument/2006/relationships/image" Target="../media/image4.png"/><Relationship Id="rId12" Type="http://schemas.openxmlformats.org/officeDocument/2006/relationships/image" Target="../media/image172.wmf"/><Relationship Id="rId11" Type="http://schemas.openxmlformats.org/officeDocument/2006/relationships/oleObject" Target="../embeddings/oleObject161.bin"/><Relationship Id="rId10" Type="http://schemas.openxmlformats.org/officeDocument/2006/relationships/image" Target="../media/image11.png"/><Relationship Id="rId1" Type="http://schemas.openxmlformats.org/officeDocument/2006/relationships/oleObject" Target="../embeddings/oleObject157.bin"/></Relationships>
</file>

<file path=ppt/slides/_rels/slide71.xml.rels><?xml version="1.0" encoding="UTF-8" standalone="yes"?>
<Relationships xmlns="http://schemas.openxmlformats.org/package/2006/relationships"><Relationship Id="rId9" Type="http://schemas.openxmlformats.org/officeDocument/2006/relationships/oleObject" Target="../embeddings/oleObject173.bin"/><Relationship Id="rId8" Type="http://schemas.openxmlformats.org/officeDocument/2006/relationships/image" Target="../media/image183.wmf"/><Relationship Id="rId7" Type="http://schemas.openxmlformats.org/officeDocument/2006/relationships/oleObject" Target="../embeddings/oleObject172.bin"/><Relationship Id="rId6" Type="http://schemas.openxmlformats.org/officeDocument/2006/relationships/image" Target="../media/image182.wmf"/><Relationship Id="rId5" Type="http://schemas.openxmlformats.org/officeDocument/2006/relationships/oleObject" Target="../embeddings/oleObject171.bin"/><Relationship Id="rId4" Type="http://schemas.openxmlformats.org/officeDocument/2006/relationships/image" Target="../media/image10.png"/><Relationship Id="rId3" Type="http://schemas.openxmlformats.org/officeDocument/2006/relationships/image" Target="../media/image181.emf"/><Relationship Id="rId2" Type="http://schemas.openxmlformats.org/officeDocument/2006/relationships/oleObject" Target="../embeddings/oleObject170.bin"/><Relationship Id="rId17" Type="http://schemas.openxmlformats.org/officeDocument/2006/relationships/notesSlide" Target="../notesSlides/notesSlide52.xml"/><Relationship Id="rId16" Type="http://schemas.openxmlformats.org/officeDocument/2006/relationships/vmlDrawing" Target="../drawings/vmlDrawing44.vml"/><Relationship Id="rId15" Type="http://schemas.openxmlformats.org/officeDocument/2006/relationships/slideLayout" Target="../slideLayouts/slideLayout2.xml"/><Relationship Id="rId14" Type="http://schemas.openxmlformats.org/officeDocument/2006/relationships/image" Target="../media/image185.wmf"/><Relationship Id="rId13" Type="http://schemas.openxmlformats.org/officeDocument/2006/relationships/oleObject" Target="../embeddings/oleObject174.bin"/><Relationship Id="rId12" Type="http://schemas.openxmlformats.org/officeDocument/2006/relationships/image" Target="../media/image4.png"/><Relationship Id="rId11" Type="http://schemas.openxmlformats.org/officeDocument/2006/relationships/image" Target="../media/image132.jpeg"/><Relationship Id="rId10" Type="http://schemas.openxmlformats.org/officeDocument/2006/relationships/image" Target="../media/image184.wmf"/><Relationship Id="rId1" Type="http://schemas.openxmlformats.org/officeDocument/2006/relationships/image" Target="../media/image11.png"/></Relationships>
</file>

<file path=ppt/slides/_rels/slide72.xml.rels><?xml version="1.0" encoding="UTF-8" standalone="yes"?>
<Relationships xmlns="http://schemas.openxmlformats.org/package/2006/relationships"><Relationship Id="rId8" Type="http://schemas.openxmlformats.org/officeDocument/2006/relationships/vmlDrawing" Target="../drawings/vmlDrawing45.vml"/><Relationship Id="rId7" Type="http://schemas.openxmlformats.org/officeDocument/2006/relationships/slideLayout" Target="../slideLayouts/slideLayout2.xml"/><Relationship Id="rId6" Type="http://schemas.openxmlformats.org/officeDocument/2006/relationships/image" Target="../media/image187.wmf"/><Relationship Id="rId5" Type="http://schemas.openxmlformats.org/officeDocument/2006/relationships/oleObject" Target="../embeddings/oleObject176.bin"/><Relationship Id="rId4" Type="http://schemas.openxmlformats.org/officeDocument/2006/relationships/image" Target="../media/image4.png"/><Relationship Id="rId3" Type="http://schemas.openxmlformats.org/officeDocument/2006/relationships/image" Target="../media/image186.emf"/><Relationship Id="rId2" Type="http://schemas.openxmlformats.org/officeDocument/2006/relationships/oleObject" Target="../embeddings/oleObject175.bin"/><Relationship Id="rId1" Type="http://schemas.openxmlformats.org/officeDocument/2006/relationships/image" Target="../media/image132.jpeg"/></Relationships>
</file>

<file path=ppt/slides/_rels/slide7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image" Target="../media/image132.jpeg"/></Relationships>
</file>

<file path=ppt/slides/_rels/slide74.xml.rels><?xml version="1.0" encoding="UTF-8" standalone="yes"?>
<Relationships xmlns="http://schemas.openxmlformats.org/package/2006/relationships"><Relationship Id="rId9" Type="http://schemas.openxmlformats.org/officeDocument/2006/relationships/image" Target="../media/image191.wmf"/><Relationship Id="rId8" Type="http://schemas.openxmlformats.org/officeDocument/2006/relationships/oleObject" Target="../embeddings/oleObject178.bin"/><Relationship Id="rId7" Type="http://schemas.openxmlformats.org/officeDocument/2006/relationships/image" Target="../media/image190.png"/><Relationship Id="rId6" Type="http://schemas.openxmlformats.org/officeDocument/2006/relationships/image" Target="../media/image11.png"/><Relationship Id="rId5" Type="http://schemas.openxmlformats.org/officeDocument/2006/relationships/image" Target="../media/image4.png"/><Relationship Id="rId4" Type="http://schemas.openxmlformats.org/officeDocument/2006/relationships/image" Target="../media/image189.wmf"/><Relationship Id="rId3" Type="http://schemas.openxmlformats.org/officeDocument/2006/relationships/oleObject" Target="../embeddings/oleObject177.bin"/><Relationship Id="rId2" Type="http://schemas.openxmlformats.org/officeDocument/2006/relationships/image" Target="../media/image10.png"/><Relationship Id="rId19" Type="http://schemas.openxmlformats.org/officeDocument/2006/relationships/vmlDrawing" Target="../drawings/vmlDrawing46.vml"/><Relationship Id="rId18" Type="http://schemas.openxmlformats.org/officeDocument/2006/relationships/slideLayout" Target="../slideLayouts/slideLayout2.xml"/><Relationship Id="rId17" Type="http://schemas.openxmlformats.org/officeDocument/2006/relationships/image" Target="../media/image195.emf"/><Relationship Id="rId16" Type="http://schemas.openxmlformats.org/officeDocument/2006/relationships/oleObject" Target="../embeddings/oleObject182.bin"/><Relationship Id="rId15" Type="http://schemas.openxmlformats.org/officeDocument/2006/relationships/image" Target="../media/image194.wmf"/><Relationship Id="rId14" Type="http://schemas.openxmlformats.org/officeDocument/2006/relationships/oleObject" Target="../embeddings/oleObject181.bin"/><Relationship Id="rId13" Type="http://schemas.openxmlformats.org/officeDocument/2006/relationships/image" Target="../media/image193.wmf"/><Relationship Id="rId12" Type="http://schemas.openxmlformats.org/officeDocument/2006/relationships/oleObject" Target="../embeddings/oleObject180.bin"/><Relationship Id="rId11" Type="http://schemas.openxmlformats.org/officeDocument/2006/relationships/image" Target="../media/image192.wmf"/><Relationship Id="rId10" Type="http://schemas.openxmlformats.org/officeDocument/2006/relationships/oleObject" Target="../embeddings/oleObject179.bin"/><Relationship Id="rId1" Type="http://schemas.openxmlformats.org/officeDocument/2006/relationships/image" Target="../media/image188.png"/></Relationships>
</file>

<file path=ppt/slides/_rels/slide75.xml.rels><?xml version="1.0" encoding="UTF-8" standalone="yes"?>
<Relationships xmlns="http://schemas.openxmlformats.org/package/2006/relationships"><Relationship Id="rId9" Type="http://schemas.openxmlformats.org/officeDocument/2006/relationships/image" Target="../media/image198.emf"/><Relationship Id="rId8" Type="http://schemas.openxmlformats.org/officeDocument/2006/relationships/oleObject" Target="../embeddings/oleObject185.bin"/><Relationship Id="rId7" Type="http://schemas.openxmlformats.org/officeDocument/2006/relationships/image" Target="../media/image197.emf"/><Relationship Id="rId6" Type="http://schemas.openxmlformats.org/officeDocument/2006/relationships/oleObject" Target="../embeddings/oleObject184.bin"/><Relationship Id="rId5" Type="http://schemas.openxmlformats.org/officeDocument/2006/relationships/image" Target="../media/image196.emf"/><Relationship Id="rId4" Type="http://schemas.openxmlformats.org/officeDocument/2006/relationships/oleObject" Target="../embeddings/oleObject183.bin"/><Relationship Id="rId3" Type="http://schemas.openxmlformats.org/officeDocument/2006/relationships/image" Target="../media/image132.jpeg"/><Relationship Id="rId2" Type="http://schemas.openxmlformats.org/officeDocument/2006/relationships/image" Target="../media/image4.png"/><Relationship Id="rId14" Type="http://schemas.openxmlformats.org/officeDocument/2006/relationships/notesSlide" Target="../notesSlides/notesSlide53.xml"/><Relationship Id="rId13" Type="http://schemas.openxmlformats.org/officeDocument/2006/relationships/vmlDrawing" Target="../drawings/vmlDrawing47.vml"/><Relationship Id="rId12" Type="http://schemas.openxmlformats.org/officeDocument/2006/relationships/slideLayout" Target="../slideLayouts/slideLayout2.xml"/><Relationship Id="rId11" Type="http://schemas.openxmlformats.org/officeDocument/2006/relationships/image" Target="../media/image199.emf"/><Relationship Id="rId10" Type="http://schemas.openxmlformats.org/officeDocument/2006/relationships/oleObject" Target="../embeddings/oleObject186.bin"/><Relationship Id="rId1" Type="http://schemas.openxmlformats.org/officeDocument/2006/relationships/image" Target="../media/image5.png"/></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9" Type="http://schemas.openxmlformats.org/officeDocument/2006/relationships/image" Target="../media/image203.emf"/><Relationship Id="rId8" Type="http://schemas.openxmlformats.org/officeDocument/2006/relationships/oleObject" Target="../embeddings/oleObject190.bin"/><Relationship Id="rId7" Type="http://schemas.openxmlformats.org/officeDocument/2006/relationships/image" Target="../media/image202.wmf"/><Relationship Id="rId6" Type="http://schemas.openxmlformats.org/officeDocument/2006/relationships/oleObject" Target="../embeddings/oleObject189.bin"/><Relationship Id="rId5" Type="http://schemas.openxmlformats.org/officeDocument/2006/relationships/image" Target="../media/image201.wmf"/><Relationship Id="rId4" Type="http://schemas.openxmlformats.org/officeDocument/2006/relationships/oleObject" Target="../embeddings/oleObject188.bin"/><Relationship Id="rId3" Type="http://schemas.openxmlformats.org/officeDocument/2006/relationships/image" Target="../media/image200.wmf"/><Relationship Id="rId2" Type="http://schemas.openxmlformats.org/officeDocument/2006/relationships/oleObject" Target="../embeddings/oleObject187.bin"/><Relationship Id="rId12" Type="http://schemas.openxmlformats.org/officeDocument/2006/relationships/notesSlide" Target="../notesSlides/notesSlide55.xml"/><Relationship Id="rId11" Type="http://schemas.openxmlformats.org/officeDocument/2006/relationships/vmlDrawing" Target="../drawings/vmlDrawing48.vml"/><Relationship Id="rId10" Type="http://schemas.openxmlformats.org/officeDocument/2006/relationships/slideLayout" Target="../slideLayouts/slideLayout1.xml"/><Relationship Id="rId1" Type="http://schemas.openxmlformats.org/officeDocument/2006/relationships/image" Target="../media/image4.png"/></Relationships>
</file>

<file path=ppt/slides/_rels/slide78.xml.rels><?xml version="1.0" encoding="UTF-8" standalone="yes"?>
<Relationships xmlns="http://schemas.openxmlformats.org/package/2006/relationships"><Relationship Id="rId9" Type="http://schemas.openxmlformats.org/officeDocument/2006/relationships/image" Target="../media/image207.wmf"/><Relationship Id="rId8" Type="http://schemas.openxmlformats.org/officeDocument/2006/relationships/oleObject" Target="../embeddings/oleObject194.bin"/><Relationship Id="rId7" Type="http://schemas.openxmlformats.org/officeDocument/2006/relationships/image" Target="../media/image206.wmf"/><Relationship Id="rId6" Type="http://schemas.openxmlformats.org/officeDocument/2006/relationships/oleObject" Target="../embeddings/oleObject193.bin"/><Relationship Id="rId5" Type="http://schemas.openxmlformats.org/officeDocument/2006/relationships/image" Target="../media/image205.wmf"/><Relationship Id="rId4" Type="http://schemas.openxmlformats.org/officeDocument/2006/relationships/oleObject" Target="../embeddings/oleObject192.bin"/><Relationship Id="rId3" Type="http://schemas.openxmlformats.org/officeDocument/2006/relationships/image" Target="../media/image204.wmf"/><Relationship Id="rId2" Type="http://schemas.openxmlformats.org/officeDocument/2006/relationships/oleObject" Target="../embeddings/oleObject191.bin"/><Relationship Id="rId16" Type="http://schemas.openxmlformats.org/officeDocument/2006/relationships/notesSlide" Target="../notesSlides/notesSlide56.xml"/><Relationship Id="rId15" Type="http://schemas.openxmlformats.org/officeDocument/2006/relationships/vmlDrawing" Target="../drawings/vmlDrawing49.vml"/><Relationship Id="rId14" Type="http://schemas.openxmlformats.org/officeDocument/2006/relationships/slideLayout" Target="../slideLayouts/slideLayout1.xml"/><Relationship Id="rId13" Type="http://schemas.openxmlformats.org/officeDocument/2006/relationships/image" Target="../media/image209.wmf"/><Relationship Id="rId12" Type="http://schemas.openxmlformats.org/officeDocument/2006/relationships/oleObject" Target="../embeddings/oleObject196.bin"/><Relationship Id="rId11" Type="http://schemas.openxmlformats.org/officeDocument/2006/relationships/image" Target="../media/image208.wmf"/><Relationship Id="rId10" Type="http://schemas.openxmlformats.org/officeDocument/2006/relationships/oleObject" Target="../embeddings/oleObject195.bin"/><Relationship Id="rId1" Type="http://schemas.openxmlformats.org/officeDocument/2006/relationships/image" Target="../media/image4.png"/></Relationships>
</file>

<file path=ppt/slides/_rels/slide79.xml.rels><?xml version="1.0" encoding="UTF-8" standalone="yes"?>
<Relationships xmlns="http://schemas.openxmlformats.org/package/2006/relationships"><Relationship Id="rId9" Type="http://schemas.openxmlformats.org/officeDocument/2006/relationships/image" Target="../media/image206.wmf"/><Relationship Id="rId8" Type="http://schemas.openxmlformats.org/officeDocument/2006/relationships/oleObject" Target="../embeddings/oleObject200.bin"/><Relationship Id="rId7" Type="http://schemas.openxmlformats.org/officeDocument/2006/relationships/image" Target="../media/image205.wmf"/><Relationship Id="rId6" Type="http://schemas.openxmlformats.org/officeDocument/2006/relationships/oleObject" Target="../embeddings/oleObject199.bin"/><Relationship Id="rId5" Type="http://schemas.openxmlformats.org/officeDocument/2006/relationships/image" Target="../media/image204.wmf"/><Relationship Id="rId4" Type="http://schemas.openxmlformats.org/officeDocument/2006/relationships/oleObject" Target="../embeddings/oleObject198.bin"/><Relationship Id="rId3" Type="http://schemas.openxmlformats.org/officeDocument/2006/relationships/image" Target="../media/image210.emf"/><Relationship Id="rId2" Type="http://schemas.openxmlformats.org/officeDocument/2006/relationships/oleObject" Target="../embeddings/oleObject197.bin"/><Relationship Id="rId18" Type="http://schemas.openxmlformats.org/officeDocument/2006/relationships/notesSlide" Target="../notesSlides/notesSlide57.xml"/><Relationship Id="rId17" Type="http://schemas.openxmlformats.org/officeDocument/2006/relationships/vmlDrawing" Target="../drawings/vmlDrawing50.vml"/><Relationship Id="rId16" Type="http://schemas.openxmlformats.org/officeDocument/2006/relationships/slideLayout" Target="../slideLayouts/slideLayout1.xml"/><Relationship Id="rId15" Type="http://schemas.openxmlformats.org/officeDocument/2006/relationships/image" Target="../media/image211.wmf"/><Relationship Id="rId14" Type="http://schemas.openxmlformats.org/officeDocument/2006/relationships/oleObject" Target="../embeddings/oleObject203.bin"/><Relationship Id="rId13" Type="http://schemas.openxmlformats.org/officeDocument/2006/relationships/image" Target="../media/image208.wmf"/><Relationship Id="rId12" Type="http://schemas.openxmlformats.org/officeDocument/2006/relationships/oleObject" Target="../embeddings/oleObject202.bin"/><Relationship Id="rId11" Type="http://schemas.openxmlformats.org/officeDocument/2006/relationships/image" Target="../media/image207.wmf"/><Relationship Id="rId10" Type="http://schemas.openxmlformats.org/officeDocument/2006/relationships/oleObject" Target="../embeddings/oleObject201.bin"/><Relationship Id="rId1" Type="http://schemas.openxmlformats.org/officeDocument/2006/relationships/image" Target="../media/image4.png"/></Relationships>
</file>

<file path=ppt/slides/_rels/slide8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12.png"/><Relationship Id="rId1" Type="http://schemas.openxmlformats.org/officeDocument/2006/relationships/image" Target="../media/image4.png"/></Relationships>
</file>

<file path=ppt/slides/_rels/slide8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212.png"/></Relationships>
</file>

<file path=ppt/slides/_rels/slide82.xml.rels><?xml version="1.0" encoding="UTF-8" standalone="yes"?>
<Relationships xmlns="http://schemas.openxmlformats.org/package/2006/relationships"><Relationship Id="rId5" Type="http://schemas.openxmlformats.org/officeDocument/2006/relationships/notesSlide" Target="../notesSlides/notesSlide58.xml"/><Relationship Id="rId4" Type="http://schemas.openxmlformats.org/officeDocument/2006/relationships/slideLayout" Target="../slideLayouts/slideLayout2.xml"/><Relationship Id="rId3" Type="http://schemas.openxmlformats.org/officeDocument/2006/relationships/image" Target="../media/image42.png"/><Relationship Id="rId2" Type="http://schemas.openxmlformats.org/officeDocument/2006/relationships/image" Target="../media/image213.wmf"/><Relationship Id="rId1" Type="http://schemas.openxmlformats.org/officeDocument/2006/relationships/image" Target="../media/image4.png"/></Relationships>
</file>

<file path=ppt/slides/_rels/slide83.xml.rels><?xml version="1.0" encoding="UTF-8" standalone="yes"?>
<Relationships xmlns="http://schemas.openxmlformats.org/package/2006/relationships"><Relationship Id="rId4" Type="http://schemas.openxmlformats.org/officeDocument/2006/relationships/notesSlide" Target="../notesSlides/notesSlide59.xml"/><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214.png"/></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9" Type="http://schemas.openxmlformats.org/officeDocument/2006/relationships/slideLayout" Target="../slideLayouts/slideLayout1.xml"/><Relationship Id="rId8" Type="http://schemas.openxmlformats.org/officeDocument/2006/relationships/image" Target="../media/image218.emf"/><Relationship Id="rId7" Type="http://schemas.openxmlformats.org/officeDocument/2006/relationships/image" Target="../media/image217.wmf"/><Relationship Id="rId6" Type="http://schemas.openxmlformats.org/officeDocument/2006/relationships/oleObject" Target="../embeddings/oleObject206.bin"/><Relationship Id="rId5" Type="http://schemas.openxmlformats.org/officeDocument/2006/relationships/image" Target="../media/image216.wmf"/><Relationship Id="rId4" Type="http://schemas.openxmlformats.org/officeDocument/2006/relationships/oleObject" Target="../embeddings/oleObject205.bin"/><Relationship Id="rId3" Type="http://schemas.openxmlformats.org/officeDocument/2006/relationships/image" Target="../media/image215.emf"/><Relationship Id="rId2" Type="http://schemas.openxmlformats.org/officeDocument/2006/relationships/oleObject" Target="../embeddings/oleObject204.bin"/><Relationship Id="rId11" Type="http://schemas.openxmlformats.org/officeDocument/2006/relationships/notesSlide" Target="../notesSlides/notesSlide61.xml"/><Relationship Id="rId10" Type="http://schemas.openxmlformats.org/officeDocument/2006/relationships/vmlDrawing" Target="../drawings/vmlDrawing51.vml"/><Relationship Id="rId1" Type="http://schemas.openxmlformats.org/officeDocument/2006/relationships/image" Target="../media/image4.png"/></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43.png"/></Relationships>
</file>

<file path=ppt/slides/_rels/slide87.xml.rels><?xml version="1.0" encoding="UTF-8" standalone="yes"?>
<Relationships xmlns="http://schemas.openxmlformats.org/package/2006/relationships"><Relationship Id="rId9" Type="http://schemas.openxmlformats.org/officeDocument/2006/relationships/vmlDrawing" Target="../drawings/vmlDrawing52.vml"/><Relationship Id="rId8" Type="http://schemas.openxmlformats.org/officeDocument/2006/relationships/slideLayout" Target="../slideLayouts/slideLayout1.xml"/><Relationship Id="rId7" Type="http://schemas.openxmlformats.org/officeDocument/2006/relationships/image" Target="../media/image221.wmf"/><Relationship Id="rId6" Type="http://schemas.openxmlformats.org/officeDocument/2006/relationships/oleObject" Target="../embeddings/oleObject209.bin"/><Relationship Id="rId5" Type="http://schemas.openxmlformats.org/officeDocument/2006/relationships/image" Target="../media/image220.wmf"/><Relationship Id="rId4" Type="http://schemas.openxmlformats.org/officeDocument/2006/relationships/oleObject" Target="../embeddings/oleObject208.bin"/><Relationship Id="rId3" Type="http://schemas.openxmlformats.org/officeDocument/2006/relationships/image" Target="../media/image219.wmf"/><Relationship Id="rId2" Type="http://schemas.openxmlformats.org/officeDocument/2006/relationships/oleObject" Target="../embeddings/oleObject207.bin"/><Relationship Id="rId10" Type="http://schemas.openxmlformats.org/officeDocument/2006/relationships/notesSlide" Target="../notesSlides/notesSlide62.xml"/><Relationship Id="rId1" Type="http://schemas.openxmlformats.org/officeDocument/2006/relationships/image" Target="../media/image4.png"/></Relationships>
</file>

<file path=ppt/slides/_rels/slide88.xml.rels><?xml version="1.0" encoding="UTF-8" standalone="yes"?>
<Relationships xmlns="http://schemas.openxmlformats.org/package/2006/relationships"><Relationship Id="rId6" Type="http://schemas.openxmlformats.org/officeDocument/2006/relationships/notesSlide" Target="../notesSlides/notesSlide63.xml"/><Relationship Id="rId5" Type="http://schemas.openxmlformats.org/officeDocument/2006/relationships/vmlDrawing" Target="../drawings/vmlDrawing53.vml"/><Relationship Id="rId4" Type="http://schemas.openxmlformats.org/officeDocument/2006/relationships/slideLayout" Target="../slideLayouts/slideLayout1.xml"/><Relationship Id="rId3" Type="http://schemas.openxmlformats.org/officeDocument/2006/relationships/image" Target="../media/image222.emf"/><Relationship Id="rId2" Type="http://schemas.openxmlformats.org/officeDocument/2006/relationships/oleObject" Target="../embeddings/oleObject210.bin"/><Relationship Id="rId1" Type="http://schemas.openxmlformats.org/officeDocument/2006/relationships/image" Target="../media/image4.png"/></Relationships>
</file>

<file path=ppt/slides/_rels/slide89.xml.rels><?xml version="1.0" encoding="UTF-8" standalone="yes"?>
<Relationships xmlns="http://schemas.openxmlformats.org/package/2006/relationships"><Relationship Id="rId9" Type="http://schemas.openxmlformats.org/officeDocument/2006/relationships/oleObject" Target="../embeddings/oleObject215.bin"/><Relationship Id="rId8" Type="http://schemas.openxmlformats.org/officeDocument/2006/relationships/image" Target="../media/image226.wmf"/><Relationship Id="rId7" Type="http://schemas.openxmlformats.org/officeDocument/2006/relationships/oleObject" Target="../embeddings/oleObject214.bin"/><Relationship Id="rId6" Type="http://schemas.openxmlformats.org/officeDocument/2006/relationships/image" Target="../media/image225.wmf"/><Relationship Id="rId5" Type="http://schemas.openxmlformats.org/officeDocument/2006/relationships/oleObject" Target="../embeddings/oleObject213.bin"/><Relationship Id="rId4" Type="http://schemas.openxmlformats.org/officeDocument/2006/relationships/image" Target="../media/image224.wmf"/><Relationship Id="rId3" Type="http://schemas.openxmlformats.org/officeDocument/2006/relationships/oleObject" Target="../embeddings/oleObject212.bin"/><Relationship Id="rId28" Type="http://schemas.openxmlformats.org/officeDocument/2006/relationships/notesSlide" Target="../notesSlides/notesSlide64.xml"/><Relationship Id="rId27" Type="http://schemas.openxmlformats.org/officeDocument/2006/relationships/vmlDrawing" Target="../drawings/vmlDrawing54.vml"/><Relationship Id="rId26" Type="http://schemas.openxmlformats.org/officeDocument/2006/relationships/slideLayout" Target="../slideLayouts/slideLayout1.xml"/><Relationship Id="rId25" Type="http://schemas.openxmlformats.org/officeDocument/2006/relationships/image" Target="../media/image233.wmf"/><Relationship Id="rId24" Type="http://schemas.openxmlformats.org/officeDocument/2006/relationships/oleObject" Target="../embeddings/oleObject222.bin"/><Relationship Id="rId23" Type="http://schemas.openxmlformats.org/officeDocument/2006/relationships/image" Target="../media/image232.wmf"/><Relationship Id="rId22" Type="http://schemas.openxmlformats.org/officeDocument/2006/relationships/oleObject" Target="../embeddings/oleObject221.bin"/><Relationship Id="rId21" Type="http://schemas.openxmlformats.org/officeDocument/2006/relationships/image" Target="../media/image231.wmf"/><Relationship Id="rId20" Type="http://schemas.openxmlformats.org/officeDocument/2006/relationships/oleObject" Target="../embeddings/oleObject220.bin"/><Relationship Id="rId2" Type="http://schemas.openxmlformats.org/officeDocument/2006/relationships/image" Target="../media/image223.wmf"/><Relationship Id="rId19" Type="http://schemas.openxmlformats.org/officeDocument/2006/relationships/image" Target="../media/image230.wmf"/><Relationship Id="rId18" Type="http://schemas.openxmlformats.org/officeDocument/2006/relationships/oleObject" Target="../embeddings/oleObject219.bin"/><Relationship Id="rId17" Type="http://schemas.openxmlformats.org/officeDocument/2006/relationships/image" Target="../media/image229.wmf"/><Relationship Id="rId16" Type="http://schemas.openxmlformats.org/officeDocument/2006/relationships/oleObject" Target="../embeddings/oleObject218.bin"/><Relationship Id="rId15" Type="http://schemas.openxmlformats.org/officeDocument/2006/relationships/image" Target="../media/image4.png"/><Relationship Id="rId14" Type="http://schemas.openxmlformats.org/officeDocument/2006/relationships/image" Target="../media/image228.wmf"/><Relationship Id="rId13" Type="http://schemas.openxmlformats.org/officeDocument/2006/relationships/oleObject" Target="../embeddings/oleObject217.bin"/><Relationship Id="rId12" Type="http://schemas.openxmlformats.org/officeDocument/2006/relationships/image" Target="../media/image219.wmf"/><Relationship Id="rId11" Type="http://schemas.openxmlformats.org/officeDocument/2006/relationships/oleObject" Target="../embeddings/oleObject216.bin"/><Relationship Id="rId10" Type="http://schemas.openxmlformats.org/officeDocument/2006/relationships/image" Target="../media/image227.wmf"/><Relationship Id="rId1" Type="http://schemas.openxmlformats.org/officeDocument/2006/relationships/oleObject" Target="../embeddings/oleObject211.bin"/></Relationships>
</file>

<file path=ppt/slides/_rels/slide90.xml.rels><?xml version="1.0" encoding="UTF-8" standalone="yes"?>
<Relationships xmlns="http://schemas.openxmlformats.org/package/2006/relationships"><Relationship Id="rId9" Type="http://schemas.openxmlformats.org/officeDocument/2006/relationships/image" Target="../media/image224.wmf"/><Relationship Id="rId8" Type="http://schemas.openxmlformats.org/officeDocument/2006/relationships/oleObject" Target="../embeddings/oleObject225.bin"/><Relationship Id="rId7" Type="http://schemas.openxmlformats.org/officeDocument/2006/relationships/image" Target="../media/image223.wmf"/><Relationship Id="rId6" Type="http://schemas.openxmlformats.org/officeDocument/2006/relationships/oleObject" Target="../embeddings/oleObject224.bin"/><Relationship Id="rId5" Type="http://schemas.openxmlformats.org/officeDocument/2006/relationships/image" Target="../media/image43.png"/><Relationship Id="rId4" Type="http://schemas.openxmlformats.org/officeDocument/2006/relationships/image" Target="../media/image49.png"/><Relationship Id="rId3" Type="http://schemas.openxmlformats.org/officeDocument/2006/relationships/image" Target="../media/image4.png"/><Relationship Id="rId20" Type="http://schemas.openxmlformats.org/officeDocument/2006/relationships/notesSlide" Target="../notesSlides/notesSlide65.xml"/><Relationship Id="rId2" Type="http://schemas.openxmlformats.org/officeDocument/2006/relationships/image" Target="../media/image234.wmf"/><Relationship Id="rId19" Type="http://schemas.openxmlformats.org/officeDocument/2006/relationships/vmlDrawing" Target="../drawings/vmlDrawing55.vml"/><Relationship Id="rId18" Type="http://schemas.openxmlformats.org/officeDocument/2006/relationships/slideLayout" Target="../slideLayouts/slideLayout1.xml"/><Relationship Id="rId17" Type="http://schemas.openxmlformats.org/officeDocument/2006/relationships/image" Target="../media/image232.wmf"/><Relationship Id="rId16" Type="http://schemas.openxmlformats.org/officeDocument/2006/relationships/oleObject" Target="../embeddings/oleObject229.bin"/><Relationship Id="rId15" Type="http://schemas.openxmlformats.org/officeDocument/2006/relationships/image" Target="../media/image227.wmf"/><Relationship Id="rId14" Type="http://schemas.openxmlformats.org/officeDocument/2006/relationships/oleObject" Target="../embeddings/oleObject228.bin"/><Relationship Id="rId13" Type="http://schemas.openxmlformats.org/officeDocument/2006/relationships/image" Target="../media/image226.wmf"/><Relationship Id="rId12" Type="http://schemas.openxmlformats.org/officeDocument/2006/relationships/oleObject" Target="../embeddings/oleObject227.bin"/><Relationship Id="rId11" Type="http://schemas.openxmlformats.org/officeDocument/2006/relationships/image" Target="../media/image225.wmf"/><Relationship Id="rId10" Type="http://schemas.openxmlformats.org/officeDocument/2006/relationships/oleObject" Target="../embeddings/oleObject226.bin"/><Relationship Id="rId1" Type="http://schemas.openxmlformats.org/officeDocument/2006/relationships/oleObject" Target="../embeddings/oleObject223.bin"/></Relationships>
</file>

<file path=ppt/slides/_rels/slide9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9.png"/><Relationship Id="rId2" Type="http://schemas.openxmlformats.org/officeDocument/2006/relationships/image" Target="../media/image43.png"/><Relationship Id="rId1" Type="http://schemas.openxmlformats.org/officeDocument/2006/relationships/image" Target="../media/image4.png"/></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9" Type="http://schemas.openxmlformats.org/officeDocument/2006/relationships/oleObject" Target="../embeddings/oleObject234.bin"/><Relationship Id="rId8" Type="http://schemas.openxmlformats.org/officeDocument/2006/relationships/image" Target="../media/image238.wmf"/><Relationship Id="rId7" Type="http://schemas.openxmlformats.org/officeDocument/2006/relationships/oleObject" Target="../embeddings/oleObject233.bin"/><Relationship Id="rId6" Type="http://schemas.openxmlformats.org/officeDocument/2006/relationships/image" Target="../media/image237.wmf"/><Relationship Id="rId5" Type="http://schemas.openxmlformats.org/officeDocument/2006/relationships/oleObject" Target="../embeddings/oleObject232.bin"/><Relationship Id="rId4" Type="http://schemas.openxmlformats.org/officeDocument/2006/relationships/image" Target="../media/image236.emf"/><Relationship Id="rId3" Type="http://schemas.openxmlformats.org/officeDocument/2006/relationships/oleObject" Target="../embeddings/oleObject231.bin"/><Relationship Id="rId26" Type="http://schemas.openxmlformats.org/officeDocument/2006/relationships/notesSlide" Target="../notesSlides/notesSlide67.xml"/><Relationship Id="rId25" Type="http://schemas.openxmlformats.org/officeDocument/2006/relationships/vmlDrawing" Target="../drawings/vmlDrawing56.vml"/><Relationship Id="rId24" Type="http://schemas.openxmlformats.org/officeDocument/2006/relationships/slideLayout" Target="../slideLayouts/slideLayout2.xml"/><Relationship Id="rId23" Type="http://schemas.openxmlformats.org/officeDocument/2006/relationships/image" Target="../media/image245.wmf"/><Relationship Id="rId22" Type="http://schemas.openxmlformats.org/officeDocument/2006/relationships/oleObject" Target="../embeddings/oleObject241.bin"/><Relationship Id="rId21" Type="http://schemas.openxmlformats.org/officeDocument/2006/relationships/oleObject" Target="../embeddings/oleObject240.bin"/><Relationship Id="rId20" Type="http://schemas.openxmlformats.org/officeDocument/2006/relationships/image" Target="../media/image244.wmf"/><Relationship Id="rId2" Type="http://schemas.openxmlformats.org/officeDocument/2006/relationships/image" Target="../media/image235.emf"/><Relationship Id="rId19" Type="http://schemas.openxmlformats.org/officeDocument/2006/relationships/oleObject" Target="../embeddings/oleObject239.bin"/><Relationship Id="rId18" Type="http://schemas.openxmlformats.org/officeDocument/2006/relationships/image" Target="../media/image243.wmf"/><Relationship Id="rId17" Type="http://schemas.openxmlformats.org/officeDocument/2006/relationships/oleObject" Target="../embeddings/oleObject238.bin"/><Relationship Id="rId16" Type="http://schemas.openxmlformats.org/officeDocument/2006/relationships/image" Target="../media/image242.wmf"/><Relationship Id="rId15" Type="http://schemas.openxmlformats.org/officeDocument/2006/relationships/oleObject" Target="../embeddings/oleObject237.bin"/><Relationship Id="rId14" Type="http://schemas.openxmlformats.org/officeDocument/2006/relationships/image" Target="../media/image241.wmf"/><Relationship Id="rId13" Type="http://schemas.openxmlformats.org/officeDocument/2006/relationships/oleObject" Target="../embeddings/oleObject236.bin"/><Relationship Id="rId12" Type="http://schemas.openxmlformats.org/officeDocument/2006/relationships/image" Target="../media/image240.wmf"/><Relationship Id="rId11" Type="http://schemas.openxmlformats.org/officeDocument/2006/relationships/oleObject" Target="../embeddings/oleObject235.bin"/><Relationship Id="rId10" Type="http://schemas.openxmlformats.org/officeDocument/2006/relationships/image" Target="../media/image239.wmf"/><Relationship Id="rId1" Type="http://schemas.openxmlformats.org/officeDocument/2006/relationships/oleObject" Target="../embeddings/oleObject230.bin"/></Relationships>
</file>

<file path=ppt/slides/_rels/slide94.xml.rels><?xml version="1.0" encoding="UTF-8" standalone="yes"?>
<Relationships xmlns="http://schemas.openxmlformats.org/package/2006/relationships"><Relationship Id="rId9" Type="http://schemas.openxmlformats.org/officeDocument/2006/relationships/notesSlide" Target="../notesSlides/notesSlide68.xml"/><Relationship Id="rId8" Type="http://schemas.openxmlformats.org/officeDocument/2006/relationships/vmlDrawing" Target="../drawings/vmlDrawing57.vml"/><Relationship Id="rId7"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247.emf"/><Relationship Id="rId4" Type="http://schemas.openxmlformats.org/officeDocument/2006/relationships/oleObject" Target="../embeddings/oleObject243.bin"/><Relationship Id="rId3" Type="http://schemas.openxmlformats.org/officeDocument/2006/relationships/image" Target="../media/image246.emf"/><Relationship Id="rId2" Type="http://schemas.openxmlformats.org/officeDocument/2006/relationships/oleObject" Target="../embeddings/oleObject242.bin"/><Relationship Id="rId1" Type="http://schemas.openxmlformats.org/officeDocument/2006/relationships/image" Target="../media/image4.png"/></Relationships>
</file>

<file path=ppt/slides/_rels/slide95.xml.rels><?xml version="1.0" encoding="UTF-8" standalone="yes"?>
<Relationships xmlns="http://schemas.openxmlformats.org/package/2006/relationships"><Relationship Id="rId9" Type="http://schemas.openxmlformats.org/officeDocument/2006/relationships/oleObject" Target="../embeddings/oleObject247.bin"/><Relationship Id="rId8" Type="http://schemas.openxmlformats.org/officeDocument/2006/relationships/image" Target="../media/image251.wmf"/><Relationship Id="rId7" Type="http://schemas.openxmlformats.org/officeDocument/2006/relationships/oleObject" Target="../embeddings/oleObject246.bin"/><Relationship Id="rId6" Type="http://schemas.openxmlformats.org/officeDocument/2006/relationships/image" Target="../media/image250.png"/><Relationship Id="rId5" Type="http://schemas.openxmlformats.org/officeDocument/2006/relationships/image" Target="../media/image249.wmf"/><Relationship Id="rId4" Type="http://schemas.openxmlformats.org/officeDocument/2006/relationships/oleObject" Target="../embeddings/oleObject245.bin"/><Relationship Id="rId3" Type="http://schemas.openxmlformats.org/officeDocument/2006/relationships/image" Target="../media/image248.wmf"/><Relationship Id="rId2" Type="http://schemas.openxmlformats.org/officeDocument/2006/relationships/oleObject" Target="../embeddings/oleObject244.bin"/><Relationship Id="rId18" Type="http://schemas.openxmlformats.org/officeDocument/2006/relationships/notesSlide" Target="../notesSlides/notesSlide69.xml"/><Relationship Id="rId17" Type="http://schemas.openxmlformats.org/officeDocument/2006/relationships/vmlDrawing" Target="../drawings/vmlDrawing58.vml"/><Relationship Id="rId16" Type="http://schemas.openxmlformats.org/officeDocument/2006/relationships/slideLayout" Target="../slideLayouts/slideLayout2.xml"/><Relationship Id="rId15" Type="http://schemas.openxmlformats.org/officeDocument/2006/relationships/image" Target="../media/image255.wmf"/><Relationship Id="rId14" Type="http://schemas.openxmlformats.org/officeDocument/2006/relationships/oleObject" Target="../embeddings/oleObject249.bin"/><Relationship Id="rId13" Type="http://schemas.openxmlformats.org/officeDocument/2006/relationships/image" Target="../media/image254.png"/><Relationship Id="rId12" Type="http://schemas.openxmlformats.org/officeDocument/2006/relationships/image" Target="../media/image253.wmf"/><Relationship Id="rId11" Type="http://schemas.openxmlformats.org/officeDocument/2006/relationships/oleObject" Target="../embeddings/oleObject248.bin"/><Relationship Id="rId10" Type="http://schemas.openxmlformats.org/officeDocument/2006/relationships/image" Target="../media/image252.wmf"/><Relationship Id="rId1" Type="http://schemas.openxmlformats.org/officeDocument/2006/relationships/image" Target="../media/image4.png"/></Relationships>
</file>

<file path=ppt/slides/_rels/slide96.xml.rels><?xml version="1.0" encoding="UTF-8" standalone="yes"?>
<Relationships xmlns="http://schemas.openxmlformats.org/package/2006/relationships"><Relationship Id="rId9" Type="http://schemas.openxmlformats.org/officeDocument/2006/relationships/oleObject" Target="../embeddings/oleObject253.bin"/><Relationship Id="rId8" Type="http://schemas.openxmlformats.org/officeDocument/2006/relationships/image" Target="../media/image258.wmf"/><Relationship Id="rId7" Type="http://schemas.openxmlformats.org/officeDocument/2006/relationships/oleObject" Target="../embeddings/oleObject252.bin"/><Relationship Id="rId6" Type="http://schemas.openxmlformats.org/officeDocument/2006/relationships/image" Target="../media/image252.wmf"/><Relationship Id="rId5" Type="http://schemas.openxmlformats.org/officeDocument/2006/relationships/oleObject" Target="../embeddings/oleObject251.bin"/><Relationship Id="rId4" Type="http://schemas.openxmlformats.org/officeDocument/2006/relationships/image" Target="../media/image257.wmf"/><Relationship Id="rId3" Type="http://schemas.openxmlformats.org/officeDocument/2006/relationships/oleObject" Target="../embeddings/oleObject250.bin"/><Relationship Id="rId23" Type="http://schemas.openxmlformats.org/officeDocument/2006/relationships/notesSlide" Target="../notesSlides/notesSlide70.xml"/><Relationship Id="rId22" Type="http://schemas.openxmlformats.org/officeDocument/2006/relationships/vmlDrawing" Target="../drawings/vmlDrawing59.vml"/><Relationship Id="rId21" Type="http://schemas.openxmlformats.org/officeDocument/2006/relationships/slideLayout" Target="../slideLayouts/slideLayout2.xml"/><Relationship Id="rId20" Type="http://schemas.openxmlformats.org/officeDocument/2006/relationships/image" Target="../media/image265.jpeg"/><Relationship Id="rId2" Type="http://schemas.openxmlformats.org/officeDocument/2006/relationships/image" Target="../media/image256.png"/><Relationship Id="rId19" Type="http://schemas.openxmlformats.org/officeDocument/2006/relationships/image" Target="../media/image264.wmf"/><Relationship Id="rId18" Type="http://schemas.openxmlformats.org/officeDocument/2006/relationships/oleObject" Target="../embeddings/oleObject257.bin"/><Relationship Id="rId17" Type="http://schemas.openxmlformats.org/officeDocument/2006/relationships/image" Target="../media/image263.wmf"/><Relationship Id="rId16" Type="http://schemas.openxmlformats.org/officeDocument/2006/relationships/oleObject" Target="../embeddings/oleObject256.bin"/><Relationship Id="rId15" Type="http://schemas.openxmlformats.org/officeDocument/2006/relationships/image" Target="../media/image262.wmf"/><Relationship Id="rId14" Type="http://schemas.openxmlformats.org/officeDocument/2006/relationships/oleObject" Target="../embeddings/oleObject255.bin"/><Relationship Id="rId13" Type="http://schemas.openxmlformats.org/officeDocument/2006/relationships/image" Target="../media/image261.wmf"/><Relationship Id="rId12" Type="http://schemas.openxmlformats.org/officeDocument/2006/relationships/oleObject" Target="../embeddings/oleObject254.bin"/><Relationship Id="rId11" Type="http://schemas.openxmlformats.org/officeDocument/2006/relationships/image" Target="../media/image260.png"/><Relationship Id="rId10" Type="http://schemas.openxmlformats.org/officeDocument/2006/relationships/image" Target="../media/image259.wmf"/><Relationship Id="rId1"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34"/>
          <p:cNvSpPr/>
          <p:nvPr/>
        </p:nvSpPr>
        <p:spPr>
          <a:xfrm>
            <a:off x="0" y="1"/>
            <a:ext cx="9144000" cy="5715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https://timgsa.baidu.com/timg?image&amp;quality=80&amp;size=b9999_10000&amp;sec=1580725348395&amp;di=7d0f97d144a87161ca1f8c https://timgsa.baidu.com/timg?image&amp;quality=80&amp;size=b9999_10000&amp;sec=1580725348395&amp;di=7d0f97d144a87161ca1f8c49f6249c5f&amp;imgtype=0&amp;src=http%3A%2F%2Fpic1.16pic.com%2F00%2F54%2F86%2F16pic_5486472_b.jpg 49f6249c5f&amp;imgtype=0&amp;src=http%3A%2F%2Fpic1.16pic.com%2F00%2F54%2F86%2F16pic_5486472_b.jpg</a:t>
            </a:r>
            <a:endParaRPr lang="zh-CN" altLang="en-US" dirty="0"/>
          </a:p>
        </p:txBody>
      </p:sp>
      <p:sp>
        <p:nvSpPr>
          <p:cNvPr id="23" name="矩形 22"/>
          <p:cNvSpPr/>
          <p:nvPr/>
        </p:nvSpPr>
        <p:spPr>
          <a:xfrm>
            <a:off x="3" y="1008476"/>
            <a:ext cx="9143999" cy="227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p:cNvSpPr/>
          <p:nvPr/>
        </p:nvSpPr>
        <p:spPr>
          <a:xfrm>
            <a:off x="0" y="2"/>
            <a:ext cx="9144000" cy="10953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 name="Picture 2"/>
          <p:cNvPicPr>
            <a:picLocks noChangeArrowheads="1"/>
          </p:cNvPicPr>
          <p:nvPr/>
        </p:nvPicPr>
        <p:blipFill>
          <a:blip r:embed="rId1" cstate="print"/>
          <a:srcRect/>
          <a:stretch>
            <a:fillRect/>
          </a:stretch>
        </p:blipFill>
        <p:spPr bwMode="auto">
          <a:xfrm>
            <a:off x="150496" y="220419"/>
            <a:ext cx="3261360" cy="671226"/>
          </a:xfrm>
          <a:prstGeom prst="rect">
            <a:avLst/>
          </a:prstGeom>
          <a:noFill/>
          <a:ln w="9525">
            <a:noFill/>
            <a:miter lim="800000"/>
            <a:headEnd/>
            <a:tailEnd/>
          </a:ln>
        </p:spPr>
      </p:pic>
      <p:sp>
        <p:nvSpPr>
          <p:cNvPr id="9" name="文本框 8"/>
          <p:cNvSpPr txBox="1"/>
          <p:nvPr/>
        </p:nvSpPr>
        <p:spPr>
          <a:xfrm>
            <a:off x="5829300" y="107104"/>
            <a:ext cx="3070860" cy="707886"/>
          </a:xfrm>
          <a:prstGeom prst="rect">
            <a:avLst/>
          </a:prstGeom>
          <a:noFill/>
        </p:spPr>
        <p:txBody>
          <a:bodyPr wrap="square" rtlCol="0">
            <a:spAutoFit/>
          </a:bodyPr>
          <a:lstStyle>
            <a:defPPr>
              <a:defRPr lang="zh-CN"/>
            </a:defPPr>
            <a:lvl1pPr>
              <a:defRPr b="1">
                <a:solidFill>
                  <a:schemeClr val="accent1"/>
                </a:solidFill>
                <a:latin typeface="微软雅黑" panose="020B0503020204020204" pitchFamily="34" charset="-122"/>
                <a:ea typeface="微软雅黑" panose="020B0503020204020204" pitchFamily="34" charset="-122"/>
              </a:defRPr>
            </a:lvl1pPr>
          </a:lstStyle>
          <a:p>
            <a:pPr algn="ctr">
              <a:lnSpc>
                <a:spcPct val="200000"/>
              </a:lnSpc>
            </a:pPr>
            <a:r>
              <a:rPr lang="zh-CN" altLang="en-US" sz="2000" dirty="0">
                <a:solidFill>
                  <a:srgbClr val="002060"/>
                </a:solidFill>
              </a:rPr>
              <a:t>电子与通信工程系</a:t>
            </a:r>
            <a:endParaRPr lang="zh-CN" altLang="en-US" sz="2000" dirty="0">
              <a:solidFill>
                <a:srgbClr val="002060"/>
              </a:solidFill>
            </a:endParaRPr>
          </a:p>
        </p:txBody>
      </p:sp>
      <p:pic>
        <p:nvPicPr>
          <p:cNvPr id="14" name="Picture 4" descr="http://img.mp.itc.cn/upload/20170309/9f3693de49bf44d791994c44caa6c12c_th.jpeg"/>
          <p:cNvPicPr>
            <a:picLocks noChangeAspect="1" noChangeArrowheads="1"/>
          </p:cNvPicPr>
          <p:nvPr/>
        </p:nvPicPr>
        <p:blipFill>
          <a:blip r:embed="rId2"/>
          <a:srcRect/>
          <a:stretch>
            <a:fillRect/>
          </a:stretch>
        </p:blipFill>
        <p:spPr bwMode="auto">
          <a:xfrm>
            <a:off x="1958497" y="2053086"/>
            <a:ext cx="5356703" cy="2743606"/>
          </a:xfrm>
          <a:prstGeom prst="ellipse">
            <a:avLst/>
          </a:prstGeom>
          <a:ln>
            <a:noFill/>
          </a:ln>
          <a:effectLst>
            <a:softEdge rad="112500"/>
          </a:effectLst>
        </p:spPr>
      </p:pic>
      <p:sp>
        <p:nvSpPr>
          <p:cNvPr id="15" name="文本框 6"/>
          <p:cNvSpPr txBox="1"/>
          <p:nvPr/>
        </p:nvSpPr>
        <p:spPr>
          <a:xfrm>
            <a:off x="1387452" y="1357495"/>
            <a:ext cx="6498792" cy="746358"/>
          </a:xfrm>
          <a:prstGeom prst="rect">
            <a:avLst/>
          </a:prstGeom>
          <a:noFill/>
        </p:spPr>
        <p:txBody>
          <a:bodyPr wrap="square" rtlCol="0">
            <a:spAutoFit/>
          </a:bodyPr>
          <a:lstStyle/>
          <a:p>
            <a:pPr algn="ctr">
              <a:lnSpc>
                <a:spcPct val="125000"/>
              </a:lnSpc>
            </a:pP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rPr>
              <a:t>数字电子技术基础</a:t>
            </a:r>
            <a:endPar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微软雅黑" panose="020B0503020204020204" pitchFamily="34" charset="-122"/>
              <a:ea typeface="微软雅黑" panose="020B0503020204020204" pitchFamily="34" charset="-122"/>
            </a:endParaRPr>
          </a:p>
        </p:txBody>
      </p:sp>
      <p:sp>
        <p:nvSpPr>
          <p:cNvPr id="16" name="文本框 8"/>
          <p:cNvSpPr txBox="1"/>
          <p:nvPr/>
        </p:nvSpPr>
        <p:spPr>
          <a:xfrm>
            <a:off x="3080919" y="4547960"/>
            <a:ext cx="3390900" cy="706755"/>
          </a:xfrm>
          <a:prstGeom prst="rect">
            <a:avLst/>
          </a:prstGeom>
          <a:noFill/>
        </p:spPr>
        <p:txBody>
          <a:bodyPr wrap="square" rtlCol="0">
            <a:spAutoFit/>
          </a:bodyPr>
          <a:lstStyle>
            <a:defPPr>
              <a:defRPr lang="zh-CN"/>
            </a:defPPr>
            <a:lvl1pPr>
              <a:defRPr b="1">
                <a:solidFill>
                  <a:schemeClr val="accent1"/>
                </a:solidFill>
                <a:latin typeface="微软雅黑" panose="020B0503020204020204" pitchFamily="34" charset="-122"/>
                <a:ea typeface="微软雅黑" panose="020B0503020204020204" pitchFamily="34" charset="-122"/>
              </a:defRPr>
            </a:lvl1pPr>
          </a:lstStyle>
          <a:p>
            <a:pPr algn="ctr">
              <a:lnSpc>
                <a:spcPct val="200000"/>
              </a:lnSpc>
            </a:pPr>
            <a:r>
              <a:rPr lang="zh-CN" altLang="en-US" sz="2000" dirty="0">
                <a:solidFill>
                  <a:srgbClr val="002060"/>
                </a:solidFill>
              </a:rPr>
              <a:t>主讲人：赵伟</a:t>
            </a:r>
            <a:endParaRPr lang="zh-CN" altLang="en-US" sz="2000" dirty="0">
              <a:solidFill>
                <a:srgbClr val="002060"/>
              </a:solidFill>
            </a:endParaRPr>
          </a:p>
        </p:txBody>
      </p:sp>
    </p:spTree>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1000" fill="hold"/>
                                        <p:tgtEl>
                                          <p:spTgt spid="15"/>
                                        </p:tgtEl>
                                        <p:attrNameLst>
                                          <p:attrName>ppt_w</p:attrName>
                                        </p:attrNameLst>
                                      </p:cBhvr>
                                      <p:tavLst>
                                        <p:tav tm="0">
                                          <p:val>
                                            <p:fltVal val="0"/>
                                          </p:val>
                                        </p:tav>
                                        <p:tav tm="100000">
                                          <p:val>
                                            <p:strVal val="#ppt_w"/>
                                          </p:val>
                                        </p:tav>
                                      </p:tavLst>
                                    </p:anim>
                                    <p:anim calcmode="lin" valueType="num">
                                      <p:cBhvr>
                                        <p:cTn id="8" dur="1000" fill="hold"/>
                                        <p:tgtEl>
                                          <p:spTgt spid="15"/>
                                        </p:tgtEl>
                                        <p:attrNameLst>
                                          <p:attrName>ppt_h</p:attrName>
                                        </p:attrNameLst>
                                      </p:cBhvr>
                                      <p:tavLst>
                                        <p:tav tm="0">
                                          <p:val>
                                            <p:fltVal val="0"/>
                                          </p:val>
                                        </p:tav>
                                        <p:tav tm="100000">
                                          <p:val>
                                            <p:strVal val="#ppt_h"/>
                                          </p:val>
                                        </p:tav>
                                      </p:tavLst>
                                    </p:anim>
                                  </p:childTnLst>
                                </p:cTn>
                              </p:par>
                              <p:par>
                                <p:cTn id="9" presetID="23" presetClass="entr" presetSubtype="16"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anim calcmode="lin" valueType="num">
                                      <p:cBhvr>
                                        <p:cTn id="11" dur="1000" fill="hold"/>
                                        <p:tgtEl>
                                          <p:spTgt spid="14"/>
                                        </p:tgtEl>
                                        <p:attrNameLst>
                                          <p:attrName>ppt_w</p:attrName>
                                        </p:attrNameLst>
                                      </p:cBhvr>
                                      <p:tavLst>
                                        <p:tav tm="0">
                                          <p:val>
                                            <p:fltVal val="0"/>
                                          </p:val>
                                        </p:tav>
                                        <p:tav tm="100000">
                                          <p:val>
                                            <p:strVal val="#ppt_w"/>
                                          </p:val>
                                        </p:tav>
                                      </p:tavLst>
                                    </p:anim>
                                    <p:anim calcmode="lin" valueType="num">
                                      <p:cBhvr>
                                        <p:cTn id="12" dur="1000" fill="hold"/>
                                        <p:tgtEl>
                                          <p:spTgt spid="14"/>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0"/>
                                  </p:stCondLst>
                                  <p:childTnLst>
                                    <p:set>
                                      <p:cBhvr>
                                        <p:cTn id="14" dur="1" fill="hold">
                                          <p:stCondLst>
                                            <p:cond delay="0"/>
                                          </p:stCondLst>
                                        </p:cTn>
                                        <p:tgtEl>
                                          <p:spTgt spid="16"/>
                                        </p:tgtEl>
                                        <p:attrNameLst>
                                          <p:attrName>style.visibility</p:attrName>
                                        </p:attrNameLst>
                                      </p:cBhvr>
                                      <p:to>
                                        <p:strVal val="visible"/>
                                      </p:to>
                                    </p:set>
                                    <p:anim calcmode="lin" valueType="num">
                                      <p:cBhvr>
                                        <p:cTn id="15" dur="1000" fill="hold"/>
                                        <p:tgtEl>
                                          <p:spTgt spid="16"/>
                                        </p:tgtEl>
                                        <p:attrNameLst>
                                          <p:attrName>ppt_w</p:attrName>
                                        </p:attrNameLst>
                                      </p:cBhvr>
                                      <p:tavLst>
                                        <p:tav tm="0">
                                          <p:val>
                                            <p:fltVal val="0"/>
                                          </p:val>
                                        </p:tav>
                                        <p:tav tm="100000">
                                          <p:val>
                                            <p:strVal val="#ppt_w"/>
                                          </p:val>
                                        </p:tav>
                                      </p:tavLst>
                                    </p:anim>
                                    <p:anim calcmode="lin" valueType="num">
                                      <p:cBhvr>
                                        <p:cTn id="16" dur="1000" fill="hold"/>
                                        <p:tgtEl>
                                          <p:spTgt spid="1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1101090" y="1927861"/>
            <a:ext cx="6713220" cy="1865100"/>
            <a:chOff x="1101090" y="1824567"/>
            <a:chExt cx="6713220" cy="2072333"/>
          </a:xfrm>
        </p:grpSpPr>
        <p:grpSp>
          <p:nvGrpSpPr>
            <p:cNvPr id="43" name="组合 42"/>
            <p:cNvGrpSpPr/>
            <p:nvPr/>
          </p:nvGrpSpPr>
          <p:grpSpPr>
            <a:xfrm>
              <a:off x="1101090" y="1824567"/>
              <a:ext cx="1371600" cy="760000"/>
              <a:chOff x="910590" y="1565910"/>
              <a:chExt cx="1371600" cy="684000"/>
            </a:xfrm>
          </p:grpSpPr>
          <p:grpSp>
            <p:nvGrpSpPr>
              <p:cNvPr id="36" name="组合 35"/>
              <p:cNvGrpSpPr/>
              <p:nvPr/>
            </p:nvGrpSpPr>
            <p:grpSpPr>
              <a:xfrm>
                <a:off x="910590" y="1699260"/>
                <a:ext cx="1371600" cy="99060"/>
                <a:chOff x="910590" y="1699260"/>
                <a:chExt cx="1371600" cy="99060"/>
              </a:xfrm>
            </p:grpSpPr>
            <p:cxnSp>
              <p:nvCxnSpPr>
                <p:cNvPr id="29" name="直接连接符 28"/>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5" name="直接连接符 34"/>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37" name="组合 36"/>
              <p:cNvGrpSpPr/>
              <p:nvPr/>
            </p:nvGrpSpPr>
            <p:grpSpPr>
              <a:xfrm rot="5400000">
                <a:off x="728610" y="1866000"/>
                <a:ext cx="684000" cy="83820"/>
                <a:chOff x="910590" y="1699260"/>
                <a:chExt cx="1371600" cy="99060"/>
              </a:xfrm>
            </p:grpSpPr>
            <p:cxnSp>
              <p:nvCxnSpPr>
                <p:cNvPr id="38" name="直接连接符 3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42" name="直接连接符 4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44" name="组合 43"/>
            <p:cNvGrpSpPr/>
            <p:nvPr/>
          </p:nvGrpSpPr>
          <p:grpSpPr>
            <a:xfrm rot="10800000">
              <a:off x="6442710" y="3136900"/>
              <a:ext cx="1371600" cy="760000"/>
              <a:chOff x="910590" y="1565910"/>
              <a:chExt cx="1371600" cy="684000"/>
            </a:xfrm>
          </p:grpSpPr>
          <p:grpSp>
            <p:nvGrpSpPr>
              <p:cNvPr id="45" name="组合 35"/>
              <p:cNvGrpSpPr/>
              <p:nvPr/>
            </p:nvGrpSpPr>
            <p:grpSpPr>
              <a:xfrm>
                <a:off x="910590" y="1699260"/>
                <a:ext cx="1371600" cy="99060"/>
                <a:chOff x="910590" y="1699260"/>
                <a:chExt cx="1371600" cy="99060"/>
              </a:xfrm>
            </p:grpSpPr>
            <p:cxnSp>
              <p:nvCxnSpPr>
                <p:cNvPr id="49" name="直接连接符 48"/>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50" name="直接连接符 4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46" name="组合 36"/>
              <p:cNvGrpSpPr/>
              <p:nvPr/>
            </p:nvGrpSpPr>
            <p:grpSpPr>
              <a:xfrm rot="5400000">
                <a:off x="728610" y="1866000"/>
                <a:ext cx="684000" cy="83820"/>
                <a:chOff x="910590" y="1699260"/>
                <a:chExt cx="1371600" cy="99060"/>
              </a:xfrm>
            </p:grpSpPr>
            <p:cxnSp>
              <p:nvCxnSpPr>
                <p:cNvPr id="47" name="直接连接符 46"/>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48" name="直接连接符 47"/>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17" name="文本框 6"/>
            <p:cNvSpPr txBox="1"/>
            <p:nvPr/>
          </p:nvSpPr>
          <p:spPr>
            <a:xfrm>
              <a:off x="1113588" y="2331362"/>
              <a:ext cx="6498792" cy="908225"/>
            </a:xfrm>
            <a:prstGeom prst="rect">
              <a:avLst/>
            </a:prstGeom>
            <a:noFill/>
          </p:spPr>
          <p:txBody>
            <a:bodyPr wrap="square" rtlCol="0">
              <a:spAutoFit/>
            </a:bodyPr>
            <a:lstStyle/>
            <a:p>
              <a:pPr algn="ctr">
                <a:lnSpc>
                  <a:spcPct val="125000"/>
                </a:lnSpc>
              </a:pPr>
              <a:r>
                <a:rPr lang="zh-CN" altLang="zh-CN" sz="40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40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4</a:t>
              </a:r>
              <a:r>
                <a:rPr lang="zh-CN" altLang="zh-CN" sz="40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a:t>
              </a:r>
              <a:r>
                <a:rPr lang="en-US" altLang="zh-CN" sz="40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  </a:t>
              </a:r>
              <a:r>
                <a:rPr lang="zh-CN" altLang="en-US" sz="40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组合逻辑电路</a:t>
              </a:r>
              <a:endParaRPr lang="en-US" altLang="zh-CN" sz="40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p:cTn id="7" dur="1000" fill="hold"/>
                                        <p:tgtEl>
                                          <p:spTgt spid="18"/>
                                        </p:tgtEl>
                                        <p:attrNameLst>
                                          <p:attrName>ppt_w</p:attrName>
                                        </p:attrNameLst>
                                      </p:cBhvr>
                                      <p:tavLst>
                                        <p:tav tm="0">
                                          <p:val>
                                            <p:fltVal val="0"/>
                                          </p:val>
                                        </p:tav>
                                        <p:tav tm="100000">
                                          <p:val>
                                            <p:strVal val="#ppt_w"/>
                                          </p:val>
                                        </p:tav>
                                      </p:tavLst>
                                    </p:anim>
                                    <p:anim calcmode="lin" valueType="num">
                                      <p:cBhvr>
                                        <p:cTn id="8" dur="1000" fill="hold"/>
                                        <p:tgtEl>
                                          <p:spTgt spid="18"/>
                                        </p:tgtEl>
                                        <p:attrNameLst>
                                          <p:attrName>ppt_h</p:attrName>
                                        </p:attrNameLst>
                                      </p:cBhvr>
                                      <p:tavLst>
                                        <p:tav tm="0">
                                          <p:val>
                                            <p:fltVal val="0"/>
                                          </p:val>
                                        </p:tav>
                                        <p:tav tm="100000">
                                          <p:val>
                                            <p:strVal val="#ppt_h"/>
                                          </p:val>
                                        </p:tav>
                                      </p:tavLst>
                                    </p:anim>
                                    <p:animEffect transition="in" filter="fade">
                                      <p:cBhvr>
                                        <p:cTn id="9" dur="1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279213" y="985018"/>
            <a:ext cx="8631294" cy="4316680"/>
            <a:chOff x="256353" y="1058938"/>
            <a:chExt cx="8631294" cy="3795002"/>
          </a:xfrm>
        </p:grpSpPr>
        <p:sp>
          <p:nvSpPr>
            <p:cNvPr id="4" name="矩形 3"/>
            <p:cNvSpPr/>
            <p:nvPr/>
          </p:nvSpPr>
          <p:spPr>
            <a:xfrm>
              <a:off x="256353" y="1426524"/>
              <a:ext cx="8631294" cy="3427416"/>
            </a:xfrm>
            <a:prstGeom prst="rect">
              <a:avLst/>
            </a:prstGeom>
            <a:solidFill>
              <a:sysClr val="window" lastClr="FFFFFF">
                <a:alpha val="0"/>
              </a:sysClr>
            </a:solidFill>
            <a:ln w="25400" cap="flat" cmpd="sng" algn="ctr">
              <a:solidFill>
                <a:srgbClr val="2090EC"/>
              </a:solidFill>
              <a:prstDash val="solid"/>
            </a:ln>
            <a:effectLst/>
          </p:spPr>
          <p:txBody>
            <a:bodyPr lIns="0" tIns="72000" rIns="0" bIns="0" numCol="3" spcCol="180000" anchor="ctr"/>
            <a:lstStyle/>
            <a:p>
              <a:pPr marL="357505" indent="-268605">
                <a:spcBef>
                  <a:spcPts val="600"/>
                </a:spcBef>
                <a:buSzPct val="100000"/>
                <a:buFont typeface="Wingdings" panose="05000000000000000000" pitchFamily="2" charset="2"/>
                <a:buChar char="n"/>
              </a:pPr>
              <a:endParaRPr sz="1400" kern="100" dirty="0">
                <a:solidFill>
                  <a:srgbClr val="002060"/>
                </a:solidFill>
                <a:latin typeface="微软雅黑" panose="020B0503020204020204" pitchFamily="34" charset="-122"/>
                <a:ea typeface="微软雅黑" panose="020B0503020204020204" pitchFamily="34" charset="-122"/>
                <a:sym typeface="+mn-ea"/>
              </a:endParaRPr>
            </a:p>
          </p:txBody>
        </p:sp>
        <p:sp>
          <p:nvSpPr>
            <p:cNvPr id="3" name="文本框 2"/>
            <p:cNvSpPr txBox="1"/>
            <p:nvPr/>
          </p:nvSpPr>
          <p:spPr>
            <a:xfrm>
              <a:off x="568913" y="1433902"/>
              <a:ext cx="8006174" cy="3346214"/>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zh-CN" altLang="zh-CN" sz="1600" dirty="0">
                  <a:latin typeface="楷体" panose="02010609060101010101" pitchFamily="49" charset="-122"/>
                  <a:ea typeface="楷体" panose="02010609060101010101" pitchFamily="49" charset="-122"/>
                </a:rPr>
                <a:t>组合逻辑电路的结构、特点及描述方法；</a:t>
              </a:r>
              <a:endParaRPr lang="zh-CN" altLang="zh-CN" sz="1600" dirty="0">
                <a:latin typeface="楷体" panose="02010609060101010101" pitchFamily="49" charset="-122"/>
                <a:ea typeface="楷体" panose="02010609060101010101" pitchFamily="49" charset="-122"/>
              </a:endParaRPr>
            </a:p>
            <a:p>
              <a:pPr marL="285750" indent="-285750">
                <a:lnSpc>
                  <a:spcPct val="150000"/>
                </a:lnSpc>
                <a:buFont typeface="Wingdings" panose="05000000000000000000" pitchFamily="2" charset="2"/>
                <a:buChar char="Ø"/>
              </a:pPr>
              <a:r>
                <a:rPr lang="zh-CN" altLang="zh-CN" sz="1600" dirty="0">
                  <a:latin typeface="楷体" panose="02010609060101010101" pitchFamily="49" charset="-122"/>
                  <a:ea typeface="楷体" panose="02010609060101010101" pitchFamily="49" charset="-122"/>
                </a:rPr>
                <a:t>组合逻辑电路的分析与设计方法；</a:t>
              </a:r>
              <a:endParaRPr lang="zh-CN" altLang="zh-CN" sz="1600" dirty="0">
                <a:latin typeface="楷体" panose="02010609060101010101" pitchFamily="49" charset="-122"/>
                <a:ea typeface="楷体" panose="02010609060101010101" pitchFamily="49" charset="-122"/>
              </a:endParaRPr>
            </a:p>
            <a:p>
              <a:pPr marL="285750" indent="-285750">
                <a:lnSpc>
                  <a:spcPct val="150000"/>
                </a:lnSpc>
                <a:buFont typeface="Wingdings" panose="05000000000000000000" pitchFamily="2" charset="2"/>
                <a:buChar char="Ø"/>
              </a:pPr>
              <a:r>
                <a:rPr lang="zh-CN" altLang="zh-CN" sz="1600" dirty="0">
                  <a:latin typeface="楷体" panose="02010609060101010101" pitchFamily="49" charset="-122"/>
                  <a:ea typeface="楷体" panose="02010609060101010101" pitchFamily="49" charset="-122"/>
                </a:rPr>
                <a:t>普通编码器和优先编码器的功能，典型中规模集成优先编码器的功能及应用；</a:t>
              </a:r>
              <a:endParaRPr lang="zh-CN" altLang="zh-CN" sz="1600" dirty="0">
                <a:latin typeface="楷体" panose="02010609060101010101" pitchFamily="49" charset="-122"/>
                <a:ea typeface="楷体" panose="02010609060101010101" pitchFamily="49" charset="-122"/>
              </a:endParaRPr>
            </a:p>
            <a:p>
              <a:pPr marL="285750" indent="-285750">
                <a:lnSpc>
                  <a:spcPct val="150000"/>
                </a:lnSpc>
                <a:buFont typeface="Wingdings" panose="05000000000000000000" pitchFamily="2" charset="2"/>
                <a:buChar char="Ø"/>
              </a:pPr>
              <a:r>
                <a:rPr lang="zh-CN" altLang="zh-CN" sz="1600" dirty="0">
                  <a:latin typeface="楷体" panose="02010609060101010101" pitchFamily="49" charset="-122"/>
                  <a:ea typeface="楷体" panose="02010609060101010101" pitchFamily="49" charset="-122"/>
                </a:rPr>
                <a:t>二进制译码器、二</a:t>
              </a:r>
              <a:r>
                <a:rPr lang="en-US" altLang="zh-CN" sz="1600" dirty="0">
                  <a:latin typeface="楷体" panose="02010609060101010101" pitchFamily="49" charset="-122"/>
                  <a:ea typeface="楷体" panose="02010609060101010101" pitchFamily="49" charset="-122"/>
                </a:rPr>
                <a:t>-</a:t>
              </a:r>
              <a:r>
                <a:rPr lang="zh-CN" altLang="zh-CN" sz="1600" dirty="0">
                  <a:latin typeface="楷体" panose="02010609060101010101" pitchFamily="49" charset="-122"/>
                  <a:ea typeface="楷体" panose="02010609060101010101" pitchFamily="49" charset="-122"/>
                </a:rPr>
                <a:t>十进制译码器和显示译码器的功能，典型中规模集成译码器的功能及应用；</a:t>
              </a:r>
              <a:endParaRPr lang="zh-CN" altLang="zh-CN" sz="1600" dirty="0">
                <a:latin typeface="楷体" panose="02010609060101010101" pitchFamily="49" charset="-122"/>
                <a:ea typeface="楷体" panose="02010609060101010101" pitchFamily="49" charset="-122"/>
              </a:endParaRPr>
            </a:p>
            <a:p>
              <a:pPr marL="285750" indent="-285750">
                <a:lnSpc>
                  <a:spcPct val="150000"/>
                </a:lnSpc>
                <a:buFont typeface="Wingdings" panose="05000000000000000000" pitchFamily="2" charset="2"/>
                <a:buChar char="Ø"/>
              </a:pPr>
              <a:r>
                <a:rPr lang="zh-CN" altLang="zh-CN" sz="1600" dirty="0">
                  <a:latin typeface="楷体" panose="02010609060101010101" pitchFamily="49" charset="-122"/>
                  <a:ea typeface="楷体" panose="02010609060101010101" pitchFamily="49" charset="-122"/>
                </a:rPr>
                <a:t>数据分配器的功能及电路组成，数据选择器的功能，典型中规模集成数据选择器的功能及应用；</a:t>
              </a:r>
              <a:endParaRPr lang="zh-CN" altLang="zh-CN" sz="1600" dirty="0">
                <a:latin typeface="楷体" panose="02010609060101010101" pitchFamily="49" charset="-122"/>
                <a:ea typeface="楷体" panose="02010609060101010101" pitchFamily="49" charset="-122"/>
              </a:endParaRPr>
            </a:p>
            <a:p>
              <a:pPr marL="285750" indent="-285750">
                <a:lnSpc>
                  <a:spcPct val="150000"/>
                </a:lnSpc>
                <a:buFont typeface="Wingdings" panose="05000000000000000000" pitchFamily="2" charset="2"/>
                <a:buChar char="Ø"/>
              </a:pPr>
              <a:r>
                <a:rPr lang="zh-CN" altLang="zh-CN" sz="1600" dirty="0">
                  <a:latin typeface="楷体" panose="02010609060101010101" pitchFamily="49" charset="-122"/>
                  <a:ea typeface="楷体" panose="02010609060101010101" pitchFamily="49" charset="-122"/>
                </a:rPr>
                <a:t>数值比较器的功能，典型中规模集成数值比较器的功能及应用；</a:t>
              </a:r>
              <a:endParaRPr lang="zh-CN" altLang="zh-CN" sz="1600" dirty="0">
                <a:latin typeface="楷体" panose="02010609060101010101" pitchFamily="49" charset="-122"/>
                <a:ea typeface="楷体" panose="02010609060101010101" pitchFamily="49" charset="-122"/>
              </a:endParaRPr>
            </a:p>
            <a:p>
              <a:pPr marL="285750" indent="-285750">
                <a:lnSpc>
                  <a:spcPct val="150000"/>
                </a:lnSpc>
                <a:buFont typeface="Wingdings" panose="05000000000000000000" pitchFamily="2" charset="2"/>
                <a:buChar char="Ø"/>
              </a:pPr>
              <a:r>
                <a:rPr lang="zh-CN" altLang="zh-CN" sz="1600" dirty="0">
                  <a:latin typeface="楷体" panose="02010609060101010101" pitchFamily="49" charset="-122"/>
                  <a:ea typeface="楷体" panose="02010609060101010101" pitchFamily="49" charset="-122"/>
                </a:rPr>
                <a:t>二进制加法器的功能，典型中规模集成二进制超前进位加法器的功能及应用；</a:t>
              </a:r>
              <a:endParaRPr lang="zh-CN" altLang="zh-CN" sz="1600" dirty="0">
                <a:latin typeface="楷体" panose="02010609060101010101" pitchFamily="49" charset="-122"/>
                <a:ea typeface="楷体" panose="02010609060101010101" pitchFamily="49" charset="-122"/>
              </a:endParaRPr>
            </a:p>
            <a:p>
              <a:pPr marL="285750" indent="-285750">
                <a:lnSpc>
                  <a:spcPct val="150000"/>
                </a:lnSpc>
                <a:buFont typeface="Wingdings" panose="05000000000000000000" pitchFamily="2" charset="2"/>
                <a:buChar char="Ø"/>
              </a:pPr>
              <a:r>
                <a:rPr lang="zh-CN" altLang="zh-CN" sz="1600" dirty="0">
                  <a:latin typeface="楷体" panose="02010609060101010101" pitchFamily="49" charset="-122"/>
                  <a:ea typeface="楷体" panose="02010609060101010101" pitchFamily="49" charset="-122"/>
                </a:rPr>
                <a:t>组合逻辑电路竞争冒险产生的原因及其消除方法。</a:t>
              </a:r>
              <a:endParaRPr lang="zh-CN" altLang="zh-CN" sz="1600" dirty="0">
                <a:latin typeface="楷体" panose="02010609060101010101" pitchFamily="49" charset="-122"/>
                <a:ea typeface="楷体" panose="02010609060101010101" pitchFamily="49" charset="-122"/>
              </a:endParaRPr>
            </a:p>
          </p:txBody>
        </p:sp>
        <p:sp>
          <p:nvSpPr>
            <p:cNvPr id="5" name="平行四边形 4"/>
            <p:cNvSpPr/>
            <p:nvPr/>
          </p:nvSpPr>
          <p:spPr>
            <a:xfrm>
              <a:off x="256353" y="1058938"/>
              <a:ext cx="7344511" cy="374964"/>
            </a:xfrm>
            <a:prstGeom prst="parallelogram">
              <a:avLst>
                <a:gd name="adj" fmla="val 64377"/>
              </a:avLst>
            </a:prstGeom>
            <a:solidFill>
              <a:srgbClr val="005DA2"/>
            </a:solidFill>
            <a:ln w="15875" cap="flat" cmpd="sng" algn="ctr">
              <a:solidFill>
                <a:srgbClr val="005DA2"/>
              </a:solidFill>
              <a:prstDash val="solid"/>
            </a:ln>
            <a:effectLst>
              <a:outerShdw blurRad="50800" dist="38100" dir="2700000" algn="tl" rotWithShape="0">
                <a:prstClr val="black">
                  <a:alpha val="40000"/>
                </a:prstClr>
              </a:outerShdw>
            </a:effectLst>
          </p:spPr>
          <p:txBody>
            <a:bodyPr lIns="0" tIns="0" rIns="0" bIns="0" rtlCol="0" anchor="ctr"/>
            <a:lstStyle/>
            <a:p>
              <a:pPr defTabSz="914400">
                <a:defRPr/>
              </a:pPr>
              <a:r>
                <a:rPr lang="zh-CN" altLang="en-US" sz="2000" b="1" kern="1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内 容 提 要</a:t>
              </a:r>
              <a:endParaRPr lang="zh-CN" altLang="en-US" sz="2000" b="1" kern="0" dirty="0">
                <a:solidFill>
                  <a:schemeClr val="bg1"/>
                </a:solidFill>
                <a:latin typeface="Calibri" panose="020F0502020204030204"/>
              </a:endParaRPr>
            </a:p>
          </p:txBody>
        </p:sp>
      </p:gr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10"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fltVal val="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p:nvPr/>
        </p:nvSpPr>
        <p:spPr>
          <a:xfrm>
            <a:off x="1776072" y="2942729"/>
            <a:ext cx="5334509" cy="523220"/>
          </a:xfrm>
          <a:prstGeom prst="rect">
            <a:avLst/>
          </a:prstGeom>
        </p:spPr>
        <p:txBody>
          <a:bodyPr wrap="squar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spcBef>
                <a:spcPts val="600"/>
              </a:spcBef>
            </a:pPr>
            <a:r>
              <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4.1 </a:t>
            </a:r>
            <a:r>
              <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组合逻辑电路概述</a:t>
            </a:r>
            <a:endPar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grpSp>
        <p:nvGrpSpPr>
          <p:cNvPr id="43" name="组合 42"/>
          <p:cNvGrpSpPr/>
          <p:nvPr/>
        </p:nvGrpSpPr>
        <p:grpSpPr>
          <a:xfrm>
            <a:off x="1101090" y="1824567"/>
            <a:ext cx="1371600" cy="760000"/>
            <a:chOff x="910590" y="1565910"/>
            <a:chExt cx="1371600" cy="684000"/>
          </a:xfrm>
        </p:grpSpPr>
        <p:grpSp>
          <p:nvGrpSpPr>
            <p:cNvPr id="36" name="组合 35"/>
            <p:cNvGrpSpPr/>
            <p:nvPr/>
          </p:nvGrpSpPr>
          <p:grpSpPr>
            <a:xfrm>
              <a:off x="910590" y="1699260"/>
              <a:ext cx="1371600" cy="99060"/>
              <a:chOff x="910590" y="1699260"/>
              <a:chExt cx="1371600" cy="99060"/>
            </a:xfrm>
          </p:grpSpPr>
          <p:cxnSp>
            <p:nvCxnSpPr>
              <p:cNvPr id="29" name="直接连接符 28"/>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5" name="直接连接符 34"/>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37" name="组合 36"/>
            <p:cNvGrpSpPr/>
            <p:nvPr/>
          </p:nvGrpSpPr>
          <p:grpSpPr>
            <a:xfrm rot="5400000">
              <a:off x="728610" y="1866000"/>
              <a:ext cx="684000" cy="83820"/>
              <a:chOff x="910590" y="1699260"/>
              <a:chExt cx="1371600" cy="99060"/>
            </a:xfrm>
          </p:grpSpPr>
          <p:cxnSp>
            <p:nvCxnSpPr>
              <p:cNvPr id="38" name="直接连接符 3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42" name="直接连接符 4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44" name="组合 43"/>
          <p:cNvGrpSpPr/>
          <p:nvPr/>
        </p:nvGrpSpPr>
        <p:grpSpPr>
          <a:xfrm rot="10800000">
            <a:off x="6442710" y="3136900"/>
            <a:ext cx="1371600" cy="760000"/>
            <a:chOff x="910590" y="1565910"/>
            <a:chExt cx="1371600" cy="684000"/>
          </a:xfrm>
        </p:grpSpPr>
        <p:grpSp>
          <p:nvGrpSpPr>
            <p:cNvPr id="45" name="组合 35"/>
            <p:cNvGrpSpPr/>
            <p:nvPr/>
          </p:nvGrpSpPr>
          <p:grpSpPr>
            <a:xfrm>
              <a:off x="910590" y="1699260"/>
              <a:ext cx="1371600" cy="99060"/>
              <a:chOff x="910590" y="1699260"/>
              <a:chExt cx="1371600" cy="99060"/>
            </a:xfrm>
          </p:grpSpPr>
          <p:cxnSp>
            <p:nvCxnSpPr>
              <p:cNvPr id="49" name="直接连接符 48"/>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50" name="直接连接符 4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46" name="组合 36"/>
            <p:cNvGrpSpPr/>
            <p:nvPr/>
          </p:nvGrpSpPr>
          <p:grpSpPr>
            <a:xfrm rot="5400000">
              <a:off x="728610" y="1866000"/>
              <a:ext cx="684000" cy="83820"/>
              <a:chOff x="910590" y="1699260"/>
              <a:chExt cx="1371600" cy="99060"/>
            </a:xfrm>
          </p:grpSpPr>
          <p:cxnSp>
            <p:nvCxnSpPr>
              <p:cNvPr id="47" name="直接连接符 46"/>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48" name="直接连接符 47"/>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17" name="文本框 6"/>
          <p:cNvSpPr txBox="1"/>
          <p:nvPr/>
        </p:nvSpPr>
        <p:spPr>
          <a:xfrm>
            <a:off x="1393722" y="2157416"/>
            <a:ext cx="6150077" cy="746358"/>
          </a:xfrm>
          <a:prstGeom prst="rect">
            <a:avLst/>
          </a:prstGeom>
          <a:noFill/>
        </p:spPr>
        <p:txBody>
          <a:bodyPr wrap="square" rtlCol="0">
            <a:spAutoFit/>
          </a:bodyPr>
          <a:lstStyle/>
          <a:p>
            <a:pPr algn="ctr">
              <a:lnSpc>
                <a:spcPct val="125000"/>
              </a:lnSpc>
            </a:pP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4</a:t>
            </a: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  </a:t>
            </a:r>
            <a:r>
              <a:rPr lang="zh-CN" altLang="en-US"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组合逻辑电路</a:t>
            </a:r>
            <a:endPar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14:prism dir="u" isInverted="1"/>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圆角右箭头 18"/>
          <p:cNvSpPr/>
          <p:nvPr/>
        </p:nvSpPr>
        <p:spPr>
          <a:xfrm flipH="1" flipV="1">
            <a:off x="6671310" y="2651760"/>
            <a:ext cx="784860" cy="1546860"/>
          </a:xfrm>
          <a:prstGeom prst="bentArrow">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6" name="圆角右箭头 15"/>
          <p:cNvSpPr/>
          <p:nvPr/>
        </p:nvSpPr>
        <p:spPr>
          <a:xfrm flipV="1">
            <a:off x="1264920" y="2651760"/>
            <a:ext cx="758190" cy="1546860"/>
          </a:xfrm>
          <a:prstGeom prst="bentArrow">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左右箭头 12"/>
          <p:cNvSpPr/>
          <p:nvPr/>
        </p:nvSpPr>
        <p:spPr>
          <a:xfrm>
            <a:off x="1996440" y="1874520"/>
            <a:ext cx="4743450" cy="971550"/>
          </a:xfrm>
          <a:prstGeom prst="leftRightArrow">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圆角矩形 4"/>
          <p:cNvSpPr/>
          <p:nvPr/>
        </p:nvSpPr>
        <p:spPr>
          <a:xfrm>
            <a:off x="2994660" y="1573530"/>
            <a:ext cx="2693670" cy="1668780"/>
          </a:xfrm>
          <a:prstGeom prst="roundRect">
            <a:avLst>
              <a:gd name="adj" fmla="val 852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Rectangle 6"/>
          <p:cNvSpPr>
            <a:spLocks noChangeArrowheads="1"/>
          </p:cNvSpPr>
          <p:nvPr/>
        </p:nvSpPr>
        <p:spPr bwMode="auto">
          <a:xfrm>
            <a:off x="1858645" y="701675"/>
            <a:ext cx="4946650" cy="523220"/>
          </a:xfrm>
          <a:prstGeom prst="rect">
            <a:avLst/>
          </a:prstGeom>
          <a:noFill/>
          <a:ln w="9525">
            <a:noFill/>
            <a:miter lim="800000"/>
          </a:ln>
        </p:spPr>
        <p:txBody>
          <a:bodyPr>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defRPr/>
            </a:pPr>
            <a:r>
              <a:rPr lang="zh-CN" altLang="en-US" sz="2800" b="1" cap="all" dirty="0">
                <a:ln w="0"/>
                <a:solidFill>
                  <a:srgbClr val="6600FF"/>
                </a:solidFill>
                <a:effectLst>
                  <a:reflection blurRad="12700" stA="50000" endPos="50000" dist="5000" dir="5400000" sy="-100000" rotWithShape="0"/>
                </a:effectLst>
                <a:latin typeface="微软雅黑" panose="020B0503020204020204" pitchFamily="34" charset="-122"/>
                <a:ea typeface="微软雅黑" panose="020B0503020204020204" pitchFamily="34" charset="-122"/>
              </a:rPr>
              <a:t>组合逻辑电路概述</a:t>
            </a:r>
            <a:endParaRPr lang="zh-CN" altLang="en-US" sz="2800" b="1" cap="all" dirty="0">
              <a:ln w="0"/>
              <a:solidFill>
                <a:srgbClr val="6600FF"/>
              </a:solidFill>
              <a:effectLst>
                <a:reflection blurRad="12700" stA="50000" endPos="50000" dist="5000" dir="5400000" sy="-100000" rotWithShape="0"/>
              </a:effectLst>
              <a:latin typeface="微软雅黑" panose="020B0503020204020204" pitchFamily="34" charset="-122"/>
              <a:ea typeface="微软雅黑" panose="020B0503020204020204" pitchFamily="34" charset="-122"/>
            </a:endParaRPr>
          </a:p>
        </p:txBody>
      </p:sp>
      <p:sp>
        <p:nvSpPr>
          <p:cNvPr id="3" name="圆角矩形 2"/>
          <p:cNvSpPr/>
          <p:nvPr/>
        </p:nvSpPr>
        <p:spPr>
          <a:xfrm>
            <a:off x="3251836" y="1700487"/>
            <a:ext cx="2160000" cy="432000"/>
          </a:xfrm>
          <a:prstGeom prst="roundRect">
            <a:avLst/>
          </a:prstGeom>
          <a:solidFill>
            <a:srgbClr val="FFC000"/>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数字逻辑基础</a:t>
            </a:r>
            <a:endParaRPr lang="zh-CN" altLang="en-US" dirty="0">
              <a:solidFill>
                <a:srgbClr val="7030A0"/>
              </a:solidFill>
              <a:latin typeface="黑体" panose="02010609060101010101" pitchFamily="49" charset="-122"/>
              <a:ea typeface="黑体" panose="02010609060101010101" pitchFamily="49" charset="-122"/>
            </a:endParaRPr>
          </a:p>
        </p:txBody>
      </p:sp>
      <p:sp>
        <p:nvSpPr>
          <p:cNvPr id="4" name="圆角矩形 3"/>
          <p:cNvSpPr/>
          <p:nvPr/>
        </p:nvSpPr>
        <p:spPr>
          <a:xfrm>
            <a:off x="3251836" y="2188167"/>
            <a:ext cx="2160000" cy="432000"/>
          </a:xfrm>
          <a:prstGeom prst="roundRect">
            <a:avLst/>
          </a:prstGeom>
          <a:solidFill>
            <a:srgbClr val="66FF66"/>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逻辑代数</a:t>
            </a:r>
            <a:endParaRPr lang="zh-CN" altLang="en-US" dirty="0">
              <a:solidFill>
                <a:srgbClr val="7030A0"/>
              </a:solidFill>
              <a:latin typeface="黑体" panose="02010609060101010101" pitchFamily="49" charset="-122"/>
              <a:ea typeface="黑体" panose="02010609060101010101" pitchFamily="49" charset="-122"/>
            </a:endParaRPr>
          </a:p>
        </p:txBody>
      </p:sp>
      <p:sp>
        <p:nvSpPr>
          <p:cNvPr id="11" name="圆角矩形 10"/>
          <p:cNvSpPr/>
          <p:nvPr/>
        </p:nvSpPr>
        <p:spPr>
          <a:xfrm>
            <a:off x="3251836" y="2675847"/>
            <a:ext cx="2160000" cy="432000"/>
          </a:xfrm>
          <a:prstGeom prst="roundRect">
            <a:avLst/>
          </a:prstGeom>
          <a:solidFill>
            <a:srgbClr val="FFC000"/>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逻辑门电路</a:t>
            </a:r>
            <a:endParaRPr lang="zh-CN" altLang="en-US" dirty="0">
              <a:solidFill>
                <a:srgbClr val="7030A0"/>
              </a:solidFill>
              <a:latin typeface="黑体" panose="02010609060101010101" pitchFamily="49" charset="-122"/>
              <a:ea typeface="黑体" panose="02010609060101010101" pitchFamily="49" charset="-122"/>
            </a:endParaRPr>
          </a:p>
        </p:txBody>
      </p:sp>
      <p:sp>
        <p:nvSpPr>
          <p:cNvPr id="14" name="圆角矩形 13"/>
          <p:cNvSpPr/>
          <p:nvPr/>
        </p:nvSpPr>
        <p:spPr>
          <a:xfrm>
            <a:off x="807720" y="1905000"/>
            <a:ext cx="1177290" cy="914400"/>
          </a:xfrm>
          <a:prstGeom prst="round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dirty="0">
                <a:latin typeface="黑体" panose="02010609060101010101" pitchFamily="49" charset="-122"/>
                <a:ea typeface="黑体" panose="02010609060101010101" pitchFamily="49" charset="-122"/>
              </a:rPr>
              <a:t>组合逻辑电路</a:t>
            </a:r>
            <a:endParaRPr lang="zh-CN" altLang="en-US" dirty="0">
              <a:latin typeface="黑体" panose="02010609060101010101" pitchFamily="49" charset="-122"/>
              <a:ea typeface="黑体" panose="02010609060101010101" pitchFamily="49" charset="-122"/>
            </a:endParaRPr>
          </a:p>
        </p:txBody>
      </p:sp>
      <p:sp>
        <p:nvSpPr>
          <p:cNvPr id="15" name="圆角矩形 14"/>
          <p:cNvSpPr/>
          <p:nvPr/>
        </p:nvSpPr>
        <p:spPr>
          <a:xfrm>
            <a:off x="6751320" y="1901190"/>
            <a:ext cx="1177290" cy="91440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dirty="0">
                <a:latin typeface="黑体" panose="02010609060101010101" pitchFamily="49" charset="-122"/>
                <a:ea typeface="黑体" panose="02010609060101010101" pitchFamily="49" charset="-122"/>
              </a:rPr>
              <a:t>时序逻辑电路</a:t>
            </a:r>
            <a:endParaRPr lang="zh-CN" altLang="en-US" dirty="0">
              <a:latin typeface="黑体" panose="02010609060101010101" pitchFamily="49" charset="-122"/>
              <a:ea typeface="黑体" panose="02010609060101010101" pitchFamily="49" charset="-122"/>
            </a:endParaRPr>
          </a:p>
        </p:txBody>
      </p:sp>
      <p:sp>
        <p:nvSpPr>
          <p:cNvPr id="17" name="圆角矩形 16"/>
          <p:cNvSpPr/>
          <p:nvPr/>
        </p:nvSpPr>
        <p:spPr>
          <a:xfrm>
            <a:off x="2042160" y="3307080"/>
            <a:ext cx="2268000" cy="1440000"/>
          </a:xfrm>
          <a:prstGeom prst="round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zh-CN" altLang="en-US" sz="1600" dirty="0">
                <a:latin typeface="黑体" panose="02010609060101010101" pitchFamily="49" charset="-122"/>
                <a:ea typeface="黑体" panose="02010609060101010101" pitchFamily="49" charset="-122"/>
              </a:rPr>
              <a:t>电路在任意时刻的稳态输出</a:t>
            </a:r>
            <a:r>
              <a:rPr lang="zh-CN" altLang="en-US" sz="1600" dirty="0">
                <a:solidFill>
                  <a:srgbClr val="FF0000"/>
                </a:solidFill>
                <a:latin typeface="黑体" panose="02010609060101010101" pitchFamily="49" charset="-122"/>
                <a:ea typeface="黑体" panose="02010609060101010101" pitchFamily="49" charset="-122"/>
              </a:rPr>
              <a:t>仅</a:t>
            </a:r>
            <a:r>
              <a:rPr lang="zh-CN" altLang="en-US" sz="1600" dirty="0">
                <a:latin typeface="黑体" panose="02010609060101010101" pitchFamily="49" charset="-122"/>
                <a:ea typeface="黑体" panose="02010609060101010101" pitchFamily="49" charset="-122"/>
              </a:rPr>
              <a:t>取决于该时刻的输入信号组合，而与输入信号作用前电路原来的状态</a:t>
            </a:r>
            <a:r>
              <a:rPr lang="zh-CN" altLang="en-US" sz="1600" dirty="0">
                <a:solidFill>
                  <a:srgbClr val="FF0000"/>
                </a:solidFill>
                <a:latin typeface="黑体" panose="02010609060101010101" pitchFamily="49" charset="-122"/>
                <a:ea typeface="黑体" panose="02010609060101010101" pitchFamily="49" charset="-122"/>
              </a:rPr>
              <a:t>无关</a:t>
            </a:r>
            <a:r>
              <a:rPr lang="zh-CN" altLang="en-US" sz="1600" dirty="0">
                <a:latin typeface="黑体" panose="02010609060101010101" pitchFamily="49" charset="-122"/>
                <a:ea typeface="黑体" panose="02010609060101010101" pitchFamily="49" charset="-122"/>
              </a:rPr>
              <a:t>。</a:t>
            </a:r>
            <a:endParaRPr lang="zh-CN" altLang="en-US" sz="1600" dirty="0">
              <a:latin typeface="黑体" panose="02010609060101010101" pitchFamily="49" charset="-122"/>
              <a:ea typeface="黑体" panose="02010609060101010101" pitchFamily="49" charset="-122"/>
            </a:endParaRPr>
          </a:p>
        </p:txBody>
      </p:sp>
      <p:sp>
        <p:nvSpPr>
          <p:cNvPr id="20" name="圆角矩形 19"/>
          <p:cNvSpPr/>
          <p:nvPr/>
        </p:nvSpPr>
        <p:spPr>
          <a:xfrm>
            <a:off x="4396740" y="3303270"/>
            <a:ext cx="2268000" cy="1440000"/>
          </a:xfrm>
          <a:prstGeom prst="roundRect">
            <a:avLst/>
          </a:prstGeom>
        </p:spPr>
        <p:style>
          <a:lnRef idx="3">
            <a:schemeClr val="lt1"/>
          </a:lnRef>
          <a:fillRef idx="1">
            <a:schemeClr val="accent5"/>
          </a:fillRef>
          <a:effectRef idx="1">
            <a:schemeClr val="accent5"/>
          </a:effectRef>
          <a:fontRef idx="minor">
            <a:schemeClr val="lt1"/>
          </a:fontRef>
        </p:style>
        <p:txBody>
          <a:bodyPr rtlCol="0" anchor="ctr"/>
          <a:lstStyle/>
          <a:p>
            <a:pPr algn="ctr"/>
            <a:r>
              <a:rPr lang="zh-CN" altLang="en-US" sz="1600" dirty="0">
                <a:latin typeface="黑体" panose="02010609060101010101" pitchFamily="49" charset="-122"/>
                <a:ea typeface="黑体" panose="02010609060101010101" pitchFamily="49" charset="-122"/>
              </a:rPr>
              <a:t>电路在某一时刻的稳态输出</a:t>
            </a:r>
            <a:r>
              <a:rPr lang="zh-CN" altLang="en-US" sz="1600" dirty="0">
                <a:solidFill>
                  <a:srgbClr val="FF0000"/>
                </a:solidFill>
                <a:latin typeface="黑体" panose="02010609060101010101" pitchFamily="49" charset="-122"/>
                <a:ea typeface="黑体" panose="02010609060101010101" pitchFamily="49" charset="-122"/>
              </a:rPr>
              <a:t>不仅</a:t>
            </a:r>
            <a:r>
              <a:rPr lang="zh-CN" altLang="en-US" sz="1600" dirty="0">
                <a:latin typeface="黑体" panose="02010609060101010101" pitchFamily="49" charset="-122"/>
                <a:ea typeface="黑体" panose="02010609060101010101" pitchFamily="49" charset="-122"/>
              </a:rPr>
              <a:t>取决于该时刻的输入信号组合，还与输入信号作用前电路原来的状态</a:t>
            </a:r>
            <a:r>
              <a:rPr lang="zh-CN" altLang="en-US" sz="1600" dirty="0">
                <a:solidFill>
                  <a:srgbClr val="FF0000"/>
                </a:solidFill>
                <a:latin typeface="黑体" panose="02010609060101010101" pitchFamily="49" charset="-122"/>
                <a:ea typeface="黑体" panose="02010609060101010101" pitchFamily="49" charset="-122"/>
              </a:rPr>
              <a:t>有关</a:t>
            </a:r>
            <a:r>
              <a:rPr lang="zh-CN" altLang="en-US" sz="1600" dirty="0">
                <a:latin typeface="黑体" panose="02010609060101010101" pitchFamily="49" charset="-122"/>
                <a:ea typeface="黑体" panose="02010609060101010101" pitchFamily="49" charset="-122"/>
              </a:rPr>
              <a:t>。</a:t>
            </a:r>
            <a:endParaRPr lang="zh-CN" altLang="en-US" sz="1600"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14:prism dir="r"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1000"/>
                                        <p:tgtEl>
                                          <p:spTgt spid="2"/>
                                        </p:tgtEl>
                                      </p:cBhvr>
                                    </p:animEffect>
                                  </p:childTnLst>
                                </p:cTn>
                              </p:par>
                            </p:childTnLst>
                          </p:cTn>
                        </p:par>
                        <p:par>
                          <p:cTn id="8" fill="hold">
                            <p:stCondLst>
                              <p:cond delay="1000"/>
                            </p:stCondLst>
                            <p:childTnLst>
                              <p:par>
                                <p:cTn id="9" presetID="13" presetClass="entr" presetSubtype="16"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plus(in)">
                                      <p:cBhvr>
                                        <p:cTn id="11" dur="1000"/>
                                        <p:tgtEl>
                                          <p:spTgt spid="5"/>
                                        </p:tgtEl>
                                      </p:cBhvr>
                                    </p:animEffect>
                                  </p:childTnLst>
                                </p:cTn>
                              </p:par>
                            </p:childTnLst>
                          </p:cTn>
                        </p:par>
                        <p:par>
                          <p:cTn id="12" fill="hold">
                            <p:stCondLst>
                              <p:cond delay="2000"/>
                            </p:stCondLst>
                            <p:childTnLst>
                              <p:par>
                                <p:cTn id="13" presetID="4" presetClass="entr" presetSubtype="32" fill="hold" grpId="0" nodeType="after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ox(out)">
                                      <p:cBhvr>
                                        <p:cTn id="15" dur="1000"/>
                                        <p:tgtEl>
                                          <p:spTgt spid="3"/>
                                        </p:tgtEl>
                                      </p:cBhvr>
                                    </p:animEffect>
                                  </p:childTnLst>
                                </p:cTn>
                              </p:par>
                            </p:childTnLst>
                          </p:cTn>
                        </p:par>
                        <p:par>
                          <p:cTn id="16" fill="hold">
                            <p:stCondLst>
                              <p:cond delay="3000"/>
                            </p:stCondLst>
                            <p:childTnLst>
                              <p:par>
                                <p:cTn id="17" presetID="4" presetClass="entr" presetSubtype="32" fill="hold" grpId="0" nodeType="after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ox(out)">
                                      <p:cBhvr>
                                        <p:cTn id="19" dur="1000"/>
                                        <p:tgtEl>
                                          <p:spTgt spid="4"/>
                                        </p:tgtEl>
                                      </p:cBhvr>
                                    </p:animEffect>
                                  </p:childTnLst>
                                </p:cTn>
                              </p:par>
                            </p:childTnLst>
                          </p:cTn>
                        </p:par>
                        <p:par>
                          <p:cTn id="20" fill="hold">
                            <p:stCondLst>
                              <p:cond delay="4000"/>
                            </p:stCondLst>
                            <p:childTnLst>
                              <p:par>
                                <p:cTn id="21" presetID="4" presetClass="entr" presetSubtype="32" fill="hold" grpId="0" nodeType="after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ox(out)">
                                      <p:cBhvr>
                                        <p:cTn id="23" dur="1000"/>
                                        <p:tgtEl>
                                          <p:spTgt spid="11"/>
                                        </p:tgtEl>
                                      </p:cBhvr>
                                    </p:animEffect>
                                  </p:childTnLst>
                                </p:cTn>
                              </p:par>
                            </p:childTnLst>
                          </p:cTn>
                        </p:par>
                        <p:par>
                          <p:cTn id="24" fill="hold">
                            <p:stCondLst>
                              <p:cond delay="5000"/>
                            </p:stCondLst>
                            <p:childTnLst>
                              <p:par>
                                <p:cTn id="25" presetID="17" presetClass="entr" presetSubtype="10" fill="hold" grpId="0" nodeType="afterEffect">
                                  <p:stCondLst>
                                    <p:cond delay="0"/>
                                  </p:stCondLst>
                                  <p:childTnLst>
                                    <p:set>
                                      <p:cBhvr>
                                        <p:cTn id="26" dur="1" fill="hold">
                                          <p:stCondLst>
                                            <p:cond delay="0"/>
                                          </p:stCondLst>
                                        </p:cTn>
                                        <p:tgtEl>
                                          <p:spTgt spid="13"/>
                                        </p:tgtEl>
                                        <p:attrNameLst>
                                          <p:attrName>style.visibility</p:attrName>
                                        </p:attrNameLst>
                                      </p:cBhvr>
                                      <p:to>
                                        <p:strVal val="visible"/>
                                      </p:to>
                                    </p:set>
                                    <p:anim calcmode="lin" valueType="num">
                                      <p:cBhvr>
                                        <p:cTn id="27" dur="1000" fill="hold"/>
                                        <p:tgtEl>
                                          <p:spTgt spid="13"/>
                                        </p:tgtEl>
                                        <p:attrNameLst>
                                          <p:attrName>ppt_w</p:attrName>
                                        </p:attrNameLst>
                                      </p:cBhvr>
                                      <p:tavLst>
                                        <p:tav tm="0">
                                          <p:val>
                                            <p:fltVal val="0"/>
                                          </p:val>
                                        </p:tav>
                                        <p:tav tm="100000">
                                          <p:val>
                                            <p:strVal val="#ppt_w"/>
                                          </p:val>
                                        </p:tav>
                                      </p:tavLst>
                                    </p:anim>
                                    <p:anim calcmode="lin" valueType="num">
                                      <p:cBhvr>
                                        <p:cTn id="28" dur="1000" fill="hold"/>
                                        <p:tgtEl>
                                          <p:spTgt spid="13"/>
                                        </p:tgtEl>
                                        <p:attrNameLst>
                                          <p:attrName>ppt_h</p:attrName>
                                        </p:attrNameLst>
                                      </p:cBhvr>
                                      <p:tavLst>
                                        <p:tav tm="0">
                                          <p:val>
                                            <p:strVal val="#ppt_h"/>
                                          </p:val>
                                        </p:tav>
                                        <p:tav tm="100000">
                                          <p:val>
                                            <p:strVal val="#ppt_h"/>
                                          </p:val>
                                        </p:tav>
                                      </p:tavLst>
                                    </p:anim>
                                  </p:childTnLst>
                                </p:cTn>
                              </p:par>
                            </p:childTnLst>
                          </p:cTn>
                        </p:par>
                        <p:par>
                          <p:cTn id="29" fill="hold">
                            <p:stCondLst>
                              <p:cond delay="6000"/>
                            </p:stCondLst>
                            <p:childTnLst>
                              <p:par>
                                <p:cTn id="30" presetID="12" presetClass="entr" presetSubtype="2" fill="hold" grpId="0" nodeType="after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slide(fromRight)">
                                      <p:cBhvr>
                                        <p:cTn id="32" dur="1000"/>
                                        <p:tgtEl>
                                          <p:spTgt spid="14"/>
                                        </p:tgtEl>
                                      </p:cBhvr>
                                    </p:animEffect>
                                  </p:childTnLst>
                                </p:cTn>
                              </p:par>
                            </p:childTnLst>
                          </p:cTn>
                        </p:par>
                        <p:par>
                          <p:cTn id="33" fill="hold">
                            <p:stCondLst>
                              <p:cond delay="7000"/>
                            </p:stCondLst>
                            <p:childTnLst>
                              <p:par>
                                <p:cTn id="34" presetID="12" presetClass="entr" presetSubtype="8" fill="hold" grpId="0" nodeType="after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slide(fromLeft)">
                                      <p:cBhvr>
                                        <p:cTn id="36" dur="1000"/>
                                        <p:tgtEl>
                                          <p:spTgt spid="15"/>
                                        </p:tgtEl>
                                      </p:cBhvr>
                                    </p:animEffect>
                                  </p:childTnLst>
                                </p:cTn>
                              </p:par>
                            </p:childTnLst>
                          </p:cTn>
                        </p:par>
                        <p:par>
                          <p:cTn id="37" fill="hold">
                            <p:stCondLst>
                              <p:cond delay="8000"/>
                            </p:stCondLst>
                            <p:childTnLst>
                              <p:par>
                                <p:cTn id="38" presetID="22" presetClass="entr" presetSubtype="1" fill="hold" grpId="0" nodeType="after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wipe(up)">
                                      <p:cBhvr>
                                        <p:cTn id="40" dur="1000"/>
                                        <p:tgtEl>
                                          <p:spTgt spid="16"/>
                                        </p:tgtEl>
                                      </p:cBhvr>
                                    </p:animEffect>
                                  </p:childTnLst>
                                </p:cTn>
                              </p:par>
                            </p:childTnLst>
                          </p:cTn>
                        </p:par>
                        <p:par>
                          <p:cTn id="41" fill="hold">
                            <p:stCondLst>
                              <p:cond delay="9000"/>
                            </p:stCondLst>
                            <p:childTnLst>
                              <p:par>
                                <p:cTn id="42" presetID="22" presetClass="entr" presetSubtype="8" fill="hold" grpId="0" nodeType="after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wipe(left)">
                                      <p:cBhvr>
                                        <p:cTn id="44" dur="1000"/>
                                        <p:tgtEl>
                                          <p:spTgt spid="17"/>
                                        </p:tgtEl>
                                      </p:cBhvr>
                                    </p:animEffect>
                                  </p:childTnLst>
                                </p:cTn>
                              </p:par>
                            </p:childTnLst>
                          </p:cTn>
                        </p:par>
                        <p:par>
                          <p:cTn id="45" fill="hold">
                            <p:stCondLst>
                              <p:cond delay="10000"/>
                            </p:stCondLst>
                            <p:childTnLst>
                              <p:par>
                                <p:cTn id="46" presetID="22" presetClass="entr" presetSubtype="1" fill="hold" grpId="0" nodeType="after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wipe(up)">
                                      <p:cBhvr>
                                        <p:cTn id="48" dur="1000"/>
                                        <p:tgtEl>
                                          <p:spTgt spid="19"/>
                                        </p:tgtEl>
                                      </p:cBhvr>
                                    </p:animEffect>
                                  </p:childTnLst>
                                </p:cTn>
                              </p:par>
                            </p:childTnLst>
                          </p:cTn>
                        </p:par>
                        <p:par>
                          <p:cTn id="49" fill="hold">
                            <p:stCondLst>
                              <p:cond delay="11000"/>
                            </p:stCondLst>
                            <p:childTnLst>
                              <p:par>
                                <p:cTn id="50" presetID="22" presetClass="entr" presetSubtype="2" fill="hold" grpId="0" nodeType="after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wipe(right)">
                                      <p:cBhvr>
                                        <p:cTn id="52" dur="10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6" grpId="0" animBg="1"/>
      <p:bldP spid="13" grpId="0" animBg="1"/>
      <p:bldP spid="5" grpId="0" animBg="1"/>
      <p:bldP spid="2" grpId="0"/>
      <p:bldP spid="3" grpId="0" animBg="1"/>
      <p:bldP spid="4" grpId="0" animBg="1"/>
      <p:bldP spid="11" grpId="0" animBg="1"/>
      <p:bldP spid="14" grpId="0" animBg="1"/>
      <p:bldP spid="15" grpId="0" animBg="1"/>
      <p:bldP spid="17" grpId="0" animBg="1"/>
      <p:bldP spid="20"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0" name="组合 69"/>
          <p:cNvGrpSpPr/>
          <p:nvPr/>
        </p:nvGrpSpPr>
        <p:grpSpPr>
          <a:xfrm>
            <a:off x="392432" y="778617"/>
            <a:ext cx="3370624" cy="420971"/>
            <a:chOff x="670560" y="892917"/>
            <a:chExt cx="3370624" cy="420971"/>
          </a:xfrm>
        </p:grpSpPr>
        <p:sp>
          <p:nvSpPr>
            <p:cNvPr id="71" name="矩形 70"/>
            <p:cNvSpPr/>
            <p:nvPr/>
          </p:nvSpPr>
          <p:spPr>
            <a:xfrm>
              <a:off x="1035233" y="913778"/>
              <a:ext cx="3005951"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组合逻辑电路的一般结构</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75"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25" name="组合 24"/>
          <p:cNvGrpSpPr/>
          <p:nvPr/>
        </p:nvGrpSpPr>
        <p:grpSpPr>
          <a:xfrm>
            <a:off x="677177" y="4323595"/>
            <a:ext cx="5829993" cy="369332"/>
            <a:chOff x="716249" y="2575979"/>
            <a:chExt cx="5020174" cy="369332"/>
          </a:xfrm>
        </p:grpSpPr>
        <p:sp>
          <p:nvSpPr>
            <p:cNvPr id="26" name="矩形 25"/>
            <p:cNvSpPr/>
            <p:nvPr/>
          </p:nvSpPr>
          <p:spPr>
            <a:xfrm>
              <a:off x="1091551" y="2575979"/>
              <a:ext cx="4644872" cy="369332"/>
            </a:xfrm>
            <a:prstGeom prst="rect">
              <a:avLst/>
            </a:prstGeom>
          </p:spPr>
          <p:txBody>
            <a:bodyPr wrap="square">
              <a:spAutoFit/>
            </a:bodyPr>
            <a:lstStyle/>
            <a:p>
              <a:r>
                <a:rPr lang="zh-CN" altLang="en-US" dirty="0">
                  <a:latin typeface="黑体" panose="02010609060101010101" pitchFamily="49" charset="-122"/>
                  <a:ea typeface="黑体" panose="02010609060101010101" pitchFamily="49" charset="-122"/>
                </a:rPr>
                <a:t>信号是单向传输的，不存在反馈回路。</a:t>
              </a:r>
              <a:endParaRPr lang="zh-CN" altLang="en-US" dirty="0"/>
            </a:p>
          </p:txBody>
        </p:sp>
        <p:pic>
          <p:nvPicPr>
            <p:cNvPr id="33" name="Picture 5"/>
            <p:cNvPicPr>
              <a:picLocks noChangeArrowheads="1"/>
            </p:cNvPicPr>
            <p:nvPr/>
          </p:nvPicPr>
          <p:blipFill>
            <a:blip r:embed="rId2" cstate="print"/>
            <a:srcRect/>
            <a:stretch>
              <a:fillRect/>
            </a:stretch>
          </p:blipFill>
          <p:spPr bwMode="auto">
            <a:xfrm>
              <a:off x="716249" y="2595069"/>
              <a:ext cx="309994" cy="288000"/>
            </a:xfrm>
            <a:prstGeom prst="rect">
              <a:avLst/>
            </a:prstGeom>
            <a:noFill/>
            <a:ln w="9525">
              <a:noFill/>
              <a:miter lim="800000"/>
              <a:headEnd/>
              <a:tailEnd/>
            </a:ln>
          </p:spPr>
        </p:pic>
      </p:grpSp>
      <p:grpSp>
        <p:nvGrpSpPr>
          <p:cNvPr id="48" name="组合 47"/>
          <p:cNvGrpSpPr/>
          <p:nvPr/>
        </p:nvGrpSpPr>
        <p:grpSpPr>
          <a:xfrm>
            <a:off x="677178" y="3866892"/>
            <a:ext cx="5040000" cy="369332"/>
            <a:chOff x="716250" y="2564549"/>
            <a:chExt cx="5003056" cy="369332"/>
          </a:xfrm>
        </p:grpSpPr>
        <p:sp>
          <p:nvSpPr>
            <p:cNvPr id="49" name="矩形 48"/>
            <p:cNvSpPr/>
            <p:nvPr/>
          </p:nvSpPr>
          <p:spPr>
            <a:xfrm>
              <a:off x="1091551" y="2564549"/>
              <a:ext cx="4627755" cy="369332"/>
            </a:xfrm>
            <a:prstGeom prst="rect">
              <a:avLst/>
            </a:prstGeom>
          </p:spPr>
          <p:txBody>
            <a:bodyPr wrap="square">
              <a:spAutoFit/>
            </a:bodyPr>
            <a:lstStyle/>
            <a:p>
              <a:r>
                <a:rPr lang="zh-CN" altLang="en-US" dirty="0">
                  <a:latin typeface="黑体" panose="02010609060101010101" pitchFamily="49" charset="-122"/>
                  <a:ea typeface="黑体" panose="02010609060101010101" pitchFamily="49" charset="-122"/>
                </a:rPr>
                <a:t>由逻辑门电路构成，不包含任何记忆性元件。</a:t>
              </a:r>
              <a:endParaRPr lang="zh-CN" altLang="en-US" dirty="0">
                <a:latin typeface="黑体" panose="02010609060101010101" pitchFamily="49" charset="-122"/>
                <a:ea typeface="黑体" panose="02010609060101010101" pitchFamily="49" charset="-122"/>
              </a:endParaRPr>
            </a:p>
          </p:txBody>
        </p:sp>
        <p:pic>
          <p:nvPicPr>
            <p:cNvPr id="50" name="Picture 5"/>
            <p:cNvPicPr>
              <a:picLocks noChangeAspect="1" noChangeArrowheads="1"/>
            </p:cNvPicPr>
            <p:nvPr/>
          </p:nvPicPr>
          <p:blipFill>
            <a:blip r:embed="rId2" cstate="print"/>
            <a:srcRect/>
            <a:stretch>
              <a:fillRect/>
            </a:stretch>
          </p:blipFill>
          <p:spPr bwMode="auto">
            <a:xfrm>
              <a:off x="716250" y="2595070"/>
              <a:ext cx="357361" cy="286209"/>
            </a:xfrm>
            <a:prstGeom prst="rect">
              <a:avLst/>
            </a:prstGeom>
            <a:noFill/>
            <a:ln w="9525">
              <a:noFill/>
              <a:miter lim="800000"/>
              <a:headEnd/>
              <a:tailEnd/>
            </a:ln>
          </p:spPr>
        </p:pic>
      </p:grpSp>
      <p:grpSp>
        <p:nvGrpSpPr>
          <p:cNvPr id="54" name="组合 53"/>
          <p:cNvGrpSpPr/>
          <p:nvPr/>
        </p:nvGrpSpPr>
        <p:grpSpPr>
          <a:xfrm>
            <a:off x="541633" y="3371577"/>
            <a:ext cx="3374434" cy="420971"/>
            <a:chOff x="670560" y="892917"/>
            <a:chExt cx="3374434" cy="420971"/>
          </a:xfrm>
        </p:grpSpPr>
        <p:sp>
          <p:nvSpPr>
            <p:cNvPr id="55" name="矩形 54"/>
            <p:cNvSpPr/>
            <p:nvPr/>
          </p:nvSpPr>
          <p:spPr>
            <a:xfrm>
              <a:off x="1039043" y="913778"/>
              <a:ext cx="3005951"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组合逻辑电路的结构特点</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56"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61" name="组合 60"/>
          <p:cNvGrpSpPr/>
          <p:nvPr/>
        </p:nvGrpSpPr>
        <p:grpSpPr>
          <a:xfrm>
            <a:off x="1921307" y="2629802"/>
            <a:ext cx="4141246" cy="434340"/>
            <a:chOff x="1924050" y="2567940"/>
            <a:chExt cx="3935730" cy="441960"/>
          </a:xfrm>
        </p:grpSpPr>
        <p:sp>
          <p:nvSpPr>
            <p:cNvPr id="60" name="圆角矩形 59"/>
            <p:cNvSpPr/>
            <p:nvPr/>
          </p:nvSpPr>
          <p:spPr>
            <a:xfrm>
              <a:off x="1924050" y="2567940"/>
              <a:ext cx="3935730" cy="441960"/>
            </a:xfrm>
            <a:prstGeom prst="round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graphicFrame>
          <p:nvGraphicFramePr>
            <p:cNvPr id="57" name="对象 56"/>
            <p:cNvGraphicFramePr>
              <a:graphicFrameLocks noChangeAspect="1"/>
            </p:cNvGraphicFramePr>
            <p:nvPr/>
          </p:nvGraphicFramePr>
          <p:xfrm>
            <a:off x="1997504" y="2610130"/>
            <a:ext cx="3766741" cy="368300"/>
          </p:xfrm>
          <a:graphic>
            <a:graphicData uri="http://schemas.openxmlformats.org/presentationml/2006/ole">
              <mc:AlternateContent xmlns:mc="http://schemas.openxmlformats.org/markup-compatibility/2006">
                <mc:Choice xmlns:v="urn:schemas-microsoft-com:vml" Requires="v">
                  <p:oleObj spid="_x0000_s14357" name="公式" r:id="rId3" imgW="2717800" imgH="228600" progId="">
                    <p:embed/>
                  </p:oleObj>
                </mc:Choice>
                <mc:Fallback>
                  <p:oleObj name="公式" r:id="rId3" imgW="2717800" imgH="228600" progId="">
                    <p:embed/>
                    <p:pic>
                      <p:nvPicPr>
                        <p:cNvPr id="0"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97504" y="2610130"/>
                          <a:ext cx="3766741" cy="36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47" name="组合 46"/>
          <p:cNvGrpSpPr/>
          <p:nvPr/>
        </p:nvGrpSpPr>
        <p:grpSpPr>
          <a:xfrm>
            <a:off x="2320290" y="1369547"/>
            <a:ext cx="3422006" cy="954107"/>
            <a:chOff x="2076450" y="1363980"/>
            <a:chExt cx="3422006" cy="954107"/>
          </a:xfrm>
        </p:grpSpPr>
        <p:sp>
          <p:nvSpPr>
            <p:cNvPr id="27" name="圆角矩形 26"/>
            <p:cNvSpPr/>
            <p:nvPr/>
          </p:nvSpPr>
          <p:spPr>
            <a:xfrm>
              <a:off x="3063240" y="1405890"/>
              <a:ext cx="1398270" cy="895350"/>
            </a:xfrm>
            <a:prstGeom prst="roundRect">
              <a:avLst>
                <a:gd name="adj" fmla="val 0"/>
              </a:avLst>
            </a:prstGeom>
            <a:solidFill>
              <a:schemeClr val="accent2">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6600FF"/>
                  </a:solidFill>
                  <a:latin typeface="黑体" panose="02010609060101010101" pitchFamily="49" charset="-122"/>
                  <a:ea typeface="黑体" panose="02010609060101010101" pitchFamily="49" charset="-122"/>
                </a:rPr>
                <a:t>组合逻辑电路</a:t>
              </a:r>
              <a:endParaRPr lang="zh-CN" altLang="en-US" sz="2000" dirty="0">
                <a:solidFill>
                  <a:srgbClr val="6600FF"/>
                </a:solidFill>
                <a:latin typeface="黑体" panose="02010609060101010101" pitchFamily="49" charset="-122"/>
                <a:ea typeface="黑体" panose="02010609060101010101" pitchFamily="49" charset="-122"/>
              </a:endParaRPr>
            </a:p>
          </p:txBody>
        </p:sp>
        <p:grpSp>
          <p:nvGrpSpPr>
            <p:cNvPr id="37" name="组合 36"/>
            <p:cNvGrpSpPr/>
            <p:nvPr/>
          </p:nvGrpSpPr>
          <p:grpSpPr>
            <a:xfrm>
              <a:off x="2415540" y="1535430"/>
              <a:ext cx="647700" cy="636270"/>
              <a:chOff x="2468880" y="1527810"/>
              <a:chExt cx="647700" cy="636270"/>
            </a:xfrm>
          </p:grpSpPr>
          <p:cxnSp>
            <p:nvCxnSpPr>
              <p:cNvPr id="29" name="直接箭头连接符 28"/>
              <p:cNvCxnSpPr/>
              <p:nvPr/>
            </p:nvCxnSpPr>
            <p:spPr>
              <a:xfrm>
                <a:off x="2468880" y="1527810"/>
                <a:ext cx="63627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直接箭头连接符 30"/>
              <p:cNvCxnSpPr/>
              <p:nvPr/>
            </p:nvCxnSpPr>
            <p:spPr>
              <a:xfrm>
                <a:off x="2468880" y="1764030"/>
                <a:ext cx="63627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直接箭头连接符 31"/>
              <p:cNvCxnSpPr/>
              <p:nvPr/>
            </p:nvCxnSpPr>
            <p:spPr>
              <a:xfrm>
                <a:off x="2468880" y="2164080"/>
                <a:ext cx="63627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2603170" y="1828800"/>
                <a:ext cx="513410" cy="251031"/>
              </a:xfrm>
              <a:prstGeom prst="rect">
                <a:avLst/>
              </a:prstGeom>
              <a:noFill/>
            </p:spPr>
            <p:txBody>
              <a:bodyPr vert="wordArtVertRtl" wrap="square" rtlCol="0">
                <a:spAutoFit/>
              </a:bodyPr>
              <a:lstStyle/>
              <a:p>
                <a:r>
                  <a:rPr lang="en-US" altLang="zh-CN" dirty="0">
                    <a:solidFill>
                      <a:schemeClr val="accent1">
                        <a:lumMod val="75000"/>
                      </a:schemeClr>
                    </a:solidFill>
                  </a:rPr>
                  <a:t>…</a:t>
                </a:r>
                <a:endParaRPr lang="zh-CN" altLang="en-US" dirty="0">
                  <a:solidFill>
                    <a:schemeClr val="accent1">
                      <a:lumMod val="75000"/>
                    </a:schemeClr>
                  </a:solidFill>
                </a:endParaRPr>
              </a:p>
            </p:txBody>
          </p:sp>
        </p:grpSp>
        <p:sp>
          <p:nvSpPr>
            <p:cNvPr id="36" name="TextBox 35"/>
            <p:cNvSpPr txBox="1"/>
            <p:nvPr/>
          </p:nvSpPr>
          <p:spPr>
            <a:xfrm>
              <a:off x="2076450" y="1363980"/>
              <a:ext cx="372218" cy="954107"/>
            </a:xfrm>
            <a:prstGeom prst="rect">
              <a:avLst/>
            </a:prstGeom>
            <a:noFill/>
          </p:spPr>
          <p:txBody>
            <a:bodyPr wrap="none" rtlCol="0">
              <a:spAutoFit/>
            </a:bodyPr>
            <a:lstStyle/>
            <a:p>
              <a:r>
                <a:rPr lang="en-US" altLang="zh-CN" sz="1400" b="1" i="1" dirty="0">
                  <a:latin typeface="Times New Roman" panose="02020603050405020304" pitchFamily="18" charset="0"/>
                  <a:cs typeface="Times New Roman" panose="02020603050405020304" pitchFamily="18" charset="0"/>
                </a:rPr>
                <a:t>X</a:t>
              </a:r>
              <a:r>
                <a:rPr lang="en-US" altLang="zh-CN" sz="1400" b="1" baseline="-25000" dirty="0">
                  <a:latin typeface="Times New Roman" panose="02020603050405020304" pitchFamily="18" charset="0"/>
                  <a:cs typeface="Times New Roman" panose="02020603050405020304" pitchFamily="18" charset="0"/>
                </a:rPr>
                <a:t>1</a:t>
              </a:r>
              <a:endParaRPr lang="en-US" altLang="zh-CN" sz="1400" b="1" baseline="-25000" dirty="0">
                <a:latin typeface="Times New Roman" panose="02020603050405020304" pitchFamily="18" charset="0"/>
                <a:cs typeface="Times New Roman" panose="02020603050405020304" pitchFamily="18" charset="0"/>
              </a:endParaRPr>
            </a:p>
            <a:p>
              <a:r>
                <a:rPr lang="en-US" altLang="zh-CN" sz="1400" b="1" i="1" dirty="0">
                  <a:latin typeface="Times New Roman" panose="02020603050405020304" pitchFamily="18" charset="0"/>
                  <a:cs typeface="Times New Roman" panose="02020603050405020304" pitchFamily="18" charset="0"/>
                </a:rPr>
                <a:t>X</a:t>
              </a:r>
              <a:r>
                <a:rPr lang="en-US" altLang="zh-CN" sz="1400" b="1" baseline="-25000" dirty="0">
                  <a:latin typeface="Times New Roman" panose="02020603050405020304" pitchFamily="18" charset="0"/>
                  <a:cs typeface="Times New Roman" panose="02020603050405020304" pitchFamily="18" charset="0"/>
                </a:rPr>
                <a:t>2</a:t>
              </a:r>
              <a:endParaRPr lang="en-US" altLang="zh-CN" sz="1400" b="1" baseline="-25000" dirty="0">
                <a:latin typeface="Times New Roman" panose="02020603050405020304" pitchFamily="18" charset="0"/>
                <a:cs typeface="Times New Roman" panose="02020603050405020304" pitchFamily="18" charset="0"/>
              </a:endParaRPr>
            </a:p>
            <a:p>
              <a:endParaRPr lang="en-US" altLang="zh-CN" sz="1400" b="1" dirty="0">
                <a:latin typeface="Times New Roman" panose="02020603050405020304" pitchFamily="18" charset="0"/>
                <a:cs typeface="Times New Roman" panose="02020603050405020304" pitchFamily="18" charset="0"/>
              </a:endParaRPr>
            </a:p>
            <a:p>
              <a:r>
                <a:rPr lang="en-US" altLang="zh-CN" sz="1400" b="1" i="1" dirty="0" err="1">
                  <a:latin typeface="Times New Roman" panose="02020603050405020304" pitchFamily="18" charset="0"/>
                  <a:cs typeface="Times New Roman" panose="02020603050405020304" pitchFamily="18" charset="0"/>
                </a:rPr>
                <a:t>X</a:t>
              </a:r>
              <a:r>
                <a:rPr lang="en-US" altLang="zh-CN" sz="1400" b="1" baseline="-25000" dirty="0" err="1">
                  <a:latin typeface="Times New Roman" panose="02020603050405020304" pitchFamily="18" charset="0"/>
                  <a:cs typeface="Times New Roman" panose="02020603050405020304" pitchFamily="18" charset="0"/>
                </a:rPr>
                <a:t>n</a:t>
              </a:r>
              <a:endParaRPr lang="zh-CN" altLang="en-US" sz="1400" b="1" baseline="-25000" dirty="0">
                <a:latin typeface="Times New Roman" panose="02020603050405020304" pitchFamily="18" charset="0"/>
                <a:cs typeface="Times New Roman" panose="02020603050405020304" pitchFamily="18" charset="0"/>
              </a:endParaRPr>
            </a:p>
          </p:txBody>
        </p:sp>
        <p:grpSp>
          <p:nvGrpSpPr>
            <p:cNvPr id="39" name="组合 38"/>
            <p:cNvGrpSpPr/>
            <p:nvPr/>
          </p:nvGrpSpPr>
          <p:grpSpPr>
            <a:xfrm>
              <a:off x="4461510" y="1535430"/>
              <a:ext cx="647700" cy="636270"/>
              <a:chOff x="2468880" y="1527810"/>
              <a:chExt cx="647700" cy="636270"/>
            </a:xfrm>
          </p:grpSpPr>
          <p:cxnSp>
            <p:nvCxnSpPr>
              <p:cNvPr id="42" name="直接箭头连接符 41"/>
              <p:cNvCxnSpPr/>
              <p:nvPr/>
            </p:nvCxnSpPr>
            <p:spPr>
              <a:xfrm>
                <a:off x="2468880" y="1527810"/>
                <a:ext cx="63627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2468880" y="1764030"/>
                <a:ext cx="63627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a:off x="2468880" y="2164080"/>
                <a:ext cx="63627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5" name="TextBox 44"/>
              <p:cNvSpPr txBox="1"/>
              <p:nvPr/>
            </p:nvSpPr>
            <p:spPr>
              <a:xfrm>
                <a:off x="2603170" y="1828800"/>
                <a:ext cx="513410" cy="251031"/>
              </a:xfrm>
              <a:prstGeom prst="rect">
                <a:avLst/>
              </a:prstGeom>
              <a:noFill/>
            </p:spPr>
            <p:txBody>
              <a:bodyPr vert="wordArtVertRtl" wrap="square" rtlCol="0">
                <a:spAutoFit/>
              </a:bodyPr>
              <a:lstStyle/>
              <a:p>
                <a:r>
                  <a:rPr lang="en-US" altLang="zh-CN" dirty="0">
                    <a:solidFill>
                      <a:schemeClr val="accent1">
                        <a:lumMod val="75000"/>
                      </a:schemeClr>
                    </a:solidFill>
                  </a:rPr>
                  <a:t>…</a:t>
                </a:r>
                <a:endParaRPr lang="zh-CN" altLang="en-US" dirty="0">
                  <a:solidFill>
                    <a:schemeClr val="accent1">
                      <a:lumMod val="75000"/>
                    </a:schemeClr>
                  </a:solidFill>
                </a:endParaRPr>
              </a:p>
            </p:txBody>
          </p:sp>
        </p:grpSp>
        <p:sp>
          <p:nvSpPr>
            <p:cNvPr id="46" name="TextBox 45"/>
            <p:cNvSpPr txBox="1"/>
            <p:nvPr/>
          </p:nvSpPr>
          <p:spPr>
            <a:xfrm>
              <a:off x="5105400" y="1363980"/>
              <a:ext cx="393056" cy="954107"/>
            </a:xfrm>
            <a:prstGeom prst="rect">
              <a:avLst/>
            </a:prstGeom>
            <a:noFill/>
          </p:spPr>
          <p:txBody>
            <a:bodyPr wrap="none" rtlCol="0">
              <a:spAutoFit/>
            </a:bodyPr>
            <a:lstStyle/>
            <a:p>
              <a:r>
                <a:rPr lang="en-US" altLang="zh-CN" sz="1400" b="1" i="1" dirty="0">
                  <a:latin typeface="Times New Roman" panose="02020603050405020304" pitchFamily="18" charset="0"/>
                  <a:cs typeface="Times New Roman" panose="02020603050405020304" pitchFamily="18" charset="0"/>
                </a:rPr>
                <a:t>L</a:t>
              </a:r>
              <a:r>
                <a:rPr lang="en-US" altLang="zh-CN" sz="1400" b="1" baseline="-25000" dirty="0">
                  <a:latin typeface="Times New Roman" panose="02020603050405020304" pitchFamily="18" charset="0"/>
                  <a:cs typeface="Times New Roman" panose="02020603050405020304" pitchFamily="18" charset="0"/>
                </a:rPr>
                <a:t>1</a:t>
              </a:r>
              <a:endParaRPr lang="en-US" altLang="zh-CN" sz="1400" b="1" baseline="-25000" dirty="0">
                <a:latin typeface="Times New Roman" panose="02020603050405020304" pitchFamily="18" charset="0"/>
                <a:cs typeface="Times New Roman" panose="02020603050405020304" pitchFamily="18" charset="0"/>
              </a:endParaRPr>
            </a:p>
            <a:p>
              <a:r>
                <a:rPr lang="en-US" altLang="zh-CN" sz="1400" b="1" i="1" dirty="0">
                  <a:latin typeface="Times New Roman" panose="02020603050405020304" pitchFamily="18" charset="0"/>
                  <a:cs typeface="Times New Roman" panose="02020603050405020304" pitchFamily="18" charset="0"/>
                </a:rPr>
                <a:t>L</a:t>
              </a:r>
              <a:r>
                <a:rPr lang="en-US" altLang="zh-CN" sz="1400" b="1" baseline="-25000" dirty="0">
                  <a:latin typeface="Times New Roman" panose="02020603050405020304" pitchFamily="18" charset="0"/>
                  <a:cs typeface="Times New Roman" panose="02020603050405020304" pitchFamily="18" charset="0"/>
                </a:rPr>
                <a:t>2</a:t>
              </a:r>
              <a:endParaRPr lang="en-US" altLang="zh-CN" sz="1400" b="1" baseline="-25000" dirty="0">
                <a:latin typeface="Times New Roman" panose="02020603050405020304" pitchFamily="18" charset="0"/>
                <a:cs typeface="Times New Roman" panose="02020603050405020304" pitchFamily="18" charset="0"/>
              </a:endParaRPr>
            </a:p>
            <a:p>
              <a:endParaRPr lang="en-US" altLang="zh-CN" sz="1400" b="1" dirty="0">
                <a:latin typeface="Times New Roman" panose="02020603050405020304" pitchFamily="18" charset="0"/>
                <a:cs typeface="Times New Roman" panose="02020603050405020304" pitchFamily="18" charset="0"/>
              </a:endParaRPr>
            </a:p>
            <a:p>
              <a:r>
                <a:rPr lang="en-US" altLang="zh-CN" sz="1400" b="1" i="1" dirty="0">
                  <a:latin typeface="Times New Roman" panose="02020603050405020304" pitchFamily="18" charset="0"/>
                  <a:cs typeface="Times New Roman" panose="02020603050405020304" pitchFamily="18" charset="0"/>
                </a:rPr>
                <a:t>L</a:t>
              </a:r>
              <a:r>
                <a:rPr lang="en-US" altLang="zh-CN" sz="1400" b="1" baseline="-25000" dirty="0">
                  <a:latin typeface="Times New Roman" panose="02020603050405020304" pitchFamily="18" charset="0"/>
                  <a:cs typeface="Times New Roman" panose="02020603050405020304" pitchFamily="18" charset="0"/>
                </a:rPr>
                <a:t>m</a:t>
              </a:r>
              <a:endParaRPr lang="zh-CN" altLang="en-US" sz="1400" b="1" baseline="-25000" dirty="0">
                <a:latin typeface="Times New Roman" panose="02020603050405020304" pitchFamily="18" charset="0"/>
                <a:cs typeface="Times New Roman" panose="02020603050405020304" pitchFamily="18" charset="0"/>
              </a:endParaRPr>
            </a:p>
          </p:txBody>
        </p:sp>
      </p:grpSp>
      <p:grpSp>
        <p:nvGrpSpPr>
          <p:cNvPr id="38" name="组合 37"/>
          <p:cNvGrpSpPr/>
          <p:nvPr/>
        </p:nvGrpSpPr>
        <p:grpSpPr>
          <a:xfrm>
            <a:off x="1611630" y="1384935"/>
            <a:ext cx="750570" cy="923330"/>
            <a:chOff x="1611630" y="1384935"/>
            <a:chExt cx="750570" cy="923330"/>
          </a:xfrm>
        </p:grpSpPr>
        <p:sp>
          <p:nvSpPr>
            <p:cNvPr id="66" name="左大括号 65"/>
            <p:cNvSpPr/>
            <p:nvPr/>
          </p:nvSpPr>
          <p:spPr>
            <a:xfrm>
              <a:off x="2228850" y="1454170"/>
              <a:ext cx="133350" cy="784860"/>
            </a:xfrm>
            <a:prstGeom prst="leftBrace">
              <a:avLst>
                <a:gd name="adj1" fmla="val 71190"/>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7" name="TextBox 66"/>
            <p:cNvSpPr txBox="1"/>
            <p:nvPr/>
          </p:nvSpPr>
          <p:spPr>
            <a:xfrm>
              <a:off x="1611630" y="1384935"/>
              <a:ext cx="646331" cy="923330"/>
            </a:xfrm>
            <a:prstGeom prst="rect">
              <a:avLst/>
            </a:prstGeom>
            <a:noFill/>
          </p:spPr>
          <p:txBody>
            <a:bodyPr wrap="none" rtlCol="0">
              <a:spAutoFit/>
            </a:bodyPr>
            <a:lstStyle/>
            <a:p>
              <a:r>
                <a:rPr lang="zh-CN" altLang="en-US" dirty="0">
                  <a:latin typeface="黑体" panose="02010609060101010101" pitchFamily="49" charset="-122"/>
                  <a:ea typeface="黑体" panose="02010609060101010101" pitchFamily="49" charset="-122"/>
                </a:rPr>
                <a:t>输入</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逻辑</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变量</a:t>
              </a:r>
              <a:endParaRPr lang="zh-CN" altLang="en-US" dirty="0">
                <a:latin typeface="黑体" panose="02010609060101010101" pitchFamily="49" charset="-122"/>
                <a:ea typeface="黑体" panose="02010609060101010101" pitchFamily="49" charset="-122"/>
              </a:endParaRPr>
            </a:p>
          </p:txBody>
        </p:sp>
      </p:grpSp>
      <p:grpSp>
        <p:nvGrpSpPr>
          <p:cNvPr id="40" name="组合 39"/>
          <p:cNvGrpSpPr/>
          <p:nvPr/>
        </p:nvGrpSpPr>
        <p:grpSpPr>
          <a:xfrm>
            <a:off x="5665470" y="1384935"/>
            <a:ext cx="768251" cy="923330"/>
            <a:chOff x="5665470" y="1384935"/>
            <a:chExt cx="768251" cy="923330"/>
          </a:xfrm>
        </p:grpSpPr>
        <p:sp>
          <p:nvSpPr>
            <p:cNvPr id="68" name="TextBox 67"/>
            <p:cNvSpPr txBox="1"/>
            <p:nvPr/>
          </p:nvSpPr>
          <p:spPr>
            <a:xfrm>
              <a:off x="5787390" y="1384935"/>
              <a:ext cx="646331" cy="923330"/>
            </a:xfrm>
            <a:prstGeom prst="rect">
              <a:avLst/>
            </a:prstGeom>
            <a:noFill/>
          </p:spPr>
          <p:txBody>
            <a:bodyPr wrap="none" rtlCol="0">
              <a:spAutoFit/>
            </a:bodyPr>
            <a:lstStyle/>
            <a:p>
              <a:r>
                <a:rPr lang="zh-CN" altLang="en-US" dirty="0">
                  <a:latin typeface="黑体" panose="02010609060101010101" pitchFamily="49" charset="-122"/>
                  <a:ea typeface="黑体" panose="02010609060101010101" pitchFamily="49" charset="-122"/>
                </a:rPr>
                <a:t>输出</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逻辑</a:t>
              </a:r>
              <a:endParaRPr lang="en-US" altLang="zh-CN" dirty="0">
                <a:latin typeface="黑体" panose="02010609060101010101" pitchFamily="49" charset="-122"/>
                <a:ea typeface="黑体" panose="02010609060101010101" pitchFamily="49" charset="-122"/>
              </a:endParaRPr>
            </a:p>
            <a:p>
              <a:r>
                <a:rPr lang="zh-CN" altLang="en-US" dirty="0">
                  <a:latin typeface="黑体" panose="02010609060101010101" pitchFamily="49" charset="-122"/>
                  <a:ea typeface="黑体" panose="02010609060101010101" pitchFamily="49" charset="-122"/>
                </a:rPr>
                <a:t>函数</a:t>
              </a:r>
              <a:endParaRPr lang="zh-CN" altLang="en-US" dirty="0">
                <a:latin typeface="黑体" panose="02010609060101010101" pitchFamily="49" charset="-122"/>
                <a:ea typeface="黑体" panose="02010609060101010101" pitchFamily="49" charset="-122"/>
              </a:endParaRPr>
            </a:p>
          </p:txBody>
        </p:sp>
        <p:sp>
          <p:nvSpPr>
            <p:cNvPr id="69" name="左大括号 68"/>
            <p:cNvSpPr/>
            <p:nvPr/>
          </p:nvSpPr>
          <p:spPr>
            <a:xfrm flipH="1">
              <a:off x="5665470" y="1454170"/>
              <a:ext cx="133350" cy="784860"/>
            </a:xfrm>
            <a:prstGeom prst="leftBrace">
              <a:avLst>
                <a:gd name="adj1" fmla="val 71190"/>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cSld>
  <p:clrMapOvr>
    <a:masterClrMapping/>
  </p:clrMapOvr>
  <mc:AlternateContent xmlns:mc="http://schemas.openxmlformats.org/markup-compatibility/2006">
    <mc:Choice xmlns:p14="http://schemas.microsoft.com/office/powerpoint/2010/main" Requires="p14">
      <p:transition spd="slow" p14:dur="1600">
        <p14:prism dir="d"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0"/>
                                        </p:tgtEl>
                                        <p:attrNameLst>
                                          <p:attrName>style.visibility</p:attrName>
                                        </p:attrNameLst>
                                      </p:cBhvr>
                                      <p:to>
                                        <p:strVal val="visible"/>
                                      </p:to>
                                    </p:set>
                                    <p:animEffect transition="in" filter="wipe(left)">
                                      <p:cBhvr>
                                        <p:cTn id="7" dur="500"/>
                                        <p:tgtEl>
                                          <p:spTgt spid="70"/>
                                        </p:tgtEl>
                                      </p:cBhvr>
                                    </p:animEffect>
                                  </p:childTnLst>
                                </p:cTn>
                              </p:par>
                            </p:childTnLst>
                          </p:cTn>
                        </p:par>
                        <p:par>
                          <p:cTn id="8" fill="hold">
                            <p:stCondLst>
                              <p:cond delay="500"/>
                            </p:stCondLst>
                            <p:childTnLst>
                              <p:par>
                                <p:cTn id="9" presetID="12" presetClass="entr" presetSubtype="4"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slide(fromBottom)">
                                      <p:cBhvr>
                                        <p:cTn id="11" dur="1000"/>
                                        <p:tgtEl>
                                          <p:spTgt spid="47"/>
                                        </p:tgtEl>
                                      </p:cBhvr>
                                    </p:animEffect>
                                  </p:childTnLst>
                                </p:cTn>
                              </p:par>
                            </p:childTnLst>
                          </p:cTn>
                        </p:par>
                        <p:par>
                          <p:cTn id="12" fill="hold">
                            <p:stCondLst>
                              <p:cond delay="1500"/>
                            </p:stCondLst>
                            <p:childTnLst>
                              <p:par>
                                <p:cTn id="13" presetID="12" presetClass="entr" presetSubtype="8" fill="hold" nodeType="afterEffect">
                                  <p:stCondLst>
                                    <p:cond delay="0"/>
                                  </p:stCondLst>
                                  <p:childTnLst>
                                    <p:set>
                                      <p:cBhvr>
                                        <p:cTn id="14" dur="1" fill="hold">
                                          <p:stCondLst>
                                            <p:cond delay="0"/>
                                          </p:stCondLst>
                                        </p:cTn>
                                        <p:tgtEl>
                                          <p:spTgt spid="38"/>
                                        </p:tgtEl>
                                        <p:attrNameLst>
                                          <p:attrName>style.visibility</p:attrName>
                                        </p:attrNameLst>
                                      </p:cBhvr>
                                      <p:to>
                                        <p:strVal val="visible"/>
                                      </p:to>
                                    </p:set>
                                    <p:animEffect transition="in" filter="slide(fromLeft)">
                                      <p:cBhvr>
                                        <p:cTn id="15" dur="1000"/>
                                        <p:tgtEl>
                                          <p:spTgt spid="38"/>
                                        </p:tgtEl>
                                      </p:cBhvr>
                                    </p:animEffect>
                                  </p:childTnLst>
                                </p:cTn>
                              </p:par>
                            </p:childTnLst>
                          </p:cTn>
                        </p:par>
                        <p:par>
                          <p:cTn id="16" fill="hold">
                            <p:stCondLst>
                              <p:cond delay="2500"/>
                            </p:stCondLst>
                            <p:childTnLst>
                              <p:par>
                                <p:cTn id="17" presetID="12" presetClass="entr" presetSubtype="2" fill="hold" nodeType="afterEffect">
                                  <p:stCondLst>
                                    <p:cond delay="0"/>
                                  </p:stCondLst>
                                  <p:childTnLst>
                                    <p:set>
                                      <p:cBhvr>
                                        <p:cTn id="18" dur="1" fill="hold">
                                          <p:stCondLst>
                                            <p:cond delay="0"/>
                                          </p:stCondLst>
                                        </p:cTn>
                                        <p:tgtEl>
                                          <p:spTgt spid="40"/>
                                        </p:tgtEl>
                                        <p:attrNameLst>
                                          <p:attrName>style.visibility</p:attrName>
                                        </p:attrNameLst>
                                      </p:cBhvr>
                                      <p:to>
                                        <p:strVal val="visible"/>
                                      </p:to>
                                    </p:set>
                                    <p:animEffect transition="in" filter="slide(fromRight)">
                                      <p:cBhvr>
                                        <p:cTn id="19" dur="1000"/>
                                        <p:tgtEl>
                                          <p:spTgt spid="40"/>
                                        </p:tgtEl>
                                      </p:cBhvr>
                                    </p:animEffect>
                                  </p:childTnLst>
                                </p:cTn>
                              </p:par>
                            </p:childTnLst>
                          </p:cTn>
                        </p:par>
                        <p:par>
                          <p:cTn id="20" fill="hold">
                            <p:stCondLst>
                              <p:cond delay="3500"/>
                            </p:stCondLst>
                            <p:childTnLst>
                              <p:par>
                                <p:cTn id="21" presetID="12" presetClass="entr" presetSubtype="4" fill="hold" nodeType="afterEffect">
                                  <p:stCondLst>
                                    <p:cond delay="0"/>
                                  </p:stCondLst>
                                  <p:childTnLst>
                                    <p:set>
                                      <p:cBhvr>
                                        <p:cTn id="22" dur="1" fill="hold">
                                          <p:stCondLst>
                                            <p:cond delay="0"/>
                                          </p:stCondLst>
                                        </p:cTn>
                                        <p:tgtEl>
                                          <p:spTgt spid="61"/>
                                        </p:tgtEl>
                                        <p:attrNameLst>
                                          <p:attrName>style.visibility</p:attrName>
                                        </p:attrNameLst>
                                      </p:cBhvr>
                                      <p:to>
                                        <p:strVal val="visible"/>
                                      </p:to>
                                    </p:set>
                                    <p:animEffect transition="in" filter="slide(fromBottom)">
                                      <p:cBhvr>
                                        <p:cTn id="23" dur="1000"/>
                                        <p:tgtEl>
                                          <p:spTgt spid="61"/>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54"/>
                                        </p:tgtEl>
                                        <p:attrNameLst>
                                          <p:attrName>style.visibility</p:attrName>
                                        </p:attrNameLst>
                                      </p:cBhvr>
                                      <p:to>
                                        <p:strVal val="visible"/>
                                      </p:to>
                                    </p:set>
                                    <p:animEffect transition="in" filter="wipe(left)">
                                      <p:cBhvr>
                                        <p:cTn id="28" dur="500"/>
                                        <p:tgtEl>
                                          <p:spTgt spid="54"/>
                                        </p:tgtEl>
                                      </p:cBhvr>
                                    </p:animEffect>
                                  </p:childTnLst>
                                </p:cTn>
                              </p:par>
                            </p:childTnLst>
                          </p:cTn>
                        </p:par>
                        <p:par>
                          <p:cTn id="29" fill="hold">
                            <p:stCondLst>
                              <p:cond delay="500"/>
                            </p:stCondLst>
                            <p:childTnLst>
                              <p:par>
                                <p:cTn id="30" presetID="12" presetClass="entr" presetSubtype="4" fill="hold" nodeType="afterEffect">
                                  <p:stCondLst>
                                    <p:cond delay="0"/>
                                  </p:stCondLst>
                                  <p:childTnLst>
                                    <p:set>
                                      <p:cBhvr>
                                        <p:cTn id="31" dur="1" fill="hold">
                                          <p:stCondLst>
                                            <p:cond delay="0"/>
                                          </p:stCondLst>
                                        </p:cTn>
                                        <p:tgtEl>
                                          <p:spTgt spid="48"/>
                                        </p:tgtEl>
                                        <p:attrNameLst>
                                          <p:attrName>style.visibility</p:attrName>
                                        </p:attrNameLst>
                                      </p:cBhvr>
                                      <p:to>
                                        <p:strVal val="visible"/>
                                      </p:to>
                                    </p:set>
                                    <p:animEffect transition="in" filter="slide(fromBottom)">
                                      <p:cBhvr>
                                        <p:cTn id="32" dur="1000"/>
                                        <p:tgtEl>
                                          <p:spTgt spid="48"/>
                                        </p:tgtEl>
                                      </p:cBhvr>
                                    </p:animEffect>
                                  </p:childTnLst>
                                </p:cTn>
                              </p:par>
                            </p:childTnLst>
                          </p:cTn>
                        </p:par>
                        <p:par>
                          <p:cTn id="33" fill="hold">
                            <p:stCondLst>
                              <p:cond delay="1500"/>
                            </p:stCondLst>
                            <p:childTnLst>
                              <p:par>
                                <p:cTn id="34" presetID="12" presetClass="entr" presetSubtype="4" fill="hold" nodeType="after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slide(fromBottom)">
                                      <p:cBhvr>
                                        <p:cTn id="36"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27496" y="893082"/>
            <a:ext cx="3374434" cy="420971"/>
            <a:chOff x="670560" y="892917"/>
            <a:chExt cx="3374434" cy="420971"/>
          </a:xfrm>
        </p:grpSpPr>
        <p:sp>
          <p:nvSpPr>
            <p:cNvPr id="3" name="矩形 2"/>
            <p:cNvSpPr/>
            <p:nvPr/>
          </p:nvSpPr>
          <p:spPr>
            <a:xfrm>
              <a:off x="1039043" y="913778"/>
              <a:ext cx="3005951"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组合逻辑电路的表示方法</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15" name="组合 14"/>
          <p:cNvGrpSpPr/>
          <p:nvPr/>
        </p:nvGrpSpPr>
        <p:grpSpPr>
          <a:xfrm>
            <a:off x="1443990" y="1586187"/>
            <a:ext cx="3213466" cy="2927550"/>
            <a:chOff x="1021080" y="1620477"/>
            <a:chExt cx="3213466" cy="2927550"/>
          </a:xfrm>
        </p:grpSpPr>
        <p:sp>
          <p:nvSpPr>
            <p:cNvPr id="6" name="圆角矩形 5"/>
            <p:cNvSpPr/>
            <p:nvPr/>
          </p:nvSpPr>
          <p:spPr>
            <a:xfrm>
              <a:off x="2051686" y="1620477"/>
              <a:ext cx="2160000" cy="432000"/>
            </a:xfrm>
            <a:prstGeom prst="roundRect">
              <a:avLst/>
            </a:prstGeom>
            <a:solidFill>
              <a:srgbClr val="FFC000"/>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逻辑图</a:t>
              </a:r>
              <a:endParaRPr lang="zh-CN" altLang="en-US" dirty="0">
                <a:solidFill>
                  <a:srgbClr val="7030A0"/>
                </a:solidFill>
                <a:latin typeface="黑体" panose="02010609060101010101" pitchFamily="49" charset="-122"/>
                <a:ea typeface="黑体" panose="02010609060101010101" pitchFamily="49" charset="-122"/>
              </a:endParaRPr>
            </a:p>
          </p:txBody>
        </p:sp>
        <p:sp>
          <p:nvSpPr>
            <p:cNvPr id="7" name="圆角矩形 6"/>
            <p:cNvSpPr/>
            <p:nvPr/>
          </p:nvSpPr>
          <p:spPr>
            <a:xfrm>
              <a:off x="2051686" y="2119587"/>
              <a:ext cx="2160000" cy="432000"/>
            </a:xfrm>
            <a:prstGeom prst="roundRect">
              <a:avLst/>
            </a:prstGeom>
            <a:solidFill>
              <a:srgbClr val="66FF66"/>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逻辑表达式</a:t>
              </a:r>
              <a:endParaRPr lang="zh-CN" altLang="en-US" dirty="0">
                <a:solidFill>
                  <a:srgbClr val="7030A0"/>
                </a:solidFill>
                <a:latin typeface="黑体" panose="02010609060101010101" pitchFamily="49" charset="-122"/>
                <a:ea typeface="黑体" panose="02010609060101010101" pitchFamily="49" charset="-122"/>
              </a:endParaRPr>
            </a:p>
          </p:txBody>
        </p:sp>
        <p:sp>
          <p:nvSpPr>
            <p:cNvPr id="8" name="圆角矩形 7"/>
            <p:cNvSpPr/>
            <p:nvPr/>
          </p:nvSpPr>
          <p:spPr>
            <a:xfrm>
              <a:off x="2051686" y="2618697"/>
              <a:ext cx="2160000" cy="432000"/>
            </a:xfrm>
            <a:prstGeom prst="roundRect">
              <a:avLst/>
            </a:prstGeom>
            <a:solidFill>
              <a:schemeClr val="accent2">
                <a:lumMod val="60000"/>
                <a:lumOff val="40000"/>
              </a:schemeClr>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逻辑真值表</a:t>
              </a:r>
              <a:endParaRPr lang="zh-CN" altLang="en-US" dirty="0">
                <a:solidFill>
                  <a:srgbClr val="7030A0"/>
                </a:solidFill>
                <a:latin typeface="黑体" panose="02010609060101010101" pitchFamily="49" charset="-122"/>
                <a:ea typeface="黑体" panose="02010609060101010101" pitchFamily="49" charset="-122"/>
              </a:endParaRPr>
            </a:p>
          </p:txBody>
        </p:sp>
        <p:sp>
          <p:nvSpPr>
            <p:cNvPr id="9" name="圆角矩形 8"/>
            <p:cNvSpPr/>
            <p:nvPr/>
          </p:nvSpPr>
          <p:spPr>
            <a:xfrm>
              <a:off x="2066926" y="3117807"/>
              <a:ext cx="2160000" cy="432000"/>
            </a:xfrm>
            <a:prstGeom prst="roundRect">
              <a:avLst/>
            </a:prstGeom>
            <a:solidFill>
              <a:srgbClr val="00B0F0"/>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卡诺图</a:t>
              </a:r>
              <a:endParaRPr lang="zh-CN" altLang="en-US" dirty="0">
                <a:solidFill>
                  <a:srgbClr val="7030A0"/>
                </a:solidFill>
                <a:latin typeface="黑体" panose="02010609060101010101" pitchFamily="49" charset="-122"/>
                <a:ea typeface="黑体" panose="02010609060101010101" pitchFamily="49" charset="-122"/>
              </a:endParaRPr>
            </a:p>
          </p:txBody>
        </p:sp>
        <p:sp>
          <p:nvSpPr>
            <p:cNvPr id="10" name="圆角矩形 9"/>
            <p:cNvSpPr/>
            <p:nvPr/>
          </p:nvSpPr>
          <p:spPr>
            <a:xfrm>
              <a:off x="2074546" y="3616917"/>
              <a:ext cx="2160000" cy="432000"/>
            </a:xfrm>
            <a:prstGeom prst="roundRect">
              <a:avLst/>
            </a:prstGeom>
            <a:solidFill>
              <a:srgbClr val="92D050"/>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最小项表达式</a:t>
              </a:r>
              <a:endParaRPr lang="zh-CN" altLang="en-US" dirty="0">
                <a:solidFill>
                  <a:srgbClr val="7030A0"/>
                </a:solidFill>
                <a:latin typeface="黑体" panose="02010609060101010101" pitchFamily="49" charset="-122"/>
                <a:ea typeface="黑体" panose="02010609060101010101" pitchFamily="49" charset="-122"/>
              </a:endParaRPr>
            </a:p>
          </p:txBody>
        </p:sp>
        <p:sp>
          <p:nvSpPr>
            <p:cNvPr id="11" name="圆角矩形 10"/>
            <p:cNvSpPr/>
            <p:nvPr/>
          </p:nvSpPr>
          <p:spPr>
            <a:xfrm>
              <a:off x="2063116" y="4116027"/>
              <a:ext cx="2160000" cy="432000"/>
            </a:xfrm>
            <a:prstGeom prst="roundRect">
              <a:avLst/>
            </a:prstGeom>
            <a:solidFill>
              <a:srgbClr val="66FFCC"/>
            </a:solidFill>
            <a:ln w="19050"/>
            <a:effectLst>
              <a:glow rad="63500">
                <a:schemeClr val="accent3">
                  <a:satMod val="175000"/>
                  <a:alpha val="40000"/>
                </a:schemeClr>
              </a:glow>
            </a:effectLst>
            <a:scene3d>
              <a:camera prst="orthographicFront"/>
              <a:lightRig rig="threePt" dir="t"/>
            </a:scene3d>
            <a:sp3d>
              <a:bevelT w="152400" h="50800" prst="softRound"/>
            </a:sp3d>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dirty="0">
                  <a:solidFill>
                    <a:srgbClr val="7030A0"/>
                  </a:solidFill>
                  <a:latin typeface="黑体" panose="02010609060101010101" pitchFamily="49" charset="-122"/>
                  <a:ea typeface="黑体" panose="02010609060101010101" pitchFamily="49" charset="-122"/>
                </a:rPr>
                <a:t>波形图</a:t>
              </a:r>
              <a:endParaRPr lang="zh-CN" altLang="en-US" dirty="0">
                <a:solidFill>
                  <a:srgbClr val="7030A0"/>
                </a:solidFill>
                <a:latin typeface="黑体" panose="02010609060101010101" pitchFamily="49" charset="-122"/>
                <a:ea typeface="黑体" panose="02010609060101010101" pitchFamily="49" charset="-122"/>
              </a:endParaRPr>
            </a:p>
          </p:txBody>
        </p:sp>
        <p:sp>
          <p:nvSpPr>
            <p:cNvPr id="12" name="左大括号 11"/>
            <p:cNvSpPr/>
            <p:nvPr/>
          </p:nvSpPr>
          <p:spPr>
            <a:xfrm>
              <a:off x="1626870" y="1649730"/>
              <a:ext cx="381000" cy="2895600"/>
            </a:xfrm>
            <a:prstGeom prst="leftBrace">
              <a:avLst>
                <a:gd name="adj1" fmla="val 61333"/>
                <a:gd name="adj2" fmla="val 50132"/>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4" name="圆角矩形 13"/>
            <p:cNvSpPr/>
            <p:nvPr/>
          </p:nvSpPr>
          <p:spPr>
            <a:xfrm>
              <a:off x="1021080" y="2426970"/>
              <a:ext cx="472440" cy="139065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b="1" dirty="0">
                  <a:solidFill>
                    <a:schemeClr val="bg1"/>
                  </a:solidFill>
                  <a:latin typeface="微软雅黑" panose="020B0503020204020204" pitchFamily="34" charset="-122"/>
                  <a:ea typeface="微软雅黑" panose="020B0503020204020204" pitchFamily="34" charset="-122"/>
                </a:rPr>
                <a:t>表示方法</a:t>
              </a:r>
              <a:endParaRPr lang="zh-CN" altLang="en-US" dirty="0">
                <a:solidFill>
                  <a:schemeClr val="bg1"/>
                </a:solidFill>
              </a:endParaRPr>
            </a:p>
          </p:txBody>
        </p:sp>
      </p:grpSp>
      <p:grpSp>
        <p:nvGrpSpPr>
          <p:cNvPr id="31" name="组合 30"/>
          <p:cNvGrpSpPr/>
          <p:nvPr/>
        </p:nvGrpSpPr>
        <p:grpSpPr>
          <a:xfrm>
            <a:off x="4758690" y="1607820"/>
            <a:ext cx="1398270" cy="1341120"/>
            <a:chOff x="4335780" y="1642110"/>
            <a:chExt cx="1398270" cy="1341120"/>
          </a:xfrm>
        </p:grpSpPr>
        <p:sp>
          <p:nvSpPr>
            <p:cNvPr id="29" name="右大括号 28"/>
            <p:cNvSpPr/>
            <p:nvPr/>
          </p:nvSpPr>
          <p:spPr>
            <a:xfrm>
              <a:off x="4335780" y="1642110"/>
              <a:ext cx="209550" cy="1341120"/>
            </a:xfrm>
            <a:prstGeom prst="rightBrace">
              <a:avLst>
                <a:gd name="adj1" fmla="val 75606"/>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圆角矩形 29"/>
            <p:cNvSpPr/>
            <p:nvPr/>
          </p:nvSpPr>
          <p:spPr>
            <a:xfrm>
              <a:off x="4659630" y="2114550"/>
              <a:ext cx="1074420" cy="3924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黑体" panose="02010609060101010101" pitchFamily="49" charset="-122"/>
                  <a:ea typeface="黑体" panose="02010609060101010101" pitchFamily="49" charset="-122"/>
                </a:rPr>
                <a:t>常用</a:t>
              </a:r>
              <a:endParaRPr lang="zh-CN" altLang="en-US" dirty="0">
                <a:solidFill>
                  <a:schemeClr val="bg1"/>
                </a:solidFill>
                <a:latin typeface="黑体" panose="02010609060101010101" pitchFamily="49" charset="-122"/>
                <a:ea typeface="黑体" panose="02010609060101010101" pitchFamily="49" charset="-122"/>
              </a:endParaRPr>
            </a:p>
          </p:txBody>
        </p:sp>
      </p:grpSp>
      <p:grpSp>
        <p:nvGrpSpPr>
          <p:cNvPr id="35" name="组合 34"/>
          <p:cNvGrpSpPr/>
          <p:nvPr/>
        </p:nvGrpSpPr>
        <p:grpSpPr>
          <a:xfrm>
            <a:off x="4754880" y="3078480"/>
            <a:ext cx="1402080" cy="396240"/>
            <a:chOff x="4331970" y="3131820"/>
            <a:chExt cx="1402080" cy="396240"/>
          </a:xfrm>
        </p:grpSpPr>
        <p:sp>
          <p:nvSpPr>
            <p:cNvPr id="33" name="右大括号 32"/>
            <p:cNvSpPr/>
            <p:nvPr/>
          </p:nvSpPr>
          <p:spPr>
            <a:xfrm>
              <a:off x="4331970" y="3166110"/>
              <a:ext cx="209550" cy="361950"/>
            </a:xfrm>
            <a:prstGeom prst="rightBrace">
              <a:avLst>
                <a:gd name="adj1" fmla="val 75606"/>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4" name="圆角矩形 33"/>
            <p:cNvSpPr/>
            <p:nvPr/>
          </p:nvSpPr>
          <p:spPr>
            <a:xfrm>
              <a:off x="4659630" y="3131820"/>
              <a:ext cx="1074420" cy="3924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黑体" panose="02010609060101010101" pitchFamily="49" charset="-122"/>
                  <a:ea typeface="黑体" panose="02010609060101010101" pitchFamily="49" charset="-122"/>
                </a:rPr>
                <a:t>化简</a:t>
              </a:r>
              <a:endParaRPr lang="zh-CN" altLang="en-US" dirty="0">
                <a:solidFill>
                  <a:schemeClr val="bg1"/>
                </a:solidFill>
                <a:latin typeface="黑体" panose="02010609060101010101" pitchFamily="49" charset="-122"/>
                <a:ea typeface="黑体" panose="02010609060101010101" pitchFamily="49" charset="-122"/>
              </a:endParaRPr>
            </a:p>
          </p:txBody>
        </p:sp>
      </p:grpSp>
      <p:grpSp>
        <p:nvGrpSpPr>
          <p:cNvPr id="39" name="组合 38"/>
          <p:cNvGrpSpPr/>
          <p:nvPr/>
        </p:nvGrpSpPr>
        <p:grpSpPr>
          <a:xfrm>
            <a:off x="4766833" y="2609849"/>
            <a:ext cx="1790700" cy="1341120"/>
            <a:chOff x="4335780" y="1642110"/>
            <a:chExt cx="1790700" cy="1341120"/>
          </a:xfrm>
        </p:grpSpPr>
        <p:sp>
          <p:nvSpPr>
            <p:cNvPr id="40" name="右大括号 39"/>
            <p:cNvSpPr/>
            <p:nvPr/>
          </p:nvSpPr>
          <p:spPr>
            <a:xfrm>
              <a:off x="4335780" y="1642110"/>
              <a:ext cx="209550" cy="1341120"/>
            </a:xfrm>
            <a:prstGeom prst="rightBrace">
              <a:avLst>
                <a:gd name="adj1" fmla="val 75606"/>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1" name="圆角矩形 40"/>
            <p:cNvSpPr/>
            <p:nvPr/>
          </p:nvSpPr>
          <p:spPr>
            <a:xfrm>
              <a:off x="4659630" y="2114550"/>
              <a:ext cx="1466850" cy="3924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黑体" panose="02010609060101010101" pitchFamily="49" charset="-122"/>
                  <a:ea typeface="黑体" panose="02010609060101010101" pitchFamily="49" charset="-122"/>
                </a:rPr>
                <a:t>具有唯一性</a:t>
              </a:r>
              <a:endParaRPr lang="zh-CN" altLang="en-US" dirty="0">
                <a:solidFill>
                  <a:schemeClr val="bg1"/>
                </a:solidFill>
                <a:latin typeface="黑体" panose="02010609060101010101" pitchFamily="49" charset="-122"/>
                <a:ea typeface="黑体" panose="02010609060101010101" pitchFamily="49" charset="-122"/>
              </a:endParaRPr>
            </a:p>
          </p:txBody>
        </p:sp>
      </p:grpSp>
      <p:grpSp>
        <p:nvGrpSpPr>
          <p:cNvPr id="42" name="组合 41"/>
          <p:cNvGrpSpPr/>
          <p:nvPr/>
        </p:nvGrpSpPr>
        <p:grpSpPr>
          <a:xfrm>
            <a:off x="4758690" y="2579370"/>
            <a:ext cx="2682240" cy="396240"/>
            <a:chOff x="4331970" y="3131820"/>
            <a:chExt cx="2682240" cy="396240"/>
          </a:xfrm>
        </p:grpSpPr>
        <p:sp>
          <p:nvSpPr>
            <p:cNvPr id="43" name="右大括号 42"/>
            <p:cNvSpPr/>
            <p:nvPr/>
          </p:nvSpPr>
          <p:spPr>
            <a:xfrm>
              <a:off x="4331970" y="3166110"/>
              <a:ext cx="209550" cy="361950"/>
            </a:xfrm>
            <a:prstGeom prst="rightBrace">
              <a:avLst>
                <a:gd name="adj1" fmla="val 75606"/>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4" name="圆角矩形 43"/>
            <p:cNvSpPr/>
            <p:nvPr/>
          </p:nvSpPr>
          <p:spPr>
            <a:xfrm>
              <a:off x="4659630" y="3131820"/>
              <a:ext cx="2354580" cy="39243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黑体" panose="02010609060101010101" pitchFamily="49" charset="-122"/>
                  <a:ea typeface="黑体" panose="02010609060101010101" pitchFamily="49" charset="-122"/>
                </a:rPr>
                <a:t>描述逻辑电路的功能</a:t>
              </a:r>
              <a:endParaRPr lang="zh-CN" altLang="en-US" dirty="0">
                <a:solidFill>
                  <a:schemeClr val="bg1"/>
                </a:solidFill>
                <a:latin typeface="黑体" panose="02010609060101010101" pitchFamily="49" charset="-122"/>
                <a:ea typeface="黑体" panose="02010609060101010101" pitchFamily="49" charset="-122"/>
              </a:endParaRPr>
            </a:p>
          </p:txBody>
        </p:sp>
      </p:grpSp>
      <p:sp>
        <p:nvSpPr>
          <p:cNvPr id="26" name="爆炸形 1 25"/>
          <p:cNvSpPr/>
          <p:nvPr/>
        </p:nvSpPr>
        <p:spPr>
          <a:xfrm>
            <a:off x="2686864" y="2448510"/>
            <a:ext cx="1837466" cy="689051"/>
          </a:xfrm>
          <a:prstGeom prst="irregularSeal1">
            <a:avLst/>
          </a:prstGeom>
          <a:noFill/>
          <a:ln w="28575">
            <a:solidFill>
              <a:srgbClr val="FF0000"/>
            </a:solidFill>
          </a:ln>
          <a:effectLst>
            <a:glow rad="228600">
              <a:schemeClr val="accent4">
                <a:satMod val="175000"/>
                <a:alpha val="40000"/>
              </a:schemeClr>
            </a:glow>
          </a:effectLst>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1000"/>
                                        <p:tgtEl>
                                          <p:spTgt spid="1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wipe(left)">
                                      <p:cBhvr>
                                        <p:cTn id="16" dur="1000"/>
                                        <p:tgtEl>
                                          <p:spTgt spid="31"/>
                                        </p:tgtEl>
                                      </p:cBhvr>
                                    </p:animEffect>
                                  </p:childTnLst>
                                  <p:subTnLst>
                                    <p:set>
                                      <p:cBhvr override="childStyle">
                                        <p:cTn dur="1" fill="hold" display="0" masterRel="nextClick" afterEffect="1"/>
                                        <p:tgtEl>
                                          <p:spTgt spid="31"/>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9"/>
                                        </p:tgtEl>
                                        <p:attrNameLst>
                                          <p:attrName>style.visibility</p:attrName>
                                        </p:attrNameLst>
                                      </p:cBhvr>
                                      <p:to>
                                        <p:strVal val="visible"/>
                                      </p:to>
                                    </p:set>
                                    <p:animEffect transition="in" filter="wipe(left)">
                                      <p:cBhvr>
                                        <p:cTn id="21" dur="1000"/>
                                        <p:tgtEl>
                                          <p:spTgt spid="39"/>
                                        </p:tgtEl>
                                      </p:cBhvr>
                                    </p:animEffect>
                                  </p:childTnLst>
                                  <p:subTnLst>
                                    <p:set>
                                      <p:cBhvr override="childStyle">
                                        <p:cTn dur="1" fill="hold" display="0" masterRel="nextClick" afterEffect="1"/>
                                        <p:tgtEl>
                                          <p:spTgt spid="39"/>
                                        </p:tgtEl>
                                        <p:attrNameLst>
                                          <p:attrName>style.visibility</p:attrName>
                                        </p:attrNameLst>
                                      </p:cBhvr>
                                      <p:to>
                                        <p:strVal val="hidden"/>
                                      </p:to>
                                    </p:set>
                                  </p:sub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wipe(left)">
                                      <p:cBhvr>
                                        <p:cTn id="26" dur="1000"/>
                                        <p:tgtEl>
                                          <p:spTgt spid="35"/>
                                        </p:tgtEl>
                                      </p:cBhvr>
                                    </p:animEffect>
                                  </p:childTnLst>
                                  <p:subTnLst>
                                    <p:set>
                                      <p:cBhvr override="childStyle">
                                        <p:cTn dur="1" fill="hold" display="0" masterRel="nextClick" afterEffect="1"/>
                                        <p:tgtEl>
                                          <p:spTgt spid="35"/>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23" presetClass="entr" presetSubtype="32"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anim calcmode="lin" valueType="num">
                                      <p:cBhvr>
                                        <p:cTn id="31" dur="1000" fill="hold"/>
                                        <p:tgtEl>
                                          <p:spTgt spid="26"/>
                                        </p:tgtEl>
                                        <p:attrNameLst>
                                          <p:attrName>ppt_w</p:attrName>
                                        </p:attrNameLst>
                                      </p:cBhvr>
                                      <p:tavLst>
                                        <p:tav tm="0">
                                          <p:val>
                                            <p:strVal val="4*#ppt_w"/>
                                          </p:val>
                                        </p:tav>
                                        <p:tav tm="100000">
                                          <p:val>
                                            <p:strVal val="#ppt_w"/>
                                          </p:val>
                                        </p:tav>
                                      </p:tavLst>
                                    </p:anim>
                                    <p:anim calcmode="lin" valueType="num">
                                      <p:cBhvr>
                                        <p:cTn id="32" dur="1000" fill="hold"/>
                                        <p:tgtEl>
                                          <p:spTgt spid="26"/>
                                        </p:tgtEl>
                                        <p:attrNameLst>
                                          <p:attrName>ppt_h</p:attrName>
                                        </p:attrNameLst>
                                      </p:cBhvr>
                                      <p:tavLst>
                                        <p:tav tm="0">
                                          <p:val>
                                            <p:strVal val="4*#ppt_h"/>
                                          </p:val>
                                        </p:tav>
                                        <p:tav tm="100000">
                                          <p:val>
                                            <p:strVal val="#ppt_h"/>
                                          </p:val>
                                        </p:tav>
                                      </p:tavLst>
                                    </p:anim>
                                  </p:childTnLst>
                                </p:cTn>
                              </p:par>
                            </p:childTnLst>
                          </p:cTn>
                        </p:par>
                        <p:par>
                          <p:cTn id="33" fill="hold">
                            <p:stCondLst>
                              <p:cond delay="1000"/>
                            </p:stCondLst>
                            <p:childTnLst>
                              <p:par>
                                <p:cTn id="34" presetID="22" presetClass="entr" presetSubtype="8" fill="hold" nodeType="afterEffect">
                                  <p:stCondLst>
                                    <p:cond delay="0"/>
                                  </p:stCondLst>
                                  <p:childTnLst>
                                    <p:set>
                                      <p:cBhvr>
                                        <p:cTn id="35" dur="1" fill="hold">
                                          <p:stCondLst>
                                            <p:cond delay="0"/>
                                          </p:stCondLst>
                                        </p:cTn>
                                        <p:tgtEl>
                                          <p:spTgt spid="42"/>
                                        </p:tgtEl>
                                        <p:attrNameLst>
                                          <p:attrName>style.visibility</p:attrName>
                                        </p:attrNameLst>
                                      </p:cBhvr>
                                      <p:to>
                                        <p:strVal val="visible"/>
                                      </p:to>
                                    </p:set>
                                    <p:animEffect transition="in" filter="wipe(left)">
                                      <p:cBhvr>
                                        <p:cTn id="36" dur="10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101090" y="1824567"/>
            <a:ext cx="6713220" cy="2163961"/>
            <a:chOff x="1101090" y="1824567"/>
            <a:chExt cx="6713220" cy="2163961"/>
          </a:xfrm>
        </p:grpSpPr>
        <p:grpSp>
          <p:nvGrpSpPr>
            <p:cNvPr id="43" name="组合 42"/>
            <p:cNvGrpSpPr/>
            <p:nvPr/>
          </p:nvGrpSpPr>
          <p:grpSpPr>
            <a:xfrm>
              <a:off x="1101090" y="1824567"/>
              <a:ext cx="1371600" cy="760000"/>
              <a:chOff x="910590" y="1565910"/>
              <a:chExt cx="1371600" cy="684000"/>
            </a:xfrm>
          </p:grpSpPr>
          <p:grpSp>
            <p:nvGrpSpPr>
              <p:cNvPr id="36" name="组合 35"/>
              <p:cNvGrpSpPr/>
              <p:nvPr/>
            </p:nvGrpSpPr>
            <p:grpSpPr>
              <a:xfrm>
                <a:off x="910590" y="1699260"/>
                <a:ext cx="1371600" cy="99060"/>
                <a:chOff x="910590" y="1699260"/>
                <a:chExt cx="1371600" cy="99060"/>
              </a:xfrm>
            </p:grpSpPr>
            <p:cxnSp>
              <p:nvCxnSpPr>
                <p:cNvPr id="29" name="直接连接符 28"/>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5" name="直接连接符 34"/>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37" name="组合 36"/>
              <p:cNvGrpSpPr/>
              <p:nvPr/>
            </p:nvGrpSpPr>
            <p:grpSpPr>
              <a:xfrm rot="5400000">
                <a:off x="728610" y="1866000"/>
                <a:ext cx="684000" cy="83820"/>
                <a:chOff x="910590" y="1699260"/>
                <a:chExt cx="1371600" cy="99060"/>
              </a:xfrm>
            </p:grpSpPr>
            <p:cxnSp>
              <p:nvCxnSpPr>
                <p:cNvPr id="38" name="直接连接符 3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42" name="直接连接符 4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44" name="组合 43"/>
            <p:cNvGrpSpPr/>
            <p:nvPr/>
          </p:nvGrpSpPr>
          <p:grpSpPr>
            <a:xfrm rot="10800000">
              <a:off x="6442710" y="3136900"/>
              <a:ext cx="1371600" cy="760000"/>
              <a:chOff x="910590" y="1565910"/>
              <a:chExt cx="1371600" cy="684000"/>
            </a:xfrm>
          </p:grpSpPr>
          <p:grpSp>
            <p:nvGrpSpPr>
              <p:cNvPr id="45" name="组合 35"/>
              <p:cNvGrpSpPr/>
              <p:nvPr/>
            </p:nvGrpSpPr>
            <p:grpSpPr>
              <a:xfrm>
                <a:off x="910590" y="1699260"/>
                <a:ext cx="1371600" cy="99060"/>
                <a:chOff x="910590" y="1699260"/>
                <a:chExt cx="1371600" cy="99060"/>
              </a:xfrm>
            </p:grpSpPr>
            <p:cxnSp>
              <p:nvCxnSpPr>
                <p:cNvPr id="49" name="直接连接符 48"/>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50" name="直接连接符 4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46" name="组合 36"/>
              <p:cNvGrpSpPr/>
              <p:nvPr/>
            </p:nvGrpSpPr>
            <p:grpSpPr>
              <a:xfrm rot="5400000">
                <a:off x="728610" y="1866000"/>
                <a:ext cx="684000" cy="83820"/>
                <a:chOff x="910590" y="1699260"/>
                <a:chExt cx="1371600" cy="99060"/>
              </a:xfrm>
            </p:grpSpPr>
            <p:cxnSp>
              <p:nvCxnSpPr>
                <p:cNvPr id="47" name="直接连接符 46"/>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48" name="直接连接符 47"/>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17" name="矩形 16"/>
            <p:cNvSpPr/>
            <p:nvPr/>
          </p:nvSpPr>
          <p:spPr>
            <a:xfrm>
              <a:off x="1960426" y="2957477"/>
              <a:ext cx="5334509" cy="1031051"/>
            </a:xfrm>
            <a:prstGeom prst="rect">
              <a:avLst/>
            </a:prstGeom>
          </p:spPr>
          <p:txBody>
            <a:bodyPr wrap="squar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spcBef>
                  <a:spcPts val="600"/>
                </a:spcBef>
              </a:pPr>
              <a:r>
                <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4.2 </a:t>
              </a:r>
              <a:r>
                <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组合逻辑电路分析</a:t>
              </a:r>
              <a:endPar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a:p>
              <a:pPr algn="ctr">
                <a:spcBef>
                  <a:spcPts val="600"/>
                </a:spcBef>
              </a:pPr>
              <a:endPar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sp>
          <p:nvSpPr>
            <p:cNvPr id="18" name="文本框 6"/>
            <p:cNvSpPr txBox="1"/>
            <p:nvPr/>
          </p:nvSpPr>
          <p:spPr>
            <a:xfrm>
              <a:off x="1197408" y="2157416"/>
              <a:ext cx="6498792" cy="746358"/>
            </a:xfrm>
            <a:prstGeom prst="rect">
              <a:avLst/>
            </a:prstGeom>
            <a:noFill/>
          </p:spPr>
          <p:txBody>
            <a:bodyPr wrap="square" rtlCol="0">
              <a:spAutoFit/>
            </a:bodyPr>
            <a:lstStyle/>
            <a:p>
              <a:pPr algn="ctr">
                <a:lnSpc>
                  <a:spcPct val="125000"/>
                </a:lnSpc>
              </a:pP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4</a:t>
              </a: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  </a:t>
              </a:r>
              <a:r>
                <a:rPr lang="zh-CN" altLang="en-US"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组合逻辑电路</a:t>
              </a:r>
              <a:endPar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p:cNvSpPr>
            <a:spLocks noChangeArrowheads="1"/>
          </p:cNvSpPr>
          <p:nvPr/>
        </p:nvSpPr>
        <p:spPr bwMode="auto">
          <a:xfrm>
            <a:off x="1858645" y="701675"/>
            <a:ext cx="4946650" cy="523220"/>
          </a:xfrm>
          <a:prstGeom prst="rect">
            <a:avLst/>
          </a:prstGeom>
          <a:noFill/>
          <a:ln w="9525">
            <a:noFill/>
            <a:miter lim="800000"/>
          </a:ln>
        </p:spPr>
        <p:txBody>
          <a:bodyPr>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defRPr/>
            </a:pPr>
            <a:r>
              <a:rPr lang="zh-CN" altLang="en-US" sz="2800" b="1" cap="all" dirty="0">
                <a:ln w="0"/>
                <a:solidFill>
                  <a:srgbClr val="6600FF"/>
                </a:solidFill>
                <a:effectLst>
                  <a:reflection blurRad="12700" stA="50000" endPos="50000" dist="5000" dir="5400000" sy="-100000" rotWithShape="0"/>
                </a:effectLst>
                <a:latin typeface="微软雅黑" panose="020B0503020204020204" pitchFamily="34" charset="-122"/>
                <a:ea typeface="微软雅黑" panose="020B0503020204020204" pitchFamily="34" charset="-122"/>
              </a:rPr>
              <a:t>组合逻辑电路分析</a:t>
            </a:r>
            <a:endParaRPr lang="zh-CN" altLang="en-US" sz="2800" b="1" cap="all" dirty="0">
              <a:ln w="0"/>
              <a:solidFill>
                <a:srgbClr val="6600FF"/>
              </a:solidFill>
              <a:effectLst>
                <a:reflection blurRad="12700" stA="50000" endPos="50000" dist="5000" dir="5400000" sy="-100000" rotWithShape="0"/>
              </a:effectLst>
              <a:latin typeface="微软雅黑" panose="020B0503020204020204" pitchFamily="34" charset="-122"/>
              <a:ea typeface="微软雅黑" panose="020B0503020204020204" pitchFamily="34" charset="-122"/>
            </a:endParaRPr>
          </a:p>
        </p:txBody>
      </p:sp>
      <p:grpSp>
        <p:nvGrpSpPr>
          <p:cNvPr id="18" name="组合 17"/>
          <p:cNvGrpSpPr/>
          <p:nvPr/>
        </p:nvGrpSpPr>
        <p:grpSpPr>
          <a:xfrm>
            <a:off x="392432" y="1251023"/>
            <a:ext cx="4140066" cy="420971"/>
            <a:chOff x="670560" y="892917"/>
            <a:chExt cx="4140066" cy="420971"/>
          </a:xfrm>
        </p:grpSpPr>
        <p:sp>
          <p:nvSpPr>
            <p:cNvPr id="21" name="矩形 20"/>
            <p:cNvSpPr/>
            <p:nvPr/>
          </p:nvSpPr>
          <p:spPr>
            <a:xfrm>
              <a:off x="1035233" y="913778"/>
              <a:ext cx="3775393"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组合逻辑电路分析的目的与步骤</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2"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20" name="组合 19"/>
          <p:cNvGrpSpPr/>
          <p:nvPr/>
        </p:nvGrpSpPr>
        <p:grpSpPr>
          <a:xfrm>
            <a:off x="647700" y="1833568"/>
            <a:ext cx="7620001" cy="652762"/>
            <a:chOff x="647700" y="1833568"/>
            <a:chExt cx="7620001" cy="652762"/>
          </a:xfrm>
        </p:grpSpPr>
        <p:sp>
          <p:nvSpPr>
            <p:cNvPr id="30" name="燕尾形 29"/>
            <p:cNvSpPr/>
            <p:nvPr/>
          </p:nvSpPr>
          <p:spPr>
            <a:xfrm>
              <a:off x="1633537" y="1833568"/>
              <a:ext cx="6634164" cy="648000"/>
            </a:xfrm>
            <a:prstGeom prst="chevron">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19455" indent="-719455"/>
              <a:r>
                <a:rPr lang="zh-CN" altLang="en-US" b="1" dirty="0">
                  <a:solidFill>
                    <a:srgbClr val="FF00FF"/>
                  </a:solidFill>
                  <a:latin typeface="黑体" panose="02010609060101010101" pitchFamily="49" charset="-122"/>
                  <a:ea typeface="黑体" panose="02010609060101010101" pitchFamily="49" charset="-122"/>
                </a:rPr>
                <a:t>确定已知电路的逻辑功能</a:t>
              </a:r>
              <a:r>
                <a:rPr lang="zh-CN" altLang="en-US" dirty="0">
                  <a:solidFill>
                    <a:schemeClr val="tx1"/>
                  </a:solidFill>
                  <a:latin typeface="黑体" panose="02010609060101010101" pitchFamily="49" charset="-122"/>
                  <a:ea typeface="黑体" panose="02010609060101010101" pitchFamily="49" charset="-122"/>
                </a:rPr>
                <a:t>。（对一个给定的逻辑电路，找出输出与输入之间的逻辑关系。）</a:t>
              </a:r>
              <a:endParaRPr lang="zh-CN" altLang="en-US" dirty="0">
                <a:solidFill>
                  <a:schemeClr val="tx1"/>
                </a:solidFill>
              </a:endParaRPr>
            </a:p>
          </p:txBody>
        </p:sp>
        <p:grpSp>
          <p:nvGrpSpPr>
            <p:cNvPr id="31" name="组合 30"/>
            <p:cNvGrpSpPr/>
            <p:nvPr/>
          </p:nvGrpSpPr>
          <p:grpSpPr>
            <a:xfrm>
              <a:off x="647700" y="1838330"/>
              <a:ext cx="1220063" cy="648000"/>
              <a:chOff x="647700" y="1785937"/>
              <a:chExt cx="1220063" cy="648000"/>
            </a:xfrm>
          </p:grpSpPr>
          <p:sp>
            <p:nvSpPr>
              <p:cNvPr id="29" name="五边形 28"/>
              <p:cNvSpPr/>
              <p:nvPr/>
            </p:nvSpPr>
            <p:spPr>
              <a:xfrm>
                <a:off x="647700" y="1785937"/>
                <a:ext cx="1220063" cy="648000"/>
              </a:xfrm>
              <a:prstGeom prst="homePlat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b="1" dirty="0">
                    <a:solidFill>
                      <a:srgbClr val="0000FF"/>
                    </a:solidFill>
                    <a:latin typeface="微软雅黑" panose="020B0503020204020204" pitchFamily="34" charset="-122"/>
                    <a:ea typeface="微软雅黑" panose="020B0503020204020204" pitchFamily="34" charset="-122"/>
                  </a:rPr>
                  <a:t>目</a:t>
                </a:r>
                <a:endParaRPr lang="en-US" altLang="zh-CN" b="1" dirty="0">
                  <a:solidFill>
                    <a:srgbClr val="0000FF"/>
                  </a:solidFill>
                  <a:latin typeface="微软雅黑" panose="020B0503020204020204" pitchFamily="34" charset="-122"/>
                  <a:ea typeface="微软雅黑" panose="020B0503020204020204" pitchFamily="34" charset="-122"/>
                </a:endParaRPr>
              </a:p>
              <a:p>
                <a:pPr algn="r"/>
                <a:r>
                  <a:rPr lang="zh-CN" altLang="en-US" b="1" dirty="0">
                    <a:solidFill>
                      <a:srgbClr val="0000FF"/>
                    </a:solidFill>
                    <a:latin typeface="微软雅黑" panose="020B0503020204020204" pitchFamily="34" charset="-122"/>
                    <a:ea typeface="微软雅黑" panose="020B0503020204020204" pitchFamily="34" charset="-122"/>
                  </a:rPr>
                  <a:t>的</a:t>
                </a:r>
                <a:endParaRPr lang="zh-CN" altLang="en-US" b="1" dirty="0">
                  <a:solidFill>
                    <a:srgbClr val="0000FF"/>
                  </a:solidFill>
                </a:endParaRPr>
              </a:p>
            </p:txBody>
          </p:sp>
          <p:pic>
            <p:nvPicPr>
              <p:cNvPr id="15361" name="Picture 1"/>
              <p:cNvPicPr>
                <a:picLocks noChangeAspect="1" noChangeArrowheads="1"/>
              </p:cNvPicPr>
              <p:nvPr/>
            </p:nvPicPr>
            <p:blipFill>
              <a:blip r:embed="rId2" cstate="print"/>
              <a:srcRect/>
              <a:stretch>
                <a:fillRect/>
              </a:stretch>
            </p:blipFill>
            <p:spPr bwMode="auto">
              <a:xfrm>
                <a:off x="685824" y="1809754"/>
                <a:ext cx="633386" cy="590548"/>
              </a:xfrm>
              <a:prstGeom prst="rect">
                <a:avLst/>
              </a:prstGeom>
              <a:noFill/>
              <a:ln w="9525">
                <a:noFill/>
                <a:miter lim="800000"/>
                <a:headEnd/>
                <a:tailEnd/>
              </a:ln>
            </p:spPr>
          </p:pic>
        </p:grpSp>
      </p:grpSp>
      <p:grpSp>
        <p:nvGrpSpPr>
          <p:cNvPr id="19" name="组合 18"/>
          <p:cNvGrpSpPr/>
          <p:nvPr/>
        </p:nvGrpSpPr>
        <p:grpSpPr>
          <a:xfrm>
            <a:off x="619125" y="2747963"/>
            <a:ext cx="1881182" cy="2343151"/>
            <a:chOff x="619125" y="2747963"/>
            <a:chExt cx="1881182" cy="2343151"/>
          </a:xfrm>
        </p:grpSpPr>
        <p:grpSp>
          <p:nvGrpSpPr>
            <p:cNvPr id="36" name="组合 35"/>
            <p:cNvGrpSpPr/>
            <p:nvPr/>
          </p:nvGrpSpPr>
          <p:grpSpPr>
            <a:xfrm>
              <a:off x="619125" y="3481359"/>
              <a:ext cx="1220063" cy="648000"/>
              <a:chOff x="652463" y="2557463"/>
              <a:chExt cx="1220063" cy="648000"/>
            </a:xfrm>
          </p:grpSpPr>
          <p:sp>
            <p:nvSpPr>
              <p:cNvPr id="34" name="五边形 33"/>
              <p:cNvSpPr/>
              <p:nvPr/>
            </p:nvSpPr>
            <p:spPr>
              <a:xfrm>
                <a:off x="652463" y="2557463"/>
                <a:ext cx="1220063" cy="648000"/>
              </a:xfrm>
              <a:prstGeom prst="homePlat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b="1" dirty="0">
                    <a:solidFill>
                      <a:srgbClr val="0000FF"/>
                    </a:solidFill>
                    <a:latin typeface="微软雅黑" panose="020B0503020204020204" pitchFamily="34" charset="-122"/>
                    <a:ea typeface="微软雅黑" panose="020B0503020204020204" pitchFamily="34" charset="-122"/>
                  </a:rPr>
                  <a:t>步</a:t>
                </a:r>
                <a:endParaRPr lang="en-US" altLang="zh-CN" b="1" dirty="0">
                  <a:solidFill>
                    <a:srgbClr val="0000FF"/>
                  </a:solidFill>
                  <a:latin typeface="微软雅黑" panose="020B0503020204020204" pitchFamily="34" charset="-122"/>
                  <a:ea typeface="微软雅黑" panose="020B0503020204020204" pitchFamily="34" charset="-122"/>
                </a:endParaRPr>
              </a:p>
              <a:p>
                <a:pPr algn="r"/>
                <a:r>
                  <a:rPr lang="zh-CN" altLang="en-US" b="1" dirty="0">
                    <a:solidFill>
                      <a:srgbClr val="0000FF"/>
                    </a:solidFill>
                    <a:latin typeface="微软雅黑" panose="020B0503020204020204" pitchFamily="34" charset="-122"/>
                    <a:ea typeface="微软雅黑" panose="020B0503020204020204" pitchFamily="34" charset="-122"/>
                  </a:rPr>
                  <a:t>骤</a:t>
                </a:r>
                <a:endParaRPr lang="zh-CN" altLang="en-US" b="1" dirty="0">
                  <a:solidFill>
                    <a:srgbClr val="0000FF"/>
                  </a:solidFill>
                  <a:latin typeface="微软雅黑" panose="020B0503020204020204" pitchFamily="34" charset="-122"/>
                  <a:ea typeface="微软雅黑" panose="020B0503020204020204" pitchFamily="34" charset="-122"/>
                </a:endParaRPr>
              </a:p>
            </p:txBody>
          </p:sp>
          <p:pic>
            <p:nvPicPr>
              <p:cNvPr id="15364" name="Picture 4"/>
              <p:cNvPicPr>
                <a:picLocks noChangeAspect="1" noChangeArrowheads="1"/>
              </p:cNvPicPr>
              <p:nvPr/>
            </p:nvPicPr>
            <p:blipFill>
              <a:blip r:embed="rId3" cstate="print"/>
              <a:srcRect/>
              <a:stretch>
                <a:fillRect/>
              </a:stretch>
            </p:blipFill>
            <p:spPr bwMode="auto">
              <a:xfrm>
                <a:off x="714378" y="2581272"/>
                <a:ext cx="573639" cy="581025"/>
              </a:xfrm>
              <a:prstGeom prst="rect">
                <a:avLst/>
              </a:prstGeom>
              <a:noFill/>
              <a:ln w="9525">
                <a:noFill/>
                <a:miter lim="800000"/>
                <a:headEnd/>
                <a:tailEnd/>
              </a:ln>
            </p:spPr>
          </p:pic>
        </p:grpSp>
        <p:pic>
          <p:nvPicPr>
            <p:cNvPr id="15368" name="Picture 8"/>
            <p:cNvPicPr>
              <a:picLocks noChangeAspect="1" noChangeArrowheads="1"/>
            </p:cNvPicPr>
            <p:nvPr/>
          </p:nvPicPr>
          <p:blipFill>
            <a:blip r:embed="rId4" cstate="print"/>
            <a:srcRect/>
            <a:stretch>
              <a:fillRect/>
            </a:stretch>
          </p:blipFill>
          <p:spPr bwMode="auto">
            <a:xfrm>
              <a:off x="1885946" y="2747963"/>
              <a:ext cx="614361" cy="2343151"/>
            </a:xfrm>
            <a:prstGeom prst="rect">
              <a:avLst/>
            </a:prstGeom>
            <a:noFill/>
            <a:ln w="9525">
              <a:noFill/>
              <a:miter lim="800000"/>
              <a:headEnd/>
              <a:tailEnd/>
            </a:ln>
            <a:effectLst/>
          </p:spPr>
        </p:pic>
      </p:grpSp>
      <p:sp>
        <p:nvSpPr>
          <p:cNvPr id="42" name="五边形 41"/>
          <p:cNvSpPr/>
          <p:nvPr/>
        </p:nvSpPr>
        <p:spPr>
          <a:xfrm>
            <a:off x="2533617" y="2781300"/>
            <a:ext cx="5414995" cy="484632"/>
          </a:xfrm>
          <a:prstGeom prst="homePlate">
            <a:avLst/>
          </a:prstGeom>
          <a:solidFill>
            <a:srgbClr val="C0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、由给定的逻辑电路图，写各输出端逻辑表达式；</a:t>
            </a:r>
            <a:endParaRPr lang="zh-CN" altLang="en-US" dirty="0">
              <a:latin typeface="黑体" panose="02010609060101010101" pitchFamily="49" charset="-122"/>
              <a:ea typeface="黑体" panose="02010609060101010101" pitchFamily="49" charset="-122"/>
            </a:endParaRPr>
          </a:p>
        </p:txBody>
      </p:sp>
      <p:sp>
        <p:nvSpPr>
          <p:cNvPr id="43" name="五边形 42"/>
          <p:cNvSpPr/>
          <p:nvPr/>
        </p:nvSpPr>
        <p:spPr>
          <a:xfrm>
            <a:off x="2533617" y="3375020"/>
            <a:ext cx="5414995" cy="484632"/>
          </a:xfrm>
          <a:prstGeom prst="homePlate">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solidFill>
                  <a:srgbClr val="FFFF00"/>
                </a:solidFill>
                <a:latin typeface="黑体" panose="02010609060101010101" pitchFamily="49" charset="-122"/>
                <a:ea typeface="黑体" panose="02010609060101010101" pitchFamily="49" charset="-122"/>
              </a:rPr>
              <a:t>2</a:t>
            </a:r>
            <a:r>
              <a:rPr lang="zh-CN" altLang="en-US" dirty="0">
                <a:solidFill>
                  <a:srgbClr val="FFFF00"/>
                </a:solidFill>
                <a:latin typeface="黑体" panose="02010609060101010101" pitchFamily="49" charset="-122"/>
                <a:ea typeface="黑体" panose="02010609060101010101" pitchFamily="49" charset="-122"/>
              </a:rPr>
              <a:t>、化简变换逻辑表达式，得到简单的逻辑表达式；</a:t>
            </a:r>
            <a:endParaRPr lang="zh-CN" altLang="en-US" dirty="0">
              <a:solidFill>
                <a:srgbClr val="FFFF00"/>
              </a:solidFill>
              <a:latin typeface="黑体" panose="02010609060101010101" pitchFamily="49" charset="-122"/>
              <a:ea typeface="黑体" panose="02010609060101010101" pitchFamily="49" charset="-122"/>
            </a:endParaRPr>
          </a:p>
        </p:txBody>
      </p:sp>
      <p:sp>
        <p:nvSpPr>
          <p:cNvPr id="44" name="五边形 43"/>
          <p:cNvSpPr/>
          <p:nvPr/>
        </p:nvSpPr>
        <p:spPr>
          <a:xfrm>
            <a:off x="2533617" y="3968740"/>
            <a:ext cx="5414995" cy="484632"/>
          </a:xfrm>
          <a:prstGeom prst="homePlate">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solidFill>
                  <a:srgbClr val="6600FF"/>
                </a:solidFill>
                <a:latin typeface="黑体" panose="02010609060101010101" pitchFamily="49" charset="-122"/>
                <a:ea typeface="黑体" panose="02010609060101010101" pitchFamily="49" charset="-122"/>
              </a:rPr>
              <a:t>3</a:t>
            </a:r>
            <a:r>
              <a:rPr lang="zh-CN" altLang="en-US" dirty="0">
                <a:solidFill>
                  <a:srgbClr val="6600FF"/>
                </a:solidFill>
                <a:latin typeface="黑体" panose="02010609060101010101" pitchFamily="49" charset="-122"/>
                <a:ea typeface="黑体" panose="02010609060101010101" pitchFamily="49" charset="-122"/>
              </a:rPr>
              <a:t>、由化简变换后的逻辑表达式列出逻辑真值表；</a:t>
            </a:r>
            <a:endParaRPr lang="zh-CN" altLang="en-US" dirty="0">
              <a:solidFill>
                <a:srgbClr val="6600FF"/>
              </a:solidFill>
              <a:latin typeface="黑体" panose="02010609060101010101" pitchFamily="49" charset="-122"/>
              <a:ea typeface="黑体" panose="02010609060101010101" pitchFamily="49" charset="-122"/>
            </a:endParaRPr>
          </a:p>
        </p:txBody>
      </p:sp>
      <p:sp>
        <p:nvSpPr>
          <p:cNvPr id="45" name="五边形 44"/>
          <p:cNvSpPr/>
          <p:nvPr/>
        </p:nvSpPr>
        <p:spPr>
          <a:xfrm>
            <a:off x="2533617" y="4562461"/>
            <a:ext cx="5414995" cy="484632"/>
          </a:xfrm>
          <a:prstGeom prst="homePlate">
            <a:avLst/>
          </a:prstGeom>
          <a:solidFill>
            <a:srgbClr val="3366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latin typeface="黑体" panose="02010609060101010101" pitchFamily="49" charset="-122"/>
                <a:ea typeface="黑体" panose="02010609060101010101" pitchFamily="49" charset="-122"/>
              </a:rPr>
              <a:t>4</a:t>
            </a:r>
            <a:r>
              <a:rPr lang="zh-CN" altLang="en-US" dirty="0">
                <a:latin typeface="黑体" panose="02010609060101010101" pitchFamily="49" charset="-122"/>
                <a:ea typeface="黑体" panose="02010609060101010101" pitchFamily="49" charset="-122"/>
              </a:rPr>
              <a:t>、根据电路的逻辑真值表，归纳电路的逻辑功能。</a:t>
            </a:r>
            <a:endParaRPr lang="zh-CN" altLang="en-US"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500"/>
                                        <p:tgtEl>
                                          <p:spTgt spid="2"/>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1000"/>
                                        <p:tgtEl>
                                          <p:spTgt spid="18"/>
                                        </p:tgtEl>
                                      </p:cBhvr>
                                    </p:animEffect>
                                  </p:childTnLst>
                                </p:cTn>
                              </p:par>
                            </p:childTnLst>
                          </p:cTn>
                        </p:par>
                        <p:par>
                          <p:cTn id="12" fill="hold">
                            <p:stCondLst>
                              <p:cond delay="1500"/>
                            </p:stCondLst>
                            <p:childTnLst>
                              <p:par>
                                <p:cTn id="13" presetID="22" presetClass="entr" presetSubtype="8"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left)">
                                      <p:cBhvr>
                                        <p:cTn id="15" dur="10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9"/>
                                        </p:tgtEl>
                                        <p:attrNameLst>
                                          <p:attrName>style.visibility</p:attrName>
                                        </p:attrNameLst>
                                      </p:cBhvr>
                                      <p:to>
                                        <p:strVal val="visible"/>
                                      </p:to>
                                    </p:set>
                                    <p:animEffect transition="in" filter="wipe(left)">
                                      <p:cBhvr>
                                        <p:cTn id="20" dur="500"/>
                                        <p:tgtEl>
                                          <p:spTgt spid="19"/>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42"/>
                                        </p:tgtEl>
                                        <p:attrNameLst>
                                          <p:attrName>style.visibility</p:attrName>
                                        </p:attrNameLst>
                                      </p:cBhvr>
                                      <p:to>
                                        <p:strVal val="visible"/>
                                      </p:to>
                                    </p:set>
                                    <p:animEffect transition="in" filter="wipe(left)">
                                      <p:cBhvr>
                                        <p:cTn id="24" dur="1000"/>
                                        <p:tgtEl>
                                          <p:spTgt spid="42"/>
                                        </p:tgtEl>
                                      </p:cBhvr>
                                    </p:animEffect>
                                  </p:childTnLst>
                                </p:cTn>
                              </p:par>
                            </p:childTnLst>
                          </p:cTn>
                        </p:par>
                        <p:par>
                          <p:cTn id="25" fill="hold">
                            <p:stCondLst>
                              <p:cond delay="1500"/>
                            </p:stCondLst>
                            <p:childTnLst>
                              <p:par>
                                <p:cTn id="26" presetID="22" presetClass="entr" presetSubtype="8" fill="hold" grpId="0" nodeType="afterEffect">
                                  <p:stCondLst>
                                    <p:cond delay="0"/>
                                  </p:stCondLst>
                                  <p:childTnLst>
                                    <p:set>
                                      <p:cBhvr>
                                        <p:cTn id="27" dur="1" fill="hold">
                                          <p:stCondLst>
                                            <p:cond delay="0"/>
                                          </p:stCondLst>
                                        </p:cTn>
                                        <p:tgtEl>
                                          <p:spTgt spid="43"/>
                                        </p:tgtEl>
                                        <p:attrNameLst>
                                          <p:attrName>style.visibility</p:attrName>
                                        </p:attrNameLst>
                                      </p:cBhvr>
                                      <p:to>
                                        <p:strVal val="visible"/>
                                      </p:to>
                                    </p:set>
                                    <p:animEffect transition="in" filter="wipe(left)">
                                      <p:cBhvr>
                                        <p:cTn id="28" dur="1000"/>
                                        <p:tgtEl>
                                          <p:spTgt spid="43"/>
                                        </p:tgtEl>
                                      </p:cBhvr>
                                    </p:animEffect>
                                  </p:childTnLst>
                                </p:cTn>
                              </p:par>
                            </p:childTnLst>
                          </p:cTn>
                        </p:par>
                        <p:par>
                          <p:cTn id="29" fill="hold">
                            <p:stCondLst>
                              <p:cond delay="2500"/>
                            </p:stCondLst>
                            <p:childTnLst>
                              <p:par>
                                <p:cTn id="30" presetID="22" presetClass="entr" presetSubtype="8" fill="hold" grpId="0" nodeType="after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wipe(left)">
                                      <p:cBhvr>
                                        <p:cTn id="32" dur="1000"/>
                                        <p:tgtEl>
                                          <p:spTgt spid="44"/>
                                        </p:tgtEl>
                                      </p:cBhvr>
                                    </p:animEffect>
                                  </p:childTnLst>
                                </p:cTn>
                              </p:par>
                            </p:childTnLst>
                          </p:cTn>
                        </p:par>
                        <p:par>
                          <p:cTn id="33" fill="hold">
                            <p:stCondLst>
                              <p:cond delay="3500"/>
                            </p:stCondLst>
                            <p:childTnLst>
                              <p:par>
                                <p:cTn id="34" presetID="22" presetClass="entr" presetSubtype="8" fill="hold" grpId="0" nodeType="afterEffect">
                                  <p:stCondLst>
                                    <p:cond delay="0"/>
                                  </p:stCondLst>
                                  <p:childTnLst>
                                    <p:set>
                                      <p:cBhvr>
                                        <p:cTn id="35" dur="1" fill="hold">
                                          <p:stCondLst>
                                            <p:cond delay="0"/>
                                          </p:stCondLst>
                                        </p:cTn>
                                        <p:tgtEl>
                                          <p:spTgt spid="45"/>
                                        </p:tgtEl>
                                        <p:attrNameLst>
                                          <p:attrName>style.visibility</p:attrName>
                                        </p:attrNameLst>
                                      </p:cBhvr>
                                      <p:to>
                                        <p:strVal val="visible"/>
                                      </p:to>
                                    </p:set>
                                    <p:animEffect transition="in" filter="wipe(left)">
                                      <p:cBhvr>
                                        <p:cTn id="36" dur="1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2" grpId="0" animBg="1"/>
      <p:bldP spid="43" grpId="0" animBg="1"/>
      <p:bldP spid="44" grpId="0" animBg="1"/>
      <p:bldP spid="4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4" name="组合 103"/>
          <p:cNvGrpSpPr/>
          <p:nvPr/>
        </p:nvGrpSpPr>
        <p:grpSpPr>
          <a:xfrm>
            <a:off x="1167438" y="1652912"/>
            <a:ext cx="2211862" cy="1047877"/>
            <a:chOff x="1167438" y="1652912"/>
            <a:chExt cx="2211862" cy="1047877"/>
          </a:xfrm>
          <a:solidFill>
            <a:schemeClr val="accent3">
              <a:lumMod val="20000"/>
              <a:lumOff val="80000"/>
            </a:schemeClr>
          </a:solidFill>
        </p:grpSpPr>
        <p:sp>
          <p:nvSpPr>
            <p:cNvPr id="80" name="圆角矩形 79"/>
            <p:cNvSpPr/>
            <p:nvPr/>
          </p:nvSpPr>
          <p:spPr>
            <a:xfrm>
              <a:off x="1167438" y="1652912"/>
              <a:ext cx="2211862" cy="1047877"/>
            </a:xfrm>
            <a:prstGeom prst="roundRect">
              <a:avLst>
                <a:gd name="adj" fmla="val 4849"/>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3" name="组合 62"/>
            <p:cNvGrpSpPr/>
            <p:nvPr/>
          </p:nvGrpSpPr>
          <p:grpSpPr>
            <a:xfrm>
              <a:off x="1246550" y="1791826"/>
              <a:ext cx="2046305" cy="784830"/>
              <a:chOff x="1008016" y="2467691"/>
              <a:chExt cx="2046305" cy="784830"/>
            </a:xfrm>
            <a:grpFill/>
          </p:grpSpPr>
          <p:cxnSp>
            <p:nvCxnSpPr>
              <p:cNvPr id="18" name="直接连接符 17"/>
              <p:cNvCxnSpPr/>
              <p:nvPr/>
            </p:nvCxnSpPr>
            <p:spPr>
              <a:xfrm flipV="1">
                <a:off x="1278552" y="2610006"/>
                <a:ext cx="324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V="1">
                <a:off x="1278552" y="2863833"/>
                <a:ext cx="324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1278551" y="3092555"/>
                <a:ext cx="1044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348" name="Rectangle 12"/>
              <p:cNvSpPr>
                <a:spLocks noChangeArrowheads="1"/>
              </p:cNvSpPr>
              <p:nvPr/>
            </p:nvSpPr>
            <p:spPr bwMode="auto">
              <a:xfrm>
                <a:off x="1617560" y="2512559"/>
                <a:ext cx="281874" cy="470666"/>
              </a:xfrm>
              <a:prstGeom prst="rect">
                <a:avLst/>
              </a:prstGeom>
              <a:solidFill>
                <a:schemeClr val="accent4">
                  <a:lumMod val="20000"/>
                  <a:lumOff val="80000"/>
                </a:schemeClr>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rPr>
                  <a:t>=1</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cxnSp>
            <p:nvCxnSpPr>
              <p:cNvPr id="50" name="肘形连接符 49"/>
              <p:cNvCxnSpPr/>
              <p:nvPr/>
            </p:nvCxnSpPr>
            <p:spPr>
              <a:xfrm>
                <a:off x="1910439" y="2752472"/>
                <a:ext cx="399415" cy="102046"/>
              </a:xfrm>
              <a:prstGeom prst="bentConnector3">
                <a:avLst>
                  <a:gd name="adj1" fmla="val 50000"/>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a:off x="2593124" y="2990637"/>
                <a:ext cx="216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1008016" y="2467691"/>
                <a:ext cx="304892" cy="784830"/>
              </a:xfrm>
              <a:prstGeom prst="rect">
                <a:avLst/>
              </a:prstGeom>
              <a:grpFill/>
            </p:spPr>
            <p:txBody>
              <a:bodyPr wrap="none" rtlCol="0">
                <a:spAutoFit/>
              </a:bodyPr>
              <a:lstStyle/>
              <a:p>
                <a:pPr>
                  <a:lnSpc>
                    <a:spcPts val="1800"/>
                  </a:lnSpc>
                </a:pPr>
                <a:r>
                  <a:rPr lang="en-US" altLang="zh-CN" sz="1400" b="1" i="1" dirty="0">
                    <a:latin typeface="Times New Roman" panose="02020603050405020304" pitchFamily="18" charset="0"/>
                    <a:cs typeface="Times New Roman" panose="02020603050405020304" pitchFamily="18" charset="0"/>
                  </a:rPr>
                  <a:t>A</a:t>
                </a:r>
                <a:endParaRPr lang="en-US" altLang="zh-CN" sz="1400" b="1" i="1" dirty="0">
                  <a:latin typeface="Times New Roman" panose="02020603050405020304" pitchFamily="18" charset="0"/>
                  <a:cs typeface="Times New Roman" panose="02020603050405020304" pitchFamily="18" charset="0"/>
                </a:endParaRPr>
              </a:p>
              <a:p>
                <a:pPr>
                  <a:lnSpc>
                    <a:spcPts val="1800"/>
                  </a:lnSpc>
                </a:pPr>
                <a:r>
                  <a:rPr lang="en-US" altLang="zh-CN" sz="1400" b="1" i="1" dirty="0">
                    <a:latin typeface="Times New Roman" panose="02020603050405020304" pitchFamily="18" charset="0"/>
                    <a:cs typeface="Times New Roman" panose="02020603050405020304" pitchFamily="18" charset="0"/>
                  </a:rPr>
                  <a:t>B</a:t>
                </a:r>
                <a:endParaRPr lang="en-US" altLang="zh-CN" sz="1400" b="1" i="1" dirty="0">
                  <a:latin typeface="Times New Roman" panose="02020603050405020304" pitchFamily="18" charset="0"/>
                  <a:cs typeface="Times New Roman" panose="02020603050405020304" pitchFamily="18" charset="0"/>
                </a:endParaRPr>
              </a:p>
              <a:p>
                <a:pPr>
                  <a:lnSpc>
                    <a:spcPts val="1800"/>
                  </a:lnSpc>
                </a:pPr>
                <a:r>
                  <a:rPr lang="en-US" altLang="zh-CN" sz="1400" b="1" i="1" dirty="0">
                    <a:latin typeface="Times New Roman" panose="02020603050405020304" pitchFamily="18" charset="0"/>
                    <a:cs typeface="Times New Roman" panose="02020603050405020304" pitchFamily="18" charset="0"/>
                  </a:rPr>
                  <a:t>C</a:t>
                </a:r>
                <a:endParaRPr lang="zh-CN" altLang="en-US" sz="1400" b="1" i="1" dirty="0">
                  <a:latin typeface="Times New Roman" panose="02020603050405020304" pitchFamily="18" charset="0"/>
                  <a:cs typeface="Times New Roman" panose="02020603050405020304" pitchFamily="18" charset="0"/>
                </a:endParaRPr>
              </a:p>
            </p:txBody>
          </p:sp>
          <p:sp>
            <p:nvSpPr>
              <p:cNvPr id="78" name="TextBox 77"/>
              <p:cNvSpPr txBox="1"/>
              <p:nvPr/>
            </p:nvSpPr>
            <p:spPr>
              <a:xfrm>
                <a:off x="2755226" y="2836641"/>
                <a:ext cx="299095" cy="335270"/>
              </a:xfrm>
              <a:prstGeom prst="rect">
                <a:avLst/>
              </a:prstGeom>
              <a:grpFill/>
            </p:spPr>
            <p:txBody>
              <a:bodyPr wrap="none" rtlCol="0">
                <a:spAutoFit/>
              </a:bodyPr>
              <a:lstStyle/>
              <a:p>
                <a:pPr>
                  <a:lnSpc>
                    <a:spcPts val="1800"/>
                  </a:lnSpc>
                </a:pPr>
                <a:r>
                  <a:rPr lang="en-US" altLang="zh-CN" sz="1400" b="1" i="1" dirty="0">
                    <a:latin typeface="Times New Roman" panose="02020603050405020304" pitchFamily="18" charset="0"/>
                    <a:cs typeface="Times New Roman" panose="02020603050405020304" pitchFamily="18" charset="0"/>
                  </a:rPr>
                  <a:t>F</a:t>
                </a:r>
                <a:endParaRPr lang="zh-CN" altLang="en-US" sz="1400" b="1" i="1" dirty="0">
                  <a:latin typeface="Times New Roman" panose="02020603050405020304" pitchFamily="18" charset="0"/>
                  <a:cs typeface="Times New Roman" panose="02020603050405020304" pitchFamily="18" charset="0"/>
                </a:endParaRPr>
              </a:p>
            </p:txBody>
          </p:sp>
          <p:sp>
            <p:nvSpPr>
              <p:cNvPr id="61" name="Rectangle 12"/>
              <p:cNvSpPr>
                <a:spLocks noChangeArrowheads="1"/>
              </p:cNvSpPr>
              <p:nvPr/>
            </p:nvSpPr>
            <p:spPr bwMode="auto">
              <a:xfrm>
                <a:off x="2322576" y="2752425"/>
                <a:ext cx="281874" cy="470666"/>
              </a:xfrm>
              <a:prstGeom prst="rect">
                <a:avLst/>
              </a:prstGeom>
              <a:solidFill>
                <a:schemeClr val="accent4">
                  <a:lumMod val="20000"/>
                  <a:lumOff val="80000"/>
                </a:schemeClr>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rPr>
                  <a:t>=1</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grpSp>
      </p:grpSp>
      <p:graphicFrame>
        <p:nvGraphicFramePr>
          <p:cNvPr id="66" name="表格 65"/>
          <p:cNvGraphicFramePr>
            <a:graphicFrameLocks noGrp="1"/>
          </p:cNvGraphicFramePr>
          <p:nvPr/>
        </p:nvGraphicFramePr>
        <p:xfrm>
          <a:off x="4132014" y="1733904"/>
          <a:ext cx="1684366" cy="1947550"/>
        </p:xfrm>
        <a:graphic>
          <a:graphicData uri="http://schemas.openxmlformats.org/drawingml/2006/table">
            <a:tbl>
              <a:tblPr firstRow="1" bandRow="1">
                <a:tableStyleId>{5C22544A-7EE6-4342-B048-85BDC9FD1C3A}</a:tableStyleId>
              </a:tblPr>
              <a:tblGrid>
                <a:gridCol w="944139"/>
                <a:gridCol w="398321"/>
                <a:gridCol w="341906"/>
              </a:tblGrid>
              <a:tr h="214133">
                <a:tc>
                  <a:txBody>
                    <a:bodyPr/>
                    <a:lstStyle/>
                    <a:p>
                      <a:pPr algn="ctr">
                        <a:lnSpc>
                          <a:spcPts val="1200"/>
                        </a:lnSpc>
                      </a:pPr>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0" dirty="0">
                          <a:solidFill>
                            <a:schemeClr val="tx1"/>
                          </a:solidFill>
                          <a:latin typeface="Times New Roman" panose="02020603050405020304" pitchFamily="18" charset="0"/>
                          <a:cs typeface="Times New Roman" panose="02020603050405020304" pitchFamily="18" charset="0"/>
                        </a:rPr>
                        <a:t>     B     C</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0" marR="0" marT="0" marB="0" anchor="b">
                    <a:lnL w="19050" cap="flat" cmpd="sng" algn="ctr">
                      <a:no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ts val="1200"/>
                        </a:lnSpc>
                      </a:pPr>
                      <a:r>
                        <a:rPr lang="en-US" altLang="zh-CN" sz="1400" b="1" i="1" dirty="0">
                          <a:solidFill>
                            <a:schemeClr val="tx1"/>
                          </a:solidFill>
                          <a:latin typeface="Times New Roman" panose="02020603050405020304" pitchFamily="18" charset="0"/>
                          <a:cs typeface="Times New Roman" panose="02020603050405020304" pitchFamily="18" charset="0"/>
                        </a:rPr>
                        <a:t>P</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0" marR="0" marT="0" marB="0" anchor="b">
                    <a:lnL w="19050" cap="flat" cmpd="sng" algn="ctr">
                      <a:solidFill>
                        <a:schemeClr val="accent5"/>
                      </a:solid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ts val="1200"/>
                        </a:lnSpc>
                      </a:pPr>
                      <a:r>
                        <a:rPr lang="en-US" altLang="zh-CN" sz="1400" b="1" i="1" dirty="0">
                          <a:solidFill>
                            <a:schemeClr val="tx1"/>
                          </a:solidFill>
                          <a:latin typeface="Times New Roman" panose="02020603050405020304" pitchFamily="18" charset="0"/>
                          <a:cs typeface="Times New Roman" panose="02020603050405020304" pitchFamily="18" charset="0"/>
                        </a:rPr>
                        <a:t>F</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0" marR="0" marT="0" marB="0" anchor="b">
                    <a:lnL w="19050" cap="flat" cmpd="sng" algn="ctr">
                      <a:solidFill>
                        <a:schemeClr val="accent5"/>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733417">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zh-CN" altLang="en-US" sz="1400" b="1" dirty="0">
                        <a:solidFill>
                          <a:schemeClr val="tx1"/>
                        </a:solidFill>
                        <a:latin typeface="Times New Roman" panose="02020603050405020304" pitchFamily="18" charset="0"/>
                        <a:cs typeface="Times New Roman" panose="02020603050405020304" pitchFamily="18" charset="0"/>
                      </a:endParaRPr>
                    </a:p>
                  </a:txBody>
                  <a:tcPr marL="0" marR="0" marT="0" marB="0" anchor="b">
                    <a:lnL w="19050" cap="flat" cmpd="sng" algn="ctr">
                      <a:no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400" b="1" dirty="0">
                        <a:solidFill>
                          <a:schemeClr val="tx1"/>
                        </a:solidFill>
                        <a:latin typeface="Times New Roman" panose="02020603050405020304" pitchFamily="18" charset="0"/>
                        <a:cs typeface="Times New Roman" panose="02020603050405020304" pitchFamily="18" charset="0"/>
                      </a:endParaRPr>
                    </a:p>
                  </a:txBody>
                  <a:tcPr marL="0" marR="0" marT="0" marB="0" anchor="b">
                    <a:lnL w="19050" cap="flat" cmpd="sng" algn="ctr">
                      <a:solidFill>
                        <a:schemeClr val="accent5"/>
                      </a:solid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400" b="1" dirty="0">
                        <a:solidFill>
                          <a:schemeClr val="tx1"/>
                        </a:solidFill>
                        <a:latin typeface="Times New Roman" panose="02020603050405020304" pitchFamily="18" charset="0"/>
                        <a:cs typeface="Times New Roman" panose="02020603050405020304" pitchFamily="18" charset="0"/>
                      </a:endParaRPr>
                    </a:p>
                  </a:txBody>
                  <a:tcPr marL="0" marR="0" marT="0" marB="0" anchor="b">
                    <a:lnL w="19050" cap="flat" cmpd="sng" algn="ctr">
                      <a:solidFill>
                        <a:schemeClr val="accent5"/>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75" name="矩形 74"/>
          <p:cNvSpPr/>
          <p:nvPr/>
        </p:nvSpPr>
        <p:spPr>
          <a:xfrm>
            <a:off x="5104740" y="1953784"/>
            <a:ext cx="324000" cy="1728000"/>
          </a:xfrm>
          <a:prstGeom prst="rect">
            <a:avLst/>
          </a:prstGeom>
          <a:noFill/>
        </p:spPr>
        <p:txBody>
          <a:bodyPr wrap="square" lIns="0" tIns="0" rIns="0" bIns="0">
            <a:spAutoFit/>
          </a:bodyPr>
          <a:lstStyle/>
          <a:p>
            <a:pPr algn="ctr">
              <a:lnSpc>
                <a:spcPct val="100000"/>
              </a:lnSpc>
            </a:pPr>
            <a:r>
              <a:rPr lang="en-US" altLang="zh-CN" sz="1400" b="1" dirty="0">
                <a:latin typeface="Times New Roman" panose="02020603050405020304" pitchFamily="18" charset="0"/>
                <a:cs typeface="Times New Roman" panose="02020603050405020304" pitchFamily="18" charset="0"/>
              </a:rPr>
              <a:t>0</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0</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0</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0</a:t>
            </a:r>
            <a:endParaRPr lang="zh-CN" altLang="en-US" sz="1400" b="1" dirty="0">
              <a:latin typeface="Times New Roman" panose="02020603050405020304" pitchFamily="18" charset="0"/>
              <a:cs typeface="Times New Roman" panose="02020603050405020304" pitchFamily="18" charset="0"/>
            </a:endParaRPr>
          </a:p>
        </p:txBody>
      </p:sp>
      <p:grpSp>
        <p:nvGrpSpPr>
          <p:cNvPr id="38" name="组合 37"/>
          <p:cNvGrpSpPr/>
          <p:nvPr/>
        </p:nvGrpSpPr>
        <p:grpSpPr>
          <a:xfrm>
            <a:off x="344806" y="722299"/>
            <a:ext cx="3114144" cy="420971"/>
            <a:chOff x="670560" y="892917"/>
            <a:chExt cx="3114144" cy="420971"/>
          </a:xfrm>
        </p:grpSpPr>
        <p:sp>
          <p:nvSpPr>
            <p:cNvPr id="40" name="矩形 39"/>
            <p:cNvSpPr/>
            <p:nvPr/>
          </p:nvSpPr>
          <p:spPr>
            <a:xfrm>
              <a:off x="1035233" y="913778"/>
              <a:ext cx="2749471"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组合逻辑电路分析实例</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81" name="TextBox 80"/>
          <p:cNvSpPr txBox="1"/>
          <p:nvPr/>
        </p:nvSpPr>
        <p:spPr>
          <a:xfrm>
            <a:off x="2223983" y="1829828"/>
            <a:ext cx="193207" cy="215444"/>
          </a:xfrm>
          <a:prstGeom prst="rect">
            <a:avLst/>
          </a:prstGeom>
          <a:solidFill>
            <a:srgbClr val="66FF66"/>
          </a:solidFill>
        </p:spPr>
        <p:txBody>
          <a:bodyPr wrap="square" lIns="0" tIns="0" rIns="0" bIns="0" rtlCol="0">
            <a:spAutoFit/>
          </a:bodyPr>
          <a:lstStyle/>
          <a:p>
            <a:pPr algn="ctr"/>
            <a:r>
              <a:rPr lang="en-US" altLang="zh-CN" sz="1400" b="1" i="1" dirty="0">
                <a:solidFill>
                  <a:srgbClr val="6600FF"/>
                </a:solidFill>
                <a:latin typeface="Times New Roman" panose="02020603050405020304" pitchFamily="18" charset="0"/>
                <a:cs typeface="Times New Roman" panose="02020603050405020304" pitchFamily="18" charset="0"/>
              </a:rPr>
              <a:t>P</a:t>
            </a:r>
            <a:endParaRPr lang="zh-CN" altLang="en-US" sz="1400" b="1" baseline="-25000" dirty="0">
              <a:solidFill>
                <a:srgbClr val="6600FF"/>
              </a:solidFill>
              <a:latin typeface="Times New Roman" panose="02020603050405020304" pitchFamily="18" charset="0"/>
              <a:cs typeface="Times New Roman" panose="02020603050405020304" pitchFamily="18" charset="0"/>
            </a:endParaRPr>
          </a:p>
        </p:txBody>
      </p:sp>
      <p:grpSp>
        <p:nvGrpSpPr>
          <p:cNvPr id="87" name="组合 86"/>
          <p:cNvGrpSpPr/>
          <p:nvPr/>
        </p:nvGrpSpPr>
        <p:grpSpPr>
          <a:xfrm>
            <a:off x="369777" y="1200648"/>
            <a:ext cx="2979973" cy="374630"/>
            <a:chOff x="369777" y="1347760"/>
            <a:chExt cx="2979973" cy="374630"/>
          </a:xfrm>
        </p:grpSpPr>
        <p:sp>
          <p:nvSpPr>
            <p:cNvPr id="51" name="TextBox 50"/>
            <p:cNvSpPr txBox="1"/>
            <p:nvPr/>
          </p:nvSpPr>
          <p:spPr>
            <a:xfrm>
              <a:off x="723710" y="1350409"/>
              <a:ext cx="2626040" cy="369332"/>
            </a:xfrm>
            <a:prstGeom prst="rect">
              <a:avLst/>
            </a:prstGeom>
            <a:noFill/>
          </p:spPr>
          <p:txBody>
            <a:bodyPr wrap="none" rtlCol="0">
              <a:spAutoFit/>
            </a:bodyPr>
            <a:lstStyle/>
            <a:p>
              <a:r>
                <a:rPr lang="zh-CN" altLang="en-US" b="1" dirty="0">
                  <a:solidFill>
                    <a:srgbClr val="CC00CC"/>
                  </a:solidFill>
                  <a:latin typeface="黑体" panose="02010609060101010101" pitchFamily="49" charset="-122"/>
                  <a:ea typeface="黑体" panose="02010609060101010101" pitchFamily="49" charset="-122"/>
                </a:rPr>
                <a:t>例</a:t>
              </a:r>
              <a:r>
                <a:rPr lang="en-US" altLang="zh-CN" b="1" dirty="0">
                  <a:solidFill>
                    <a:srgbClr val="CC00CC"/>
                  </a:solidFill>
                  <a:latin typeface="黑体" panose="02010609060101010101" pitchFamily="49" charset="-122"/>
                  <a:ea typeface="黑体" panose="02010609060101010101" pitchFamily="49" charset="-122"/>
                </a:rPr>
                <a:t>1</a:t>
              </a:r>
              <a:r>
                <a:rPr lang="zh-CN" altLang="en-US" b="1" dirty="0">
                  <a:solidFill>
                    <a:srgbClr val="CC00CC"/>
                  </a:solidFill>
                  <a:latin typeface="黑体" panose="02010609060101010101" pitchFamily="49" charset="-122"/>
                  <a:ea typeface="黑体" panose="02010609060101010101" pitchFamily="49" charset="-122"/>
                </a:rPr>
                <a:t>：</a:t>
              </a:r>
              <a:r>
                <a:rPr lang="zh-CN" altLang="en-US" b="1" dirty="0">
                  <a:solidFill>
                    <a:srgbClr val="6600FF"/>
                  </a:solidFill>
                  <a:latin typeface="黑体" panose="02010609060101010101" pitchFamily="49" charset="-122"/>
                  <a:ea typeface="黑体" panose="02010609060101010101" pitchFamily="49" charset="-122"/>
                </a:rPr>
                <a:t>分析图示逻辑电路</a:t>
              </a:r>
              <a:endParaRPr lang="zh-CN" altLang="en-US" b="1" dirty="0">
                <a:solidFill>
                  <a:srgbClr val="6600FF"/>
                </a:solidFill>
                <a:latin typeface="黑体" panose="02010609060101010101" pitchFamily="49" charset="-122"/>
                <a:ea typeface="黑体" panose="02010609060101010101" pitchFamily="49" charset="-122"/>
              </a:endParaRPr>
            </a:p>
          </p:txBody>
        </p:sp>
        <p:pic>
          <p:nvPicPr>
            <p:cNvPr id="1028" name="Picture 4"/>
            <p:cNvPicPr>
              <a:picLocks noChangeAspect="1" noChangeArrowheads="1"/>
            </p:cNvPicPr>
            <p:nvPr/>
          </p:nvPicPr>
          <p:blipFill>
            <a:blip r:embed="rId2"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88" name="组合 87"/>
          <p:cNvGrpSpPr/>
          <p:nvPr/>
        </p:nvGrpSpPr>
        <p:grpSpPr>
          <a:xfrm>
            <a:off x="446613" y="2861731"/>
            <a:ext cx="833584" cy="369332"/>
            <a:chOff x="4330854" y="1354964"/>
            <a:chExt cx="833584" cy="369332"/>
          </a:xfrm>
        </p:grpSpPr>
        <p:sp>
          <p:nvSpPr>
            <p:cNvPr id="86" name="矩形 85"/>
            <p:cNvSpPr/>
            <p:nvPr/>
          </p:nvSpPr>
          <p:spPr>
            <a:xfrm>
              <a:off x="4633523" y="1354964"/>
              <a:ext cx="530915" cy="369332"/>
            </a:xfrm>
            <a:prstGeom prst="rect">
              <a:avLst/>
            </a:prstGeom>
          </p:spPr>
          <p:txBody>
            <a:bodyPr wrap="none">
              <a:spAutoFit/>
            </a:bodyPr>
            <a:lstStyle/>
            <a:p>
              <a:r>
                <a:rPr lang="zh-CN" altLang="en-US" b="1" dirty="0">
                  <a:solidFill>
                    <a:srgbClr val="CC00CC"/>
                  </a:solidFill>
                  <a:latin typeface="黑体" panose="02010609060101010101" pitchFamily="49" charset="-122"/>
                  <a:ea typeface="黑体" panose="02010609060101010101" pitchFamily="49" charset="-122"/>
                </a:rPr>
                <a:t>解</a:t>
              </a:r>
              <a:r>
                <a:rPr lang="en-US" altLang="zh-CN" b="1" dirty="0">
                  <a:solidFill>
                    <a:srgbClr val="CC00CC"/>
                  </a:solidFill>
                  <a:latin typeface="黑体" panose="02010609060101010101" pitchFamily="49" charset="-122"/>
                  <a:ea typeface="黑体" panose="02010609060101010101" pitchFamily="49" charset="-122"/>
                  <a:sym typeface="Wingdings" panose="05000000000000000000" pitchFamily="2" charset="2"/>
                </a:rPr>
                <a:t>:</a:t>
              </a:r>
              <a:endParaRPr lang="zh-CN" altLang="en-US" b="1" dirty="0">
                <a:solidFill>
                  <a:srgbClr val="CC00CC"/>
                </a:solidFill>
                <a:latin typeface="黑体" panose="02010609060101010101" pitchFamily="49" charset="-122"/>
                <a:ea typeface="黑体" panose="02010609060101010101" pitchFamily="49" charset="-122"/>
              </a:endParaRPr>
            </a:p>
          </p:txBody>
        </p:sp>
        <p:pic>
          <p:nvPicPr>
            <p:cNvPr id="1029" name="Picture 5"/>
            <p:cNvPicPr>
              <a:picLocks noChangeAspect="1" noChangeArrowheads="1"/>
            </p:cNvPicPr>
            <p:nvPr/>
          </p:nvPicPr>
          <p:blipFill>
            <a:blip r:embed="rId3" cstate="print"/>
            <a:srcRect/>
            <a:stretch>
              <a:fillRect/>
            </a:stretch>
          </p:blipFill>
          <p:spPr bwMode="auto">
            <a:xfrm>
              <a:off x="4330854" y="1369617"/>
              <a:ext cx="348489" cy="340027"/>
            </a:xfrm>
            <a:prstGeom prst="rect">
              <a:avLst/>
            </a:prstGeom>
            <a:noFill/>
            <a:ln w="9525">
              <a:noFill/>
              <a:miter lim="800000"/>
              <a:headEnd/>
              <a:tailEnd/>
            </a:ln>
          </p:spPr>
        </p:pic>
      </p:grpSp>
      <p:sp>
        <p:nvSpPr>
          <p:cNvPr id="89" name="矩形 88"/>
          <p:cNvSpPr/>
          <p:nvPr/>
        </p:nvSpPr>
        <p:spPr>
          <a:xfrm>
            <a:off x="1131161" y="2875594"/>
            <a:ext cx="2627642" cy="369332"/>
          </a:xfrm>
          <a:prstGeom prst="rect">
            <a:avLst/>
          </a:prstGeom>
        </p:spPr>
        <p:txBody>
          <a:bodyPr wrap="none">
            <a:spAutoFit/>
          </a:bodyPr>
          <a:lstStyle/>
          <a:p>
            <a:r>
              <a:rPr lang="en-US" altLang="zh-CN" b="1" dirty="0">
                <a:solidFill>
                  <a:srgbClr val="6600FF"/>
                </a:solidFill>
                <a:latin typeface="黑体" panose="02010609060101010101" pitchFamily="49" charset="-122"/>
                <a:ea typeface="黑体" panose="02010609060101010101" pitchFamily="49" charset="-122"/>
              </a:rPr>
              <a:t>(1)</a:t>
            </a:r>
            <a:r>
              <a:rPr lang="zh-CN" altLang="en-US" b="1" dirty="0">
                <a:solidFill>
                  <a:srgbClr val="6600FF"/>
                </a:solidFill>
                <a:latin typeface="黑体" panose="02010609060101010101" pitchFamily="49" charset="-122"/>
                <a:ea typeface="黑体" panose="02010609060101010101" pitchFamily="49" charset="-122"/>
              </a:rPr>
              <a:t>写输出端逻辑表达式</a:t>
            </a:r>
            <a:endParaRPr lang="zh-CN" altLang="en-US" b="1" dirty="0"/>
          </a:p>
        </p:txBody>
      </p:sp>
      <p:graphicFrame>
        <p:nvGraphicFramePr>
          <p:cNvPr id="90" name="对象 89"/>
          <p:cNvGraphicFramePr>
            <a:graphicFrameLocks noChangeAspect="1"/>
          </p:cNvGraphicFramePr>
          <p:nvPr/>
        </p:nvGraphicFramePr>
        <p:xfrm>
          <a:off x="1257618" y="3278278"/>
          <a:ext cx="919162" cy="242887"/>
        </p:xfrm>
        <a:graphic>
          <a:graphicData uri="http://schemas.openxmlformats.org/presentationml/2006/ole">
            <mc:AlternateContent xmlns:mc="http://schemas.openxmlformats.org/markup-compatibility/2006">
              <mc:Choice xmlns:v="urn:schemas-microsoft-com:vml" Requires="v">
                <p:oleObj spid="_x0000_s15395" name="公式" r:id="rId4" imgW="672465" imgH="177800" progId="Equation.3">
                  <p:embed/>
                </p:oleObj>
              </mc:Choice>
              <mc:Fallback>
                <p:oleObj name="公式" r:id="rId4" imgW="672465" imgH="177800" progId="Equation.3">
                  <p:embed/>
                  <p:pic>
                    <p:nvPicPr>
                      <p:cNvPr id="0" name="对象 8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7618" y="3278278"/>
                        <a:ext cx="919162" cy="242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3" name="Object 9"/>
          <p:cNvGraphicFramePr>
            <a:graphicFrameLocks noChangeAspect="1"/>
          </p:cNvGraphicFramePr>
          <p:nvPr/>
        </p:nvGraphicFramePr>
        <p:xfrm>
          <a:off x="1257618" y="3638550"/>
          <a:ext cx="933450" cy="242888"/>
        </p:xfrm>
        <a:graphic>
          <a:graphicData uri="http://schemas.openxmlformats.org/presentationml/2006/ole">
            <mc:AlternateContent xmlns:mc="http://schemas.openxmlformats.org/markup-compatibility/2006">
              <mc:Choice xmlns:v="urn:schemas-microsoft-com:vml" Requires="v">
                <p:oleObj spid="_x0000_s15396" name="公式" r:id="rId6" imgW="685800" imgH="177800" progId="Equation.3">
                  <p:embed/>
                </p:oleObj>
              </mc:Choice>
              <mc:Fallback>
                <p:oleObj name="公式" r:id="rId6" imgW="685800" imgH="177800" progId="Equation.3">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7618" y="3638550"/>
                        <a:ext cx="933450" cy="242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5" name="矩形 94"/>
          <p:cNvSpPr/>
          <p:nvPr/>
        </p:nvSpPr>
        <p:spPr>
          <a:xfrm>
            <a:off x="643448" y="3950306"/>
            <a:ext cx="3324949" cy="369332"/>
          </a:xfrm>
          <a:prstGeom prst="rect">
            <a:avLst/>
          </a:prstGeom>
        </p:spPr>
        <p:txBody>
          <a:bodyPr wrap="none">
            <a:spAutoFit/>
          </a:bodyPr>
          <a:lstStyle/>
          <a:p>
            <a:r>
              <a:rPr lang="en-US" altLang="zh-CN" b="1" dirty="0">
                <a:solidFill>
                  <a:srgbClr val="6600FF"/>
                </a:solidFill>
                <a:latin typeface="黑体" panose="02010609060101010101" pitchFamily="49" charset="-122"/>
                <a:ea typeface="黑体" panose="02010609060101010101" pitchFamily="49" charset="-122"/>
              </a:rPr>
              <a:t>(2)</a:t>
            </a:r>
            <a:r>
              <a:rPr lang="zh-CN" altLang="en-US" b="1" dirty="0">
                <a:solidFill>
                  <a:srgbClr val="6600FF"/>
                </a:solidFill>
                <a:latin typeface="黑体" panose="02010609060101010101" pitchFamily="49" charset="-122"/>
                <a:ea typeface="黑体" panose="02010609060101010101" pitchFamily="49" charset="-122"/>
              </a:rPr>
              <a:t>化简变换逻辑表达式</a:t>
            </a:r>
            <a:r>
              <a:rPr lang="zh-CN" altLang="en-US" b="1" dirty="0">
                <a:solidFill>
                  <a:srgbClr val="CC00CC"/>
                </a:solidFill>
                <a:latin typeface="黑体" panose="02010609060101010101" pitchFamily="49" charset="-122"/>
                <a:ea typeface="黑体" panose="02010609060101010101" pitchFamily="49" charset="-122"/>
              </a:rPr>
              <a:t>（略）</a:t>
            </a:r>
            <a:endParaRPr lang="zh-CN" altLang="en-US" b="1" dirty="0">
              <a:solidFill>
                <a:srgbClr val="CC00CC"/>
              </a:solidFill>
            </a:endParaRPr>
          </a:p>
        </p:txBody>
      </p:sp>
      <p:sp>
        <p:nvSpPr>
          <p:cNvPr id="65" name="矩形 64"/>
          <p:cNvSpPr/>
          <p:nvPr/>
        </p:nvSpPr>
        <p:spPr>
          <a:xfrm>
            <a:off x="3953850" y="1244384"/>
            <a:ext cx="1465466" cy="369332"/>
          </a:xfrm>
          <a:prstGeom prst="rect">
            <a:avLst/>
          </a:prstGeom>
        </p:spPr>
        <p:txBody>
          <a:bodyPr wrap="none">
            <a:spAutoFit/>
          </a:bodyPr>
          <a:lstStyle/>
          <a:p>
            <a:r>
              <a:rPr lang="en-US" altLang="zh-CN" b="1" dirty="0">
                <a:solidFill>
                  <a:srgbClr val="6600FF"/>
                </a:solidFill>
                <a:latin typeface="黑体" panose="02010609060101010101" pitchFamily="49" charset="-122"/>
                <a:ea typeface="黑体" panose="02010609060101010101" pitchFamily="49" charset="-122"/>
              </a:rPr>
              <a:t>(3)</a:t>
            </a:r>
            <a:r>
              <a:rPr lang="zh-CN" altLang="en-US" b="1" dirty="0">
                <a:solidFill>
                  <a:srgbClr val="6600FF"/>
                </a:solidFill>
                <a:latin typeface="黑体" panose="02010609060101010101" pitchFamily="49" charset="-122"/>
                <a:ea typeface="黑体" panose="02010609060101010101" pitchFamily="49" charset="-122"/>
              </a:rPr>
              <a:t>列真值表</a:t>
            </a:r>
            <a:endParaRPr lang="zh-CN" altLang="en-US" b="1" dirty="0"/>
          </a:p>
        </p:txBody>
      </p:sp>
      <p:sp>
        <p:nvSpPr>
          <p:cNvPr id="67" name="矩形 66"/>
          <p:cNvSpPr/>
          <p:nvPr/>
        </p:nvSpPr>
        <p:spPr>
          <a:xfrm>
            <a:off x="5104740" y="1953784"/>
            <a:ext cx="324000" cy="1728000"/>
          </a:xfrm>
          <a:prstGeom prst="rect">
            <a:avLst/>
          </a:prstGeom>
          <a:noFill/>
        </p:spPr>
        <p:txBody>
          <a:bodyPr wrap="square" lIns="0" tIns="0" rIns="0" bIns="0">
            <a:spAutoFit/>
          </a:bodyPr>
          <a:lstStyle/>
          <a:p>
            <a:pPr algn="ctr">
              <a:lnSpc>
                <a:spcPct val="100000"/>
              </a:lnSpc>
            </a:pP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endParaRPr lang="en-US" altLang="zh-CN" sz="1400" b="1" dirty="0">
              <a:latin typeface="Times New Roman" panose="02020603050405020304" pitchFamily="18" charset="0"/>
              <a:cs typeface="Times New Roman" panose="02020603050405020304" pitchFamily="18" charset="0"/>
            </a:endParaRPr>
          </a:p>
        </p:txBody>
      </p:sp>
      <p:sp>
        <p:nvSpPr>
          <p:cNvPr id="69" name="矩形 68"/>
          <p:cNvSpPr/>
          <p:nvPr/>
        </p:nvSpPr>
        <p:spPr>
          <a:xfrm>
            <a:off x="4170461" y="1953784"/>
            <a:ext cx="866692" cy="1728000"/>
          </a:xfrm>
          <a:prstGeom prst="rect">
            <a:avLst/>
          </a:prstGeom>
        </p:spPr>
        <p:txBody>
          <a:bodyPr wrap="square" lIns="0" tIns="0" rIns="0" bIns="0">
            <a:spAutoFit/>
          </a:bodyPr>
          <a:lstStyle/>
          <a:p>
            <a:pPr algn="ctr">
              <a:defRPr/>
            </a:pPr>
            <a:r>
              <a:rPr lang="en-US" altLang="zh-CN" sz="1400" b="1" dirty="0">
                <a:latin typeface="Times New Roman" panose="02020603050405020304" pitchFamily="18" charset="0"/>
                <a:cs typeface="Times New Roman" panose="02020603050405020304" pitchFamily="18" charset="0"/>
              </a:rPr>
              <a:t>0     0     0</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0     0     1</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0     1     0</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0     1     1</a:t>
            </a:r>
            <a:endParaRPr lang="en-US" altLang="zh-CN"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1     0     0</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1     0     1</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1     1     0</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1     1     1</a:t>
            </a:r>
            <a:endParaRPr lang="zh-CN" altLang="en-US" sz="1400" b="1" dirty="0">
              <a:latin typeface="Times New Roman" panose="02020603050405020304" pitchFamily="18" charset="0"/>
              <a:cs typeface="Times New Roman" panose="02020603050405020304" pitchFamily="18" charset="0"/>
            </a:endParaRPr>
          </a:p>
        </p:txBody>
      </p:sp>
      <p:sp>
        <p:nvSpPr>
          <p:cNvPr id="70" name="圆角矩形 69"/>
          <p:cNvSpPr/>
          <p:nvPr/>
        </p:nvSpPr>
        <p:spPr>
          <a:xfrm>
            <a:off x="4179752" y="1954696"/>
            <a:ext cx="540000" cy="1692000"/>
          </a:xfrm>
          <a:prstGeom prst="roundRect">
            <a:avLst>
              <a:gd name="adj" fmla="val 3131"/>
            </a:avLst>
          </a:prstGeom>
          <a:solidFill>
            <a:srgbClr val="66FFCC">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4" name="圆角矩形 73"/>
          <p:cNvSpPr/>
          <p:nvPr/>
        </p:nvSpPr>
        <p:spPr>
          <a:xfrm>
            <a:off x="4175757" y="2389368"/>
            <a:ext cx="540000" cy="828000"/>
          </a:xfrm>
          <a:prstGeom prst="roundRect">
            <a:avLst>
              <a:gd name="adj" fmla="val 3131"/>
            </a:avLst>
          </a:prstGeom>
          <a:solidFill>
            <a:srgbClr val="FF00FF">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6" name="圆角矩形 75"/>
          <p:cNvSpPr/>
          <p:nvPr/>
        </p:nvSpPr>
        <p:spPr>
          <a:xfrm>
            <a:off x="4793310" y="1962645"/>
            <a:ext cx="540000" cy="1692000"/>
          </a:xfrm>
          <a:prstGeom prst="roundRect">
            <a:avLst>
              <a:gd name="adj" fmla="val 3131"/>
            </a:avLst>
          </a:prstGeom>
          <a:solidFill>
            <a:srgbClr val="66FFCC">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1" name="圆角矩形 90"/>
          <p:cNvSpPr/>
          <p:nvPr/>
        </p:nvSpPr>
        <p:spPr>
          <a:xfrm>
            <a:off x="4793310" y="2183962"/>
            <a:ext cx="540000" cy="396000"/>
          </a:xfrm>
          <a:prstGeom prst="roundRect">
            <a:avLst>
              <a:gd name="adj" fmla="val 3131"/>
            </a:avLst>
          </a:prstGeom>
          <a:solidFill>
            <a:srgbClr val="FF00FF">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2" name="圆角矩形 91"/>
          <p:cNvSpPr/>
          <p:nvPr/>
        </p:nvSpPr>
        <p:spPr>
          <a:xfrm>
            <a:off x="4793310" y="2805487"/>
            <a:ext cx="540000" cy="216000"/>
          </a:xfrm>
          <a:prstGeom prst="roundRect">
            <a:avLst>
              <a:gd name="adj" fmla="val 3131"/>
            </a:avLst>
          </a:prstGeom>
          <a:solidFill>
            <a:srgbClr val="FF00FF">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3" name="圆角矩形 92"/>
          <p:cNvSpPr/>
          <p:nvPr/>
        </p:nvSpPr>
        <p:spPr>
          <a:xfrm>
            <a:off x="4793310" y="3442917"/>
            <a:ext cx="540000" cy="216000"/>
          </a:xfrm>
          <a:prstGeom prst="roundRect">
            <a:avLst>
              <a:gd name="adj" fmla="val 3131"/>
            </a:avLst>
          </a:prstGeom>
          <a:solidFill>
            <a:srgbClr val="FF00FF">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4" name="矩形 93"/>
          <p:cNvSpPr/>
          <p:nvPr/>
        </p:nvSpPr>
        <p:spPr>
          <a:xfrm>
            <a:off x="5482401" y="1953784"/>
            <a:ext cx="324000" cy="1728000"/>
          </a:xfrm>
          <a:prstGeom prst="rect">
            <a:avLst/>
          </a:prstGeom>
          <a:noFill/>
        </p:spPr>
        <p:txBody>
          <a:bodyPr wrap="square" lIns="0" tIns="0" rIns="0" bIns="0">
            <a:spAutoFit/>
          </a:bodyPr>
          <a:lstStyle/>
          <a:p>
            <a:pPr algn="ctr">
              <a:lnSpc>
                <a:spcPct val="100000"/>
              </a:lnSpc>
            </a:pP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p:txBody>
      </p:sp>
      <p:sp>
        <p:nvSpPr>
          <p:cNvPr id="96" name="矩形 95"/>
          <p:cNvSpPr/>
          <p:nvPr/>
        </p:nvSpPr>
        <p:spPr>
          <a:xfrm>
            <a:off x="5482401" y="1953784"/>
            <a:ext cx="324000" cy="1728000"/>
          </a:xfrm>
          <a:prstGeom prst="rect">
            <a:avLst/>
          </a:prstGeom>
          <a:noFill/>
        </p:spPr>
        <p:txBody>
          <a:bodyPr wrap="square" lIns="0" tIns="0" rIns="0" bIns="0">
            <a:spAutoFit/>
          </a:bodyPr>
          <a:lstStyle/>
          <a:p>
            <a:pPr algn="ctr">
              <a:lnSpc>
                <a:spcPct val="100000"/>
              </a:lnSpc>
            </a:pPr>
            <a:r>
              <a:rPr lang="en-US" altLang="zh-CN" sz="1400" b="1" dirty="0">
                <a:latin typeface="Times New Roman" panose="02020603050405020304" pitchFamily="18" charset="0"/>
                <a:cs typeface="Times New Roman" panose="02020603050405020304" pitchFamily="18" charset="0"/>
              </a:rPr>
              <a:t>0</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0</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0</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0</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endParaRPr lang="en-US" altLang="zh-CN" sz="1400" b="1" dirty="0">
              <a:latin typeface="Times New Roman" panose="02020603050405020304" pitchFamily="18" charset="0"/>
              <a:cs typeface="Times New Roman" panose="02020603050405020304" pitchFamily="18" charset="0"/>
            </a:endParaRPr>
          </a:p>
        </p:txBody>
      </p:sp>
      <p:sp>
        <p:nvSpPr>
          <p:cNvPr id="105" name="矩形 104"/>
          <p:cNvSpPr/>
          <p:nvPr/>
        </p:nvSpPr>
        <p:spPr>
          <a:xfrm>
            <a:off x="5998640" y="1237755"/>
            <a:ext cx="1465466" cy="369332"/>
          </a:xfrm>
          <a:prstGeom prst="rect">
            <a:avLst/>
          </a:prstGeom>
        </p:spPr>
        <p:txBody>
          <a:bodyPr wrap="none">
            <a:spAutoFit/>
          </a:bodyPr>
          <a:lstStyle/>
          <a:p>
            <a:r>
              <a:rPr lang="en-US" altLang="zh-CN" b="1" dirty="0">
                <a:solidFill>
                  <a:srgbClr val="6600FF"/>
                </a:solidFill>
                <a:latin typeface="黑体" panose="02010609060101010101" pitchFamily="49" charset="-122"/>
                <a:ea typeface="黑体" panose="02010609060101010101" pitchFamily="49" charset="-122"/>
              </a:rPr>
              <a:t>(4)</a:t>
            </a:r>
            <a:r>
              <a:rPr lang="zh-CN" altLang="en-US" b="1" dirty="0">
                <a:solidFill>
                  <a:srgbClr val="6600FF"/>
                </a:solidFill>
                <a:latin typeface="黑体" panose="02010609060101010101" pitchFamily="49" charset="-122"/>
                <a:ea typeface="黑体" panose="02010609060101010101" pitchFamily="49" charset="-122"/>
              </a:rPr>
              <a:t>归纳功能</a:t>
            </a:r>
            <a:endParaRPr lang="zh-CN" altLang="en-US" b="1" dirty="0"/>
          </a:p>
        </p:txBody>
      </p:sp>
      <p:sp>
        <p:nvSpPr>
          <p:cNvPr id="107" name="圆角矩形 106"/>
          <p:cNvSpPr/>
          <p:nvPr/>
        </p:nvSpPr>
        <p:spPr>
          <a:xfrm>
            <a:off x="6171534" y="1686989"/>
            <a:ext cx="2352264" cy="1453776"/>
          </a:xfrm>
          <a:prstGeom prst="roundRect">
            <a:avLst>
              <a:gd name="adj" fmla="val 4461"/>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defRPr/>
            </a:pPr>
            <a:r>
              <a:rPr lang="zh-CN" altLang="en-US" dirty="0">
                <a:solidFill>
                  <a:schemeClr val="tx1">
                    <a:lumMod val="10000"/>
                  </a:schemeClr>
                </a:solidFill>
                <a:latin typeface="Times New Roman" panose="02020603050405020304" pitchFamily="18" charset="0"/>
                <a:ea typeface="黑体" panose="02010609060101010101" pitchFamily="49" charset="-122"/>
                <a:cs typeface="Times New Roman" panose="02020603050405020304" pitchFamily="18" charset="0"/>
              </a:rPr>
              <a:t>三输入变量取值组合有奇数个1时，输出</a:t>
            </a:r>
            <a:r>
              <a:rPr lang="en-US" altLang="zh-CN" i="1" dirty="0">
                <a:solidFill>
                  <a:schemeClr val="tx1">
                    <a:lumMod val="10000"/>
                  </a:schemeClr>
                </a:solidFill>
                <a:latin typeface="Times New Roman" panose="02020603050405020304" pitchFamily="18" charset="0"/>
                <a:ea typeface="黑体" panose="02010609060101010101" pitchFamily="49" charset="-122"/>
                <a:cs typeface="Times New Roman" panose="02020603050405020304" pitchFamily="18" charset="0"/>
              </a:rPr>
              <a:t>F</a:t>
            </a:r>
            <a:r>
              <a:rPr lang="en-US" altLang="zh-CN" dirty="0">
                <a:solidFill>
                  <a:schemeClr val="tx1">
                    <a:lumMod val="10000"/>
                  </a:schemeClr>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dirty="0">
                <a:solidFill>
                  <a:schemeClr val="tx1">
                    <a:lumMod val="10000"/>
                  </a:schemeClr>
                </a:solidFill>
                <a:latin typeface="Times New Roman" panose="02020603050405020304" pitchFamily="18" charset="0"/>
                <a:ea typeface="黑体" panose="02010609060101010101" pitchFamily="49" charset="-122"/>
                <a:cs typeface="Times New Roman" panose="02020603050405020304" pitchFamily="18" charset="0"/>
              </a:rPr>
              <a:t>否则为0。</a:t>
            </a:r>
            <a:endParaRPr lang="en-US" altLang="zh-CN" dirty="0">
              <a:solidFill>
                <a:schemeClr val="tx1">
                  <a:lumMod val="10000"/>
                </a:schemeClr>
              </a:solidFill>
              <a:latin typeface="Times New Roman" panose="02020603050405020304" pitchFamily="18" charset="0"/>
              <a:ea typeface="黑体" panose="02010609060101010101" pitchFamily="49" charset="-122"/>
              <a:cs typeface="Times New Roman" panose="02020603050405020304" pitchFamily="18" charset="0"/>
            </a:endParaRPr>
          </a:p>
          <a:p>
            <a:pPr algn="ctr">
              <a:lnSpc>
                <a:spcPct val="125000"/>
              </a:lnSpc>
              <a:defRPr/>
            </a:pPr>
            <a:r>
              <a:rPr lang="zh-CN" altLang="en-US"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（奇校验电路）</a:t>
            </a:r>
            <a:endParaRPr lang="zh-CN" altLang="en-US"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48" name="表格 47"/>
          <p:cNvGraphicFramePr>
            <a:graphicFrameLocks noGrp="1"/>
          </p:cNvGraphicFramePr>
          <p:nvPr/>
        </p:nvGraphicFramePr>
        <p:xfrm>
          <a:off x="4129365" y="1739204"/>
          <a:ext cx="1286045" cy="1947550"/>
        </p:xfrm>
        <a:graphic>
          <a:graphicData uri="http://schemas.openxmlformats.org/drawingml/2006/table">
            <a:tbl>
              <a:tblPr firstRow="1" bandRow="1">
                <a:tableStyleId>{5C22544A-7EE6-4342-B048-85BDC9FD1C3A}</a:tableStyleId>
              </a:tblPr>
              <a:tblGrid>
                <a:gridCol w="944139"/>
                <a:gridCol w="341906"/>
              </a:tblGrid>
              <a:tr h="214133">
                <a:tc>
                  <a:txBody>
                    <a:bodyPr/>
                    <a:lstStyle/>
                    <a:p>
                      <a:pPr algn="ctr">
                        <a:lnSpc>
                          <a:spcPts val="1200"/>
                        </a:lnSpc>
                      </a:pPr>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0" dirty="0">
                          <a:solidFill>
                            <a:schemeClr val="tx1"/>
                          </a:solidFill>
                          <a:latin typeface="Times New Roman" panose="02020603050405020304" pitchFamily="18" charset="0"/>
                          <a:cs typeface="Times New Roman" panose="02020603050405020304" pitchFamily="18" charset="0"/>
                        </a:rPr>
                        <a:t>     B     C</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0" marR="0" marT="0" marB="0" anchor="b">
                    <a:lnL w="19050" cap="flat" cmpd="sng" algn="ctr">
                      <a:no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ts val="1200"/>
                        </a:lnSpc>
                      </a:pPr>
                      <a:r>
                        <a:rPr lang="en-US" altLang="zh-CN" sz="1400" b="1" i="1" dirty="0">
                          <a:solidFill>
                            <a:schemeClr val="tx1"/>
                          </a:solidFill>
                          <a:latin typeface="Times New Roman" panose="02020603050405020304" pitchFamily="18" charset="0"/>
                          <a:cs typeface="Times New Roman" panose="02020603050405020304" pitchFamily="18" charset="0"/>
                        </a:rPr>
                        <a:t>F</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0" marR="0" marT="0" marB="0" anchor="b">
                    <a:lnL w="19050" cap="flat" cmpd="sng" algn="ctr">
                      <a:solidFill>
                        <a:schemeClr val="accent5"/>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733417">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solidFill>
                            <a:schemeClr val="tx1"/>
                          </a:solidFill>
                          <a:latin typeface="Times New Roman" panose="02020603050405020304" pitchFamily="18" charset="0"/>
                          <a:cs typeface="Times New Roman" panose="02020603050405020304" pitchFamily="18" charset="0"/>
                        </a:rPr>
                        <a:t>0     0     0</a:t>
                      </a:r>
                      <a:endParaRPr lang="en-US" altLang="zh-CN" sz="1400" b="1" dirty="0">
                        <a:solidFill>
                          <a:schemeClr val="tx1"/>
                        </a:solidFill>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solidFill>
                            <a:schemeClr val="tx1"/>
                          </a:solidFill>
                          <a:latin typeface="Times New Roman" panose="02020603050405020304" pitchFamily="18" charset="0"/>
                          <a:cs typeface="Times New Roman" panose="02020603050405020304" pitchFamily="18" charset="0"/>
                        </a:rPr>
                        <a:t>0     0     1</a:t>
                      </a:r>
                      <a:endParaRPr lang="en-US" altLang="zh-CN" sz="1400" b="1" dirty="0">
                        <a:solidFill>
                          <a:schemeClr val="tx1"/>
                        </a:solidFill>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solidFill>
                            <a:schemeClr val="tx1"/>
                          </a:solidFill>
                          <a:latin typeface="Times New Roman" panose="02020603050405020304" pitchFamily="18" charset="0"/>
                          <a:cs typeface="Times New Roman" panose="02020603050405020304" pitchFamily="18" charset="0"/>
                        </a:rPr>
                        <a:t>0     1     0</a:t>
                      </a:r>
                      <a:endParaRPr lang="en-US" altLang="zh-CN" sz="1400" b="1" dirty="0">
                        <a:solidFill>
                          <a:schemeClr val="tx1"/>
                        </a:solidFill>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solidFill>
                            <a:schemeClr val="tx1"/>
                          </a:solidFill>
                          <a:latin typeface="Times New Roman" panose="02020603050405020304" pitchFamily="18" charset="0"/>
                          <a:cs typeface="Times New Roman" panose="02020603050405020304" pitchFamily="18" charset="0"/>
                        </a:rPr>
                        <a:t>0     1     1</a:t>
                      </a:r>
                      <a:endParaRPr lang="en-US" altLang="zh-CN" sz="1400" b="1" dirty="0">
                        <a:solidFill>
                          <a:schemeClr val="tx1"/>
                        </a:solidFill>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solidFill>
                            <a:schemeClr val="tx1"/>
                          </a:solidFill>
                          <a:latin typeface="Times New Roman" panose="02020603050405020304" pitchFamily="18" charset="0"/>
                          <a:cs typeface="Times New Roman" panose="02020603050405020304" pitchFamily="18" charset="0"/>
                        </a:rPr>
                        <a:t>1     0     0</a:t>
                      </a:r>
                      <a:endParaRPr lang="en-US" altLang="zh-CN" sz="1400" b="1" dirty="0">
                        <a:solidFill>
                          <a:schemeClr val="tx1"/>
                        </a:solidFill>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solidFill>
                            <a:schemeClr val="tx1"/>
                          </a:solidFill>
                          <a:latin typeface="Times New Roman" panose="02020603050405020304" pitchFamily="18" charset="0"/>
                          <a:cs typeface="Times New Roman" panose="02020603050405020304" pitchFamily="18" charset="0"/>
                        </a:rPr>
                        <a:t>1     0     1</a:t>
                      </a:r>
                      <a:endParaRPr lang="en-US" altLang="zh-CN" sz="1400" b="1" dirty="0">
                        <a:solidFill>
                          <a:schemeClr val="tx1"/>
                        </a:solidFill>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solidFill>
                            <a:schemeClr val="tx1"/>
                          </a:solidFill>
                          <a:latin typeface="Times New Roman" panose="02020603050405020304" pitchFamily="18" charset="0"/>
                          <a:cs typeface="Times New Roman" panose="02020603050405020304" pitchFamily="18" charset="0"/>
                        </a:rPr>
                        <a:t>1     1     0</a:t>
                      </a:r>
                      <a:endParaRPr lang="en-US" altLang="zh-CN" sz="1400" b="1" dirty="0">
                        <a:solidFill>
                          <a:schemeClr val="tx1"/>
                        </a:solidFill>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solidFill>
                            <a:schemeClr val="tx1"/>
                          </a:solidFill>
                          <a:latin typeface="Times New Roman" panose="02020603050405020304" pitchFamily="18" charset="0"/>
                          <a:cs typeface="Times New Roman" panose="02020603050405020304" pitchFamily="18" charset="0"/>
                        </a:rPr>
                        <a:t>1     1     1</a:t>
                      </a:r>
                      <a:endParaRPr lang="zh-CN" altLang="en-US" sz="1400" b="1" dirty="0">
                        <a:solidFill>
                          <a:schemeClr val="tx1"/>
                        </a:solidFill>
                        <a:latin typeface="Times New Roman" panose="02020603050405020304" pitchFamily="18" charset="0"/>
                        <a:cs typeface="Times New Roman" panose="02020603050405020304" pitchFamily="18" charset="0"/>
                      </a:endParaRPr>
                    </a:p>
                  </a:txBody>
                  <a:tcPr marL="0" marR="0" marT="0" marB="0" anchor="b">
                    <a:lnL w="19050" cap="flat" cmpd="sng" algn="ctr">
                      <a:no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r>
                        <a:rPr lang="en-US" altLang="zh-CN" sz="1400" b="1" dirty="0">
                          <a:solidFill>
                            <a:schemeClr val="tx1"/>
                          </a:solidFill>
                          <a:latin typeface="Times New Roman" panose="02020603050405020304" pitchFamily="18" charset="0"/>
                          <a:cs typeface="Times New Roman" panose="02020603050405020304" pitchFamily="18" charset="0"/>
                        </a:rPr>
                        <a:t>0</a:t>
                      </a:r>
                      <a:endParaRPr lang="en-US" altLang="zh-CN" sz="1400" b="1" dirty="0">
                        <a:solidFill>
                          <a:schemeClr val="tx1"/>
                        </a:solidFill>
                        <a:latin typeface="Times New Roman" panose="02020603050405020304" pitchFamily="18" charset="0"/>
                        <a:cs typeface="Times New Roman" panose="02020603050405020304" pitchFamily="18" charset="0"/>
                      </a:endParaRPr>
                    </a:p>
                    <a:p>
                      <a:pPr algn="ctr">
                        <a:lnSpc>
                          <a:spcPct val="100000"/>
                        </a:lnSpc>
                      </a:pPr>
                      <a:r>
                        <a:rPr lang="en-US" altLang="zh-CN" sz="1400" b="1" dirty="0">
                          <a:solidFill>
                            <a:schemeClr val="tx1"/>
                          </a:solidFill>
                          <a:latin typeface="Times New Roman" panose="02020603050405020304" pitchFamily="18" charset="0"/>
                          <a:cs typeface="Times New Roman" panose="02020603050405020304" pitchFamily="18" charset="0"/>
                        </a:rPr>
                        <a:t>1</a:t>
                      </a:r>
                      <a:endParaRPr lang="en-US" altLang="zh-CN" sz="1400" b="1" dirty="0">
                        <a:solidFill>
                          <a:schemeClr val="tx1"/>
                        </a:solidFill>
                        <a:latin typeface="Times New Roman" panose="02020603050405020304" pitchFamily="18" charset="0"/>
                        <a:cs typeface="Times New Roman" panose="02020603050405020304" pitchFamily="18" charset="0"/>
                      </a:endParaRPr>
                    </a:p>
                    <a:p>
                      <a:pPr algn="ctr">
                        <a:lnSpc>
                          <a:spcPct val="100000"/>
                        </a:lnSpc>
                      </a:pPr>
                      <a:r>
                        <a:rPr lang="en-US" altLang="zh-CN" sz="1400" b="1" dirty="0">
                          <a:solidFill>
                            <a:schemeClr val="tx1"/>
                          </a:solidFill>
                          <a:latin typeface="Times New Roman" panose="02020603050405020304" pitchFamily="18" charset="0"/>
                          <a:cs typeface="Times New Roman" panose="02020603050405020304" pitchFamily="18" charset="0"/>
                        </a:rPr>
                        <a:t>1</a:t>
                      </a:r>
                      <a:endParaRPr lang="en-US" altLang="zh-CN" sz="1400" b="1" dirty="0">
                        <a:solidFill>
                          <a:schemeClr val="tx1"/>
                        </a:solidFill>
                        <a:latin typeface="Times New Roman" panose="02020603050405020304" pitchFamily="18" charset="0"/>
                        <a:cs typeface="Times New Roman" panose="02020603050405020304" pitchFamily="18" charset="0"/>
                      </a:endParaRPr>
                    </a:p>
                    <a:p>
                      <a:pPr algn="ctr">
                        <a:lnSpc>
                          <a:spcPct val="100000"/>
                        </a:lnSpc>
                      </a:pPr>
                      <a:r>
                        <a:rPr lang="en-US" altLang="zh-CN" sz="1400" b="1" dirty="0">
                          <a:solidFill>
                            <a:schemeClr val="tx1"/>
                          </a:solidFill>
                          <a:latin typeface="Times New Roman" panose="02020603050405020304" pitchFamily="18" charset="0"/>
                          <a:cs typeface="Times New Roman" panose="02020603050405020304" pitchFamily="18" charset="0"/>
                        </a:rPr>
                        <a:t>0</a:t>
                      </a:r>
                      <a:endParaRPr lang="en-US" altLang="zh-CN" sz="1400" b="1" dirty="0">
                        <a:solidFill>
                          <a:schemeClr val="tx1"/>
                        </a:solidFill>
                        <a:latin typeface="Times New Roman" panose="02020603050405020304" pitchFamily="18" charset="0"/>
                        <a:cs typeface="Times New Roman" panose="02020603050405020304" pitchFamily="18" charset="0"/>
                      </a:endParaRPr>
                    </a:p>
                    <a:p>
                      <a:pPr algn="ctr">
                        <a:lnSpc>
                          <a:spcPct val="100000"/>
                        </a:lnSpc>
                      </a:pPr>
                      <a:r>
                        <a:rPr lang="en-US" altLang="zh-CN" sz="1400" b="1" dirty="0">
                          <a:solidFill>
                            <a:schemeClr val="tx1"/>
                          </a:solidFill>
                          <a:latin typeface="Times New Roman" panose="02020603050405020304" pitchFamily="18" charset="0"/>
                          <a:cs typeface="Times New Roman" panose="02020603050405020304" pitchFamily="18" charset="0"/>
                        </a:rPr>
                        <a:t>1</a:t>
                      </a:r>
                      <a:endParaRPr lang="en-US" altLang="zh-CN" sz="1400" b="1" dirty="0">
                        <a:solidFill>
                          <a:schemeClr val="tx1"/>
                        </a:solidFill>
                        <a:latin typeface="Times New Roman" panose="02020603050405020304" pitchFamily="18" charset="0"/>
                        <a:cs typeface="Times New Roman" panose="02020603050405020304" pitchFamily="18" charset="0"/>
                      </a:endParaRPr>
                    </a:p>
                    <a:p>
                      <a:pPr algn="ctr">
                        <a:lnSpc>
                          <a:spcPct val="100000"/>
                        </a:lnSpc>
                      </a:pPr>
                      <a:r>
                        <a:rPr lang="en-US" altLang="zh-CN" sz="1400" b="1" dirty="0">
                          <a:solidFill>
                            <a:schemeClr val="tx1"/>
                          </a:solidFill>
                          <a:latin typeface="Times New Roman" panose="02020603050405020304" pitchFamily="18" charset="0"/>
                          <a:cs typeface="Times New Roman" panose="02020603050405020304" pitchFamily="18" charset="0"/>
                        </a:rPr>
                        <a:t>0</a:t>
                      </a:r>
                      <a:endParaRPr lang="en-US" altLang="zh-CN" sz="1400" b="1" dirty="0">
                        <a:solidFill>
                          <a:schemeClr val="tx1"/>
                        </a:solidFill>
                        <a:latin typeface="Times New Roman" panose="02020603050405020304" pitchFamily="18" charset="0"/>
                        <a:cs typeface="Times New Roman" panose="02020603050405020304" pitchFamily="18" charset="0"/>
                      </a:endParaRPr>
                    </a:p>
                    <a:p>
                      <a:pPr algn="ctr">
                        <a:lnSpc>
                          <a:spcPct val="100000"/>
                        </a:lnSpc>
                      </a:pPr>
                      <a:r>
                        <a:rPr lang="en-US" altLang="zh-CN" sz="1400" b="1" dirty="0">
                          <a:solidFill>
                            <a:schemeClr val="tx1"/>
                          </a:solidFill>
                          <a:latin typeface="Times New Roman" panose="02020603050405020304" pitchFamily="18" charset="0"/>
                          <a:cs typeface="Times New Roman" panose="02020603050405020304" pitchFamily="18" charset="0"/>
                        </a:rPr>
                        <a:t>0</a:t>
                      </a:r>
                      <a:endParaRPr lang="en-US" altLang="zh-CN" sz="1400" b="1" dirty="0">
                        <a:solidFill>
                          <a:schemeClr val="tx1"/>
                        </a:solidFill>
                        <a:latin typeface="Times New Roman" panose="02020603050405020304" pitchFamily="18" charset="0"/>
                        <a:cs typeface="Times New Roman" panose="02020603050405020304" pitchFamily="18" charset="0"/>
                      </a:endParaRPr>
                    </a:p>
                    <a:p>
                      <a:pPr algn="ctr">
                        <a:lnSpc>
                          <a:spcPct val="100000"/>
                        </a:lnSpc>
                      </a:pPr>
                      <a:r>
                        <a:rPr lang="en-US" altLang="zh-CN" sz="1400" b="1" dirty="0">
                          <a:solidFill>
                            <a:schemeClr val="tx1"/>
                          </a:solidFill>
                          <a:latin typeface="Times New Roman" panose="02020603050405020304" pitchFamily="18" charset="0"/>
                          <a:cs typeface="Times New Roman" panose="02020603050405020304" pitchFamily="18" charset="0"/>
                        </a:rPr>
                        <a:t>1</a:t>
                      </a:r>
                      <a:endParaRPr lang="zh-CN" altLang="en-US" sz="1400" b="1" dirty="0">
                        <a:solidFill>
                          <a:schemeClr val="tx1"/>
                        </a:solidFill>
                        <a:latin typeface="Times New Roman" panose="02020603050405020304" pitchFamily="18" charset="0"/>
                        <a:cs typeface="Times New Roman" panose="02020603050405020304" pitchFamily="18" charset="0"/>
                      </a:endParaRPr>
                    </a:p>
                  </a:txBody>
                  <a:tcPr marL="0" marR="0" marT="0" marB="0" anchor="b">
                    <a:lnL w="19050" cap="flat" cmpd="sng" algn="ctr">
                      <a:solidFill>
                        <a:schemeClr val="accent5"/>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grpSp>
        <p:nvGrpSpPr>
          <p:cNvPr id="56" name="组合 55"/>
          <p:cNvGrpSpPr/>
          <p:nvPr/>
        </p:nvGrpSpPr>
        <p:grpSpPr>
          <a:xfrm>
            <a:off x="4151901" y="2186609"/>
            <a:ext cx="1260000" cy="1489541"/>
            <a:chOff x="4151901" y="2186609"/>
            <a:chExt cx="1260000" cy="1489541"/>
          </a:xfrm>
        </p:grpSpPr>
        <p:sp>
          <p:nvSpPr>
            <p:cNvPr id="100" name="圆角矩形 99"/>
            <p:cNvSpPr/>
            <p:nvPr/>
          </p:nvSpPr>
          <p:spPr>
            <a:xfrm>
              <a:off x="4151901" y="3460139"/>
              <a:ext cx="1260000" cy="216011"/>
            </a:xfrm>
            <a:prstGeom prst="roundRect">
              <a:avLst>
                <a:gd name="adj" fmla="val 3131"/>
              </a:avLst>
            </a:prstGeom>
            <a:solidFill>
              <a:srgbClr val="FF00FF">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1" name="圆角矩形 100"/>
            <p:cNvSpPr/>
            <p:nvPr/>
          </p:nvSpPr>
          <p:spPr>
            <a:xfrm>
              <a:off x="4151901" y="2833294"/>
              <a:ext cx="1260000" cy="216000"/>
            </a:xfrm>
            <a:prstGeom prst="roundRect">
              <a:avLst>
                <a:gd name="adj" fmla="val 3131"/>
              </a:avLst>
            </a:prstGeom>
            <a:solidFill>
              <a:srgbClr val="FF00FF">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2" name="圆角矩形 101"/>
            <p:cNvSpPr/>
            <p:nvPr/>
          </p:nvSpPr>
          <p:spPr>
            <a:xfrm>
              <a:off x="4151901" y="2427781"/>
              <a:ext cx="1260000" cy="216011"/>
            </a:xfrm>
            <a:prstGeom prst="roundRect">
              <a:avLst>
                <a:gd name="adj" fmla="val 3131"/>
              </a:avLst>
            </a:prstGeom>
            <a:solidFill>
              <a:srgbClr val="FF00FF">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8" name="圆角矩形 97"/>
            <p:cNvSpPr/>
            <p:nvPr/>
          </p:nvSpPr>
          <p:spPr>
            <a:xfrm>
              <a:off x="4151901" y="2186609"/>
              <a:ext cx="1260000" cy="216011"/>
            </a:xfrm>
            <a:prstGeom prst="roundRect">
              <a:avLst>
                <a:gd name="adj" fmla="val 3131"/>
              </a:avLst>
            </a:prstGeom>
            <a:solidFill>
              <a:srgbClr val="FF00FF">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aphicFrame>
        <p:nvGraphicFramePr>
          <p:cNvPr id="1035" name="Object 11"/>
          <p:cNvGraphicFramePr>
            <a:graphicFrameLocks noChangeAspect="1"/>
          </p:cNvGraphicFramePr>
          <p:nvPr/>
        </p:nvGraphicFramePr>
        <p:xfrm>
          <a:off x="2155122" y="3628210"/>
          <a:ext cx="1106487" cy="242887"/>
        </p:xfrm>
        <a:graphic>
          <a:graphicData uri="http://schemas.openxmlformats.org/presentationml/2006/ole">
            <mc:AlternateContent xmlns:mc="http://schemas.openxmlformats.org/markup-compatibility/2006">
              <mc:Choice xmlns:v="urn:schemas-microsoft-com:vml" Requires="v">
                <p:oleObj spid="_x0000_s15397" name="公式" r:id="rId8" imgW="812165" imgH="177800" progId="Equation.3">
                  <p:embed/>
                </p:oleObj>
              </mc:Choice>
              <mc:Fallback>
                <p:oleObj name="公式" r:id="rId8" imgW="812165" imgH="177800" progId="Equation.3">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55122" y="3628210"/>
                        <a:ext cx="1106487" cy="242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64" name="组合 63"/>
          <p:cNvGrpSpPr/>
          <p:nvPr/>
        </p:nvGrpSpPr>
        <p:grpSpPr>
          <a:xfrm>
            <a:off x="6689516" y="3104983"/>
            <a:ext cx="1338828" cy="593162"/>
            <a:chOff x="6693493" y="3768920"/>
            <a:chExt cx="1338828" cy="593162"/>
          </a:xfrm>
        </p:grpSpPr>
        <p:sp>
          <p:nvSpPr>
            <p:cNvPr id="52" name="下箭头 51"/>
            <p:cNvSpPr/>
            <p:nvPr/>
          </p:nvSpPr>
          <p:spPr>
            <a:xfrm>
              <a:off x="7176052" y="3768920"/>
              <a:ext cx="302150" cy="23853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矩形 52"/>
            <p:cNvSpPr/>
            <p:nvPr/>
          </p:nvSpPr>
          <p:spPr>
            <a:xfrm>
              <a:off x="6693493" y="3992750"/>
              <a:ext cx="1338828" cy="369332"/>
            </a:xfrm>
            <a:prstGeom prst="rect">
              <a:avLst/>
            </a:prstGeom>
          </p:spPr>
          <p:txBody>
            <a:bodyPr wrap="none">
              <a:spAutoFit/>
            </a:bodyPr>
            <a:lstStyle/>
            <a:p>
              <a:r>
                <a:rPr lang="zh-CN" altLang="en-US"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偶校验电路</a:t>
              </a:r>
              <a:endParaRPr lang="zh-CN" altLang="en-US" dirty="0"/>
            </a:p>
          </p:txBody>
        </p:sp>
      </p:grpSp>
      <p:grpSp>
        <p:nvGrpSpPr>
          <p:cNvPr id="59" name="组合 58"/>
          <p:cNvGrpSpPr/>
          <p:nvPr/>
        </p:nvGrpSpPr>
        <p:grpSpPr>
          <a:xfrm>
            <a:off x="6567776" y="2751148"/>
            <a:ext cx="1586285" cy="1277505"/>
            <a:chOff x="6571753" y="3415085"/>
            <a:chExt cx="1586285" cy="1277505"/>
          </a:xfrm>
        </p:grpSpPr>
        <p:sp>
          <p:nvSpPr>
            <p:cNvPr id="57" name="圆角矩形 56"/>
            <p:cNvSpPr/>
            <p:nvPr/>
          </p:nvSpPr>
          <p:spPr>
            <a:xfrm>
              <a:off x="6571753" y="3415085"/>
              <a:ext cx="1586285" cy="1137037"/>
            </a:xfrm>
            <a:prstGeom prst="roundRect">
              <a:avLst>
                <a:gd name="adj" fmla="val 11467"/>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圆角矩形 57"/>
            <p:cNvSpPr/>
            <p:nvPr/>
          </p:nvSpPr>
          <p:spPr>
            <a:xfrm>
              <a:off x="6799689" y="4408993"/>
              <a:ext cx="1163541" cy="283597"/>
            </a:xfrm>
            <a:prstGeom prst="roundRect">
              <a:avLst>
                <a:gd name="adj" fmla="val 11467"/>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FF0000"/>
                  </a:solidFill>
                  <a:latin typeface="黑体" panose="02010609060101010101" pitchFamily="49" charset="-122"/>
                  <a:ea typeface="黑体" panose="02010609060101010101" pitchFamily="49" charset="-122"/>
                </a:rPr>
                <a:t>奇偶校验</a:t>
              </a:r>
              <a:endParaRPr lang="zh-CN" altLang="en-US" sz="1600" dirty="0">
                <a:solidFill>
                  <a:srgbClr val="FF0000"/>
                </a:solidFill>
                <a:latin typeface="黑体" panose="02010609060101010101" pitchFamily="49" charset="-122"/>
                <a:ea typeface="黑体" panose="02010609060101010101" pitchFamily="49" charset="-122"/>
              </a:endParaRPr>
            </a:p>
          </p:txBody>
        </p:sp>
      </p:grpSp>
      <p:sp>
        <p:nvSpPr>
          <p:cNvPr id="60" name="圆角矩形标注 59"/>
          <p:cNvSpPr/>
          <p:nvPr/>
        </p:nvSpPr>
        <p:spPr>
          <a:xfrm>
            <a:off x="3546281" y="2690728"/>
            <a:ext cx="2945958" cy="2055412"/>
          </a:xfrm>
          <a:prstGeom prst="wedgeRoundRectCallout">
            <a:avLst>
              <a:gd name="adj1" fmla="val 60301"/>
              <a:gd name="adj2" fmla="val 9331"/>
              <a:gd name="adj3" fmla="val 16667"/>
            </a:avLst>
          </a:prstGeom>
          <a:ln w="19050">
            <a:solidFill>
              <a:srgbClr val="0000FF"/>
            </a:solidFill>
          </a:ln>
        </p:spPr>
        <p:style>
          <a:lnRef idx="1">
            <a:schemeClr val="accent6"/>
          </a:lnRef>
          <a:fillRef idx="3">
            <a:schemeClr val="accent6"/>
          </a:fillRef>
          <a:effectRef idx="2">
            <a:schemeClr val="accent6"/>
          </a:effectRef>
          <a:fontRef idx="minor">
            <a:schemeClr val="lt1"/>
          </a:fontRef>
        </p:style>
        <p:txBody>
          <a:bodyPr rtlCol="0" anchor="ctr"/>
          <a:lstStyle/>
          <a:p>
            <a:r>
              <a:rPr lang="zh-CN" altLang="en-US" sz="1600" dirty="0">
                <a:solidFill>
                  <a:srgbClr val="FF0000"/>
                </a:solidFill>
                <a:latin typeface="黑体" panose="02010609060101010101" pitchFamily="49" charset="-122"/>
                <a:ea typeface="黑体" panose="02010609060101010101" pitchFamily="49" charset="-122"/>
              </a:rPr>
              <a:t>奇偶校验</a:t>
            </a:r>
            <a:r>
              <a:rPr lang="zh-CN" altLang="en-US" sz="1600" dirty="0">
                <a:latin typeface="黑体" panose="02010609060101010101" pitchFamily="49" charset="-122"/>
                <a:ea typeface="黑体" panose="02010609060101010101" pitchFamily="49" charset="-122"/>
              </a:rPr>
              <a:t>是数据通信中一种校验信息传输正确性的方法。根据被传输的一组二进制信息数位中“</a:t>
            </a:r>
            <a:r>
              <a:rPr lang="en-US" altLang="zh-CN" sz="1600" dirty="0">
                <a:latin typeface="黑体" panose="02010609060101010101" pitchFamily="49" charset="-122"/>
                <a:ea typeface="黑体" panose="02010609060101010101" pitchFamily="49" charset="-122"/>
              </a:rPr>
              <a:t>1”</a:t>
            </a:r>
            <a:r>
              <a:rPr lang="zh-CN" altLang="en-US" sz="1600" dirty="0">
                <a:latin typeface="黑体" panose="02010609060101010101" pitchFamily="49" charset="-122"/>
                <a:ea typeface="黑体" panose="02010609060101010101" pitchFamily="49" charset="-122"/>
              </a:rPr>
              <a:t>的个数是奇数或偶数来进行校验的。采用奇数的称为奇校验，反之，称为偶校验。</a:t>
            </a:r>
            <a:endParaRPr lang="zh-CN" altLang="en-US" sz="1600" dirty="0">
              <a:latin typeface="黑体" panose="02010609060101010101" pitchFamily="49" charset="-122"/>
              <a:ea typeface="黑体" panose="02010609060101010101" pitchFamily="49" charset="-122"/>
            </a:endParaRPr>
          </a:p>
        </p:txBody>
      </p:sp>
      <p:sp>
        <p:nvSpPr>
          <p:cNvPr id="62" name="圆角矩形标注 61"/>
          <p:cNvSpPr/>
          <p:nvPr/>
        </p:nvSpPr>
        <p:spPr>
          <a:xfrm>
            <a:off x="2771775" y="1638300"/>
            <a:ext cx="914400" cy="318632"/>
          </a:xfrm>
          <a:prstGeom prst="wedgeRoundRectCallout">
            <a:avLst>
              <a:gd name="adj1" fmla="val -77199"/>
              <a:gd name="adj2" fmla="val 36235"/>
              <a:gd name="adj3" fmla="val 16667"/>
            </a:avLst>
          </a:prstGeom>
          <a:ln w="19050">
            <a:solidFill>
              <a:srgbClr val="0000FF"/>
            </a:solidFill>
          </a:ln>
        </p:spPr>
        <p:style>
          <a:lnRef idx="1">
            <a:schemeClr val="accent6"/>
          </a:lnRef>
          <a:fillRef idx="3">
            <a:schemeClr val="accent6"/>
          </a:fillRef>
          <a:effectRef idx="2">
            <a:schemeClr val="accent6"/>
          </a:effectRef>
          <a:fontRef idx="minor">
            <a:schemeClr val="lt1"/>
          </a:fontRef>
        </p:style>
        <p:txBody>
          <a:bodyPr lIns="0" tIns="0" rIns="0" bIns="0" rtlCol="0" anchor="ctr"/>
          <a:lstStyle/>
          <a:p>
            <a:pPr algn="ctr"/>
            <a:r>
              <a:rPr lang="zh-CN" altLang="en-US" sz="1600" dirty="0">
                <a:latin typeface="黑体" panose="02010609060101010101" pitchFamily="49" charset="-122"/>
                <a:ea typeface="黑体" panose="02010609060101010101" pitchFamily="49" charset="-122"/>
              </a:rPr>
              <a:t>中间变量</a:t>
            </a:r>
            <a:endParaRPr lang="zh-CN" altLang="en-US" sz="1600"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200">
        <p14:prism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slide(fromBottom)">
                                      <p:cBhvr>
                                        <p:cTn id="7" dur="1000"/>
                                        <p:tgtEl>
                                          <p:spTgt spid="38"/>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87"/>
                                        </p:tgtEl>
                                        <p:attrNameLst>
                                          <p:attrName>style.visibility</p:attrName>
                                        </p:attrNameLst>
                                      </p:cBhvr>
                                      <p:to>
                                        <p:strVal val="visible"/>
                                      </p:to>
                                    </p:set>
                                    <p:animEffect transition="in" filter="slide(fromBottom)">
                                      <p:cBhvr>
                                        <p:cTn id="11" dur="1000"/>
                                        <p:tgtEl>
                                          <p:spTgt spid="87"/>
                                        </p:tgtEl>
                                      </p:cBhvr>
                                    </p:animEffect>
                                  </p:childTnLst>
                                </p:cTn>
                              </p:par>
                            </p:childTnLst>
                          </p:cTn>
                        </p:par>
                        <p:par>
                          <p:cTn id="12" fill="hold">
                            <p:stCondLst>
                              <p:cond delay="2000"/>
                            </p:stCondLst>
                            <p:childTnLst>
                              <p:par>
                                <p:cTn id="13" presetID="12" presetClass="entr" presetSubtype="4" fill="hold" nodeType="afterEffect">
                                  <p:stCondLst>
                                    <p:cond delay="0"/>
                                  </p:stCondLst>
                                  <p:childTnLst>
                                    <p:set>
                                      <p:cBhvr>
                                        <p:cTn id="14" dur="1" fill="hold">
                                          <p:stCondLst>
                                            <p:cond delay="0"/>
                                          </p:stCondLst>
                                        </p:cTn>
                                        <p:tgtEl>
                                          <p:spTgt spid="104"/>
                                        </p:tgtEl>
                                        <p:attrNameLst>
                                          <p:attrName>style.visibility</p:attrName>
                                        </p:attrNameLst>
                                      </p:cBhvr>
                                      <p:to>
                                        <p:strVal val="visible"/>
                                      </p:to>
                                    </p:set>
                                    <p:animEffect transition="in" filter="slide(fromBottom)">
                                      <p:cBhvr>
                                        <p:cTn id="15" dur="1000"/>
                                        <p:tgtEl>
                                          <p:spTgt spid="104"/>
                                        </p:tgtEl>
                                      </p:cBhvr>
                                    </p:animEffect>
                                  </p:childTnLst>
                                </p:cTn>
                              </p:par>
                            </p:childTnLst>
                          </p:cTn>
                        </p:par>
                        <p:par>
                          <p:cTn id="16" fill="hold">
                            <p:stCondLst>
                              <p:cond delay="3000"/>
                            </p:stCondLst>
                            <p:childTnLst>
                              <p:par>
                                <p:cTn id="17" presetID="12" presetClass="entr" presetSubtype="4" fill="hold" nodeType="afterEffect">
                                  <p:stCondLst>
                                    <p:cond delay="0"/>
                                  </p:stCondLst>
                                  <p:childTnLst>
                                    <p:set>
                                      <p:cBhvr>
                                        <p:cTn id="18" dur="1" fill="hold">
                                          <p:stCondLst>
                                            <p:cond delay="0"/>
                                          </p:stCondLst>
                                        </p:cTn>
                                        <p:tgtEl>
                                          <p:spTgt spid="88"/>
                                        </p:tgtEl>
                                        <p:attrNameLst>
                                          <p:attrName>style.visibility</p:attrName>
                                        </p:attrNameLst>
                                      </p:cBhvr>
                                      <p:to>
                                        <p:strVal val="visible"/>
                                      </p:to>
                                    </p:set>
                                    <p:animEffect transition="in" filter="slide(fromBottom)">
                                      <p:cBhvr>
                                        <p:cTn id="19" dur="1000"/>
                                        <p:tgtEl>
                                          <p:spTgt spid="88"/>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89"/>
                                        </p:tgtEl>
                                        <p:attrNameLst>
                                          <p:attrName>style.visibility</p:attrName>
                                        </p:attrNameLst>
                                      </p:cBhvr>
                                      <p:to>
                                        <p:strVal val="visible"/>
                                      </p:to>
                                    </p:set>
                                    <p:animEffect transition="in" filter="wipe(left)">
                                      <p:cBhvr>
                                        <p:cTn id="24" dur="1000"/>
                                        <p:tgtEl>
                                          <p:spTgt spid="89"/>
                                        </p:tgtEl>
                                      </p:cBhvr>
                                    </p:animEffect>
                                  </p:childTnLst>
                                </p:cTn>
                              </p:par>
                            </p:childTnLst>
                          </p:cTn>
                        </p:par>
                      </p:childTnLst>
                    </p:cTn>
                  </p:par>
                  <p:par>
                    <p:cTn id="25" fill="hold">
                      <p:stCondLst>
                        <p:cond delay="indefinite"/>
                      </p:stCondLst>
                      <p:childTnLst>
                        <p:par>
                          <p:cTn id="26" fill="hold">
                            <p:stCondLst>
                              <p:cond delay="0"/>
                            </p:stCondLst>
                            <p:childTnLst>
                              <p:par>
                                <p:cTn id="27" presetID="12" presetClass="entr" presetSubtype="4" fill="hold" grpId="0" nodeType="clickEffect">
                                  <p:stCondLst>
                                    <p:cond delay="0"/>
                                  </p:stCondLst>
                                  <p:childTnLst>
                                    <p:set>
                                      <p:cBhvr>
                                        <p:cTn id="28" dur="1" fill="hold">
                                          <p:stCondLst>
                                            <p:cond delay="0"/>
                                          </p:stCondLst>
                                        </p:cTn>
                                        <p:tgtEl>
                                          <p:spTgt spid="81"/>
                                        </p:tgtEl>
                                        <p:attrNameLst>
                                          <p:attrName>style.visibility</p:attrName>
                                        </p:attrNameLst>
                                      </p:cBhvr>
                                      <p:to>
                                        <p:strVal val="visible"/>
                                      </p:to>
                                    </p:set>
                                    <p:animEffect transition="in" filter="slide(fromBottom)">
                                      <p:cBhvr>
                                        <p:cTn id="29" dur="1000"/>
                                        <p:tgtEl>
                                          <p:spTgt spid="81"/>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62"/>
                                        </p:tgtEl>
                                        <p:attrNameLst>
                                          <p:attrName>style.visibility</p:attrName>
                                        </p:attrNameLst>
                                      </p:cBhvr>
                                      <p:to>
                                        <p:strVal val="visible"/>
                                      </p:to>
                                    </p:set>
                                    <p:animEffect transition="in" filter="wipe(left)">
                                      <p:cBhvr>
                                        <p:cTn id="33" dur="1000"/>
                                        <p:tgtEl>
                                          <p:spTgt spid="62"/>
                                        </p:tgtEl>
                                      </p:cBhvr>
                                    </p:animEffect>
                                  </p:childTnLst>
                                </p:cTn>
                              </p:par>
                            </p:childTnLst>
                          </p:cTn>
                        </p:par>
                        <p:par>
                          <p:cTn id="34" fill="hold">
                            <p:stCondLst>
                              <p:cond delay="2000"/>
                            </p:stCondLst>
                            <p:childTnLst>
                              <p:par>
                                <p:cTn id="35" presetID="12" presetClass="entr" presetSubtype="4" fill="hold" nodeType="afterEffect">
                                  <p:stCondLst>
                                    <p:cond delay="0"/>
                                  </p:stCondLst>
                                  <p:childTnLst>
                                    <p:set>
                                      <p:cBhvr>
                                        <p:cTn id="36" dur="1" fill="hold">
                                          <p:stCondLst>
                                            <p:cond delay="0"/>
                                          </p:stCondLst>
                                        </p:cTn>
                                        <p:tgtEl>
                                          <p:spTgt spid="90"/>
                                        </p:tgtEl>
                                        <p:attrNameLst>
                                          <p:attrName>style.visibility</p:attrName>
                                        </p:attrNameLst>
                                      </p:cBhvr>
                                      <p:to>
                                        <p:strVal val="visible"/>
                                      </p:to>
                                    </p:set>
                                    <p:animEffect transition="in" filter="slide(fromBottom)">
                                      <p:cBhvr>
                                        <p:cTn id="37" dur="1000"/>
                                        <p:tgtEl>
                                          <p:spTgt spid="9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033"/>
                                        </p:tgtEl>
                                        <p:attrNameLst>
                                          <p:attrName>style.visibility</p:attrName>
                                        </p:attrNameLst>
                                      </p:cBhvr>
                                      <p:to>
                                        <p:strVal val="visible"/>
                                      </p:to>
                                    </p:set>
                                    <p:animEffect transition="in" filter="wipe(left)">
                                      <p:cBhvr>
                                        <p:cTn id="42" dur="1000"/>
                                        <p:tgtEl>
                                          <p:spTgt spid="1033"/>
                                        </p:tgtEl>
                                      </p:cBhvr>
                                    </p:animEffect>
                                  </p:childTnLst>
                                </p:cTn>
                              </p:par>
                            </p:childTnLst>
                          </p:cTn>
                        </p:par>
                        <p:par>
                          <p:cTn id="43" fill="hold">
                            <p:stCondLst>
                              <p:cond delay="1000"/>
                            </p:stCondLst>
                            <p:childTnLst>
                              <p:par>
                                <p:cTn id="44" presetID="22" presetClass="entr" presetSubtype="8" fill="hold" nodeType="afterEffect">
                                  <p:stCondLst>
                                    <p:cond delay="0"/>
                                  </p:stCondLst>
                                  <p:childTnLst>
                                    <p:set>
                                      <p:cBhvr>
                                        <p:cTn id="45" dur="1" fill="hold">
                                          <p:stCondLst>
                                            <p:cond delay="0"/>
                                          </p:stCondLst>
                                        </p:cTn>
                                        <p:tgtEl>
                                          <p:spTgt spid="1035"/>
                                        </p:tgtEl>
                                        <p:attrNameLst>
                                          <p:attrName>style.visibility</p:attrName>
                                        </p:attrNameLst>
                                      </p:cBhvr>
                                      <p:to>
                                        <p:strVal val="visible"/>
                                      </p:to>
                                    </p:set>
                                    <p:animEffect transition="in" filter="wipe(left)">
                                      <p:cBhvr>
                                        <p:cTn id="46" dur="1000"/>
                                        <p:tgtEl>
                                          <p:spTgt spid="1035"/>
                                        </p:tgtEl>
                                      </p:cBhvr>
                                    </p:animEffect>
                                  </p:childTnLst>
                                </p:cTn>
                              </p:par>
                            </p:childTnLst>
                          </p:cTn>
                        </p:par>
                      </p:childTnLst>
                    </p:cTn>
                  </p:par>
                  <p:par>
                    <p:cTn id="47" fill="hold">
                      <p:stCondLst>
                        <p:cond delay="indefinite"/>
                      </p:stCondLst>
                      <p:childTnLst>
                        <p:par>
                          <p:cTn id="48" fill="hold">
                            <p:stCondLst>
                              <p:cond delay="0"/>
                            </p:stCondLst>
                            <p:childTnLst>
                              <p:par>
                                <p:cTn id="49" presetID="12" presetClass="entr" presetSubtype="4" fill="hold" grpId="0" nodeType="clickEffect">
                                  <p:stCondLst>
                                    <p:cond delay="0"/>
                                  </p:stCondLst>
                                  <p:childTnLst>
                                    <p:set>
                                      <p:cBhvr>
                                        <p:cTn id="50" dur="1" fill="hold">
                                          <p:stCondLst>
                                            <p:cond delay="0"/>
                                          </p:stCondLst>
                                        </p:cTn>
                                        <p:tgtEl>
                                          <p:spTgt spid="95"/>
                                        </p:tgtEl>
                                        <p:attrNameLst>
                                          <p:attrName>style.visibility</p:attrName>
                                        </p:attrNameLst>
                                      </p:cBhvr>
                                      <p:to>
                                        <p:strVal val="visible"/>
                                      </p:to>
                                    </p:set>
                                    <p:animEffect transition="in" filter="slide(fromBottom)">
                                      <p:cBhvr>
                                        <p:cTn id="51" dur="1000"/>
                                        <p:tgtEl>
                                          <p:spTgt spid="95"/>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4" fill="hold" grpId="0" nodeType="clickEffect">
                                  <p:stCondLst>
                                    <p:cond delay="0"/>
                                  </p:stCondLst>
                                  <p:childTnLst>
                                    <p:set>
                                      <p:cBhvr>
                                        <p:cTn id="55" dur="1" fill="hold">
                                          <p:stCondLst>
                                            <p:cond delay="0"/>
                                          </p:stCondLst>
                                        </p:cTn>
                                        <p:tgtEl>
                                          <p:spTgt spid="65"/>
                                        </p:tgtEl>
                                        <p:attrNameLst>
                                          <p:attrName>style.visibility</p:attrName>
                                        </p:attrNameLst>
                                      </p:cBhvr>
                                      <p:to>
                                        <p:strVal val="visible"/>
                                      </p:to>
                                    </p:set>
                                    <p:animEffect transition="in" filter="slide(fromBottom)">
                                      <p:cBhvr>
                                        <p:cTn id="56" dur="1000"/>
                                        <p:tgtEl>
                                          <p:spTgt spid="65"/>
                                        </p:tgtEl>
                                      </p:cBhvr>
                                    </p:animEffect>
                                  </p:childTnLst>
                                </p:cTn>
                              </p:par>
                            </p:childTnLst>
                          </p:cTn>
                        </p:par>
                        <p:par>
                          <p:cTn id="57" fill="hold">
                            <p:stCondLst>
                              <p:cond delay="1000"/>
                            </p:stCondLst>
                            <p:childTnLst>
                              <p:par>
                                <p:cTn id="58" presetID="22" presetClass="entr" presetSubtype="1" fill="hold" nodeType="afterEffect">
                                  <p:stCondLst>
                                    <p:cond delay="0"/>
                                  </p:stCondLst>
                                  <p:childTnLst>
                                    <p:set>
                                      <p:cBhvr>
                                        <p:cTn id="59" dur="1" fill="hold">
                                          <p:stCondLst>
                                            <p:cond delay="0"/>
                                          </p:stCondLst>
                                        </p:cTn>
                                        <p:tgtEl>
                                          <p:spTgt spid="66"/>
                                        </p:tgtEl>
                                        <p:attrNameLst>
                                          <p:attrName>style.visibility</p:attrName>
                                        </p:attrNameLst>
                                      </p:cBhvr>
                                      <p:to>
                                        <p:strVal val="visible"/>
                                      </p:to>
                                    </p:set>
                                    <p:animEffect transition="in" filter="wipe(up)">
                                      <p:cBhvr>
                                        <p:cTn id="60" dur="1000"/>
                                        <p:tgtEl>
                                          <p:spTgt spid="66"/>
                                        </p:tgtEl>
                                      </p:cBhvr>
                                    </p:animEffect>
                                  </p:childTnLst>
                                </p:cTn>
                              </p:par>
                            </p:childTnLst>
                          </p:cTn>
                        </p:par>
                        <p:par>
                          <p:cTn id="61" fill="hold">
                            <p:stCondLst>
                              <p:cond delay="2000"/>
                            </p:stCondLst>
                            <p:childTnLst>
                              <p:par>
                                <p:cTn id="62" presetID="22" presetClass="entr" presetSubtype="1" fill="hold" grpId="0" nodeType="afterEffect">
                                  <p:stCondLst>
                                    <p:cond delay="0"/>
                                  </p:stCondLst>
                                  <p:childTnLst>
                                    <p:set>
                                      <p:cBhvr>
                                        <p:cTn id="63" dur="1" fill="hold">
                                          <p:stCondLst>
                                            <p:cond delay="0"/>
                                          </p:stCondLst>
                                        </p:cTn>
                                        <p:tgtEl>
                                          <p:spTgt spid="69"/>
                                        </p:tgtEl>
                                        <p:attrNameLst>
                                          <p:attrName>style.visibility</p:attrName>
                                        </p:attrNameLst>
                                      </p:cBhvr>
                                      <p:to>
                                        <p:strVal val="visible"/>
                                      </p:to>
                                    </p:set>
                                    <p:animEffect transition="in" filter="wipe(up)">
                                      <p:cBhvr>
                                        <p:cTn id="64" dur="1000"/>
                                        <p:tgtEl>
                                          <p:spTgt spid="69"/>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70"/>
                                        </p:tgtEl>
                                        <p:attrNameLst>
                                          <p:attrName>style.visibility</p:attrName>
                                        </p:attrNameLst>
                                      </p:cBhvr>
                                      <p:to>
                                        <p:strVal val="visible"/>
                                      </p:to>
                                    </p:set>
                                    <p:animEffect transition="in" filter="wipe(left)">
                                      <p:cBhvr>
                                        <p:cTn id="69" dur="1000"/>
                                        <p:tgtEl>
                                          <p:spTgt spid="70"/>
                                        </p:tgtEl>
                                      </p:cBhvr>
                                    </p:animEffect>
                                  </p:childTnLst>
                                </p:cTn>
                              </p:par>
                            </p:childTnLst>
                          </p:cTn>
                        </p:par>
                        <p:par>
                          <p:cTn id="70" fill="hold">
                            <p:stCondLst>
                              <p:cond delay="1000"/>
                            </p:stCondLst>
                            <p:childTnLst>
                              <p:par>
                                <p:cTn id="71" presetID="22" presetClass="entr" presetSubtype="8" fill="hold" grpId="0" nodeType="afterEffect">
                                  <p:stCondLst>
                                    <p:cond delay="0"/>
                                  </p:stCondLst>
                                  <p:childTnLst>
                                    <p:set>
                                      <p:cBhvr>
                                        <p:cTn id="72" dur="1" fill="hold">
                                          <p:stCondLst>
                                            <p:cond delay="0"/>
                                          </p:stCondLst>
                                        </p:cTn>
                                        <p:tgtEl>
                                          <p:spTgt spid="74"/>
                                        </p:tgtEl>
                                        <p:attrNameLst>
                                          <p:attrName>style.visibility</p:attrName>
                                        </p:attrNameLst>
                                      </p:cBhvr>
                                      <p:to>
                                        <p:strVal val="visible"/>
                                      </p:to>
                                    </p:set>
                                    <p:animEffect transition="in" filter="wipe(left)">
                                      <p:cBhvr>
                                        <p:cTn id="73" dur="1000"/>
                                        <p:tgtEl>
                                          <p:spTgt spid="74"/>
                                        </p:tgtEl>
                                      </p:cBhvr>
                                    </p:animEffect>
                                  </p:childTnLst>
                                </p:cTn>
                              </p:par>
                            </p:childTnLst>
                          </p:cTn>
                        </p:par>
                        <p:par>
                          <p:cTn id="74" fill="hold">
                            <p:stCondLst>
                              <p:cond delay="2000"/>
                            </p:stCondLst>
                            <p:childTnLst>
                              <p:par>
                                <p:cTn id="75" presetID="12" presetClass="entr" presetSubtype="8" fill="hold" grpId="0" nodeType="afterEffect">
                                  <p:stCondLst>
                                    <p:cond delay="0"/>
                                  </p:stCondLst>
                                  <p:childTnLst>
                                    <p:set>
                                      <p:cBhvr>
                                        <p:cTn id="76" dur="1" fill="hold">
                                          <p:stCondLst>
                                            <p:cond delay="0"/>
                                          </p:stCondLst>
                                        </p:cTn>
                                        <p:tgtEl>
                                          <p:spTgt spid="67"/>
                                        </p:tgtEl>
                                        <p:attrNameLst>
                                          <p:attrName>style.visibility</p:attrName>
                                        </p:attrNameLst>
                                      </p:cBhvr>
                                      <p:to>
                                        <p:strVal val="visible"/>
                                      </p:to>
                                    </p:set>
                                    <p:animEffect transition="in" filter="slide(fromLeft)">
                                      <p:cBhvr>
                                        <p:cTn id="77" dur="1000"/>
                                        <p:tgtEl>
                                          <p:spTgt spid="67"/>
                                        </p:tgtEl>
                                      </p:cBhvr>
                                    </p:animEffect>
                                  </p:childTnLst>
                                </p:cTn>
                              </p:par>
                            </p:childTnLst>
                          </p:cTn>
                        </p:par>
                        <p:par>
                          <p:cTn id="78" fill="hold">
                            <p:stCondLst>
                              <p:cond delay="3000"/>
                            </p:stCondLst>
                            <p:childTnLst>
                              <p:par>
                                <p:cTn id="79" presetID="12" presetClass="entr" presetSubtype="8" fill="hold" grpId="0" nodeType="afterEffect">
                                  <p:stCondLst>
                                    <p:cond delay="0"/>
                                  </p:stCondLst>
                                  <p:childTnLst>
                                    <p:set>
                                      <p:cBhvr>
                                        <p:cTn id="80" dur="1" fill="hold">
                                          <p:stCondLst>
                                            <p:cond delay="0"/>
                                          </p:stCondLst>
                                        </p:cTn>
                                        <p:tgtEl>
                                          <p:spTgt spid="75"/>
                                        </p:tgtEl>
                                        <p:attrNameLst>
                                          <p:attrName>style.visibility</p:attrName>
                                        </p:attrNameLst>
                                      </p:cBhvr>
                                      <p:to>
                                        <p:strVal val="visible"/>
                                      </p:to>
                                    </p:set>
                                    <p:animEffect transition="in" filter="slide(fromLeft)">
                                      <p:cBhvr>
                                        <p:cTn id="81" dur="1000"/>
                                        <p:tgtEl>
                                          <p:spTgt spid="75"/>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1" fill="hold" grpId="0" nodeType="clickEffect">
                                  <p:stCondLst>
                                    <p:cond delay="0"/>
                                  </p:stCondLst>
                                  <p:childTnLst>
                                    <p:set>
                                      <p:cBhvr>
                                        <p:cTn id="85" dur="1" fill="hold">
                                          <p:stCondLst>
                                            <p:cond delay="0"/>
                                          </p:stCondLst>
                                        </p:cTn>
                                        <p:tgtEl>
                                          <p:spTgt spid="76"/>
                                        </p:tgtEl>
                                        <p:attrNameLst>
                                          <p:attrName>style.visibility</p:attrName>
                                        </p:attrNameLst>
                                      </p:cBhvr>
                                      <p:to>
                                        <p:strVal val="visible"/>
                                      </p:to>
                                    </p:set>
                                    <p:animEffect transition="in" filter="wipe(up)">
                                      <p:cBhvr>
                                        <p:cTn id="86" dur="1000"/>
                                        <p:tgtEl>
                                          <p:spTgt spid="76"/>
                                        </p:tgtEl>
                                      </p:cBhvr>
                                    </p:animEffect>
                                  </p:childTnLst>
                                </p:cTn>
                              </p:par>
                            </p:childTnLst>
                          </p:cTn>
                        </p:par>
                        <p:par>
                          <p:cTn id="87" fill="hold">
                            <p:stCondLst>
                              <p:cond delay="1000"/>
                            </p:stCondLst>
                            <p:childTnLst>
                              <p:par>
                                <p:cTn id="88" presetID="22" presetClass="entr" presetSubtype="8" fill="hold" grpId="0" nodeType="afterEffect">
                                  <p:stCondLst>
                                    <p:cond delay="0"/>
                                  </p:stCondLst>
                                  <p:childTnLst>
                                    <p:set>
                                      <p:cBhvr>
                                        <p:cTn id="89" dur="1" fill="hold">
                                          <p:stCondLst>
                                            <p:cond delay="0"/>
                                          </p:stCondLst>
                                        </p:cTn>
                                        <p:tgtEl>
                                          <p:spTgt spid="91"/>
                                        </p:tgtEl>
                                        <p:attrNameLst>
                                          <p:attrName>style.visibility</p:attrName>
                                        </p:attrNameLst>
                                      </p:cBhvr>
                                      <p:to>
                                        <p:strVal val="visible"/>
                                      </p:to>
                                    </p:set>
                                    <p:animEffect transition="in" filter="wipe(left)">
                                      <p:cBhvr>
                                        <p:cTn id="90" dur="1000"/>
                                        <p:tgtEl>
                                          <p:spTgt spid="91"/>
                                        </p:tgtEl>
                                      </p:cBhvr>
                                    </p:animEffect>
                                  </p:childTnLst>
                                </p:cTn>
                              </p:par>
                              <p:par>
                                <p:cTn id="91" presetID="22" presetClass="entr" presetSubtype="8" fill="hold" grpId="0" nodeType="withEffect">
                                  <p:stCondLst>
                                    <p:cond delay="0"/>
                                  </p:stCondLst>
                                  <p:childTnLst>
                                    <p:set>
                                      <p:cBhvr>
                                        <p:cTn id="92" dur="1" fill="hold">
                                          <p:stCondLst>
                                            <p:cond delay="0"/>
                                          </p:stCondLst>
                                        </p:cTn>
                                        <p:tgtEl>
                                          <p:spTgt spid="92"/>
                                        </p:tgtEl>
                                        <p:attrNameLst>
                                          <p:attrName>style.visibility</p:attrName>
                                        </p:attrNameLst>
                                      </p:cBhvr>
                                      <p:to>
                                        <p:strVal val="visible"/>
                                      </p:to>
                                    </p:set>
                                    <p:animEffect transition="in" filter="wipe(left)">
                                      <p:cBhvr>
                                        <p:cTn id="93" dur="1000"/>
                                        <p:tgtEl>
                                          <p:spTgt spid="92"/>
                                        </p:tgtEl>
                                      </p:cBhvr>
                                    </p:animEffect>
                                  </p:childTnLst>
                                </p:cTn>
                              </p:par>
                              <p:par>
                                <p:cTn id="94" presetID="22" presetClass="entr" presetSubtype="8" fill="hold" grpId="0" nodeType="withEffect">
                                  <p:stCondLst>
                                    <p:cond delay="0"/>
                                  </p:stCondLst>
                                  <p:childTnLst>
                                    <p:set>
                                      <p:cBhvr>
                                        <p:cTn id="95" dur="1" fill="hold">
                                          <p:stCondLst>
                                            <p:cond delay="0"/>
                                          </p:stCondLst>
                                        </p:cTn>
                                        <p:tgtEl>
                                          <p:spTgt spid="93"/>
                                        </p:tgtEl>
                                        <p:attrNameLst>
                                          <p:attrName>style.visibility</p:attrName>
                                        </p:attrNameLst>
                                      </p:cBhvr>
                                      <p:to>
                                        <p:strVal val="visible"/>
                                      </p:to>
                                    </p:set>
                                    <p:animEffect transition="in" filter="wipe(left)">
                                      <p:cBhvr>
                                        <p:cTn id="96" dur="1000"/>
                                        <p:tgtEl>
                                          <p:spTgt spid="93"/>
                                        </p:tgtEl>
                                      </p:cBhvr>
                                    </p:animEffect>
                                  </p:childTnLst>
                                </p:cTn>
                              </p:par>
                            </p:childTnLst>
                          </p:cTn>
                        </p:par>
                        <p:par>
                          <p:cTn id="97" fill="hold">
                            <p:stCondLst>
                              <p:cond delay="2000"/>
                            </p:stCondLst>
                            <p:childTnLst>
                              <p:par>
                                <p:cTn id="98" presetID="12" presetClass="entr" presetSubtype="8" fill="hold" grpId="0" nodeType="afterEffect">
                                  <p:stCondLst>
                                    <p:cond delay="0"/>
                                  </p:stCondLst>
                                  <p:childTnLst>
                                    <p:set>
                                      <p:cBhvr>
                                        <p:cTn id="99" dur="1" fill="hold">
                                          <p:stCondLst>
                                            <p:cond delay="0"/>
                                          </p:stCondLst>
                                        </p:cTn>
                                        <p:tgtEl>
                                          <p:spTgt spid="94"/>
                                        </p:tgtEl>
                                        <p:attrNameLst>
                                          <p:attrName>style.visibility</p:attrName>
                                        </p:attrNameLst>
                                      </p:cBhvr>
                                      <p:to>
                                        <p:strVal val="visible"/>
                                      </p:to>
                                    </p:set>
                                    <p:animEffect transition="in" filter="slide(fromLeft)">
                                      <p:cBhvr>
                                        <p:cTn id="100" dur="1000"/>
                                        <p:tgtEl>
                                          <p:spTgt spid="94"/>
                                        </p:tgtEl>
                                      </p:cBhvr>
                                    </p:animEffect>
                                  </p:childTnLst>
                                </p:cTn>
                              </p:par>
                            </p:childTnLst>
                          </p:cTn>
                        </p:par>
                        <p:par>
                          <p:cTn id="101" fill="hold">
                            <p:stCondLst>
                              <p:cond delay="3000"/>
                            </p:stCondLst>
                            <p:childTnLst>
                              <p:par>
                                <p:cTn id="102" presetID="12" presetClass="entr" presetSubtype="8" fill="hold" grpId="0" nodeType="afterEffect">
                                  <p:stCondLst>
                                    <p:cond delay="0"/>
                                  </p:stCondLst>
                                  <p:childTnLst>
                                    <p:set>
                                      <p:cBhvr>
                                        <p:cTn id="103" dur="1" fill="hold">
                                          <p:stCondLst>
                                            <p:cond delay="0"/>
                                          </p:stCondLst>
                                        </p:cTn>
                                        <p:tgtEl>
                                          <p:spTgt spid="96"/>
                                        </p:tgtEl>
                                        <p:attrNameLst>
                                          <p:attrName>style.visibility</p:attrName>
                                        </p:attrNameLst>
                                      </p:cBhvr>
                                      <p:to>
                                        <p:strVal val="visible"/>
                                      </p:to>
                                    </p:set>
                                    <p:animEffect transition="in" filter="slide(fromLeft)">
                                      <p:cBhvr>
                                        <p:cTn id="104" dur="1000"/>
                                        <p:tgtEl>
                                          <p:spTgt spid="96"/>
                                        </p:tgtEl>
                                      </p:cBhvr>
                                    </p:animEffect>
                                  </p:childTnLst>
                                </p:cTn>
                              </p:par>
                            </p:childTnLst>
                          </p:cTn>
                        </p:par>
                      </p:childTnLst>
                    </p:cTn>
                  </p:par>
                  <p:par>
                    <p:cTn id="105" fill="hold">
                      <p:stCondLst>
                        <p:cond delay="indefinite"/>
                      </p:stCondLst>
                      <p:childTnLst>
                        <p:par>
                          <p:cTn id="106" fill="hold">
                            <p:stCondLst>
                              <p:cond delay="0"/>
                            </p:stCondLst>
                            <p:childTnLst>
                              <p:par>
                                <p:cTn id="107" presetID="47" presetClass="exit" presetSubtype="0" fill="hold" nodeType="clickEffect">
                                  <p:stCondLst>
                                    <p:cond delay="0"/>
                                  </p:stCondLst>
                                  <p:childTnLst>
                                    <p:animEffect transition="out" filter="fade">
                                      <p:cBhvr>
                                        <p:cTn id="108" dur="1000"/>
                                        <p:tgtEl>
                                          <p:spTgt spid="66"/>
                                        </p:tgtEl>
                                      </p:cBhvr>
                                    </p:animEffect>
                                    <p:anim calcmode="lin" valueType="num">
                                      <p:cBhvr>
                                        <p:cTn id="109" dur="1000"/>
                                        <p:tgtEl>
                                          <p:spTgt spid="66"/>
                                        </p:tgtEl>
                                        <p:attrNameLst>
                                          <p:attrName>ppt_x</p:attrName>
                                        </p:attrNameLst>
                                      </p:cBhvr>
                                      <p:tavLst>
                                        <p:tav tm="0">
                                          <p:val>
                                            <p:strVal val="ppt_x"/>
                                          </p:val>
                                        </p:tav>
                                        <p:tav tm="100000">
                                          <p:val>
                                            <p:strVal val="ppt_x"/>
                                          </p:val>
                                        </p:tav>
                                      </p:tavLst>
                                    </p:anim>
                                    <p:anim calcmode="lin" valueType="num">
                                      <p:cBhvr>
                                        <p:cTn id="110" dur="1000"/>
                                        <p:tgtEl>
                                          <p:spTgt spid="66"/>
                                        </p:tgtEl>
                                        <p:attrNameLst>
                                          <p:attrName>ppt_y</p:attrName>
                                        </p:attrNameLst>
                                      </p:cBhvr>
                                      <p:tavLst>
                                        <p:tav tm="0">
                                          <p:val>
                                            <p:strVal val="ppt_y"/>
                                          </p:val>
                                        </p:tav>
                                        <p:tav tm="100000">
                                          <p:val>
                                            <p:strVal val="ppt_y-.1"/>
                                          </p:val>
                                        </p:tav>
                                      </p:tavLst>
                                    </p:anim>
                                    <p:set>
                                      <p:cBhvr>
                                        <p:cTn id="111" dur="1" fill="hold">
                                          <p:stCondLst>
                                            <p:cond delay="999"/>
                                          </p:stCondLst>
                                        </p:cTn>
                                        <p:tgtEl>
                                          <p:spTgt spid="66"/>
                                        </p:tgtEl>
                                        <p:attrNameLst>
                                          <p:attrName>style.visibility</p:attrName>
                                        </p:attrNameLst>
                                      </p:cBhvr>
                                      <p:to>
                                        <p:strVal val="hidden"/>
                                      </p:to>
                                    </p:set>
                                  </p:childTnLst>
                                </p:cTn>
                              </p:par>
                              <p:par>
                                <p:cTn id="112" presetID="47" presetClass="exit" presetSubtype="0" fill="hold" grpId="1" nodeType="withEffect">
                                  <p:stCondLst>
                                    <p:cond delay="0"/>
                                  </p:stCondLst>
                                  <p:childTnLst>
                                    <p:animEffect transition="out" filter="fade">
                                      <p:cBhvr>
                                        <p:cTn id="113" dur="1000"/>
                                        <p:tgtEl>
                                          <p:spTgt spid="75"/>
                                        </p:tgtEl>
                                      </p:cBhvr>
                                    </p:animEffect>
                                    <p:anim calcmode="lin" valueType="num">
                                      <p:cBhvr>
                                        <p:cTn id="114" dur="1000"/>
                                        <p:tgtEl>
                                          <p:spTgt spid="75"/>
                                        </p:tgtEl>
                                        <p:attrNameLst>
                                          <p:attrName>ppt_x</p:attrName>
                                        </p:attrNameLst>
                                      </p:cBhvr>
                                      <p:tavLst>
                                        <p:tav tm="0">
                                          <p:val>
                                            <p:strVal val="ppt_x"/>
                                          </p:val>
                                        </p:tav>
                                        <p:tav tm="100000">
                                          <p:val>
                                            <p:strVal val="ppt_x"/>
                                          </p:val>
                                        </p:tav>
                                      </p:tavLst>
                                    </p:anim>
                                    <p:anim calcmode="lin" valueType="num">
                                      <p:cBhvr>
                                        <p:cTn id="115" dur="1000"/>
                                        <p:tgtEl>
                                          <p:spTgt spid="75"/>
                                        </p:tgtEl>
                                        <p:attrNameLst>
                                          <p:attrName>ppt_y</p:attrName>
                                        </p:attrNameLst>
                                      </p:cBhvr>
                                      <p:tavLst>
                                        <p:tav tm="0">
                                          <p:val>
                                            <p:strVal val="ppt_y"/>
                                          </p:val>
                                        </p:tav>
                                        <p:tav tm="100000">
                                          <p:val>
                                            <p:strVal val="ppt_y-.1"/>
                                          </p:val>
                                        </p:tav>
                                      </p:tavLst>
                                    </p:anim>
                                    <p:set>
                                      <p:cBhvr>
                                        <p:cTn id="116" dur="1" fill="hold">
                                          <p:stCondLst>
                                            <p:cond delay="999"/>
                                          </p:stCondLst>
                                        </p:cTn>
                                        <p:tgtEl>
                                          <p:spTgt spid="75"/>
                                        </p:tgtEl>
                                        <p:attrNameLst>
                                          <p:attrName>style.visibility</p:attrName>
                                        </p:attrNameLst>
                                      </p:cBhvr>
                                      <p:to>
                                        <p:strVal val="hidden"/>
                                      </p:to>
                                    </p:set>
                                  </p:childTnLst>
                                </p:cTn>
                              </p:par>
                              <p:par>
                                <p:cTn id="117" presetID="47" presetClass="exit" presetSubtype="0" fill="hold" grpId="1" nodeType="withEffect">
                                  <p:stCondLst>
                                    <p:cond delay="0"/>
                                  </p:stCondLst>
                                  <p:childTnLst>
                                    <p:animEffect transition="out" filter="fade">
                                      <p:cBhvr>
                                        <p:cTn id="118" dur="1000"/>
                                        <p:tgtEl>
                                          <p:spTgt spid="67"/>
                                        </p:tgtEl>
                                      </p:cBhvr>
                                    </p:animEffect>
                                    <p:anim calcmode="lin" valueType="num">
                                      <p:cBhvr>
                                        <p:cTn id="119" dur="1000"/>
                                        <p:tgtEl>
                                          <p:spTgt spid="67"/>
                                        </p:tgtEl>
                                        <p:attrNameLst>
                                          <p:attrName>ppt_x</p:attrName>
                                        </p:attrNameLst>
                                      </p:cBhvr>
                                      <p:tavLst>
                                        <p:tav tm="0">
                                          <p:val>
                                            <p:strVal val="ppt_x"/>
                                          </p:val>
                                        </p:tav>
                                        <p:tav tm="100000">
                                          <p:val>
                                            <p:strVal val="ppt_x"/>
                                          </p:val>
                                        </p:tav>
                                      </p:tavLst>
                                    </p:anim>
                                    <p:anim calcmode="lin" valueType="num">
                                      <p:cBhvr>
                                        <p:cTn id="120" dur="1000"/>
                                        <p:tgtEl>
                                          <p:spTgt spid="67"/>
                                        </p:tgtEl>
                                        <p:attrNameLst>
                                          <p:attrName>ppt_y</p:attrName>
                                        </p:attrNameLst>
                                      </p:cBhvr>
                                      <p:tavLst>
                                        <p:tav tm="0">
                                          <p:val>
                                            <p:strVal val="ppt_y"/>
                                          </p:val>
                                        </p:tav>
                                        <p:tav tm="100000">
                                          <p:val>
                                            <p:strVal val="ppt_y-.1"/>
                                          </p:val>
                                        </p:tav>
                                      </p:tavLst>
                                    </p:anim>
                                    <p:set>
                                      <p:cBhvr>
                                        <p:cTn id="121" dur="1" fill="hold">
                                          <p:stCondLst>
                                            <p:cond delay="999"/>
                                          </p:stCondLst>
                                        </p:cTn>
                                        <p:tgtEl>
                                          <p:spTgt spid="67"/>
                                        </p:tgtEl>
                                        <p:attrNameLst>
                                          <p:attrName>style.visibility</p:attrName>
                                        </p:attrNameLst>
                                      </p:cBhvr>
                                      <p:to>
                                        <p:strVal val="hidden"/>
                                      </p:to>
                                    </p:set>
                                  </p:childTnLst>
                                </p:cTn>
                              </p:par>
                              <p:par>
                                <p:cTn id="122" presetID="47" presetClass="exit" presetSubtype="0" fill="hold" grpId="1" nodeType="withEffect">
                                  <p:stCondLst>
                                    <p:cond delay="0"/>
                                  </p:stCondLst>
                                  <p:childTnLst>
                                    <p:animEffect transition="out" filter="fade">
                                      <p:cBhvr>
                                        <p:cTn id="123" dur="1000"/>
                                        <p:tgtEl>
                                          <p:spTgt spid="69"/>
                                        </p:tgtEl>
                                      </p:cBhvr>
                                    </p:animEffect>
                                    <p:anim calcmode="lin" valueType="num">
                                      <p:cBhvr>
                                        <p:cTn id="124" dur="1000"/>
                                        <p:tgtEl>
                                          <p:spTgt spid="69"/>
                                        </p:tgtEl>
                                        <p:attrNameLst>
                                          <p:attrName>ppt_x</p:attrName>
                                        </p:attrNameLst>
                                      </p:cBhvr>
                                      <p:tavLst>
                                        <p:tav tm="0">
                                          <p:val>
                                            <p:strVal val="ppt_x"/>
                                          </p:val>
                                        </p:tav>
                                        <p:tav tm="100000">
                                          <p:val>
                                            <p:strVal val="ppt_x"/>
                                          </p:val>
                                        </p:tav>
                                      </p:tavLst>
                                    </p:anim>
                                    <p:anim calcmode="lin" valueType="num">
                                      <p:cBhvr>
                                        <p:cTn id="125" dur="1000"/>
                                        <p:tgtEl>
                                          <p:spTgt spid="69"/>
                                        </p:tgtEl>
                                        <p:attrNameLst>
                                          <p:attrName>ppt_y</p:attrName>
                                        </p:attrNameLst>
                                      </p:cBhvr>
                                      <p:tavLst>
                                        <p:tav tm="0">
                                          <p:val>
                                            <p:strVal val="ppt_y"/>
                                          </p:val>
                                        </p:tav>
                                        <p:tav tm="100000">
                                          <p:val>
                                            <p:strVal val="ppt_y-.1"/>
                                          </p:val>
                                        </p:tav>
                                      </p:tavLst>
                                    </p:anim>
                                    <p:set>
                                      <p:cBhvr>
                                        <p:cTn id="126" dur="1" fill="hold">
                                          <p:stCondLst>
                                            <p:cond delay="999"/>
                                          </p:stCondLst>
                                        </p:cTn>
                                        <p:tgtEl>
                                          <p:spTgt spid="69"/>
                                        </p:tgtEl>
                                        <p:attrNameLst>
                                          <p:attrName>style.visibility</p:attrName>
                                        </p:attrNameLst>
                                      </p:cBhvr>
                                      <p:to>
                                        <p:strVal val="hidden"/>
                                      </p:to>
                                    </p:set>
                                  </p:childTnLst>
                                </p:cTn>
                              </p:par>
                              <p:par>
                                <p:cTn id="127" presetID="47" presetClass="exit" presetSubtype="0" fill="hold" grpId="1" nodeType="withEffect">
                                  <p:stCondLst>
                                    <p:cond delay="0"/>
                                  </p:stCondLst>
                                  <p:childTnLst>
                                    <p:animEffect transition="out" filter="fade">
                                      <p:cBhvr>
                                        <p:cTn id="128" dur="1000"/>
                                        <p:tgtEl>
                                          <p:spTgt spid="70"/>
                                        </p:tgtEl>
                                      </p:cBhvr>
                                    </p:animEffect>
                                    <p:anim calcmode="lin" valueType="num">
                                      <p:cBhvr>
                                        <p:cTn id="129" dur="1000"/>
                                        <p:tgtEl>
                                          <p:spTgt spid="70"/>
                                        </p:tgtEl>
                                        <p:attrNameLst>
                                          <p:attrName>ppt_x</p:attrName>
                                        </p:attrNameLst>
                                      </p:cBhvr>
                                      <p:tavLst>
                                        <p:tav tm="0">
                                          <p:val>
                                            <p:strVal val="ppt_x"/>
                                          </p:val>
                                        </p:tav>
                                        <p:tav tm="100000">
                                          <p:val>
                                            <p:strVal val="ppt_x"/>
                                          </p:val>
                                        </p:tav>
                                      </p:tavLst>
                                    </p:anim>
                                    <p:anim calcmode="lin" valueType="num">
                                      <p:cBhvr>
                                        <p:cTn id="130" dur="1000"/>
                                        <p:tgtEl>
                                          <p:spTgt spid="70"/>
                                        </p:tgtEl>
                                        <p:attrNameLst>
                                          <p:attrName>ppt_y</p:attrName>
                                        </p:attrNameLst>
                                      </p:cBhvr>
                                      <p:tavLst>
                                        <p:tav tm="0">
                                          <p:val>
                                            <p:strVal val="ppt_y"/>
                                          </p:val>
                                        </p:tav>
                                        <p:tav tm="100000">
                                          <p:val>
                                            <p:strVal val="ppt_y-.1"/>
                                          </p:val>
                                        </p:tav>
                                      </p:tavLst>
                                    </p:anim>
                                    <p:set>
                                      <p:cBhvr>
                                        <p:cTn id="131" dur="1" fill="hold">
                                          <p:stCondLst>
                                            <p:cond delay="999"/>
                                          </p:stCondLst>
                                        </p:cTn>
                                        <p:tgtEl>
                                          <p:spTgt spid="70"/>
                                        </p:tgtEl>
                                        <p:attrNameLst>
                                          <p:attrName>style.visibility</p:attrName>
                                        </p:attrNameLst>
                                      </p:cBhvr>
                                      <p:to>
                                        <p:strVal val="hidden"/>
                                      </p:to>
                                    </p:set>
                                  </p:childTnLst>
                                </p:cTn>
                              </p:par>
                              <p:par>
                                <p:cTn id="132" presetID="47" presetClass="exit" presetSubtype="0" fill="hold" grpId="1" nodeType="withEffect">
                                  <p:stCondLst>
                                    <p:cond delay="0"/>
                                  </p:stCondLst>
                                  <p:childTnLst>
                                    <p:animEffect transition="out" filter="fade">
                                      <p:cBhvr>
                                        <p:cTn id="133" dur="1000"/>
                                        <p:tgtEl>
                                          <p:spTgt spid="74"/>
                                        </p:tgtEl>
                                      </p:cBhvr>
                                    </p:animEffect>
                                    <p:anim calcmode="lin" valueType="num">
                                      <p:cBhvr>
                                        <p:cTn id="134" dur="1000"/>
                                        <p:tgtEl>
                                          <p:spTgt spid="74"/>
                                        </p:tgtEl>
                                        <p:attrNameLst>
                                          <p:attrName>ppt_x</p:attrName>
                                        </p:attrNameLst>
                                      </p:cBhvr>
                                      <p:tavLst>
                                        <p:tav tm="0">
                                          <p:val>
                                            <p:strVal val="ppt_x"/>
                                          </p:val>
                                        </p:tav>
                                        <p:tav tm="100000">
                                          <p:val>
                                            <p:strVal val="ppt_x"/>
                                          </p:val>
                                        </p:tav>
                                      </p:tavLst>
                                    </p:anim>
                                    <p:anim calcmode="lin" valueType="num">
                                      <p:cBhvr>
                                        <p:cTn id="135" dur="1000"/>
                                        <p:tgtEl>
                                          <p:spTgt spid="74"/>
                                        </p:tgtEl>
                                        <p:attrNameLst>
                                          <p:attrName>ppt_y</p:attrName>
                                        </p:attrNameLst>
                                      </p:cBhvr>
                                      <p:tavLst>
                                        <p:tav tm="0">
                                          <p:val>
                                            <p:strVal val="ppt_y"/>
                                          </p:val>
                                        </p:tav>
                                        <p:tav tm="100000">
                                          <p:val>
                                            <p:strVal val="ppt_y-.1"/>
                                          </p:val>
                                        </p:tav>
                                      </p:tavLst>
                                    </p:anim>
                                    <p:set>
                                      <p:cBhvr>
                                        <p:cTn id="136" dur="1" fill="hold">
                                          <p:stCondLst>
                                            <p:cond delay="999"/>
                                          </p:stCondLst>
                                        </p:cTn>
                                        <p:tgtEl>
                                          <p:spTgt spid="74"/>
                                        </p:tgtEl>
                                        <p:attrNameLst>
                                          <p:attrName>style.visibility</p:attrName>
                                        </p:attrNameLst>
                                      </p:cBhvr>
                                      <p:to>
                                        <p:strVal val="hidden"/>
                                      </p:to>
                                    </p:set>
                                  </p:childTnLst>
                                </p:cTn>
                              </p:par>
                              <p:par>
                                <p:cTn id="137" presetID="47" presetClass="exit" presetSubtype="0" fill="hold" grpId="1" nodeType="withEffect">
                                  <p:stCondLst>
                                    <p:cond delay="0"/>
                                  </p:stCondLst>
                                  <p:childTnLst>
                                    <p:animEffect transition="out" filter="fade">
                                      <p:cBhvr>
                                        <p:cTn id="138" dur="1000"/>
                                        <p:tgtEl>
                                          <p:spTgt spid="76"/>
                                        </p:tgtEl>
                                      </p:cBhvr>
                                    </p:animEffect>
                                    <p:anim calcmode="lin" valueType="num">
                                      <p:cBhvr>
                                        <p:cTn id="139" dur="1000"/>
                                        <p:tgtEl>
                                          <p:spTgt spid="76"/>
                                        </p:tgtEl>
                                        <p:attrNameLst>
                                          <p:attrName>ppt_x</p:attrName>
                                        </p:attrNameLst>
                                      </p:cBhvr>
                                      <p:tavLst>
                                        <p:tav tm="0">
                                          <p:val>
                                            <p:strVal val="ppt_x"/>
                                          </p:val>
                                        </p:tav>
                                        <p:tav tm="100000">
                                          <p:val>
                                            <p:strVal val="ppt_x"/>
                                          </p:val>
                                        </p:tav>
                                      </p:tavLst>
                                    </p:anim>
                                    <p:anim calcmode="lin" valueType="num">
                                      <p:cBhvr>
                                        <p:cTn id="140" dur="1000"/>
                                        <p:tgtEl>
                                          <p:spTgt spid="76"/>
                                        </p:tgtEl>
                                        <p:attrNameLst>
                                          <p:attrName>ppt_y</p:attrName>
                                        </p:attrNameLst>
                                      </p:cBhvr>
                                      <p:tavLst>
                                        <p:tav tm="0">
                                          <p:val>
                                            <p:strVal val="ppt_y"/>
                                          </p:val>
                                        </p:tav>
                                        <p:tav tm="100000">
                                          <p:val>
                                            <p:strVal val="ppt_y-.1"/>
                                          </p:val>
                                        </p:tav>
                                      </p:tavLst>
                                    </p:anim>
                                    <p:set>
                                      <p:cBhvr>
                                        <p:cTn id="141" dur="1" fill="hold">
                                          <p:stCondLst>
                                            <p:cond delay="999"/>
                                          </p:stCondLst>
                                        </p:cTn>
                                        <p:tgtEl>
                                          <p:spTgt spid="76"/>
                                        </p:tgtEl>
                                        <p:attrNameLst>
                                          <p:attrName>style.visibility</p:attrName>
                                        </p:attrNameLst>
                                      </p:cBhvr>
                                      <p:to>
                                        <p:strVal val="hidden"/>
                                      </p:to>
                                    </p:set>
                                  </p:childTnLst>
                                </p:cTn>
                              </p:par>
                              <p:par>
                                <p:cTn id="142" presetID="47" presetClass="exit" presetSubtype="0" fill="hold" grpId="1" nodeType="withEffect">
                                  <p:stCondLst>
                                    <p:cond delay="0"/>
                                  </p:stCondLst>
                                  <p:childTnLst>
                                    <p:animEffect transition="out" filter="fade">
                                      <p:cBhvr>
                                        <p:cTn id="143" dur="1000"/>
                                        <p:tgtEl>
                                          <p:spTgt spid="91"/>
                                        </p:tgtEl>
                                      </p:cBhvr>
                                    </p:animEffect>
                                    <p:anim calcmode="lin" valueType="num">
                                      <p:cBhvr>
                                        <p:cTn id="144" dur="1000"/>
                                        <p:tgtEl>
                                          <p:spTgt spid="91"/>
                                        </p:tgtEl>
                                        <p:attrNameLst>
                                          <p:attrName>ppt_x</p:attrName>
                                        </p:attrNameLst>
                                      </p:cBhvr>
                                      <p:tavLst>
                                        <p:tav tm="0">
                                          <p:val>
                                            <p:strVal val="ppt_x"/>
                                          </p:val>
                                        </p:tav>
                                        <p:tav tm="100000">
                                          <p:val>
                                            <p:strVal val="ppt_x"/>
                                          </p:val>
                                        </p:tav>
                                      </p:tavLst>
                                    </p:anim>
                                    <p:anim calcmode="lin" valueType="num">
                                      <p:cBhvr>
                                        <p:cTn id="145" dur="1000"/>
                                        <p:tgtEl>
                                          <p:spTgt spid="91"/>
                                        </p:tgtEl>
                                        <p:attrNameLst>
                                          <p:attrName>ppt_y</p:attrName>
                                        </p:attrNameLst>
                                      </p:cBhvr>
                                      <p:tavLst>
                                        <p:tav tm="0">
                                          <p:val>
                                            <p:strVal val="ppt_y"/>
                                          </p:val>
                                        </p:tav>
                                        <p:tav tm="100000">
                                          <p:val>
                                            <p:strVal val="ppt_y-.1"/>
                                          </p:val>
                                        </p:tav>
                                      </p:tavLst>
                                    </p:anim>
                                    <p:set>
                                      <p:cBhvr>
                                        <p:cTn id="146" dur="1" fill="hold">
                                          <p:stCondLst>
                                            <p:cond delay="999"/>
                                          </p:stCondLst>
                                        </p:cTn>
                                        <p:tgtEl>
                                          <p:spTgt spid="91"/>
                                        </p:tgtEl>
                                        <p:attrNameLst>
                                          <p:attrName>style.visibility</p:attrName>
                                        </p:attrNameLst>
                                      </p:cBhvr>
                                      <p:to>
                                        <p:strVal val="hidden"/>
                                      </p:to>
                                    </p:set>
                                  </p:childTnLst>
                                </p:cTn>
                              </p:par>
                              <p:par>
                                <p:cTn id="147" presetID="47" presetClass="exit" presetSubtype="0" fill="hold" grpId="1" nodeType="withEffect">
                                  <p:stCondLst>
                                    <p:cond delay="0"/>
                                  </p:stCondLst>
                                  <p:childTnLst>
                                    <p:animEffect transition="out" filter="fade">
                                      <p:cBhvr>
                                        <p:cTn id="148" dur="1000"/>
                                        <p:tgtEl>
                                          <p:spTgt spid="92"/>
                                        </p:tgtEl>
                                      </p:cBhvr>
                                    </p:animEffect>
                                    <p:anim calcmode="lin" valueType="num">
                                      <p:cBhvr>
                                        <p:cTn id="149" dur="1000"/>
                                        <p:tgtEl>
                                          <p:spTgt spid="92"/>
                                        </p:tgtEl>
                                        <p:attrNameLst>
                                          <p:attrName>ppt_x</p:attrName>
                                        </p:attrNameLst>
                                      </p:cBhvr>
                                      <p:tavLst>
                                        <p:tav tm="0">
                                          <p:val>
                                            <p:strVal val="ppt_x"/>
                                          </p:val>
                                        </p:tav>
                                        <p:tav tm="100000">
                                          <p:val>
                                            <p:strVal val="ppt_x"/>
                                          </p:val>
                                        </p:tav>
                                      </p:tavLst>
                                    </p:anim>
                                    <p:anim calcmode="lin" valueType="num">
                                      <p:cBhvr>
                                        <p:cTn id="150" dur="1000"/>
                                        <p:tgtEl>
                                          <p:spTgt spid="92"/>
                                        </p:tgtEl>
                                        <p:attrNameLst>
                                          <p:attrName>ppt_y</p:attrName>
                                        </p:attrNameLst>
                                      </p:cBhvr>
                                      <p:tavLst>
                                        <p:tav tm="0">
                                          <p:val>
                                            <p:strVal val="ppt_y"/>
                                          </p:val>
                                        </p:tav>
                                        <p:tav tm="100000">
                                          <p:val>
                                            <p:strVal val="ppt_y-.1"/>
                                          </p:val>
                                        </p:tav>
                                      </p:tavLst>
                                    </p:anim>
                                    <p:set>
                                      <p:cBhvr>
                                        <p:cTn id="151" dur="1" fill="hold">
                                          <p:stCondLst>
                                            <p:cond delay="999"/>
                                          </p:stCondLst>
                                        </p:cTn>
                                        <p:tgtEl>
                                          <p:spTgt spid="92"/>
                                        </p:tgtEl>
                                        <p:attrNameLst>
                                          <p:attrName>style.visibility</p:attrName>
                                        </p:attrNameLst>
                                      </p:cBhvr>
                                      <p:to>
                                        <p:strVal val="hidden"/>
                                      </p:to>
                                    </p:set>
                                  </p:childTnLst>
                                </p:cTn>
                              </p:par>
                              <p:par>
                                <p:cTn id="152" presetID="47" presetClass="exit" presetSubtype="0" fill="hold" grpId="1" nodeType="withEffect">
                                  <p:stCondLst>
                                    <p:cond delay="0"/>
                                  </p:stCondLst>
                                  <p:childTnLst>
                                    <p:animEffect transition="out" filter="fade">
                                      <p:cBhvr>
                                        <p:cTn id="153" dur="1000"/>
                                        <p:tgtEl>
                                          <p:spTgt spid="93"/>
                                        </p:tgtEl>
                                      </p:cBhvr>
                                    </p:animEffect>
                                    <p:anim calcmode="lin" valueType="num">
                                      <p:cBhvr>
                                        <p:cTn id="154" dur="1000"/>
                                        <p:tgtEl>
                                          <p:spTgt spid="93"/>
                                        </p:tgtEl>
                                        <p:attrNameLst>
                                          <p:attrName>ppt_x</p:attrName>
                                        </p:attrNameLst>
                                      </p:cBhvr>
                                      <p:tavLst>
                                        <p:tav tm="0">
                                          <p:val>
                                            <p:strVal val="ppt_x"/>
                                          </p:val>
                                        </p:tav>
                                        <p:tav tm="100000">
                                          <p:val>
                                            <p:strVal val="ppt_x"/>
                                          </p:val>
                                        </p:tav>
                                      </p:tavLst>
                                    </p:anim>
                                    <p:anim calcmode="lin" valueType="num">
                                      <p:cBhvr>
                                        <p:cTn id="155" dur="1000"/>
                                        <p:tgtEl>
                                          <p:spTgt spid="93"/>
                                        </p:tgtEl>
                                        <p:attrNameLst>
                                          <p:attrName>ppt_y</p:attrName>
                                        </p:attrNameLst>
                                      </p:cBhvr>
                                      <p:tavLst>
                                        <p:tav tm="0">
                                          <p:val>
                                            <p:strVal val="ppt_y"/>
                                          </p:val>
                                        </p:tav>
                                        <p:tav tm="100000">
                                          <p:val>
                                            <p:strVal val="ppt_y-.1"/>
                                          </p:val>
                                        </p:tav>
                                      </p:tavLst>
                                    </p:anim>
                                    <p:set>
                                      <p:cBhvr>
                                        <p:cTn id="156" dur="1" fill="hold">
                                          <p:stCondLst>
                                            <p:cond delay="999"/>
                                          </p:stCondLst>
                                        </p:cTn>
                                        <p:tgtEl>
                                          <p:spTgt spid="93"/>
                                        </p:tgtEl>
                                        <p:attrNameLst>
                                          <p:attrName>style.visibility</p:attrName>
                                        </p:attrNameLst>
                                      </p:cBhvr>
                                      <p:to>
                                        <p:strVal val="hidden"/>
                                      </p:to>
                                    </p:set>
                                  </p:childTnLst>
                                </p:cTn>
                              </p:par>
                              <p:par>
                                <p:cTn id="157" presetID="47" presetClass="exit" presetSubtype="0" fill="hold" grpId="1" nodeType="withEffect">
                                  <p:stCondLst>
                                    <p:cond delay="0"/>
                                  </p:stCondLst>
                                  <p:childTnLst>
                                    <p:animEffect transition="out" filter="fade">
                                      <p:cBhvr>
                                        <p:cTn id="158" dur="1000"/>
                                        <p:tgtEl>
                                          <p:spTgt spid="94"/>
                                        </p:tgtEl>
                                      </p:cBhvr>
                                    </p:animEffect>
                                    <p:anim calcmode="lin" valueType="num">
                                      <p:cBhvr>
                                        <p:cTn id="159" dur="1000"/>
                                        <p:tgtEl>
                                          <p:spTgt spid="94"/>
                                        </p:tgtEl>
                                        <p:attrNameLst>
                                          <p:attrName>ppt_x</p:attrName>
                                        </p:attrNameLst>
                                      </p:cBhvr>
                                      <p:tavLst>
                                        <p:tav tm="0">
                                          <p:val>
                                            <p:strVal val="ppt_x"/>
                                          </p:val>
                                        </p:tav>
                                        <p:tav tm="100000">
                                          <p:val>
                                            <p:strVal val="ppt_x"/>
                                          </p:val>
                                        </p:tav>
                                      </p:tavLst>
                                    </p:anim>
                                    <p:anim calcmode="lin" valueType="num">
                                      <p:cBhvr>
                                        <p:cTn id="160" dur="1000"/>
                                        <p:tgtEl>
                                          <p:spTgt spid="94"/>
                                        </p:tgtEl>
                                        <p:attrNameLst>
                                          <p:attrName>ppt_y</p:attrName>
                                        </p:attrNameLst>
                                      </p:cBhvr>
                                      <p:tavLst>
                                        <p:tav tm="0">
                                          <p:val>
                                            <p:strVal val="ppt_y"/>
                                          </p:val>
                                        </p:tav>
                                        <p:tav tm="100000">
                                          <p:val>
                                            <p:strVal val="ppt_y-.1"/>
                                          </p:val>
                                        </p:tav>
                                      </p:tavLst>
                                    </p:anim>
                                    <p:set>
                                      <p:cBhvr>
                                        <p:cTn id="161" dur="1" fill="hold">
                                          <p:stCondLst>
                                            <p:cond delay="999"/>
                                          </p:stCondLst>
                                        </p:cTn>
                                        <p:tgtEl>
                                          <p:spTgt spid="94"/>
                                        </p:tgtEl>
                                        <p:attrNameLst>
                                          <p:attrName>style.visibility</p:attrName>
                                        </p:attrNameLst>
                                      </p:cBhvr>
                                      <p:to>
                                        <p:strVal val="hidden"/>
                                      </p:to>
                                    </p:set>
                                  </p:childTnLst>
                                </p:cTn>
                              </p:par>
                              <p:par>
                                <p:cTn id="162" presetID="47" presetClass="exit" presetSubtype="0" fill="hold" grpId="1" nodeType="withEffect">
                                  <p:stCondLst>
                                    <p:cond delay="0"/>
                                  </p:stCondLst>
                                  <p:childTnLst>
                                    <p:animEffect transition="out" filter="fade">
                                      <p:cBhvr>
                                        <p:cTn id="163" dur="1000"/>
                                        <p:tgtEl>
                                          <p:spTgt spid="96"/>
                                        </p:tgtEl>
                                      </p:cBhvr>
                                    </p:animEffect>
                                    <p:anim calcmode="lin" valueType="num">
                                      <p:cBhvr>
                                        <p:cTn id="164" dur="1000"/>
                                        <p:tgtEl>
                                          <p:spTgt spid="96"/>
                                        </p:tgtEl>
                                        <p:attrNameLst>
                                          <p:attrName>ppt_x</p:attrName>
                                        </p:attrNameLst>
                                      </p:cBhvr>
                                      <p:tavLst>
                                        <p:tav tm="0">
                                          <p:val>
                                            <p:strVal val="ppt_x"/>
                                          </p:val>
                                        </p:tav>
                                        <p:tav tm="100000">
                                          <p:val>
                                            <p:strVal val="ppt_x"/>
                                          </p:val>
                                        </p:tav>
                                      </p:tavLst>
                                    </p:anim>
                                    <p:anim calcmode="lin" valueType="num">
                                      <p:cBhvr>
                                        <p:cTn id="165" dur="1000"/>
                                        <p:tgtEl>
                                          <p:spTgt spid="96"/>
                                        </p:tgtEl>
                                        <p:attrNameLst>
                                          <p:attrName>ppt_y</p:attrName>
                                        </p:attrNameLst>
                                      </p:cBhvr>
                                      <p:tavLst>
                                        <p:tav tm="0">
                                          <p:val>
                                            <p:strVal val="ppt_y"/>
                                          </p:val>
                                        </p:tav>
                                        <p:tav tm="100000">
                                          <p:val>
                                            <p:strVal val="ppt_y-.1"/>
                                          </p:val>
                                        </p:tav>
                                      </p:tavLst>
                                    </p:anim>
                                    <p:set>
                                      <p:cBhvr>
                                        <p:cTn id="166" dur="1" fill="hold">
                                          <p:stCondLst>
                                            <p:cond delay="999"/>
                                          </p:stCondLst>
                                        </p:cTn>
                                        <p:tgtEl>
                                          <p:spTgt spid="96"/>
                                        </p:tgtEl>
                                        <p:attrNameLst>
                                          <p:attrName>style.visibility</p:attrName>
                                        </p:attrNameLst>
                                      </p:cBhvr>
                                      <p:to>
                                        <p:strVal val="hidden"/>
                                      </p:to>
                                    </p:set>
                                  </p:childTnLst>
                                </p:cTn>
                              </p:par>
                              <p:par>
                                <p:cTn id="167" presetID="12" presetClass="entr" presetSubtype="4" fill="hold" nodeType="withEffect">
                                  <p:stCondLst>
                                    <p:cond delay="0"/>
                                  </p:stCondLst>
                                  <p:childTnLst>
                                    <p:set>
                                      <p:cBhvr>
                                        <p:cTn id="168" dur="1" fill="hold">
                                          <p:stCondLst>
                                            <p:cond delay="0"/>
                                          </p:stCondLst>
                                        </p:cTn>
                                        <p:tgtEl>
                                          <p:spTgt spid="48"/>
                                        </p:tgtEl>
                                        <p:attrNameLst>
                                          <p:attrName>style.visibility</p:attrName>
                                        </p:attrNameLst>
                                      </p:cBhvr>
                                      <p:to>
                                        <p:strVal val="visible"/>
                                      </p:to>
                                    </p:set>
                                    <p:animEffect transition="in" filter="slide(fromBottom)">
                                      <p:cBhvr>
                                        <p:cTn id="169" dur="1000"/>
                                        <p:tgtEl>
                                          <p:spTgt spid="48"/>
                                        </p:tgtEl>
                                      </p:cBhvr>
                                    </p:animEffect>
                                  </p:childTnLst>
                                </p:cTn>
                              </p:par>
                            </p:childTnLst>
                          </p:cTn>
                        </p:par>
                      </p:childTnLst>
                    </p:cTn>
                  </p:par>
                  <p:par>
                    <p:cTn id="170" fill="hold">
                      <p:stCondLst>
                        <p:cond delay="indefinite"/>
                      </p:stCondLst>
                      <p:childTnLst>
                        <p:par>
                          <p:cTn id="171" fill="hold">
                            <p:stCondLst>
                              <p:cond delay="0"/>
                            </p:stCondLst>
                            <p:childTnLst>
                              <p:par>
                                <p:cTn id="172" presetID="12" presetClass="entr" presetSubtype="4" fill="hold" grpId="0" nodeType="clickEffect">
                                  <p:stCondLst>
                                    <p:cond delay="0"/>
                                  </p:stCondLst>
                                  <p:childTnLst>
                                    <p:set>
                                      <p:cBhvr>
                                        <p:cTn id="173" dur="1" fill="hold">
                                          <p:stCondLst>
                                            <p:cond delay="0"/>
                                          </p:stCondLst>
                                        </p:cTn>
                                        <p:tgtEl>
                                          <p:spTgt spid="105"/>
                                        </p:tgtEl>
                                        <p:attrNameLst>
                                          <p:attrName>style.visibility</p:attrName>
                                        </p:attrNameLst>
                                      </p:cBhvr>
                                      <p:to>
                                        <p:strVal val="visible"/>
                                      </p:to>
                                    </p:set>
                                    <p:animEffect transition="in" filter="slide(fromBottom)">
                                      <p:cBhvr>
                                        <p:cTn id="174" dur="1000"/>
                                        <p:tgtEl>
                                          <p:spTgt spid="105"/>
                                        </p:tgtEl>
                                      </p:cBhvr>
                                    </p:animEffect>
                                  </p:childTnLst>
                                </p:cTn>
                              </p:par>
                            </p:childTnLst>
                          </p:cTn>
                        </p:par>
                      </p:childTnLst>
                    </p:cTn>
                  </p:par>
                  <p:par>
                    <p:cTn id="175" fill="hold">
                      <p:stCondLst>
                        <p:cond delay="indefinite"/>
                      </p:stCondLst>
                      <p:childTnLst>
                        <p:par>
                          <p:cTn id="176" fill="hold">
                            <p:stCondLst>
                              <p:cond delay="0"/>
                            </p:stCondLst>
                            <p:childTnLst>
                              <p:par>
                                <p:cTn id="177" presetID="22" presetClass="entr" presetSubtype="8" fill="hold" nodeType="clickEffect">
                                  <p:stCondLst>
                                    <p:cond delay="0"/>
                                  </p:stCondLst>
                                  <p:childTnLst>
                                    <p:set>
                                      <p:cBhvr>
                                        <p:cTn id="178" dur="1" fill="hold">
                                          <p:stCondLst>
                                            <p:cond delay="0"/>
                                          </p:stCondLst>
                                        </p:cTn>
                                        <p:tgtEl>
                                          <p:spTgt spid="56"/>
                                        </p:tgtEl>
                                        <p:attrNameLst>
                                          <p:attrName>style.visibility</p:attrName>
                                        </p:attrNameLst>
                                      </p:cBhvr>
                                      <p:to>
                                        <p:strVal val="visible"/>
                                      </p:to>
                                    </p:set>
                                    <p:animEffect transition="in" filter="wipe(left)">
                                      <p:cBhvr>
                                        <p:cTn id="179" dur="1000"/>
                                        <p:tgtEl>
                                          <p:spTgt spid="56"/>
                                        </p:tgtEl>
                                      </p:cBhvr>
                                    </p:animEffect>
                                  </p:childTnLst>
                                </p:cTn>
                              </p:par>
                            </p:childTnLst>
                          </p:cTn>
                        </p:par>
                      </p:childTnLst>
                    </p:cTn>
                  </p:par>
                  <p:par>
                    <p:cTn id="180" fill="hold">
                      <p:stCondLst>
                        <p:cond delay="indefinite"/>
                      </p:stCondLst>
                      <p:childTnLst>
                        <p:par>
                          <p:cTn id="181" fill="hold">
                            <p:stCondLst>
                              <p:cond delay="0"/>
                            </p:stCondLst>
                            <p:childTnLst>
                              <p:par>
                                <p:cTn id="182" presetID="22" presetClass="entr" presetSubtype="1" fill="hold" grpId="0" nodeType="clickEffect">
                                  <p:stCondLst>
                                    <p:cond delay="0"/>
                                  </p:stCondLst>
                                  <p:childTnLst>
                                    <p:set>
                                      <p:cBhvr>
                                        <p:cTn id="183" dur="1" fill="hold">
                                          <p:stCondLst>
                                            <p:cond delay="0"/>
                                          </p:stCondLst>
                                        </p:cTn>
                                        <p:tgtEl>
                                          <p:spTgt spid="107"/>
                                        </p:tgtEl>
                                        <p:attrNameLst>
                                          <p:attrName>style.visibility</p:attrName>
                                        </p:attrNameLst>
                                      </p:cBhvr>
                                      <p:to>
                                        <p:strVal val="visible"/>
                                      </p:to>
                                    </p:set>
                                    <p:animEffect transition="in" filter="wipe(up)">
                                      <p:cBhvr>
                                        <p:cTn id="184" dur="1000"/>
                                        <p:tgtEl>
                                          <p:spTgt spid="107"/>
                                        </p:tgtEl>
                                      </p:cBhvr>
                                    </p:animEffect>
                                  </p:childTnLst>
                                </p:cTn>
                              </p:par>
                            </p:childTnLst>
                          </p:cTn>
                        </p:par>
                      </p:childTnLst>
                    </p:cTn>
                  </p:par>
                  <p:par>
                    <p:cTn id="185" fill="hold">
                      <p:stCondLst>
                        <p:cond delay="indefinite"/>
                      </p:stCondLst>
                      <p:childTnLst>
                        <p:par>
                          <p:cTn id="186" fill="hold">
                            <p:stCondLst>
                              <p:cond delay="0"/>
                            </p:stCondLst>
                            <p:childTnLst>
                              <p:par>
                                <p:cTn id="187" presetID="22" presetClass="entr" presetSubtype="1" fill="hold" nodeType="clickEffect">
                                  <p:stCondLst>
                                    <p:cond delay="0"/>
                                  </p:stCondLst>
                                  <p:childTnLst>
                                    <p:set>
                                      <p:cBhvr>
                                        <p:cTn id="188" dur="1" fill="hold">
                                          <p:stCondLst>
                                            <p:cond delay="0"/>
                                          </p:stCondLst>
                                        </p:cTn>
                                        <p:tgtEl>
                                          <p:spTgt spid="64"/>
                                        </p:tgtEl>
                                        <p:attrNameLst>
                                          <p:attrName>style.visibility</p:attrName>
                                        </p:attrNameLst>
                                      </p:cBhvr>
                                      <p:to>
                                        <p:strVal val="visible"/>
                                      </p:to>
                                    </p:set>
                                    <p:animEffect transition="in" filter="wipe(up)">
                                      <p:cBhvr>
                                        <p:cTn id="189" dur="1000"/>
                                        <p:tgtEl>
                                          <p:spTgt spid="64"/>
                                        </p:tgtEl>
                                      </p:cBhvr>
                                    </p:animEffect>
                                  </p:childTnLst>
                                </p:cTn>
                              </p:par>
                            </p:childTnLst>
                          </p:cTn>
                        </p:par>
                        <p:par>
                          <p:cTn id="190" fill="hold">
                            <p:stCondLst>
                              <p:cond delay="1000"/>
                            </p:stCondLst>
                            <p:childTnLst>
                              <p:par>
                                <p:cTn id="191" presetID="22" presetClass="entr" presetSubtype="1" fill="hold" nodeType="afterEffect">
                                  <p:stCondLst>
                                    <p:cond delay="0"/>
                                  </p:stCondLst>
                                  <p:childTnLst>
                                    <p:set>
                                      <p:cBhvr>
                                        <p:cTn id="192" dur="1" fill="hold">
                                          <p:stCondLst>
                                            <p:cond delay="0"/>
                                          </p:stCondLst>
                                        </p:cTn>
                                        <p:tgtEl>
                                          <p:spTgt spid="59"/>
                                        </p:tgtEl>
                                        <p:attrNameLst>
                                          <p:attrName>style.visibility</p:attrName>
                                        </p:attrNameLst>
                                      </p:cBhvr>
                                      <p:to>
                                        <p:strVal val="visible"/>
                                      </p:to>
                                    </p:set>
                                    <p:animEffect transition="in" filter="wipe(up)">
                                      <p:cBhvr>
                                        <p:cTn id="193" dur="1000"/>
                                        <p:tgtEl>
                                          <p:spTgt spid="59"/>
                                        </p:tgtEl>
                                      </p:cBhvr>
                                    </p:animEffect>
                                  </p:childTnLst>
                                </p:cTn>
                              </p:par>
                            </p:childTnLst>
                          </p:cTn>
                        </p:par>
                      </p:childTnLst>
                    </p:cTn>
                  </p:par>
                  <p:par>
                    <p:cTn id="194" fill="hold">
                      <p:stCondLst>
                        <p:cond delay="indefinite"/>
                      </p:stCondLst>
                      <p:childTnLst>
                        <p:par>
                          <p:cTn id="195" fill="hold">
                            <p:stCondLst>
                              <p:cond delay="0"/>
                            </p:stCondLst>
                            <p:childTnLst>
                              <p:par>
                                <p:cTn id="196" presetID="22" presetClass="entr" presetSubtype="2" fill="hold" grpId="0" nodeType="clickEffect">
                                  <p:stCondLst>
                                    <p:cond delay="0"/>
                                  </p:stCondLst>
                                  <p:childTnLst>
                                    <p:set>
                                      <p:cBhvr>
                                        <p:cTn id="197" dur="1" fill="hold">
                                          <p:stCondLst>
                                            <p:cond delay="0"/>
                                          </p:stCondLst>
                                        </p:cTn>
                                        <p:tgtEl>
                                          <p:spTgt spid="60"/>
                                        </p:tgtEl>
                                        <p:attrNameLst>
                                          <p:attrName>style.visibility</p:attrName>
                                        </p:attrNameLst>
                                      </p:cBhvr>
                                      <p:to>
                                        <p:strVal val="visible"/>
                                      </p:to>
                                    </p:set>
                                    <p:animEffect transition="in" filter="wipe(right)">
                                      <p:cBhvr>
                                        <p:cTn id="198" dur="10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5" grpId="0"/>
      <p:bldP spid="75" grpId="1"/>
      <p:bldP spid="81" grpId="0" animBg="1"/>
      <p:bldP spid="89" grpId="0"/>
      <p:bldP spid="95" grpId="0"/>
      <p:bldP spid="65" grpId="0"/>
      <p:bldP spid="67" grpId="0"/>
      <p:bldP spid="67" grpId="1"/>
      <p:bldP spid="69" grpId="0"/>
      <p:bldP spid="69" grpId="1"/>
      <p:bldP spid="70" grpId="0" animBg="1"/>
      <p:bldP spid="70" grpId="1" animBg="1"/>
      <p:bldP spid="74" grpId="0" animBg="1"/>
      <p:bldP spid="74" grpId="1" animBg="1"/>
      <p:bldP spid="76" grpId="0" animBg="1"/>
      <p:bldP spid="76" grpId="1" animBg="1"/>
      <p:bldP spid="91" grpId="0" animBg="1"/>
      <p:bldP spid="91" grpId="1" animBg="1"/>
      <p:bldP spid="92" grpId="0" animBg="1"/>
      <p:bldP spid="92" grpId="1" animBg="1"/>
      <p:bldP spid="93" grpId="0" animBg="1"/>
      <p:bldP spid="93" grpId="1" animBg="1"/>
      <p:bldP spid="94" grpId="0"/>
      <p:bldP spid="94" grpId="1"/>
      <p:bldP spid="96" grpId="0"/>
      <p:bldP spid="96" grpId="1"/>
      <p:bldP spid="105" grpId="0"/>
      <p:bldP spid="107" grpId="0" animBg="1"/>
      <p:bldP spid="60" grpId="0" animBg="1"/>
      <p:bldP spid="6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7"/>
          <p:cNvGrpSpPr/>
          <p:nvPr/>
        </p:nvGrpSpPr>
        <p:grpSpPr>
          <a:xfrm>
            <a:off x="344806" y="722299"/>
            <a:ext cx="3114144" cy="420971"/>
            <a:chOff x="670560" y="892917"/>
            <a:chExt cx="3114144" cy="420971"/>
          </a:xfrm>
        </p:grpSpPr>
        <p:sp>
          <p:nvSpPr>
            <p:cNvPr id="40" name="矩形 39"/>
            <p:cNvSpPr/>
            <p:nvPr/>
          </p:nvSpPr>
          <p:spPr>
            <a:xfrm>
              <a:off x="1035233" y="913778"/>
              <a:ext cx="2749471"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组合逻辑电路分析实例</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3" name="组合 96"/>
          <p:cNvGrpSpPr/>
          <p:nvPr/>
        </p:nvGrpSpPr>
        <p:grpSpPr>
          <a:xfrm>
            <a:off x="702291" y="1802666"/>
            <a:ext cx="3297215" cy="2176965"/>
            <a:chOff x="702291" y="1762906"/>
            <a:chExt cx="3135085" cy="1862889"/>
          </a:xfrm>
          <a:solidFill>
            <a:schemeClr val="accent3">
              <a:lumMod val="20000"/>
              <a:lumOff val="80000"/>
            </a:schemeClr>
          </a:solidFill>
        </p:grpSpPr>
        <p:sp>
          <p:nvSpPr>
            <p:cNvPr id="80" name="圆角矩形 79"/>
            <p:cNvSpPr/>
            <p:nvPr/>
          </p:nvSpPr>
          <p:spPr>
            <a:xfrm>
              <a:off x="702291" y="1762906"/>
              <a:ext cx="3135085" cy="1862889"/>
            </a:xfrm>
            <a:prstGeom prst="roundRect">
              <a:avLst>
                <a:gd name="adj" fmla="val 4849"/>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78"/>
            <p:cNvGrpSpPr>
              <a:grpSpLocks noChangeAspect="1"/>
            </p:cNvGrpSpPr>
            <p:nvPr/>
          </p:nvGrpSpPr>
          <p:grpSpPr>
            <a:xfrm>
              <a:off x="777495" y="1827468"/>
              <a:ext cx="3019273" cy="1728000"/>
              <a:chOff x="471226" y="1980304"/>
              <a:chExt cx="3236955" cy="1852586"/>
            </a:xfrm>
            <a:grpFill/>
          </p:grpSpPr>
          <p:cxnSp>
            <p:nvCxnSpPr>
              <p:cNvPr id="17" name="直接连接符 16"/>
              <p:cNvCxnSpPr/>
              <p:nvPr/>
            </p:nvCxnSpPr>
            <p:spPr>
              <a:xfrm>
                <a:off x="710529" y="2188493"/>
                <a:ext cx="972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9"/>
              <p:cNvGrpSpPr/>
              <p:nvPr/>
            </p:nvGrpSpPr>
            <p:grpSpPr bwMode="auto">
              <a:xfrm>
                <a:off x="1323606" y="1980304"/>
                <a:ext cx="357187" cy="431800"/>
                <a:chOff x="2638" y="5808"/>
                <a:chExt cx="564" cy="680"/>
              </a:xfrm>
              <a:grpFill/>
            </p:grpSpPr>
            <p:sp>
              <p:nvSpPr>
                <p:cNvPr id="14346" name="Rectangle 10"/>
                <p:cNvSpPr>
                  <a:spLocks noChangeArrowheads="1"/>
                </p:cNvSpPr>
                <p:nvPr/>
              </p:nvSpPr>
              <p:spPr bwMode="auto">
                <a:xfrm>
                  <a:off x="2638" y="5808"/>
                  <a:ext cx="454" cy="680"/>
                </a:xfrm>
                <a:prstGeom prst="rect">
                  <a:avLst/>
                </a:prstGeom>
                <a:solidFill>
                  <a:schemeClr val="accent4">
                    <a:lumMod val="20000"/>
                    <a:lumOff val="80000"/>
                  </a:schemeClr>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rPr>
                    <a:t>1</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14347" name="Oval 11"/>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cxnSp>
            <p:nvCxnSpPr>
              <p:cNvPr id="18" name="直接连接符 17"/>
              <p:cNvCxnSpPr/>
              <p:nvPr/>
            </p:nvCxnSpPr>
            <p:spPr>
              <a:xfrm flipV="1">
                <a:off x="710528" y="2651760"/>
                <a:ext cx="648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V="1">
                <a:off x="710528" y="2884627"/>
                <a:ext cx="648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1181744" y="3240357"/>
                <a:ext cx="216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V="1">
                <a:off x="1062289" y="3474525"/>
                <a:ext cx="360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1188595" y="2882843"/>
                <a:ext cx="0" cy="36000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071724" y="2653775"/>
                <a:ext cx="0" cy="82800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929609" y="2191900"/>
                <a:ext cx="0" cy="154800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919027" y="3729324"/>
                <a:ext cx="1224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6"/>
              <p:cNvGrpSpPr/>
              <p:nvPr/>
            </p:nvGrpSpPr>
            <p:grpSpPr bwMode="auto">
              <a:xfrm>
                <a:off x="2138217" y="3401090"/>
                <a:ext cx="357187" cy="431800"/>
                <a:chOff x="2638" y="5808"/>
                <a:chExt cx="564" cy="680"/>
              </a:xfrm>
              <a:grpFill/>
            </p:grpSpPr>
            <p:sp>
              <p:nvSpPr>
                <p:cNvPr id="36" name="Rectangle 7"/>
                <p:cNvSpPr>
                  <a:spLocks noChangeArrowheads="1"/>
                </p:cNvSpPr>
                <p:nvPr/>
              </p:nvSpPr>
              <p:spPr bwMode="auto">
                <a:xfrm>
                  <a:off x="2638" y="5808"/>
                  <a:ext cx="454" cy="680"/>
                </a:xfrm>
                <a:prstGeom prst="rect">
                  <a:avLst/>
                </a:prstGeom>
                <a:solidFill>
                  <a:schemeClr val="accent4">
                    <a:lumMod val="20000"/>
                    <a:lumOff val="80000"/>
                  </a:schemeClr>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37"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cxnSp>
            <p:nvCxnSpPr>
              <p:cNvPr id="42" name="肘形连接符 41"/>
              <p:cNvCxnSpPr>
                <a:stCxn id="14344" idx="6"/>
              </p:cNvCxnSpPr>
              <p:nvPr/>
            </p:nvCxnSpPr>
            <p:spPr>
              <a:xfrm>
                <a:off x="1689461" y="3346570"/>
                <a:ext cx="447879" cy="148345"/>
              </a:xfrm>
              <a:prstGeom prst="bentConnector3">
                <a:avLst>
                  <a:gd name="adj1" fmla="val 50000"/>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oup 6"/>
              <p:cNvGrpSpPr/>
              <p:nvPr/>
            </p:nvGrpSpPr>
            <p:grpSpPr bwMode="auto">
              <a:xfrm>
                <a:off x="1332274" y="3142100"/>
                <a:ext cx="357187" cy="431800"/>
                <a:chOff x="2638" y="5808"/>
                <a:chExt cx="564" cy="680"/>
              </a:xfrm>
              <a:grpFill/>
            </p:grpSpPr>
            <p:sp>
              <p:nvSpPr>
                <p:cNvPr id="14343" name="Rectangle 7"/>
                <p:cNvSpPr>
                  <a:spLocks noChangeArrowheads="1"/>
                </p:cNvSpPr>
                <p:nvPr/>
              </p:nvSpPr>
              <p:spPr bwMode="auto">
                <a:xfrm>
                  <a:off x="2638" y="5808"/>
                  <a:ext cx="454" cy="680"/>
                </a:xfrm>
                <a:prstGeom prst="rect">
                  <a:avLst/>
                </a:prstGeom>
                <a:solidFill>
                  <a:schemeClr val="accent4">
                    <a:lumMod val="20000"/>
                    <a:lumOff val="80000"/>
                  </a:schemeClr>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14344"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sp>
            <p:nvSpPr>
              <p:cNvPr id="14348" name="Rectangle 12"/>
              <p:cNvSpPr>
                <a:spLocks noChangeArrowheads="1"/>
              </p:cNvSpPr>
              <p:nvPr/>
            </p:nvSpPr>
            <p:spPr bwMode="auto">
              <a:xfrm>
                <a:off x="1323607" y="2562360"/>
                <a:ext cx="287337" cy="431800"/>
              </a:xfrm>
              <a:prstGeom prst="rect">
                <a:avLst/>
              </a:prstGeom>
              <a:solidFill>
                <a:schemeClr val="accent4">
                  <a:lumMod val="20000"/>
                  <a:lumOff val="80000"/>
                </a:schemeClr>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effectLst/>
                    <a:latin typeface="宋体" panose="02010600030101010101" pitchFamily="2" charset="-122"/>
                    <a:ea typeface="宋体" panose="02010600030101010101" pitchFamily="2" charset="-122"/>
                    <a:cs typeface="Times New Roman" panose="02020603050405020304" pitchFamily="18" charset="0"/>
                  </a:rPr>
                  <a:t>≥</a:t>
                </a:r>
                <a:r>
                  <a:rPr kumimoji="0" lang="en-US"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rPr>
                  <a:t>1</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cxnSp>
            <p:nvCxnSpPr>
              <p:cNvPr id="48" name="肘形连接符 47"/>
              <p:cNvCxnSpPr>
                <a:stCxn id="14347" idx="6"/>
              </p:cNvCxnSpPr>
              <p:nvPr/>
            </p:nvCxnSpPr>
            <p:spPr>
              <a:xfrm>
                <a:off x="1680793" y="2184774"/>
                <a:ext cx="431303" cy="185373"/>
              </a:xfrm>
              <a:prstGeom prst="bentConnector3">
                <a:avLst>
                  <a:gd name="adj1" fmla="val 50000"/>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肘形连接符 49"/>
              <p:cNvCxnSpPr/>
              <p:nvPr/>
            </p:nvCxnSpPr>
            <p:spPr>
              <a:xfrm flipV="1">
                <a:off x="1622163" y="2616979"/>
                <a:ext cx="546031" cy="183722"/>
              </a:xfrm>
              <a:prstGeom prst="bentConnector3">
                <a:avLst>
                  <a:gd name="adj1" fmla="val 50000"/>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Group 6"/>
              <p:cNvGrpSpPr/>
              <p:nvPr/>
            </p:nvGrpSpPr>
            <p:grpSpPr bwMode="auto">
              <a:xfrm>
                <a:off x="2125127" y="2274449"/>
                <a:ext cx="357187" cy="431800"/>
                <a:chOff x="2638" y="5808"/>
                <a:chExt cx="564" cy="680"/>
              </a:xfrm>
              <a:grpFill/>
            </p:grpSpPr>
            <p:sp>
              <p:nvSpPr>
                <p:cNvPr id="45" name="Rectangle 7"/>
                <p:cNvSpPr>
                  <a:spLocks noChangeArrowheads="1"/>
                </p:cNvSpPr>
                <p:nvPr/>
              </p:nvSpPr>
              <p:spPr bwMode="auto">
                <a:xfrm>
                  <a:off x="2638" y="5808"/>
                  <a:ext cx="454" cy="680"/>
                </a:xfrm>
                <a:prstGeom prst="rect">
                  <a:avLst/>
                </a:prstGeom>
                <a:solidFill>
                  <a:schemeClr val="accent4">
                    <a:lumMod val="20000"/>
                    <a:lumOff val="80000"/>
                  </a:schemeClr>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46"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cxnSp>
            <p:nvCxnSpPr>
              <p:cNvPr id="60" name="肘形连接符 59"/>
              <p:cNvCxnSpPr/>
              <p:nvPr/>
            </p:nvCxnSpPr>
            <p:spPr>
              <a:xfrm>
                <a:off x="2472712" y="2480224"/>
                <a:ext cx="562198" cy="481759"/>
              </a:xfrm>
              <a:prstGeom prst="bentConnector3">
                <a:avLst>
                  <a:gd name="adj1" fmla="val 50000"/>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肘形连接符 63"/>
              <p:cNvCxnSpPr/>
              <p:nvPr/>
            </p:nvCxnSpPr>
            <p:spPr>
              <a:xfrm flipV="1">
                <a:off x="2482061" y="3189180"/>
                <a:ext cx="527605" cy="418866"/>
              </a:xfrm>
              <a:prstGeom prst="bentConnector3">
                <a:avLst>
                  <a:gd name="adj1" fmla="val 50000"/>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 6"/>
              <p:cNvGrpSpPr/>
              <p:nvPr/>
            </p:nvGrpSpPr>
            <p:grpSpPr bwMode="auto">
              <a:xfrm>
                <a:off x="2956317" y="2861613"/>
                <a:ext cx="357187" cy="431800"/>
                <a:chOff x="2638" y="5808"/>
                <a:chExt cx="564" cy="680"/>
              </a:xfrm>
              <a:grpFill/>
            </p:grpSpPr>
            <p:sp>
              <p:nvSpPr>
                <p:cNvPr id="58" name="Rectangle 7"/>
                <p:cNvSpPr>
                  <a:spLocks noChangeArrowheads="1"/>
                </p:cNvSpPr>
                <p:nvPr/>
              </p:nvSpPr>
              <p:spPr bwMode="auto">
                <a:xfrm>
                  <a:off x="2638" y="5808"/>
                  <a:ext cx="454" cy="680"/>
                </a:xfrm>
                <a:prstGeom prst="rect">
                  <a:avLst/>
                </a:prstGeom>
                <a:solidFill>
                  <a:schemeClr val="accent4">
                    <a:lumMod val="20000"/>
                    <a:lumOff val="80000"/>
                  </a:schemeClr>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59"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cxnSp>
            <p:nvCxnSpPr>
              <p:cNvPr id="68" name="直接连接符 67"/>
              <p:cNvCxnSpPr/>
              <p:nvPr/>
            </p:nvCxnSpPr>
            <p:spPr>
              <a:xfrm>
                <a:off x="3306938" y="3073908"/>
                <a:ext cx="144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471226" y="2076212"/>
                <a:ext cx="304892" cy="1015663"/>
              </a:xfrm>
              <a:prstGeom prst="rect">
                <a:avLst/>
              </a:prstGeom>
              <a:grpFill/>
            </p:spPr>
            <p:txBody>
              <a:bodyPr wrap="none" rtlCol="0">
                <a:spAutoFit/>
              </a:bodyPr>
              <a:lstStyle/>
              <a:p>
                <a:pPr>
                  <a:lnSpc>
                    <a:spcPts val="1800"/>
                  </a:lnSpc>
                </a:pPr>
                <a:r>
                  <a:rPr lang="en-US" altLang="zh-CN" sz="1400" b="1" i="1" dirty="0">
                    <a:latin typeface="Times New Roman" panose="02020603050405020304" pitchFamily="18" charset="0"/>
                    <a:cs typeface="Times New Roman" panose="02020603050405020304" pitchFamily="18" charset="0"/>
                  </a:rPr>
                  <a:t>A</a:t>
                </a:r>
                <a:endParaRPr lang="en-US" altLang="zh-CN" sz="1400" b="1" i="1" dirty="0">
                  <a:latin typeface="Times New Roman" panose="02020603050405020304" pitchFamily="18" charset="0"/>
                  <a:cs typeface="Times New Roman" panose="02020603050405020304" pitchFamily="18" charset="0"/>
                </a:endParaRPr>
              </a:p>
              <a:p>
                <a:pPr>
                  <a:lnSpc>
                    <a:spcPts val="1800"/>
                  </a:lnSpc>
                </a:pPr>
                <a:endParaRPr lang="en-US" altLang="zh-CN" sz="1400" b="1" i="1" dirty="0">
                  <a:latin typeface="Times New Roman" panose="02020603050405020304" pitchFamily="18" charset="0"/>
                  <a:cs typeface="Times New Roman" panose="02020603050405020304" pitchFamily="18" charset="0"/>
                </a:endParaRPr>
              </a:p>
              <a:p>
                <a:pPr>
                  <a:lnSpc>
                    <a:spcPts val="1800"/>
                  </a:lnSpc>
                </a:pPr>
                <a:r>
                  <a:rPr lang="en-US" altLang="zh-CN" sz="1400" b="1" i="1" dirty="0">
                    <a:latin typeface="Times New Roman" panose="02020603050405020304" pitchFamily="18" charset="0"/>
                    <a:cs typeface="Times New Roman" panose="02020603050405020304" pitchFamily="18" charset="0"/>
                  </a:rPr>
                  <a:t>B</a:t>
                </a:r>
                <a:endParaRPr lang="en-US" altLang="zh-CN" sz="1400" b="1" i="1" dirty="0">
                  <a:latin typeface="Times New Roman" panose="02020603050405020304" pitchFamily="18" charset="0"/>
                  <a:cs typeface="Times New Roman" panose="02020603050405020304" pitchFamily="18" charset="0"/>
                </a:endParaRPr>
              </a:p>
              <a:p>
                <a:pPr>
                  <a:lnSpc>
                    <a:spcPts val="1800"/>
                  </a:lnSpc>
                </a:pPr>
                <a:r>
                  <a:rPr lang="en-US" altLang="zh-CN" sz="1400" b="1" i="1" dirty="0">
                    <a:latin typeface="Times New Roman" panose="02020603050405020304" pitchFamily="18" charset="0"/>
                    <a:cs typeface="Times New Roman" panose="02020603050405020304" pitchFamily="18" charset="0"/>
                  </a:rPr>
                  <a:t>C</a:t>
                </a:r>
                <a:endParaRPr lang="zh-CN" altLang="en-US" sz="1400" b="1" i="1" dirty="0">
                  <a:latin typeface="Times New Roman" panose="02020603050405020304" pitchFamily="18" charset="0"/>
                  <a:cs typeface="Times New Roman" panose="02020603050405020304" pitchFamily="18" charset="0"/>
                </a:endParaRPr>
              </a:p>
            </p:txBody>
          </p:sp>
          <p:sp>
            <p:nvSpPr>
              <p:cNvPr id="78" name="TextBox 77"/>
              <p:cNvSpPr txBox="1"/>
              <p:nvPr/>
            </p:nvSpPr>
            <p:spPr>
              <a:xfrm>
                <a:off x="3403289" y="2918039"/>
                <a:ext cx="304892" cy="307585"/>
              </a:xfrm>
              <a:prstGeom prst="rect">
                <a:avLst/>
              </a:prstGeom>
              <a:grpFill/>
            </p:spPr>
            <p:txBody>
              <a:bodyPr wrap="none" rtlCol="0">
                <a:spAutoFit/>
              </a:bodyPr>
              <a:lstStyle/>
              <a:p>
                <a:pPr>
                  <a:lnSpc>
                    <a:spcPts val="1800"/>
                  </a:lnSpc>
                </a:pPr>
                <a:r>
                  <a:rPr lang="en-US" altLang="zh-CN" sz="1400" b="1" i="1" dirty="0">
                    <a:latin typeface="Times New Roman" panose="02020603050405020304" pitchFamily="18" charset="0"/>
                    <a:cs typeface="Times New Roman" panose="02020603050405020304" pitchFamily="18" charset="0"/>
                  </a:rPr>
                  <a:t>F</a:t>
                </a:r>
                <a:endParaRPr lang="zh-CN" altLang="en-US" sz="1400" b="1" i="1" dirty="0">
                  <a:latin typeface="Times New Roman" panose="02020603050405020304" pitchFamily="18" charset="0"/>
                  <a:cs typeface="Times New Roman" panose="02020603050405020304" pitchFamily="18" charset="0"/>
                </a:endParaRPr>
              </a:p>
            </p:txBody>
          </p:sp>
        </p:grpSp>
      </p:grpSp>
      <p:sp>
        <p:nvSpPr>
          <p:cNvPr id="81" name="TextBox 80"/>
          <p:cNvSpPr txBox="1"/>
          <p:nvPr/>
        </p:nvSpPr>
        <p:spPr>
          <a:xfrm>
            <a:off x="1961598" y="2124034"/>
            <a:ext cx="168316" cy="215444"/>
          </a:xfrm>
          <a:prstGeom prst="rect">
            <a:avLst/>
          </a:prstGeom>
          <a:solidFill>
            <a:srgbClr val="66FF66"/>
          </a:solidFill>
        </p:spPr>
        <p:txBody>
          <a:bodyPr wrap="none" lIns="0" tIns="0" rIns="0" bIns="0" rtlCol="0">
            <a:spAutoFit/>
          </a:bodyPr>
          <a:lstStyle/>
          <a:p>
            <a:r>
              <a:rPr lang="en-US" altLang="zh-CN" sz="1400" i="1" dirty="0">
                <a:solidFill>
                  <a:srgbClr val="6600FF"/>
                </a:solidFill>
                <a:latin typeface="Times New Roman" panose="02020603050405020304" pitchFamily="18" charset="0"/>
                <a:cs typeface="Times New Roman" panose="02020603050405020304" pitchFamily="18" charset="0"/>
              </a:rPr>
              <a:t>P</a:t>
            </a:r>
            <a:r>
              <a:rPr lang="en-US" altLang="zh-CN" sz="1400" baseline="-25000" dirty="0">
                <a:solidFill>
                  <a:srgbClr val="6600FF"/>
                </a:solidFill>
                <a:latin typeface="Times New Roman" panose="02020603050405020304" pitchFamily="18" charset="0"/>
                <a:cs typeface="Times New Roman" panose="02020603050405020304" pitchFamily="18" charset="0"/>
              </a:rPr>
              <a:t>1</a:t>
            </a:r>
            <a:endParaRPr lang="zh-CN" altLang="en-US" sz="1400" baseline="-25000" dirty="0">
              <a:solidFill>
                <a:srgbClr val="6600FF"/>
              </a:solidFill>
              <a:latin typeface="Times New Roman" panose="02020603050405020304" pitchFamily="18" charset="0"/>
              <a:cs typeface="Times New Roman" panose="02020603050405020304" pitchFamily="18" charset="0"/>
            </a:endParaRPr>
          </a:p>
        </p:txBody>
      </p:sp>
      <p:sp>
        <p:nvSpPr>
          <p:cNvPr id="82" name="TextBox 81"/>
          <p:cNvSpPr txBox="1"/>
          <p:nvPr/>
        </p:nvSpPr>
        <p:spPr>
          <a:xfrm>
            <a:off x="1961598" y="2522928"/>
            <a:ext cx="168316" cy="215444"/>
          </a:xfrm>
          <a:prstGeom prst="rect">
            <a:avLst/>
          </a:prstGeom>
          <a:solidFill>
            <a:srgbClr val="66FF66"/>
          </a:solidFill>
        </p:spPr>
        <p:txBody>
          <a:bodyPr wrap="none" lIns="0" tIns="0" rIns="0" bIns="0" rtlCol="0">
            <a:spAutoFit/>
          </a:bodyPr>
          <a:lstStyle/>
          <a:p>
            <a:r>
              <a:rPr lang="en-US" altLang="zh-CN" sz="1400" i="1" dirty="0">
                <a:solidFill>
                  <a:srgbClr val="6600FF"/>
                </a:solidFill>
                <a:latin typeface="Times New Roman" panose="02020603050405020304" pitchFamily="18" charset="0"/>
                <a:cs typeface="Times New Roman" panose="02020603050405020304" pitchFamily="18" charset="0"/>
              </a:rPr>
              <a:t>P</a:t>
            </a:r>
            <a:r>
              <a:rPr lang="en-US" altLang="zh-CN" sz="1400" baseline="-25000" dirty="0">
                <a:solidFill>
                  <a:srgbClr val="6600FF"/>
                </a:solidFill>
                <a:latin typeface="Times New Roman" panose="02020603050405020304" pitchFamily="18" charset="0"/>
                <a:cs typeface="Times New Roman" panose="02020603050405020304" pitchFamily="18" charset="0"/>
              </a:rPr>
              <a:t>2</a:t>
            </a:r>
            <a:endParaRPr lang="zh-CN" altLang="en-US" sz="1400" baseline="-25000" dirty="0">
              <a:solidFill>
                <a:srgbClr val="6600FF"/>
              </a:solidFill>
              <a:latin typeface="Times New Roman" panose="02020603050405020304" pitchFamily="18" charset="0"/>
              <a:cs typeface="Times New Roman" panose="02020603050405020304" pitchFamily="18" charset="0"/>
            </a:endParaRPr>
          </a:p>
        </p:txBody>
      </p:sp>
      <p:sp>
        <p:nvSpPr>
          <p:cNvPr id="83" name="TextBox 82"/>
          <p:cNvSpPr txBox="1"/>
          <p:nvPr/>
        </p:nvSpPr>
        <p:spPr>
          <a:xfrm>
            <a:off x="1973520" y="3098080"/>
            <a:ext cx="168316" cy="215444"/>
          </a:xfrm>
          <a:prstGeom prst="rect">
            <a:avLst/>
          </a:prstGeom>
          <a:solidFill>
            <a:srgbClr val="66FF66"/>
          </a:solidFill>
        </p:spPr>
        <p:txBody>
          <a:bodyPr wrap="none" lIns="0" tIns="0" rIns="0" bIns="0" rtlCol="0">
            <a:spAutoFit/>
          </a:bodyPr>
          <a:lstStyle/>
          <a:p>
            <a:r>
              <a:rPr lang="en-US" altLang="zh-CN" sz="1400" i="1" dirty="0">
                <a:solidFill>
                  <a:srgbClr val="6600FF"/>
                </a:solidFill>
                <a:latin typeface="Times New Roman" panose="02020603050405020304" pitchFamily="18" charset="0"/>
                <a:cs typeface="Times New Roman" panose="02020603050405020304" pitchFamily="18" charset="0"/>
              </a:rPr>
              <a:t>P</a:t>
            </a:r>
            <a:r>
              <a:rPr lang="en-US" altLang="zh-CN" sz="1400" baseline="-25000" dirty="0">
                <a:solidFill>
                  <a:srgbClr val="6600FF"/>
                </a:solidFill>
                <a:latin typeface="Times New Roman" panose="02020603050405020304" pitchFamily="18" charset="0"/>
                <a:cs typeface="Times New Roman" panose="02020603050405020304" pitchFamily="18" charset="0"/>
              </a:rPr>
              <a:t>3</a:t>
            </a:r>
            <a:endParaRPr lang="zh-CN" altLang="en-US" sz="1400" baseline="-25000" dirty="0">
              <a:solidFill>
                <a:srgbClr val="6600FF"/>
              </a:solidFill>
              <a:latin typeface="Times New Roman" panose="02020603050405020304" pitchFamily="18" charset="0"/>
              <a:cs typeface="Times New Roman" panose="02020603050405020304" pitchFamily="18" charset="0"/>
            </a:endParaRPr>
          </a:p>
        </p:txBody>
      </p:sp>
      <p:sp>
        <p:nvSpPr>
          <p:cNvPr id="84" name="TextBox 83"/>
          <p:cNvSpPr txBox="1"/>
          <p:nvPr/>
        </p:nvSpPr>
        <p:spPr>
          <a:xfrm>
            <a:off x="2772635" y="2454018"/>
            <a:ext cx="168316" cy="215444"/>
          </a:xfrm>
          <a:prstGeom prst="rect">
            <a:avLst/>
          </a:prstGeom>
          <a:solidFill>
            <a:srgbClr val="66FF66"/>
          </a:solidFill>
        </p:spPr>
        <p:txBody>
          <a:bodyPr wrap="none" lIns="0" tIns="0" rIns="0" bIns="0" rtlCol="0">
            <a:spAutoFit/>
          </a:bodyPr>
          <a:lstStyle/>
          <a:p>
            <a:r>
              <a:rPr lang="en-US" altLang="zh-CN" sz="1400" i="1" dirty="0">
                <a:solidFill>
                  <a:srgbClr val="6600FF"/>
                </a:solidFill>
                <a:latin typeface="Times New Roman" panose="02020603050405020304" pitchFamily="18" charset="0"/>
                <a:cs typeface="Times New Roman" panose="02020603050405020304" pitchFamily="18" charset="0"/>
              </a:rPr>
              <a:t>P</a:t>
            </a:r>
            <a:r>
              <a:rPr lang="en-US" altLang="zh-CN" sz="1400" baseline="-25000" dirty="0">
                <a:solidFill>
                  <a:srgbClr val="6600FF"/>
                </a:solidFill>
                <a:latin typeface="Times New Roman" panose="02020603050405020304" pitchFamily="18" charset="0"/>
                <a:cs typeface="Times New Roman" panose="02020603050405020304" pitchFamily="18" charset="0"/>
              </a:rPr>
              <a:t>4</a:t>
            </a:r>
            <a:endParaRPr lang="zh-CN" altLang="en-US" sz="1400" baseline="-25000" dirty="0">
              <a:solidFill>
                <a:srgbClr val="6600FF"/>
              </a:solidFill>
              <a:latin typeface="Times New Roman" panose="02020603050405020304" pitchFamily="18" charset="0"/>
              <a:cs typeface="Times New Roman" panose="02020603050405020304" pitchFamily="18" charset="0"/>
            </a:endParaRPr>
          </a:p>
        </p:txBody>
      </p:sp>
      <p:sp>
        <p:nvSpPr>
          <p:cNvPr id="85" name="TextBox 84"/>
          <p:cNvSpPr txBox="1"/>
          <p:nvPr/>
        </p:nvSpPr>
        <p:spPr>
          <a:xfrm>
            <a:off x="2792513" y="3392285"/>
            <a:ext cx="168316" cy="215444"/>
          </a:xfrm>
          <a:prstGeom prst="rect">
            <a:avLst/>
          </a:prstGeom>
          <a:solidFill>
            <a:srgbClr val="66FF66"/>
          </a:solidFill>
        </p:spPr>
        <p:txBody>
          <a:bodyPr wrap="none" lIns="0" tIns="0" rIns="0" bIns="0" rtlCol="0">
            <a:spAutoFit/>
          </a:bodyPr>
          <a:lstStyle/>
          <a:p>
            <a:r>
              <a:rPr lang="en-US" altLang="zh-CN" sz="1400" i="1" dirty="0">
                <a:solidFill>
                  <a:srgbClr val="6600FF"/>
                </a:solidFill>
                <a:latin typeface="Times New Roman" panose="02020603050405020304" pitchFamily="18" charset="0"/>
                <a:cs typeface="Times New Roman" panose="02020603050405020304" pitchFamily="18" charset="0"/>
              </a:rPr>
              <a:t>P</a:t>
            </a:r>
            <a:r>
              <a:rPr lang="en-US" altLang="zh-CN" sz="1400" baseline="-25000" dirty="0">
                <a:solidFill>
                  <a:srgbClr val="6600FF"/>
                </a:solidFill>
                <a:latin typeface="Times New Roman" panose="02020603050405020304" pitchFamily="18" charset="0"/>
                <a:cs typeface="Times New Roman" panose="02020603050405020304" pitchFamily="18" charset="0"/>
              </a:rPr>
              <a:t>5</a:t>
            </a:r>
            <a:endParaRPr lang="zh-CN" altLang="en-US" sz="1400" baseline="-25000" dirty="0">
              <a:solidFill>
                <a:srgbClr val="6600FF"/>
              </a:solidFill>
              <a:latin typeface="Times New Roman" panose="02020603050405020304" pitchFamily="18" charset="0"/>
              <a:cs typeface="Times New Roman" panose="02020603050405020304" pitchFamily="18" charset="0"/>
            </a:endParaRPr>
          </a:p>
        </p:txBody>
      </p:sp>
      <p:grpSp>
        <p:nvGrpSpPr>
          <p:cNvPr id="10" name="组合 86"/>
          <p:cNvGrpSpPr/>
          <p:nvPr/>
        </p:nvGrpSpPr>
        <p:grpSpPr>
          <a:xfrm>
            <a:off x="369777" y="1272216"/>
            <a:ext cx="2979973" cy="374630"/>
            <a:chOff x="369777" y="1347760"/>
            <a:chExt cx="2979973" cy="374630"/>
          </a:xfrm>
        </p:grpSpPr>
        <p:sp>
          <p:nvSpPr>
            <p:cNvPr id="51" name="TextBox 50"/>
            <p:cNvSpPr txBox="1"/>
            <p:nvPr/>
          </p:nvSpPr>
          <p:spPr>
            <a:xfrm>
              <a:off x="723710" y="1350409"/>
              <a:ext cx="2626040" cy="369332"/>
            </a:xfrm>
            <a:prstGeom prst="rect">
              <a:avLst/>
            </a:prstGeom>
            <a:noFill/>
          </p:spPr>
          <p:txBody>
            <a:bodyPr wrap="none" rtlCol="0">
              <a:spAutoFit/>
            </a:bodyPr>
            <a:lstStyle/>
            <a:p>
              <a:r>
                <a:rPr lang="zh-CN" altLang="en-US" b="1" dirty="0">
                  <a:solidFill>
                    <a:srgbClr val="CC00CC"/>
                  </a:solidFill>
                  <a:latin typeface="黑体" panose="02010609060101010101" pitchFamily="49" charset="-122"/>
                  <a:ea typeface="黑体" panose="02010609060101010101" pitchFamily="49" charset="-122"/>
                </a:rPr>
                <a:t>例</a:t>
              </a:r>
              <a:r>
                <a:rPr lang="en-US" altLang="zh-CN" b="1" dirty="0">
                  <a:solidFill>
                    <a:srgbClr val="CC00CC"/>
                  </a:solidFill>
                  <a:latin typeface="黑体" panose="02010609060101010101" pitchFamily="49" charset="-122"/>
                  <a:ea typeface="黑体" panose="02010609060101010101" pitchFamily="49" charset="-122"/>
                </a:rPr>
                <a:t>2</a:t>
              </a:r>
              <a:r>
                <a:rPr lang="zh-CN" altLang="en-US" b="1" dirty="0">
                  <a:solidFill>
                    <a:srgbClr val="CC00CC"/>
                  </a:solidFill>
                  <a:latin typeface="黑体" panose="02010609060101010101" pitchFamily="49" charset="-122"/>
                  <a:ea typeface="黑体" panose="02010609060101010101" pitchFamily="49" charset="-122"/>
                </a:rPr>
                <a:t>：</a:t>
              </a:r>
              <a:r>
                <a:rPr lang="zh-CN" altLang="en-US" b="1" dirty="0">
                  <a:solidFill>
                    <a:srgbClr val="6600FF"/>
                  </a:solidFill>
                  <a:latin typeface="黑体" panose="02010609060101010101" pitchFamily="49" charset="-122"/>
                  <a:ea typeface="黑体" panose="02010609060101010101" pitchFamily="49" charset="-122"/>
                </a:rPr>
                <a:t>分析图示逻辑电路</a:t>
              </a:r>
              <a:endParaRPr lang="zh-CN" altLang="en-US" b="1" dirty="0">
                <a:solidFill>
                  <a:srgbClr val="6600FF"/>
                </a:solidFill>
                <a:latin typeface="黑体" panose="02010609060101010101" pitchFamily="49" charset="-122"/>
                <a:ea typeface="黑体" panose="02010609060101010101" pitchFamily="49" charset="-122"/>
              </a:endParaRPr>
            </a:p>
          </p:txBody>
        </p:sp>
        <p:pic>
          <p:nvPicPr>
            <p:cNvPr id="1028" name="Picture 4"/>
            <p:cNvPicPr>
              <a:picLocks noChangeAspect="1" noChangeArrowheads="1"/>
            </p:cNvPicPr>
            <p:nvPr/>
          </p:nvPicPr>
          <p:blipFill>
            <a:blip r:embed="rId2"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11" name="组合 87"/>
          <p:cNvGrpSpPr/>
          <p:nvPr/>
        </p:nvGrpSpPr>
        <p:grpSpPr>
          <a:xfrm>
            <a:off x="4024702" y="1279420"/>
            <a:ext cx="833584" cy="369332"/>
            <a:chOff x="4330854" y="1354964"/>
            <a:chExt cx="833584" cy="369332"/>
          </a:xfrm>
        </p:grpSpPr>
        <p:sp>
          <p:nvSpPr>
            <p:cNvPr id="86" name="矩形 85"/>
            <p:cNvSpPr/>
            <p:nvPr/>
          </p:nvSpPr>
          <p:spPr>
            <a:xfrm>
              <a:off x="4633523" y="1354964"/>
              <a:ext cx="530915" cy="369332"/>
            </a:xfrm>
            <a:prstGeom prst="rect">
              <a:avLst/>
            </a:prstGeom>
          </p:spPr>
          <p:txBody>
            <a:bodyPr wrap="none">
              <a:spAutoFit/>
            </a:bodyPr>
            <a:lstStyle/>
            <a:p>
              <a:r>
                <a:rPr lang="zh-CN" altLang="en-US" b="1" dirty="0">
                  <a:solidFill>
                    <a:srgbClr val="CC00CC"/>
                  </a:solidFill>
                  <a:latin typeface="黑体" panose="02010609060101010101" pitchFamily="49" charset="-122"/>
                  <a:ea typeface="黑体" panose="02010609060101010101" pitchFamily="49" charset="-122"/>
                </a:rPr>
                <a:t>解</a:t>
              </a:r>
              <a:r>
                <a:rPr lang="en-US" altLang="zh-CN" b="1" dirty="0">
                  <a:solidFill>
                    <a:srgbClr val="CC00CC"/>
                  </a:solidFill>
                  <a:latin typeface="黑体" panose="02010609060101010101" pitchFamily="49" charset="-122"/>
                  <a:ea typeface="黑体" panose="02010609060101010101" pitchFamily="49" charset="-122"/>
                  <a:sym typeface="Wingdings" panose="05000000000000000000" pitchFamily="2" charset="2"/>
                </a:rPr>
                <a:t>:</a:t>
              </a:r>
              <a:endParaRPr lang="zh-CN" altLang="en-US" b="1" dirty="0">
                <a:solidFill>
                  <a:srgbClr val="CC00CC"/>
                </a:solidFill>
                <a:latin typeface="黑体" panose="02010609060101010101" pitchFamily="49" charset="-122"/>
                <a:ea typeface="黑体" panose="02010609060101010101" pitchFamily="49" charset="-122"/>
              </a:endParaRPr>
            </a:p>
          </p:txBody>
        </p:sp>
        <p:pic>
          <p:nvPicPr>
            <p:cNvPr id="1029" name="Picture 5"/>
            <p:cNvPicPr>
              <a:picLocks noChangeAspect="1" noChangeArrowheads="1"/>
            </p:cNvPicPr>
            <p:nvPr/>
          </p:nvPicPr>
          <p:blipFill>
            <a:blip r:embed="rId3" cstate="print"/>
            <a:srcRect/>
            <a:stretch>
              <a:fillRect/>
            </a:stretch>
          </p:blipFill>
          <p:spPr bwMode="auto">
            <a:xfrm>
              <a:off x="4330854" y="1369617"/>
              <a:ext cx="348489" cy="340027"/>
            </a:xfrm>
            <a:prstGeom prst="rect">
              <a:avLst/>
            </a:prstGeom>
            <a:noFill/>
            <a:ln w="9525">
              <a:noFill/>
              <a:miter lim="800000"/>
              <a:headEnd/>
              <a:tailEnd/>
            </a:ln>
          </p:spPr>
        </p:pic>
      </p:grpSp>
      <p:sp>
        <p:nvSpPr>
          <p:cNvPr id="89" name="矩形 88"/>
          <p:cNvSpPr/>
          <p:nvPr/>
        </p:nvSpPr>
        <p:spPr>
          <a:xfrm>
            <a:off x="4788762" y="1281348"/>
            <a:ext cx="3531736" cy="369332"/>
          </a:xfrm>
          <a:prstGeom prst="rect">
            <a:avLst/>
          </a:prstGeom>
        </p:spPr>
        <p:txBody>
          <a:bodyPr wrap="none">
            <a:spAutoFit/>
          </a:bodyPr>
          <a:lstStyle/>
          <a:p>
            <a:r>
              <a:rPr lang="en-US" altLang="zh-CN" b="1" dirty="0">
                <a:solidFill>
                  <a:srgbClr val="6600FF"/>
                </a:solidFill>
                <a:latin typeface="黑体" panose="02010609060101010101" pitchFamily="49" charset="-122"/>
                <a:ea typeface="黑体" panose="02010609060101010101" pitchFamily="49" charset="-122"/>
              </a:rPr>
              <a:t>(1)</a:t>
            </a:r>
            <a:r>
              <a:rPr lang="zh-CN" altLang="en-US" b="1" dirty="0">
                <a:solidFill>
                  <a:srgbClr val="6600FF"/>
                </a:solidFill>
                <a:latin typeface="黑体" panose="02010609060101010101" pitchFamily="49" charset="-122"/>
                <a:ea typeface="黑体" panose="02010609060101010101" pitchFamily="49" charset="-122"/>
              </a:rPr>
              <a:t>根据电路写输出端逻辑表达式</a:t>
            </a:r>
            <a:endParaRPr lang="zh-CN" altLang="en-US" b="1" dirty="0"/>
          </a:p>
        </p:txBody>
      </p:sp>
      <p:graphicFrame>
        <p:nvGraphicFramePr>
          <p:cNvPr id="90" name="对象 89"/>
          <p:cNvGraphicFramePr>
            <a:graphicFrameLocks noChangeAspect="1"/>
          </p:cNvGraphicFramePr>
          <p:nvPr/>
        </p:nvGraphicFramePr>
        <p:xfrm>
          <a:off x="4411731" y="1736485"/>
          <a:ext cx="589612" cy="312148"/>
        </p:xfrm>
        <a:graphic>
          <a:graphicData uri="http://schemas.openxmlformats.org/presentationml/2006/ole">
            <mc:AlternateContent xmlns:mc="http://schemas.openxmlformats.org/markup-compatibility/2006">
              <mc:Choice xmlns:v="urn:schemas-microsoft-com:vml" Requires="v">
                <p:oleObj spid="_x0000_s16496" name="公式" r:id="rId4" imgW="431800" imgH="228600" progId="Equation.3">
                  <p:embed/>
                </p:oleObj>
              </mc:Choice>
              <mc:Fallback>
                <p:oleObj name="公式" r:id="rId4" imgW="431800" imgH="228600" progId="Equation.3">
                  <p:embed/>
                  <p:pic>
                    <p:nvPicPr>
                      <p:cNvPr id="0" name="对象 8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411731" y="1736485"/>
                        <a:ext cx="589612" cy="31214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1" name="Object 7"/>
          <p:cNvGraphicFramePr>
            <a:graphicFrameLocks noChangeAspect="1"/>
          </p:cNvGraphicFramePr>
          <p:nvPr/>
        </p:nvGraphicFramePr>
        <p:xfrm>
          <a:off x="5190755" y="1753358"/>
          <a:ext cx="935038" cy="295275"/>
        </p:xfrm>
        <a:graphic>
          <a:graphicData uri="http://schemas.openxmlformats.org/presentationml/2006/ole">
            <mc:AlternateContent xmlns:mc="http://schemas.openxmlformats.org/markup-compatibility/2006">
              <mc:Choice xmlns:v="urn:schemas-microsoft-com:vml" Requires="v">
                <p:oleObj spid="_x0000_s16497" name="公式" r:id="rId6" imgW="685800" imgH="215900" progId="Equation.3">
                  <p:embed/>
                </p:oleObj>
              </mc:Choice>
              <mc:Fallback>
                <p:oleObj name="公式" r:id="rId6" imgW="685800" imgH="215900"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190755" y="1753358"/>
                        <a:ext cx="935038" cy="295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2" name="Object 8"/>
          <p:cNvGraphicFramePr>
            <a:graphicFrameLocks noChangeAspect="1"/>
          </p:cNvGraphicFramePr>
          <p:nvPr/>
        </p:nvGraphicFramePr>
        <p:xfrm>
          <a:off x="6342063" y="1700213"/>
          <a:ext cx="742950" cy="347662"/>
        </p:xfrm>
        <a:graphic>
          <a:graphicData uri="http://schemas.openxmlformats.org/presentationml/2006/ole">
            <mc:AlternateContent xmlns:mc="http://schemas.openxmlformats.org/markup-compatibility/2006">
              <mc:Choice xmlns:v="urn:schemas-microsoft-com:vml" Requires="v">
                <p:oleObj spid="_x0000_s16498" name="公式" r:id="rId8" imgW="545465" imgH="254000" progId="Equation.3">
                  <p:embed/>
                </p:oleObj>
              </mc:Choice>
              <mc:Fallback>
                <p:oleObj name="公式" r:id="rId8" imgW="545465" imgH="254000" progId="Equation.3">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42063" y="1700213"/>
                        <a:ext cx="742950" cy="347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3" name="Object 9"/>
          <p:cNvGraphicFramePr>
            <a:graphicFrameLocks noChangeAspect="1"/>
          </p:cNvGraphicFramePr>
          <p:nvPr/>
        </p:nvGraphicFramePr>
        <p:xfrm>
          <a:off x="4410324" y="2091385"/>
          <a:ext cx="1870075" cy="347663"/>
        </p:xfrm>
        <a:graphic>
          <a:graphicData uri="http://schemas.openxmlformats.org/presentationml/2006/ole">
            <mc:AlternateContent xmlns:mc="http://schemas.openxmlformats.org/markup-compatibility/2006">
              <mc:Choice xmlns:v="urn:schemas-microsoft-com:vml" Requires="v">
                <p:oleObj spid="_x0000_s16499" name="公式" r:id="rId10" imgW="1371600" imgH="254000" progId="Equation.3">
                  <p:embed/>
                </p:oleObj>
              </mc:Choice>
              <mc:Fallback>
                <p:oleObj name="公式" r:id="rId10" imgW="1371600" imgH="254000" progId="Equation.3">
                  <p:embed/>
                  <p:pic>
                    <p:nvPicPr>
                      <p:cNvPr id="0" name="Object 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10324" y="2091385"/>
                        <a:ext cx="1870075" cy="347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4" name="Object 10"/>
          <p:cNvGraphicFramePr>
            <a:graphicFrameLocks noChangeAspect="1"/>
          </p:cNvGraphicFramePr>
          <p:nvPr/>
        </p:nvGraphicFramePr>
        <p:xfrm>
          <a:off x="6562725" y="2055813"/>
          <a:ext cx="1506538" cy="382587"/>
        </p:xfrm>
        <a:graphic>
          <a:graphicData uri="http://schemas.openxmlformats.org/presentationml/2006/ole">
            <mc:AlternateContent xmlns:mc="http://schemas.openxmlformats.org/markup-compatibility/2006">
              <mc:Choice xmlns:v="urn:schemas-microsoft-com:vml" Requires="v">
                <p:oleObj spid="_x0000_s16500" name="Equation" r:id="rId12" imgW="1104900" imgH="279400" progId="Equation.DSMT4">
                  <p:embed/>
                </p:oleObj>
              </mc:Choice>
              <mc:Fallback>
                <p:oleObj name="Equation" r:id="rId12" imgW="1104900" imgH="279400" progId="Equation.DSMT4">
                  <p:embed/>
                  <p:pic>
                    <p:nvPicPr>
                      <p:cNvPr id="0" name="Object 1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562725" y="2055813"/>
                        <a:ext cx="1506538" cy="382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5" name="Object 11"/>
          <p:cNvGraphicFramePr>
            <a:graphicFrameLocks noChangeAspect="1"/>
          </p:cNvGraphicFramePr>
          <p:nvPr/>
        </p:nvGraphicFramePr>
        <p:xfrm>
          <a:off x="4431238" y="2506663"/>
          <a:ext cx="2390775" cy="415925"/>
        </p:xfrm>
        <a:graphic>
          <a:graphicData uri="http://schemas.openxmlformats.org/presentationml/2006/ole">
            <mc:AlternateContent xmlns:mc="http://schemas.openxmlformats.org/markup-compatibility/2006">
              <mc:Choice xmlns:v="urn:schemas-microsoft-com:vml" Requires="v">
                <p:oleObj spid="_x0000_s16501" name="Equation" r:id="rId14" imgW="1752600" imgH="304800" progId="Equation.DSMT4">
                  <p:embed/>
                </p:oleObj>
              </mc:Choice>
              <mc:Fallback>
                <p:oleObj name="Equation" r:id="rId14" imgW="1752600" imgH="304800" progId="Equation.DSMT4">
                  <p:embed/>
                  <p:pic>
                    <p:nvPicPr>
                      <p:cNvPr id="0" name="Object 1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31238" y="2506663"/>
                        <a:ext cx="2390775" cy="415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5" name="矩形 94"/>
          <p:cNvSpPr/>
          <p:nvPr/>
        </p:nvSpPr>
        <p:spPr>
          <a:xfrm>
            <a:off x="4002881" y="2992156"/>
            <a:ext cx="2627642" cy="369332"/>
          </a:xfrm>
          <a:prstGeom prst="rect">
            <a:avLst/>
          </a:prstGeom>
        </p:spPr>
        <p:txBody>
          <a:bodyPr wrap="none">
            <a:spAutoFit/>
          </a:bodyPr>
          <a:lstStyle/>
          <a:p>
            <a:r>
              <a:rPr lang="en-US" altLang="zh-CN" b="1" dirty="0">
                <a:solidFill>
                  <a:srgbClr val="6600FF"/>
                </a:solidFill>
                <a:latin typeface="黑体" panose="02010609060101010101" pitchFamily="49" charset="-122"/>
                <a:ea typeface="黑体" panose="02010609060101010101" pitchFamily="49" charset="-122"/>
              </a:rPr>
              <a:t>(2)</a:t>
            </a:r>
            <a:r>
              <a:rPr lang="zh-CN" altLang="en-US" b="1" dirty="0">
                <a:solidFill>
                  <a:srgbClr val="6600FF"/>
                </a:solidFill>
                <a:latin typeface="黑体" panose="02010609060101010101" pitchFamily="49" charset="-122"/>
                <a:ea typeface="黑体" panose="02010609060101010101" pitchFamily="49" charset="-122"/>
              </a:rPr>
              <a:t>化简变换逻辑表达式</a:t>
            </a:r>
            <a:endParaRPr lang="zh-CN" altLang="en-US" b="1" dirty="0"/>
          </a:p>
        </p:txBody>
      </p:sp>
      <p:graphicFrame>
        <p:nvGraphicFramePr>
          <p:cNvPr id="1036" name="Object 12"/>
          <p:cNvGraphicFramePr>
            <a:graphicFrameLocks noChangeAspect="1"/>
          </p:cNvGraphicFramePr>
          <p:nvPr/>
        </p:nvGraphicFramePr>
        <p:xfrm>
          <a:off x="4413471" y="3430919"/>
          <a:ext cx="1724025" cy="395287"/>
        </p:xfrm>
        <a:graphic>
          <a:graphicData uri="http://schemas.openxmlformats.org/presentationml/2006/ole">
            <mc:AlternateContent xmlns:mc="http://schemas.openxmlformats.org/markup-compatibility/2006">
              <mc:Choice xmlns:v="urn:schemas-microsoft-com:vml" Requires="v">
                <p:oleObj spid="_x0000_s16502" name="公式" r:id="rId16" imgW="1257300" imgH="292100" progId="Equation.3">
                  <p:embed/>
                </p:oleObj>
              </mc:Choice>
              <mc:Fallback>
                <p:oleObj name="公式" r:id="rId16" imgW="1257300" imgH="292100" progId="Equation.3">
                  <p:embed/>
                  <p:pic>
                    <p:nvPicPr>
                      <p:cNvPr id="0" name="Object 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413471" y="3430919"/>
                        <a:ext cx="1724025" cy="395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23" name="Object 12"/>
          <p:cNvGraphicFramePr>
            <a:graphicFrameLocks noChangeAspect="1"/>
          </p:cNvGraphicFramePr>
          <p:nvPr/>
        </p:nvGraphicFramePr>
        <p:xfrm>
          <a:off x="4591316" y="3869360"/>
          <a:ext cx="2001837" cy="276225"/>
        </p:xfrm>
        <a:graphic>
          <a:graphicData uri="http://schemas.openxmlformats.org/presentationml/2006/ole">
            <mc:AlternateContent xmlns:mc="http://schemas.openxmlformats.org/markup-compatibility/2006">
              <mc:Choice xmlns:v="urn:schemas-microsoft-com:vml" Requires="v">
                <p:oleObj spid="_x0000_s16503" name="Equation" r:id="rId18" imgW="1459865" imgH="203200" progId="Equation.DSMT4">
                  <p:embed/>
                </p:oleObj>
              </mc:Choice>
              <mc:Fallback>
                <p:oleObj name="Equation" r:id="rId18" imgW="1459865" imgH="203200" progId="Equation.DSMT4">
                  <p:embed/>
                  <p:pic>
                    <p:nvPicPr>
                      <p:cNvPr id="0" name="Object 1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591316" y="3869360"/>
                        <a:ext cx="2001837" cy="276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24" name="Object 12"/>
          <p:cNvGraphicFramePr>
            <a:graphicFrameLocks noChangeAspect="1"/>
          </p:cNvGraphicFramePr>
          <p:nvPr/>
        </p:nvGraphicFramePr>
        <p:xfrm>
          <a:off x="4597370" y="4236265"/>
          <a:ext cx="1783550" cy="284381"/>
        </p:xfrm>
        <a:graphic>
          <a:graphicData uri="http://schemas.openxmlformats.org/presentationml/2006/ole">
            <mc:AlternateContent xmlns:mc="http://schemas.openxmlformats.org/markup-compatibility/2006">
              <mc:Choice xmlns:v="urn:schemas-microsoft-com:vml" Requires="v">
                <p:oleObj spid="_x0000_s16504" name="公式" r:id="rId20" imgW="1256665" imgH="203200" progId="Equation.3">
                  <p:embed/>
                </p:oleObj>
              </mc:Choice>
              <mc:Fallback>
                <p:oleObj name="公式" r:id="rId20" imgW="1256665" imgH="203200" progId="Equation.3">
                  <p:embed/>
                  <p:pic>
                    <p:nvPicPr>
                      <p:cNvPr id="0" name="Object 1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597370" y="4236265"/>
                        <a:ext cx="1783550" cy="28438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3325" name="Object 12"/>
          <p:cNvGraphicFramePr>
            <a:graphicFrameLocks noChangeAspect="1"/>
          </p:cNvGraphicFramePr>
          <p:nvPr/>
        </p:nvGraphicFramePr>
        <p:xfrm>
          <a:off x="6212674" y="3480670"/>
          <a:ext cx="1601788" cy="327025"/>
        </p:xfrm>
        <a:graphic>
          <a:graphicData uri="http://schemas.openxmlformats.org/presentationml/2006/ole">
            <mc:AlternateContent xmlns:mc="http://schemas.openxmlformats.org/markup-compatibility/2006">
              <mc:Choice xmlns:v="urn:schemas-microsoft-com:vml" Requires="v">
                <p:oleObj spid="_x0000_s16505" name="公式" r:id="rId22" imgW="1168400" imgH="241300" progId="Equation.3">
                  <p:embed/>
                </p:oleObj>
              </mc:Choice>
              <mc:Fallback>
                <p:oleObj name="公式" r:id="rId22" imgW="1168400" imgH="241300" progId="Equation.3">
                  <p:embed/>
                  <p:pic>
                    <p:nvPicPr>
                      <p:cNvPr id="0" name="Object 1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6212674" y="3480670"/>
                        <a:ext cx="1601788" cy="327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mc:AlternateContent xmlns:mc="http://schemas.openxmlformats.org/markup-compatibility/2006">
    <mc:Choice xmlns:p14="http://schemas.microsoft.com/office/powerpoint/2010/main" Requires="p14">
      <p:transition spd="slow" p14:dur="1200">
        <p14:prism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lide(fromBottom)">
                                      <p:cBhvr>
                                        <p:cTn id="7" dur="1000"/>
                                        <p:tgtEl>
                                          <p:spTgt spid="10"/>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slide(fromBottom)">
                                      <p:cBhvr>
                                        <p:cTn id="11" dur="10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grpId="0" nodeType="clickEffect">
                                  <p:stCondLst>
                                    <p:cond delay="0"/>
                                  </p:stCondLst>
                                  <p:childTnLst>
                                    <p:set>
                                      <p:cBhvr>
                                        <p:cTn id="15" dur="1" fill="hold">
                                          <p:stCondLst>
                                            <p:cond delay="0"/>
                                          </p:stCondLst>
                                        </p:cTn>
                                        <p:tgtEl>
                                          <p:spTgt spid="81"/>
                                        </p:tgtEl>
                                        <p:attrNameLst>
                                          <p:attrName>style.visibility</p:attrName>
                                        </p:attrNameLst>
                                      </p:cBhvr>
                                      <p:to>
                                        <p:strVal val="visible"/>
                                      </p:to>
                                    </p:set>
                                    <p:animEffect transition="in" filter="slide(fromBottom)">
                                      <p:cBhvr>
                                        <p:cTn id="16" dur="1000"/>
                                        <p:tgtEl>
                                          <p:spTgt spid="81"/>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82"/>
                                        </p:tgtEl>
                                        <p:attrNameLst>
                                          <p:attrName>style.visibility</p:attrName>
                                        </p:attrNameLst>
                                      </p:cBhvr>
                                      <p:to>
                                        <p:strVal val="visible"/>
                                      </p:to>
                                    </p:set>
                                    <p:animEffect transition="in" filter="slide(fromBottom)">
                                      <p:cBhvr>
                                        <p:cTn id="19" dur="1000"/>
                                        <p:tgtEl>
                                          <p:spTgt spid="82"/>
                                        </p:tgtEl>
                                      </p:cBhvr>
                                    </p:animEffect>
                                  </p:childTnLst>
                                </p:cTn>
                              </p:par>
                              <p:par>
                                <p:cTn id="20" presetID="12" presetClass="entr" presetSubtype="4" fill="hold" grpId="0" nodeType="withEffect">
                                  <p:stCondLst>
                                    <p:cond delay="0"/>
                                  </p:stCondLst>
                                  <p:childTnLst>
                                    <p:set>
                                      <p:cBhvr>
                                        <p:cTn id="21" dur="1" fill="hold">
                                          <p:stCondLst>
                                            <p:cond delay="0"/>
                                          </p:stCondLst>
                                        </p:cTn>
                                        <p:tgtEl>
                                          <p:spTgt spid="83"/>
                                        </p:tgtEl>
                                        <p:attrNameLst>
                                          <p:attrName>style.visibility</p:attrName>
                                        </p:attrNameLst>
                                      </p:cBhvr>
                                      <p:to>
                                        <p:strVal val="visible"/>
                                      </p:to>
                                    </p:set>
                                    <p:animEffect transition="in" filter="slide(fromBottom)">
                                      <p:cBhvr>
                                        <p:cTn id="22" dur="1000"/>
                                        <p:tgtEl>
                                          <p:spTgt spid="83"/>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84"/>
                                        </p:tgtEl>
                                        <p:attrNameLst>
                                          <p:attrName>style.visibility</p:attrName>
                                        </p:attrNameLst>
                                      </p:cBhvr>
                                      <p:to>
                                        <p:strVal val="visible"/>
                                      </p:to>
                                    </p:set>
                                    <p:animEffect transition="in" filter="slide(fromBottom)">
                                      <p:cBhvr>
                                        <p:cTn id="25" dur="1000"/>
                                        <p:tgtEl>
                                          <p:spTgt spid="84"/>
                                        </p:tgtEl>
                                      </p:cBhvr>
                                    </p:animEffect>
                                  </p:childTnLst>
                                </p:cTn>
                              </p:par>
                              <p:par>
                                <p:cTn id="26" presetID="12" presetClass="entr" presetSubtype="4" fill="hold" grpId="0" nodeType="withEffect">
                                  <p:stCondLst>
                                    <p:cond delay="0"/>
                                  </p:stCondLst>
                                  <p:childTnLst>
                                    <p:set>
                                      <p:cBhvr>
                                        <p:cTn id="27" dur="1" fill="hold">
                                          <p:stCondLst>
                                            <p:cond delay="0"/>
                                          </p:stCondLst>
                                        </p:cTn>
                                        <p:tgtEl>
                                          <p:spTgt spid="85"/>
                                        </p:tgtEl>
                                        <p:attrNameLst>
                                          <p:attrName>style.visibility</p:attrName>
                                        </p:attrNameLst>
                                      </p:cBhvr>
                                      <p:to>
                                        <p:strVal val="visible"/>
                                      </p:to>
                                    </p:set>
                                    <p:animEffect transition="in" filter="slide(fromBottom)">
                                      <p:cBhvr>
                                        <p:cTn id="28" dur="1000"/>
                                        <p:tgtEl>
                                          <p:spTgt spid="85"/>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4"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slide(fromBottom)">
                                      <p:cBhvr>
                                        <p:cTn id="33" dur="1000"/>
                                        <p:tgtEl>
                                          <p:spTgt spid="11"/>
                                        </p:tgtEl>
                                      </p:cBhvr>
                                    </p:animEffect>
                                  </p:childTnLst>
                                </p:cTn>
                              </p:par>
                              <p:par>
                                <p:cTn id="34" presetID="12" presetClass="entr" presetSubtype="4" fill="hold" grpId="0" nodeType="withEffect">
                                  <p:stCondLst>
                                    <p:cond delay="0"/>
                                  </p:stCondLst>
                                  <p:childTnLst>
                                    <p:set>
                                      <p:cBhvr>
                                        <p:cTn id="35" dur="1" fill="hold">
                                          <p:stCondLst>
                                            <p:cond delay="0"/>
                                          </p:stCondLst>
                                        </p:cTn>
                                        <p:tgtEl>
                                          <p:spTgt spid="89"/>
                                        </p:tgtEl>
                                        <p:attrNameLst>
                                          <p:attrName>style.visibility</p:attrName>
                                        </p:attrNameLst>
                                      </p:cBhvr>
                                      <p:to>
                                        <p:strVal val="visible"/>
                                      </p:to>
                                    </p:set>
                                    <p:animEffect transition="in" filter="slide(fromBottom)">
                                      <p:cBhvr>
                                        <p:cTn id="36" dur="1000"/>
                                        <p:tgtEl>
                                          <p:spTgt spid="89"/>
                                        </p:tgtEl>
                                      </p:cBhvr>
                                    </p:animEffect>
                                  </p:childTnLst>
                                </p:cTn>
                              </p:par>
                              <p:par>
                                <p:cTn id="37" presetID="12" presetClass="entr" presetSubtype="4" fill="hold" nodeType="withEffect">
                                  <p:stCondLst>
                                    <p:cond delay="0"/>
                                  </p:stCondLst>
                                  <p:childTnLst>
                                    <p:set>
                                      <p:cBhvr>
                                        <p:cTn id="38" dur="1" fill="hold">
                                          <p:stCondLst>
                                            <p:cond delay="0"/>
                                          </p:stCondLst>
                                        </p:cTn>
                                        <p:tgtEl>
                                          <p:spTgt spid="90"/>
                                        </p:tgtEl>
                                        <p:attrNameLst>
                                          <p:attrName>style.visibility</p:attrName>
                                        </p:attrNameLst>
                                      </p:cBhvr>
                                      <p:to>
                                        <p:strVal val="visible"/>
                                      </p:to>
                                    </p:set>
                                    <p:animEffect transition="in" filter="slide(fromBottom)">
                                      <p:cBhvr>
                                        <p:cTn id="39" dur="1000"/>
                                        <p:tgtEl>
                                          <p:spTgt spid="90"/>
                                        </p:tgtEl>
                                      </p:cBhvr>
                                    </p:animEffect>
                                  </p:childTnLst>
                                </p:cTn>
                              </p:par>
                              <p:par>
                                <p:cTn id="40" presetID="12" presetClass="entr" presetSubtype="4" fill="hold" nodeType="withEffect">
                                  <p:stCondLst>
                                    <p:cond delay="0"/>
                                  </p:stCondLst>
                                  <p:childTnLst>
                                    <p:set>
                                      <p:cBhvr>
                                        <p:cTn id="41" dur="1" fill="hold">
                                          <p:stCondLst>
                                            <p:cond delay="0"/>
                                          </p:stCondLst>
                                        </p:cTn>
                                        <p:tgtEl>
                                          <p:spTgt spid="1031"/>
                                        </p:tgtEl>
                                        <p:attrNameLst>
                                          <p:attrName>style.visibility</p:attrName>
                                        </p:attrNameLst>
                                      </p:cBhvr>
                                      <p:to>
                                        <p:strVal val="visible"/>
                                      </p:to>
                                    </p:set>
                                    <p:animEffect transition="in" filter="slide(fromBottom)">
                                      <p:cBhvr>
                                        <p:cTn id="42" dur="1000"/>
                                        <p:tgtEl>
                                          <p:spTgt spid="1031"/>
                                        </p:tgtEl>
                                      </p:cBhvr>
                                    </p:animEffect>
                                  </p:childTnLst>
                                </p:cTn>
                              </p:par>
                              <p:par>
                                <p:cTn id="43" presetID="12" presetClass="entr" presetSubtype="4" fill="hold" nodeType="withEffect">
                                  <p:stCondLst>
                                    <p:cond delay="0"/>
                                  </p:stCondLst>
                                  <p:childTnLst>
                                    <p:set>
                                      <p:cBhvr>
                                        <p:cTn id="44" dur="1" fill="hold">
                                          <p:stCondLst>
                                            <p:cond delay="0"/>
                                          </p:stCondLst>
                                        </p:cTn>
                                        <p:tgtEl>
                                          <p:spTgt spid="1032"/>
                                        </p:tgtEl>
                                        <p:attrNameLst>
                                          <p:attrName>style.visibility</p:attrName>
                                        </p:attrNameLst>
                                      </p:cBhvr>
                                      <p:to>
                                        <p:strVal val="visible"/>
                                      </p:to>
                                    </p:set>
                                    <p:animEffect transition="in" filter="slide(fromBottom)">
                                      <p:cBhvr>
                                        <p:cTn id="45" dur="1000"/>
                                        <p:tgtEl>
                                          <p:spTgt spid="1032"/>
                                        </p:tgtEl>
                                      </p:cBhvr>
                                    </p:animEffect>
                                  </p:childTnLst>
                                </p:cTn>
                              </p:par>
                              <p:par>
                                <p:cTn id="46" presetID="12" presetClass="entr" presetSubtype="4" fill="hold" nodeType="withEffect">
                                  <p:stCondLst>
                                    <p:cond delay="0"/>
                                  </p:stCondLst>
                                  <p:childTnLst>
                                    <p:set>
                                      <p:cBhvr>
                                        <p:cTn id="47" dur="1" fill="hold">
                                          <p:stCondLst>
                                            <p:cond delay="0"/>
                                          </p:stCondLst>
                                        </p:cTn>
                                        <p:tgtEl>
                                          <p:spTgt spid="1033"/>
                                        </p:tgtEl>
                                        <p:attrNameLst>
                                          <p:attrName>style.visibility</p:attrName>
                                        </p:attrNameLst>
                                      </p:cBhvr>
                                      <p:to>
                                        <p:strVal val="visible"/>
                                      </p:to>
                                    </p:set>
                                    <p:animEffect transition="in" filter="slide(fromBottom)">
                                      <p:cBhvr>
                                        <p:cTn id="48" dur="1000"/>
                                        <p:tgtEl>
                                          <p:spTgt spid="1033"/>
                                        </p:tgtEl>
                                      </p:cBhvr>
                                    </p:animEffect>
                                  </p:childTnLst>
                                </p:cTn>
                              </p:par>
                              <p:par>
                                <p:cTn id="49" presetID="12" presetClass="entr" presetSubtype="4" fill="hold" nodeType="withEffect">
                                  <p:stCondLst>
                                    <p:cond delay="0"/>
                                  </p:stCondLst>
                                  <p:childTnLst>
                                    <p:set>
                                      <p:cBhvr>
                                        <p:cTn id="50" dur="1" fill="hold">
                                          <p:stCondLst>
                                            <p:cond delay="0"/>
                                          </p:stCondLst>
                                        </p:cTn>
                                        <p:tgtEl>
                                          <p:spTgt spid="1034"/>
                                        </p:tgtEl>
                                        <p:attrNameLst>
                                          <p:attrName>style.visibility</p:attrName>
                                        </p:attrNameLst>
                                      </p:cBhvr>
                                      <p:to>
                                        <p:strVal val="visible"/>
                                      </p:to>
                                    </p:set>
                                    <p:animEffect transition="in" filter="slide(fromBottom)">
                                      <p:cBhvr>
                                        <p:cTn id="51" dur="1000"/>
                                        <p:tgtEl>
                                          <p:spTgt spid="1034"/>
                                        </p:tgtEl>
                                      </p:cBhvr>
                                    </p:animEffect>
                                  </p:childTnLst>
                                </p:cTn>
                              </p:par>
                              <p:par>
                                <p:cTn id="52" presetID="12" presetClass="entr" presetSubtype="4" fill="hold" nodeType="withEffect">
                                  <p:stCondLst>
                                    <p:cond delay="0"/>
                                  </p:stCondLst>
                                  <p:childTnLst>
                                    <p:set>
                                      <p:cBhvr>
                                        <p:cTn id="53" dur="1" fill="hold">
                                          <p:stCondLst>
                                            <p:cond delay="0"/>
                                          </p:stCondLst>
                                        </p:cTn>
                                        <p:tgtEl>
                                          <p:spTgt spid="1035"/>
                                        </p:tgtEl>
                                        <p:attrNameLst>
                                          <p:attrName>style.visibility</p:attrName>
                                        </p:attrNameLst>
                                      </p:cBhvr>
                                      <p:to>
                                        <p:strVal val="visible"/>
                                      </p:to>
                                    </p:set>
                                    <p:animEffect transition="in" filter="slide(fromBottom)">
                                      <p:cBhvr>
                                        <p:cTn id="54" dur="1000"/>
                                        <p:tgtEl>
                                          <p:spTgt spid="1035"/>
                                        </p:tgtEl>
                                      </p:cBhvr>
                                    </p:animEffect>
                                  </p:childTnLst>
                                </p:cTn>
                              </p:par>
                            </p:childTnLst>
                          </p:cTn>
                        </p:par>
                      </p:childTnLst>
                    </p:cTn>
                  </p:par>
                  <p:par>
                    <p:cTn id="55" fill="hold">
                      <p:stCondLst>
                        <p:cond delay="indefinite"/>
                      </p:stCondLst>
                      <p:childTnLst>
                        <p:par>
                          <p:cTn id="56" fill="hold">
                            <p:stCondLst>
                              <p:cond delay="0"/>
                            </p:stCondLst>
                            <p:childTnLst>
                              <p:par>
                                <p:cTn id="57" presetID="12" presetClass="entr" presetSubtype="4" fill="hold" grpId="0" nodeType="clickEffect">
                                  <p:stCondLst>
                                    <p:cond delay="0"/>
                                  </p:stCondLst>
                                  <p:childTnLst>
                                    <p:set>
                                      <p:cBhvr>
                                        <p:cTn id="58" dur="1" fill="hold">
                                          <p:stCondLst>
                                            <p:cond delay="0"/>
                                          </p:stCondLst>
                                        </p:cTn>
                                        <p:tgtEl>
                                          <p:spTgt spid="95"/>
                                        </p:tgtEl>
                                        <p:attrNameLst>
                                          <p:attrName>style.visibility</p:attrName>
                                        </p:attrNameLst>
                                      </p:cBhvr>
                                      <p:to>
                                        <p:strVal val="visible"/>
                                      </p:to>
                                    </p:set>
                                    <p:animEffect transition="in" filter="slide(fromBottom)">
                                      <p:cBhvr>
                                        <p:cTn id="59" dur="1000"/>
                                        <p:tgtEl>
                                          <p:spTgt spid="95"/>
                                        </p:tgtEl>
                                      </p:cBhvr>
                                    </p:animEffect>
                                  </p:childTnLst>
                                </p:cTn>
                              </p:par>
                            </p:childTnLst>
                          </p:cTn>
                        </p:par>
                        <p:par>
                          <p:cTn id="60" fill="hold">
                            <p:stCondLst>
                              <p:cond delay="1000"/>
                            </p:stCondLst>
                            <p:childTnLst>
                              <p:par>
                                <p:cTn id="61" presetID="12" presetClass="entr" presetSubtype="4" fill="hold" nodeType="afterEffect">
                                  <p:stCondLst>
                                    <p:cond delay="0"/>
                                  </p:stCondLst>
                                  <p:childTnLst>
                                    <p:set>
                                      <p:cBhvr>
                                        <p:cTn id="62" dur="1" fill="hold">
                                          <p:stCondLst>
                                            <p:cond delay="0"/>
                                          </p:stCondLst>
                                        </p:cTn>
                                        <p:tgtEl>
                                          <p:spTgt spid="1036"/>
                                        </p:tgtEl>
                                        <p:attrNameLst>
                                          <p:attrName>style.visibility</p:attrName>
                                        </p:attrNameLst>
                                      </p:cBhvr>
                                      <p:to>
                                        <p:strVal val="visible"/>
                                      </p:to>
                                    </p:set>
                                    <p:animEffect transition="in" filter="slide(fromBottom)">
                                      <p:cBhvr>
                                        <p:cTn id="63" dur="1000"/>
                                        <p:tgtEl>
                                          <p:spTgt spid="1036"/>
                                        </p:tgtEl>
                                      </p:cBhvr>
                                    </p:animEffect>
                                  </p:childTnLst>
                                </p:cTn>
                              </p:par>
                            </p:childTnLst>
                          </p:cTn>
                        </p:par>
                        <p:par>
                          <p:cTn id="64" fill="hold">
                            <p:stCondLst>
                              <p:cond delay="2000"/>
                            </p:stCondLst>
                            <p:childTnLst>
                              <p:par>
                                <p:cTn id="65" presetID="12" presetClass="entr" presetSubtype="4" fill="hold" nodeType="afterEffect">
                                  <p:stCondLst>
                                    <p:cond delay="0"/>
                                  </p:stCondLst>
                                  <p:childTnLst>
                                    <p:set>
                                      <p:cBhvr>
                                        <p:cTn id="66" dur="1" fill="hold">
                                          <p:stCondLst>
                                            <p:cond delay="0"/>
                                          </p:stCondLst>
                                        </p:cTn>
                                        <p:tgtEl>
                                          <p:spTgt spid="13325"/>
                                        </p:tgtEl>
                                        <p:attrNameLst>
                                          <p:attrName>style.visibility</p:attrName>
                                        </p:attrNameLst>
                                      </p:cBhvr>
                                      <p:to>
                                        <p:strVal val="visible"/>
                                      </p:to>
                                    </p:set>
                                    <p:animEffect transition="in" filter="slide(fromBottom)">
                                      <p:cBhvr>
                                        <p:cTn id="67" dur="1000"/>
                                        <p:tgtEl>
                                          <p:spTgt spid="13325"/>
                                        </p:tgtEl>
                                      </p:cBhvr>
                                    </p:animEffect>
                                  </p:childTnLst>
                                </p:cTn>
                              </p:par>
                            </p:childTnLst>
                          </p:cTn>
                        </p:par>
                        <p:par>
                          <p:cTn id="68" fill="hold">
                            <p:stCondLst>
                              <p:cond delay="3000"/>
                            </p:stCondLst>
                            <p:childTnLst>
                              <p:par>
                                <p:cTn id="69" presetID="12" presetClass="entr" presetSubtype="4" fill="hold" nodeType="afterEffect">
                                  <p:stCondLst>
                                    <p:cond delay="0"/>
                                  </p:stCondLst>
                                  <p:childTnLst>
                                    <p:set>
                                      <p:cBhvr>
                                        <p:cTn id="70" dur="1" fill="hold">
                                          <p:stCondLst>
                                            <p:cond delay="0"/>
                                          </p:stCondLst>
                                        </p:cTn>
                                        <p:tgtEl>
                                          <p:spTgt spid="13323"/>
                                        </p:tgtEl>
                                        <p:attrNameLst>
                                          <p:attrName>style.visibility</p:attrName>
                                        </p:attrNameLst>
                                      </p:cBhvr>
                                      <p:to>
                                        <p:strVal val="visible"/>
                                      </p:to>
                                    </p:set>
                                    <p:animEffect transition="in" filter="slide(fromBottom)">
                                      <p:cBhvr>
                                        <p:cTn id="71" dur="1000"/>
                                        <p:tgtEl>
                                          <p:spTgt spid="13323"/>
                                        </p:tgtEl>
                                      </p:cBhvr>
                                    </p:animEffect>
                                  </p:childTnLst>
                                </p:cTn>
                              </p:par>
                            </p:childTnLst>
                          </p:cTn>
                        </p:par>
                        <p:par>
                          <p:cTn id="72" fill="hold">
                            <p:stCondLst>
                              <p:cond delay="4000"/>
                            </p:stCondLst>
                            <p:childTnLst>
                              <p:par>
                                <p:cTn id="73" presetID="12" presetClass="entr" presetSubtype="4" fill="hold" nodeType="afterEffect">
                                  <p:stCondLst>
                                    <p:cond delay="0"/>
                                  </p:stCondLst>
                                  <p:childTnLst>
                                    <p:set>
                                      <p:cBhvr>
                                        <p:cTn id="74" dur="1" fill="hold">
                                          <p:stCondLst>
                                            <p:cond delay="0"/>
                                          </p:stCondLst>
                                        </p:cTn>
                                        <p:tgtEl>
                                          <p:spTgt spid="13324"/>
                                        </p:tgtEl>
                                        <p:attrNameLst>
                                          <p:attrName>style.visibility</p:attrName>
                                        </p:attrNameLst>
                                      </p:cBhvr>
                                      <p:to>
                                        <p:strVal val="visible"/>
                                      </p:to>
                                    </p:set>
                                    <p:animEffect transition="in" filter="slide(fromBottom)">
                                      <p:cBhvr>
                                        <p:cTn id="75" dur="1000"/>
                                        <p:tgtEl>
                                          <p:spTgt spid="133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 grpId="0" animBg="1"/>
      <p:bldP spid="82" grpId="0" animBg="1"/>
      <p:bldP spid="83" grpId="0" animBg="1"/>
      <p:bldP spid="84" grpId="0" animBg="1"/>
      <p:bldP spid="85" grpId="0" animBg="1"/>
      <p:bldP spid="89" grpId="0"/>
      <p:bldP spid="9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 name="圆角矩形 65"/>
          <p:cNvSpPr/>
          <p:nvPr/>
        </p:nvSpPr>
        <p:spPr>
          <a:xfrm>
            <a:off x="4190336" y="1828787"/>
            <a:ext cx="1856630" cy="2138914"/>
          </a:xfrm>
          <a:prstGeom prst="roundRect">
            <a:avLst>
              <a:gd name="adj" fmla="val 4461"/>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37"/>
          <p:cNvGrpSpPr/>
          <p:nvPr/>
        </p:nvGrpSpPr>
        <p:grpSpPr>
          <a:xfrm>
            <a:off x="344806" y="722299"/>
            <a:ext cx="3114144" cy="420971"/>
            <a:chOff x="670560" y="892917"/>
            <a:chExt cx="3114144" cy="420971"/>
          </a:xfrm>
        </p:grpSpPr>
        <p:sp>
          <p:nvSpPr>
            <p:cNvPr id="40" name="矩形 39"/>
            <p:cNvSpPr/>
            <p:nvPr/>
          </p:nvSpPr>
          <p:spPr>
            <a:xfrm>
              <a:off x="1035233" y="913778"/>
              <a:ext cx="2749471"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组合逻辑电路分析实例</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3" name="组合 96"/>
          <p:cNvGrpSpPr/>
          <p:nvPr/>
        </p:nvGrpSpPr>
        <p:grpSpPr>
          <a:xfrm>
            <a:off x="702291" y="1802666"/>
            <a:ext cx="3297215" cy="2176965"/>
            <a:chOff x="702291" y="1762906"/>
            <a:chExt cx="3135085" cy="1862889"/>
          </a:xfrm>
          <a:solidFill>
            <a:schemeClr val="accent3">
              <a:lumMod val="20000"/>
              <a:lumOff val="80000"/>
            </a:schemeClr>
          </a:solidFill>
        </p:grpSpPr>
        <p:sp>
          <p:nvSpPr>
            <p:cNvPr id="80" name="圆角矩形 79"/>
            <p:cNvSpPr/>
            <p:nvPr/>
          </p:nvSpPr>
          <p:spPr>
            <a:xfrm>
              <a:off x="702291" y="1762906"/>
              <a:ext cx="3135085" cy="1862889"/>
            </a:xfrm>
            <a:prstGeom prst="roundRect">
              <a:avLst>
                <a:gd name="adj" fmla="val 4849"/>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78"/>
            <p:cNvGrpSpPr>
              <a:grpSpLocks noChangeAspect="1"/>
            </p:cNvGrpSpPr>
            <p:nvPr/>
          </p:nvGrpSpPr>
          <p:grpSpPr>
            <a:xfrm>
              <a:off x="777495" y="1827468"/>
              <a:ext cx="3019273" cy="1728000"/>
              <a:chOff x="471226" y="1980304"/>
              <a:chExt cx="3236955" cy="1852586"/>
            </a:xfrm>
            <a:grpFill/>
          </p:grpSpPr>
          <p:cxnSp>
            <p:nvCxnSpPr>
              <p:cNvPr id="17" name="直接连接符 16"/>
              <p:cNvCxnSpPr/>
              <p:nvPr/>
            </p:nvCxnSpPr>
            <p:spPr>
              <a:xfrm>
                <a:off x="710529" y="2188493"/>
                <a:ext cx="972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5" name="Group 9"/>
              <p:cNvGrpSpPr/>
              <p:nvPr/>
            </p:nvGrpSpPr>
            <p:grpSpPr bwMode="auto">
              <a:xfrm>
                <a:off x="1323606" y="1980304"/>
                <a:ext cx="357187" cy="431800"/>
                <a:chOff x="2638" y="5808"/>
                <a:chExt cx="564" cy="680"/>
              </a:xfrm>
              <a:grpFill/>
            </p:grpSpPr>
            <p:sp>
              <p:nvSpPr>
                <p:cNvPr id="14346" name="Rectangle 10"/>
                <p:cNvSpPr>
                  <a:spLocks noChangeArrowheads="1"/>
                </p:cNvSpPr>
                <p:nvPr/>
              </p:nvSpPr>
              <p:spPr bwMode="auto">
                <a:xfrm>
                  <a:off x="2638" y="5808"/>
                  <a:ext cx="454" cy="680"/>
                </a:xfrm>
                <a:prstGeom prst="rect">
                  <a:avLst/>
                </a:prstGeom>
                <a:solidFill>
                  <a:schemeClr val="accent4">
                    <a:lumMod val="20000"/>
                    <a:lumOff val="80000"/>
                  </a:schemeClr>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rPr>
                    <a:t>1</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14347" name="Oval 11"/>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cxnSp>
            <p:nvCxnSpPr>
              <p:cNvPr id="18" name="直接连接符 17"/>
              <p:cNvCxnSpPr/>
              <p:nvPr/>
            </p:nvCxnSpPr>
            <p:spPr>
              <a:xfrm flipV="1">
                <a:off x="710528" y="2651760"/>
                <a:ext cx="648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V="1">
                <a:off x="710528" y="2884627"/>
                <a:ext cx="648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1181744" y="3240357"/>
                <a:ext cx="216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V="1">
                <a:off x="1062289" y="3474525"/>
                <a:ext cx="360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1188595" y="2882843"/>
                <a:ext cx="0" cy="36000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071724" y="2653775"/>
                <a:ext cx="0" cy="82800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929609" y="2191900"/>
                <a:ext cx="0" cy="154800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919027" y="3729324"/>
                <a:ext cx="1224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 name="Group 6"/>
              <p:cNvGrpSpPr/>
              <p:nvPr/>
            </p:nvGrpSpPr>
            <p:grpSpPr bwMode="auto">
              <a:xfrm>
                <a:off x="2138217" y="3401090"/>
                <a:ext cx="357187" cy="431800"/>
                <a:chOff x="2638" y="5808"/>
                <a:chExt cx="564" cy="680"/>
              </a:xfrm>
              <a:grpFill/>
            </p:grpSpPr>
            <p:sp>
              <p:nvSpPr>
                <p:cNvPr id="36" name="Rectangle 7"/>
                <p:cNvSpPr>
                  <a:spLocks noChangeArrowheads="1"/>
                </p:cNvSpPr>
                <p:nvPr/>
              </p:nvSpPr>
              <p:spPr bwMode="auto">
                <a:xfrm>
                  <a:off x="2638" y="5808"/>
                  <a:ext cx="454" cy="680"/>
                </a:xfrm>
                <a:prstGeom prst="rect">
                  <a:avLst/>
                </a:prstGeom>
                <a:solidFill>
                  <a:schemeClr val="accent4">
                    <a:lumMod val="20000"/>
                    <a:lumOff val="80000"/>
                  </a:schemeClr>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37"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cxnSp>
            <p:nvCxnSpPr>
              <p:cNvPr id="42" name="肘形连接符 41"/>
              <p:cNvCxnSpPr>
                <a:stCxn id="14344" idx="6"/>
              </p:cNvCxnSpPr>
              <p:nvPr/>
            </p:nvCxnSpPr>
            <p:spPr>
              <a:xfrm>
                <a:off x="1689461" y="3346570"/>
                <a:ext cx="447879" cy="148345"/>
              </a:xfrm>
              <a:prstGeom prst="bentConnector3">
                <a:avLst>
                  <a:gd name="adj1" fmla="val 50000"/>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7" name="Group 6"/>
              <p:cNvGrpSpPr/>
              <p:nvPr/>
            </p:nvGrpSpPr>
            <p:grpSpPr bwMode="auto">
              <a:xfrm>
                <a:off x="1332274" y="3142100"/>
                <a:ext cx="357187" cy="431800"/>
                <a:chOff x="2638" y="5808"/>
                <a:chExt cx="564" cy="680"/>
              </a:xfrm>
              <a:grpFill/>
            </p:grpSpPr>
            <p:sp>
              <p:nvSpPr>
                <p:cNvPr id="14343" name="Rectangle 7"/>
                <p:cNvSpPr>
                  <a:spLocks noChangeArrowheads="1"/>
                </p:cNvSpPr>
                <p:nvPr/>
              </p:nvSpPr>
              <p:spPr bwMode="auto">
                <a:xfrm>
                  <a:off x="2638" y="5808"/>
                  <a:ext cx="454" cy="680"/>
                </a:xfrm>
                <a:prstGeom prst="rect">
                  <a:avLst/>
                </a:prstGeom>
                <a:solidFill>
                  <a:schemeClr val="accent4">
                    <a:lumMod val="20000"/>
                    <a:lumOff val="80000"/>
                  </a:schemeClr>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14344"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sp>
            <p:nvSpPr>
              <p:cNvPr id="14348" name="Rectangle 12"/>
              <p:cNvSpPr>
                <a:spLocks noChangeArrowheads="1"/>
              </p:cNvSpPr>
              <p:nvPr/>
            </p:nvSpPr>
            <p:spPr bwMode="auto">
              <a:xfrm>
                <a:off x="1323607" y="2562360"/>
                <a:ext cx="287337" cy="431800"/>
              </a:xfrm>
              <a:prstGeom prst="rect">
                <a:avLst/>
              </a:prstGeom>
              <a:solidFill>
                <a:schemeClr val="accent4">
                  <a:lumMod val="20000"/>
                  <a:lumOff val="80000"/>
                </a:schemeClr>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effectLst/>
                    <a:latin typeface="宋体" panose="02010600030101010101" pitchFamily="2" charset="-122"/>
                    <a:ea typeface="宋体" panose="02010600030101010101" pitchFamily="2" charset="-122"/>
                    <a:cs typeface="Times New Roman" panose="02020603050405020304" pitchFamily="18" charset="0"/>
                  </a:rPr>
                  <a:t>≥</a:t>
                </a:r>
                <a:r>
                  <a:rPr kumimoji="0" lang="en-US"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rPr>
                  <a:t>1</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cxnSp>
            <p:nvCxnSpPr>
              <p:cNvPr id="48" name="肘形连接符 47"/>
              <p:cNvCxnSpPr>
                <a:stCxn id="14347" idx="6"/>
              </p:cNvCxnSpPr>
              <p:nvPr/>
            </p:nvCxnSpPr>
            <p:spPr>
              <a:xfrm>
                <a:off x="1680793" y="2184774"/>
                <a:ext cx="431303" cy="185373"/>
              </a:xfrm>
              <a:prstGeom prst="bentConnector3">
                <a:avLst>
                  <a:gd name="adj1" fmla="val 50000"/>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肘形连接符 49"/>
              <p:cNvCxnSpPr/>
              <p:nvPr/>
            </p:nvCxnSpPr>
            <p:spPr>
              <a:xfrm flipV="1">
                <a:off x="1622163" y="2616979"/>
                <a:ext cx="546031" cy="183722"/>
              </a:xfrm>
              <a:prstGeom prst="bentConnector3">
                <a:avLst>
                  <a:gd name="adj1" fmla="val 50000"/>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 name="Group 6"/>
              <p:cNvGrpSpPr/>
              <p:nvPr/>
            </p:nvGrpSpPr>
            <p:grpSpPr bwMode="auto">
              <a:xfrm>
                <a:off x="2125127" y="2274449"/>
                <a:ext cx="357187" cy="431800"/>
                <a:chOff x="2638" y="5808"/>
                <a:chExt cx="564" cy="680"/>
              </a:xfrm>
              <a:grpFill/>
            </p:grpSpPr>
            <p:sp>
              <p:nvSpPr>
                <p:cNvPr id="45" name="Rectangle 7"/>
                <p:cNvSpPr>
                  <a:spLocks noChangeArrowheads="1"/>
                </p:cNvSpPr>
                <p:nvPr/>
              </p:nvSpPr>
              <p:spPr bwMode="auto">
                <a:xfrm>
                  <a:off x="2638" y="5808"/>
                  <a:ext cx="454" cy="680"/>
                </a:xfrm>
                <a:prstGeom prst="rect">
                  <a:avLst/>
                </a:prstGeom>
                <a:solidFill>
                  <a:schemeClr val="accent4">
                    <a:lumMod val="20000"/>
                    <a:lumOff val="80000"/>
                  </a:schemeClr>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46"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cxnSp>
            <p:nvCxnSpPr>
              <p:cNvPr id="60" name="肘形连接符 59"/>
              <p:cNvCxnSpPr/>
              <p:nvPr/>
            </p:nvCxnSpPr>
            <p:spPr>
              <a:xfrm>
                <a:off x="2472712" y="2480224"/>
                <a:ext cx="562198" cy="481759"/>
              </a:xfrm>
              <a:prstGeom prst="bentConnector3">
                <a:avLst>
                  <a:gd name="adj1" fmla="val 50000"/>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肘形连接符 63"/>
              <p:cNvCxnSpPr/>
              <p:nvPr/>
            </p:nvCxnSpPr>
            <p:spPr>
              <a:xfrm flipV="1">
                <a:off x="2482061" y="3189180"/>
                <a:ext cx="527605" cy="418866"/>
              </a:xfrm>
              <a:prstGeom prst="bentConnector3">
                <a:avLst>
                  <a:gd name="adj1" fmla="val 50000"/>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 6"/>
              <p:cNvGrpSpPr/>
              <p:nvPr/>
            </p:nvGrpSpPr>
            <p:grpSpPr bwMode="auto">
              <a:xfrm>
                <a:off x="2956317" y="2861613"/>
                <a:ext cx="357187" cy="431800"/>
                <a:chOff x="2638" y="5808"/>
                <a:chExt cx="564" cy="680"/>
              </a:xfrm>
              <a:grpFill/>
            </p:grpSpPr>
            <p:sp>
              <p:nvSpPr>
                <p:cNvPr id="58" name="Rectangle 7"/>
                <p:cNvSpPr>
                  <a:spLocks noChangeArrowheads="1"/>
                </p:cNvSpPr>
                <p:nvPr/>
              </p:nvSpPr>
              <p:spPr bwMode="auto">
                <a:xfrm>
                  <a:off x="2638" y="5808"/>
                  <a:ext cx="454" cy="680"/>
                </a:xfrm>
                <a:prstGeom prst="rect">
                  <a:avLst/>
                </a:prstGeom>
                <a:solidFill>
                  <a:schemeClr val="accent4">
                    <a:lumMod val="20000"/>
                    <a:lumOff val="80000"/>
                  </a:schemeClr>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59"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cxnSp>
            <p:nvCxnSpPr>
              <p:cNvPr id="68" name="直接连接符 67"/>
              <p:cNvCxnSpPr/>
              <p:nvPr/>
            </p:nvCxnSpPr>
            <p:spPr>
              <a:xfrm>
                <a:off x="3306938" y="3073908"/>
                <a:ext cx="144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7" name="TextBox 76"/>
              <p:cNvSpPr txBox="1"/>
              <p:nvPr/>
            </p:nvSpPr>
            <p:spPr>
              <a:xfrm>
                <a:off x="471226" y="2076212"/>
                <a:ext cx="304892" cy="1015663"/>
              </a:xfrm>
              <a:prstGeom prst="rect">
                <a:avLst/>
              </a:prstGeom>
              <a:grpFill/>
            </p:spPr>
            <p:txBody>
              <a:bodyPr wrap="none" rtlCol="0">
                <a:spAutoFit/>
              </a:bodyPr>
              <a:lstStyle/>
              <a:p>
                <a:pPr>
                  <a:lnSpc>
                    <a:spcPts val="1800"/>
                  </a:lnSpc>
                </a:pPr>
                <a:r>
                  <a:rPr lang="en-US" altLang="zh-CN" sz="1400" b="1" i="1" dirty="0">
                    <a:latin typeface="Times New Roman" panose="02020603050405020304" pitchFamily="18" charset="0"/>
                    <a:cs typeface="Times New Roman" panose="02020603050405020304" pitchFamily="18" charset="0"/>
                  </a:rPr>
                  <a:t>A</a:t>
                </a:r>
                <a:endParaRPr lang="en-US" altLang="zh-CN" sz="1400" b="1" i="1" dirty="0">
                  <a:latin typeface="Times New Roman" panose="02020603050405020304" pitchFamily="18" charset="0"/>
                  <a:cs typeface="Times New Roman" panose="02020603050405020304" pitchFamily="18" charset="0"/>
                </a:endParaRPr>
              </a:p>
              <a:p>
                <a:pPr>
                  <a:lnSpc>
                    <a:spcPts val="1800"/>
                  </a:lnSpc>
                </a:pPr>
                <a:endParaRPr lang="en-US" altLang="zh-CN" sz="1400" b="1" i="1" dirty="0">
                  <a:latin typeface="Times New Roman" panose="02020603050405020304" pitchFamily="18" charset="0"/>
                  <a:cs typeface="Times New Roman" panose="02020603050405020304" pitchFamily="18" charset="0"/>
                </a:endParaRPr>
              </a:p>
              <a:p>
                <a:pPr>
                  <a:lnSpc>
                    <a:spcPts val="1800"/>
                  </a:lnSpc>
                </a:pPr>
                <a:r>
                  <a:rPr lang="en-US" altLang="zh-CN" sz="1400" b="1" i="1" dirty="0">
                    <a:latin typeface="Times New Roman" panose="02020603050405020304" pitchFamily="18" charset="0"/>
                    <a:cs typeface="Times New Roman" panose="02020603050405020304" pitchFamily="18" charset="0"/>
                  </a:rPr>
                  <a:t>B</a:t>
                </a:r>
                <a:endParaRPr lang="en-US" altLang="zh-CN" sz="1400" b="1" i="1" dirty="0">
                  <a:latin typeface="Times New Roman" panose="02020603050405020304" pitchFamily="18" charset="0"/>
                  <a:cs typeface="Times New Roman" panose="02020603050405020304" pitchFamily="18" charset="0"/>
                </a:endParaRPr>
              </a:p>
              <a:p>
                <a:pPr>
                  <a:lnSpc>
                    <a:spcPts val="1800"/>
                  </a:lnSpc>
                </a:pPr>
                <a:r>
                  <a:rPr lang="en-US" altLang="zh-CN" sz="1400" b="1" i="1" dirty="0">
                    <a:latin typeface="Times New Roman" panose="02020603050405020304" pitchFamily="18" charset="0"/>
                    <a:cs typeface="Times New Roman" panose="02020603050405020304" pitchFamily="18" charset="0"/>
                  </a:rPr>
                  <a:t>C</a:t>
                </a:r>
                <a:endParaRPr lang="zh-CN" altLang="en-US" sz="1400" b="1" i="1" dirty="0">
                  <a:latin typeface="Times New Roman" panose="02020603050405020304" pitchFamily="18" charset="0"/>
                  <a:cs typeface="Times New Roman" panose="02020603050405020304" pitchFamily="18" charset="0"/>
                </a:endParaRPr>
              </a:p>
            </p:txBody>
          </p:sp>
          <p:sp>
            <p:nvSpPr>
              <p:cNvPr id="78" name="TextBox 77"/>
              <p:cNvSpPr txBox="1"/>
              <p:nvPr/>
            </p:nvSpPr>
            <p:spPr>
              <a:xfrm>
                <a:off x="3403289" y="2918039"/>
                <a:ext cx="304892" cy="307585"/>
              </a:xfrm>
              <a:prstGeom prst="rect">
                <a:avLst/>
              </a:prstGeom>
              <a:grpFill/>
            </p:spPr>
            <p:txBody>
              <a:bodyPr wrap="none" rtlCol="0">
                <a:spAutoFit/>
              </a:bodyPr>
              <a:lstStyle/>
              <a:p>
                <a:pPr>
                  <a:lnSpc>
                    <a:spcPts val="1800"/>
                  </a:lnSpc>
                </a:pPr>
                <a:r>
                  <a:rPr lang="en-US" altLang="zh-CN" sz="1400" b="1" i="1" dirty="0">
                    <a:latin typeface="Times New Roman" panose="02020603050405020304" pitchFamily="18" charset="0"/>
                    <a:cs typeface="Times New Roman" panose="02020603050405020304" pitchFamily="18" charset="0"/>
                  </a:rPr>
                  <a:t>F</a:t>
                </a:r>
                <a:endParaRPr lang="zh-CN" altLang="en-US" sz="1400" b="1" i="1" dirty="0">
                  <a:latin typeface="Times New Roman" panose="02020603050405020304" pitchFamily="18" charset="0"/>
                  <a:cs typeface="Times New Roman" panose="02020603050405020304" pitchFamily="18" charset="0"/>
                </a:endParaRPr>
              </a:p>
            </p:txBody>
          </p:sp>
        </p:grpSp>
      </p:grpSp>
      <p:sp>
        <p:nvSpPr>
          <p:cNvPr id="81" name="TextBox 80"/>
          <p:cNvSpPr txBox="1"/>
          <p:nvPr/>
        </p:nvSpPr>
        <p:spPr>
          <a:xfrm>
            <a:off x="1961598" y="2124034"/>
            <a:ext cx="168316" cy="215444"/>
          </a:xfrm>
          <a:prstGeom prst="rect">
            <a:avLst/>
          </a:prstGeom>
          <a:solidFill>
            <a:srgbClr val="66FF66"/>
          </a:solidFill>
        </p:spPr>
        <p:txBody>
          <a:bodyPr wrap="none" lIns="0" tIns="0" rIns="0" bIns="0" rtlCol="0">
            <a:spAutoFit/>
          </a:bodyPr>
          <a:lstStyle/>
          <a:p>
            <a:r>
              <a:rPr lang="en-US" altLang="zh-CN" sz="1400" i="1" dirty="0">
                <a:solidFill>
                  <a:srgbClr val="6600FF"/>
                </a:solidFill>
                <a:latin typeface="Times New Roman" panose="02020603050405020304" pitchFamily="18" charset="0"/>
                <a:cs typeface="Times New Roman" panose="02020603050405020304" pitchFamily="18" charset="0"/>
              </a:rPr>
              <a:t>P</a:t>
            </a:r>
            <a:r>
              <a:rPr lang="en-US" altLang="zh-CN" sz="1400" baseline="-25000" dirty="0">
                <a:solidFill>
                  <a:srgbClr val="6600FF"/>
                </a:solidFill>
                <a:latin typeface="Times New Roman" panose="02020603050405020304" pitchFamily="18" charset="0"/>
                <a:cs typeface="Times New Roman" panose="02020603050405020304" pitchFamily="18" charset="0"/>
              </a:rPr>
              <a:t>1</a:t>
            </a:r>
            <a:endParaRPr lang="zh-CN" altLang="en-US" sz="1400" baseline="-25000" dirty="0">
              <a:solidFill>
                <a:srgbClr val="6600FF"/>
              </a:solidFill>
              <a:latin typeface="Times New Roman" panose="02020603050405020304" pitchFamily="18" charset="0"/>
              <a:cs typeface="Times New Roman" panose="02020603050405020304" pitchFamily="18" charset="0"/>
            </a:endParaRPr>
          </a:p>
        </p:txBody>
      </p:sp>
      <p:sp>
        <p:nvSpPr>
          <p:cNvPr id="82" name="TextBox 81"/>
          <p:cNvSpPr txBox="1"/>
          <p:nvPr/>
        </p:nvSpPr>
        <p:spPr>
          <a:xfrm>
            <a:off x="1961598" y="2522928"/>
            <a:ext cx="168316" cy="215444"/>
          </a:xfrm>
          <a:prstGeom prst="rect">
            <a:avLst/>
          </a:prstGeom>
          <a:solidFill>
            <a:srgbClr val="66FF66"/>
          </a:solidFill>
        </p:spPr>
        <p:txBody>
          <a:bodyPr wrap="none" lIns="0" tIns="0" rIns="0" bIns="0" rtlCol="0">
            <a:spAutoFit/>
          </a:bodyPr>
          <a:lstStyle/>
          <a:p>
            <a:r>
              <a:rPr lang="en-US" altLang="zh-CN" sz="1400" i="1" dirty="0">
                <a:solidFill>
                  <a:srgbClr val="6600FF"/>
                </a:solidFill>
                <a:latin typeface="Times New Roman" panose="02020603050405020304" pitchFamily="18" charset="0"/>
                <a:cs typeface="Times New Roman" panose="02020603050405020304" pitchFamily="18" charset="0"/>
              </a:rPr>
              <a:t>P</a:t>
            </a:r>
            <a:r>
              <a:rPr lang="en-US" altLang="zh-CN" sz="1400" baseline="-25000" dirty="0">
                <a:solidFill>
                  <a:srgbClr val="6600FF"/>
                </a:solidFill>
                <a:latin typeface="Times New Roman" panose="02020603050405020304" pitchFamily="18" charset="0"/>
                <a:cs typeface="Times New Roman" panose="02020603050405020304" pitchFamily="18" charset="0"/>
              </a:rPr>
              <a:t>2</a:t>
            </a:r>
            <a:endParaRPr lang="zh-CN" altLang="en-US" sz="1400" baseline="-25000" dirty="0">
              <a:solidFill>
                <a:srgbClr val="6600FF"/>
              </a:solidFill>
              <a:latin typeface="Times New Roman" panose="02020603050405020304" pitchFamily="18" charset="0"/>
              <a:cs typeface="Times New Roman" panose="02020603050405020304" pitchFamily="18" charset="0"/>
            </a:endParaRPr>
          </a:p>
        </p:txBody>
      </p:sp>
      <p:sp>
        <p:nvSpPr>
          <p:cNvPr id="83" name="TextBox 82"/>
          <p:cNvSpPr txBox="1"/>
          <p:nvPr/>
        </p:nvSpPr>
        <p:spPr>
          <a:xfrm>
            <a:off x="1973520" y="3098080"/>
            <a:ext cx="168316" cy="215444"/>
          </a:xfrm>
          <a:prstGeom prst="rect">
            <a:avLst/>
          </a:prstGeom>
          <a:solidFill>
            <a:srgbClr val="66FF66"/>
          </a:solidFill>
        </p:spPr>
        <p:txBody>
          <a:bodyPr wrap="none" lIns="0" tIns="0" rIns="0" bIns="0" rtlCol="0">
            <a:spAutoFit/>
          </a:bodyPr>
          <a:lstStyle/>
          <a:p>
            <a:r>
              <a:rPr lang="en-US" altLang="zh-CN" sz="1400" i="1" dirty="0">
                <a:solidFill>
                  <a:srgbClr val="6600FF"/>
                </a:solidFill>
                <a:latin typeface="Times New Roman" panose="02020603050405020304" pitchFamily="18" charset="0"/>
                <a:cs typeface="Times New Roman" panose="02020603050405020304" pitchFamily="18" charset="0"/>
              </a:rPr>
              <a:t>P</a:t>
            </a:r>
            <a:r>
              <a:rPr lang="en-US" altLang="zh-CN" sz="1400" baseline="-25000" dirty="0">
                <a:solidFill>
                  <a:srgbClr val="6600FF"/>
                </a:solidFill>
                <a:latin typeface="Times New Roman" panose="02020603050405020304" pitchFamily="18" charset="0"/>
                <a:cs typeface="Times New Roman" panose="02020603050405020304" pitchFamily="18" charset="0"/>
              </a:rPr>
              <a:t>3</a:t>
            </a:r>
            <a:endParaRPr lang="zh-CN" altLang="en-US" sz="1400" baseline="-25000" dirty="0">
              <a:solidFill>
                <a:srgbClr val="6600FF"/>
              </a:solidFill>
              <a:latin typeface="Times New Roman" panose="02020603050405020304" pitchFamily="18" charset="0"/>
              <a:cs typeface="Times New Roman" panose="02020603050405020304" pitchFamily="18" charset="0"/>
            </a:endParaRPr>
          </a:p>
        </p:txBody>
      </p:sp>
      <p:sp>
        <p:nvSpPr>
          <p:cNvPr id="84" name="TextBox 83"/>
          <p:cNvSpPr txBox="1"/>
          <p:nvPr/>
        </p:nvSpPr>
        <p:spPr>
          <a:xfrm>
            <a:off x="2772635" y="2454018"/>
            <a:ext cx="168316" cy="215444"/>
          </a:xfrm>
          <a:prstGeom prst="rect">
            <a:avLst/>
          </a:prstGeom>
          <a:solidFill>
            <a:srgbClr val="66FF66"/>
          </a:solidFill>
        </p:spPr>
        <p:txBody>
          <a:bodyPr wrap="none" lIns="0" tIns="0" rIns="0" bIns="0" rtlCol="0">
            <a:spAutoFit/>
          </a:bodyPr>
          <a:lstStyle/>
          <a:p>
            <a:r>
              <a:rPr lang="en-US" altLang="zh-CN" sz="1400" i="1" dirty="0">
                <a:solidFill>
                  <a:srgbClr val="6600FF"/>
                </a:solidFill>
                <a:latin typeface="Times New Roman" panose="02020603050405020304" pitchFamily="18" charset="0"/>
                <a:cs typeface="Times New Roman" panose="02020603050405020304" pitchFamily="18" charset="0"/>
              </a:rPr>
              <a:t>P</a:t>
            </a:r>
            <a:r>
              <a:rPr lang="en-US" altLang="zh-CN" sz="1400" baseline="-25000" dirty="0">
                <a:solidFill>
                  <a:srgbClr val="6600FF"/>
                </a:solidFill>
                <a:latin typeface="Times New Roman" panose="02020603050405020304" pitchFamily="18" charset="0"/>
                <a:cs typeface="Times New Roman" panose="02020603050405020304" pitchFamily="18" charset="0"/>
              </a:rPr>
              <a:t>4</a:t>
            </a:r>
            <a:endParaRPr lang="zh-CN" altLang="en-US" sz="1400" baseline="-25000" dirty="0">
              <a:solidFill>
                <a:srgbClr val="6600FF"/>
              </a:solidFill>
              <a:latin typeface="Times New Roman" panose="02020603050405020304" pitchFamily="18" charset="0"/>
              <a:cs typeface="Times New Roman" panose="02020603050405020304" pitchFamily="18" charset="0"/>
            </a:endParaRPr>
          </a:p>
        </p:txBody>
      </p:sp>
      <p:sp>
        <p:nvSpPr>
          <p:cNvPr id="85" name="TextBox 84"/>
          <p:cNvSpPr txBox="1"/>
          <p:nvPr/>
        </p:nvSpPr>
        <p:spPr>
          <a:xfrm>
            <a:off x="2792513" y="3392285"/>
            <a:ext cx="168316" cy="215444"/>
          </a:xfrm>
          <a:prstGeom prst="rect">
            <a:avLst/>
          </a:prstGeom>
          <a:solidFill>
            <a:srgbClr val="66FF66"/>
          </a:solidFill>
        </p:spPr>
        <p:txBody>
          <a:bodyPr wrap="none" lIns="0" tIns="0" rIns="0" bIns="0" rtlCol="0">
            <a:spAutoFit/>
          </a:bodyPr>
          <a:lstStyle/>
          <a:p>
            <a:r>
              <a:rPr lang="en-US" altLang="zh-CN" sz="1400" i="1" dirty="0">
                <a:solidFill>
                  <a:srgbClr val="6600FF"/>
                </a:solidFill>
                <a:latin typeface="Times New Roman" panose="02020603050405020304" pitchFamily="18" charset="0"/>
                <a:cs typeface="Times New Roman" panose="02020603050405020304" pitchFamily="18" charset="0"/>
              </a:rPr>
              <a:t>P</a:t>
            </a:r>
            <a:r>
              <a:rPr lang="en-US" altLang="zh-CN" sz="1400" baseline="-25000" dirty="0">
                <a:solidFill>
                  <a:srgbClr val="6600FF"/>
                </a:solidFill>
                <a:latin typeface="Times New Roman" panose="02020603050405020304" pitchFamily="18" charset="0"/>
                <a:cs typeface="Times New Roman" panose="02020603050405020304" pitchFamily="18" charset="0"/>
              </a:rPr>
              <a:t>5</a:t>
            </a:r>
            <a:endParaRPr lang="zh-CN" altLang="en-US" sz="1400" baseline="-25000" dirty="0">
              <a:solidFill>
                <a:srgbClr val="6600FF"/>
              </a:solidFill>
              <a:latin typeface="Times New Roman" panose="02020603050405020304" pitchFamily="18" charset="0"/>
              <a:cs typeface="Times New Roman" panose="02020603050405020304" pitchFamily="18" charset="0"/>
            </a:endParaRPr>
          </a:p>
        </p:txBody>
      </p:sp>
      <p:grpSp>
        <p:nvGrpSpPr>
          <p:cNvPr id="10" name="组合 86"/>
          <p:cNvGrpSpPr/>
          <p:nvPr/>
        </p:nvGrpSpPr>
        <p:grpSpPr>
          <a:xfrm>
            <a:off x="369777" y="1272216"/>
            <a:ext cx="2979973" cy="374630"/>
            <a:chOff x="369777" y="1347760"/>
            <a:chExt cx="2979973" cy="374630"/>
          </a:xfrm>
        </p:grpSpPr>
        <p:sp>
          <p:nvSpPr>
            <p:cNvPr id="51" name="TextBox 50"/>
            <p:cNvSpPr txBox="1"/>
            <p:nvPr/>
          </p:nvSpPr>
          <p:spPr>
            <a:xfrm>
              <a:off x="723710" y="1350409"/>
              <a:ext cx="2626040" cy="369332"/>
            </a:xfrm>
            <a:prstGeom prst="rect">
              <a:avLst/>
            </a:prstGeom>
            <a:noFill/>
          </p:spPr>
          <p:txBody>
            <a:bodyPr wrap="none" rtlCol="0">
              <a:spAutoFit/>
            </a:bodyPr>
            <a:lstStyle/>
            <a:p>
              <a:r>
                <a:rPr lang="zh-CN" altLang="en-US" b="1" dirty="0">
                  <a:solidFill>
                    <a:srgbClr val="CC00CC"/>
                  </a:solidFill>
                  <a:latin typeface="黑体" panose="02010609060101010101" pitchFamily="49" charset="-122"/>
                  <a:ea typeface="黑体" panose="02010609060101010101" pitchFamily="49" charset="-122"/>
                </a:rPr>
                <a:t>例</a:t>
              </a:r>
              <a:r>
                <a:rPr lang="en-US" altLang="zh-CN" b="1" dirty="0">
                  <a:solidFill>
                    <a:srgbClr val="CC00CC"/>
                  </a:solidFill>
                  <a:latin typeface="黑体" panose="02010609060101010101" pitchFamily="49" charset="-122"/>
                  <a:ea typeface="黑体" panose="02010609060101010101" pitchFamily="49" charset="-122"/>
                </a:rPr>
                <a:t>2</a:t>
              </a:r>
              <a:r>
                <a:rPr lang="zh-CN" altLang="en-US" b="1" dirty="0">
                  <a:solidFill>
                    <a:srgbClr val="CC00CC"/>
                  </a:solidFill>
                  <a:latin typeface="黑体" panose="02010609060101010101" pitchFamily="49" charset="-122"/>
                  <a:ea typeface="黑体" panose="02010609060101010101" pitchFamily="49" charset="-122"/>
                </a:rPr>
                <a:t>：</a:t>
              </a:r>
              <a:r>
                <a:rPr lang="zh-CN" altLang="en-US" b="1" dirty="0">
                  <a:solidFill>
                    <a:srgbClr val="6600FF"/>
                  </a:solidFill>
                  <a:latin typeface="黑体" panose="02010609060101010101" pitchFamily="49" charset="-122"/>
                  <a:ea typeface="黑体" panose="02010609060101010101" pitchFamily="49" charset="-122"/>
                </a:rPr>
                <a:t>分析图示逻辑电路</a:t>
              </a:r>
              <a:endParaRPr lang="zh-CN" altLang="en-US" b="1" dirty="0">
                <a:solidFill>
                  <a:srgbClr val="6600FF"/>
                </a:solidFill>
                <a:latin typeface="黑体" panose="02010609060101010101" pitchFamily="49" charset="-122"/>
                <a:ea typeface="黑体" panose="02010609060101010101" pitchFamily="49" charset="-122"/>
              </a:endParaRPr>
            </a:p>
          </p:txBody>
        </p:sp>
        <p:pic>
          <p:nvPicPr>
            <p:cNvPr id="1028" name="Picture 4"/>
            <p:cNvPicPr>
              <a:picLocks noChangeAspect="1" noChangeArrowheads="1"/>
            </p:cNvPicPr>
            <p:nvPr/>
          </p:nvPicPr>
          <p:blipFill>
            <a:blip r:embed="rId2" cstate="print"/>
            <a:srcRect/>
            <a:stretch>
              <a:fillRect/>
            </a:stretch>
          </p:blipFill>
          <p:spPr bwMode="auto">
            <a:xfrm>
              <a:off x="369777" y="1347760"/>
              <a:ext cx="373669" cy="374630"/>
            </a:xfrm>
            <a:prstGeom prst="rect">
              <a:avLst/>
            </a:prstGeom>
            <a:noFill/>
            <a:ln w="9525">
              <a:noFill/>
              <a:miter lim="800000"/>
              <a:headEnd/>
              <a:tailEnd/>
            </a:ln>
          </p:spPr>
        </p:pic>
      </p:grpSp>
      <p:sp>
        <p:nvSpPr>
          <p:cNvPr id="89" name="矩形 88"/>
          <p:cNvSpPr/>
          <p:nvPr/>
        </p:nvSpPr>
        <p:spPr>
          <a:xfrm>
            <a:off x="4256026" y="1315952"/>
            <a:ext cx="1465466" cy="369332"/>
          </a:xfrm>
          <a:prstGeom prst="rect">
            <a:avLst/>
          </a:prstGeom>
        </p:spPr>
        <p:txBody>
          <a:bodyPr wrap="none">
            <a:spAutoFit/>
          </a:bodyPr>
          <a:lstStyle/>
          <a:p>
            <a:r>
              <a:rPr lang="en-US" altLang="zh-CN" b="1" dirty="0">
                <a:solidFill>
                  <a:srgbClr val="6600FF"/>
                </a:solidFill>
                <a:latin typeface="黑体" panose="02010609060101010101" pitchFamily="49" charset="-122"/>
                <a:ea typeface="黑体" panose="02010609060101010101" pitchFamily="49" charset="-122"/>
              </a:rPr>
              <a:t>(3)</a:t>
            </a:r>
            <a:r>
              <a:rPr lang="zh-CN" altLang="en-US" b="1" dirty="0">
                <a:solidFill>
                  <a:srgbClr val="6600FF"/>
                </a:solidFill>
                <a:latin typeface="黑体" panose="02010609060101010101" pitchFamily="49" charset="-122"/>
                <a:ea typeface="黑体" panose="02010609060101010101" pitchFamily="49" charset="-122"/>
              </a:rPr>
              <a:t>列真值表</a:t>
            </a:r>
            <a:endParaRPr lang="zh-CN" altLang="en-US" b="1" dirty="0"/>
          </a:p>
        </p:txBody>
      </p:sp>
      <p:sp>
        <p:nvSpPr>
          <p:cNvPr id="95" name="矩形 94"/>
          <p:cNvSpPr/>
          <p:nvPr/>
        </p:nvSpPr>
        <p:spPr>
          <a:xfrm>
            <a:off x="6292855" y="1315952"/>
            <a:ext cx="1930337" cy="369332"/>
          </a:xfrm>
          <a:prstGeom prst="rect">
            <a:avLst/>
          </a:prstGeom>
        </p:spPr>
        <p:txBody>
          <a:bodyPr wrap="none">
            <a:spAutoFit/>
          </a:bodyPr>
          <a:lstStyle/>
          <a:p>
            <a:r>
              <a:rPr lang="en-US" altLang="zh-CN" b="1" dirty="0">
                <a:solidFill>
                  <a:srgbClr val="6600FF"/>
                </a:solidFill>
                <a:latin typeface="黑体" panose="02010609060101010101" pitchFamily="49" charset="-122"/>
                <a:ea typeface="黑体" panose="02010609060101010101" pitchFamily="49" charset="-122"/>
              </a:rPr>
              <a:t>(4)</a:t>
            </a:r>
            <a:r>
              <a:rPr lang="zh-CN" altLang="en-US" b="1" dirty="0">
                <a:solidFill>
                  <a:srgbClr val="6600FF"/>
                </a:solidFill>
                <a:latin typeface="黑体" panose="02010609060101010101" pitchFamily="49" charset="-122"/>
                <a:ea typeface="黑体" panose="02010609060101010101" pitchFamily="49" charset="-122"/>
              </a:rPr>
              <a:t>电路逻辑功能</a:t>
            </a:r>
            <a:endParaRPr lang="zh-CN" altLang="en-US" b="1" dirty="0"/>
          </a:p>
        </p:txBody>
      </p:sp>
      <p:graphicFrame>
        <p:nvGraphicFramePr>
          <p:cNvPr id="61" name="表格 60"/>
          <p:cNvGraphicFramePr>
            <a:graphicFrameLocks noGrp="1"/>
          </p:cNvGraphicFramePr>
          <p:nvPr/>
        </p:nvGraphicFramePr>
        <p:xfrm>
          <a:off x="4302982" y="1936680"/>
          <a:ext cx="1628691" cy="1927654"/>
        </p:xfrm>
        <a:graphic>
          <a:graphicData uri="http://schemas.openxmlformats.org/drawingml/2006/table">
            <a:tbl>
              <a:tblPr firstRow="1" bandRow="1">
                <a:tableStyleId>{5C22544A-7EE6-4342-B048-85BDC9FD1C3A}</a:tableStyleId>
              </a:tblPr>
              <a:tblGrid>
                <a:gridCol w="1195346"/>
                <a:gridCol w="433345"/>
              </a:tblGrid>
              <a:tr h="214133">
                <a:tc>
                  <a:txBody>
                    <a:bodyPr/>
                    <a:lstStyle/>
                    <a:p>
                      <a:pPr algn="ctr">
                        <a:lnSpc>
                          <a:spcPts val="1200"/>
                        </a:lnSpc>
                      </a:pPr>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0" dirty="0">
                          <a:solidFill>
                            <a:schemeClr val="tx1"/>
                          </a:solidFill>
                          <a:latin typeface="Times New Roman" panose="02020603050405020304" pitchFamily="18" charset="0"/>
                          <a:cs typeface="Times New Roman" panose="02020603050405020304" pitchFamily="18" charset="0"/>
                        </a:rPr>
                        <a:t>     B     C</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0" marR="0" marT="0" marB="0" anchor="b">
                    <a:lnL w="19050" cap="flat" cmpd="sng" algn="ctr">
                      <a:no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ts val="1200"/>
                        </a:lnSpc>
                      </a:pPr>
                      <a:r>
                        <a:rPr lang="en-US" altLang="zh-CN" sz="1400" b="1" i="1" dirty="0">
                          <a:solidFill>
                            <a:schemeClr val="tx1"/>
                          </a:solidFill>
                          <a:latin typeface="Times New Roman" panose="02020603050405020304" pitchFamily="18" charset="0"/>
                          <a:cs typeface="Times New Roman" panose="02020603050405020304" pitchFamily="18" charset="0"/>
                        </a:rPr>
                        <a:t>F</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0" marR="0" marT="0" marB="0" anchor="b">
                    <a:lnL w="19050" cap="flat" cmpd="sng" algn="ctr">
                      <a:solidFill>
                        <a:schemeClr val="accent5"/>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713521">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zh-CN" altLang="en-US" sz="1400" b="1" dirty="0">
                        <a:solidFill>
                          <a:schemeClr val="tx1"/>
                        </a:solidFill>
                        <a:latin typeface="Times New Roman" panose="02020603050405020304" pitchFamily="18" charset="0"/>
                        <a:cs typeface="Times New Roman" panose="02020603050405020304" pitchFamily="18" charset="0"/>
                      </a:endParaRPr>
                    </a:p>
                  </a:txBody>
                  <a:tcPr marL="0" marR="0" marT="0" marB="0" anchor="b">
                    <a:lnL w="19050" cap="flat" cmpd="sng" algn="ctr">
                      <a:no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400" b="1" dirty="0">
                        <a:solidFill>
                          <a:schemeClr val="tx1"/>
                        </a:solidFill>
                        <a:latin typeface="Times New Roman" panose="02020603050405020304" pitchFamily="18" charset="0"/>
                        <a:cs typeface="Times New Roman" panose="02020603050405020304" pitchFamily="18" charset="0"/>
                      </a:endParaRPr>
                    </a:p>
                  </a:txBody>
                  <a:tcPr marL="0" marR="0" marT="0" marB="0" anchor="b">
                    <a:lnL w="19050" cap="flat" cmpd="sng" algn="ctr">
                      <a:solidFill>
                        <a:schemeClr val="accent5"/>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54" name="圆角矩形 53"/>
          <p:cNvSpPr/>
          <p:nvPr/>
        </p:nvSpPr>
        <p:spPr>
          <a:xfrm>
            <a:off x="4342737" y="2178658"/>
            <a:ext cx="1548000" cy="182880"/>
          </a:xfrm>
          <a:prstGeom prst="roundRect">
            <a:avLst/>
          </a:prstGeom>
          <a:solidFill>
            <a:srgbClr val="FF00FF">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5" name="圆角矩形 54"/>
          <p:cNvSpPr/>
          <p:nvPr/>
        </p:nvSpPr>
        <p:spPr>
          <a:xfrm>
            <a:off x="4342737" y="3658925"/>
            <a:ext cx="1548000" cy="182880"/>
          </a:xfrm>
          <a:prstGeom prst="roundRect">
            <a:avLst/>
          </a:prstGeom>
          <a:solidFill>
            <a:srgbClr val="FF00FF">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6" name="圆角矩形 55"/>
          <p:cNvSpPr/>
          <p:nvPr/>
        </p:nvSpPr>
        <p:spPr>
          <a:xfrm>
            <a:off x="4342737" y="2378765"/>
            <a:ext cx="1548000" cy="1262931"/>
          </a:xfrm>
          <a:prstGeom prst="roundRect">
            <a:avLst>
              <a:gd name="adj" fmla="val 3131"/>
            </a:avLst>
          </a:prstGeom>
          <a:solidFill>
            <a:srgbClr val="66FFCC">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7" name="圆角矩形 56"/>
          <p:cNvSpPr/>
          <p:nvPr/>
        </p:nvSpPr>
        <p:spPr>
          <a:xfrm>
            <a:off x="6410072" y="1834088"/>
            <a:ext cx="2165409" cy="2138914"/>
          </a:xfrm>
          <a:prstGeom prst="roundRect">
            <a:avLst>
              <a:gd name="adj" fmla="val 4461"/>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dirty="0">
                <a:solidFill>
                  <a:schemeClr val="tx2">
                    <a:lumMod val="75000"/>
                  </a:schemeClr>
                </a:solidFill>
                <a:latin typeface="黑体" panose="02010609060101010101" pitchFamily="49" charset="-122"/>
                <a:ea typeface="黑体" panose="02010609060101010101" pitchFamily="49" charset="-122"/>
              </a:rPr>
              <a:t>该电路具有检查输入信号取值“</a:t>
            </a:r>
            <a:r>
              <a:rPr lang="zh-CN" altLang="en-US" dirty="0">
                <a:solidFill>
                  <a:srgbClr val="CC00CC"/>
                </a:solidFill>
                <a:latin typeface="黑体" panose="02010609060101010101" pitchFamily="49" charset="-122"/>
                <a:ea typeface="黑体" panose="02010609060101010101" pitchFamily="49" charset="-122"/>
              </a:rPr>
              <a:t>是否一致</a:t>
            </a:r>
            <a:r>
              <a:rPr lang="zh-CN" altLang="en-US" dirty="0">
                <a:solidFill>
                  <a:schemeClr val="tx2">
                    <a:lumMod val="75000"/>
                  </a:schemeClr>
                </a:solidFill>
                <a:latin typeface="黑体" panose="02010609060101010101" pitchFamily="49" charset="-122"/>
                <a:ea typeface="黑体" panose="02010609060101010101" pitchFamily="49" charset="-122"/>
              </a:rPr>
              <a:t>”的功能，一旦输出“</a:t>
            </a:r>
            <a:r>
              <a:rPr lang="en-US" altLang="zh-CN" dirty="0">
                <a:solidFill>
                  <a:schemeClr val="tx2">
                    <a:lumMod val="75000"/>
                  </a:schemeClr>
                </a:solidFill>
                <a:latin typeface="黑体" panose="02010609060101010101" pitchFamily="49" charset="-122"/>
                <a:ea typeface="黑体" panose="02010609060101010101" pitchFamily="49" charset="-122"/>
              </a:rPr>
              <a:t>1</a:t>
            </a:r>
            <a:r>
              <a:rPr lang="zh-CN" altLang="en-US" dirty="0">
                <a:solidFill>
                  <a:schemeClr val="tx2">
                    <a:lumMod val="75000"/>
                  </a:schemeClr>
                </a:solidFill>
                <a:latin typeface="黑体" panose="02010609060101010101" pitchFamily="49" charset="-122"/>
                <a:ea typeface="黑体" panose="02010609060101010101" pitchFamily="49" charset="-122"/>
              </a:rPr>
              <a:t>”，表明输入信号取值不一致。</a:t>
            </a:r>
            <a:endParaRPr lang="en-US" altLang="zh-CN" dirty="0">
              <a:solidFill>
                <a:schemeClr val="tx2">
                  <a:lumMod val="75000"/>
                </a:schemeClr>
              </a:solidFill>
              <a:latin typeface="黑体" panose="02010609060101010101" pitchFamily="49" charset="-122"/>
              <a:ea typeface="黑体" panose="02010609060101010101" pitchFamily="49" charset="-122"/>
            </a:endParaRPr>
          </a:p>
          <a:p>
            <a:r>
              <a:rPr lang="zh-CN" altLang="en-US" dirty="0">
                <a:solidFill>
                  <a:srgbClr val="CC00CC"/>
                </a:solidFill>
                <a:latin typeface="黑体" panose="02010609060101010101" pitchFamily="49" charset="-122"/>
                <a:ea typeface="黑体" panose="02010609060101010101" pitchFamily="49" charset="-122"/>
              </a:rPr>
              <a:t>（不一致检测电路）</a:t>
            </a:r>
            <a:endParaRPr lang="zh-CN" altLang="en-US" dirty="0">
              <a:solidFill>
                <a:srgbClr val="CC00CC"/>
              </a:solidFill>
              <a:latin typeface="黑体" panose="02010609060101010101" pitchFamily="49" charset="-122"/>
              <a:ea typeface="黑体" panose="02010609060101010101" pitchFamily="49" charset="-122"/>
            </a:endParaRPr>
          </a:p>
        </p:txBody>
      </p:sp>
      <p:graphicFrame>
        <p:nvGraphicFramePr>
          <p:cNvPr id="2057" name="Object 12"/>
          <p:cNvGraphicFramePr>
            <a:graphicFrameLocks noChangeAspect="1"/>
          </p:cNvGraphicFramePr>
          <p:nvPr/>
        </p:nvGraphicFramePr>
        <p:xfrm>
          <a:off x="1077913" y="4033838"/>
          <a:ext cx="2211387" cy="620712"/>
        </p:xfrm>
        <a:graphic>
          <a:graphicData uri="http://schemas.openxmlformats.org/presentationml/2006/ole">
            <mc:AlternateContent xmlns:mc="http://schemas.openxmlformats.org/markup-compatibility/2006">
              <mc:Choice xmlns:v="urn:schemas-microsoft-com:vml" Requires="v">
                <p:oleObj spid="_x0000_s17421" name="公式" r:id="rId3" imgW="1612900" imgH="457200" progId="Equation.3">
                  <p:embed/>
                </p:oleObj>
              </mc:Choice>
              <mc:Fallback>
                <p:oleObj name="公式" r:id="rId3" imgW="1612900" imgH="457200" progId="Equation.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7913" y="4033838"/>
                        <a:ext cx="2211387" cy="620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6" name="矩形 85"/>
          <p:cNvSpPr/>
          <p:nvPr/>
        </p:nvSpPr>
        <p:spPr>
          <a:xfrm>
            <a:off x="4401045" y="2102117"/>
            <a:ext cx="1025717" cy="1815882"/>
          </a:xfrm>
          <a:prstGeom prst="rect">
            <a:avLst/>
          </a:prstGeom>
        </p:spPr>
        <p:txBody>
          <a:bodyPr wrap="square">
            <a:spAutoFit/>
          </a:bodyPr>
          <a:lstStyle/>
          <a:p>
            <a:pPr algn="ctr">
              <a:defRPr/>
            </a:pPr>
            <a:r>
              <a:rPr lang="en-US" altLang="zh-CN" sz="1400" b="1" dirty="0">
                <a:latin typeface="Times New Roman" panose="02020603050405020304" pitchFamily="18" charset="0"/>
                <a:cs typeface="Times New Roman" panose="02020603050405020304" pitchFamily="18" charset="0"/>
              </a:rPr>
              <a:t>0     0     0</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0     0     1</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0     1     0</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0     1     1</a:t>
            </a:r>
            <a:endParaRPr lang="en-US" altLang="zh-CN"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1     0     0</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1     0     1</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1     1     0</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1     1     1</a:t>
            </a:r>
            <a:endParaRPr lang="zh-CN" altLang="en-US" sz="1400" b="1" dirty="0">
              <a:latin typeface="Times New Roman" panose="02020603050405020304" pitchFamily="18" charset="0"/>
              <a:cs typeface="Times New Roman" panose="02020603050405020304" pitchFamily="18" charset="0"/>
            </a:endParaRPr>
          </a:p>
        </p:txBody>
      </p:sp>
      <p:sp>
        <p:nvSpPr>
          <p:cNvPr id="87" name="矩形 86"/>
          <p:cNvSpPr/>
          <p:nvPr/>
        </p:nvSpPr>
        <p:spPr>
          <a:xfrm>
            <a:off x="5561941" y="2319563"/>
            <a:ext cx="310101" cy="1384995"/>
          </a:xfrm>
          <a:prstGeom prst="rect">
            <a:avLst/>
          </a:prstGeom>
        </p:spPr>
        <p:txBody>
          <a:bodyPr wrap="square">
            <a:spAutoFit/>
          </a:bodyPr>
          <a:lstStyle/>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p:txBody>
      </p:sp>
      <p:sp>
        <p:nvSpPr>
          <p:cNvPr id="88" name="矩形 87"/>
          <p:cNvSpPr/>
          <p:nvPr/>
        </p:nvSpPr>
        <p:spPr>
          <a:xfrm>
            <a:off x="5555315" y="2114152"/>
            <a:ext cx="310101" cy="307777"/>
          </a:xfrm>
          <a:prstGeom prst="rect">
            <a:avLst/>
          </a:prstGeom>
        </p:spPr>
        <p:txBody>
          <a:bodyPr wrap="square">
            <a:spAutoFit/>
          </a:bodyPr>
          <a:lstStyle/>
          <a:p>
            <a:pPr algn="ctr">
              <a:lnSpc>
                <a:spcPct val="100000"/>
              </a:lnSpc>
            </a:pPr>
            <a:r>
              <a:rPr lang="en-US" altLang="zh-CN" sz="1400" b="1" dirty="0">
                <a:latin typeface="Times New Roman" panose="02020603050405020304" pitchFamily="18" charset="0"/>
                <a:cs typeface="Times New Roman" panose="02020603050405020304" pitchFamily="18" charset="0"/>
              </a:rPr>
              <a:t>0</a:t>
            </a:r>
            <a:endParaRPr lang="en-US" altLang="zh-CN" sz="1400" b="1" dirty="0">
              <a:latin typeface="Times New Roman" panose="02020603050405020304" pitchFamily="18" charset="0"/>
              <a:cs typeface="Times New Roman" panose="02020603050405020304" pitchFamily="18" charset="0"/>
            </a:endParaRPr>
          </a:p>
        </p:txBody>
      </p:sp>
      <p:sp>
        <p:nvSpPr>
          <p:cNvPr id="90" name="矩形 89"/>
          <p:cNvSpPr/>
          <p:nvPr/>
        </p:nvSpPr>
        <p:spPr>
          <a:xfrm>
            <a:off x="5564590" y="3598402"/>
            <a:ext cx="310101" cy="307777"/>
          </a:xfrm>
          <a:prstGeom prst="rect">
            <a:avLst/>
          </a:prstGeom>
        </p:spPr>
        <p:txBody>
          <a:bodyPr wrap="square">
            <a:spAutoFit/>
          </a:bodyPr>
          <a:lstStyle/>
          <a:p>
            <a:pPr algn="ctr">
              <a:lnSpc>
                <a:spcPct val="100000"/>
              </a:lnSpc>
            </a:pPr>
            <a:r>
              <a:rPr lang="en-US" altLang="zh-CN" sz="1400" b="1" dirty="0">
                <a:latin typeface="Times New Roman" panose="02020603050405020304" pitchFamily="18" charset="0"/>
                <a:cs typeface="Times New Roman" panose="02020603050405020304" pitchFamily="18" charset="0"/>
              </a:rPr>
              <a:t>0</a:t>
            </a:r>
            <a:endParaRPr lang="en-US" altLang="zh-CN" sz="1400" b="1" dirty="0">
              <a:latin typeface="Times New Roman" panose="02020603050405020304" pitchFamily="18" charset="0"/>
              <a:cs typeface="Times New Roman" panose="02020603050405020304" pitchFamily="18" charset="0"/>
            </a:endParaRPr>
          </a:p>
        </p:txBody>
      </p:sp>
      <p:sp>
        <p:nvSpPr>
          <p:cNvPr id="91" name="圆角矩形 90"/>
          <p:cNvSpPr/>
          <p:nvPr/>
        </p:nvSpPr>
        <p:spPr>
          <a:xfrm>
            <a:off x="1445812" y="4344064"/>
            <a:ext cx="1618090" cy="307450"/>
          </a:xfrm>
          <a:prstGeom prst="roundRect">
            <a:avLst/>
          </a:prstGeom>
          <a:solidFill>
            <a:srgbClr val="FF00FF">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37" name="组合 136"/>
          <p:cNvGrpSpPr/>
          <p:nvPr/>
        </p:nvGrpSpPr>
        <p:grpSpPr>
          <a:xfrm>
            <a:off x="4137162" y="3651962"/>
            <a:ext cx="2596101" cy="1570381"/>
            <a:chOff x="3868311" y="4019385"/>
            <a:chExt cx="2596101" cy="1570381"/>
          </a:xfrm>
          <a:solidFill>
            <a:schemeClr val="accent4">
              <a:lumMod val="20000"/>
              <a:lumOff val="80000"/>
            </a:schemeClr>
          </a:solidFill>
        </p:grpSpPr>
        <p:sp>
          <p:nvSpPr>
            <p:cNvPr id="113" name="圆角矩形 112"/>
            <p:cNvSpPr/>
            <p:nvPr/>
          </p:nvSpPr>
          <p:spPr>
            <a:xfrm>
              <a:off x="3868311" y="4019385"/>
              <a:ext cx="2596101" cy="1570381"/>
            </a:xfrm>
            <a:prstGeom prst="roundRect">
              <a:avLst>
                <a:gd name="adj" fmla="val 4849"/>
              </a:avLst>
            </a:prstGeom>
            <a:grp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7" name="组合 126"/>
            <p:cNvGrpSpPr/>
            <p:nvPr/>
          </p:nvGrpSpPr>
          <p:grpSpPr>
            <a:xfrm>
              <a:off x="4281308" y="4433567"/>
              <a:ext cx="576000" cy="887895"/>
              <a:chOff x="4463044" y="4430851"/>
              <a:chExt cx="324000" cy="887895"/>
            </a:xfrm>
            <a:grpFill/>
          </p:grpSpPr>
          <p:cxnSp>
            <p:nvCxnSpPr>
              <p:cNvPr id="115" name="直接连接符 114"/>
              <p:cNvCxnSpPr/>
              <p:nvPr/>
            </p:nvCxnSpPr>
            <p:spPr>
              <a:xfrm flipV="1">
                <a:off x="4463044" y="4430851"/>
                <a:ext cx="324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V="1">
                <a:off x="4463044" y="5318746"/>
                <a:ext cx="324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29" name="矩形 128"/>
            <p:cNvSpPr/>
            <p:nvPr/>
          </p:nvSpPr>
          <p:spPr>
            <a:xfrm>
              <a:off x="4607781" y="4679342"/>
              <a:ext cx="298174" cy="385639"/>
            </a:xfrm>
            <a:prstGeom prst="rect">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0" name="矩形 129"/>
            <p:cNvSpPr/>
            <p:nvPr/>
          </p:nvSpPr>
          <p:spPr>
            <a:xfrm>
              <a:off x="4830417" y="4715123"/>
              <a:ext cx="230588" cy="306124"/>
            </a:xfrm>
            <a:prstGeom prst="rect">
              <a:avLst/>
            </a:prstGeom>
            <a:grpFill/>
            <a:ln w="19050">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9" name="肘形连接符 118"/>
            <p:cNvCxnSpPr/>
            <p:nvPr/>
          </p:nvCxnSpPr>
          <p:spPr>
            <a:xfrm>
              <a:off x="5094931" y="4573317"/>
              <a:ext cx="467006" cy="173612"/>
            </a:xfrm>
            <a:prstGeom prst="bentConnector3">
              <a:avLst>
                <a:gd name="adj1" fmla="val 50000"/>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a:off x="5801472" y="4859194"/>
              <a:ext cx="288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1" name="TextBox 120"/>
            <p:cNvSpPr txBox="1"/>
            <p:nvPr/>
          </p:nvSpPr>
          <p:spPr>
            <a:xfrm>
              <a:off x="4013588" y="4244800"/>
              <a:ext cx="304892" cy="1246495"/>
            </a:xfrm>
            <a:prstGeom prst="rect">
              <a:avLst/>
            </a:prstGeom>
            <a:grpFill/>
            <a:ln w="19050">
              <a:solidFill>
                <a:schemeClr val="accent4">
                  <a:lumMod val="20000"/>
                  <a:lumOff val="80000"/>
                </a:schemeClr>
              </a:solidFill>
            </a:ln>
          </p:spPr>
          <p:txBody>
            <a:bodyPr wrap="none" rtlCol="0">
              <a:spAutoFit/>
            </a:bodyPr>
            <a:lstStyle/>
            <a:p>
              <a:pPr>
                <a:lnSpc>
                  <a:spcPts val="2600"/>
                </a:lnSpc>
                <a:spcBef>
                  <a:spcPts val="600"/>
                </a:spcBef>
              </a:pPr>
              <a:r>
                <a:rPr lang="en-US" altLang="zh-CN" sz="1400" b="1" i="1" dirty="0">
                  <a:latin typeface="Times New Roman" panose="02020603050405020304" pitchFamily="18" charset="0"/>
                  <a:cs typeface="Times New Roman" panose="02020603050405020304" pitchFamily="18" charset="0"/>
                </a:rPr>
                <a:t>B</a:t>
              </a:r>
              <a:endParaRPr lang="en-US" altLang="zh-CN" sz="1400" b="1" i="1" dirty="0">
                <a:latin typeface="Times New Roman" panose="02020603050405020304" pitchFamily="18" charset="0"/>
                <a:cs typeface="Times New Roman" panose="02020603050405020304" pitchFamily="18" charset="0"/>
              </a:endParaRPr>
            </a:p>
            <a:p>
              <a:pPr>
                <a:lnSpc>
                  <a:spcPts val="2600"/>
                </a:lnSpc>
                <a:spcBef>
                  <a:spcPts val="600"/>
                </a:spcBef>
              </a:pPr>
              <a:r>
                <a:rPr lang="en-US" altLang="zh-CN" sz="1400" b="1" i="1" dirty="0">
                  <a:latin typeface="Times New Roman" panose="02020603050405020304" pitchFamily="18" charset="0"/>
                  <a:cs typeface="Times New Roman" panose="02020603050405020304" pitchFamily="18" charset="0"/>
                </a:rPr>
                <a:t>A</a:t>
              </a:r>
              <a:endParaRPr lang="en-US" altLang="zh-CN" sz="1400" b="1" i="1" dirty="0">
                <a:latin typeface="Times New Roman" panose="02020603050405020304" pitchFamily="18" charset="0"/>
                <a:cs typeface="Times New Roman" panose="02020603050405020304" pitchFamily="18" charset="0"/>
              </a:endParaRPr>
            </a:p>
            <a:p>
              <a:pPr>
                <a:lnSpc>
                  <a:spcPts val="2600"/>
                </a:lnSpc>
                <a:spcBef>
                  <a:spcPts val="600"/>
                </a:spcBef>
              </a:pPr>
              <a:r>
                <a:rPr lang="en-US" altLang="zh-CN" sz="1400" b="1" i="1" dirty="0">
                  <a:latin typeface="Times New Roman" panose="02020603050405020304" pitchFamily="18" charset="0"/>
                  <a:cs typeface="Times New Roman" panose="02020603050405020304" pitchFamily="18" charset="0"/>
                </a:rPr>
                <a:t>C</a:t>
              </a:r>
              <a:endParaRPr lang="zh-CN" altLang="en-US" sz="1400" b="1" i="1" dirty="0">
                <a:latin typeface="Times New Roman" panose="02020603050405020304" pitchFamily="18" charset="0"/>
                <a:cs typeface="Times New Roman" panose="02020603050405020304" pitchFamily="18" charset="0"/>
              </a:endParaRPr>
            </a:p>
          </p:txBody>
        </p:sp>
        <p:sp>
          <p:nvSpPr>
            <p:cNvPr id="122" name="TextBox 121"/>
            <p:cNvSpPr txBox="1"/>
            <p:nvPr/>
          </p:nvSpPr>
          <p:spPr>
            <a:xfrm>
              <a:off x="5999353" y="4697242"/>
              <a:ext cx="299095" cy="335270"/>
            </a:xfrm>
            <a:prstGeom prst="rect">
              <a:avLst/>
            </a:prstGeom>
            <a:grpFill/>
            <a:ln w="19050">
              <a:noFill/>
            </a:ln>
          </p:spPr>
          <p:txBody>
            <a:bodyPr wrap="none" rtlCol="0">
              <a:spAutoFit/>
            </a:bodyPr>
            <a:lstStyle/>
            <a:p>
              <a:pPr>
                <a:lnSpc>
                  <a:spcPts val="1800"/>
                </a:lnSpc>
              </a:pPr>
              <a:r>
                <a:rPr lang="en-US" altLang="zh-CN" sz="1400" b="1" i="1" dirty="0">
                  <a:latin typeface="Times New Roman" panose="02020603050405020304" pitchFamily="18" charset="0"/>
                  <a:cs typeface="Times New Roman" panose="02020603050405020304" pitchFamily="18" charset="0"/>
                </a:rPr>
                <a:t>F</a:t>
              </a:r>
              <a:endParaRPr lang="zh-CN" altLang="en-US" sz="1400" b="1" i="1" dirty="0">
                <a:latin typeface="Times New Roman" panose="02020603050405020304" pitchFamily="18" charset="0"/>
                <a:cs typeface="Times New Roman" panose="02020603050405020304" pitchFamily="18" charset="0"/>
              </a:endParaRPr>
            </a:p>
          </p:txBody>
        </p:sp>
        <p:grpSp>
          <p:nvGrpSpPr>
            <p:cNvPr id="124" name="组合 123"/>
            <p:cNvGrpSpPr/>
            <p:nvPr/>
          </p:nvGrpSpPr>
          <p:grpSpPr>
            <a:xfrm>
              <a:off x="4802052" y="4333404"/>
              <a:ext cx="281874" cy="1088221"/>
              <a:chOff x="4802052" y="4333404"/>
              <a:chExt cx="281874" cy="1088221"/>
            </a:xfrm>
            <a:grpFill/>
          </p:grpSpPr>
          <p:sp>
            <p:nvSpPr>
              <p:cNvPr id="118" name="Rectangle 12"/>
              <p:cNvSpPr>
                <a:spLocks noChangeArrowheads="1"/>
              </p:cNvSpPr>
              <p:nvPr/>
            </p:nvSpPr>
            <p:spPr bwMode="auto">
              <a:xfrm>
                <a:off x="4802052" y="4333404"/>
                <a:ext cx="281874" cy="470666"/>
              </a:xfrm>
              <a:prstGeom prst="rect">
                <a:avLst/>
              </a:prstGeom>
              <a:grpFill/>
              <a:ln w="19050">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rPr>
                  <a:t>=1</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123" name="Rectangle 12"/>
              <p:cNvSpPr>
                <a:spLocks noChangeArrowheads="1"/>
              </p:cNvSpPr>
              <p:nvPr/>
            </p:nvSpPr>
            <p:spPr bwMode="auto">
              <a:xfrm>
                <a:off x="4802052" y="4950959"/>
                <a:ext cx="281874" cy="470666"/>
              </a:xfrm>
              <a:prstGeom prst="rect">
                <a:avLst/>
              </a:prstGeom>
              <a:grpFill/>
              <a:ln w="19050">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rPr>
                  <a:t>=1</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grpSp>
        <p:cxnSp>
          <p:nvCxnSpPr>
            <p:cNvPr id="131" name="直接连接符 130"/>
            <p:cNvCxnSpPr/>
            <p:nvPr/>
          </p:nvCxnSpPr>
          <p:spPr>
            <a:xfrm flipH="1">
              <a:off x="4281308" y="4870176"/>
              <a:ext cx="324000" cy="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6" name="肘形连接符 135"/>
            <p:cNvCxnSpPr/>
            <p:nvPr/>
          </p:nvCxnSpPr>
          <p:spPr>
            <a:xfrm flipV="1">
              <a:off x="5092279" y="5015938"/>
              <a:ext cx="467006" cy="173612"/>
            </a:xfrm>
            <a:prstGeom prst="bentConnector3">
              <a:avLst>
                <a:gd name="adj1" fmla="val 50000"/>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3" name="Rectangle 12"/>
            <p:cNvSpPr>
              <a:spLocks noChangeArrowheads="1"/>
            </p:cNvSpPr>
            <p:nvPr/>
          </p:nvSpPr>
          <p:spPr bwMode="auto">
            <a:xfrm>
              <a:off x="5534948" y="4640858"/>
              <a:ext cx="281874" cy="470666"/>
            </a:xfrm>
            <a:prstGeom prst="rect">
              <a:avLst/>
            </a:prstGeom>
            <a:grpFill/>
            <a:ln w="19050">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200" b="1" i="0" u="none" strike="noStrike" cap="none" normalizeH="0" baseline="0" dirty="0">
                  <a:ln>
                    <a:noFill/>
                  </a:ln>
                  <a:effectLst/>
                  <a:latin typeface="宋体" panose="02010600030101010101" pitchFamily="2" charset="-122"/>
                  <a:ea typeface="宋体" panose="02010600030101010101" pitchFamily="2" charset="-122"/>
                  <a:cs typeface="Times New Roman" panose="02020603050405020304" pitchFamily="18" charset="0"/>
                </a:rPr>
                <a:t>≥</a:t>
              </a:r>
              <a:r>
                <a:rPr kumimoji="0" lang="en-US"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rPr>
                <a:t>1</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grpSp>
      <p:sp>
        <p:nvSpPr>
          <p:cNvPr id="93" name="右箭头 92"/>
          <p:cNvSpPr/>
          <p:nvPr/>
        </p:nvSpPr>
        <p:spPr>
          <a:xfrm>
            <a:off x="3144741" y="4357315"/>
            <a:ext cx="902473" cy="31407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di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057"/>
                                        </p:tgtEl>
                                        <p:attrNameLst>
                                          <p:attrName>style.visibility</p:attrName>
                                        </p:attrNameLst>
                                      </p:cBhvr>
                                      <p:to>
                                        <p:strVal val="visible"/>
                                      </p:to>
                                    </p:set>
                                    <p:animEffect transition="in" filter="slide(fromBottom)">
                                      <p:cBhvr>
                                        <p:cTn id="7" dur="1000"/>
                                        <p:tgtEl>
                                          <p:spTgt spid="2057"/>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89"/>
                                        </p:tgtEl>
                                        <p:attrNameLst>
                                          <p:attrName>style.visibility</p:attrName>
                                        </p:attrNameLst>
                                      </p:cBhvr>
                                      <p:to>
                                        <p:strVal val="visible"/>
                                      </p:to>
                                    </p:set>
                                    <p:animEffect transition="in" filter="slide(fromBottom)">
                                      <p:cBhvr>
                                        <p:cTn id="11" dur="1000"/>
                                        <p:tgtEl>
                                          <p:spTgt spid="89"/>
                                        </p:tgtEl>
                                      </p:cBhvr>
                                    </p:animEffect>
                                  </p:childTnLst>
                                </p:cTn>
                              </p:par>
                            </p:childTnLst>
                          </p:cTn>
                        </p:par>
                        <p:par>
                          <p:cTn id="12" fill="hold">
                            <p:stCondLst>
                              <p:cond delay="2000"/>
                            </p:stCondLst>
                            <p:childTnLst>
                              <p:par>
                                <p:cTn id="13" presetID="12" presetClass="entr" presetSubtype="4" fill="hold" grpId="0" nodeType="afterEffect">
                                  <p:stCondLst>
                                    <p:cond delay="0"/>
                                  </p:stCondLst>
                                  <p:childTnLst>
                                    <p:set>
                                      <p:cBhvr>
                                        <p:cTn id="14" dur="1" fill="hold">
                                          <p:stCondLst>
                                            <p:cond delay="0"/>
                                          </p:stCondLst>
                                        </p:cTn>
                                        <p:tgtEl>
                                          <p:spTgt spid="66"/>
                                        </p:tgtEl>
                                        <p:attrNameLst>
                                          <p:attrName>style.visibility</p:attrName>
                                        </p:attrNameLst>
                                      </p:cBhvr>
                                      <p:to>
                                        <p:strVal val="visible"/>
                                      </p:to>
                                    </p:set>
                                    <p:animEffect transition="in" filter="slide(fromBottom)">
                                      <p:cBhvr>
                                        <p:cTn id="15" dur="1000"/>
                                        <p:tgtEl>
                                          <p:spTgt spid="66"/>
                                        </p:tgtEl>
                                      </p:cBhvr>
                                    </p:animEffect>
                                  </p:childTnLst>
                                </p:cTn>
                              </p:par>
                              <p:par>
                                <p:cTn id="16" presetID="12" presetClass="entr" presetSubtype="4" fill="hold" nodeType="withEffect">
                                  <p:stCondLst>
                                    <p:cond delay="0"/>
                                  </p:stCondLst>
                                  <p:childTnLst>
                                    <p:set>
                                      <p:cBhvr>
                                        <p:cTn id="17" dur="1" fill="hold">
                                          <p:stCondLst>
                                            <p:cond delay="0"/>
                                          </p:stCondLst>
                                        </p:cTn>
                                        <p:tgtEl>
                                          <p:spTgt spid="61"/>
                                        </p:tgtEl>
                                        <p:attrNameLst>
                                          <p:attrName>style.visibility</p:attrName>
                                        </p:attrNameLst>
                                      </p:cBhvr>
                                      <p:to>
                                        <p:strVal val="visible"/>
                                      </p:to>
                                    </p:set>
                                    <p:animEffect transition="in" filter="slide(fromBottom)">
                                      <p:cBhvr>
                                        <p:cTn id="18" dur="1000"/>
                                        <p:tgtEl>
                                          <p:spTgt spid="61"/>
                                        </p:tgtEl>
                                      </p:cBhvr>
                                    </p:animEffect>
                                  </p:childTnLst>
                                </p:cTn>
                              </p:par>
                            </p:childTnLst>
                          </p:cTn>
                        </p:par>
                        <p:par>
                          <p:cTn id="19" fill="hold">
                            <p:stCondLst>
                              <p:cond delay="3000"/>
                            </p:stCondLst>
                            <p:childTnLst>
                              <p:par>
                                <p:cTn id="20" presetID="22" presetClass="entr" presetSubtype="1" fill="hold" grpId="0" nodeType="afterEffect">
                                  <p:stCondLst>
                                    <p:cond delay="0"/>
                                  </p:stCondLst>
                                  <p:childTnLst>
                                    <p:set>
                                      <p:cBhvr>
                                        <p:cTn id="21" dur="1" fill="hold">
                                          <p:stCondLst>
                                            <p:cond delay="0"/>
                                          </p:stCondLst>
                                        </p:cTn>
                                        <p:tgtEl>
                                          <p:spTgt spid="86"/>
                                        </p:tgtEl>
                                        <p:attrNameLst>
                                          <p:attrName>style.visibility</p:attrName>
                                        </p:attrNameLst>
                                      </p:cBhvr>
                                      <p:to>
                                        <p:strVal val="visible"/>
                                      </p:to>
                                    </p:set>
                                    <p:animEffect transition="in" filter="wipe(up)">
                                      <p:cBhvr>
                                        <p:cTn id="22" dur="1000"/>
                                        <p:tgtEl>
                                          <p:spTgt spid="86"/>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999"/>
                                          </p:stCondLst>
                                        </p:cTn>
                                        <p:tgtEl>
                                          <p:spTgt spid="91"/>
                                        </p:tgtEl>
                                        <p:attrNameLst>
                                          <p:attrName>style.visibility</p:attrName>
                                        </p:attrNameLst>
                                      </p:cBhvr>
                                      <p:to>
                                        <p:strVal val="visible"/>
                                      </p:to>
                                    </p:se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56"/>
                                        </p:tgtEl>
                                        <p:attrNameLst>
                                          <p:attrName>style.visibility</p:attrName>
                                        </p:attrNameLst>
                                      </p:cBhvr>
                                      <p:to>
                                        <p:strVal val="visible"/>
                                      </p:to>
                                    </p:set>
                                    <p:animEffect transition="in" filter="wipe(left)">
                                      <p:cBhvr>
                                        <p:cTn id="30" dur="1000"/>
                                        <p:tgtEl>
                                          <p:spTgt spid="56"/>
                                        </p:tgtEl>
                                      </p:cBhvr>
                                    </p:animEffect>
                                  </p:childTnLst>
                                </p:cTn>
                              </p:par>
                            </p:childTnLst>
                          </p:cTn>
                        </p:par>
                        <p:par>
                          <p:cTn id="31" fill="hold">
                            <p:stCondLst>
                              <p:cond delay="2000"/>
                            </p:stCondLst>
                            <p:childTnLst>
                              <p:par>
                                <p:cTn id="32" presetID="12" presetClass="entr" presetSubtype="8" fill="hold" grpId="0" nodeType="afterEffect">
                                  <p:stCondLst>
                                    <p:cond delay="0"/>
                                  </p:stCondLst>
                                  <p:childTnLst>
                                    <p:set>
                                      <p:cBhvr>
                                        <p:cTn id="33" dur="1" fill="hold">
                                          <p:stCondLst>
                                            <p:cond delay="0"/>
                                          </p:stCondLst>
                                        </p:cTn>
                                        <p:tgtEl>
                                          <p:spTgt spid="87"/>
                                        </p:tgtEl>
                                        <p:attrNameLst>
                                          <p:attrName>style.visibility</p:attrName>
                                        </p:attrNameLst>
                                      </p:cBhvr>
                                      <p:to>
                                        <p:strVal val="visible"/>
                                      </p:to>
                                    </p:set>
                                    <p:animEffect transition="in" filter="slide(fromLeft)">
                                      <p:cBhvr>
                                        <p:cTn id="34" dur="1000"/>
                                        <p:tgtEl>
                                          <p:spTgt spid="87"/>
                                        </p:tgtEl>
                                      </p:cBhvr>
                                    </p:animEffect>
                                  </p:childTnLst>
                                </p:cTn>
                              </p:par>
                            </p:childTnLst>
                          </p:cTn>
                        </p:par>
                        <p:par>
                          <p:cTn id="35" fill="hold">
                            <p:stCondLst>
                              <p:cond delay="3000"/>
                            </p:stCondLst>
                            <p:childTnLst>
                              <p:par>
                                <p:cTn id="36" presetID="22" presetClass="entr" presetSubtype="8" fill="hold" grpId="0" nodeType="afterEffect">
                                  <p:stCondLst>
                                    <p:cond delay="0"/>
                                  </p:stCondLst>
                                  <p:childTnLst>
                                    <p:set>
                                      <p:cBhvr>
                                        <p:cTn id="37" dur="1" fill="hold">
                                          <p:stCondLst>
                                            <p:cond delay="0"/>
                                          </p:stCondLst>
                                        </p:cTn>
                                        <p:tgtEl>
                                          <p:spTgt spid="54"/>
                                        </p:tgtEl>
                                        <p:attrNameLst>
                                          <p:attrName>style.visibility</p:attrName>
                                        </p:attrNameLst>
                                      </p:cBhvr>
                                      <p:to>
                                        <p:strVal val="visible"/>
                                      </p:to>
                                    </p:set>
                                    <p:animEffect transition="in" filter="wipe(left)">
                                      <p:cBhvr>
                                        <p:cTn id="38" dur="1000"/>
                                        <p:tgtEl>
                                          <p:spTgt spid="54"/>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55"/>
                                        </p:tgtEl>
                                        <p:attrNameLst>
                                          <p:attrName>style.visibility</p:attrName>
                                        </p:attrNameLst>
                                      </p:cBhvr>
                                      <p:to>
                                        <p:strVal val="visible"/>
                                      </p:to>
                                    </p:set>
                                    <p:animEffect transition="in" filter="wipe(left)">
                                      <p:cBhvr>
                                        <p:cTn id="41" dur="1000"/>
                                        <p:tgtEl>
                                          <p:spTgt spid="55"/>
                                        </p:tgtEl>
                                      </p:cBhvr>
                                    </p:animEffect>
                                  </p:childTnLst>
                                </p:cTn>
                              </p:par>
                            </p:childTnLst>
                          </p:cTn>
                        </p:par>
                        <p:par>
                          <p:cTn id="42" fill="hold">
                            <p:stCondLst>
                              <p:cond delay="4000"/>
                            </p:stCondLst>
                            <p:childTnLst>
                              <p:par>
                                <p:cTn id="43" presetID="12" presetClass="entr" presetSubtype="8" fill="hold" grpId="0" nodeType="afterEffect">
                                  <p:stCondLst>
                                    <p:cond delay="0"/>
                                  </p:stCondLst>
                                  <p:childTnLst>
                                    <p:set>
                                      <p:cBhvr>
                                        <p:cTn id="44" dur="1" fill="hold">
                                          <p:stCondLst>
                                            <p:cond delay="0"/>
                                          </p:stCondLst>
                                        </p:cTn>
                                        <p:tgtEl>
                                          <p:spTgt spid="88"/>
                                        </p:tgtEl>
                                        <p:attrNameLst>
                                          <p:attrName>style.visibility</p:attrName>
                                        </p:attrNameLst>
                                      </p:cBhvr>
                                      <p:to>
                                        <p:strVal val="visible"/>
                                      </p:to>
                                    </p:set>
                                    <p:animEffect transition="in" filter="slide(fromLeft)">
                                      <p:cBhvr>
                                        <p:cTn id="45" dur="1000"/>
                                        <p:tgtEl>
                                          <p:spTgt spid="88"/>
                                        </p:tgtEl>
                                      </p:cBhvr>
                                    </p:animEffect>
                                  </p:childTnLst>
                                </p:cTn>
                              </p:par>
                              <p:par>
                                <p:cTn id="46" presetID="12" presetClass="entr" presetSubtype="8" fill="hold" grpId="0" nodeType="withEffect">
                                  <p:stCondLst>
                                    <p:cond delay="0"/>
                                  </p:stCondLst>
                                  <p:childTnLst>
                                    <p:set>
                                      <p:cBhvr>
                                        <p:cTn id="47" dur="1" fill="hold">
                                          <p:stCondLst>
                                            <p:cond delay="0"/>
                                          </p:stCondLst>
                                        </p:cTn>
                                        <p:tgtEl>
                                          <p:spTgt spid="90"/>
                                        </p:tgtEl>
                                        <p:attrNameLst>
                                          <p:attrName>style.visibility</p:attrName>
                                        </p:attrNameLst>
                                      </p:cBhvr>
                                      <p:to>
                                        <p:strVal val="visible"/>
                                      </p:to>
                                    </p:set>
                                    <p:animEffect transition="in" filter="slide(fromLeft)">
                                      <p:cBhvr>
                                        <p:cTn id="48" dur="1000"/>
                                        <p:tgtEl>
                                          <p:spTgt spid="90"/>
                                        </p:tgtEl>
                                      </p:cBhvr>
                                    </p:animEffect>
                                  </p:childTnLst>
                                </p:cTn>
                              </p:par>
                            </p:childTnLst>
                          </p:cTn>
                        </p:par>
                      </p:childTnLst>
                    </p:cTn>
                  </p:par>
                  <p:par>
                    <p:cTn id="49" fill="hold">
                      <p:stCondLst>
                        <p:cond delay="indefinite"/>
                      </p:stCondLst>
                      <p:childTnLst>
                        <p:par>
                          <p:cTn id="50" fill="hold">
                            <p:stCondLst>
                              <p:cond delay="0"/>
                            </p:stCondLst>
                            <p:childTnLst>
                              <p:par>
                                <p:cTn id="51" presetID="12" presetClass="entr" presetSubtype="4" fill="hold" grpId="0" nodeType="clickEffect">
                                  <p:stCondLst>
                                    <p:cond delay="0"/>
                                  </p:stCondLst>
                                  <p:childTnLst>
                                    <p:set>
                                      <p:cBhvr>
                                        <p:cTn id="52" dur="1" fill="hold">
                                          <p:stCondLst>
                                            <p:cond delay="0"/>
                                          </p:stCondLst>
                                        </p:cTn>
                                        <p:tgtEl>
                                          <p:spTgt spid="95"/>
                                        </p:tgtEl>
                                        <p:attrNameLst>
                                          <p:attrName>style.visibility</p:attrName>
                                        </p:attrNameLst>
                                      </p:cBhvr>
                                      <p:to>
                                        <p:strVal val="visible"/>
                                      </p:to>
                                    </p:set>
                                    <p:animEffect transition="in" filter="slide(fromBottom)">
                                      <p:cBhvr>
                                        <p:cTn id="53" dur="1000"/>
                                        <p:tgtEl>
                                          <p:spTgt spid="95"/>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4" fill="hold" grpId="0" nodeType="clickEffect">
                                  <p:stCondLst>
                                    <p:cond delay="0"/>
                                  </p:stCondLst>
                                  <p:childTnLst>
                                    <p:set>
                                      <p:cBhvr>
                                        <p:cTn id="57" dur="1" fill="hold">
                                          <p:stCondLst>
                                            <p:cond delay="0"/>
                                          </p:stCondLst>
                                        </p:cTn>
                                        <p:tgtEl>
                                          <p:spTgt spid="57"/>
                                        </p:tgtEl>
                                        <p:attrNameLst>
                                          <p:attrName>style.visibility</p:attrName>
                                        </p:attrNameLst>
                                      </p:cBhvr>
                                      <p:to>
                                        <p:strVal val="visible"/>
                                      </p:to>
                                    </p:set>
                                    <p:animEffect transition="in" filter="slide(fromBottom)">
                                      <p:cBhvr>
                                        <p:cTn id="58" dur="1000"/>
                                        <p:tgtEl>
                                          <p:spTgt spid="57"/>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93"/>
                                        </p:tgtEl>
                                        <p:attrNameLst>
                                          <p:attrName>style.visibility</p:attrName>
                                        </p:attrNameLst>
                                      </p:cBhvr>
                                      <p:to>
                                        <p:strVal val="visible"/>
                                      </p:to>
                                    </p:set>
                                    <p:animEffect transition="in" filter="wipe(left)">
                                      <p:cBhvr>
                                        <p:cTn id="63" dur="1000"/>
                                        <p:tgtEl>
                                          <p:spTgt spid="93"/>
                                        </p:tgtEl>
                                      </p:cBhvr>
                                    </p:animEffect>
                                  </p:childTnLst>
                                </p:cTn>
                              </p:par>
                            </p:childTnLst>
                          </p:cTn>
                        </p:par>
                        <p:par>
                          <p:cTn id="64" fill="hold">
                            <p:stCondLst>
                              <p:cond delay="1000"/>
                            </p:stCondLst>
                            <p:childTnLst>
                              <p:par>
                                <p:cTn id="65" presetID="22" presetClass="entr" presetSubtype="8" fill="hold" nodeType="afterEffect">
                                  <p:stCondLst>
                                    <p:cond delay="0"/>
                                  </p:stCondLst>
                                  <p:childTnLst>
                                    <p:set>
                                      <p:cBhvr>
                                        <p:cTn id="66" dur="1" fill="hold">
                                          <p:stCondLst>
                                            <p:cond delay="0"/>
                                          </p:stCondLst>
                                        </p:cTn>
                                        <p:tgtEl>
                                          <p:spTgt spid="137"/>
                                        </p:tgtEl>
                                        <p:attrNameLst>
                                          <p:attrName>style.visibility</p:attrName>
                                        </p:attrNameLst>
                                      </p:cBhvr>
                                      <p:to>
                                        <p:strVal val="visible"/>
                                      </p:to>
                                    </p:set>
                                    <p:animEffect transition="in" filter="wipe(left)">
                                      <p:cBhvr>
                                        <p:cTn id="67" dur="1000"/>
                                        <p:tgtEl>
                                          <p:spTgt spid="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 grpId="0" animBg="1"/>
      <p:bldP spid="89" grpId="0"/>
      <p:bldP spid="95" grpId="0"/>
      <p:bldP spid="54" grpId="0" animBg="1"/>
      <p:bldP spid="55" grpId="0" animBg="1"/>
      <p:bldP spid="56" grpId="0" animBg="1"/>
      <p:bldP spid="57" grpId="0" animBg="1"/>
      <p:bldP spid="86" grpId="0"/>
      <p:bldP spid="87" grpId="0"/>
      <p:bldP spid="88" grpId="0"/>
      <p:bldP spid="90" grpId="0"/>
      <p:bldP spid="91" grpId="0" animBg="1"/>
      <p:bldP spid="9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101090" y="1824567"/>
            <a:ext cx="6713220" cy="2072333"/>
            <a:chOff x="1101090" y="1824567"/>
            <a:chExt cx="6713220" cy="2072333"/>
          </a:xfrm>
        </p:grpSpPr>
        <p:grpSp>
          <p:nvGrpSpPr>
            <p:cNvPr id="43" name="组合 42"/>
            <p:cNvGrpSpPr/>
            <p:nvPr/>
          </p:nvGrpSpPr>
          <p:grpSpPr>
            <a:xfrm>
              <a:off x="1101090" y="1824567"/>
              <a:ext cx="1371600" cy="760000"/>
              <a:chOff x="910590" y="1565910"/>
              <a:chExt cx="1371600" cy="684000"/>
            </a:xfrm>
          </p:grpSpPr>
          <p:grpSp>
            <p:nvGrpSpPr>
              <p:cNvPr id="36" name="组合 35"/>
              <p:cNvGrpSpPr/>
              <p:nvPr/>
            </p:nvGrpSpPr>
            <p:grpSpPr>
              <a:xfrm>
                <a:off x="910590" y="1699260"/>
                <a:ext cx="1371600" cy="99060"/>
                <a:chOff x="910590" y="1699260"/>
                <a:chExt cx="1371600" cy="99060"/>
              </a:xfrm>
            </p:grpSpPr>
            <p:cxnSp>
              <p:nvCxnSpPr>
                <p:cNvPr id="29" name="直接连接符 28"/>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5" name="直接连接符 34"/>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37" name="组合 36"/>
              <p:cNvGrpSpPr/>
              <p:nvPr/>
            </p:nvGrpSpPr>
            <p:grpSpPr>
              <a:xfrm rot="5400000">
                <a:off x="728610" y="1866000"/>
                <a:ext cx="684000" cy="83820"/>
                <a:chOff x="910590" y="1699260"/>
                <a:chExt cx="1371600" cy="99060"/>
              </a:xfrm>
            </p:grpSpPr>
            <p:cxnSp>
              <p:nvCxnSpPr>
                <p:cNvPr id="38" name="直接连接符 3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42" name="直接连接符 4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44" name="组合 43"/>
            <p:cNvGrpSpPr/>
            <p:nvPr/>
          </p:nvGrpSpPr>
          <p:grpSpPr>
            <a:xfrm rot="10800000">
              <a:off x="6442710" y="3136900"/>
              <a:ext cx="1371600" cy="760000"/>
              <a:chOff x="910590" y="1565910"/>
              <a:chExt cx="1371600" cy="684000"/>
            </a:xfrm>
          </p:grpSpPr>
          <p:grpSp>
            <p:nvGrpSpPr>
              <p:cNvPr id="45" name="组合 35"/>
              <p:cNvGrpSpPr/>
              <p:nvPr/>
            </p:nvGrpSpPr>
            <p:grpSpPr>
              <a:xfrm>
                <a:off x="910590" y="1699260"/>
                <a:ext cx="1371600" cy="99060"/>
                <a:chOff x="910590" y="1699260"/>
                <a:chExt cx="1371600" cy="99060"/>
              </a:xfrm>
            </p:grpSpPr>
            <p:cxnSp>
              <p:nvCxnSpPr>
                <p:cNvPr id="49" name="直接连接符 48"/>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50" name="直接连接符 4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46" name="组合 36"/>
              <p:cNvGrpSpPr/>
              <p:nvPr/>
            </p:nvGrpSpPr>
            <p:grpSpPr>
              <a:xfrm rot="5400000">
                <a:off x="728610" y="1866000"/>
                <a:ext cx="684000" cy="83820"/>
                <a:chOff x="910590" y="1699260"/>
                <a:chExt cx="1371600" cy="99060"/>
              </a:xfrm>
            </p:grpSpPr>
            <p:cxnSp>
              <p:nvCxnSpPr>
                <p:cNvPr id="47" name="直接连接符 46"/>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48" name="直接连接符 47"/>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17" name="文本框 6"/>
            <p:cNvSpPr txBox="1"/>
            <p:nvPr/>
          </p:nvSpPr>
          <p:spPr>
            <a:xfrm>
              <a:off x="1393722" y="2088836"/>
              <a:ext cx="6150077" cy="708592"/>
            </a:xfrm>
            <a:prstGeom prst="rect">
              <a:avLst/>
            </a:prstGeom>
            <a:noFill/>
          </p:spPr>
          <p:txBody>
            <a:bodyPr wrap="square" rtlCol="0">
              <a:spAutoFit/>
            </a:bodyPr>
            <a:lstStyle/>
            <a:p>
              <a:pPr algn="ctr">
                <a:lnSpc>
                  <a:spcPct val="125000"/>
                </a:lnSpc>
              </a:pP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4</a:t>
              </a: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  </a:t>
              </a:r>
              <a:r>
                <a:rPr lang="zh-CN" altLang="en-US"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组合逻辑电路</a:t>
              </a:r>
              <a:endPar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sp>
          <p:nvSpPr>
            <p:cNvPr id="18" name="矩形 17"/>
            <p:cNvSpPr/>
            <p:nvPr/>
          </p:nvSpPr>
          <p:spPr>
            <a:xfrm>
              <a:off x="2199644" y="2908871"/>
              <a:ext cx="4365123" cy="523220"/>
            </a:xfrm>
            <a:prstGeom prst="rect">
              <a:avLst/>
            </a:prstGeom>
          </p:spPr>
          <p:txBody>
            <a:bodyPr wrap="square">
              <a:spAutoFit/>
            </a:bodyPr>
            <a:lstStyle/>
            <a:p>
              <a:pPr algn="ctr">
                <a:spcBef>
                  <a:spcPts val="1200"/>
                </a:spcBef>
              </a:pPr>
              <a:r>
                <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4.3 </a:t>
              </a:r>
              <a:r>
                <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组合逻辑电路设计</a:t>
              </a:r>
              <a:endParaRPr lang="zh-CN" altLang="en-US" sz="2400" dirty="0">
                <a:ln w="0"/>
                <a:solidFill>
                  <a:schemeClr val="accent1"/>
                </a:solidFill>
                <a:effectLst>
                  <a:outerShdw blurRad="38100" dist="25400" dir="5400000" algn="ctr" rotWithShape="0">
                    <a:srgbClr val="6E747A">
                      <a:alpha val="43000"/>
                    </a:srgbClr>
                  </a:outerShdw>
                </a:effectLst>
                <a:latin typeface="方正粗黑宋简体" panose="02000000000000000000" pitchFamily="2" charset="-122"/>
                <a:ea typeface="方正粗黑宋简体" panose="02000000000000000000" pitchFamily="2" charset="-122"/>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Effect transition="in" filter="fade">
                                      <p:cBhvr>
                                        <p:cTn id="9"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17"/>
          <p:cNvGrpSpPr/>
          <p:nvPr/>
        </p:nvGrpSpPr>
        <p:grpSpPr>
          <a:xfrm>
            <a:off x="392432" y="759247"/>
            <a:ext cx="4140066" cy="420971"/>
            <a:chOff x="670560" y="892917"/>
            <a:chExt cx="4140066" cy="420971"/>
          </a:xfrm>
        </p:grpSpPr>
        <p:sp>
          <p:nvSpPr>
            <p:cNvPr id="21" name="矩形 20"/>
            <p:cNvSpPr/>
            <p:nvPr/>
          </p:nvSpPr>
          <p:spPr>
            <a:xfrm>
              <a:off x="1035233" y="913778"/>
              <a:ext cx="3775393"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组合逻辑电路设计的目的与步骤</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2"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20" name="组合 19"/>
          <p:cNvGrpSpPr/>
          <p:nvPr/>
        </p:nvGrpSpPr>
        <p:grpSpPr>
          <a:xfrm>
            <a:off x="647700" y="1288004"/>
            <a:ext cx="7620001" cy="572601"/>
            <a:chOff x="647700" y="1833568"/>
            <a:chExt cx="7620001" cy="652762"/>
          </a:xfrm>
        </p:grpSpPr>
        <p:sp>
          <p:nvSpPr>
            <p:cNvPr id="30" name="燕尾形 29"/>
            <p:cNvSpPr/>
            <p:nvPr/>
          </p:nvSpPr>
          <p:spPr>
            <a:xfrm>
              <a:off x="1633537" y="1833568"/>
              <a:ext cx="6634164" cy="648000"/>
            </a:xfrm>
            <a:prstGeom prst="chevron">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zh-CN" sz="1400" dirty="0">
                  <a:solidFill>
                    <a:schemeClr val="tx1"/>
                  </a:solidFill>
                  <a:latin typeface="微软雅黑" panose="020B0503020204020204" pitchFamily="34" charset="-122"/>
                  <a:ea typeface="微软雅黑" panose="020B0503020204020204" pitchFamily="34" charset="-122"/>
                </a:rPr>
                <a:t>根据实际逻辑问题的描述，设计出在特定条件下实现这一逻辑问题的逻辑电路，通常称为</a:t>
              </a:r>
              <a:r>
                <a:rPr lang="zh-CN" altLang="zh-CN" sz="1400" b="1" dirty="0">
                  <a:solidFill>
                    <a:srgbClr val="CC00CC"/>
                  </a:solidFill>
                  <a:latin typeface="微软雅黑" panose="020B0503020204020204" pitchFamily="34" charset="-122"/>
                  <a:ea typeface="微软雅黑" panose="020B0503020204020204" pitchFamily="34" charset="-122"/>
                </a:rPr>
                <a:t>逻辑设计</a:t>
              </a:r>
              <a:r>
                <a:rPr lang="zh-CN" altLang="zh-CN" sz="1400" dirty="0">
                  <a:solidFill>
                    <a:schemeClr val="tx1"/>
                  </a:solidFill>
                  <a:latin typeface="微软雅黑" panose="020B0503020204020204" pitchFamily="34" charset="-122"/>
                  <a:ea typeface="微软雅黑" panose="020B0503020204020204" pitchFamily="34" charset="-122"/>
                </a:rPr>
                <a:t>，又称为</a:t>
              </a:r>
              <a:r>
                <a:rPr lang="zh-CN" altLang="zh-CN" sz="1400" b="1" dirty="0">
                  <a:solidFill>
                    <a:srgbClr val="CC00CC"/>
                  </a:solidFill>
                  <a:latin typeface="微软雅黑" panose="020B0503020204020204" pitchFamily="34" charset="-122"/>
                  <a:ea typeface="微软雅黑" panose="020B0503020204020204" pitchFamily="34" charset="-122"/>
                </a:rPr>
                <a:t>逻辑综合</a:t>
              </a:r>
              <a:r>
                <a:rPr lang="zh-CN" altLang="zh-CN" sz="1400" dirty="0">
                  <a:solidFill>
                    <a:schemeClr val="tx1"/>
                  </a:solidFill>
                  <a:latin typeface="微软雅黑" panose="020B0503020204020204" pitchFamily="34" charset="-122"/>
                  <a:ea typeface="微软雅黑" panose="020B0503020204020204" pitchFamily="34" charset="-122"/>
                </a:rPr>
                <a:t>。</a:t>
              </a:r>
              <a:endParaRPr lang="zh-CN" altLang="en-US" sz="1400" dirty="0">
                <a:solidFill>
                  <a:schemeClr val="tx1"/>
                </a:solidFill>
                <a:latin typeface="微软雅黑" panose="020B0503020204020204" pitchFamily="34" charset="-122"/>
                <a:ea typeface="微软雅黑" panose="020B0503020204020204" pitchFamily="34" charset="-122"/>
              </a:endParaRPr>
            </a:p>
          </p:txBody>
        </p:sp>
        <p:grpSp>
          <p:nvGrpSpPr>
            <p:cNvPr id="4" name="组合 30"/>
            <p:cNvGrpSpPr/>
            <p:nvPr/>
          </p:nvGrpSpPr>
          <p:grpSpPr>
            <a:xfrm>
              <a:off x="647700" y="1838330"/>
              <a:ext cx="1220063" cy="648000"/>
              <a:chOff x="647700" y="1785937"/>
              <a:chExt cx="1220063" cy="648000"/>
            </a:xfrm>
          </p:grpSpPr>
          <p:sp>
            <p:nvSpPr>
              <p:cNvPr id="29" name="五边形 28"/>
              <p:cNvSpPr/>
              <p:nvPr/>
            </p:nvSpPr>
            <p:spPr>
              <a:xfrm>
                <a:off x="647700" y="1785937"/>
                <a:ext cx="1220063" cy="648000"/>
              </a:xfrm>
              <a:prstGeom prst="homePlat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b="1" dirty="0">
                    <a:solidFill>
                      <a:srgbClr val="0000FF"/>
                    </a:solidFill>
                    <a:latin typeface="微软雅黑" panose="020B0503020204020204" pitchFamily="34" charset="-122"/>
                    <a:ea typeface="微软雅黑" panose="020B0503020204020204" pitchFamily="34" charset="-122"/>
                  </a:rPr>
                  <a:t>目</a:t>
                </a:r>
                <a:endParaRPr lang="en-US" altLang="zh-CN" sz="1400" b="1" dirty="0">
                  <a:solidFill>
                    <a:srgbClr val="0000FF"/>
                  </a:solidFill>
                  <a:latin typeface="微软雅黑" panose="020B0503020204020204" pitchFamily="34" charset="-122"/>
                  <a:ea typeface="微软雅黑" panose="020B0503020204020204" pitchFamily="34" charset="-122"/>
                </a:endParaRPr>
              </a:p>
              <a:p>
                <a:pPr algn="r"/>
                <a:r>
                  <a:rPr lang="zh-CN" altLang="en-US" sz="1400" b="1" dirty="0">
                    <a:solidFill>
                      <a:srgbClr val="0000FF"/>
                    </a:solidFill>
                    <a:latin typeface="微软雅黑" panose="020B0503020204020204" pitchFamily="34" charset="-122"/>
                    <a:ea typeface="微软雅黑" panose="020B0503020204020204" pitchFamily="34" charset="-122"/>
                  </a:rPr>
                  <a:t>的</a:t>
                </a:r>
                <a:endParaRPr lang="zh-CN" altLang="en-US" sz="1400" b="1" dirty="0">
                  <a:solidFill>
                    <a:srgbClr val="0000FF"/>
                  </a:solidFill>
                </a:endParaRPr>
              </a:p>
            </p:txBody>
          </p:sp>
          <p:pic>
            <p:nvPicPr>
              <p:cNvPr id="15361" name="Picture 1"/>
              <p:cNvPicPr>
                <a:picLocks noChangeAspect="1" noChangeArrowheads="1"/>
              </p:cNvPicPr>
              <p:nvPr/>
            </p:nvPicPr>
            <p:blipFill>
              <a:blip r:embed="rId2" cstate="print"/>
              <a:srcRect/>
              <a:stretch>
                <a:fillRect/>
              </a:stretch>
            </p:blipFill>
            <p:spPr bwMode="auto">
              <a:xfrm>
                <a:off x="685824" y="1809754"/>
                <a:ext cx="633386" cy="590548"/>
              </a:xfrm>
              <a:prstGeom prst="rect">
                <a:avLst/>
              </a:prstGeom>
              <a:noFill/>
              <a:ln w="9525">
                <a:noFill/>
                <a:miter lim="800000"/>
                <a:headEnd/>
                <a:tailEnd/>
              </a:ln>
            </p:spPr>
          </p:pic>
        </p:grpSp>
      </p:grpSp>
      <p:grpSp>
        <p:nvGrpSpPr>
          <p:cNvPr id="31" name="组合 30"/>
          <p:cNvGrpSpPr/>
          <p:nvPr/>
        </p:nvGrpSpPr>
        <p:grpSpPr>
          <a:xfrm>
            <a:off x="643469" y="2000788"/>
            <a:ext cx="1220063" cy="567484"/>
            <a:chOff x="652463" y="2557463"/>
            <a:chExt cx="1220063" cy="648000"/>
          </a:xfrm>
        </p:grpSpPr>
        <p:sp>
          <p:nvSpPr>
            <p:cNvPr id="33" name="五边形 32"/>
            <p:cNvSpPr/>
            <p:nvPr/>
          </p:nvSpPr>
          <p:spPr>
            <a:xfrm>
              <a:off x="652463" y="2557463"/>
              <a:ext cx="1220063" cy="648000"/>
            </a:xfrm>
            <a:prstGeom prst="homePlat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b="1" dirty="0">
                  <a:solidFill>
                    <a:srgbClr val="0000FF"/>
                  </a:solidFill>
                  <a:latin typeface="微软雅黑" panose="020B0503020204020204" pitchFamily="34" charset="-122"/>
                  <a:ea typeface="微软雅黑" panose="020B0503020204020204" pitchFamily="34" charset="-122"/>
                </a:rPr>
                <a:t>步</a:t>
              </a:r>
              <a:endParaRPr lang="en-US" altLang="zh-CN" sz="1400" b="1" dirty="0">
                <a:solidFill>
                  <a:srgbClr val="0000FF"/>
                </a:solidFill>
                <a:latin typeface="微软雅黑" panose="020B0503020204020204" pitchFamily="34" charset="-122"/>
                <a:ea typeface="微软雅黑" panose="020B0503020204020204" pitchFamily="34" charset="-122"/>
              </a:endParaRPr>
            </a:p>
            <a:p>
              <a:pPr algn="r"/>
              <a:r>
                <a:rPr lang="zh-CN" altLang="en-US" sz="1400" b="1" dirty="0">
                  <a:solidFill>
                    <a:srgbClr val="0000FF"/>
                  </a:solidFill>
                  <a:latin typeface="微软雅黑" panose="020B0503020204020204" pitchFamily="34" charset="-122"/>
                  <a:ea typeface="微软雅黑" panose="020B0503020204020204" pitchFamily="34" charset="-122"/>
                </a:rPr>
                <a:t>骤</a:t>
              </a:r>
              <a:endParaRPr lang="zh-CN" altLang="en-US" sz="1400" b="1" dirty="0">
                <a:solidFill>
                  <a:srgbClr val="0000FF"/>
                </a:solidFill>
                <a:latin typeface="微软雅黑" panose="020B0503020204020204" pitchFamily="34" charset="-122"/>
                <a:ea typeface="微软雅黑" panose="020B0503020204020204" pitchFamily="34" charset="-122"/>
              </a:endParaRPr>
            </a:p>
          </p:txBody>
        </p:sp>
        <p:pic>
          <p:nvPicPr>
            <p:cNvPr id="34" name="Picture 4"/>
            <p:cNvPicPr>
              <a:picLocks noChangeAspect="1" noChangeArrowheads="1"/>
            </p:cNvPicPr>
            <p:nvPr/>
          </p:nvPicPr>
          <p:blipFill>
            <a:blip r:embed="rId3" cstate="print"/>
            <a:srcRect/>
            <a:stretch>
              <a:fillRect/>
            </a:stretch>
          </p:blipFill>
          <p:spPr bwMode="auto">
            <a:xfrm>
              <a:off x="714378" y="2585248"/>
              <a:ext cx="573639" cy="581025"/>
            </a:xfrm>
            <a:prstGeom prst="rect">
              <a:avLst/>
            </a:prstGeom>
            <a:noFill/>
            <a:ln w="9525">
              <a:noFill/>
              <a:miter lim="800000"/>
              <a:headEnd/>
              <a:tailEnd/>
            </a:ln>
          </p:spPr>
        </p:pic>
      </p:grpSp>
      <p:sp>
        <p:nvSpPr>
          <p:cNvPr id="36" name="Rectangle 1"/>
          <p:cNvSpPr>
            <a:spLocks noChangeArrowheads="1"/>
          </p:cNvSpPr>
          <p:nvPr/>
        </p:nvSpPr>
        <p:spPr bwMode="auto">
          <a:xfrm>
            <a:off x="663164" y="2690055"/>
            <a:ext cx="8377469" cy="2362185"/>
          </a:xfrm>
          <a:prstGeom prst="rect">
            <a:avLst/>
          </a:prstGeom>
          <a:noFill/>
          <a:ln w="9525">
            <a:noFill/>
            <a:miter lim="800000"/>
          </a:ln>
          <a:effectLst/>
        </p:spPr>
        <p:txBody>
          <a:bodyPr vert="horz" wrap="square" lIns="91440" tIns="45720" rIns="91440" bIns="45720" numCol="1" anchor="ctr" anchorCtr="0" compatLnSpc="1">
            <a:spAutoFit/>
          </a:bodyPr>
          <a:lstStyle/>
          <a:p>
            <a:pPr marL="444500" marR="0" lvl="0" indent="-444500" algn="l" defTabSz="914400" rtl="0" eaLnBrk="1" fontAlgn="base" latinLnBrk="0" hangingPunct="1">
              <a:lnSpc>
                <a:spcPct val="125000"/>
              </a:lnSpc>
              <a:spcBef>
                <a:spcPts val="600"/>
              </a:spcBef>
              <a:spcAft>
                <a:spcPct val="0"/>
              </a:spcAft>
              <a:buClrTx/>
              <a:buSzTx/>
              <a:buFontTx/>
              <a:buNone/>
            </a:pPr>
            <a:r>
              <a:rPr kumimoji="0" 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）根据实际逻辑问题的描述，</a:t>
            </a:r>
            <a:r>
              <a:rPr lang="zh-CN" altLang="en-US" sz="1400" b="1"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rPr>
              <a:t>进行逻辑抽象</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marL="444500" marR="0" lvl="0" indent="-444500" algn="l" defTabSz="914400" rtl="0" eaLnBrk="1" fontAlgn="base" latinLnBrk="0" hangingPunct="1">
              <a:lnSpc>
                <a:spcPct val="125000"/>
              </a:lnSpc>
              <a:spcBef>
                <a:spcPts val="600"/>
              </a:spcBef>
              <a:spcAft>
                <a:spcPct val="0"/>
              </a:spcAft>
              <a:buClrTx/>
              <a:buSzTx/>
              <a:buFontTx/>
              <a:buNone/>
            </a:pPr>
            <a:r>
              <a:rPr lang="en-US" altLang="zh-CN" sz="1400" dirty="0">
                <a:latin typeface="微软雅黑" panose="020B0503020204020204" pitchFamily="34" charset="-122"/>
                <a:ea typeface="微软雅黑" panose="020B0503020204020204" pitchFamily="34" charset="-122"/>
                <a:cs typeface="Times New Roman" panose="02020603050405020304" pitchFamily="18" charset="0"/>
              </a:rPr>
              <a:t>       </a:t>
            </a:r>
            <a:r>
              <a:rPr lang="en-US" altLang="zh-CN" sz="1400"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1400" b="1" i="0" u="none" strike="noStrike" cap="none" normalizeH="0" baseline="0" dirty="0">
                <a:ln>
                  <a:noFill/>
                </a:ln>
                <a:solidFill>
                  <a:srgbClr val="CC00CC"/>
                </a:solidFill>
                <a:effectLst/>
                <a:latin typeface="微软雅黑" panose="020B0503020204020204" pitchFamily="34" charset="-122"/>
                <a:ea typeface="微软雅黑" panose="020B0503020204020204" pitchFamily="34" charset="-122"/>
                <a:cs typeface="Times New Roman" panose="02020603050405020304" pitchFamily="18" charset="0"/>
              </a:rPr>
              <a:t>逻辑抽象的具体内容</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：根据实际逻辑问题描述，确定输入、输出的个数，并为相应的输入、输出赋予相应的变量，并设定输入、输出变量在不同状态下的逻辑取值。</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p>
            <a:pPr marL="444500" marR="0" lvl="0" indent="-444500" algn="l" defTabSz="914400" rtl="0" eaLnBrk="0" fontAlgn="base" latinLnBrk="0" hangingPunct="0">
              <a:lnSpc>
                <a:spcPct val="125000"/>
              </a:lnSpc>
              <a:spcBef>
                <a:spcPts val="600"/>
              </a:spcBef>
              <a:spcAft>
                <a:spcPct val="0"/>
              </a:spcAft>
              <a:buClrTx/>
              <a:buSzTx/>
              <a:buFontTx/>
              <a:buNone/>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）根据逻辑问题中对输入、输出之间逻辑关系的描述</a:t>
            </a:r>
            <a:r>
              <a:rPr lang="zh-CN" altLang="en-US" sz="1400" b="1"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rPr>
              <a:t>列出相应的逻辑真值表</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p>
            <a:pPr marL="444500" marR="0" lvl="0" indent="-444500" algn="l" defTabSz="914400" rtl="0" eaLnBrk="0" fontAlgn="base" latinLnBrk="0" hangingPunct="0">
              <a:lnSpc>
                <a:spcPct val="125000"/>
              </a:lnSpc>
              <a:spcBef>
                <a:spcPts val="600"/>
              </a:spcBef>
              <a:spcAft>
                <a:spcPct val="0"/>
              </a:spcAft>
              <a:buClrTx/>
              <a:buSzTx/>
              <a:buFontTx/>
              <a:buNone/>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3</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）由真值表</a:t>
            </a:r>
            <a:r>
              <a:rPr lang="zh-CN" altLang="en-US" sz="1400" b="1"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rPr>
              <a:t>写出输出逻辑函数的表达式</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p>
            <a:pPr marL="444500" marR="0" lvl="0" indent="-444500" algn="l" defTabSz="914400" rtl="0" eaLnBrk="0" fontAlgn="base" latinLnBrk="0" hangingPunct="0">
              <a:lnSpc>
                <a:spcPct val="125000"/>
              </a:lnSpc>
              <a:spcBef>
                <a:spcPts val="600"/>
              </a:spcBef>
              <a:spcAft>
                <a:spcPct val="0"/>
              </a:spcAft>
              <a:buClrTx/>
              <a:buSzTx/>
              <a:buFontTx/>
              <a:buNone/>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4</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lang="zh-CN" altLang="en-US" sz="1400" b="1"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rPr>
              <a:t>对逻辑表达式进行化简</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，并在必要的情况下按要求进行变换，得到最简或满足设计要求的表达式。</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a:p>
            <a:pPr marL="444500" marR="0" lvl="0" indent="-444500" algn="l" defTabSz="914400" rtl="0" eaLnBrk="0" fontAlgn="base" latinLnBrk="0" hangingPunct="0">
              <a:lnSpc>
                <a:spcPct val="125000"/>
              </a:lnSpc>
              <a:spcBef>
                <a:spcPts val="600"/>
              </a:spcBef>
              <a:spcAft>
                <a:spcPct val="0"/>
              </a:spcAft>
              <a:buClrTx/>
              <a:buSzTx/>
              <a:buFontTx/>
              <a:buNone/>
            </a:pP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5</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）由化简或变换后的输出逻辑表达式</a:t>
            </a:r>
            <a:r>
              <a:rPr lang="zh-CN" altLang="en-US" sz="1400" b="1" dirty="0">
                <a:solidFill>
                  <a:srgbClr val="CC00CC"/>
                </a:solidFill>
                <a:latin typeface="微软雅黑" panose="020B0503020204020204" pitchFamily="34" charset="-122"/>
                <a:ea typeface="微软雅黑" panose="020B0503020204020204" pitchFamily="34" charset="-122"/>
                <a:cs typeface="Times New Roman" panose="02020603050405020304" pitchFamily="18" charset="0"/>
              </a:rPr>
              <a:t>画出对应的电路图</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p:txBody>
      </p:sp>
    </p:spTree>
  </p:cSld>
  <p:clrMapOvr>
    <a:masterClrMapping/>
  </p:clrMapOvr>
  <p:transition>
    <p:pull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000"/>
                                        <p:tgtEl>
                                          <p:spTgt spid="3"/>
                                        </p:tgtEl>
                                      </p:cBhvr>
                                    </p:animEffect>
                                  </p:childTnLst>
                                </p:cTn>
                              </p:par>
                            </p:childTnLst>
                          </p:cTn>
                        </p:par>
                        <p:par>
                          <p:cTn id="8" fill="hold">
                            <p:stCondLst>
                              <p:cond delay="1000"/>
                            </p:stCondLst>
                            <p:childTnLst>
                              <p:par>
                                <p:cTn id="9" presetID="22" presetClass="entr" presetSubtype="8"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wipe(left)">
                                      <p:cBhvr>
                                        <p:cTn id="11" dur="1000"/>
                                        <p:tgtEl>
                                          <p:spTgt spid="20"/>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8" fill="hold" nodeType="clickEffect">
                                  <p:stCondLst>
                                    <p:cond delay="0"/>
                                  </p:stCondLst>
                                  <p:childTnLst>
                                    <p:set>
                                      <p:cBhvr>
                                        <p:cTn id="15" dur="1" fill="hold">
                                          <p:stCondLst>
                                            <p:cond delay="0"/>
                                          </p:stCondLst>
                                        </p:cTn>
                                        <p:tgtEl>
                                          <p:spTgt spid="31"/>
                                        </p:tgtEl>
                                        <p:attrNameLst>
                                          <p:attrName>style.visibility</p:attrName>
                                        </p:attrNameLst>
                                      </p:cBhvr>
                                      <p:to>
                                        <p:strVal val="visible"/>
                                      </p:to>
                                    </p:set>
                                    <p:animEffect transition="in" filter="slide(fromLeft)">
                                      <p:cBhvr>
                                        <p:cTn id="16" dur="1000"/>
                                        <p:tgtEl>
                                          <p:spTgt spid="31"/>
                                        </p:tgtEl>
                                      </p:cBhvr>
                                    </p:animEffect>
                                  </p:childTnLst>
                                </p:cTn>
                              </p:par>
                            </p:childTnLst>
                          </p:cTn>
                        </p:par>
                        <p:par>
                          <p:cTn id="17" fill="hold">
                            <p:stCondLst>
                              <p:cond delay="1000"/>
                            </p:stCondLst>
                            <p:childTnLst>
                              <p:par>
                                <p:cTn id="18" presetID="12" presetClass="entr" presetSubtype="4" fill="hold" grpId="0" nodeType="afterEffect">
                                  <p:stCondLst>
                                    <p:cond delay="0"/>
                                  </p:stCondLst>
                                  <p:childTnLst>
                                    <p:set>
                                      <p:cBhvr>
                                        <p:cTn id="19" dur="1" fill="hold">
                                          <p:stCondLst>
                                            <p:cond delay="0"/>
                                          </p:stCondLst>
                                        </p:cTn>
                                        <p:tgtEl>
                                          <p:spTgt spid="36"/>
                                        </p:tgtEl>
                                        <p:attrNameLst>
                                          <p:attrName>style.visibility</p:attrName>
                                        </p:attrNameLst>
                                      </p:cBhvr>
                                      <p:to>
                                        <p:strVal val="visible"/>
                                      </p:to>
                                    </p:set>
                                    <p:animEffect transition="in" filter="slide(fromBottom)">
                                      <p:cBhvr>
                                        <p:cTn id="20"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组合 58"/>
          <p:cNvGrpSpPr/>
          <p:nvPr/>
        </p:nvGrpSpPr>
        <p:grpSpPr>
          <a:xfrm>
            <a:off x="6565371" y="2106110"/>
            <a:ext cx="2443280" cy="1508558"/>
            <a:chOff x="6217920" y="2633640"/>
            <a:chExt cx="2639833" cy="1738631"/>
          </a:xfrm>
        </p:grpSpPr>
        <p:sp>
          <p:nvSpPr>
            <p:cNvPr id="61" name="圆角矩形 60"/>
            <p:cNvSpPr/>
            <p:nvPr/>
          </p:nvSpPr>
          <p:spPr>
            <a:xfrm>
              <a:off x="6217920" y="2633640"/>
              <a:ext cx="2639833" cy="1738631"/>
            </a:xfrm>
            <a:prstGeom prst="roundRect">
              <a:avLst>
                <a:gd name="adj" fmla="val 4849"/>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连接符 62"/>
            <p:cNvCxnSpPr/>
            <p:nvPr/>
          </p:nvCxnSpPr>
          <p:spPr>
            <a:xfrm>
              <a:off x="6448196" y="3986831"/>
              <a:ext cx="792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5" name="矩形 64"/>
            <p:cNvSpPr/>
            <p:nvPr/>
          </p:nvSpPr>
          <p:spPr>
            <a:xfrm>
              <a:off x="6985198" y="3032050"/>
              <a:ext cx="345881" cy="367133"/>
            </a:xfrm>
            <a:prstGeom prst="rect">
              <a:avLst/>
            </a:prstGeom>
            <a:solidFill>
              <a:schemeClr val="accent4">
                <a:lumMod val="20000"/>
                <a:lumOff val="80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p:cNvSpPr/>
            <p:nvPr/>
          </p:nvSpPr>
          <p:spPr>
            <a:xfrm>
              <a:off x="7247592" y="3073194"/>
              <a:ext cx="170953" cy="1009816"/>
            </a:xfrm>
            <a:prstGeom prst="rect">
              <a:avLst/>
            </a:prstGeom>
            <a:solidFill>
              <a:schemeClr val="accent4">
                <a:lumMod val="20000"/>
                <a:lumOff val="80000"/>
              </a:schemeClr>
            </a:solidFill>
            <a:ln>
              <a:solidFill>
                <a:schemeClr val="accent4">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7" name="直接连接符 66"/>
            <p:cNvCxnSpPr/>
            <p:nvPr/>
          </p:nvCxnSpPr>
          <p:spPr>
            <a:xfrm>
              <a:off x="6448196" y="3397109"/>
              <a:ext cx="792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V="1">
              <a:off x="6760963" y="4247989"/>
              <a:ext cx="468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V="1">
              <a:off x="6987575" y="3619222"/>
              <a:ext cx="288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flipV="1">
              <a:off x="6987576" y="3625228"/>
              <a:ext cx="0" cy="360000"/>
            </a:xfrm>
            <a:prstGeom prst="line">
              <a:avLst/>
            </a:prstGeom>
            <a:solidFill>
              <a:schemeClr val="accent4">
                <a:lumMod val="20000"/>
                <a:lumOff val="80000"/>
              </a:schemeClr>
            </a:solid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a:off x="6760962" y="2778995"/>
              <a:ext cx="1135" cy="1476000"/>
            </a:xfrm>
            <a:prstGeom prst="line">
              <a:avLst/>
            </a:prstGeom>
            <a:solidFill>
              <a:schemeClr val="accent4">
                <a:lumMod val="20000"/>
                <a:lumOff val="80000"/>
              </a:schemeClr>
            </a:solid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6448196" y="2778732"/>
              <a:ext cx="792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6" name="Rectangle 7"/>
            <p:cNvSpPr>
              <a:spLocks noChangeArrowheads="1"/>
            </p:cNvSpPr>
            <p:nvPr/>
          </p:nvSpPr>
          <p:spPr bwMode="auto">
            <a:xfrm>
              <a:off x="7191425" y="3267968"/>
              <a:ext cx="282056" cy="470666"/>
            </a:xfrm>
            <a:prstGeom prst="rect">
              <a:avLst/>
            </a:prstGeom>
            <a:solidFill>
              <a:srgbClr val="FFFF00"/>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94" name="Rectangle 7"/>
            <p:cNvSpPr>
              <a:spLocks noChangeArrowheads="1"/>
            </p:cNvSpPr>
            <p:nvPr/>
          </p:nvSpPr>
          <p:spPr bwMode="auto">
            <a:xfrm>
              <a:off x="7207844" y="3840219"/>
              <a:ext cx="282056" cy="470666"/>
            </a:xfrm>
            <a:prstGeom prst="rect">
              <a:avLst/>
            </a:prstGeom>
            <a:solidFill>
              <a:srgbClr val="FFFF00"/>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92" name="Rectangle 7"/>
            <p:cNvSpPr>
              <a:spLocks noChangeArrowheads="1"/>
            </p:cNvSpPr>
            <p:nvPr/>
          </p:nvSpPr>
          <p:spPr bwMode="auto">
            <a:xfrm>
              <a:off x="7191425" y="2699692"/>
              <a:ext cx="282056" cy="470666"/>
            </a:xfrm>
            <a:prstGeom prst="rect">
              <a:avLst/>
            </a:prstGeom>
            <a:solidFill>
              <a:srgbClr val="FFFF00"/>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cxnSp>
          <p:nvCxnSpPr>
            <p:cNvPr id="80" name="肘形连接符 79"/>
            <p:cNvCxnSpPr>
              <a:stCxn id="92" idx="3"/>
            </p:cNvCxnSpPr>
            <p:nvPr/>
          </p:nvCxnSpPr>
          <p:spPr>
            <a:xfrm>
              <a:off x="7473481" y="2935025"/>
              <a:ext cx="509629" cy="416449"/>
            </a:xfrm>
            <a:prstGeom prst="bentConnector3">
              <a:avLst>
                <a:gd name="adj1" fmla="val 50000"/>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a:stCxn id="96" idx="3"/>
            </p:cNvCxnSpPr>
            <p:nvPr/>
          </p:nvCxnSpPr>
          <p:spPr>
            <a:xfrm flipV="1">
              <a:off x="7473481" y="3491584"/>
              <a:ext cx="1173379"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6359219" y="2674429"/>
              <a:ext cx="200622" cy="1436291"/>
            </a:xfrm>
            <a:prstGeom prst="rect">
              <a:avLst/>
            </a:prstGeom>
            <a:solidFill>
              <a:schemeClr val="accent4">
                <a:lumMod val="20000"/>
                <a:lumOff val="80000"/>
              </a:schemeClr>
            </a:solidFill>
          </p:spPr>
          <p:txBody>
            <a:bodyPr wrap="square" lIns="0" tIns="0" rIns="0" bIns="0" rtlCol="0">
              <a:spAutoFit/>
            </a:bodyPr>
            <a:lstStyle/>
            <a:p>
              <a:pPr>
                <a:lnSpc>
                  <a:spcPts val="1600"/>
                </a:lnSpc>
              </a:pPr>
              <a:r>
                <a:rPr lang="en-US" altLang="zh-CN" sz="1400" b="1" i="1" dirty="0">
                  <a:latin typeface="Times New Roman" panose="02020603050405020304" pitchFamily="18" charset="0"/>
                  <a:cs typeface="Times New Roman" panose="02020603050405020304" pitchFamily="18" charset="0"/>
                </a:rPr>
                <a:t>A</a:t>
              </a:r>
              <a:endParaRPr lang="en-US" altLang="zh-CN" sz="1400" b="1" i="1" dirty="0">
                <a:latin typeface="Times New Roman" panose="02020603050405020304" pitchFamily="18" charset="0"/>
                <a:cs typeface="Times New Roman" panose="02020603050405020304" pitchFamily="18" charset="0"/>
              </a:endParaRPr>
            </a:p>
            <a:p>
              <a:pPr>
                <a:lnSpc>
                  <a:spcPts val="1600"/>
                </a:lnSpc>
              </a:pPr>
              <a:endParaRPr lang="en-US" altLang="zh-CN" sz="1400" b="1" i="1" dirty="0">
                <a:latin typeface="Times New Roman" panose="02020603050405020304" pitchFamily="18" charset="0"/>
                <a:cs typeface="Times New Roman" panose="02020603050405020304" pitchFamily="18" charset="0"/>
              </a:endParaRPr>
            </a:p>
            <a:p>
              <a:pPr>
                <a:lnSpc>
                  <a:spcPts val="1600"/>
                </a:lnSpc>
              </a:pPr>
              <a:endParaRPr lang="en-US" altLang="zh-CN" sz="1400" b="1" i="1" dirty="0">
                <a:latin typeface="Times New Roman" panose="02020603050405020304" pitchFamily="18" charset="0"/>
                <a:cs typeface="Times New Roman" panose="02020603050405020304" pitchFamily="18" charset="0"/>
              </a:endParaRPr>
            </a:p>
            <a:p>
              <a:pPr>
                <a:lnSpc>
                  <a:spcPts val="1600"/>
                </a:lnSpc>
              </a:pPr>
              <a:r>
                <a:rPr lang="en-US" altLang="zh-CN" sz="1400" b="1" i="1" dirty="0">
                  <a:latin typeface="Times New Roman" panose="02020603050405020304" pitchFamily="18" charset="0"/>
                  <a:cs typeface="Times New Roman" panose="02020603050405020304" pitchFamily="18" charset="0"/>
                </a:rPr>
                <a:t>B</a:t>
              </a:r>
              <a:endParaRPr lang="en-US" altLang="zh-CN" sz="1400" b="1" i="1" dirty="0">
                <a:latin typeface="Times New Roman" panose="02020603050405020304" pitchFamily="18" charset="0"/>
                <a:cs typeface="Times New Roman" panose="02020603050405020304" pitchFamily="18" charset="0"/>
              </a:endParaRPr>
            </a:p>
            <a:p>
              <a:pPr>
                <a:lnSpc>
                  <a:spcPts val="1600"/>
                </a:lnSpc>
              </a:pPr>
              <a:endParaRPr lang="en-US" altLang="zh-CN" sz="1400" b="1" i="1" dirty="0">
                <a:latin typeface="Times New Roman" panose="02020603050405020304" pitchFamily="18" charset="0"/>
                <a:cs typeface="Times New Roman" panose="02020603050405020304" pitchFamily="18" charset="0"/>
              </a:endParaRPr>
            </a:p>
            <a:p>
              <a:pPr>
                <a:lnSpc>
                  <a:spcPts val="1600"/>
                </a:lnSpc>
              </a:pPr>
              <a:endParaRPr lang="en-US" altLang="zh-CN" sz="1400" b="1" i="1" dirty="0">
                <a:latin typeface="Times New Roman" panose="02020603050405020304" pitchFamily="18" charset="0"/>
                <a:cs typeface="Times New Roman" panose="02020603050405020304" pitchFamily="18" charset="0"/>
              </a:endParaRPr>
            </a:p>
            <a:p>
              <a:pPr>
                <a:lnSpc>
                  <a:spcPts val="1600"/>
                </a:lnSpc>
              </a:pPr>
              <a:r>
                <a:rPr lang="en-US" altLang="zh-CN" sz="1400" b="1" i="1" dirty="0">
                  <a:latin typeface="Times New Roman" panose="02020603050405020304" pitchFamily="18" charset="0"/>
                  <a:cs typeface="Times New Roman" panose="02020603050405020304" pitchFamily="18" charset="0"/>
                </a:rPr>
                <a:t>C</a:t>
              </a:r>
              <a:endParaRPr lang="en-US" altLang="zh-CN" sz="1400" b="1" i="1" dirty="0">
                <a:latin typeface="Times New Roman" panose="02020603050405020304" pitchFamily="18" charset="0"/>
                <a:cs typeface="Times New Roman" panose="02020603050405020304" pitchFamily="18" charset="0"/>
              </a:endParaRPr>
            </a:p>
          </p:txBody>
        </p:sp>
        <p:sp>
          <p:nvSpPr>
            <p:cNvPr id="86" name="TextBox 85"/>
            <p:cNvSpPr txBox="1"/>
            <p:nvPr/>
          </p:nvSpPr>
          <p:spPr>
            <a:xfrm>
              <a:off x="8555677" y="3325664"/>
              <a:ext cx="293670" cy="317203"/>
            </a:xfrm>
            <a:prstGeom prst="rect">
              <a:avLst/>
            </a:prstGeom>
            <a:solidFill>
              <a:schemeClr val="accent4">
                <a:lumMod val="20000"/>
                <a:lumOff val="80000"/>
              </a:schemeClr>
            </a:solidFill>
          </p:spPr>
          <p:txBody>
            <a:bodyPr wrap="none" rtlCol="0">
              <a:spAutoFit/>
            </a:bodyPr>
            <a:lstStyle/>
            <a:p>
              <a:pPr>
                <a:lnSpc>
                  <a:spcPts val="1900"/>
                </a:lnSpc>
              </a:pPr>
              <a:r>
                <a:rPr lang="en-US" altLang="zh-CN" sz="1400" b="1" i="1" dirty="0">
                  <a:latin typeface="Times New Roman" panose="02020603050405020304" pitchFamily="18" charset="0"/>
                  <a:cs typeface="Times New Roman" panose="02020603050405020304" pitchFamily="18" charset="0"/>
                </a:rPr>
                <a:t>L</a:t>
              </a:r>
              <a:endParaRPr lang="zh-CN" altLang="en-US" sz="1400" b="1" i="1" dirty="0">
                <a:latin typeface="Times New Roman" panose="02020603050405020304" pitchFamily="18" charset="0"/>
                <a:cs typeface="Times New Roman" panose="02020603050405020304" pitchFamily="18" charset="0"/>
              </a:endParaRPr>
            </a:p>
          </p:txBody>
        </p:sp>
        <p:cxnSp>
          <p:nvCxnSpPr>
            <p:cNvPr id="87" name="直接连接符 86"/>
            <p:cNvCxnSpPr/>
            <p:nvPr/>
          </p:nvCxnSpPr>
          <p:spPr>
            <a:xfrm flipV="1">
              <a:off x="6985123" y="3116913"/>
              <a:ext cx="98" cy="277319"/>
            </a:xfrm>
            <a:prstGeom prst="line">
              <a:avLst/>
            </a:prstGeom>
            <a:solidFill>
              <a:schemeClr val="accent4">
                <a:lumMod val="20000"/>
                <a:lumOff val="80000"/>
              </a:schemeClr>
            </a:solid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88" name="肘形连接符 87"/>
            <p:cNvCxnSpPr/>
            <p:nvPr/>
          </p:nvCxnSpPr>
          <p:spPr>
            <a:xfrm flipV="1">
              <a:off x="7510827" y="3632964"/>
              <a:ext cx="485535" cy="424949"/>
            </a:xfrm>
            <a:prstGeom prst="bentConnector3">
              <a:avLst>
                <a:gd name="adj1" fmla="val 50000"/>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1" name="Rectangle 7"/>
            <p:cNvSpPr>
              <a:spLocks noChangeArrowheads="1"/>
            </p:cNvSpPr>
            <p:nvPr/>
          </p:nvSpPr>
          <p:spPr bwMode="auto">
            <a:xfrm>
              <a:off x="7974085" y="3267968"/>
              <a:ext cx="282056" cy="470666"/>
            </a:xfrm>
            <a:prstGeom prst="rect">
              <a:avLst/>
            </a:prstGeom>
            <a:solidFill>
              <a:srgbClr val="66FF66"/>
            </a:solidFill>
            <a:ln w="28575">
              <a:solidFill>
                <a:srgbClr val="000000"/>
              </a:solidFill>
              <a:miter lim="800000"/>
            </a:ln>
            <a:effectLst/>
          </p:spPr>
          <p:txBody>
            <a:bodyPr vert="horz" wrap="square" lIns="0" tIns="0" rIns="0" bIns="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200" b="1" dirty="0">
                  <a:latin typeface="+mn-ea"/>
                  <a:cs typeface="Times New Roman" panose="02020603050405020304" pitchFamily="18" charset="0"/>
                </a:rPr>
                <a:t>≥</a:t>
              </a:r>
              <a:r>
                <a:rPr lang="en-US" altLang="zh-CN" sz="1400" b="1" dirty="0">
                  <a:latin typeface="Times New Roman" panose="02020603050405020304" pitchFamily="18" charset="0"/>
                  <a:ea typeface="楷体_GB2312" pitchFamily="49" charset="-122"/>
                  <a:cs typeface="Times New Roman" panose="02020603050405020304" pitchFamily="18" charset="0"/>
                </a:rPr>
                <a:t>1</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grpSp>
      <p:grpSp>
        <p:nvGrpSpPr>
          <p:cNvPr id="38" name="组合 37"/>
          <p:cNvGrpSpPr/>
          <p:nvPr/>
        </p:nvGrpSpPr>
        <p:grpSpPr>
          <a:xfrm>
            <a:off x="344806" y="722299"/>
            <a:ext cx="3114144" cy="420971"/>
            <a:chOff x="670560" y="892917"/>
            <a:chExt cx="3114144" cy="420971"/>
          </a:xfrm>
        </p:grpSpPr>
        <p:sp>
          <p:nvSpPr>
            <p:cNvPr id="40" name="矩形 39"/>
            <p:cNvSpPr/>
            <p:nvPr/>
          </p:nvSpPr>
          <p:spPr>
            <a:xfrm>
              <a:off x="1035233" y="913778"/>
              <a:ext cx="2749471"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组合逻辑电路设计实例</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48" name="组合 47"/>
          <p:cNvGrpSpPr/>
          <p:nvPr/>
        </p:nvGrpSpPr>
        <p:grpSpPr>
          <a:xfrm>
            <a:off x="369777" y="1200648"/>
            <a:ext cx="7060718" cy="374630"/>
            <a:chOff x="369777" y="1200648"/>
            <a:chExt cx="7060718" cy="374630"/>
          </a:xfrm>
        </p:grpSpPr>
        <p:sp>
          <p:nvSpPr>
            <p:cNvPr id="51" name="TextBox 50"/>
            <p:cNvSpPr txBox="1"/>
            <p:nvPr/>
          </p:nvSpPr>
          <p:spPr>
            <a:xfrm>
              <a:off x="723711" y="1227150"/>
              <a:ext cx="6706784" cy="338554"/>
            </a:xfrm>
            <a:prstGeom prst="rect">
              <a:avLst/>
            </a:prstGeom>
            <a:noFill/>
          </p:spPr>
          <p:txBody>
            <a:bodyPr wrap="square" rtlCol="0">
              <a:spAutoFit/>
            </a:bodyPr>
            <a:lstStyle/>
            <a:p>
              <a:pPr marL="536575" indent="-575945"/>
              <a:r>
                <a:rPr lang="zh-CN" altLang="en-US" sz="1600" b="1" dirty="0">
                  <a:solidFill>
                    <a:srgbClr val="CC00CC"/>
                  </a:solidFill>
                  <a:latin typeface="黑体" panose="02010609060101010101" pitchFamily="49" charset="-122"/>
                  <a:ea typeface="黑体" panose="02010609060101010101" pitchFamily="49" charset="-122"/>
                </a:rPr>
                <a:t>例</a:t>
              </a:r>
              <a:r>
                <a:rPr lang="en-US" altLang="zh-CN" sz="1600" b="1" dirty="0">
                  <a:solidFill>
                    <a:srgbClr val="CC00CC"/>
                  </a:solidFill>
                  <a:latin typeface="黑体" panose="02010609060101010101" pitchFamily="49" charset="-122"/>
                  <a:ea typeface="黑体" panose="02010609060101010101" pitchFamily="49" charset="-122"/>
                </a:rPr>
                <a:t>1</a:t>
              </a:r>
              <a:r>
                <a:rPr lang="zh-CN" altLang="en-US" sz="1600" b="1" dirty="0">
                  <a:solidFill>
                    <a:srgbClr val="CC00CC"/>
                  </a:solidFill>
                  <a:latin typeface="黑体" panose="02010609060101010101" pitchFamily="49" charset="-122"/>
                  <a:ea typeface="黑体" panose="02010609060101010101" pitchFamily="49" charset="-122"/>
                </a:rPr>
                <a:t>：</a:t>
              </a:r>
              <a:r>
                <a:rPr lang="zh-CN" altLang="en-US" sz="1600" b="1" dirty="0">
                  <a:latin typeface="黑体" panose="02010609060101010101" pitchFamily="49" charset="-122"/>
                  <a:ea typeface="黑体" panose="02010609060101010101" pitchFamily="49" charset="-122"/>
                </a:rPr>
                <a:t>设计一个三变量“</a:t>
              </a:r>
              <a:r>
                <a:rPr lang="zh-CN" altLang="en-US" sz="1600" b="1" dirty="0">
                  <a:solidFill>
                    <a:srgbClr val="CC00CC"/>
                  </a:solidFill>
                  <a:latin typeface="黑体" panose="02010609060101010101" pitchFamily="49" charset="-122"/>
                  <a:ea typeface="黑体" panose="02010609060101010101" pitchFamily="49" charset="-122"/>
                </a:rPr>
                <a:t>多数表决电路</a:t>
              </a:r>
              <a:r>
                <a:rPr lang="zh-CN" altLang="en-US" sz="1600" b="1" dirty="0">
                  <a:latin typeface="黑体" panose="02010609060101010101" pitchFamily="49" charset="-122"/>
                  <a:ea typeface="黑体" panose="02010609060101010101" pitchFamily="49" charset="-122"/>
                </a:rPr>
                <a:t>”，要求用</a:t>
              </a:r>
              <a:r>
                <a:rPr lang="zh-CN" altLang="en-US" sz="1600" b="1" dirty="0">
                  <a:solidFill>
                    <a:srgbClr val="CC00CC"/>
                  </a:solidFill>
                  <a:latin typeface="黑体" panose="02010609060101010101" pitchFamily="49" charset="-122"/>
                  <a:ea typeface="黑体" panose="02010609060101010101" pitchFamily="49" charset="-122"/>
                </a:rPr>
                <a:t>与非门</a:t>
              </a:r>
              <a:r>
                <a:rPr lang="zh-CN" altLang="en-US" sz="1600" b="1" dirty="0">
                  <a:latin typeface="黑体" panose="02010609060101010101" pitchFamily="49" charset="-122"/>
                  <a:ea typeface="黑体" panose="02010609060101010101" pitchFamily="49" charset="-122"/>
                </a:rPr>
                <a:t>实现。</a:t>
              </a:r>
              <a:endParaRPr lang="zh-CN" altLang="en-US" sz="1600" b="1" dirty="0">
                <a:solidFill>
                  <a:srgbClr val="6600FF"/>
                </a:solidFill>
                <a:latin typeface="黑体" panose="02010609060101010101" pitchFamily="49" charset="-122"/>
                <a:ea typeface="黑体" panose="02010609060101010101" pitchFamily="49" charset="-122"/>
              </a:endParaRPr>
            </a:p>
          </p:txBody>
        </p:sp>
        <p:pic>
          <p:nvPicPr>
            <p:cNvPr id="1028" name="Picture 4"/>
            <p:cNvPicPr>
              <a:picLocks noChangeAspect="1" noChangeArrowheads="1"/>
            </p:cNvPicPr>
            <p:nvPr/>
          </p:nvPicPr>
          <p:blipFill>
            <a:blip r:embed="rId2" cstate="print"/>
            <a:srcRect/>
            <a:stretch>
              <a:fillRect/>
            </a:stretch>
          </p:blipFill>
          <p:spPr bwMode="auto">
            <a:xfrm>
              <a:off x="369777" y="1200648"/>
              <a:ext cx="373669" cy="374630"/>
            </a:xfrm>
            <a:prstGeom prst="rect">
              <a:avLst/>
            </a:prstGeom>
            <a:noFill/>
            <a:ln w="9525">
              <a:noFill/>
              <a:miter lim="800000"/>
              <a:headEnd/>
              <a:tailEnd/>
            </a:ln>
          </p:spPr>
        </p:pic>
      </p:grpSp>
      <p:grpSp>
        <p:nvGrpSpPr>
          <p:cNvPr id="49" name="组合 87"/>
          <p:cNvGrpSpPr/>
          <p:nvPr/>
        </p:nvGrpSpPr>
        <p:grpSpPr>
          <a:xfrm>
            <a:off x="394932" y="1649144"/>
            <a:ext cx="837560" cy="369332"/>
            <a:chOff x="4330854" y="1354964"/>
            <a:chExt cx="837560" cy="369332"/>
          </a:xfrm>
        </p:grpSpPr>
        <p:sp>
          <p:nvSpPr>
            <p:cNvPr id="52" name="矩形 51"/>
            <p:cNvSpPr/>
            <p:nvPr/>
          </p:nvSpPr>
          <p:spPr>
            <a:xfrm>
              <a:off x="4637499" y="1354964"/>
              <a:ext cx="530915" cy="369332"/>
            </a:xfrm>
            <a:prstGeom prst="rect">
              <a:avLst/>
            </a:prstGeom>
          </p:spPr>
          <p:txBody>
            <a:bodyPr wrap="none">
              <a:spAutoFit/>
            </a:bodyPr>
            <a:lstStyle/>
            <a:p>
              <a:r>
                <a:rPr lang="zh-CN" altLang="en-US" b="1" dirty="0">
                  <a:solidFill>
                    <a:srgbClr val="CC00CC"/>
                  </a:solidFill>
                  <a:latin typeface="黑体" panose="02010609060101010101" pitchFamily="49" charset="-122"/>
                  <a:ea typeface="黑体" panose="02010609060101010101" pitchFamily="49" charset="-122"/>
                </a:rPr>
                <a:t>解</a:t>
              </a:r>
              <a:r>
                <a:rPr lang="en-US" altLang="zh-CN" b="1" dirty="0">
                  <a:solidFill>
                    <a:srgbClr val="CC00CC"/>
                  </a:solidFill>
                  <a:latin typeface="黑体" panose="02010609060101010101" pitchFamily="49" charset="-122"/>
                  <a:ea typeface="黑体" panose="02010609060101010101" pitchFamily="49" charset="-122"/>
                  <a:sym typeface="Wingdings" panose="05000000000000000000" pitchFamily="2" charset="2"/>
                </a:rPr>
                <a:t>:</a:t>
              </a:r>
              <a:endParaRPr lang="zh-CN" altLang="en-US" b="1" dirty="0">
                <a:solidFill>
                  <a:srgbClr val="CC00CC"/>
                </a:solidFill>
                <a:latin typeface="黑体" panose="02010609060101010101" pitchFamily="49" charset="-122"/>
                <a:ea typeface="黑体" panose="02010609060101010101" pitchFamily="49" charset="-122"/>
              </a:endParaRPr>
            </a:p>
          </p:txBody>
        </p:sp>
        <p:pic>
          <p:nvPicPr>
            <p:cNvPr id="53" name="Picture 5"/>
            <p:cNvPicPr>
              <a:picLocks noChangeAspect="1" noChangeArrowheads="1"/>
            </p:cNvPicPr>
            <p:nvPr/>
          </p:nvPicPr>
          <p:blipFill>
            <a:blip r:embed="rId3" cstate="print"/>
            <a:srcRect/>
            <a:stretch>
              <a:fillRect/>
            </a:stretch>
          </p:blipFill>
          <p:spPr bwMode="auto">
            <a:xfrm>
              <a:off x="4330854" y="1369617"/>
              <a:ext cx="348489" cy="340027"/>
            </a:xfrm>
            <a:prstGeom prst="rect">
              <a:avLst/>
            </a:prstGeom>
            <a:noFill/>
            <a:ln w="9525">
              <a:noFill/>
              <a:miter lim="800000"/>
              <a:headEnd/>
              <a:tailEnd/>
            </a:ln>
          </p:spPr>
        </p:pic>
      </p:grpSp>
      <p:sp>
        <p:nvSpPr>
          <p:cNvPr id="54" name="矩形 53"/>
          <p:cNvSpPr/>
          <p:nvPr/>
        </p:nvSpPr>
        <p:spPr>
          <a:xfrm>
            <a:off x="1135134" y="1710690"/>
            <a:ext cx="4597755" cy="605294"/>
          </a:xfrm>
          <a:prstGeom prst="rect">
            <a:avLst/>
          </a:prstGeom>
        </p:spPr>
        <p:txBody>
          <a:bodyPr wrap="square">
            <a:spAutoFit/>
          </a:bodyPr>
          <a:lstStyle/>
          <a:p>
            <a:pPr marL="444500" indent="-444500">
              <a:lnSpc>
                <a:spcPts val="2000"/>
              </a:lnSpc>
            </a:pPr>
            <a:r>
              <a:rPr lang="zh-CN" altLang="zh-CN" sz="1400" b="1" dirty="0">
                <a:solidFill>
                  <a:srgbClr val="6600FF"/>
                </a:solidFill>
                <a:latin typeface="黑体" panose="02010609060101010101" pitchFamily="49" charset="-122"/>
                <a:ea typeface="黑体" panose="02010609060101010101" pitchFamily="49" charset="-122"/>
              </a:rPr>
              <a:t>（</a:t>
            </a:r>
            <a:r>
              <a:rPr lang="en-US" altLang="zh-CN" sz="1400" b="1" dirty="0">
                <a:solidFill>
                  <a:srgbClr val="6600FF"/>
                </a:solidFill>
                <a:latin typeface="黑体" panose="02010609060101010101" pitchFamily="49" charset="-122"/>
                <a:ea typeface="黑体" panose="02010609060101010101" pitchFamily="49" charset="-122"/>
              </a:rPr>
              <a:t>1</a:t>
            </a:r>
            <a:r>
              <a:rPr lang="zh-CN" altLang="en-US" sz="1400" b="1" dirty="0">
                <a:solidFill>
                  <a:srgbClr val="6600FF"/>
                </a:solidFill>
                <a:latin typeface="黑体" panose="02010609060101010101" pitchFamily="49" charset="-122"/>
                <a:ea typeface="黑体" panose="02010609060101010101" pitchFamily="49" charset="-122"/>
              </a:rPr>
              <a:t>）逻辑抽象</a:t>
            </a:r>
            <a:r>
              <a:rPr lang="en-US" altLang="zh-CN" sz="1400" b="1" dirty="0">
                <a:solidFill>
                  <a:srgbClr val="6600FF"/>
                </a:solidFill>
                <a:latin typeface="黑体" panose="02010609060101010101" pitchFamily="49" charset="-122"/>
                <a:ea typeface="黑体" panose="02010609060101010101" pitchFamily="49" charset="-122"/>
              </a:rPr>
              <a:t>:</a:t>
            </a:r>
            <a:r>
              <a:rPr lang="zh-CN" altLang="en-US" sz="1400" b="1" dirty="0">
                <a:solidFill>
                  <a:schemeClr val="tx1">
                    <a:lumMod val="95000"/>
                    <a:lumOff val="5000"/>
                  </a:schemeClr>
                </a:solidFill>
                <a:latin typeface="黑体" panose="02010609060101010101" pitchFamily="49" charset="-122"/>
                <a:ea typeface="黑体" panose="02010609060101010101" pitchFamily="49" charset="-122"/>
              </a:rPr>
              <a:t>设输入三个变量分别为</a:t>
            </a:r>
            <a:r>
              <a:rPr lang="en-US" altLang="zh-CN" sz="1400" b="1" i="1" dirty="0">
                <a:solidFill>
                  <a:schemeClr val="tx1">
                    <a:lumMod val="95000"/>
                    <a:lumOff val="5000"/>
                  </a:schemeClr>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1400" b="1" dirty="0">
                <a:solidFill>
                  <a:schemeClr val="tx1">
                    <a:lumMod val="95000"/>
                    <a:lumOff val="5000"/>
                  </a:schemeClr>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400" b="1" i="1" dirty="0">
                <a:solidFill>
                  <a:schemeClr val="tx1">
                    <a:lumMod val="95000"/>
                    <a:lumOff val="5000"/>
                  </a:schemeClr>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en-US" sz="1400" b="1" dirty="0">
                <a:solidFill>
                  <a:schemeClr val="tx1">
                    <a:lumMod val="95000"/>
                    <a:lumOff val="5000"/>
                  </a:schemeClr>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400" b="1" i="1" dirty="0">
                <a:solidFill>
                  <a:schemeClr val="tx1">
                    <a:lumMod val="95000"/>
                    <a:lumOff val="5000"/>
                  </a:schemeClr>
                </a:solidFill>
                <a:latin typeface="Times New Roman" panose="02020603050405020304" pitchFamily="18" charset="0"/>
                <a:ea typeface="黑体" panose="02010609060101010101" pitchFamily="49" charset="-122"/>
                <a:cs typeface="Times New Roman" panose="02020603050405020304" pitchFamily="18" charset="0"/>
              </a:rPr>
              <a:t>C</a:t>
            </a:r>
            <a:r>
              <a:rPr lang="zh-CN" altLang="en-US" sz="1400" b="1" dirty="0">
                <a:solidFill>
                  <a:schemeClr val="tx1">
                    <a:lumMod val="95000"/>
                    <a:lumOff val="5000"/>
                  </a:schemeClr>
                </a:solidFill>
                <a:latin typeface="Times New Roman" panose="02020603050405020304" pitchFamily="18" charset="0"/>
                <a:ea typeface="黑体" panose="02010609060101010101" pitchFamily="49" charset="-122"/>
                <a:cs typeface="Times New Roman" panose="02020603050405020304" pitchFamily="18" charset="0"/>
              </a:rPr>
              <a:t>，输出为</a:t>
            </a:r>
            <a:r>
              <a:rPr lang="en-US" altLang="zh-CN" sz="1400" b="1" i="1" dirty="0">
                <a:solidFill>
                  <a:schemeClr val="tx1">
                    <a:lumMod val="95000"/>
                    <a:lumOff val="5000"/>
                  </a:schemeClr>
                </a:solidFill>
                <a:latin typeface="Times New Roman" panose="02020603050405020304" pitchFamily="18" charset="0"/>
                <a:ea typeface="黑体" panose="02010609060101010101" pitchFamily="49" charset="-122"/>
                <a:cs typeface="Times New Roman" panose="02020603050405020304" pitchFamily="18" charset="0"/>
              </a:rPr>
              <a:t>L</a:t>
            </a:r>
            <a:r>
              <a:rPr lang="zh-CN" altLang="en-US" sz="1400" b="1" dirty="0">
                <a:solidFill>
                  <a:schemeClr val="tx1">
                    <a:lumMod val="95000"/>
                    <a:lumOff val="5000"/>
                  </a:schemeClr>
                </a:solidFill>
                <a:latin typeface="黑体" panose="02010609060101010101" pitchFamily="49" charset="-122"/>
                <a:ea typeface="黑体" panose="02010609060101010101" pitchFamily="49" charset="-122"/>
              </a:rPr>
              <a:t>，表决通过为逻辑“</a:t>
            </a:r>
            <a:r>
              <a:rPr lang="en-US" altLang="zh-CN" sz="1400" b="1" dirty="0">
                <a:solidFill>
                  <a:schemeClr val="tx1">
                    <a:lumMod val="95000"/>
                    <a:lumOff val="5000"/>
                  </a:schemeClr>
                </a:solidFill>
                <a:latin typeface="黑体" panose="02010609060101010101" pitchFamily="49" charset="-122"/>
                <a:ea typeface="黑体" panose="02010609060101010101" pitchFamily="49" charset="-122"/>
              </a:rPr>
              <a:t>1</a:t>
            </a:r>
            <a:r>
              <a:rPr lang="zh-CN" altLang="en-US" sz="1400" b="1" dirty="0">
                <a:solidFill>
                  <a:schemeClr val="tx1">
                    <a:lumMod val="95000"/>
                    <a:lumOff val="5000"/>
                  </a:schemeClr>
                </a:solidFill>
                <a:latin typeface="黑体" panose="02010609060101010101" pitchFamily="49" charset="-122"/>
                <a:ea typeface="黑体" panose="02010609060101010101" pitchFamily="49" charset="-122"/>
              </a:rPr>
              <a:t>”，不通过为逻辑“</a:t>
            </a:r>
            <a:r>
              <a:rPr lang="en-US" altLang="zh-CN" sz="1400" b="1" dirty="0">
                <a:solidFill>
                  <a:schemeClr val="tx1">
                    <a:lumMod val="95000"/>
                    <a:lumOff val="5000"/>
                  </a:schemeClr>
                </a:solidFill>
                <a:latin typeface="黑体" panose="02010609060101010101" pitchFamily="49" charset="-122"/>
                <a:ea typeface="黑体" panose="02010609060101010101" pitchFamily="49" charset="-122"/>
              </a:rPr>
              <a:t>0</a:t>
            </a:r>
            <a:r>
              <a:rPr lang="zh-CN" altLang="en-US" sz="1400" b="1" dirty="0">
                <a:solidFill>
                  <a:schemeClr val="tx1">
                    <a:lumMod val="95000"/>
                    <a:lumOff val="5000"/>
                  </a:schemeClr>
                </a:solidFill>
                <a:latin typeface="黑体" panose="02010609060101010101" pitchFamily="49" charset="-122"/>
                <a:ea typeface="黑体" panose="02010609060101010101" pitchFamily="49" charset="-122"/>
              </a:rPr>
              <a:t>”。</a:t>
            </a:r>
            <a:endParaRPr lang="zh-CN" altLang="en-US" sz="1400" b="1" dirty="0">
              <a:solidFill>
                <a:schemeClr val="tx1">
                  <a:lumMod val="95000"/>
                  <a:lumOff val="5000"/>
                </a:schemeClr>
              </a:solidFill>
            </a:endParaRPr>
          </a:p>
        </p:txBody>
      </p:sp>
      <p:sp>
        <p:nvSpPr>
          <p:cNvPr id="55" name="圆角矩形 54"/>
          <p:cNvSpPr/>
          <p:nvPr/>
        </p:nvSpPr>
        <p:spPr>
          <a:xfrm>
            <a:off x="379840" y="2840638"/>
            <a:ext cx="1856630" cy="2138914"/>
          </a:xfrm>
          <a:prstGeom prst="roundRect">
            <a:avLst>
              <a:gd name="adj" fmla="val 4461"/>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6" name="表格 55"/>
          <p:cNvGraphicFramePr>
            <a:graphicFrameLocks noGrp="1"/>
          </p:cNvGraphicFramePr>
          <p:nvPr/>
        </p:nvGraphicFramePr>
        <p:xfrm>
          <a:off x="492486" y="2948531"/>
          <a:ext cx="1628691" cy="1947532"/>
        </p:xfrm>
        <a:graphic>
          <a:graphicData uri="http://schemas.openxmlformats.org/drawingml/2006/table">
            <a:tbl>
              <a:tblPr firstRow="1" bandRow="1">
                <a:tableStyleId>{5C22544A-7EE6-4342-B048-85BDC9FD1C3A}</a:tableStyleId>
              </a:tblPr>
              <a:tblGrid>
                <a:gridCol w="1195346"/>
                <a:gridCol w="433345"/>
              </a:tblGrid>
              <a:tr h="214133">
                <a:tc>
                  <a:txBody>
                    <a:bodyPr/>
                    <a:lstStyle/>
                    <a:p>
                      <a:pPr algn="ctr">
                        <a:lnSpc>
                          <a:spcPts val="1200"/>
                        </a:lnSpc>
                      </a:pPr>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0" dirty="0">
                          <a:solidFill>
                            <a:schemeClr val="tx1"/>
                          </a:solidFill>
                          <a:latin typeface="Times New Roman" panose="02020603050405020304" pitchFamily="18" charset="0"/>
                          <a:cs typeface="Times New Roman" panose="02020603050405020304" pitchFamily="18" charset="0"/>
                        </a:rPr>
                        <a:t>     B     C</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0" marR="0" marT="0" marB="0" anchor="b">
                    <a:lnL w="19050" cap="flat" cmpd="sng" algn="ctr">
                      <a:no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ts val="1200"/>
                        </a:lnSpc>
                      </a:pPr>
                      <a:r>
                        <a:rPr lang="en-US" altLang="zh-CN" sz="1400" b="1" i="1" dirty="0">
                          <a:solidFill>
                            <a:schemeClr val="tx1"/>
                          </a:solidFill>
                          <a:latin typeface="Times New Roman" panose="02020603050405020304" pitchFamily="18" charset="0"/>
                          <a:cs typeface="Times New Roman" panose="02020603050405020304" pitchFamily="18" charset="0"/>
                        </a:rPr>
                        <a:t>L</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0" marR="0" marT="0" marB="0" anchor="b">
                    <a:lnL w="19050" cap="flat" cmpd="sng" algn="ctr">
                      <a:solidFill>
                        <a:schemeClr val="accent5"/>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733399">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zh-CN" altLang="en-US" sz="1400" b="1" dirty="0">
                        <a:solidFill>
                          <a:schemeClr val="tx1"/>
                        </a:solidFill>
                        <a:latin typeface="Times New Roman" panose="02020603050405020304" pitchFamily="18" charset="0"/>
                        <a:cs typeface="Times New Roman" panose="02020603050405020304" pitchFamily="18" charset="0"/>
                      </a:endParaRPr>
                    </a:p>
                  </a:txBody>
                  <a:tcPr marL="0" marR="0" marT="0" marB="0" anchor="b">
                    <a:lnL w="19050" cap="flat" cmpd="sng" algn="ctr">
                      <a:no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400" b="1" dirty="0">
                        <a:solidFill>
                          <a:schemeClr val="tx1"/>
                        </a:solidFill>
                        <a:latin typeface="Times New Roman" panose="02020603050405020304" pitchFamily="18" charset="0"/>
                        <a:cs typeface="Times New Roman" panose="02020603050405020304" pitchFamily="18" charset="0"/>
                      </a:endParaRPr>
                    </a:p>
                  </a:txBody>
                  <a:tcPr marL="0" marR="0" marT="0" marB="0" anchor="b">
                    <a:lnL w="19050" cap="flat" cmpd="sng" algn="ctr">
                      <a:solidFill>
                        <a:schemeClr val="accent5"/>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57" name="圆角矩形 56"/>
          <p:cNvSpPr/>
          <p:nvPr/>
        </p:nvSpPr>
        <p:spPr>
          <a:xfrm>
            <a:off x="651513" y="3846969"/>
            <a:ext cx="1325360" cy="182880"/>
          </a:xfrm>
          <a:prstGeom prst="roundRect">
            <a:avLst/>
          </a:prstGeom>
          <a:solidFill>
            <a:srgbClr val="FF00FF">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8" name="圆角矩形 57"/>
          <p:cNvSpPr/>
          <p:nvPr/>
        </p:nvSpPr>
        <p:spPr>
          <a:xfrm>
            <a:off x="651512" y="4269236"/>
            <a:ext cx="1350643" cy="606949"/>
          </a:xfrm>
          <a:prstGeom prst="roundRect">
            <a:avLst>
              <a:gd name="adj" fmla="val 9895"/>
            </a:avLst>
          </a:prstGeom>
          <a:solidFill>
            <a:srgbClr val="FF00FF">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60" name="矩形 59"/>
          <p:cNvSpPr/>
          <p:nvPr/>
        </p:nvSpPr>
        <p:spPr>
          <a:xfrm>
            <a:off x="570677" y="3136605"/>
            <a:ext cx="1061499" cy="1815882"/>
          </a:xfrm>
          <a:prstGeom prst="rect">
            <a:avLst/>
          </a:prstGeom>
        </p:spPr>
        <p:txBody>
          <a:bodyPr wrap="square">
            <a:spAutoFit/>
          </a:bodyPr>
          <a:lstStyle/>
          <a:p>
            <a:pPr algn="ctr">
              <a:defRPr/>
            </a:pPr>
            <a:r>
              <a:rPr lang="en-US" altLang="zh-CN" sz="1400" b="1" dirty="0">
                <a:latin typeface="Times New Roman" panose="02020603050405020304" pitchFamily="18" charset="0"/>
                <a:cs typeface="Times New Roman" panose="02020603050405020304" pitchFamily="18" charset="0"/>
              </a:rPr>
              <a:t>0     0     0</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0     0     1</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0     1     0</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0     1     1</a:t>
            </a:r>
            <a:endParaRPr lang="en-US" altLang="zh-CN"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1     0     0</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1     0     1</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1     1     0</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1     1     1</a:t>
            </a:r>
            <a:endParaRPr lang="zh-CN" altLang="en-US" sz="1400" b="1" dirty="0">
              <a:latin typeface="Times New Roman" panose="02020603050405020304" pitchFamily="18" charset="0"/>
              <a:cs typeface="Times New Roman" panose="02020603050405020304" pitchFamily="18" charset="0"/>
            </a:endParaRPr>
          </a:p>
        </p:txBody>
      </p:sp>
      <p:sp>
        <p:nvSpPr>
          <p:cNvPr id="62" name="矩形 61"/>
          <p:cNvSpPr/>
          <p:nvPr/>
        </p:nvSpPr>
        <p:spPr>
          <a:xfrm>
            <a:off x="1755416" y="3828379"/>
            <a:ext cx="290223" cy="1077218"/>
          </a:xfrm>
          <a:prstGeom prst="rect">
            <a:avLst/>
          </a:prstGeom>
        </p:spPr>
        <p:txBody>
          <a:bodyPr wrap="square" lIns="0" tIns="0" rIns="0" bIns="0">
            <a:spAutoFit/>
          </a:bodyPr>
          <a:lstStyle/>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zh-CN" altLang="en-US" sz="1400" dirty="0"/>
          </a:p>
        </p:txBody>
      </p:sp>
      <p:sp>
        <p:nvSpPr>
          <p:cNvPr id="64" name="矩形 63"/>
          <p:cNvSpPr/>
          <p:nvPr/>
        </p:nvSpPr>
        <p:spPr>
          <a:xfrm>
            <a:off x="1765884" y="3189619"/>
            <a:ext cx="290223" cy="1077218"/>
          </a:xfrm>
          <a:prstGeom prst="rect">
            <a:avLst/>
          </a:prstGeom>
        </p:spPr>
        <p:txBody>
          <a:bodyPr wrap="square" lIns="0" tIns="0" rIns="0" bIns="0">
            <a:spAutoFit/>
          </a:bodyPr>
          <a:lstStyle/>
          <a:p>
            <a:pPr algn="ctr">
              <a:lnSpc>
                <a:spcPct val="100000"/>
              </a:lnSpc>
            </a:pPr>
            <a:r>
              <a:rPr lang="en-US" altLang="zh-CN" sz="1400" b="1" dirty="0">
                <a:latin typeface="Times New Roman" panose="02020603050405020304" pitchFamily="18" charset="0"/>
                <a:cs typeface="Times New Roman" panose="02020603050405020304" pitchFamily="18" charset="0"/>
              </a:rPr>
              <a:t>0</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0</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0</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0</a:t>
            </a:r>
            <a:endParaRPr lang="zh-CN" altLang="en-US" sz="1400" dirty="0"/>
          </a:p>
        </p:txBody>
      </p:sp>
      <p:graphicFrame>
        <p:nvGraphicFramePr>
          <p:cNvPr id="1034" name="Object 11"/>
          <p:cNvGraphicFramePr>
            <a:graphicFrameLocks noChangeAspect="1"/>
          </p:cNvGraphicFramePr>
          <p:nvPr/>
        </p:nvGraphicFramePr>
        <p:xfrm>
          <a:off x="2785508" y="2903247"/>
          <a:ext cx="2701925" cy="277812"/>
        </p:xfrm>
        <a:graphic>
          <a:graphicData uri="http://schemas.openxmlformats.org/presentationml/2006/ole">
            <mc:AlternateContent xmlns:mc="http://schemas.openxmlformats.org/markup-compatibility/2006">
              <mc:Choice xmlns:v="urn:schemas-microsoft-com:vml" Requires="v">
                <p:oleObj spid="_x0000_s18489" name="公式" r:id="rId4" imgW="1981200" imgH="203200" progId="">
                  <p:embed/>
                </p:oleObj>
              </mc:Choice>
              <mc:Fallback>
                <p:oleObj name="公式" r:id="rId4" imgW="1981200" imgH="203200" progId="">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5508" y="2903247"/>
                        <a:ext cx="2701925" cy="277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05" name="组合 104"/>
          <p:cNvGrpSpPr/>
          <p:nvPr/>
        </p:nvGrpSpPr>
        <p:grpSpPr>
          <a:xfrm>
            <a:off x="2483973" y="3785211"/>
            <a:ext cx="2018927" cy="1061979"/>
            <a:chOff x="2483973" y="3785211"/>
            <a:chExt cx="2018927" cy="1061979"/>
          </a:xfrm>
        </p:grpSpPr>
        <p:graphicFrame>
          <p:nvGraphicFramePr>
            <p:cNvPr id="71" name="Object 9"/>
            <p:cNvGraphicFramePr>
              <a:graphicFrameLocks noChangeAspect="1"/>
            </p:cNvGraphicFramePr>
            <p:nvPr/>
          </p:nvGraphicFramePr>
          <p:xfrm>
            <a:off x="2483973" y="3785211"/>
            <a:ext cx="2018927" cy="1061979"/>
          </p:xfrm>
          <a:graphic>
            <a:graphicData uri="http://schemas.openxmlformats.org/presentationml/2006/ole">
              <mc:AlternateContent xmlns:mc="http://schemas.openxmlformats.org/markup-compatibility/2006">
                <mc:Choice xmlns:v="urn:schemas-microsoft-com:vml" Requires="v">
                  <p:oleObj spid="_x0000_s18490" name="Visio" r:id="rId6" imgW="1072515" imgH="555625" progId="">
                    <p:embed/>
                  </p:oleObj>
                </mc:Choice>
                <mc:Fallback>
                  <p:oleObj name="Visio" r:id="rId6" imgW="1072515" imgH="555625" progId="">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483973" y="3785211"/>
                          <a:ext cx="2018927" cy="106197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 name="圆角矩形 71"/>
            <p:cNvSpPr/>
            <p:nvPr/>
          </p:nvSpPr>
          <p:spPr>
            <a:xfrm>
              <a:off x="3333750" y="4546600"/>
              <a:ext cx="628650" cy="23156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3" name="圆角矩形 72"/>
            <p:cNvSpPr/>
            <p:nvPr/>
          </p:nvSpPr>
          <p:spPr>
            <a:xfrm>
              <a:off x="3738837" y="4543950"/>
              <a:ext cx="656951" cy="23156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79" name="圆角矩形 78"/>
            <p:cNvSpPr/>
            <p:nvPr/>
          </p:nvSpPr>
          <p:spPr>
            <a:xfrm>
              <a:off x="3743311" y="4220903"/>
              <a:ext cx="219582" cy="56237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aphicFrame>
        <p:nvGraphicFramePr>
          <p:cNvPr id="1036" name="Object 11"/>
          <p:cNvGraphicFramePr>
            <a:graphicFrameLocks noChangeAspect="1"/>
          </p:cNvGraphicFramePr>
          <p:nvPr/>
        </p:nvGraphicFramePr>
        <p:xfrm>
          <a:off x="4550811" y="3831266"/>
          <a:ext cx="1628775" cy="242888"/>
        </p:xfrm>
        <a:graphic>
          <a:graphicData uri="http://schemas.openxmlformats.org/presentationml/2006/ole">
            <mc:AlternateContent xmlns:mc="http://schemas.openxmlformats.org/markup-compatibility/2006">
              <mc:Choice xmlns:v="urn:schemas-microsoft-com:vml" Requires="v">
                <p:oleObj spid="_x0000_s18491" name="公式" r:id="rId8" imgW="1193165" imgH="177800" progId="">
                  <p:embed/>
                </p:oleObj>
              </mc:Choice>
              <mc:Fallback>
                <p:oleObj name="公式" r:id="rId8" imgW="1193165" imgH="177800" progId="">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50811" y="3831266"/>
                        <a:ext cx="1628775" cy="242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7" name="Object 13"/>
          <p:cNvGraphicFramePr>
            <a:graphicFrameLocks noChangeAspect="1"/>
          </p:cNvGraphicFramePr>
          <p:nvPr/>
        </p:nvGraphicFramePr>
        <p:xfrm>
          <a:off x="4726932" y="4160999"/>
          <a:ext cx="1454150" cy="330200"/>
        </p:xfrm>
        <a:graphic>
          <a:graphicData uri="http://schemas.openxmlformats.org/presentationml/2006/ole">
            <mc:AlternateContent xmlns:mc="http://schemas.openxmlformats.org/markup-compatibility/2006">
              <mc:Choice xmlns:v="urn:schemas-microsoft-com:vml" Requires="v">
                <p:oleObj spid="_x0000_s18492" name="公式" r:id="rId10" imgW="1066800" imgH="241300" progId="">
                  <p:embed/>
                </p:oleObj>
              </mc:Choice>
              <mc:Fallback>
                <p:oleObj name="公式" r:id="rId10" imgW="1066800" imgH="241300" progId="">
                  <p:embed/>
                  <p:pic>
                    <p:nvPicPr>
                      <p:cNvPr id="0" name="Object 1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26932" y="4160999"/>
                        <a:ext cx="1454150"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38" name="Object 14"/>
          <p:cNvGraphicFramePr>
            <a:graphicFrameLocks noChangeAspect="1"/>
          </p:cNvGraphicFramePr>
          <p:nvPr/>
        </p:nvGraphicFramePr>
        <p:xfrm>
          <a:off x="4734561" y="4588146"/>
          <a:ext cx="1281113" cy="330200"/>
        </p:xfrm>
        <a:graphic>
          <a:graphicData uri="http://schemas.openxmlformats.org/presentationml/2006/ole">
            <mc:AlternateContent xmlns:mc="http://schemas.openxmlformats.org/markup-compatibility/2006">
              <mc:Choice xmlns:v="urn:schemas-microsoft-com:vml" Requires="v">
                <p:oleObj spid="_x0000_s18493" name="公式" r:id="rId12" imgW="939165" imgH="241300" progId="">
                  <p:embed/>
                </p:oleObj>
              </mc:Choice>
              <mc:Fallback>
                <p:oleObj name="公式" r:id="rId12" imgW="939165" imgH="241300" progId="">
                  <p:embed/>
                  <p:pic>
                    <p:nvPicPr>
                      <p:cNvPr id="0" name="Object 14"/>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734561" y="4588146"/>
                        <a:ext cx="1281113" cy="330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42" name="组合 141"/>
          <p:cNvGrpSpPr/>
          <p:nvPr/>
        </p:nvGrpSpPr>
        <p:grpSpPr>
          <a:xfrm>
            <a:off x="6577310" y="3661020"/>
            <a:ext cx="2444724" cy="1512763"/>
            <a:chOff x="6217920" y="2634455"/>
            <a:chExt cx="2641393" cy="1743477"/>
          </a:xfrm>
          <a:solidFill>
            <a:srgbClr val="66FFCC"/>
          </a:solidFill>
        </p:grpSpPr>
        <p:sp>
          <p:nvSpPr>
            <p:cNvPr id="83" name="圆角矩形 82"/>
            <p:cNvSpPr/>
            <p:nvPr/>
          </p:nvSpPr>
          <p:spPr>
            <a:xfrm>
              <a:off x="6217920" y="2634455"/>
              <a:ext cx="2639833" cy="1743477"/>
            </a:xfrm>
            <a:prstGeom prst="roundRect">
              <a:avLst>
                <a:gd name="adj" fmla="val 4849"/>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36" name="直接连接符 135"/>
            <p:cNvCxnSpPr/>
            <p:nvPr/>
          </p:nvCxnSpPr>
          <p:spPr>
            <a:xfrm>
              <a:off x="6448196" y="3986831"/>
              <a:ext cx="792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4" name="矩形 83"/>
            <p:cNvSpPr/>
            <p:nvPr/>
          </p:nvSpPr>
          <p:spPr>
            <a:xfrm>
              <a:off x="6985198" y="3032050"/>
              <a:ext cx="345881" cy="367133"/>
            </a:xfrm>
            <a:prstGeom prst="rect">
              <a:avLst/>
            </a:prstGeom>
            <a:grp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矩形 84"/>
            <p:cNvSpPr/>
            <p:nvPr/>
          </p:nvSpPr>
          <p:spPr>
            <a:xfrm>
              <a:off x="7247592" y="3073194"/>
              <a:ext cx="170953" cy="1009816"/>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7" name="直接连接符 96"/>
            <p:cNvCxnSpPr/>
            <p:nvPr/>
          </p:nvCxnSpPr>
          <p:spPr>
            <a:xfrm>
              <a:off x="6448196" y="3397109"/>
              <a:ext cx="792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V="1">
              <a:off x="6760963" y="4247989"/>
              <a:ext cx="468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V="1">
              <a:off x="6987575" y="3619222"/>
              <a:ext cx="288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flipV="1">
              <a:off x="6987576" y="3625228"/>
              <a:ext cx="0" cy="36000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a:off x="6760962" y="2778995"/>
              <a:ext cx="1135" cy="147600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6448196" y="2778732"/>
              <a:ext cx="792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1" name="Group 6"/>
            <p:cNvGrpSpPr/>
            <p:nvPr/>
          </p:nvGrpSpPr>
          <p:grpSpPr bwMode="auto">
            <a:xfrm>
              <a:off x="7191425" y="3267968"/>
              <a:ext cx="350396" cy="470666"/>
              <a:chOff x="2638" y="5808"/>
              <a:chExt cx="564" cy="680"/>
            </a:xfrm>
            <a:grpFill/>
          </p:grpSpPr>
          <p:sp>
            <p:nvSpPr>
              <p:cNvPr id="134" name="Rectangle 7"/>
              <p:cNvSpPr>
                <a:spLocks noChangeArrowheads="1"/>
              </p:cNvSpPr>
              <p:nvPr/>
            </p:nvSpPr>
            <p:spPr bwMode="auto">
              <a:xfrm>
                <a:off x="2638" y="5808"/>
                <a:ext cx="454" cy="680"/>
              </a:xfrm>
              <a:prstGeom prst="rect">
                <a:avLst/>
              </a:prstGeom>
              <a:solidFill>
                <a:schemeClr val="accent2">
                  <a:lumMod val="40000"/>
                  <a:lumOff val="60000"/>
                </a:schemeClr>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135"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grpSp>
          <p:nvGrpSpPr>
            <p:cNvPr id="112" name="Group 6"/>
            <p:cNvGrpSpPr/>
            <p:nvPr/>
          </p:nvGrpSpPr>
          <p:grpSpPr bwMode="auto">
            <a:xfrm>
              <a:off x="7207844" y="3840219"/>
              <a:ext cx="350396" cy="470666"/>
              <a:chOff x="2638" y="5808"/>
              <a:chExt cx="564" cy="680"/>
            </a:xfrm>
            <a:grpFill/>
          </p:grpSpPr>
          <p:sp>
            <p:nvSpPr>
              <p:cNvPr id="132" name="Rectangle 7"/>
              <p:cNvSpPr>
                <a:spLocks noChangeArrowheads="1"/>
              </p:cNvSpPr>
              <p:nvPr/>
            </p:nvSpPr>
            <p:spPr bwMode="auto">
              <a:xfrm>
                <a:off x="2638" y="5808"/>
                <a:ext cx="454" cy="680"/>
              </a:xfrm>
              <a:prstGeom prst="rect">
                <a:avLst/>
              </a:prstGeom>
              <a:solidFill>
                <a:schemeClr val="accent2">
                  <a:lumMod val="40000"/>
                  <a:lumOff val="60000"/>
                </a:schemeClr>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133"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grpSp>
          <p:nvGrpSpPr>
            <p:cNvPr id="113" name="Group 6"/>
            <p:cNvGrpSpPr/>
            <p:nvPr/>
          </p:nvGrpSpPr>
          <p:grpSpPr bwMode="auto">
            <a:xfrm>
              <a:off x="7191425" y="2699692"/>
              <a:ext cx="350396" cy="470666"/>
              <a:chOff x="2638" y="5808"/>
              <a:chExt cx="564" cy="680"/>
            </a:xfrm>
            <a:grpFill/>
          </p:grpSpPr>
          <p:sp>
            <p:nvSpPr>
              <p:cNvPr id="130" name="Rectangle 7"/>
              <p:cNvSpPr>
                <a:spLocks noChangeArrowheads="1"/>
              </p:cNvSpPr>
              <p:nvPr/>
            </p:nvSpPr>
            <p:spPr bwMode="auto">
              <a:xfrm>
                <a:off x="2638" y="5808"/>
                <a:ext cx="454" cy="680"/>
              </a:xfrm>
              <a:prstGeom prst="rect">
                <a:avLst/>
              </a:prstGeom>
              <a:solidFill>
                <a:schemeClr val="accent2">
                  <a:lumMod val="40000"/>
                  <a:lumOff val="60000"/>
                </a:schemeClr>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131"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cxnSp>
          <p:nvCxnSpPr>
            <p:cNvPr id="114" name="肘形连接符 113"/>
            <p:cNvCxnSpPr/>
            <p:nvPr/>
          </p:nvCxnSpPr>
          <p:spPr>
            <a:xfrm>
              <a:off x="7543407" y="2923976"/>
              <a:ext cx="439703" cy="427498"/>
            </a:xfrm>
            <a:prstGeom prst="bentConnector3">
              <a:avLst>
                <a:gd name="adj1" fmla="val 44575"/>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a:off x="7530860" y="3491584"/>
              <a:ext cx="1116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TextBox 116"/>
            <p:cNvSpPr txBox="1"/>
            <p:nvPr/>
          </p:nvSpPr>
          <p:spPr>
            <a:xfrm>
              <a:off x="6359219" y="2674429"/>
              <a:ext cx="200622" cy="1436291"/>
            </a:xfrm>
            <a:prstGeom prst="rect">
              <a:avLst/>
            </a:prstGeom>
            <a:grpFill/>
          </p:spPr>
          <p:txBody>
            <a:bodyPr wrap="square" lIns="0" tIns="0" rIns="0" bIns="0" rtlCol="0">
              <a:spAutoFit/>
            </a:bodyPr>
            <a:lstStyle/>
            <a:p>
              <a:pPr>
                <a:lnSpc>
                  <a:spcPts val="1600"/>
                </a:lnSpc>
              </a:pPr>
              <a:r>
                <a:rPr lang="en-US" altLang="zh-CN" sz="1400" b="1" i="1" dirty="0">
                  <a:latin typeface="Times New Roman" panose="02020603050405020304" pitchFamily="18" charset="0"/>
                  <a:cs typeface="Times New Roman" panose="02020603050405020304" pitchFamily="18" charset="0"/>
                </a:rPr>
                <a:t>A</a:t>
              </a:r>
              <a:endParaRPr lang="en-US" altLang="zh-CN" sz="1400" b="1" i="1" dirty="0">
                <a:latin typeface="Times New Roman" panose="02020603050405020304" pitchFamily="18" charset="0"/>
                <a:cs typeface="Times New Roman" panose="02020603050405020304" pitchFamily="18" charset="0"/>
              </a:endParaRPr>
            </a:p>
            <a:p>
              <a:pPr>
                <a:lnSpc>
                  <a:spcPts val="1600"/>
                </a:lnSpc>
              </a:pPr>
              <a:endParaRPr lang="en-US" altLang="zh-CN" sz="1400" b="1" i="1" dirty="0">
                <a:latin typeface="Times New Roman" panose="02020603050405020304" pitchFamily="18" charset="0"/>
                <a:cs typeface="Times New Roman" panose="02020603050405020304" pitchFamily="18" charset="0"/>
              </a:endParaRPr>
            </a:p>
            <a:p>
              <a:pPr>
                <a:lnSpc>
                  <a:spcPts val="1600"/>
                </a:lnSpc>
              </a:pPr>
              <a:endParaRPr lang="en-US" altLang="zh-CN" sz="1400" b="1" i="1" dirty="0">
                <a:latin typeface="Times New Roman" panose="02020603050405020304" pitchFamily="18" charset="0"/>
                <a:cs typeface="Times New Roman" panose="02020603050405020304" pitchFamily="18" charset="0"/>
              </a:endParaRPr>
            </a:p>
            <a:p>
              <a:pPr>
                <a:lnSpc>
                  <a:spcPts val="1600"/>
                </a:lnSpc>
              </a:pPr>
              <a:r>
                <a:rPr lang="en-US" altLang="zh-CN" sz="1400" b="1" i="1" dirty="0">
                  <a:latin typeface="Times New Roman" panose="02020603050405020304" pitchFamily="18" charset="0"/>
                  <a:cs typeface="Times New Roman" panose="02020603050405020304" pitchFamily="18" charset="0"/>
                </a:rPr>
                <a:t>B</a:t>
              </a:r>
              <a:endParaRPr lang="en-US" altLang="zh-CN" sz="1400" b="1" i="1" dirty="0">
                <a:latin typeface="Times New Roman" panose="02020603050405020304" pitchFamily="18" charset="0"/>
                <a:cs typeface="Times New Roman" panose="02020603050405020304" pitchFamily="18" charset="0"/>
              </a:endParaRPr>
            </a:p>
            <a:p>
              <a:pPr>
                <a:lnSpc>
                  <a:spcPts val="1600"/>
                </a:lnSpc>
              </a:pPr>
              <a:endParaRPr lang="en-US" altLang="zh-CN" sz="1400" b="1" i="1" dirty="0">
                <a:latin typeface="Times New Roman" panose="02020603050405020304" pitchFamily="18" charset="0"/>
                <a:cs typeface="Times New Roman" panose="02020603050405020304" pitchFamily="18" charset="0"/>
              </a:endParaRPr>
            </a:p>
            <a:p>
              <a:pPr>
                <a:lnSpc>
                  <a:spcPts val="1600"/>
                </a:lnSpc>
              </a:pPr>
              <a:endParaRPr lang="en-US" altLang="zh-CN" sz="1400" b="1" i="1" dirty="0">
                <a:latin typeface="Times New Roman" panose="02020603050405020304" pitchFamily="18" charset="0"/>
                <a:cs typeface="Times New Roman" panose="02020603050405020304" pitchFamily="18" charset="0"/>
              </a:endParaRPr>
            </a:p>
            <a:p>
              <a:pPr>
                <a:lnSpc>
                  <a:spcPts val="1600"/>
                </a:lnSpc>
              </a:pPr>
              <a:r>
                <a:rPr lang="en-US" altLang="zh-CN" sz="1400" b="1" i="1" dirty="0">
                  <a:latin typeface="Times New Roman" panose="02020603050405020304" pitchFamily="18" charset="0"/>
                  <a:cs typeface="Times New Roman" panose="02020603050405020304" pitchFamily="18" charset="0"/>
                </a:rPr>
                <a:t>C</a:t>
              </a:r>
              <a:endParaRPr lang="en-US" altLang="zh-CN" sz="1400" b="1" i="1" dirty="0">
                <a:latin typeface="Times New Roman" panose="02020603050405020304" pitchFamily="18" charset="0"/>
                <a:cs typeface="Times New Roman" panose="02020603050405020304" pitchFamily="18" charset="0"/>
              </a:endParaRPr>
            </a:p>
          </p:txBody>
        </p:sp>
        <p:sp>
          <p:nvSpPr>
            <p:cNvPr id="118" name="TextBox 117"/>
            <p:cNvSpPr txBox="1"/>
            <p:nvPr/>
          </p:nvSpPr>
          <p:spPr>
            <a:xfrm>
              <a:off x="8542018" y="3325663"/>
              <a:ext cx="317295" cy="365580"/>
            </a:xfrm>
            <a:prstGeom prst="rect">
              <a:avLst/>
            </a:prstGeom>
            <a:noFill/>
          </p:spPr>
          <p:txBody>
            <a:bodyPr wrap="none" rtlCol="0">
              <a:spAutoFit/>
            </a:bodyPr>
            <a:lstStyle/>
            <a:p>
              <a:pPr>
                <a:lnSpc>
                  <a:spcPts val="1900"/>
                </a:lnSpc>
              </a:pPr>
              <a:r>
                <a:rPr lang="en-US" altLang="zh-CN" sz="1400" b="1" i="1" dirty="0">
                  <a:latin typeface="Times New Roman" panose="02020603050405020304" pitchFamily="18" charset="0"/>
                  <a:cs typeface="Times New Roman" panose="02020603050405020304" pitchFamily="18" charset="0"/>
                </a:rPr>
                <a:t>L</a:t>
              </a:r>
              <a:endParaRPr lang="zh-CN" altLang="en-US" sz="1400" b="1" i="1" dirty="0">
                <a:latin typeface="Times New Roman" panose="02020603050405020304" pitchFamily="18" charset="0"/>
                <a:cs typeface="Times New Roman" panose="02020603050405020304" pitchFamily="18" charset="0"/>
              </a:endParaRPr>
            </a:p>
          </p:txBody>
        </p:sp>
        <p:cxnSp>
          <p:nvCxnSpPr>
            <p:cNvPr id="125" name="直接连接符 124"/>
            <p:cNvCxnSpPr/>
            <p:nvPr/>
          </p:nvCxnSpPr>
          <p:spPr>
            <a:xfrm flipV="1">
              <a:off x="6985123" y="3116913"/>
              <a:ext cx="98" cy="277319"/>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141" name="肘形连接符 140"/>
            <p:cNvCxnSpPr/>
            <p:nvPr/>
          </p:nvCxnSpPr>
          <p:spPr>
            <a:xfrm flipV="1">
              <a:off x="7556659" y="3632964"/>
              <a:ext cx="439703" cy="427498"/>
            </a:xfrm>
            <a:prstGeom prst="bentConnector3">
              <a:avLst>
                <a:gd name="adj1" fmla="val 44575"/>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5" name="Group 6"/>
            <p:cNvGrpSpPr/>
            <p:nvPr/>
          </p:nvGrpSpPr>
          <p:grpSpPr bwMode="auto">
            <a:xfrm>
              <a:off x="7974085" y="3267968"/>
              <a:ext cx="350396" cy="470666"/>
              <a:chOff x="2638" y="5808"/>
              <a:chExt cx="564" cy="680"/>
            </a:xfrm>
            <a:grpFill/>
          </p:grpSpPr>
          <p:sp>
            <p:nvSpPr>
              <p:cNvPr id="129"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sp>
            <p:nvSpPr>
              <p:cNvPr id="128" name="Rectangle 7"/>
              <p:cNvSpPr>
                <a:spLocks noChangeArrowheads="1"/>
              </p:cNvSpPr>
              <p:nvPr/>
            </p:nvSpPr>
            <p:spPr bwMode="auto">
              <a:xfrm>
                <a:off x="2638" y="5808"/>
                <a:ext cx="454" cy="680"/>
              </a:xfrm>
              <a:prstGeom prst="rect">
                <a:avLst/>
              </a:prstGeom>
              <a:solidFill>
                <a:schemeClr val="accent2">
                  <a:lumMod val="40000"/>
                  <a:lumOff val="60000"/>
                </a:schemeClr>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grpSp>
      </p:grpSp>
      <p:sp>
        <p:nvSpPr>
          <p:cNvPr id="102" name="任意多边形 101"/>
          <p:cNvSpPr/>
          <p:nvPr/>
        </p:nvSpPr>
        <p:spPr>
          <a:xfrm>
            <a:off x="6162267" y="3244132"/>
            <a:ext cx="349852" cy="710203"/>
          </a:xfrm>
          <a:custGeom>
            <a:avLst/>
            <a:gdLst>
              <a:gd name="connsiteX0" fmla="*/ 0 w 1002890"/>
              <a:gd name="connsiteY0" fmla="*/ 1339997 h 1357555"/>
              <a:gd name="connsiteX1" fmla="*/ 450879 w 1002890"/>
              <a:gd name="connsiteY1" fmla="*/ 1171444 h 1357555"/>
              <a:gd name="connsiteX2" fmla="*/ 783772 w 1002890"/>
              <a:gd name="connsiteY2" fmla="*/ 223333 h 1357555"/>
              <a:gd name="connsiteX3" fmla="*/ 1002890 w 1002890"/>
              <a:gd name="connsiteY3" fmla="*/ 0 h 1357555"/>
            </a:gdLst>
            <a:ahLst/>
            <a:cxnLst>
              <a:cxn ang="0">
                <a:pos x="connsiteX0" y="connsiteY0"/>
              </a:cxn>
              <a:cxn ang="0">
                <a:pos x="connsiteX1" y="connsiteY1"/>
              </a:cxn>
              <a:cxn ang="0">
                <a:pos x="connsiteX2" y="connsiteY2"/>
              </a:cxn>
              <a:cxn ang="0">
                <a:pos x="connsiteX3" y="connsiteY3"/>
              </a:cxn>
            </a:cxnLst>
            <a:rect l="l" t="t" r="r" b="b"/>
            <a:pathLst>
              <a:path w="1002890" h="1357555">
                <a:moveTo>
                  <a:pt x="0" y="1339997"/>
                </a:moveTo>
                <a:cubicBezTo>
                  <a:pt x="160125" y="1348776"/>
                  <a:pt x="320250" y="1357555"/>
                  <a:pt x="450879" y="1171444"/>
                </a:cubicBezTo>
                <a:cubicBezTo>
                  <a:pt x="581508" y="985333"/>
                  <a:pt x="691770" y="418574"/>
                  <a:pt x="783772" y="223333"/>
                </a:cubicBezTo>
                <a:cubicBezTo>
                  <a:pt x="875774" y="28092"/>
                  <a:pt x="939332" y="14046"/>
                  <a:pt x="1002890" y="0"/>
                </a:cubicBezTo>
              </a:path>
            </a:pathLst>
          </a:custGeom>
          <a:ln w="28575">
            <a:headEnd type="none" w="med" len="med"/>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4" name="任意多边形 103"/>
          <p:cNvSpPr/>
          <p:nvPr/>
        </p:nvSpPr>
        <p:spPr>
          <a:xfrm>
            <a:off x="6065533" y="4587903"/>
            <a:ext cx="470440" cy="196716"/>
          </a:xfrm>
          <a:custGeom>
            <a:avLst/>
            <a:gdLst>
              <a:gd name="connsiteX0" fmla="*/ 0 w 1002890"/>
              <a:gd name="connsiteY0" fmla="*/ 1339997 h 1357555"/>
              <a:gd name="connsiteX1" fmla="*/ 450879 w 1002890"/>
              <a:gd name="connsiteY1" fmla="*/ 1171444 h 1357555"/>
              <a:gd name="connsiteX2" fmla="*/ 783772 w 1002890"/>
              <a:gd name="connsiteY2" fmla="*/ 223333 h 1357555"/>
              <a:gd name="connsiteX3" fmla="*/ 1002890 w 1002890"/>
              <a:gd name="connsiteY3" fmla="*/ 0 h 1357555"/>
            </a:gdLst>
            <a:ahLst/>
            <a:cxnLst>
              <a:cxn ang="0">
                <a:pos x="connsiteX0" y="connsiteY0"/>
              </a:cxn>
              <a:cxn ang="0">
                <a:pos x="connsiteX1" y="connsiteY1"/>
              </a:cxn>
              <a:cxn ang="0">
                <a:pos x="connsiteX2" y="connsiteY2"/>
              </a:cxn>
              <a:cxn ang="0">
                <a:pos x="connsiteX3" y="connsiteY3"/>
              </a:cxn>
            </a:cxnLst>
            <a:rect l="l" t="t" r="r" b="b"/>
            <a:pathLst>
              <a:path w="1002890" h="1357555">
                <a:moveTo>
                  <a:pt x="0" y="1339997"/>
                </a:moveTo>
                <a:cubicBezTo>
                  <a:pt x="160125" y="1348776"/>
                  <a:pt x="320250" y="1357555"/>
                  <a:pt x="450879" y="1171444"/>
                </a:cubicBezTo>
                <a:cubicBezTo>
                  <a:pt x="581508" y="985333"/>
                  <a:pt x="691770" y="418574"/>
                  <a:pt x="783772" y="223333"/>
                </a:cubicBezTo>
                <a:cubicBezTo>
                  <a:pt x="875774" y="28092"/>
                  <a:pt x="939332" y="14046"/>
                  <a:pt x="1002890" y="0"/>
                </a:cubicBezTo>
              </a:path>
            </a:pathLst>
          </a:custGeom>
          <a:ln w="28575">
            <a:headEnd type="none" w="med" len="med"/>
            <a:tailEnd type="stealth"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95" name="矩形 94"/>
          <p:cNvSpPr/>
          <p:nvPr/>
        </p:nvSpPr>
        <p:spPr>
          <a:xfrm>
            <a:off x="293624" y="2475329"/>
            <a:ext cx="1741911" cy="348813"/>
          </a:xfrm>
          <a:prstGeom prst="rect">
            <a:avLst/>
          </a:prstGeom>
        </p:spPr>
        <p:txBody>
          <a:bodyPr wrap="square">
            <a:spAutoFit/>
          </a:bodyPr>
          <a:lstStyle/>
          <a:p>
            <a:pPr marL="444500" indent="-444500">
              <a:lnSpc>
                <a:spcPts val="2000"/>
              </a:lnSpc>
            </a:pPr>
            <a:r>
              <a:rPr lang="zh-CN" altLang="zh-CN" sz="1400" b="1" dirty="0">
                <a:solidFill>
                  <a:srgbClr val="6600FF"/>
                </a:solidFill>
                <a:latin typeface="黑体" panose="02010609060101010101" pitchFamily="49" charset="-122"/>
                <a:ea typeface="黑体" panose="02010609060101010101" pitchFamily="49" charset="-122"/>
              </a:rPr>
              <a:t>（</a:t>
            </a:r>
            <a:r>
              <a:rPr lang="en-US" altLang="zh-CN" sz="1400" b="1" dirty="0">
                <a:solidFill>
                  <a:srgbClr val="6600FF"/>
                </a:solidFill>
                <a:latin typeface="黑体" panose="02010609060101010101" pitchFamily="49" charset="-122"/>
                <a:ea typeface="黑体" panose="02010609060101010101" pitchFamily="49" charset="-122"/>
              </a:rPr>
              <a:t>2</a:t>
            </a:r>
            <a:r>
              <a:rPr lang="zh-CN" altLang="en-US" sz="1400" b="1" dirty="0">
                <a:solidFill>
                  <a:srgbClr val="6600FF"/>
                </a:solidFill>
                <a:latin typeface="黑体" panose="02010609060101010101" pitchFamily="49" charset="-122"/>
                <a:ea typeface="黑体" panose="02010609060101010101" pitchFamily="49" charset="-122"/>
              </a:rPr>
              <a:t>）列真值表</a:t>
            </a:r>
            <a:endParaRPr lang="zh-CN" altLang="en-US" sz="1400" b="1" dirty="0"/>
          </a:p>
        </p:txBody>
      </p:sp>
      <p:sp>
        <p:nvSpPr>
          <p:cNvPr id="98" name="矩形 97"/>
          <p:cNvSpPr/>
          <p:nvPr/>
        </p:nvSpPr>
        <p:spPr>
          <a:xfrm>
            <a:off x="2266892" y="2475329"/>
            <a:ext cx="2718593" cy="348813"/>
          </a:xfrm>
          <a:prstGeom prst="rect">
            <a:avLst/>
          </a:prstGeom>
        </p:spPr>
        <p:txBody>
          <a:bodyPr wrap="square">
            <a:spAutoFit/>
          </a:bodyPr>
          <a:lstStyle/>
          <a:p>
            <a:pPr marL="444500" indent="-444500">
              <a:lnSpc>
                <a:spcPts val="2000"/>
              </a:lnSpc>
            </a:pPr>
            <a:r>
              <a:rPr lang="zh-CN" altLang="zh-CN" sz="1400" b="1" dirty="0">
                <a:solidFill>
                  <a:srgbClr val="6600FF"/>
                </a:solidFill>
                <a:latin typeface="黑体" panose="02010609060101010101" pitchFamily="49" charset="-122"/>
                <a:ea typeface="黑体" panose="02010609060101010101" pitchFamily="49" charset="-122"/>
              </a:rPr>
              <a:t>（</a:t>
            </a:r>
            <a:r>
              <a:rPr lang="en-US" altLang="zh-CN" sz="1400" b="1" dirty="0">
                <a:solidFill>
                  <a:srgbClr val="6600FF"/>
                </a:solidFill>
                <a:latin typeface="黑体" panose="02010609060101010101" pitchFamily="49" charset="-122"/>
                <a:ea typeface="黑体" panose="02010609060101010101" pitchFamily="49" charset="-122"/>
              </a:rPr>
              <a:t>3</a:t>
            </a:r>
            <a:r>
              <a:rPr lang="zh-CN" altLang="en-US" sz="1400" b="1" dirty="0">
                <a:solidFill>
                  <a:srgbClr val="6600FF"/>
                </a:solidFill>
                <a:latin typeface="黑体" panose="02010609060101010101" pitchFamily="49" charset="-122"/>
                <a:ea typeface="黑体" panose="02010609060101010101" pitchFamily="49" charset="-122"/>
              </a:rPr>
              <a:t>）写输出端逻辑表达式</a:t>
            </a:r>
            <a:endParaRPr lang="zh-CN" altLang="en-US" sz="1400" b="1" dirty="0"/>
          </a:p>
        </p:txBody>
      </p:sp>
      <p:sp>
        <p:nvSpPr>
          <p:cNvPr id="100" name="矩形 99"/>
          <p:cNvSpPr/>
          <p:nvPr/>
        </p:nvSpPr>
        <p:spPr>
          <a:xfrm>
            <a:off x="2260269" y="3319484"/>
            <a:ext cx="2718593" cy="348813"/>
          </a:xfrm>
          <a:prstGeom prst="rect">
            <a:avLst/>
          </a:prstGeom>
        </p:spPr>
        <p:txBody>
          <a:bodyPr wrap="square">
            <a:spAutoFit/>
          </a:bodyPr>
          <a:lstStyle/>
          <a:p>
            <a:pPr marL="444500" indent="-444500">
              <a:lnSpc>
                <a:spcPts val="2000"/>
              </a:lnSpc>
            </a:pPr>
            <a:r>
              <a:rPr lang="zh-CN" altLang="zh-CN" sz="1400" b="1" dirty="0">
                <a:solidFill>
                  <a:srgbClr val="6600FF"/>
                </a:solidFill>
                <a:latin typeface="黑体" panose="02010609060101010101" pitchFamily="49" charset="-122"/>
                <a:ea typeface="黑体" panose="02010609060101010101" pitchFamily="49" charset="-122"/>
              </a:rPr>
              <a:t>（</a:t>
            </a:r>
            <a:r>
              <a:rPr lang="en-US" altLang="zh-CN" sz="1400" b="1" dirty="0">
                <a:solidFill>
                  <a:srgbClr val="6600FF"/>
                </a:solidFill>
                <a:latin typeface="黑体" panose="02010609060101010101" pitchFamily="49" charset="-122"/>
                <a:ea typeface="黑体" panose="02010609060101010101" pitchFamily="49" charset="-122"/>
              </a:rPr>
              <a:t>4</a:t>
            </a:r>
            <a:r>
              <a:rPr lang="zh-CN" altLang="en-US" sz="1400" b="1" dirty="0">
                <a:solidFill>
                  <a:srgbClr val="6600FF"/>
                </a:solidFill>
                <a:latin typeface="黑体" panose="02010609060101010101" pitchFamily="49" charset="-122"/>
                <a:ea typeface="黑体" panose="02010609060101010101" pitchFamily="49" charset="-122"/>
              </a:rPr>
              <a:t>）化简逻辑表达式</a:t>
            </a:r>
            <a:endParaRPr lang="zh-CN" altLang="en-US" sz="1400" b="1" dirty="0"/>
          </a:p>
        </p:txBody>
      </p:sp>
      <p:sp>
        <p:nvSpPr>
          <p:cNvPr id="101" name="矩形 100"/>
          <p:cNvSpPr/>
          <p:nvPr/>
        </p:nvSpPr>
        <p:spPr>
          <a:xfrm>
            <a:off x="6300852" y="1674890"/>
            <a:ext cx="2718593" cy="348813"/>
          </a:xfrm>
          <a:prstGeom prst="rect">
            <a:avLst/>
          </a:prstGeom>
        </p:spPr>
        <p:txBody>
          <a:bodyPr wrap="square">
            <a:spAutoFit/>
          </a:bodyPr>
          <a:lstStyle/>
          <a:p>
            <a:pPr marL="444500" indent="-444500">
              <a:lnSpc>
                <a:spcPts val="2000"/>
              </a:lnSpc>
            </a:pPr>
            <a:r>
              <a:rPr lang="zh-CN" altLang="zh-CN" sz="1400" b="1" dirty="0">
                <a:solidFill>
                  <a:srgbClr val="6600FF"/>
                </a:solidFill>
                <a:latin typeface="黑体" panose="02010609060101010101" pitchFamily="49" charset="-122"/>
                <a:ea typeface="黑体" panose="02010609060101010101" pitchFamily="49" charset="-122"/>
              </a:rPr>
              <a:t>（</a:t>
            </a:r>
            <a:r>
              <a:rPr lang="en-US" altLang="zh-CN" sz="1400" b="1" dirty="0">
                <a:solidFill>
                  <a:srgbClr val="6600FF"/>
                </a:solidFill>
                <a:latin typeface="黑体" panose="02010609060101010101" pitchFamily="49" charset="-122"/>
                <a:ea typeface="黑体" panose="02010609060101010101" pitchFamily="49" charset="-122"/>
              </a:rPr>
              <a:t>5</a:t>
            </a:r>
            <a:r>
              <a:rPr lang="zh-CN" altLang="en-US" sz="1400" b="1" dirty="0">
                <a:solidFill>
                  <a:srgbClr val="6600FF"/>
                </a:solidFill>
                <a:latin typeface="黑体" panose="02010609060101010101" pitchFamily="49" charset="-122"/>
                <a:ea typeface="黑体" panose="02010609060101010101" pitchFamily="49" charset="-122"/>
              </a:rPr>
              <a:t>）画逻辑图</a:t>
            </a:r>
            <a:endParaRPr lang="zh-CN" altLang="en-US" sz="1400" b="1" dirty="0"/>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slide(fromBottom)">
                                      <p:cBhvr>
                                        <p:cTn id="7" dur="1000"/>
                                        <p:tgtEl>
                                          <p:spTgt spid="38"/>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slide(fromBottom)">
                                      <p:cBhvr>
                                        <p:cTn id="11" dur="1000"/>
                                        <p:tgtEl>
                                          <p:spTgt spid="48"/>
                                        </p:tgtEl>
                                      </p:cBhvr>
                                    </p:animEffect>
                                  </p:childTnLst>
                                </p:cTn>
                              </p:par>
                            </p:childTnLst>
                          </p:cTn>
                        </p:par>
                        <p:par>
                          <p:cTn id="12" fill="hold">
                            <p:stCondLst>
                              <p:cond delay="2000"/>
                            </p:stCondLst>
                            <p:childTnLst>
                              <p:par>
                                <p:cTn id="13" presetID="12" presetClass="entr" presetSubtype="4" fill="hold" nodeType="after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slide(fromBottom)">
                                      <p:cBhvr>
                                        <p:cTn id="15" dur="1000"/>
                                        <p:tgtEl>
                                          <p:spTgt spid="49"/>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4"/>
                                        </p:tgtEl>
                                        <p:attrNameLst>
                                          <p:attrName>style.visibility</p:attrName>
                                        </p:attrNameLst>
                                      </p:cBhvr>
                                      <p:to>
                                        <p:strVal val="visible"/>
                                      </p:to>
                                    </p:set>
                                    <p:animEffect transition="in" filter="wipe(left)">
                                      <p:cBhvr>
                                        <p:cTn id="20" dur="1000"/>
                                        <p:tgtEl>
                                          <p:spTgt spid="5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95"/>
                                        </p:tgtEl>
                                        <p:attrNameLst>
                                          <p:attrName>style.visibility</p:attrName>
                                        </p:attrNameLst>
                                      </p:cBhvr>
                                      <p:to>
                                        <p:strVal val="visible"/>
                                      </p:to>
                                    </p:set>
                                    <p:animEffect transition="in" filter="wipe(left)">
                                      <p:cBhvr>
                                        <p:cTn id="25" dur="1000"/>
                                        <p:tgtEl>
                                          <p:spTgt spid="95"/>
                                        </p:tgtEl>
                                      </p:cBhvr>
                                    </p:animEffect>
                                  </p:childTnLst>
                                </p:cTn>
                              </p:par>
                            </p:childTnLst>
                          </p:cTn>
                        </p:par>
                        <p:par>
                          <p:cTn id="26" fill="hold">
                            <p:stCondLst>
                              <p:cond delay="1000"/>
                            </p:stCondLst>
                            <p:childTnLst>
                              <p:par>
                                <p:cTn id="27" presetID="12" presetClass="entr" presetSubtype="4" fill="hold" grpId="0" nodeType="afterEffect">
                                  <p:stCondLst>
                                    <p:cond delay="0"/>
                                  </p:stCondLst>
                                  <p:childTnLst>
                                    <p:set>
                                      <p:cBhvr>
                                        <p:cTn id="28" dur="1" fill="hold">
                                          <p:stCondLst>
                                            <p:cond delay="0"/>
                                          </p:stCondLst>
                                        </p:cTn>
                                        <p:tgtEl>
                                          <p:spTgt spid="55"/>
                                        </p:tgtEl>
                                        <p:attrNameLst>
                                          <p:attrName>style.visibility</p:attrName>
                                        </p:attrNameLst>
                                      </p:cBhvr>
                                      <p:to>
                                        <p:strVal val="visible"/>
                                      </p:to>
                                    </p:set>
                                    <p:animEffect transition="in" filter="slide(fromBottom)">
                                      <p:cBhvr>
                                        <p:cTn id="29" dur="1000"/>
                                        <p:tgtEl>
                                          <p:spTgt spid="55"/>
                                        </p:tgtEl>
                                      </p:cBhvr>
                                    </p:animEffect>
                                  </p:childTnLst>
                                </p:cTn>
                              </p:par>
                              <p:par>
                                <p:cTn id="30" presetID="12" presetClass="entr" presetSubtype="4" fill="hold" nodeType="withEffect">
                                  <p:stCondLst>
                                    <p:cond delay="0"/>
                                  </p:stCondLst>
                                  <p:childTnLst>
                                    <p:set>
                                      <p:cBhvr>
                                        <p:cTn id="31" dur="1" fill="hold">
                                          <p:stCondLst>
                                            <p:cond delay="0"/>
                                          </p:stCondLst>
                                        </p:cTn>
                                        <p:tgtEl>
                                          <p:spTgt spid="56"/>
                                        </p:tgtEl>
                                        <p:attrNameLst>
                                          <p:attrName>style.visibility</p:attrName>
                                        </p:attrNameLst>
                                      </p:cBhvr>
                                      <p:to>
                                        <p:strVal val="visible"/>
                                      </p:to>
                                    </p:set>
                                    <p:animEffect transition="in" filter="slide(fromBottom)">
                                      <p:cBhvr>
                                        <p:cTn id="32" dur="1000"/>
                                        <p:tgtEl>
                                          <p:spTgt spid="56"/>
                                        </p:tgtEl>
                                      </p:cBhvr>
                                    </p:animEffect>
                                  </p:childTnLst>
                                </p:cTn>
                              </p:par>
                            </p:childTnLst>
                          </p:cTn>
                        </p:par>
                        <p:par>
                          <p:cTn id="33" fill="hold">
                            <p:stCondLst>
                              <p:cond delay="2000"/>
                            </p:stCondLst>
                            <p:childTnLst>
                              <p:par>
                                <p:cTn id="34" presetID="22" presetClass="entr" presetSubtype="1" fill="hold" grpId="0" nodeType="afterEffect">
                                  <p:stCondLst>
                                    <p:cond delay="0"/>
                                  </p:stCondLst>
                                  <p:childTnLst>
                                    <p:set>
                                      <p:cBhvr>
                                        <p:cTn id="35" dur="1" fill="hold">
                                          <p:stCondLst>
                                            <p:cond delay="0"/>
                                          </p:stCondLst>
                                        </p:cTn>
                                        <p:tgtEl>
                                          <p:spTgt spid="60"/>
                                        </p:tgtEl>
                                        <p:attrNameLst>
                                          <p:attrName>style.visibility</p:attrName>
                                        </p:attrNameLst>
                                      </p:cBhvr>
                                      <p:to>
                                        <p:strVal val="visible"/>
                                      </p:to>
                                    </p:set>
                                    <p:animEffect transition="in" filter="wipe(up)">
                                      <p:cBhvr>
                                        <p:cTn id="36" dur="1000"/>
                                        <p:tgtEl>
                                          <p:spTgt spid="60"/>
                                        </p:tgtEl>
                                      </p:cBhvr>
                                    </p:animEffect>
                                  </p:childTnLst>
                                </p:cTn>
                              </p:par>
                            </p:childTnLst>
                          </p:cTn>
                        </p:par>
                      </p:childTnLst>
                    </p:cTn>
                  </p:par>
                  <p:par>
                    <p:cTn id="37" fill="hold">
                      <p:stCondLst>
                        <p:cond delay="indefinite"/>
                      </p:stCondLst>
                      <p:childTnLst>
                        <p:par>
                          <p:cTn id="38" fill="hold">
                            <p:stCondLst>
                              <p:cond delay="0"/>
                            </p:stCondLst>
                            <p:childTnLst>
                              <p:par>
                                <p:cTn id="39" presetID="12" presetClass="entr" presetSubtype="8" fill="hold" grpId="0" nodeType="clickEffect">
                                  <p:stCondLst>
                                    <p:cond delay="0"/>
                                  </p:stCondLst>
                                  <p:childTnLst>
                                    <p:set>
                                      <p:cBhvr>
                                        <p:cTn id="40" dur="1" fill="hold">
                                          <p:stCondLst>
                                            <p:cond delay="0"/>
                                          </p:stCondLst>
                                        </p:cTn>
                                        <p:tgtEl>
                                          <p:spTgt spid="57"/>
                                        </p:tgtEl>
                                        <p:attrNameLst>
                                          <p:attrName>style.visibility</p:attrName>
                                        </p:attrNameLst>
                                      </p:cBhvr>
                                      <p:to>
                                        <p:strVal val="visible"/>
                                      </p:to>
                                    </p:set>
                                    <p:animEffect transition="in" filter="slide(fromLeft)">
                                      <p:cBhvr>
                                        <p:cTn id="41" dur="1000"/>
                                        <p:tgtEl>
                                          <p:spTgt spid="57"/>
                                        </p:tgtEl>
                                      </p:cBhvr>
                                    </p:animEffect>
                                  </p:childTnLst>
                                </p:cTn>
                              </p:par>
                              <p:par>
                                <p:cTn id="42" presetID="12" presetClass="entr" presetSubtype="8" fill="hold" grpId="0" nodeType="withEffect">
                                  <p:stCondLst>
                                    <p:cond delay="0"/>
                                  </p:stCondLst>
                                  <p:childTnLst>
                                    <p:set>
                                      <p:cBhvr>
                                        <p:cTn id="43" dur="1" fill="hold">
                                          <p:stCondLst>
                                            <p:cond delay="0"/>
                                          </p:stCondLst>
                                        </p:cTn>
                                        <p:tgtEl>
                                          <p:spTgt spid="58"/>
                                        </p:tgtEl>
                                        <p:attrNameLst>
                                          <p:attrName>style.visibility</p:attrName>
                                        </p:attrNameLst>
                                      </p:cBhvr>
                                      <p:to>
                                        <p:strVal val="visible"/>
                                      </p:to>
                                    </p:set>
                                    <p:animEffect transition="in" filter="slide(fromLeft)">
                                      <p:cBhvr>
                                        <p:cTn id="44" dur="1000"/>
                                        <p:tgtEl>
                                          <p:spTgt spid="58"/>
                                        </p:tgtEl>
                                      </p:cBhvr>
                                    </p:animEffect>
                                  </p:childTnLst>
                                </p:cTn>
                              </p:par>
                            </p:childTnLst>
                          </p:cTn>
                        </p:par>
                        <p:par>
                          <p:cTn id="45" fill="hold">
                            <p:stCondLst>
                              <p:cond delay="1000"/>
                            </p:stCondLst>
                            <p:childTnLst>
                              <p:par>
                                <p:cTn id="46" presetID="12" presetClass="entr" presetSubtype="8" fill="hold" grpId="0" nodeType="afterEffect">
                                  <p:stCondLst>
                                    <p:cond delay="0"/>
                                  </p:stCondLst>
                                  <p:childTnLst>
                                    <p:set>
                                      <p:cBhvr>
                                        <p:cTn id="47" dur="1" fill="hold">
                                          <p:stCondLst>
                                            <p:cond delay="0"/>
                                          </p:stCondLst>
                                        </p:cTn>
                                        <p:tgtEl>
                                          <p:spTgt spid="62"/>
                                        </p:tgtEl>
                                        <p:attrNameLst>
                                          <p:attrName>style.visibility</p:attrName>
                                        </p:attrNameLst>
                                      </p:cBhvr>
                                      <p:to>
                                        <p:strVal val="visible"/>
                                      </p:to>
                                    </p:set>
                                    <p:animEffect transition="in" filter="slide(fromLeft)">
                                      <p:cBhvr>
                                        <p:cTn id="48" dur="1000"/>
                                        <p:tgtEl>
                                          <p:spTgt spid="62"/>
                                        </p:tgtEl>
                                      </p:cBhvr>
                                    </p:animEffect>
                                  </p:childTnLst>
                                </p:cTn>
                              </p:par>
                            </p:childTnLst>
                          </p:cTn>
                        </p:par>
                        <p:par>
                          <p:cTn id="49" fill="hold">
                            <p:stCondLst>
                              <p:cond delay="2000"/>
                            </p:stCondLst>
                            <p:childTnLst>
                              <p:par>
                                <p:cTn id="50" presetID="12" presetClass="entr" presetSubtype="8" fill="hold" grpId="0" nodeType="afterEffect">
                                  <p:stCondLst>
                                    <p:cond delay="0"/>
                                  </p:stCondLst>
                                  <p:childTnLst>
                                    <p:set>
                                      <p:cBhvr>
                                        <p:cTn id="51" dur="1" fill="hold">
                                          <p:stCondLst>
                                            <p:cond delay="0"/>
                                          </p:stCondLst>
                                        </p:cTn>
                                        <p:tgtEl>
                                          <p:spTgt spid="64"/>
                                        </p:tgtEl>
                                        <p:attrNameLst>
                                          <p:attrName>style.visibility</p:attrName>
                                        </p:attrNameLst>
                                      </p:cBhvr>
                                      <p:to>
                                        <p:strVal val="visible"/>
                                      </p:to>
                                    </p:set>
                                    <p:animEffect transition="in" filter="slide(fromLeft)">
                                      <p:cBhvr>
                                        <p:cTn id="52" dur="1000"/>
                                        <p:tgtEl>
                                          <p:spTgt spid="64"/>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98"/>
                                        </p:tgtEl>
                                        <p:attrNameLst>
                                          <p:attrName>style.visibility</p:attrName>
                                        </p:attrNameLst>
                                      </p:cBhvr>
                                      <p:to>
                                        <p:strVal val="visible"/>
                                      </p:to>
                                    </p:set>
                                    <p:animEffect transition="in" filter="wipe(left)">
                                      <p:cBhvr>
                                        <p:cTn id="57" dur="1000"/>
                                        <p:tgtEl>
                                          <p:spTgt spid="98"/>
                                        </p:tgtEl>
                                      </p:cBhvr>
                                    </p:animEffect>
                                  </p:childTnLst>
                                </p:cTn>
                              </p:par>
                            </p:childTnLst>
                          </p:cTn>
                        </p:par>
                        <p:par>
                          <p:cTn id="58" fill="hold">
                            <p:stCondLst>
                              <p:cond delay="1000"/>
                            </p:stCondLst>
                            <p:childTnLst>
                              <p:par>
                                <p:cTn id="59" presetID="12" presetClass="entr" presetSubtype="4" fill="hold" nodeType="afterEffect">
                                  <p:stCondLst>
                                    <p:cond delay="0"/>
                                  </p:stCondLst>
                                  <p:childTnLst>
                                    <p:set>
                                      <p:cBhvr>
                                        <p:cTn id="60" dur="1" fill="hold">
                                          <p:stCondLst>
                                            <p:cond delay="0"/>
                                          </p:stCondLst>
                                        </p:cTn>
                                        <p:tgtEl>
                                          <p:spTgt spid="1034"/>
                                        </p:tgtEl>
                                        <p:attrNameLst>
                                          <p:attrName>style.visibility</p:attrName>
                                        </p:attrNameLst>
                                      </p:cBhvr>
                                      <p:to>
                                        <p:strVal val="visible"/>
                                      </p:to>
                                    </p:set>
                                    <p:animEffect transition="in" filter="slide(fromBottom)">
                                      <p:cBhvr>
                                        <p:cTn id="61" dur="1000"/>
                                        <p:tgtEl>
                                          <p:spTgt spid="103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100"/>
                                        </p:tgtEl>
                                        <p:attrNameLst>
                                          <p:attrName>style.visibility</p:attrName>
                                        </p:attrNameLst>
                                      </p:cBhvr>
                                      <p:to>
                                        <p:strVal val="visible"/>
                                      </p:to>
                                    </p:set>
                                    <p:animEffect transition="in" filter="wipe(left)">
                                      <p:cBhvr>
                                        <p:cTn id="66" dur="1000"/>
                                        <p:tgtEl>
                                          <p:spTgt spid="100"/>
                                        </p:tgtEl>
                                      </p:cBhvr>
                                    </p:animEffect>
                                  </p:childTnLst>
                                </p:cTn>
                              </p:par>
                            </p:childTnLst>
                          </p:cTn>
                        </p:par>
                        <p:par>
                          <p:cTn id="67" fill="hold">
                            <p:stCondLst>
                              <p:cond delay="1000"/>
                            </p:stCondLst>
                            <p:childTnLst>
                              <p:par>
                                <p:cTn id="68" presetID="12" presetClass="entr" presetSubtype="4" fill="hold" nodeType="afterEffect">
                                  <p:stCondLst>
                                    <p:cond delay="0"/>
                                  </p:stCondLst>
                                  <p:childTnLst>
                                    <p:set>
                                      <p:cBhvr>
                                        <p:cTn id="69" dur="1" fill="hold">
                                          <p:stCondLst>
                                            <p:cond delay="0"/>
                                          </p:stCondLst>
                                        </p:cTn>
                                        <p:tgtEl>
                                          <p:spTgt spid="105"/>
                                        </p:tgtEl>
                                        <p:attrNameLst>
                                          <p:attrName>style.visibility</p:attrName>
                                        </p:attrNameLst>
                                      </p:cBhvr>
                                      <p:to>
                                        <p:strVal val="visible"/>
                                      </p:to>
                                    </p:set>
                                    <p:animEffect transition="in" filter="slide(fromBottom)">
                                      <p:cBhvr>
                                        <p:cTn id="70" dur="1000"/>
                                        <p:tgtEl>
                                          <p:spTgt spid="105"/>
                                        </p:tgtEl>
                                      </p:cBhvr>
                                    </p:animEffect>
                                  </p:childTnLst>
                                </p:cTn>
                              </p:par>
                            </p:childTnLst>
                          </p:cTn>
                        </p:par>
                        <p:par>
                          <p:cTn id="71" fill="hold">
                            <p:stCondLst>
                              <p:cond delay="2000"/>
                            </p:stCondLst>
                            <p:childTnLst>
                              <p:par>
                                <p:cTn id="72" presetID="12" presetClass="entr" presetSubtype="4" fill="hold" nodeType="afterEffect">
                                  <p:stCondLst>
                                    <p:cond delay="0"/>
                                  </p:stCondLst>
                                  <p:childTnLst>
                                    <p:set>
                                      <p:cBhvr>
                                        <p:cTn id="73" dur="1" fill="hold">
                                          <p:stCondLst>
                                            <p:cond delay="0"/>
                                          </p:stCondLst>
                                        </p:cTn>
                                        <p:tgtEl>
                                          <p:spTgt spid="1036"/>
                                        </p:tgtEl>
                                        <p:attrNameLst>
                                          <p:attrName>style.visibility</p:attrName>
                                        </p:attrNameLst>
                                      </p:cBhvr>
                                      <p:to>
                                        <p:strVal val="visible"/>
                                      </p:to>
                                    </p:set>
                                    <p:animEffect transition="in" filter="slide(fromBottom)">
                                      <p:cBhvr>
                                        <p:cTn id="74" dur="1000"/>
                                        <p:tgtEl>
                                          <p:spTgt spid="1036"/>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101"/>
                                        </p:tgtEl>
                                        <p:attrNameLst>
                                          <p:attrName>style.visibility</p:attrName>
                                        </p:attrNameLst>
                                      </p:cBhvr>
                                      <p:to>
                                        <p:strVal val="visible"/>
                                      </p:to>
                                    </p:set>
                                    <p:animEffect transition="in" filter="wipe(left)">
                                      <p:cBhvr>
                                        <p:cTn id="79" dur="1000"/>
                                        <p:tgtEl>
                                          <p:spTgt spid="101"/>
                                        </p:tgtEl>
                                      </p:cBhvr>
                                    </p:animEffect>
                                  </p:childTnLst>
                                </p:cTn>
                              </p:par>
                            </p:childTnLst>
                          </p:cTn>
                        </p:par>
                        <p:par>
                          <p:cTn id="80" fill="hold">
                            <p:stCondLst>
                              <p:cond delay="1000"/>
                            </p:stCondLst>
                            <p:childTnLst>
                              <p:par>
                                <p:cTn id="81" presetID="22" presetClass="entr" presetSubtype="4" fill="hold" grpId="0" nodeType="afterEffect">
                                  <p:stCondLst>
                                    <p:cond delay="0"/>
                                  </p:stCondLst>
                                  <p:childTnLst>
                                    <p:set>
                                      <p:cBhvr>
                                        <p:cTn id="82" dur="1" fill="hold">
                                          <p:stCondLst>
                                            <p:cond delay="0"/>
                                          </p:stCondLst>
                                        </p:cTn>
                                        <p:tgtEl>
                                          <p:spTgt spid="102"/>
                                        </p:tgtEl>
                                        <p:attrNameLst>
                                          <p:attrName>style.visibility</p:attrName>
                                        </p:attrNameLst>
                                      </p:cBhvr>
                                      <p:to>
                                        <p:strVal val="visible"/>
                                      </p:to>
                                    </p:set>
                                    <p:animEffect transition="in" filter="wipe(down)">
                                      <p:cBhvr>
                                        <p:cTn id="83" dur="1000"/>
                                        <p:tgtEl>
                                          <p:spTgt spid="102"/>
                                        </p:tgtEl>
                                      </p:cBhvr>
                                    </p:animEffect>
                                  </p:childTnLst>
                                </p:cTn>
                              </p:par>
                            </p:childTnLst>
                          </p:cTn>
                        </p:par>
                        <p:par>
                          <p:cTn id="84" fill="hold">
                            <p:stCondLst>
                              <p:cond delay="2000"/>
                            </p:stCondLst>
                            <p:childTnLst>
                              <p:par>
                                <p:cTn id="85" presetID="22" presetClass="entr" presetSubtype="8" fill="hold" nodeType="afterEffect">
                                  <p:stCondLst>
                                    <p:cond delay="0"/>
                                  </p:stCondLst>
                                  <p:childTnLst>
                                    <p:set>
                                      <p:cBhvr>
                                        <p:cTn id="86" dur="1" fill="hold">
                                          <p:stCondLst>
                                            <p:cond delay="0"/>
                                          </p:stCondLst>
                                        </p:cTn>
                                        <p:tgtEl>
                                          <p:spTgt spid="59"/>
                                        </p:tgtEl>
                                        <p:attrNameLst>
                                          <p:attrName>style.visibility</p:attrName>
                                        </p:attrNameLst>
                                      </p:cBhvr>
                                      <p:to>
                                        <p:strVal val="visible"/>
                                      </p:to>
                                    </p:set>
                                    <p:animEffect transition="in" filter="wipe(left)">
                                      <p:cBhvr>
                                        <p:cTn id="87" dur="1000"/>
                                        <p:tgtEl>
                                          <p:spTgt spid="59"/>
                                        </p:tgtEl>
                                      </p:cBhvr>
                                    </p:animEffect>
                                  </p:childTnLst>
                                </p:cTn>
                              </p:par>
                            </p:childTnLst>
                          </p:cTn>
                        </p:par>
                      </p:childTnLst>
                    </p:cTn>
                  </p:par>
                  <p:par>
                    <p:cTn id="88" fill="hold">
                      <p:stCondLst>
                        <p:cond delay="indefinite"/>
                      </p:stCondLst>
                      <p:childTnLst>
                        <p:par>
                          <p:cTn id="89" fill="hold">
                            <p:stCondLst>
                              <p:cond delay="0"/>
                            </p:stCondLst>
                            <p:childTnLst>
                              <p:par>
                                <p:cTn id="90" presetID="12" presetClass="entr" presetSubtype="4" fill="hold" nodeType="clickEffect">
                                  <p:stCondLst>
                                    <p:cond delay="0"/>
                                  </p:stCondLst>
                                  <p:childTnLst>
                                    <p:set>
                                      <p:cBhvr>
                                        <p:cTn id="91" dur="1" fill="hold">
                                          <p:stCondLst>
                                            <p:cond delay="0"/>
                                          </p:stCondLst>
                                        </p:cTn>
                                        <p:tgtEl>
                                          <p:spTgt spid="1037"/>
                                        </p:tgtEl>
                                        <p:attrNameLst>
                                          <p:attrName>style.visibility</p:attrName>
                                        </p:attrNameLst>
                                      </p:cBhvr>
                                      <p:to>
                                        <p:strVal val="visible"/>
                                      </p:to>
                                    </p:set>
                                    <p:animEffect transition="in" filter="slide(fromBottom)">
                                      <p:cBhvr>
                                        <p:cTn id="92" dur="1000"/>
                                        <p:tgtEl>
                                          <p:spTgt spid="1037"/>
                                        </p:tgtEl>
                                      </p:cBhvr>
                                    </p:animEffect>
                                  </p:childTnLst>
                                </p:cTn>
                              </p:par>
                            </p:childTnLst>
                          </p:cTn>
                        </p:par>
                        <p:par>
                          <p:cTn id="93" fill="hold">
                            <p:stCondLst>
                              <p:cond delay="1000"/>
                            </p:stCondLst>
                            <p:childTnLst>
                              <p:par>
                                <p:cTn id="94" presetID="12" presetClass="entr" presetSubtype="4" fill="hold" nodeType="afterEffect">
                                  <p:stCondLst>
                                    <p:cond delay="0"/>
                                  </p:stCondLst>
                                  <p:childTnLst>
                                    <p:set>
                                      <p:cBhvr>
                                        <p:cTn id="95" dur="1" fill="hold">
                                          <p:stCondLst>
                                            <p:cond delay="0"/>
                                          </p:stCondLst>
                                        </p:cTn>
                                        <p:tgtEl>
                                          <p:spTgt spid="1038"/>
                                        </p:tgtEl>
                                        <p:attrNameLst>
                                          <p:attrName>style.visibility</p:attrName>
                                        </p:attrNameLst>
                                      </p:cBhvr>
                                      <p:to>
                                        <p:strVal val="visible"/>
                                      </p:to>
                                    </p:set>
                                    <p:animEffect transition="in" filter="slide(fromBottom)">
                                      <p:cBhvr>
                                        <p:cTn id="96" dur="1000"/>
                                        <p:tgtEl>
                                          <p:spTgt spid="1038"/>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104"/>
                                        </p:tgtEl>
                                        <p:attrNameLst>
                                          <p:attrName>style.visibility</p:attrName>
                                        </p:attrNameLst>
                                      </p:cBhvr>
                                      <p:to>
                                        <p:strVal val="visible"/>
                                      </p:to>
                                    </p:set>
                                    <p:animEffect transition="in" filter="wipe(left)">
                                      <p:cBhvr>
                                        <p:cTn id="101" dur="1000"/>
                                        <p:tgtEl>
                                          <p:spTgt spid="104"/>
                                        </p:tgtEl>
                                      </p:cBhvr>
                                    </p:animEffect>
                                  </p:childTnLst>
                                </p:cTn>
                              </p:par>
                            </p:childTnLst>
                          </p:cTn>
                        </p:par>
                        <p:par>
                          <p:cTn id="102" fill="hold">
                            <p:stCondLst>
                              <p:cond delay="1000"/>
                            </p:stCondLst>
                            <p:childTnLst>
                              <p:par>
                                <p:cTn id="103" presetID="22" presetClass="entr" presetSubtype="8" fill="hold" nodeType="afterEffect">
                                  <p:stCondLst>
                                    <p:cond delay="0"/>
                                  </p:stCondLst>
                                  <p:childTnLst>
                                    <p:set>
                                      <p:cBhvr>
                                        <p:cTn id="104" dur="1" fill="hold">
                                          <p:stCondLst>
                                            <p:cond delay="0"/>
                                          </p:stCondLst>
                                        </p:cTn>
                                        <p:tgtEl>
                                          <p:spTgt spid="142"/>
                                        </p:tgtEl>
                                        <p:attrNameLst>
                                          <p:attrName>style.visibility</p:attrName>
                                        </p:attrNameLst>
                                      </p:cBhvr>
                                      <p:to>
                                        <p:strVal val="visible"/>
                                      </p:to>
                                    </p:set>
                                    <p:animEffect transition="in" filter="wipe(left)">
                                      <p:cBhvr>
                                        <p:cTn id="105" dur="1000"/>
                                        <p:tgtEl>
                                          <p:spTgt spid="1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p:bldP spid="55" grpId="0" animBg="1"/>
      <p:bldP spid="57" grpId="0" animBg="1"/>
      <p:bldP spid="58" grpId="0" animBg="1"/>
      <p:bldP spid="60" grpId="0"/>
      <p:bldP spid="62" grpId="0"/>
      <p:bldP spid="64" grpId="0"/>
      <p:bldP spid="102" grpId="0" animBg="1"/>
      <p:bldP spid="104" grpId="0" animBg="1"/>
      <p:bldP spid="95" grpId="0"/>
      <p:bldP spid="98" grpId="0"/>
      <p:bldP spid="100" grpId="0"/>
      <p:bldP spid="10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7"/>
          <p:cNvGrpSpPr/>
          <p:nvPr/>
        </p:nvGrpSpPr>
        <p:grpSpPr>
          <a:xfrm>
            <a:off x="344806" y="722299"/>
            <a:ext cx="3114144" cy="420971"/>
            <a:chOff x="670560" y="892917"/>
            <a:chExt cx="3114144" cy="420971"/>
          </a:xfrm>
        </p:grpSpPr>
        <p:sp>
          <p:nvSpPr>
            <p:cNvPr id="40" name="矩形 39"/>
            <p:cNvSpPr/>
            <p:nvPr/>
          </p:nvSpPr>
          <p:spPr>
            <a:xfrm>
              <a:off x="1035233" y="913778"/>
              <a:ext cx="2749471"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组合逻辑电路设计实例</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37" name="组合 36"/>
          <p:cNvGrpSpPr/>
          <p:nvPr/>
        </p:nvGrpSpPr>
        <p:grpSpPr>
          <a:xfrm>
            <a:off x="369777" y="1200648"/>
            <a:ext cx="8328950" cy="596594"/>
            <a:chOff x="369777" y="1200648"/>
            <a:chExt cx="8328950" cy="596594"/>
          </a:xfrm>
        </p:grpSpPr>
        <p:sp>
          <p:nvSpPr>
            <p:cNvPr id="51" name="TextBox 50"/>
            <p:cNvSpPr txBox="1"/>
            <p:nvPr/>
          </p:nvSpPr>
          <p:spPr>
            <a:xfrm>
              <a:off x="723710" y="1203297"/>
              <a:ext cx="7975017" cy="593945"/>
            </a:xfrm>
            <a:prstGeom prst="rect">
              <a:avLst/>
            </a:prstGeom>
            <a:noFill/>
          </p:spPr>
          <p:txBody>
            <a:bodyPr wrap="square" rtlCol="0">
              <a:spAutoFit/>
            </a:bodyPr>
            <a:lstStyle/>
            <a:p>
              <a:pPr marL="396875" indent="-434975">
                <a:lnSpc>
                  <a:spcPct val="125000"/>
                </a:lnSpc>
              </a:pPr>
              <a:r>
                <a:rPr lang="zh-CN" altLang="en-US" sz="1400" b="1" dirty="0">
                  <a:solidFill>
                    <a:srgbClr val="CC00CC"/>
                  </a:solidFill>
                  <a:latin typeface="黑体" panose="02010609060101010101" pitchFamily="49" charset="-122"/>
                  <a:ea typeface="黑体" panose="02010609060101010101" pitchFamily="49" charset="-122"/>
                </a:rPr>
                <a:t>例</a:t>
              </a:r>
              <a:r>
                <a:rPr lang="en-US" altLang="zh-CN" sz="1400" b="1" dirty="0">
                  <a:solidFill>
                    <a:srgbClr val="CC00CC"/>
                  </a:solidFill>
                  <a:latin typeface="黑体" panose="02010609060101010101" pitchFamily="49" charset="-122"/>
                  <a:ea typeface="黑体" panose="02010609060101010101" pitchFamily="49" charset="-122"/>
                </a:rPr>
                <a:t>2</a:t>
              </a:r>
              <a:r>
                <a:rPr lang="zh-CN" altLang="en-US" sz="1400" b="1" dirty="0">
                  <a:solidFill>
                    <a:srgbClr val="CC00CC"/>
                  </a:solidFill>
                  <a:latin typeface="黑体" panose="02010609060101010101" pitchFamily="49" charset="-122"/>
                  <a:ea typeface="黑体" panose="02010609060101010101" pitchFamily="49" charset="-122"/>
                </a:rPr>
                <a:t>：</a:t>
              </a:r>
              <a:r>
                <a:rPr lang="zh-CN" altLang="en-US" sz="1400" dirty="0">
                  <a:solidFill>
                    <a:srgbClr val="000000"/>
                  </a:solidFill>
                  <a:latin typeface="黑体" panose="02010609060101010101" pitchFamily="49" charset="-122"/>
                  <a:ea typeface="黑体" panose="02010609060101010101" pitchFamily="49" charset="-122"/>
                </a:rPr>
                <a:t>某车间有</a:t>
              </a:r>
              <a:r>
                <a:rPr lang="en-US" altLang="zh-CN" sz="1400" dirty="0">
                  <a:solidFill>
                    <a:srgbClr val="000000"/>
                  </a:solidFill>
                  <a:latin typeface="黑体" panose="02010609060101010101" pitchFamily="49" charset="-122"/>
                  <a:ea typeface="黑体" panose="02010609060101010101" pitchFamily="49" charset="-122"/>
                </a:rPr>
                <a:t>3</a:t>
              </a:r>
              <a:r>
                <a:rPr lang="zh-CN" altLang="en-US" sz="1400" dirty="0">
                  <a:solidFill>
                    <a:srgbClr val="000000"/>
                  </a:solidFill>
                  <a:latin typeface="黑体" panose="02010609060101010101" pitchFamily="49" charset="-122"/>
                  <a:ea typeface="黑体" panose="02010609060101010101" pitchFamily="49" charset="-122"/>
                </a:rPr>
                <a:t>台设备，如有</a:t>
              </a:r>
              <a:r>
                <a:rPr lang="en-US" altLang="zh-CN" sz="1400" dirty="0">
                  <a:solidFill>
                    <a:srgbClr val="000000"/>
                  </a:solidFill>
                  <a:latin typeface="黑体" panose="02010609060101010101" pitchFamily="49" charset="-122"/>
                  <a:ea typeface="黑体" panose="02010609060101010101" pitchFamily="49" charset="-122"/>
                </a:rPr>
                <a:t>1</a:t>
              </a:r>
              <a:r>
                <a:rPr lang="zh-CN" altLang="en-US" sz="1400" dirty="0">
                  <a:solidFill>
                    <a:srgbClr val="000000"/>
                  </a:solidFill>
                  <a:latin typeface="黑体" panose="02010609060101010101" pitchFamily="49" charset="-122"/>
                  <a:ea typeface="黑体" panose="02010609060101010101" pitchFamily="49" charset="-122"/>
                </a:rPr>
                <a:t>台出现故障时黄灯亮，两台出现故障时红灯亮，三台都出现故障时红黄灯都亮，设计一个显示车间设备故障情况的电路，并用</a:t>
              </a:r>
              <a:r>
                <a:rPr lang="zh-CN" altLang="en-US" sz="1400" dirty="0">
                  <a:solidFill>
                    <a:srgbClr val="FF00FF"/>
                  </a:solidFill>
                  <a:latin typeface="黑体" panose="02010609060101010101" pitchFamily="49" charset="-122"/>
                  <a:ea typeface="黑体" panose="02010609060101010101" pitchFamily="49" charset="-122"/>
                </a:rPr>
                <a:t>与非门</a:t>
              </a:r>
              <a:r>
                <a:rPr lang="zh-CN" altLang="en-US" sz="1400" dirty="0">
                  <a:solidFill>
                    <a:srgbClr val="000000"/>
                  </a:solidFill>
                  <a:latin typeface="黑体" panose="02010609060101010101" pitchFamily="49" charset="-122"/>
                  <a:ea typeface="黑体" panose="02010609060101010101" pitchFamily="49" charset="-122"/>
                </a:rPr>
                <a:t>加以实现。</a:t>
              </a:r>
              <a:endParaRPr lang="zh-CN" altLang="en-US" sz="1400" b="1" dirty="0">
                <a:solidFill>
                  <a:srgbClr val="6600FF"/>
                </a:solidFill>
                <a:latin typeface="黑体" panose="02010609060101010101" pitchFamily="49" charset="-122"/>
                <a:ea typeface="黑体" panose="02010609060101010101" pitchFamily="49" charset="-122"/>
              </a:endParaRPr>
            </a:p>
          </p:txBody>
        </p:sp>
        <p:pic>
          <p:nvPicPr>
            <p:cNvPr id="1028" name="Picture 4"/>
            <p:cNvPicPr>
              <a:picLocks noChangeAspect="1" noChangeArrowheads="1"/>
            </p:cNvPicPr>
            <p:nvPr/>
          </p:nvPicPr>
          <p:blipFill>
            <a:blip r:embed="rId2" cstate="print"/>
            <a:srcRect/>
            <a:stretch>
              <a:fillRect/>
            </a:stretch>
          </p:blipFill>
          <p:spPr bwMode="auto">
            <a:xfrm>
              <a:off x="369777" y="1200648"/>
              <a:ext cx="373669" cy="374630"/>
            </a:xfrm>
            <a:prstGeom prst="rect">
              <a:avLst/>
            </a:prstGeom>
            <a:noFill/>
            <a:ln w="9525">
              <a:noFill/>
              <a:miter lim="800000"/>
              <a:headEnd/>
              <a:tailEnd/>
            </a:ln>
          </p:spPr>
        </p:pic>
      </p:grpSp>
      <p:grpSp>
        <p:nvGrpSpPr>
          <p:cNvPr id="7" name="组合 87"/>
          <p:cNvGrpSpPr/>
          <p:nvPr/>
        </p:nvGrpSpPr>
        <p:grpSpPr>
          <a:xfrm>
            <a:off x="410835" y="1871124"/>
            <a:ext cx="837560" cy="369332"/>
            <a:chOff x="4330854" y="1354964"/>
            <a:chExt cx="837560" cy="369332"/>
          </a:xfrm>
        </p:grpSpPr>
        <p:sp>
          <p:nvSpPr>
            <p:cNvPr id="8" name="矩形 7"/>
            <p:cNvSpPr/>
            <p:nvPr/>
          </p:nvSpPr>
          <p:spPr>
            <a:xfrm>
              <a:off x="4637499" y="1354964"/>
              <a:ext cx="530915" cy="369332"/>
            </a:xfrm>
            <a:prstGeom prst="rect">
              <a:avLst/>
            </a:prstGeom>
          </p:spPr>
          <p:txBody>
            <a:bodyPr wrap="none">
              <a:spAutoFit/>
            </a:bodyPr>
            <a:lstStyle/>
            <a:p>
              <a:r>
                <a:rPr lang="zh-CN" altLang="en-US" b="1" dirty="0">
                  <a:solidFill>
                    <a:srgbClr val="CC00CC"/>
                  </a:solidFill>
                  <a:latin typeface="黑体" panose="02010609060101010101" pitchFamily="49" charset="-122"/>
                  <a:ea typeface="黑体" panose="02010609060101010101" pitchFamily="49" charset="-122"/>
                </a:rPr>
                <a:t>解</a:t>
              </a:r>
              <a:r>
                <a:rPr lang="en-US" altLang="zh-CN" b="1" dirty="0">
                  <a:solidFill>
                    <a:srgbClr val="CC00CC"/>
                  </a:solidFill>
                  <a:latin typeface="黑体" panose="02010609060101010101" pitchFamily="49" charset="-122"/>
                  <a:ea typeface="黑体" panose="02010609060101010101" pitchFamily="49" charset="-122"/>
                  <a:sym typeface="Wingdings" panose="05000000000000000000" pitchFamily="2" charset="2"/>
                </a:rPr>
                <a:t>:</a:t>
              </a:r>
              <a:endParaRPr lang="zh-CN" altLang="en-US" b="1" dirty="0">
                <a:solidFill>
                  <a:srgbClr val="CC00CC"/>
                </a:solidFill>
                <a:latin typeface="黑体" panose="02010609060101010101" pitchFamily="49" charset="-122"/>
                <a:ea typeface="黑体" panose="02010609060101010101" pitchFamily="49" charset="-122"/>
              </a:endParaRPr>
            </a:p>
          </p:txBody>
        </p:sp>
        <p:pic>
          <p:nvPicPr>
            <p:cNvPr id="9" name="Picture 5"/>
            <p:cNvPicPr>
              <a:picLocks noChangeAspect="1" noChangeArrowheads="1"/>
            </p:cNvPicPr>
            <p:nvPr/>
          </p:nvPicPr>
          <p:blipFill>
            <a:blip r:embed="rId3" cstate="print"/>
            <a:srcRect/>
            <a:stretch>
              <a:fillRect/>
            </a:stretch>
          </p:blipFill>
          <p:spPr bwMode="auto">
            <a:xfrm>
              <a:off x="4330854" y="1369617"/>
              <a:ext cx="348489" cy="340027"/>
            </a:xfrm>
            <a:prstGeom prst="rect">
              <a:avLst/>
            </a:prstGeom>
            <a:noFill/>
            <a:ln w="9525">
              <a:noFill/>
              <a:miter lim="800000"/>
              <a:headEnd/>
              <a:tailEnd/>
            </a:ln>
          </p:spPr>
        </p:pic>
      </p:grpSp>
      <p:sp>
        <p:nvSpPr>
          <p:cNvPr id="10" name="矩形 9"/>
          <p:cNvSpPr/>
          <p:nvPr/>
        </p:nvSpPr>
        <p:spPr>
          <a:xfrm>
            <a:off x="1178870" y="1888954"/>
            <a:ext cx="7631175" cy="523220"/>
          </a:xfrm>
          <a:prstGeom prst="rect">
            <a:avLst/>
          </a:prstGeom>
        </p:spPr>
        <p:txBody>
          <a:bodyPr wrap="square">
            <a:spAutoFit/>
          </a:bodyPr>
          <a:lstStyle/>
          <a:p>
            <a:r>
              <a:rPr lang="zh-CN" altLang="en-US" sz="1400" dirty="0">
                <a:latin typeface="Times New Roman" panose="02020603050405020304" pitchFamily="18" charset="0"/>
                <a:ea typeface="黑体" panose="02010609060101010101" pitchFamily="49" charset="-122"/>
                <a:cs typeface="Times New Roman" panose="02020603050405020304" pitchFamily="18" charset="0"/>
              </a:rPr>
              <a:t>设三台设备分别为</a:t>
            </a:r>
            <a:r>
              <a:rPr lang="en-US" altLang="zh-CN" sz="1400" i="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A</a:t>
            </a:r>
            <a:r>
              <a:rPr lang="zh-CN" altLang="en-US" sz="1400"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400" i="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B</a:t>
            </a:r>
            <a:r>
              <a:rPr lang="zh-CN" altLang="en-US" sz="1400"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400" i="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C</a:t>
            </a:r>
            <a:r>
              <a:rPr lang="en-US" altLang="zh-CN" sz="1400"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1400"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输入变量</a:t>
            </a:r>
            <a:r>
              <a:rPr lang="en-US" altLang="zh-CN" sz="1400"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1400" dirty="0">
                <a:latin typeface="Times New Roman" panose="02020603050405020304" pitchFamily="18" charset="0"/>
                <a:ea typeface="黑体" panose="02010609060101010101" pitchFamily="49" charset="-122"/>
                <a:cs typeface="Times New Roman" panose="02020603050405020304" pitchFamily="18" charset="0"/>
              </a:rPr>
              <a:t>，黄灯、红灯分别为</a:t>
            </a:r>
            <a:r>
              <a:rPr lang="en-US" altLang="zh-CN" sz="1400" i="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Y</a:t>
            </a:r>
            <a:r>
              <a:rPr lang="zh-CN" altLang="en-US" sz="1400"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400" i="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R</a:t>
            </a:r>
            <a:r>
              <a:rPr lang="en-US" altLang="zh-CN" sz="1400"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1400"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输出变量</a:t>
            </a:r>
            <a:r>
              <a:rPr lang="en-US" altLang="zh-CN" sz="1400"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1400" dirty="0">
                <a:latin typeface="Times New Roman" panose="02020603050405020304" pitchFamily="18" charset="0"/>
                <a:ea typeface="黑体" panose="02010609060101010101" pitchFamily="49" charset="-122"/>
                <a:cs typeface="Times New Roman" panose="02020603050405020304" pitchFamily="18" charset="0"/>
              </a:rPr>
              <a:t>；设备有故障为逻辑</a:t>
            </a:r>
            <a:r>
              <a:rPr lang="en-US" altLang="zh-CN" sz="14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1400" dirty="0">
                <a:latin typeface="Times New Roman" panose="02020603050405020304" pitchFamily="18" charset="0"/>
                <a:ea typeface="黑体" panose="02010609060101010101" pitchFamily="49" charset="-122"/>
                <a:cs typeface="Times New Roman" panose="02020603050405020304" pitchFamily="18" charset="0"/>
              </a:rPr>
              <a:t>无故障为逻辑“</a:t>
            </a:r>
            <a:r>
              <a:rPr lang="en-US" altLang="zh-CN" sz="1400" dirty="0">
                <a:latin typeface="Times New Roman" panose="02020603050405020304" pitchFamily="18" charset="0"/>
                <a:ea typeface="黑体" panose="02010609060101010101" pitchFamily="49" charset="-122"/>
                <a:cs typeface="Times New Roman" panose="02020603050405020304" pitchFamily="18" charset="0"/>
              </a:rPr>
              <a:t>0</a:t>
            </a:r>
            <a:r>
              <a:rPr lang="zh-CN" altLang="en-US" sz="1400" dirty="0">
                <a:latin typeface="Times New Roman" panose="02020603050405020304" pitchFamily="18" charset="0"/>
                <a:ea typeface="黑体" panose="02010609060101010101" pitchFamily="49" charset="-122"/>
                <a:cs typeface="Times New Roman" panose="02020603050405020304" pitchFamily="18" charset="0"/>
              </a:rPr>
              <a:t>”；灯亮为逻辑“</a:t>
            </a:r>
            <a:r>
              <a:rPr lang="en-US" altLang="zh-CN" sz="1400"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1400" dirty="0">
                <a:latin typeface="Times New Roman" panose="02020603050405020304" pitchFamily="18" charset="0"/>
                <a:ea typeface="黑体" panose="02010609060101010101" pitchFamily="49" charset="-122"/>
                <a:cs typeface="Times New Roman" panose="02020603050405020304" pitchFamily="18" charset="0"/>
              </a:rPr>
              <a:t>”，不亮为逻辑“</a:t>
            </a:r>
            <a:r>
              <a:rPr lang="en-US" altLang="zh-CN" sz="1400" dirty="0">
                <a:latin typeface="Times New Roman" panose="02020603050405020304" pitchFamily="18" charset="0"/>
                <a:ea typeface="黑体" panose="02010609060101010101" pitchFamily="49" charset="-122"/>
                <a:cs typeface="Times New Roman" panose="02020603050405020304" pitchFamily="18" charset="0"/>
              </a:rPr>
              <a:t>0</a:t>
            </a:r>
            <a:r>
              <a:rPr lang="zh-CN" altLang="en-US" sz="140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1400" dirty="0">
              <a:latin typeface="Times New Roman" panose="02020603050405020304" pitchFamily="18" charset="0"/>
              <a:cs typeface="Times New Roman" panose="02020603050405020304" pitchFamily="18" charset="0"/>
            </a:endParaRPr>
          </a:p>
        </p:txBody>
      </p:sp>
      <p:sp>
        <p:nvSpPr>
          <p:cNvPr id="11" name="圆角矩形 10"/>
          <p:cNvSpPr/>
          <p:nvPr/>
        </p:nvSpPr>
        <p:spPr>
          <a:xfrm>
            <a:off x="1184739" y="2628532"/>
            <a:ext cx="1856630" cy="2138914"/>
          </a:xfrm>
          <a:prstGeom prst="roundRect">
            <a:avLst>
              <a:gd name="adj" fmla="val 4461"/>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2" name="表格 11"/>
          <p:cNvGraphicFramePr>
            <a:graphicFrameLocks noGrp="1"/>
          </p:cNvGraphicFramePr>
          <p:nvPr/>
        </p:nvGraphicFramePr>
        <p:xfrm>
          <a:off x="1297385" y="2736425"/>
          <a:ext cx="1656525" cy="1947532"/>
        </p:xfrm>
        <a:graphic>
          <a:graphicData uri="http://schemas.openxmlformats.org/drawingml/2006/table">
            <a:tbl>
              <a:tblPr firstRow="1" bandRow="1">
                <a:tableStyleId>{5C22544A-7EE6-4342-B048-85BDC9FD1C3A}</a:tableStyleId>
              </a:tblPr>
              <a:tblGrid>
                <a:gridCol w="984639"/>
                <a:gridCol w="671886"/>
              </a:tblGrid>
              <a:tr h="214133">
                <a:tc>
                  <a:txBody>
                    <a:bodyPr/>
                    <a:lstStyle/>
                    <a:p>
                      <a:pPr algn="ctr">
                        <a:lnSpc>
                          <a:spcPts val="1200"/>
                        </a:lnSpc>
                      </a:pPr>
                      <a:r>
                        <a:rPr lang="en-US" altLang="zh-CN" sz="1400" b="1" i="1" dirty="0">
                          <a:solidFill>
                            <a:schemeClr val="tx1"/>
                          </a:solidFill>
                          <a:latin typeface="Times New Roman" panose="02020603050405020304" pitchFamily="18" charset="0"/>
                          <a:cs typeface="Times New Roman" panose="02020603050405020304" pitchFamily="18" charset="0"/>
                        </a:rPr>
                        <a:t>A</a:t>
                      </a:r>
                      <a:r>
                        <a:rPr lang="en-US" altLang="zh-CN" sz="1400" b="1" i="1" baseline="0" dirty="0">
                          <a:solidFill>
                            <a:schemeClr val="tx1"/>
                          </a:solidFill>
                          <a:latin typeface="Times New Roman" panose="02020603050405020304" pitchFamily="18" charset="0"/>
                          <a:cs typeface="Times New Roman" panose="02020603050405020304" pitchFamily="18" charset="0"/>
                        </a:rPr>
                        <a:t>     B     C</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0" marR="0" marT="0" marB="0" anchor="b">
                    <a:lnL w="19050" cap="flat" cmpd="sng" algn="ctr">
                      <a:no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ts val="1200"/>
                        </a:lnSpc>
                      </a:pPr>
                      <a:r>
                        <a:rPr lang="en-US" altLang="zh-CN" sz="1400" b="1" i="1" dirty="0">
                          <a:solidFill>
                            <a:schemeClr val="tx1"/>
                          </a:solidFill>
                          <a:latin typeface="Times New Roman" panose="02020603050405020304" pitchFamily="18" charset="0"/>
                          <a:cs typeface="Times New Roman" panose="02020603050405020304" pitchFamily="18" charset="0"/>
                        </a:rPr>
                        <a:t>Y    R</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0" marR="0" marT="0" marB="0" anchor="b">
                    <a:lnL w="19050" cap="flat" cmpd="sng" algn="ctr">
                      <a:solidFill>
                        <a:schemeClr val="accent5"/>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733399">
                <a:tc>
                  <a:txBody>
                    <a:bodyPr/>
                    <a:lstStyle/>
                    <a:p>
                      <a:pPr marL="0" marR="0" indent="0" algn="ctr" defTabSz="914400" rtl="0" eaLnBrk="1" fontAlgn="auto" latinLnBrk="0" hangingPunct="1">
                        <a:lnSpc>
                          <a:spcPct val="100000"/>
                        </a:lnSpc>
                        <a:spcBef>
                          <a:spcPts val="0"/>
                        </a:spcBef>
                        <a:spcAft>
                          <a:spcPts val="0"/>
                        </a:spcAft>
                        <a:buClrTx/>
                        <a:buSzTx/>
                        <a:buFontTx/>
                        <a:buNone/>
                        <a:defRPr/>
                      </a:pPr>
                      <a:endParaRPr lang="zh-CN" altLang="en-US" sz="1400" b="1" dirty="0">
                        <a:solidFill>
                          <a:schemeClr val="tx1"/>
                        </a:solidFill>
                        <a:latin typeface="Times New Roman" panose="02020603050405020304" pitchFamily="18" charset="0"/>
                        <a:cs typeface="Times New Roman" panose="02020603050405020304" pitchFamily="18" charset="0"/>
                      </a:endParaRPr>
                    </a:p>
                  </a:txBody>
                  <a:tcPr marL="0" marR="0" marT="0" marB="0" anchor="b">
                    <a:lnL w="19050" cap="flat" cmpd="sng" algn="ctr">
                      <a:noFill/>
                      <a:prstDash val="solid"/>
                      <a:round/>
                      <a:headEnd type="none" w="med" len="med"/>
                      <a:tailEnd type="none" w="med" len="med"/>
                    </a:lnL>
                    <a:lnR w="1905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lnSpc>
                          <a:spcPct val="100000"/>
                        </a:lnSpc>
                      </a:pPr>
                      <a:endParaRPr lang="zh-CN" altLang="en-US" sz="1400" b="1" dirty="0">
                        <a:solidFill>
                          <a:schemeClr val="tx1"/>
                        </a:solidFill>
                        <a:latin typeface="Times New Roman" panose="02020603050405020304" pitchFamily="18" charset="0"/>
                        <a:cs typeface="Times New Roman" panose="02020603050405020304" pitchFamily="18" charset="0"/>
                      </a:endParaRPr>
                    </a:p>
                  </a:txBody>
                  <a:tcPr marL="0" marR="0" marT="0" marB="0" anchor="b">
                    <a:lnL w="19050" cap="flat" cmpd="sng" algn="ctr">
                      <a:solidFill>
                        <a:schemeClr val="accent5"/>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grpSp>
        <p:nvGrpSpPr>
          <p:cNvPr id="44" name="组合 43"/>
          <p:cNvGrpSpPr/>
          <p:nvPr/>
        </p:nvGrpSpPr>
        <p:grpSpPr>
          <a:xfrm>
            <a:off x="1212560" y="2924499"/>
            <a:ext cx="1693635" cy="1815882"/>
            <a:chOff x="1212560" y="2924499"/>
            <a:chExt cx="1693635" cy="1815882"/>
          </a:xfrm>
        </p:grpSpPr>
        <p:sp>
          <p:nvSpPr>
            <p:cNvPr id="15" name="矩形 14"/>
            <p:cNvSpPr/>
            <p:nvPr/>
          </p:nvSpPr>
          <p:spPr>
            <a:xfrm>
              <a:off x="1212560" y="2924499"/>
              <a:ext cx="1061499" cy="1815882"/>
            </a:xfrm>
            <a:prstGeom prst="rect">
              <a:avLst/>
            </a:prstGeom>
          </p:spPr>
          <p:txBody>
            <a:bodyPr wrap="square">
              <a:spAutoFit/>
            </a:bodyPr>
            <a:lstStyle/>
            <a:p>
              <a:pPr algn="ctr">
                <a:defRPr/>
              </a:pPr>
              <a:r>
                <a:rPr lang="en-US" altLang="zh-CN" sz="1400" b="1" dirty="0">
                  <a:latin typeface="Times New Roman" panose="02020603050405020304" pitchFamily="18" charset="0"/>
                  <a:cs typeface="Times New Roman" panose="02020603050405020304" pitchFamily="18" charset="0"/>
                </a:rPr>
                <a:t>0     0     0</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0     0     1</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0     1     0</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0     1     1</a:t>
              </a:r>
              <a:endParaRPr lang="en-US" altLang="zh-CN"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1     0     0</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1     0     1</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1     1     0</a:t>
              </a:r>
              <a:endParaRPr lang="zh-CN" altLang="en-US" sz="1400" b="1" dirty="0">
                <a:latin typeface="Times New Roman" panose="02020603050405020304" pitchFamily="18" charset="0"/>
                <a:cs typeface="Times New Roman" panose="02020603050405020304" pitchFamily="18" charset="0"/>
              </a:endParaRPr>
            </a:p>
            <a:p>
              <a:pPr algn="ctr">
                <a:defRPr/>
              </a:pPr>
              <a:r>
                <a:rPr lang="en-US" altLang="zh-CN" sz="1400" b="1" dirty="0">
                  <a:latin typeface="Times New Roman" panose="02020603050405020304" pitchFamily="18" charset="0"/>
                  <a:cs typeface="Times New Roman" panose="02020603050405020304" pitchFamily="18" charset="0"/>
                </a:rPr>
                <a:t>1     1     1</a:t>
              </a:r>
              <a:endParaRPr lang="zh-CN" altLang="en-US" sz="1400" b="1" dirty="0">
                <a:latin typeface="Times New Roman" panose="02020603050405020304" pitchFamily="18" charset="0"/>
                <a:cs typeface="Times New Roman" panose="02020603050405020304" pitchFamily="18" charset="0"/>
              </a:endParaRPr>
            </a:p>
          </p:txBody>
        </p:sp>
        <p:sp>
          <p:nvSpPr>
            <p:cNvPr id="16" name="矩形 15"/>
            <p:cNvSpPr/>
            <p:nvPr/>
          </p:nvSpPr>
          <p:spPr>
            <a:xfrm>
              <a:off x="2615972" y="2964264"/>
              <a:ext cx="290223" cy="1723549"/>
            </a:xfrm>
            <a:prstGeom prst="rect">
              <a:avLst/>
            </a:prstGeom>
          </p:spPr>
          <p:txBody>
            <a:bodyPr wrap="square" lIns="0" tIns="0" rIns="0" bIns="0">
              <a:spAutoFit/>
            </a:bodyPr>
            <a:lstStyle/>
            <a:p>
              <a:pPr algn="ctr">
                <a:lnSpc>
                  <a:spcPct val="100000"/>
                </a:lnSpc>
              </a:pPr>
              <a:r>
                <a:rPr lang="en-US" altLang="zh-CN" sz="1400" b="1" dirty="0">
                  <a:latin typeface="Times New Roman" panose="02020603050405020304" pitchFamily="18" charset="0"/>
                  <a:cs typeface="Times New Roman" panose="02020603050405020304" pitchFamily="18" charset="0"/>
                </a:rPr>
                <a:t>0</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0</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0</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0</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zh-CN" altLang="en-US" sz="1400" dirty="0"/>
            </a:p>
          </p:txBody>
        </p:sp>
        <p:sp>
          <p:nvSpPr>
            <p:cNvPr id="17" name="矩形 16"/>
            <p:cNvSpPr/>
            <p:nvPr/>
          </p:nvSpPr>
          <p:spPr>
            <a:xfrm>
              <a:off x="2346956" y="2961609"/>
              <a:ext cx="290223" cy="1723549"/>
            </a:xfrm>
            <a:prstGeom prst="rect">
              <a:avLst/>
            </a:prstGeom>
          </p:spPr>
          <p:txBody>
            <a:bodyPr wrap="square" lIns="0" tIns="0" rIns="0" bIns="0">
              <a:spAutoFit/>
            </a:bodyPr>
            <a:lstStyle/>
            <a:p>
              <a:pPr algn="ctr">
                <a:lnSpc>
                  <a:spcPct val="100000"/>
                </a:lnSpc>
              </a:pPr>
              <a:r>
                <a:rPr lang="en-US" altLang="zh-CN" sz="1400" b="1" dirty="0">
                  <a:latin typeface="Times New Roman" panose="02020603050405020304" pitchFamily="18" charset="0"/>
                  <a:cs typeface="Times New Roman" panose="02020603050405020304" pitchFamily="18" charset="0"/>
                </a:rPr>
                <a:t>0</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0</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0</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0</a:t>
              </a:r>
              <a:endParaRPr lang="en-US" altLang="zh-CN" sz="1400" b="1" dirty="0">
                <a:latin typeface="Times New Roman" panose="02020603050405020304" pitchFamily="18" charset="0"/>
                <a:cs typeface="Times New Roman" panose="02020603050405020304" pitchFamily="18" charset="0"/>
              </a:endParaRPr>
            </a:p>
            <a:p>
              <a:pPr algn="ctr">
                <a:lnSpc>
                  <a:spcPct val="100000"/>
                </a:lnSpc>
              </a:pPr>
              <a:r>
                <a:rPr lang="en-US" altLang="zh-CN" sz="1400" b="1" dirty="0">
                  <a:latin typeface="Times New Roman" panose="02020603050405020304" pitchFamily="18" charset="0"/>
                  <a:cs typeface="Times New Roman" panose="02020603050405020304" pitchFamily="18" charset="0"/>
                </a:rPr>
                <a:t>1</a:t>
              </a:r>
              <a:endParaRPr lang="zh-CN" altLang="en-US" sz="1400" dirty="0"/>
            </a:p>
          </p:txBody>
        </p:sp>
      </p:grpSp>
      <p:grpSp>
        <p:nvGrpSpPr>
          <p:cNvPr id="46" name="组合 45"/>
          <p:cNvGrpSpPr/>
          <p:nvPr/>
        </p:nvGrpSpPr>
        <p:grpSpPr>
          <a:xfrm>
            <a:off x="5915245" y="2617587"/>
            <a:ext cx="2197100" cy="1155700"/>
            <a:chOff x="5915245" y="2617587"/>
            <a:chExt cx="2197100" cy="1155700"/>
          </a:xfrm>
        </p:grpSpPr>
        <p:graphicFrame>
          <p:nvGraphicFramePr>
            <p:cNvPr id="22" name="Object 9"/>
            <p:cNvGraphicFramePr>
              <a:graphicFrameLocks noChangeAspect="1"/>
            </p:cNvGraphicFramePr>
            <p:nvPr/>
          </p:nvGraphicFramePr>
          <p:xfrm>
            <a:off x="5915245" y="2617587"/>
            <a:ext cx="2197100" cy="1155700"/>
          </p:xfrm>
          <a:graphic>
            <a:graphicData uri="http://schemas.openxmlformats.org/presentationml/2006/ole">
              <mc:AlternateContent xmlns:mc="http://schemas.openxmlformats.org/markup-compatibility/2006">
                <mc:Choice xmlns:v="urn:schemas-microsoft-com:vml" Requires="v">
                  <p:oleObj spid="_x0000_s19546" name="Visio" r:id="rId4" imgW="1488440" imgH="778510" progId="">
                    <p:embed/>
                  </p:oleObj>
                </mc:Choice>
                <mc:Fallback>
                  <p:oleObj name="Visio" r:id="rId4" imgW="1488440" imgH="778510" progId="">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15245" y="2617587"/>
                          <a:ext cx="2197100" cy="1155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3" name="圆角矩形 22"/>
            <p:cNvSpPr/>
            <p:nvPr/>
          </p:nvSpPr>
          <p:spPr>
            <a:xfrm>
              <a:off x="7278792" y="3428960"/>
              <a:ext cx="701047" cy="25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4" name="圆角矩形 23"/>
            <p:cNvSpPr/>
            <p:nvPr/>
          </p:nvSpPr>
          <p:spPr>
            <a:xfrm>
              <a:off x="6836832" y="3426310"/>
              <a:ext cx="701047" cy="25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圆角矩形 24"/>
            <p:cNvSpPr/>
            <p:nvPr/>
          </p:nvSpPr>
          <p:spPr>
            <a:xfrm>
              <a:off x="7272827" y="3073820"/>
              <a:ext cx="261075" cy="612000"/>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45" name="组合 44"/>
          <p:cNvGrpSpPr/>
          <p:nvPr/>
        </p:nvGrpSpPr>
        <p:grpSpPr>
          <a:xfrm>
            <a:off x="3249845" y="2617587"/>
            <a:ext cx="2197100" cy="1155700"/>
            <a:chOff x="3249845" y="2617587"/>
            <a:chExt cx="2197100" cy="1155700"/>
          </a:xfrm>
        </p:grpSpPr>
        <p:graphicFrame>
          <p:nvGraphicFramePr>
            <p:cNvPr id="26" name="Object 9"/>
            <p:cNvGraphicFramePr>
              <a:graphicFrameLocks noChangeAspect="1"/>
            </p:cNvGraphicFramePr>
            <p:nvPr/>
          </p:nvGraphicFramePr>
          <p:xfrm>
            <a:off x="3249845" y="2617587"/>
            <a:ext cx="2197100" cy="1155700"/>
          </p:xfrm>
          <a:graphic>
            <a:graphicData uri="http://schemas.openxmlformats.org/presentationml/2006/ole">
              <mc:AlternateContent xmlns:mc="http://schemas.openxmlformats.org/markup-compatibility/2006">
                <mc:Choice xmlns:v="urn:schemas-microsoft-com:vml" Requires="v">
                  <p:oleObj spid="_x0000_s19547" name="Visio" r:id="rId6" imgW="1488440" imgH="778510" progId="">
                    <p:embed/>
                  </p:oleObj>
                </mc:Choice>
                <mc:Fallback>
                  <p:oleObj name="Visio" r:id="rId6" imgW="1488440" imgH="778510" progId="">
                    <p:embed/>
                    <p:pic>
                      <p:nvPicPr>
                        <p:cNvPr id="0"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49845" y="2617587"/>
                          <a:ext cx="2197100" cy="1155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圆角矩形 28"/>
            <p:cNvSpPr/>
            <p:nvPr/>
          </p:nvSpPr>
          <p:spPr>
            <a:xfrm>
              <a:off x="4173087" y="3061601"/>
              <a:ext cx="261075" cy="27693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0" name="圆角矩形 29"/>
            <p:cNvSpPr/>
            <p:nvPr/>
          </p:nvSpPr>
          <p:spPr>
            <a:xfrm>
              <a:off x="5045080" y="3061601"/>
              <a:ext cx="261075" cy="27693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圆角矩形 30"/>
            <p:cNvSpPr/>
            <p:nvPr/>
          </p:nvSpPr>
          <p:spPr>
            <a:xfrm>
              <a:off x="3722513" y="3390255"/>
              <a:ext cx="261075" cy="27693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2" name="圆角矩形 31"/>
            <p:cNvSpPr/>
            <p:nvPr/>
          </p:nvSpPr>
          <p:spPr>
            <a:xfrm>
              <a:off x="4609083" y="3390255"/>
              <a:ext cx="261075" cy="27693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aphicFrame>
        <p:nvGraphicFramePr>
          <p:cNvPr id="20484" name="Object 4"/>
          <p:cNvGraphicFramePr>
            <a:graphicFrameLocks noChangeAspect="1"/>
          </p:cNvGraphicFramePr>
          <p:nvPr/>
        </p:nvGraphicFramePr>
        <p:xfrm>
          <a:off x="6016625" y="3818255"/>
          <a:ext cx="1465263" cy="215900"/>
        </p:xfrm>
        <a:graphic>
          <a:graphicData uri="http://schemas.openxmlformats.org/presentationml/2006/ole">
            <mc:AlternateContent xmlns:mc="http://schemas.openxmlformats.org/markup-compatibility/2006">
              <mc:Choice xmlns:v="urn:schemas-microsoft-com:vml" Requires="v">
                <p:oleObj spid="_x0000_s19548" name="Equation" r:id="rId8" imgW="1205865" imgH="177800" progId="">
                  <p:embed/>
                </p:oleObj>
              </mc:Choice>
              <mc:Fallback>
                <p:oleObj name="Equation" r:id="rId8" imgW="1205865" imgH="177800" progId="">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16625" y="3818255"/>
                        <a:ext cx="1465263" cy="215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5" name="Object 5"/>
          <p:cNvGraphicFramePr>
            <a:graphicFrameLocks noChangeAspect="1"/>
          </p:cNvGraphicFramePr>
          <p:nvPr/>
        </p:nvGraphicFramePr>
        <p:xfrm>
          <a:off x="6196283" y="4044524"/>
          <a:ext cx="1268308" cy="288000"/>
        </p:xfrm>
        <a:graphic>
          <a:graphicData uri="http://schemas.openxmlformats.org/presentationml/2006/ole">
            <mc:AlternateContent xmlns:mc="http://schemas.openxmlformats.org/markup-compatibility/2006">
              <mc:Choice xmlns:v="urn:schemas-microsoft-com:vml" Requires="v">
                <p:oleObj spid="_x0000_s19549" name="公式" r:id="rId10" imgW="1066800" imgH="241300" progId="">
                  <p:embed/>
                </p:oleObj>
              </mc:Choice>
              <mc:Fallback>
                <p:oleObj name="公式" r:id="rId10" imgW="1066800" imgH="241300" progId="">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196283" y="4044524"/>
                        <a:ext cx="1268308" cy="28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6" name="Object 6"/>
          <p:cNvGraphicFramePr>
            <a:graphicFrameLocks noChangeAspect="1"/>
          </p:cNvGraphicFramePr>
          <p:nvPr/>
        </p:nvGraphicFramePr>
        <p:xfrm>
          <a:off x="6216148" y="4367629"/>
          <a:ext cx="1117385" cy="288000"/>
        </p:xfrm>
        <a:graphic>
          <a:graphicData uri="http://schemas.openxmlformats.org/presentationml/2006/ole">
            <mc:AlternateContent xmlns:mc="http://schemas.openxmlformats.org/markup-compatibility/2006">
              <mc:Choice xmlns:v="urn:schemas-microsoft-com:vml" Requires="v">
                <p:oleObj spid="_x0000_s19550" name="公式" r:id="rId12" imgW="939165" imgH="241300" progId="">
                  <p:embed/>
                </p:oleObj>
              </mc:Choice>
              <mc:Fallback>
                <p:oleObj name="公式" r:id="rId12" imgW="939165" imgH="241300" progId="">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16148" y="4367629"/>
                        <a:ext cx="1117385" cy="28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7" name="Object 7"/>
          <p:cNvGraphicFramePr>
            <a:graphicFrameLocks noChangeAspect="1"/>
          </p:cNvGraphicFramePr>
          <p:nvPr/>
        </p:nvGraphicFramePr>
        <p:xfrm>
          <a:off x="3298825" y="3802380"/>
          <a:ext cx="2357438" cy="247650"/>
        </p:xfrm>
        <a:graphic>
          <a:graphicData uri="http://schemas.openxmlformats.org/presentationml/2006/ole">
            <mc:AlternateContent xmlns:mc="http://schemas.openxmlformats.org/markup-compatibility/2006">
              <mc:Choice xmlns:v="urn:schemas-microsoft-com:vml" Requires="v">
                <p:oleObj spid="_x0000_s19551" name="Equation" r:id="rId14" imgW="1943100" imgH="203200" progId="">
                  <p:embed/>
                </p:oleObj>
              </mc:Choice>
              <mc:Fallback>
                <p:oleObj name="Equation" r:id="rId14" imgW="1943100" imgH="203200" progId="">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98825" y="3802380"/>
                        <a:ext cx="2357438" cy="247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89" name="Object 9"/>
          <p:cNvGraphicFramePr>
            <a:graphicFrameLocks noChangeAspect="1"/>
          </p:cNvGraphicFramePr>
          <p:nvPr/>
        </p:nvGraphicFramePr>
        <p:xfrm>
          <a:off x="3423825" y="4409769"/>
          <a:ext cx="2179795" cy="324000"/>
        </p:xfrm>
        <a:graphic>
          <a:graphicData uri="http://schemas.openxmlformats.org/presentationml/2006/ole">
            <mc:AlternateContent xmlns:mc="http://schemas.openxmlformats.org/markup-compatibility/2006">
              <mc:Choice xmlns:v="urn:schemas-microsoft-com:vml" Requires="v">
                <p:oleObj spid="_x0000_s19552" name="公式" r:id="rId16" imgW="1714500" imgH="254000" progId="">
                  <p:embed/>
                </p:oleObj>
              </mc:Choice>
              <mc:Fallback>
                <p:oleObj name="公式" r:id="rId16" imgW="1714500" imgH="254000" progId="">
                  <p:embed/>
                  <p:pic>
                    <p:nvPicPr>
                      <p:cNvPr id="0" name="Object 9"/>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423825" y="4409769"/>
                        <a:ext cx="2179795" cy="324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490" name="Object 10"/>
          <p:cNvGraphicFramePr>
            <a:graphicFrameLocks noChangeAspect="1"/>
          </p:cNvGraphicFramePr>
          <p:nvPr/>
        </p:nvGraphicFramePr>
        <p:xfrm>
          <a:off x="3436215" y="4059265"/>
          <a:ext cx="2297113" cy="309563"/>
        </p:xfrm>
        <a:graphic>
          <a:graphicData uri="http://schemas.openxmlformats.org/presentationml/2006/ole">
            <mc:AlternateContent xmlns:mc="http://schemas.openxmlformats.org/markup-compatibility/2006">
              <mc:Choice xmlns:v="urn:schemas-microsoft-com:vml" Requires="v">
                <p:oleObj spid="_x0000_s19553" name="公式" r:id="rId18" imgW="1892300" imgH="254000" progId="">
                  <p:embed/>
                </p:oleObj>
              </mc:Choice>
              <mc:Fallback>
                <p:oleObj name="公式" r:id="rId18" imgW="1892300" imgH="254000" progId="">
                  <p:embed/>
                  <p:pic>
                    <p:nvPicPr>
                      <p:cNvPr id="0" name="Object 1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436215" y="4059265"/>
                        <a:ext cx="2297113" cy="3095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 name="圆角矩形 12"/>
          <p:cNvSpPr/>
          <p:nvPr/>
        </p:nvSpPr>
        <p:spPr>
          <a:xfrm>
            <a:off x="1357350" y="2997848"/>
            <a:ext cx="1548000" cy="182880"/>
          </a:xfrm>
          <a:prstGeom prst="roundRect">
            <a:avLst/>
          </a:prstGeom>
          <a:solidFill>
            <a:srgbClr val="FF00FF">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圆角矩形 13"/>
          <p:cNvSpPr/>
          <p:nvPr/>
        </p:nvSpPr>
        <p:spPr>
          <a:xfrm>
            <a:off x="1357349" y="3193752"/>
            <a:ext cx="1548000" cy="443970"/>
          </a:xfrm>
          <a:prstGeom prst="roundRect">
            <a:avLst>
              <a:gd name="adj" fmla="val 9895"/>
            </a:avLst>
          </a:prstGeom>
          <a:solidFill>
            <a:srgbClr val="006699">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8" name="圆角矩形 17"/>
          <p:cNvSpPr/>
          <p:nvPr/>
        </p:nvSpPr>
        <p:spPr>
          <a:xfrm>
            <a:off x="1357349" y="3845758"/>
            <a:ext cx="1548000" cy="182880"/>
          </a:xfrm>
          <a:prstGeom prst="roundRect">
            <a:avLst/>
          </a:prstGeom>
          <a:solidFill>
            <a:srgbClr val="006699">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9" name="圆角矩形 18"/>
          <p:cNvSpPr/>
          <p:nvPr/>
        </p:nvSpPr>
        <p:spPr>
          <a:xfrm>
            <a:off x="1357349" y="4487163"/>
            <a:ext cx="1548000" cy="182880"/>
          </a:xfrm>
          <a:prstGeom prst="roundRect">
            <a:avLst/>
          </a:prstGeom>
          <a:solidFill>
            <a:srgbClr val="FF0000">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圆角矩形 19"/>
          <p:cNvSpPr/>
          <p:nvPr/>
        </p:nvSpPr>
        <p:spPr>
          <a:xfrm>
            <a:off x="1357349" y="3648300"/>
            <a:ext cx="1548000" cy="182880"/>
          </a:xfrm>
          <a:prstGeom prst="roundRect">
            <a:avLst/>
          </a:prstGeom>
          <a:solidFill>
            <a:srgbClr val="FFC000">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圆角矩形 20"/>
          <p:cNvSpPr/>
          <p:nvPr/>
        </p:nvSpPr>
        <p:spPr>
          <a:xfrm>
            <a:off x="1357349" y="4037584"/>
            <a:ext cx="1548000" cy="443970"/>
          </a:xfrm>
          <a:prstGeom prst="roundRect">
            <a:avLst>
              <a:gd name="adj" fmla="val 9895"/>
            </a:avLst>
          </a:prstGeom>
          <a:solidFill>
            <a:srgbClr val="FFC000">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slide(fromBottom)">
                                      <p:cBhvr>
                                        <p:cTn id="7" dur="10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slide(fromLeft)">
                                      <p:cBhvr>
                                        <p:cTn id="12" dur="1000"/>
                                        <p:tgtEl>
                                          <p:spTgt spid="7"/>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slide(fromBottom)">
                                      <p:cBhvr>
                                        <p:cTn id="16" dur="10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23" presetClass="entr" presetSubtype="16"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anim calcmode="lin" valueType="num">
                                      <p:cBhvr>
                                        <p:cTn id="21" dur="1000" fill="hold"/>
                                        <p:tgtEl>
                                          <p:spTgt spid="12"/>
                                        </p:tgtEl>
                                        <p:attrNameLst>
                                          <p:attrName>ppt_w</p:attrName>
                                        </p:attrNameLst>
                                      </p:cBhvr>
                                      <p:tavLst>
                                        <p:tav tm="0">
                                          <p:val>
                                            <p:fltVal val="0"/>
                                          </p:val>
                                        </p:tav>
                                        <p:tav tm="100000">
                                          <p:val>
                                            <p:strVal val="#ppt_w"/>
                                          </p:val>
                                        </p:tav>
                                      </p:tavLst>
                                    </p:anim>
                                    <p:anim calcmode="lin" valueType="num">
                                      <p:cBhvr>
                                        <p:cTn id="22" dur="1000" fill="hold"/>
                                        <p:tgtEl>
                                          <p:spTgt spid="12"/>
                                        </p:tgtEl>
                                        <p:attrNameLst>
                                          <p:attrName>ppt_h</p:attrName>
                                        </p:attrNameLst>
                                      </p:cBhvr>
                                      <p:tavLst>
                                        <p:tav tm="0">
                                          <p:val>
                                            <p:fltVal val="0"/>
                                          </p:val>
                                        </p:tav>
                                        <p:tav tm="100000">
                                          <p:val>
                                            <p:strVal val="#ppt_h"/>
                                          </p:val>
                                        </p:tav>
                                      </p:tavLst>
                                    </p:anim>
                                  </p:childTnLst>
                                </p:cTn>
                              </p:par>
                              <p:par>
                                <p:cTn id="23" presetID="23" presetClass="entr" presetSubtype="16"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1000" fill="hold"/>
                                        <p:tgtEl>
                                          <p:spTgt spid="11"/>
                                        </p:tgtEl>
                                        <p:attrNameLst>
                                          <p:attrName>ppt_w</p:attrName>
                                        </p:attrNameLst>
                                      </p:cBhvr>
                                      <p:tavLst>
                                        <p:tav tm="0">
                                          <p:val>
                                            <p:fltVal val="0"/>
                                          </p:val>
                                        </p:tav>
                                        <p:tav tm="100000">
                                          <p:val>
                                            <p:strVal val="#ppt_w"/>
                                          </p:val>
                                        </p:tav>
                                      </p:tavLst>
                                    </p:anim>
                                    <p:anim calcmode="lin" valueType="num">
                                      <p:cBhvr>
                                        <p:cTn id="26" dur="1000" fill="hold"/>
                                        <p:tgtEl>
                                          <p:spTgt spid="11"/>
                                        </p:tgtEl>
                                        <p:attrNameLst>
                                          <p:attrName>ppt_h</p:attrName>
                                        </p:attrNameLst>
                                      </p:cBhvr>
                                      <p:tavLst>
                                        <p:tav tm="0">
                                          <p:val>
                                            <p:fltVal val="0"/>
                                          </p:val>
                                        </p:tav>
                                        <p:tav tm="100000">
                                          <p:val>
                                            <p:strVal val="#ppt_h"/>
                                          </p:val>
                                        </p:tav>
                                      </p:tavLst>
                                    </p:anim>
                                  </p:childTnLst>
                                </p:cTn>
                              </p:par>
                            </p:childTnLst>
                          </p:cTn>
                        </p:par>
                        <p:par>
                          <p:cTn id="27" fill="hold">
                            <p:stCondLst>
                              <p:cond delay="1000"/>
                            </p:stCondLst>
                            <p:childTnLst>
                              <p:par>
                                <p:cTn id="28" presetID="55" presetClass="entr" presetSubtype="0" fill="hold" nodeType="afterEffect">
                                  <p:stCondLst>
                                    <p:cond delay="0"/>
                                  </p:stCondLst>
                                  <p:childTnLst>
                                    <p:set>
                                      <p:cBhvr>
                                        <p:cTn id="29" dur="1" fill="hold">
                                          <p:stCondLst>
                                            <p:cond delay="0"/>
                                          </p:stCondLst>
                                        </p:cTn>
                                        <p:tgtEl>
                                          <p:spTgt spid="44"/>
                                        </p:tgtEl>
                                        <p:attrNameLst>
                                          <p:attrName>style.visibility</p:attrName>
                                        </p:attrNameLst>
                                      </p:cBhvr>
                                      <p:to>
                                        <p:strVal val="visible"/>
                                      </p:to>
                                    </p:set>
                                    <p:anim calcmode="lin" valueType="num">
                                      <p:cBhvr>
                                        <p:cTn id="30" dur="1000" fill="hold"/>
                                        <p:tgtEl>
                                          <p:spTgt spid="44"/>
                                        </p:tgtEl>
                                        <p:attrNameLst>
                                          <p:attrName>ppt_w</p:attrName>
                                        </p:attrNameLst>
                                      </p:cBhvr>
                                      <p:tavLst>
                                        <p:tav tm="0">
                                          <p:val>
                                            <p:strVal val="#ppt_w*0.70"/>
                                          </p:val>
                                        </p:tav>
                                        <p:tav tm="100000">
                                          <p:val>
                                            <p:strVal val="#ppt_w"/>
                                          </p:val>
                                        </p:tav>
                                      </p:tavLst>
                                    </p:anim>
                                    <p:anim calcmode="lin" valueType="num">
                                      <p:cBhvr>
                                        <p:cTn id="31" dur="1000" fill="hold"/>
                                        <p:tgtEl>
                                          <p:spTgt spid="44"/>
                                        </p:tgtEl>
                                        <p:attrNameLst>
                                          <p:attrName>ppt_h</p:attrName>
                                        </p:attrNameLst>
                                      </p:cBhvr>
                                      <p:tavLst>
                                        <p:tav tm="0">
                                          <p:val>
                                            <p:strVal val="#ppt_h"/>
                                          </p:val>
                                        </p:tav>
                                        <p:tav tm="100000">
                                          <p:val>
                                            <p:strVal val="#ppt_h"/>
                                          </p:val>
                                        </p:tav>
                                      </p:tavLst>
                                    </p:anim>
                                    <p:animEffect transition="in" filter="fade">
                                      <p:cBhvr>
                                        <p:cTn id="32" dur="1000"/>
                                        <p:tgtEl>
                                          <p:spTgt spid="44"/>
                                        </p:tgtEl>
                                      </p:cBhvr>
                                    </p:animEffect>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p:cTn id="37" dur="1000" fill="hold"/>
                                        <p:tgtEl>
                                          <p:spTgt spid="13"/>
                                        </p:tgtEl>
                                        <p:attrNameLst>
                                          <p:attrName>ppt_w</p:attrName>
                                        </p:attrNameLst>
                                      </p:cBhvr>
                                      <p:tavLst>
                                        <p:tav tm="0">
                                          <p:val>
                                            <p:fltVal val="0"/>
                                          </p:val>
                                        </p:tav>
                                        <p:tav tm="100000">
                                          <p:val>
                                            <p:strVal val="#ppt_w"/>
                                          </p:val>
                                        </p:tav>
                                      </p:tavLst>
                                    </p:anim>
                                    <p:anim calcmode="lin" valueType="num">
                                      <p:cBhvr>
                                        <p:cTn id="38" dur="1000" fill="hold"/>
                                        <p:tgtEl>
                                          <p:spTgt spid="13"/>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p:cTn id="43" dur="1000" fill="hold"/>
                                        <p:tgtEl>
                                          <p:spTgt spid="14"/>
                                        </p:tgtEl>
                                        <p:attrNameLst>
                                          <p:attrName>ppt_w</p:attrName>
                                        </p:attrNameLst>
                                      </p:cBhvr>
                                      <p:tavLst>
                                        <p:tav tm="0">
                                          <p:val>
                                            <p:fltVal val="0"/>
                                          </p:val>
                                        </p:tav>
                                        <p:tav tm="100000">
                                          <p:val>
                                            <p:strVal val="#ppt_w"/>
                                          </p:val>
                                        </p:tav>
                                      </p:tavLst>
                                    </p:anim>
                                    <p:anim calcmode="lin" valueType="num">
                                      <p:cBhvr>
                                        <p:cTn id="44" dur="1000" fill="hold"/>
                                        <p:tgtEl>
                                          <p:spTgt spid="14"/>
                                        </p:tgtEl>
                                        <p:attrNameLst>
                                          <p:attrName>ppt_h</p:attrName>
                                        </p:attrNameLst>
                                      </p:cBhvr>
                                      <p:tavLst>
                                        <p:tav tm="0">
                                          <p:val>
                                            <p:fltVal val="0"/>
                                          </p:val>
                                        </p:tav>
                                        <p:tav tm="100000">
                                          <p:val>
                                            <p:strVal val="#ppt_h"/>
                                          </p:val>
                                        </p:tav>
                                      </p:tavLst>
                                    </p:anim>
                                  </p:childTnLst>
                                </p:cTn>
                              </p:par>
                              <p:par>
                                <p:cTn id="45" presetID="23" presetClass="entr" presetSubtype="16"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 calcmode="lin" valueType="num">
                                      <p:cBhvr>
                                        <p:cTn id="47" dur="1000" fill="hold"/>
                                        <p:tgtEl>
                                          <p:spTgt spid="18"/>
                                        </p:tgtEl>
                                        <p:attrNameLst>
                                          <p:attrName>ppt_w</p:attrName>
                                        </p:attrNameLst>
                                      </p:cBhvr>
                                      <p:tavLst>
                                        <p:tav tm="0">
                                          <p:val>
                                            <p:fltVal val="0"/>
                                          </p:val>
                                        </p:tav>
                                        <p:tav tm="100000">
                                          <p:val>
                                            <p:strVal val="#ppt_w"/>
                                          </p:val>
                                        </p:tav>
                                      </p:tavLst>
                                    </p:anim>
                                    <p:anim calcmode="lin" valueType="num">
                                      <p:cBhvr>
                                        <p:cTn id="48" dur="1000" fill="hold"/>
                                        <p:tgtEl>
                                          <p:spTgt spid="18"/>
                                        </p:tgtEl>
                                        <p:attrNameLst>
                                          <p:attrName>ppt_h</p:attrName>
                                        </p:attrNameLst>
                                      </p:cBhvr>
                                      <p:tavLst>
                                        <p:tav tm="0">
                                          <p:val>
                                            <p:fltVal val="0"/>
                                          </p:val>
                                        </p:tav>
                                        <p:tav tm="100000">
                                          <p:val>
                                            <p:strVal val="#ppt_h"/>
                                          </p:val>
                                        </p:tav>
                                      </p:tavLst>
                                    </p:anim>
                                  </p:childTnLst>
                                </p:cTn>
                              </p:par>
                            </p:childTnLst>
                          </p:cTn>
                        </p:par>
                      </p:childTnLst>
                    </p:cTn>
                  </p:par>
                  <p:par>
                    <p:cTn id="49" fill="hold">
                      <p:stCondLst>
                        <p:cond delay="indefinite"/>
                      </p:stCondLst>
                      <p:childTnLst>
                        <p:par>
                          <p:cTn id="50" fill="hold">
                            <p:stCondLst>
                              <p:cond delay="0"/>
                            </p:stCondLst>
                            <p:childTnLst>
                              <p:par>
                                <p:cTn id="51" presetID="23" presetClass="entr" presetSubtype="16"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anim calcmode="lin" valueType="num">
                                      <p:cBhvr>
                                        <p:cTn id="53" dur="1000" fill="hold"/>
                                        <p:tgtEl>
                                          <p:spTgt spid="20"/>
                                        </p:tgtEl>
                                        <p:attrNameLst>
                                          <p:attrName>ppt_w</p:attrName>
                                        </p:attrNameLst>
                                      </p:cBhvr>
                                      <p:tavLst>
                                        <p:tav tm="0">
                                          <p:val>
                                            <p:fltVal val="0"/>
                                          </p:val>
                                        </p:tav>
                                        <p:tav tm="100000">
                                          <p:val>
                                            <p:strVal val="#ppt_w"/>
                                          </p:val>
                                        </p:tav>
                                      </p:tavLst>
                                    </p:anim>
                                    <p:anim calcmode="lin" valueType="num">
                                      <p:cBhvr>
                                        <p:cTn id="54" dur="1000" fill="hold"/>
                                        <p:tgtEl>
                                          <p:spTgt spid="20"/>
                                        </p:tgtEl>
                                        <p:attrNameLst>
                                          <p:attrName>ppt_h</p:attrName>
                                        </p:attrNameLst>
                                      </p:cBhvr>
                                      <p:tavLst>
                                        <p:tav tm="0">
                                          <p:val>
                                            <p:fltVal val="0"/>
                                          </p:val>
                                        </p:tav>
                                        <p:tav tm="100000">
                                          <p:val>
                                            <p:strVal val="#ppt_h"/>
                                          </p:val>
                                        </p:tav>
                                      </p:tavLst>
                                    </p:anim>
                                  </p:childTnLst>
                                </p:cTn>
                              </p:par>
                              <p:par>
                                <p:cTn id="55" presetID="23" presetClass="entr" presetSubtype="16"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 calcmode="lin" valueType="num">
                                      <p:cBhvr>
                                        <p:cTn id="57" dur="1000" fill="hold"/>
                                        <p:tgtEl>
                                          <p:spTgt spid="21"/>
                                        </p:tgtEl>
                                        <p:attrNameLst>
                                          <p:attrName>ppt_w</p:attrName>
                                        </p:attrNameLst>
                                      </p:cBhvr>
                                      <p:tavLst>
                                        <p:tav tm="0">
                                          <p:val>
                                            <p:fltVal val="0"/>
                                          </p:val>
                                        </p:tav>
                                        <p:tav tm="100000">
                                          <p:val>
                                            <p:strVal val="#ppt_w"/>
                                          </p:val>
                                        </p:tav>
                                      </p:tavLst>
                                    </p:anim>
                                    <p:anim calcmode="lin" valueType="num">
                                      <p:cBhvr>
                                        <p:cTn id="58" dur="1000" fill="hold"/>
                                        <p:tgtEl>
                                          <p:spTgt spid="21"/>
                                        </p:tgtEl>
                                        <p:attrNameLst>
                                          <p:attrName>ppt_h</p:attrName>
                                        </p:attrNameLst>
                                      </p:cBhvr>
                                      <p:tavLst>
                                        <p:tav tm="0">
                                          <p:val>
                                            <p:fltVal val="0"/>
                                          </p:val>
                                        </p:tav>
                                        <p:tav tm="100000">
                                          <p:val>
                                            <p:strVal val="#ppt_h"/>
                                          </p:val>
                                        </p:tav>
                                      </p:tavLst>
                                    </p:anim>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p:cTn id="63" dur="1000" fill="hold"/>
                                        <p:tgtEl>
                                          <p:spTgt spid="19"/>
                                        </p:tgtEl>
                                        <p:attrNameLst>
                                          <p:attrName>ppt_w</p:attrName>
                                        </p:attrNameLst>
                                      </p:cBhvr>
                                      <p:tavLst>
                                        <p:tav tm="0">
                                          <p:val>
                                            <p:fltVal val="0"/>
                                          </p:val>
                                        </p:tav>
                                        <p:tav tm="100000">
                                          <p:val>
                                            <p:strVal val="#ppt_w"/>
                                          </p:val>
                                        </p:tav>
                                      </p:tavLst>
                                    </p:anim>
                                    <p:anim calcmode="lin" valueType="num">
                                      <p:cBhvr>
                                        <p:cTn id="64" dur="1000" fill="hold"/>
                                        <p:tgtEl>
                                          <p:spTgt spid="19"/>
                                        </p:tgtEl>
                                        <p:attrNameLst>
                                          <p:attrName>ppt_h</p:attrName>
                                        </p:attrNameLst>
                                      </p:cBhvr>
                                      <p:tavLst>
                                        <p:tav tm="0">
                                          <p:val>
                                            <p:fltVal val="0"/>
                                          </p:val>
                                        </p:tav>
                                        <p:tav tm="100000">
                                          <p:val>
                                            <p:strVal val="#ppt_h"/>
                                          </p:val>
                                        </p:tav>
                                      </p:tavLst>
                                    </p:anim>
                                  </p:childTnLst>
                                </p:cTn>
                              </p:par>
                            </p:childTnLst>
                          </p:cTn>
                        </p:par>
                      </p:childTnLst>
                    </p:cTn>
                  </p:par>
                  <p:par>
                    <p:cTn id="65" fill="hold">
                      <p:stCondLst>
                        <p:cond delay="indefinite"/>
                      </p:stCondLst>
                      <p:childTnLst>
                        <p:par>
                          <p:cTn id="66" fill="hold">
                            <p:stCondLst>
                              <p:cond delay="0"/>
                            </p:stCondLst>
                            <p:childTnLst>
                              <p:par>
                                <p:cTn id="67" presetID="12" presetClass="entr" presetSubtype="4" fill="hold" nodeType="clickEffect">
                                  <p:stCondLst>
                                    <p:cond delay="0"/>
                                  </p:stCondLst>
                                  <p:childTnLst>
                                    <p:set>
                                      <p:cBhvr>
                                        <p:cTn id="68" dur="1" fill="hold">
                                          <p:stCondLst>
                                            <p:cond delay="0"/>
                                          </p:stCondLst>
                                        </p:cTn>
                                        <p:tgtEl>
                                          <p:spTgt spid="45"/>
                                        </p:tgtEl>
                                        <p:attrNameLst>
                                          <p:attrName>style.visibility</p:attrName>
                                        </p:attrNameLst>
                                      </p:cBhvr>
                                      <p:to>
                                        <p:strVal val="visible"/>
                                      </p:to>
                                    </p:set>
                                    <p:animEffect transition="in" filter="slide(fromBottom)">
                                      <p:cBhvr>
                                        <p:cTn id="69" dur="500"/>
                                        <p:tgtEl>
                                          <p:spTgt spid="45"/>
                                        </p:tgtEl>
                                      </p:cBhvr>
                                    </p:animEffect>
                                  </p:childTnLst>
                                </p:cTn>
                              </p:par>
                              <p:par>
                                <p:cTn id="70" presetID="12" presetClass="entr" presetSubtype="4" fill="hold" nodeType="with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slide(fromBottom)">
                                      <p:cBhvr>
                                        <p:cTn id="72" dur="500"/>
                                        <p:tgtEl>
                                          <p:spTgt spid="46"/>
                                        </p:tgtEl>
                                      </p:cBhvr>
                                    </p:animEffect>
                                  </p:childTnLst>
                                </p:cTn>
                              </p:par>
                            </p:childTnLst>
                          </p:cTn>
                        </p:par>
                      </p:childTnLst>
                    </p:cTn>
                  </p:par>
                  <p:par>
                    <p:cTn id="73" fill="hold">
                      <p:stCondLst>
                        <p:cond delay="indefinite"/>
                      </p:stCondLst>
                      <p:childTnLst>
                        <p:par>
                          <p:cTn id="74" fill="hold">
                            <p:stCondLst>
                              <p:cond delay="0"/>
                            </p:stCondLst>
                            <p:childTnLst>
                              <p:par>
                                <p:cTn id="75" presetID="12" presetClass="entr" presetSubtype="4" fill="hold" nodeType="clickEffect">
                                  <p:stCondLst>
                                    <p:cond delay="0"/>
                                  </p:stCondLst>
                                  <p:childTnLst>
                                    <p:set>
                                      <p:cBhvr>
                                        <p:cTn id="76" dur="1" fill="hold">
                                          <p:stCondLst>
                                            <p:cond delay="0"/>
                                          </p:stCondLst>
                                        </p:cTn>
                                        <p:tgtEl>
                                          <p:spTgt spid="20487"/>
                                        </p:tgtEl>
                                        <p:attrNameLst>
                                          <p:attrName>style.visibility</p:attrName>
                                        </p:attrNameLst>
                                      </p:cBhvr>
                                      <p:to>
                                        <p:strVal val="visible"/>
                                      </p:to>
                                    </p:set>
                                    <p:animEffect transition="in" filter="slide(fromBottom)">
                                      <p:cBhvr>
                                        <p:cTn id="77" dur="1000"/>
                                        <p:tgtEl>
                                          <p:spTgt spid="20487"/>
                                        </p:tgtEl>
                                      </p:cBhvr>
                                    </p:animEffect>
                                  </p:childTnLst>
                                </p:cTn>
                              </p:par>
                            </p:childTnLst>
                          </p:cTn>
                        </p:par>
                      </p:childTnLst>
                    </p:cTn>
                  </p:par>
                  <p:par>
                    <p:cTn id="78" fill="hold">
                      <p:stCondLst>
                        <p:cond delay="indefinite"/>
                      </p:stCondLst>
                      <p:childTnLst>
                        <p:par>
                          <p:cTn id="79" fill="hold">
                            <p:stCondLst>
                              <p:cond delay="0"/>
                            </p:stCondLst>
                            <p:childTnLst>
                              <p:par>
                                <p:cTn id="80" presetID="12" presetClass="entr" presetSubtype="4" fill="hold" nodeType="clickEffect">
                                  <p:stCondLst>
                                    <p:cond delay="0"/>
                                  </p:stCondLst>
                                  <p:childTnLst>
                                    <p:set>
                                      <p:cBhvr>
                                        <p:cTn id="81" dur="1" fill="hold">
                                          <p:stCondLst>
                                            <p:cond delay="0"/>
                                          </p:stCondLst>
                                        </p:cTn>
                                        <p:tgtEl>
                                          <p:spTgt spid="20484"/>
                                        </p:tgtEl>
                                        <p:attrNameLst>
                                          <p:attrName>style.visibility</p:attrName>
                                        </p:attrNameLst>
                                      </p:cBhvr>
                                      <p:to>
                                        <p:strVal val="visible"/>
                                      </p:to>
                                    </p:set>
                                    <p:animEffect transition="in" filter="slide(fromBottom)">
                                      <p:cBhvr>
                                        <p:cTn id="82" dur="1000"/>
                                        <p:tgtEl>
                                          <p:spTgt spid="20484"/>
                                        </p:tgtEl>
                                      </p:cBhvr>
                                    </p:animEffect>
                                  </p:childTnLst>
                                </p:cTn>
                              </p:par>
                            </p:childTnLst>
                          </p:cTn>
                        </p:par>
                      </p:childTnLst>
                    </p:cTn>
                  </p:par>
                  <p:par>
                    <p:cTn id="83" fill="hold">
                      <p:stCondLst>
                        <p:cond delay="indefinite"/>
                      </p:stCondLst>
                      <p:childTnLst>
                        <p:par>
                          <p:cTn id="84" fill="hold">
                            <p:stCondLst>
                              <p:cond delay="0"/>
                            </p:stCondLst>
                            <p:childTnLst>
                              <p:par>
                                <p:cTn id="85" presetID="12" presetClass="entr" presetSubtype="4" fill="hold" nodeType="clickEffect">
                                  <p:stCondLst>
                                    <p:cond delay="0"/>
                                  </p:stCondLst>
                                  <p:childTnLst>
                                    <p:set>
                                      <p:cBhvr>
                                        <p:cTn id="86" dur="1" fill="hold">
                                          <p:stCondLst>
                                            <p:cond delay="0"/>
                                          </p:stCondLst>
                                        </p:cTn>
                                        <p:tgtEl>
                                          <p:spTgt spid="20490"/>
                                        </p:tgtEl>
                                        <p:attrNameLst>
                                          <p:attrName>style.visibility</p:attrName>
                                        </p:attrNameLst>
                                      </p:cBhvr>
                                      <p:to>
                                        <p:strVal val="visible"/>
                                      </p:to>
                                    </p:set>
                                    <p:animEffect transition="in" filter="slide(fromBottom)">
                                      <p:cBhvr>
                                        <p:cTn id="87" dur="1000"/>
                                        <p:tgtEl>
                                          <p:spTgt spid="20490"/>
                                        </p:tgtEl>
                                      </p:cBhvr>
                                    </p:animEffect>
                                  </p:childTnLst>
                                </p:cTn>
                              </p:par>
                            </p:childTnLst>
                          </p:cTn>
                        </p:par>
                        <p:par>
                          <p:cTn id="88" fill="hold">
                            <p:stCondLst>
                              <p:cond delay="1000"/>
                            </p:stCondLst>
                            <p:childTnLst>
                              <p:par>
                                <p:cTn id="89" presetID="12" presetClass="entr" presetSubtype="4" fill="hold" nodeType="afterEffect">
                                  <p:stCondLst>
                                    <p:cond delay="0"/>
                                  </p:stCondLst>
                                  <p:childTnLst>
                                    <p:set>
                                      <p:cBhvr>
                                        <p:cTn id="90" dur="1" fill="hold">
                                          <p:stCondLst>
                                            <p:cond delay="0"/>
                                          </p:stCondLst>
                                        </p:cTn>
                                        <p:tgtEl>
                                          <p:spTgt spid="20485"/>
                                        </p:tgtEl>
                                        <p:attrNameLst>
                                          <p:attrName>style.visibility</p:attrName>
                                        </p:attrNameLst>
                                      </p:cBhvr>
                                      <p:to>
                                        <p:strVal val="visible"/>
                                      </p:to>
                                    </p:set>
                                    <p:animEffect transition="in" filter="slide(fromBottom)">
                                      <p:cBhvr>
                                        <p:cTn id="91" dur="1000"/>
                                        <p:tgtEl>
                                          <p:spTgt spid="20485"/>
                                        </p:tgtEl>
                                      </p:cBhvr>
                                    </p:animEffect>
                                  </p:childTnLst>
                                </p:cTn>
                              </p:par>
                            </p:childTnLst>
                          </p:cTn>
                        </p:par>
                        <p:par>
                          <p:cTn id="92" fill="hold">
                            <p:stCondLst>
                              <p:cond delay="2000"/>
                            </p:stCondLst>
                            <p:childTnLst>
                              <p:par>
                                <p:cTn id="93" presetID="12" presetClass="entr" presetSubtype="4" fill="hold" nodeType="afterEffect">
                                  <p:stCondLst>
                                    <p:cond delay="0"/>
                                  </p:stCondLst>
                                  <p:childTnLst>
                                    <p:set>
                                      <p:cBhvr>
                                        <p:cTn id="94" dur="1" fill="hold">
                                          <p:stCondLst>
                                            <p:cond delay="0"/>
                                          </p:stCondLst>
                                        </p:cTn>
                                        <p:tgtEl>
                                          <p:spTgt spid="20489"/>
                                        </p:tgtEl>
                                        <p:attrNameLst>
                                          <p:attrName>style.visibility</p:attrName>
                                        </p:attrNameLst>
                                      </p:cBhvr>
                                      <p:to>
                                        <p:strVal val="visible"/>
                                      </p:to>
                                    </p:set>
                                    <p:animEffect transition="in" filter="slide(fromBottom)">
                                      <p:cBhvr>
                                        <p:cTn id="95" dur="1000"/>
                                        <p:tgtEl>
                                          <p:spTgt spid="20489"/>
                                        </p:tgtEl>
                                      </p:cBhvr>
                                    </p:animEffect>
                                  </p:childTnLst>
                                </p:cTn>
                              </p:par>
                            </p:childTnLst>
                          </p:cTn>
                        </p:par>
                        <p:par>
                          <p:cTn id="96" fill="hold">
                            <p:stCondLst>
                              <p:cond delay="3000"/>
                            </p:stCondLst>
                            <p:childTnLst>
                              <p:par>
                                <p:cTn id="97" presetID="12" presetClass="entr" presetSubtype="4" fill="hold" nodeType="afterEffect">
                                  <p:stCondLst>
                                    <p:cond delay="0"/>
                                  </p:stCondLst>
                                  <p:childTnLst>
                                    <p:set>
                                      <p:cBhvr>
                                        <p:cTn id="98" dur="1" fill="hold">
                                          <p:stCondLst>
                                            <p:cond delay="0"/>
                                          </p:stCondLst>
                                        </p:cTn>
                                        <p:tgtEl>
                                          <p:spTgt spid="20486"/>
                                        </p:tgtEl>
                                        <p:attrNameLst>
                                          <p:attrName>style.visibility</p:attrName>
                                        </p:attrNameLst>
                                      </p:cBhvr>
                                      <p:to>
                                        <p:strVal val="visible"/>
                                      </p:to>
                                    </p:set>
                                    <p:animEffect transition="in" filter="slide(fromBottom)">
                                      <p:cBhvr>
                                        <p:cTn id="99" dur="1000"/>
                                        <p:tgtEl>
                                          <p:spTgt spid="204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animBg="1"/>
      <p:bldP spid="13" grpId="0" animBg="1"/>
      <p:bldP spid="14" grpId="0" animBg="1"/>
      <p:bldP spid="18" grpId="0" animBg="1"/>
      <p:bldP spid="19" grpId="0" animBg="1"/>
      <p:bldP spid="20" grpId="0" animBg="1"/>
      <p:bldP spid="21"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 name="圆角矩形标注 95"/>
          <p:cNvSpPr/>
          <p:nvPr/>
        </p:nvSpPr>
        <p:spPr>
          <a:xfrm>
            <a:off x="1640276" y="1423210"/>
            <a:ext cx="4844799" cy="532004"/>
          </a:xfrm>
          <a:prstGeom prst="wedgeRoundRectCallout">
            <a:avLst>
              <a:gd name="adj1" fmla="val -20061"/>
              <a:gd name="adj2" fmla="val 69744"/>
              <a:gd name="adj3" fmla="val 16667"/>
            </a:avLst>
          </a:prstGeom>
          <a:solidFill>
            <a:srgbClr val="66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37"/>
          <p:cNvGrpSpPr/>
          <p:nvPr/>
        </p:nvGrpSpPr>
        <p:grpSpPr>
          <a:xfrm>
            <a:off x="344806" y="722299"/>
            <a:ext cx="3114144" cy="420971"/>
            <a:chOff x="670560" y="892917"/>
            <a:chExt cx="3114144" cy="420971"/>
          </a:xfrm>
        </p:grpSpPr>
        <p:sp>
          <p:nvSpPr>
            <p:cNvPr id="40" name="矩形 39"/>
            <p:cNvSpPr/>
            <p:nvPr/>
          </p:nvSpPr>
          <p:spPr>
            <a:xfrm>
              <a:off x="1035233" y="913778"/>
              <a:ext cx="2749471"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组合逻辑电路设计实例</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241" name="组合 240"/>
          <p:cNvGrpSpPr/>
          <p:nvPr/>
        </p:nvGrpSpPr>
        <p:grpSpPr>
          <a:xfrm>
            <a:off x="1712511" y="2126103"/>
            <a:ext cx="5610727" cy="2759242"/>
            <a:chOff x="1435768" y="2253916"/>
            <a:chExt cx="5610727" cy="2759242"/>
          </a:xfrm>
          <a:solidFill>
            <a:schemeClr val="accent4">
              <a:lumMod val="20000"/>
              <a:lumOff val="80000"/>
            </a:schemeClr>
          </a:solidFill>
        </p:grpSpPr>
        <p:sp>
          <p:nvSpPr>
            <p:cNvPr id="156" name="圆角矩形 155"/>
            <p:cNvSpPr/>
            <p:nvPr/>
          </p:nvSpPr>
          <p:spPr>
            <a:xfrm>
              <a:off x="1435768" y="2253916"/>
              <a:ext cx="5610727" cy="2759242"/>
            </a:xfrm>
            <a:prstGeom prst="roundRect">
              <a:avLst>
                <a:gd name="adj" fmla="val 3570"/>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5" name="组合 154"/>
            <p:cNvGrpSpPr/>
            <p:nvPr/>
          </p:nvGrpSpPr>
          <p:grpSpPr>
            <a:xfrm>
              <a:off x="1543334" y="2293107"/>
              <a:ext cx="5360225" cy="2673008"/>
              <a:chOff x="1643596" y="2052465"/>
              <a:chExt cx="5360225" cy="2673008"/>
            </a:xfrm>
            <a:grpFill/>
          </p:grpSpPr>
          <p:cxnSp>
            <p:nvCxnSpPr>
              <p:cNvPr id="45" name="直接连接符 44"/>
              <p:cNvCxnSpPr/>
              <p:nvPr/>
            </p:nvCxnSpPr>
            <p:spPr>
              <a:xfrm flipV="1">
                <a:off x="1875273" y="4050634"/>
                <a:ext cx="0" cy="46800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rot="5400000" flipV="1">
                <a:off x="3990695" y="2378224"/>
                <a:ext cx="216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flipV="1">
                <a:off x="3136060" y="3335662"/>
                <a:ext cx="0" cy="14400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1793761" y="4520289"/>
                <a:ext cx="1326448" cy="205184"/>
              </a:xfrm>
              <a:prstGeom prst="rect">
                <a:avLst/>
              </a:prstGeom>
              <a:grpFill/>
            </p:spPr>
            <p:txBody>
              <a:bodyPr wrap="square" lIns="0" tIns="0" rIns="0" bIns="0" rtlCol="0">
                <a:spAutoFit/>
              </a:bodyPr>
              <a:lstStyle/>
              <a:p>
                <a:pPr>
                  <a:lnSpc>
                    <a:spcPts val="1600"/>
                  </a:lnSpc>
                </a:pPr>
                <a:r>
                  <a:rPr lang="en-US" altLang="zh-CN" sz="1400" b="1" i="1" dirty="0">
                    <a:latin typeface="Times New Roman" panose="02020603050405020304" pitchFamily="18" charset="0"/>
                    <a:cs typeface="Times New Roman" panose="02020603050405020304" pitchFamily="18" charset="0"/>
                  </a:rPr>
                  <a:t>A          B          C</a:t>
                </a:r>
                <a:endParaRPr lang="en-US" altLang="zh-CN" sz="1400" b="1" i="1" dirty="0">
                  <a:latin typeface="Times New Roman" panose="02020603050405020304" pitchFamily="18" charset="0"/>
                  <a:cs typeface="Times New Roman" panose="02020603050405020304" pitchFamily="18" charset="0"/>
                </a:endParaRPr>
              </a:p>
            </p:txBody>
          </p:sp>
          <p:sp>
            <p:nvSpPr>
              <p:cNvPr id="61" name="TextBox 60"/>
              <p:cNvSpPr txBox="1"/>
              <p:nvPr/>
            </p:nvSpPr>
            <p:spPr>
              <a:xfrm>
                <a:off x="4042903" y="2060486"/>
                <a:ext cx="304892" cy="317203"/>
              </a:xfrm>
              <a:prstGeom prst="rect">
                <a:avLst/>
              </a:prstGeom>
              <a:noFill/>
            </p:spPr>
            <p:txBody>
              <a:bodyPr wrap="none" rtlCol="0">
                <a:spAutoFit/>
              </a:bodyPr>
              <a:lstStyle/>
              <a:p>
                <a:pPr>
                  <a:lnSpc>
                    <a:spcPts val="1900"/>
                  </a:lnSpc>
                </a:pPr>
                <a:r>
                  <a:rPr lang="en-US" altLang="zh-CN" sz="1400" b="1" i="1" dirty="0">
                    <a:latin typeface="Times New Roman" panose="02020603050405020304" pitchFamily="18" charset="0"/>
                    <a:cs typeface="Times New Roman" panose="02020603050405020304" pitchFamily="18" charset="0"/>
                  </a:rPr>
                  <a:t>Y</a:t>
                </a:r>
                <a:endParaRPr lang="zh-CN" altLang="en-US" sz="1400" b="1" i="1" dirty="0">
                  <a:latin typeface="Times New Roman" panose="02020603050405020304" pitchFamily="18" charset="0"/>
                  <a:cs typeface="Times New Roman" panose="02020603050405020304" pitchFamily="18" charset="0"/>
                </a:endParaRPr>
              </a:p>
            </p:txBody>
          </p:sp>
          <p:grpSp>
            <p:nvGrpSpPr>
              <p:cNvPr id="97" name="Group 6"/>
              <p:cNvGrpSpPr/>
              <p:nvPr/>
            </p:nvGrpSpPr>
            <p:grpSpPr bwMode="auto">
              <a:xfrm rot="16200000">
                <a:off x="1703731" y="3678988"/>
                <a:ext cx="350396" cy="470666"/>
                <a:chOff x="2638" y="5808"/>
                <a:chExt cx="564" cy="680"/>
              </a:xfrm>
              <a:grpFill/>
            </p:grpSpPr>
            <p:sp>
              <p:nvSpPr>
                <p:cNvPr id="98" name="Rectangle 7"/>
                <p:cNvSpPr>
                  <a:spLocks noChangeArrowheads="1"/>
                </p:cNvSpPr>
                <p:nvPr/>
              </p:nvSpPr>
              <p:spPr bwMode="auto">
                <a:xfrm>
                  <a:off x="2638" y="5808"/>
                  <a:ext cx="454" cy="680"/>
                </a:xfrm>
                <a:prstGeom prst="rect">
                  <a:avLst/>
                </a:prstGeom>
                <a:grpFill/>
                <a:ln w="28575">
                  <a:solidFill>
                    <a:srgbClr val="000000"/>
                  </a:solidFill>
                  <a:miter lim="800000"/>
                </a:ln>
                <a:effectLst/>
              </p:spPr>
              <p:txBody>
                <a:bodyPr vert="eaVert" wrap="square" lIns="0" tIns="0" rIns="0" bIns="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1</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99"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cxnSp>
            <p:nvCxnSpPr>
              <p:cNvPr id="106" name="直接连接符 105"/>
              <p:cNvCxnSpPr/>
              <p:nvPr/>
            </p:nvCxnSpPr>
            <p:spPr>
              <a:xfrm flipV="1">
                <a:off x="3428916" y="3360620"/>
                <a:ext cx="0" cy="104400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108" name="形状 107"/>
              <p:cNvCxnSpPr/>
              <p:nvPr/>
            </p:nvCxnSpPr>
            <p:spPr>
              <a:xfrm flipV="1">
                <a:off x="1865537" y="3481772"/>
                <a:ext cx="1836000" cy="252000"/>
              </a:xfrm>
              <a:prstGeom prst="bentConnector3">
                <a:avLst>
                  <a:gd name="adj1" fmla="val -96"/>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形状 107"/>
              <p:cNvCxnSpPr/>
              <p:nvPr/>
            </p:nvCxnSpPr>
            <p:spPr>
              <a:xfrm flipV="1">
                <a:off x="2411527" y="3573075"/>
                <a:ext cx="1836000" cy="180000"/>
              </a:xfrm>
              <a:prstGeom prst="bentConnector3">
                <a:avLst>
                  <a:gd name="adj1" fmla="val -96"/>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形状 107"/>
              <p:cNvCxnSpPr/>
              <p:nvPr/>
            </p:nvCxnSpPr>
            <p:spPr>
              <a:xfrm flipV="1">
                <a:off x="2957516" y="3667317"/>
                <a:ext cx="1422000" cy="108000"/>
              </a:xfrm>
              <a:prstGeom prst="bentConnector3">
                <a:avLst>
                  <a:gd name="adj1" fmla="val -96"/>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3" name="Group 6"/>
              <p:cNvGrpSpPr/>
              <p:nvPr/>
            </p:nvGrpSpPr>
            <p:grpSpPr bwMode="auto">
              <a:xfrm rot="16200000">
                <a:off x="2782788" y="3678988"/>
                <a:ext cx="350396" cy="470666"/>
                <a:chOff x="2638" y="5797"/>
                <a:chExt cx="564" cy="680"/>
              </a:xfrm>
              <a:grpFill/>
            </p:grpSpPr>
            <p:sp>
              <p:nvSpPr>
                <p:cNvPr id="105"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sp>
              <p:nvSpPr>
                <p:cNvPr id="104" name="Rectangle 7"/>
                <p:cNvSpPr>
                  <a:spLocks noChangeArrowheads="1"/>
                </p:cNvSpPr>
                <p:nvPr/>
              </p:nvSpPr>
              <p:spPr bwMode="auto">
                <a:xfrm>
                  <a:off x="2638" y="5797"/>
                  <a:ext cx="454" cy="680"/>
                </a:xfrm>
                <a:prstGeom prst="rect">
                  <a:avLst/>
                </a:prstGeom>
                <a:grpFill/>
                <a:ln w="28575">
                  <a:solidFill>
                    <a:srgbClr val="000000"/>
                  </a:solidFill>
                  <a:miter lim="800000"/>
                </a:ln>
                <a:effectLst/>
              </p:spPr>
              <p:txBody>
                <a:bodyPr vert="eaVert" wrap="square" lIns="0" tIns="0" rIns="0" bIns="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1</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grpSp>
          <p:grpSp>
            <p:nvGrpSpPr>
              <p:cNvPr id="100" name="Group 6"/>
              <p:cNvGrpSpPr/>
              <p:nvPr/>
            </p:nvGrpSpPr>
            <p:grpSpPr bwMode="auto">
              <a:xfrm rot="16200000">
                <a:off x="2245740" y="3678988"/>
                <a:ext cx="350396" cy="470666"/>
                <a:chOff x="2638" y="5808"/>
                <a:chExt cx="564" cy="680"/>
              </a:xfrm>
              <a:grpFill/>
            </p:grpSpPr>
            <p:sp>
              <p:nvSpPr>
                <p:cNvPr id="102"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sp>
              <p:nvSpPr>
                <p:cNvPr id="101" name="Rectangle 7"/>
                <p:cNvSpPr>
                  <a:spLocks noChangeArrowheads="1"/>
                </p:cNvSpPr>
                <p:nvPr/>
              </p:nvSpPr>
              <p:spPr bwMode="auto">
                <a:xfrm>
                  <a:off x="2638" y="5808"/>
                  <a:ext cx="454" cy="680"/>
                </a:xfrm>
                <a:prstGeom prst="rect">
                  <a:avLst/>
                </a:prstGeom>
                <a:grpFill/>
                <a:ln w="28575">
                  <a:solidFill>
                    <a:srgbClr val="000000"/>
                  </a:solidFill>
                  <a:miter lim="800000"/>
                </a:ln>
                <a:effectLst/>
              </p:spPr>
              <p:txBody>
                <a:bodyPr vert="eaVert" wrap="square" lIns="0" tIns="0" rIns="0" bIns="0" numCol="1"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1</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grpSp>
          <p:cxnSp>
            <p:nvCxnSpPr>
              <p:cNvPr id="113" name="直接连接符 112"/>
              <p:cNvCxnSpPr/>
              <p:nvPr/>
            </p:nvCxnSpPr>
            <p:spPr>
              <a:xfrm flipH="1" flipV="1">
                <a:off x="3282488" y="3319779"/>
                <a:ext cx="0" cy="25200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flipV="1">
                <a:off x="3692831" y="3344738"/>
                <a:ext cx="0" cy="144000"/>
              </a:xfrm>
              <a:prstGeom prst="line">
                <a:avLst/>
              </a:prstGeom>
              <a:grpFill/>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V="1">
                <a:off x="3978880" y="3360620"/>
                <a:ext cx="0" cy="93600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flipV="1">
                <a:off x="3832452" y="3342469"/>
                <a:ext cx="0" cy="32400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flipV="1">
                <a:off x="4237676" y="3331124"/>
                <a:ext cx="0" cy="252000"/>
              </a:xfrm>
              <a:prstGeom prst="line">
                <a:avLst/>
              </a:prstGeom>
              <a:grpFill/>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V="1">
                <a:off x="4516918" y="3360620"/>
                <a:ext cx="0" cy="82800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flipV="1">
                <a:off x="4377297" y="3342469"/>
                <a:ext cx="0" cy="324000"/>
              </a:xfrm>
              <a:prstGeom prst="line">
                <a:avLst/>
              </a:prstGeom>
              <a:grpFill/>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flipV="1">
                <a:off x="4788604" y="3360621"/>
                <a:ext cx="0" cy="82800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V="1">
                <a:off x="5081460" y="3360620"/>
                <a:ext cx="0" cy="104400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flipH="1" flipV="1">
                <a:off x="4935032" y="3360621"/>
                <a:ext cx="0" cy="93600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a:off x="1873648" y="4196873"/>
                <a:ext cx="4212000" cy="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a:off x="2960500" y="4401573"/>
                <a:ext cx="3924000" cy="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a:off x="2419079" y="4299223"/>
                <a:ext cx="4212000" cy="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V="1">
                <a:off x="2416693" y="4075918"/>
                <a:ext cx="0" cy="43200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V="1">
                <a:off x="2954104" y="4075918"/>
                <a:ext cx="0" cy="43200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flipV="1">
                <a:off x="5538572" y="3364630"/>
                <a:ext cx="0" cy="82800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flipV="1">
                <a:off x="5785275" y="3364630"/>
                <a:ext cx="0" cy="93600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H="1" flipV="1">
                <a:off x="6075983" y="3364630"/>
                <a:ext cx="0" cy="828000"/>
              </a:xfrm>
              <a:prstGeom prst="line">
                <a:avLst/>
              </a:prstGeom>
              <a:grpFill/>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7" name="直接连接符 136"/>
              <p:cNvCxnSpPr/>
              <p:nvPr/>
            </p:nvCxnSpPr>
            <p:spPr>
              <a:xfrm flipV="1">
                <a:off x="6336751" y="3364630"/>
                <a:ext cx="0" cy="1044000"/>
              </a:xfrm>
              <a:prstGeom prst="line">
                <a:avLst/>
              </a:prstGeom>
              <a:grp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flipV="1">
                <a:off x="6882198" y="3364630"/>
                <a:ext cx="0" cy="1044000"/>
              </a:xfrm>
              <a:prstGeom prst="line">
                <a:avLst/>
              </a:prstGeom>
              <a:grpFill/>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9" name="直接连接符 138"/>
              <p:cNvCxnSpPr/>
              <p:nvPr/>
            </p:nvCxnSpPr>
            <p:spPr>
              <a:xfrm flipH="1" flipV="1">
                <a:off x="6631484" y="3364630"/>
                <a:ext cx="0" cy="936000"/>
              </a:xfrm>
              <a:prstGeom prst="line">
                <a:avLst/>
              </a:prstGeom>
              <a:grpFill/>
              <a:ln w="190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 name="肘形连接符 57"/>
              <p:cNvCxnSpPr/>
              <p:nvPr/>
            </p:nvCxnSpPr>
            <p:spPr>
              <a:xfrm rot="5400000">
                <a:off x="3473392" y="2526137"/>
                <a:ext cx="288000" cy="666000"/>
              </a:xfrm>
              <a:prstGeom prst="bentConnector3">
                <a:avLst>
                  <a:gd name="adj1" fmla="val 50000"/>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 name="肘形连接符 142"/>
              <p:cNvCxnSpPr/>
              <p:nvPr/>
            </p:nvCxnSpPr>
            <p:spPr>
              <a:xfrm rot="16200000" flipH="1">
                <a:off x="4450004" y="2526138"/>
                <a:ext cx="288000" cy="666000"/>
              </a:xfrm>
              <a:prstGeom prst="bentConnector3">
                <a:avLst>
                  <a:gd name="adj1" fmla="val 50000"/>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肘形连接符 145"/>
              <p:cNvCxnSpPr/>
              <p:nvPr/>
            </p:nvCxnSpPr>
            <p:spPr>
              <a:xfrm rot="16200000" flipH="1">
                <a:off x="4073901" y="2819631"/>
                <a:ext cx="376854" cy="216000"/>
              </a:xfrm>
              <a:prstGeom prst="bentConnector3">
                <a:avLst>
                  <a:gd name="adj1" fmla="val 50000"/>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肘形连接符 149"/>
              <p:cNvCxnSpPr/>
              <p:nvPr/>
            </p:nvCxnSpPr>
            <p:spPr>
              <a:xfrm rot="5400000">
                <a:off x="3741028" y="2819630"/>
                <a:ext cx="376854" cy="216000"/>
              </a:xfrm>
              <a:prstGeom prst="bentConnector3">
                <a:avLst>
                  <a:gd name="adj1" fmla="val 50000"/>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1" name="组合 90"/>
              <p:cNvGrpSpPr/>
              <p:nvPr/>
            </p:nvGrpSpPr>
            <p:grpSpPr>
              <a:xfrm>
                <a:off x="3041234" y="3010730"/>
                <a:ext cx="2137946" cy="350397"/>
                <a:chOff x="2483751" y="3114995"/>
                <a:chExt cx="2137946" cy="350397"/>
              </a:xfrm>
              <a:grpFill/>
            </p:grpSpPr>
            <p:grpSp>
              <p:nvGrpSpPr>
                <p:cNvPr id="57" name="Group 6"/>
                <p:cNvGrpSpPr/>
                <p:nvPr/>
              </p:nvGrpSpPr>
              <p:grpSpPr bwMode="auto">
                <a:xfrm rot="16200000">
                  <a:off x="2543886" y="3054861"/>
                  <a:ext cx="350396" cy="470666"/>
                  <a:chOff x="2638" y="5808"/>
                  <a:chExt cx="564" cy="680"/>
                </a:xfrm>
                <a:grpFill/>
              </p:grpSpPr>
              <p:sp>
                <p:nvSpPr>
                  <p:cNvPr id="67" name="Rectangle 7"/>
                  <p:cNvSpPr>
                    <a:spLocks noChangeArrowheads="1"/>
                  </p:cNvSpPr>
                  <p:nvPr/>
                </p:nvSpPr>
                <p:spPr bwMode="auto">
                  <a:xfrm>
                    <a:off x="2638" y="5808"/>
                    <a:ext cx="454" cy="680"/>
                  </a:xfrm>
                  <a:prstGeom prst="rect">
                    <a:avLst/>
                  </a:prstGeom>
                  <a:grp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68"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grpSp>
              <p:nvGrpSpPr>
                <p:cNvPr id="73" name="Group 6"/>
                <p:cNvGrpSpPr/>
                <p:nvPr/>
              </p:nvGrpSpPr>
              <p:grpSpPr bwMode="auto">
                <a:xfrm rot="16200000">
                  <a:off x="3099646" y="3054861"/>
                  <a:ext cx="350396" cy="470666"/>
                  <a:chOff x="2638" y="5808"/>
                  <a:chExt cx="564" cy="680"/>
                </a:xfrm>
                <a:grpFill/>
              </p:grpSpPr>
              <p:sp>
                <p:nvSpPr>
                  <p:cNvPr id="74" name="Rectangle 7"/>
                  <p:cNvSpPr>
                    <a:spLocks noChangeArrowheads="1"/>
                  </p:cNvSpPr>
                  <p:nvPr/>
                </p:nvSpPr>
                <p:spPr bwMode="auto">
                  <a:xfrm>
                    <a:off x="2638" y="5808"/>
                    <a:ext cx="454" cy="680"/>
                  </a:xfrm>
                  <a:prstGeom prst="rect">
                    <a:avLst/>
                  </a:prstGeom>
                  <a:grp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75"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grpSp>
              <p:nvGrpSpPr>
                <p:cNvPr id="76" name="Group 6"/>
                <p:cNvGrpSpPr/>
                <p:nvPr/>
              </p:nvGrpSpPr>
              <p:grpSpPr bwMode="auto">
                <a:xfrm rot="16200000">
                  <a:off x="3655406" y="3054861"/>
                  <a:ext cx="350396" cy="470666"/>
                  <a:chOff x="2638" y="5808"/>
                  <a:chExt cx="564" cy="680"/>
                </a:xfrm>
                <a:grpFill/>
              </p:grpSpPr>
              <p:sp>
                <p:nvSpPr>
                  <p:cNvPr id="77" name="Rectangle 7"/>
                  <p:cNvSpPr>
                    <a:spLocks noChangeArrowheads="1"/>
                  </p:cNvSpPr>
                  <p:nvPr/>
                </p:nvSpPr>
                <p:spPr bwMode="auto">
                  <a:xfrm>
                    <a:off x="2638" y="5808"/>
                    <a:ext cx="454" cy="680"/>
                  </a:xfrm>
                  <a:prstGeom prst="rect">
                    <a:avLst/>
                  </a:prstGeom>
                  <a:grp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78"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grpSp>
              <p:nvGrpSpPr>
                <p:cNvPr id="79" name="Group 6"/>
                <p:cNvGrpSpPr/>
                <p:nvPr/>
              </p:nvGrpSpPr>
              <p:grpSpPr bwMode="auto">
                <a:xfrm rot="16200000">
                  <a:off x="4211166" y="3054860"/>
                  <a:ext cx="350396" cy="470666"/>
                  <a:chOff x="2638" y="5808"/>
                  <a:chExt cx="564" cy="680"/>
                </a:xfrm>
                <a:grpFill/>
              </p:grpSpPr>
              <p:sp>
                <p:nvSpPr>
                  <p:cNvPr id="80" name="Rectangle 7"/>
                  <p:cNvSpPr>
                    <a:spLocks noChangeArrowheads="1"/>
                  </p:cNvSpPr>
                  <p:nvPr/>
                </p:nvSpPr>
                <p:spPr bwMode="auto">
                  <a:xfrm>
                    <a:off x="2638" y="5808"/>
                    <a:ext cx="454" cy="680"/>
                  </a:xfrm>
                  <a:prstGeom prst="rect">
                    <a:avLst/>
                  </a:prstGeom>
                  <a:grp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81"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grpSp>
          <p:grpSp>
            <p:nvGrpSpPr>
              <p:cNvPr id="56" name="Group 6"/>
              <p:cNvGrpSpPr/>
              <p:nvPr/>
            </p:nvGrpSpPr>
            <p:grpSpPr bwMode="auto">
              <a:xfrm rot="16200000">
                <a:off x="3935009" y="2324610"/>
                <a:ext cx="350396" cy="470666"/>
                <a:chOff x="2638" y="5808"/>
                <a:chExt cx="564" cy="680"/>
              </a:xfrm>
              <a:grpFill/>
            </p:grpSpPr>
            <p:sp>
              <p:nvSpPr>
                <p:cNvPr id="69" name="Rectangle 7"/>
                <p:cNvSpPr>
                  <a:spLocks noChangeArrowheads="1"/>
                </p:cNvSpPr>
                <p:nvPr/>
              </p:nvSpPr>
              <p:spPr bwMode="auto">
                <a:xfrm>
                  <a:off x="2638" y="5808"/>
                  <a:ext cx="454" cy="680"/>
                </a:xfrm>
                <a:prstGeom prst="rect">
                  <a:avLst/>
                </a:prstGeom>
                <a:grp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70"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cxnSp>
            <p:nvCxnSpPr>
              <p:cNvPr id="151" name="直接连接符 150"/>
              <p:cNvCxnSpPr/>
              <p:nvPr/>
            </p:nvCxnSpPr>
            <p:spPr>
              <a:xfrm rot="16200000">
                <a:off x="5800201" y="2666224"/>
                <a:ext cx="792000" cy="0"/>
              </a:xfrm>
              <a:prstGeom prst="line">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肘形连接符 151"/>
              <p:cNvCxnSpPr/>
              <p:nvPr/>
            </p:nvCxnSpPr>
            <p:spPr>
              <a:xfrm rot="5400000">
                <a:off x="5701856" y="2677179"/>
                <a:ext cx="288000" cy="396000"/>
              </a:xfrm>
              <a:prstGeom prst="bentConnector3">
                <a:avLst>
                  <a:gd name="adj1" fmla="val 50000"/>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肘形连接符 152"/>
              <p:cNvCxnSpPr/>
              <p:nvPr/>
            </p:nvCxnSpPr>
            <p:spPr>
              <a:xfrm rot="16200000" flipH="1">
                <a:off x="6411720" y="2677179"/>
                <a:ext cx="288000" cy="396000"/>
              </a:xfrm>
              <a:prstGeom prst="bentConnector3">
                <a:avLst>
                  <a:gd name="adj1" fmla="val 50000"/>
                </a:avLst>
              </a:prstGeom>
              <a:grpFill/>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3" name="Group 6"/>
              <p:cNvGrpSpPr/>
              <p:nvPr/>
            </p:nvGrpSpPr>
            <p:grpSpPr bwMode="auto">
              <a:xfrm rot="16200000">
                <a:off x="6037531" y="2324609"/>
                <a:ext cx="350396" cy="470666"/>
                <a:chOff x="2638" y="5808"/>
                <a:chExt cx="564" cy="680"/>
              </a:xfrm>
              <a:grpFill/>
            </p:grpSpPr>
            <p:sp>
              <p:nvSpPr>
                <p:cNvPr id="94" name="Rectangle 7"/>
                <p:cNvSpPr>
                  <a:spLocks noChangeArrowheads="1"/>
                </p:cNvSpPr>
                <p:nvPr/>
              </p:nvSpPr>
              <p:spPr bwMode="auto">
                <a:xfrm>
                  <a:off x="2638" y="5808"/>
                  <a:ext cx="454" cy="680"/>
                </a:xfrm>
                <a:prstGeom prst="rect">
                  <a:avLst/>
                </a:prstGeom>
                <a:grp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95"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grpSp>
            <p:nvGrpSpPr>
              <p:cNvPr id="92" name="组合 91"/>
              <p:cNvGrpSpPr/>
              <p:nvPr/>
            </p:nvGrpSpPr>
            <p:grpSpPr>
              <a:xfrm>
                <a:off x="5421637" y="3010731"/>
                <a:ext cx="1582184" cy="350396"/>
                <a:chOff x="4864154" y="3114996"/>
                <a:chExt cx="1582184" cy="350396"/>
              </a:xfrm>
              <a:grpFill/>
            </p:grpSpPr>
            <p:grpSp>
              <p:nvGrpSpPr>
                <p:cNvPr id="82" name="Group 6"/>
                <p:cNvGrpSpPr/>
                <p:nvPr/>
              </p:nvGrpSpPr>
              <p:grpSpPr bwMode="auto">
                <a:xfrm rot="16200000">
                  <a:off x="4924289" y="3054861"/>
                  <a:ext cx="350396" cy="470666"/>
                  <a:chOff x="2638" y="5808"/>
                  <a:chExt cx="564" cy="680"/>
                </a:xfrm>
                <a:grpFill/>
              </p:grpSpPr>
              <p:sp>
                <p:nvSpPr>
                  <p:cNvPr id="83" name="Rectangle 7"/>
                  <p:cNvSpPr>
                    <a:spLocks noChangeArrowheads="1"/>
                  </p:cNvSpPr>
                  <p:nvPr/>
                </p:nvSpPr>
                <p:spPr bwMode="auto">
                  <a:xfrm>
                    <a:off x="2638" y="5808"/>
                    <a:ext cx="454" cy="680"/>
                  </a:xfrm>
                  <a:prstGeom prst="rect">
                    <a:avLst/>
                  </a:prstGeom>
                  <a:grp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84"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grpSp>
              <p:nvGrpSpPr>
                <p:cNvPr id="85" name="Group 6"/>
                <p:cNvGrpSpPr/>
                <p:nvPr/>
              </p:nvGrpSpPr>
              <p:grpSpPr bwMode="auto">
                <a:xfrm rot="16200000">
                  <a:off x="5480049" y="3054861"/>
                  <a:ext cx="350396" cy="470666"/>
                  <a:chOff x="2638" y="5808"/>
                  <a:chExt cx="564" cy="680"/>
                </a:xfrm>
                <a:grpFill/>
              </p:grpSpPr>
              <p:sp>
                <p:nvSpPr>
                  <p:cNvPr id="86" name="Rectangle 7"/>
                  <p:cNvSpPr>
                    <a:spLocks noChangeArrowheads="1"/>
                  </p:cNvSpPr>
                  <p:nvPr/>
                </p:nvSpPr>
                <p:spPr bwMode="auto">
                  <a:xfrm>
                    <a:off x="2638" y="5808"/>
                    <a:ext cx="454" cy="680"/>
                  </a:xfrm>
                  <a:prstGeom prst="rect">
                    <a:avLst/>
                  </a:prstGeom>
                  <a:grp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87"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grpSp>
              <p:nvGrpSpPr>
                <p:cNvPr id="88" name="Group 6"/>
                <p:cNvGrpSpPr/>
                <p:nvPr/>
              </p:nvGrpSpPr>
              <p:grpSpPr bwMode="auto">
                <a:xfrm rot="16200000">
                  <a:off x="6035807" y="3054861"/>
                  <a:ext cx="350396" cy="470666"/>
                  <a:chOff x="2638" y="5808"/>
                  <a:chExt cx="564" cy="680"/>
                </a:xfrm>
                <a:grpFill/>
              </p:grpSpPr>
              <p:sp>
                <p:nvSpPr>
                  <p:cNvPr id="90"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sp>
                <p:nvSpPr>
                  <p:cNvPr id="89" name="Rectangle 7"/>
                  <p:cNvSpPr>
                    <a:spLocks noChangeArrowheads="1"/>
                  </p:cNvSpPr>
                  <p:nvPr/>
                </p:nvSpPr>
                <p:spPr bwMode="auto">
                  <a:xfrm>
                    <a:off x="2638" y="5808"/>
                    <a:ext cx="454" cy="680"/>
                  </a:xfrm>
                  <a:prstGeom prst="rect">
                    <a:avLst/>
                  </a:prstGeom>
                  <a:grp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grpSp>
          </p:grpSp>
          <p:sp>
            <p:nvSpPr>
              <p:cNvPr id="154" name="TextBox 153"/>
              <p:cNvSpPr txBox="1"/>
              <p:nvPr/>
            </p:nvSpPr>
            <p:spPr>
              <a:xfrm>
                <a:off x="5967981" y="2052465"/>
                <a:ext cx="304892" cy="317203"/>
              </a:xfrm>
              <a:prstGeom prst="rect">
                <a:avLst/>
              </a:prstGeom>
              <a:noFill/>
            </p:spPr>
            <p:txBody>
              <a:bodyPr wrap="none" rtlCol="0">
                <a:spAutoFit/>
              </a:bodyPr>
              <a:lstStyle/>
              <a:p>
                <a:pPr>
                  <a:lnSpc>
                    <a:spcPts val="1900"/>
                  </a:lnSpc>
                </a:pPr>
                <a:r>
                  <a:rPr lang="en-US" altLang="zh-CN" sz="1400" b="1" i="1" dirty="0">
                    <a:latin typeface="Times New Roman" panose="02020603050405020304" pitchFamily="18" charset="0"/>
                    <a:cs typeface="Times New Roman" panose="02020603050405020304" pitchFamily="18" charset="0"/>
                  </a:rPr>
                  <a:t>R</a:t>
                </a:r>
                <a:endParaRPr lang="zh-CN" altLang="en-US" sz="1400" b="1" i="1" dirty="0">
                  <a:latin typeface="Times New Roman" panose="02020603050405020304" pitchFamily="18" charset="0"/>
                  <a:cs typeface="Times New Roman" panose="02020603050405020304" pitchFamily="18" charset="0"/>
                </a:endParaRPr>
              </a:p>
            </p:txBody>
          </p:sp>
        </p:grpSp>
      </p:grpSp>
      <p:sp>
        <p:nvSpPr>
          <p:cNvPr id="238" name="TextBox 237"/>
          <p:cNvSpPr txBox="1"/>
          <p:nvPr/>
        </p:nvSpPr>
        <p:spPr>
          <a:xfrm>
            <a:off x="723710" y="1203297"/>
            <a:ext cx="7975017" cy="369332"/>
          </a:xfrm>
          <a:prstGeom prst="rect">
            <a:avLst/>
          </a:prstGeom>
          <a:noFill/>
        </p:spPr>
        <p:txBody>
          <a:bodyPr wrap="square" rtlCol="0">
            <a:spAutoFit/>
          </a:bodyPr>
          <a:lstStyle/>
          <a:p>
            <a:pPr marL="536575" indent="-575945"/>
            <a:r>
              <a:rPr lang="zh-CN" altLang="en-US" b="1" dirty="0">
                <a:solidFill>
                  <a:srgbClr val="CC00CC"/>
                </a:solidFill>
                <a:latin typeface="黑体" panose="02010609060101010101" pitchFamily="49" charset="-122"/>
                <a:ea typeface="黑体" panose="02010609060101010101" pitchFamily="49" charset="-122"/>
              </a:rPr>
              <a:t>例</a:t>
            </a:r>
            <a:r>
              <a:rPr lang="en-US" altLang="zh-CN" b="1" dirty="0">
                <a:solidFill>
                  <a:srgbClr val="CC00CC"/>
                </a:solidFill>
                <a:latin typeface="黑体" panose="02010609060101010101" pitchFamily="49" charset="-122"/>
                <a:ea typeface="黑体" panose="02010609060101010101" pitchFamily="49" charset="-122"/>
              </a:rPr>
              <a:t>2</a:t>
            </a:r>
            <a:r>
              <a:rPr lang="zh-CN" altLang="en-US" b="1" dirty="0">
                <a:solidFill>
                  <a:srgbClr val="CC00CC"/>
                </a:solidFill>
                <a:latin typeface="黑体" panose="02010609060101010101" pitchFamily="49" charset="-122"/>
                <a:ea typeface="黑体" panose="02010609060101010101" pitchFamily="49" charset="-122"/>
              </a:rPr>
              <a:t>：</a:t>
            </a:r>
            <a:endParaRPr lang="zh-CN" altLang="en-US" b="1" dirty="0">
              <a:solidFill>
                <a:srgbClr val="6600FF"/>
              </a:solidFill>
              <a:latin typeface="黑体" panose="02010609060101010101" pitchFamily="49" charset="-122"/>
              <a:ea typeface="黑体" panose="02010609060101010101" pitchFamily="49" charset="-122"/>
            </a:endParaRPr>
          </a:p>
        </p:txBody>
      </p:sp>
      <p:pic>
        <p:nvPicPr>
          <p:cNvPr id="239" name="Picture 4"/>
          <p:cNvPicPr>
            <a:picLocks noChangeAspect="1" noChangeArrowheads="1"/>
          </p:cNvPicPr>
          <p:nvPr/>
        </p:nvPicPr>
        <p:blipFill>
          <a:blip r:embed="rId2" cstate="print"/>
          <a:srcRect/>
          <a:stretch>
            <a:fillRect/>
          </a:stretch>
        </p:blipFill>
        <p:spPr bwMode="auto">
          <a:xfrm>
            <a:off x="369777" y="1200648"/>
            <a:ext cx="373669" cy="374630"/>
          </a:xfrm>
          <a:prstGeom prst="rect">
            <a:avLst/>
          </a:prstGeom>
          <a:noFill/>
          <a:ln w="9525">
            <a:noFill/>
            <a:miter lim="800000"/>
            <a:headEnd/>
            <a:tailEnd/>
          </a:ln>
        </p:spPr>
      </p:pic>
      <p:graphicFrame>
        <p:nvGraphicFramePr>
          <p:cNvPr id="21518" name="Object 14"/>
          <p:cNvGraphicFramePr>
            <a:graphicFrameLocks noChangeAspect="1"/>
          </p:cNvGraphicFramePr>
          <p:nvPr/>
        </p:nvGraphicFramePr>
        <p:xfrm>
          <a:off x="4792663" y="1481138"/>
          <a:ext cx="1577975" cy="354012"/>
        </p:xfrm>
        <a:graphic>
          <a:graphicData uri="http://schemas.openxmlformats.org/presentationml/2006/ole">
            <mc:AlternateContent xmlns:mc="http://schemas.openxmlformats.org/markup-compatibility/2006">
              <mc:Choice xmlns:v="urn:schemas-microsoft-com:vml" Requires="v">
                <p:oleObj spid="_x0000_s20504" name="Equation" r:id="rId3" imgW="1078865" imgH="241300" progId="">
                  <p:embed/>
                </p:oleObj>
              </mc:Choice>
              <mc:Fallback>
                <p:oleObj name="Equation" r:id="rId3" imgW="1078865" imgH="241300" progId="">
                  <p:embed/>
                  <p:pic>
                    <p:nvPicPr>
                      <p:cNvPr id="0" name="Object 1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92663" y="1481138"/>
                        <a:ext cx="1577975" cy="354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19" name="Object 15"/>
          <p:cNvGraphicFramePr>
            <a:graphicFrameLocks noChangeAspect="1"/>
          </p:cNvGraphicFramePr>
          <p:nvPr/>
        </p:nvGraphicFramePr>
        <p:xfrm>
          <a:off x="1844675" y="1462088"/>
          <a:ext cx="2544763" cy="366712"/>
        </p:xfrm>
        <a:graphic>
          <a:graphicData uri="http://schemas.openxmlformats.org/presentationml/2006/ole">
            <mc:AlternateContent xmlns:mc="http://schemas.openxmlformats.org/markup-compatibility/2006">
              <mc:Choice xmlns:v="urn:schemas-microsoft-com:vml" Requires="v">
                <p:oleObj spid="_x0000_s20505" name="Equation" r:id="rId5" imgW="1765300" imgH="254000" progId="">
                  <p:embed/>
                </p:oleObj>
              </mc:Choice>
              <mc:Fallback>
                <p:oleObj name="Equation" r:id="rId5" imgW="1765300" imgH="254000" progId="">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44675" y="1462088"/>
                        <a:ext cx="2544763" cy="366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6"/>
                                        </p:tgtEl>
                                        <p:attrNameLst>
                                          <p:attrName>style.visibility</p:attrName>
                                        </p:attrNameLst>
                                      </p:cBhvr>
                                      <p:to>
                                        <p:strVal val="visible"/>
                                      </p:to>
                                    </p:set>
                                    <p:animEffect transition="in" filter="wipe(up)">
                                      <p:cBhvr>
                                        <p:cTn id="7" dur="1000"/>
                                        <p:tgtEl>
                                          <p:spTgt spid="96"/>
                                        </p:tgtEl>
                                      </p:cBhvr>
                                    </p:animEffect>
                                  </p:childTnLst>
                                </p:cTn>
                              </p:par>
                            </p:childTnLst>
                          </p:cTn>
                        </p:par>
                        <p:par>
                          <p:cTn id="8" fill="hold">
                            <p:stCondLst>
                              <p:cond delay="1000"/>
                            </p:stCondLst>
                            <p:childTnLst>
                              <p:par>
                                <p:cTn id="9" presetID="12" presetClass="entr" presetSubtype="1" fill="hold" nodeType="afterEffect">
                                  <p:stCondLst>
                                    <p:cond delay="0"/>
                                  </p:stCondLst>
                                  <p:childTnLst>
                                    <p:set>
                                      <p:cBhvr>
                                        <p:cTn id="10" dur="1" fill="hold">
                                          <p:stCondLst>
                                            <p:cond delay="0"/>
                                          </p:stCondLst>
                                        </p:cTn>
                                        <p:tgtEl>
                                          <p:spTgt spid="241"/>
                                        </p:tgtEl>
                                        <p:attrNameLst>
                                          <p:attrName>style.visibility</p:attrName>
                                        </p:attrNameLst>
                                      </p:cBhvr>
                                      <p:to>
                                        <p:strVal val="visible"/>
                                      </p:to>
                                    </p:set>
                                    <p:animEffect transition="in" filter="slide(fromTop)">
                                      <p:cBhvr>
                                        <p:cTn id="11" dur="1000"/>
                                        <p:tgtEl>
                                          <p:spTgt spid="2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816410" y="1451187"/>
            <a:ext cx="7142680" cy="2864813"/>
            <a:chOff x="816410" y="1451187"/>
            <a:chExt cx="7142680" cy="2864813"/>
          </a:xfrm>
        </p:grpSpPr>
        <p:grpSp>
          <p:nvGrpSpPr>
            <p:cNvPr id="43" name="组合 42"/>
            <p:cNvGrpSpPr/>
            <p:nvPr/>
          </p:nvGrpSpPr>
          <p:grpSpPr>
            <a:xfrm>
              <a:off x="816410" y="1451187"/>
              <a:ext cx="1371600" cy="760000"/>
              <a:chOff x="910590" y="1565910"/>
              <a:chExt cx="1371600" cy="684000"/>
            </a:xfrm>
          </p:grpSpPr>
          <p:grpSp>
            <p:nvGrpSpPr>
              <p:cNvPr id="36" name="组合 35"/>
              <p:cNvGrpSpPr/>
              <p:nvPr/>
            </p:nvGrpSpPr>
            <p:grpSpPr>
              <a:xfrm>
                <a:off x="910590" y="1699260"/>
                <a:ext cx="1371600" cy="99060"/>
                <a:chOff x="910590" y="1699260"/>
                <a:chExt cx="1371600" cy="99060"/>
              </a:xfrm>
            </p:grpSpPr>
            <p:cxnSp>
              <p:nvCxnSpPr>
                <p:cNvPr id="29" name="直接连接符 28"/>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5" name="直接连接符 34"/>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37" name="组合 36"/>
              <p:cNvGrpSpPr/>
              <p:nvPr/>
            </p:nvGrpSpPr>
            <p:grpSpPr>
              <a:xfrm rot="5400000">
                <a:off x="728610" y="1866000"/>
                <a:ext cx="684000" cy="83820"/>
                <a:chOff x="910590" y="1699260"/>
                <a:chExt cx="1371600" cy="99060"/>
              </a:xfrm>
            </p:grpSpPr>
            <p:cxnSp>
              <p:nvCxnSpPr>
                <p:cNvPr id="38" name="直接连接符 3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42" name="直接连接符 4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44" name="组合 43"/>
            <p:cNvGrpSpPr/>
            <p:nvPr/>
          </p:nvGrpSpPr>
          <p:grpSpPr>
            <a:xfrm rot="10800000">
              <a:off x="6587490" y="3556000"/>
              <a:ext cx="1371600" cy="760000"/>
              <a:chOff x="910590" y="1565910"/>
              <a:chExt cx="1371600" cy="684000"/>
            </a:xfrm>
          </p:grpSpPr>
          <p:grpSp>
            <p:nvGrpSpPr>
              <p:cNvPr id="45" name="组合 35"/>
              <p:cNvGrpSpPr/>
              <p:nvPr/>
            </p:nvGrpSpPr>
            <p:grpSpPr>
              <a:xfrm>
                <a:off x="910590" y="1699260"/>
                <a:ext cx="1371600" cy="99060"/>
                <a:chOff x="910590" y="1699260"/>
                <a:chExt cx="1371600" cy="99060"/>
              </a:xfrm>
            </p:grpSpPr>
            <p:cxnSp>
              <p:nvCxnSpPr>
                <p:cNvPr id="49" name="直接连接符 48"/>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50" name="直接连接符 4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46" name="组合 36"/>
              <p:cNvGrpSpPr/>
              <p:nvPr/>
            </p:nvGrpSpPr>
            <p:grpSpPr>
              <a:xfrm rot="5400000">
                <a:off x="728610" y="1866000"/>
                <a:ext cx="684000" cy="83820"/>
                <a:chOff x="910590" y="1699260"/>
                <a:chExt cx="1371600" cy="99060"/>
              </a:xfrm>
            </p:grpSpPr>
            <p:cxnSp>
              <p:nvCxnSpPr>
                <p:cNvPr id="47" name="直接连接符 46"/>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48" name="直接连接符 47"/>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17" name="文本框 6"/>
            <p:cNvSpPr txBox="1"/>
            <p:nvPr/>
          </p:nvSpPr>
          <p:spPr>
            <a:xfrm>
              <a:off x="1140259" y="1959049"/>
              <a:ext cx="6498792" cy="1796902"/>
            </a:xfrm>
            <a:prstGeom prst="rect">
              <a:avLst/>
            </a:prstGeom>
            <a:noFill/>
          </p:spPr>
          <p:txBody>
            <a:bodyPr wrap="square" rtlCol="0">
              <a:spAutoFit/>
            </a:bodyPr>
            <a:lstStyle/>
            <a:p>
              <a:pPr algn="ctr">
                <a:lnSpc>
                  <a:spcPct val="125000"/>
                </a:lnSpc>
              </a:pP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4</a:t>
              </a: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 组合逻辑电路</a:t>
              </a:r>
              <a:endPar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a:p>
              <a:pPr algn="ctr">
                <a:lnSpc>
                  <a:spcPct val="125000"/>
                </a:lnSpc>
              </a:pPr>
              <a:r>
                <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4.4 </a:t>
              </a:r>
              <a:r>
                <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典型组合逻辑集成电路</a:t>
              </a:r>
              <a:endPar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a:p>
              <a:pPr algn="ctr">
                <a:lnSpc>
                  <a:spcPct val="125000"/>
                </a:lnSpc>
                <a:spcBef>
                  <a:spcPts val="600"/>
                </a:spcBef>
              </a:pPr>
              <a:r>
                <a:rPr lang="en-US" altLang="zh-CN" sz="2400" dirty="0">
                  <a:ln w="0"/>
                  <a:solidFill>
                    <a:schemeClr val="accent1"/>
                  </a:solidFill>
                  <a:effectLst>
                    <a:outerShdw blurRad="38100" dist="25400" dir="5400000" algn="ctr" rotWithShape="0">
                      <a:srgbClr val="6E747A">
                        <a:alpha val="43000"/>
                      </a:srgbClr>
                    </a:outerShdw>
                  </a:effectLst>
                  <a:latin typeface="方正粗黑宋简体" panose="02000000000000000000" pitchFamily="2" charset="-122"/>
                  <a:ea typeface="方正粗黑宋简体" panose="02000000000000000000" pitchFamily="2" charset="-122"/>
                </a:rPr>
                <a:t>4.4.1   </a:t>
              </a:r>
              <a:r>
                <a:rPr lang="zh-CN" altLang="en-US" sz="2400" dirty="0">
                  <a:ln w="0"/>
                  <a:solidFill>
                    <a:schemeClr val="accent1"/>
                  </a:solidFill>
                  <a:effectLst>
                    <a:outerShdw blurRad="38100" dist="25400" dir="5400000" algn="ctr" rotWithShape="0">
                      <a:srgbClr val="6E747A">
                        <a:alpha val="43000"/>
                      </a:srgbClr>
                    </a:outerShdw>
                  </a:effectLst>
                  <a:latin typeface="方正粗黑宋简体" panose="02000000000000000000" pitchFamily="2" charset="-122"/>
                  <a:ea typeface="方正粗黑宋简体" panose="02000000000000000000" pitchFamily="2" charset="-122"/>
                </a:rPr>
                <a:t>编码器</a:t>
              </a:r>
              <a:endParaRPr lang="zh-CN" altLang="en-US" sz="2400" dirty="0">
                <a:ln w="0"/>
                <a:solidFill>
                  <a:schemeClr val="accent1"/>
                </a:solidFill>
                <a:effectLst>
                  <a:outerShdw blurRad="38100" dist="25400" dir="5400000" algn="ctr" rotWithShape="0">
                    <a:srgbClr val="6E747A">
                      <a:alpha val="43000"/>
                    </a:srgbClr>
                  </a:outerShdw>
                </a:effectLst>
                <a:latin typeface="方正粗黑宋简体" panose="02000000000000000000" pitchFamily="2" charset="-122"/>
                <a:ea typeface="方正粗黑宋简体" panose="02000000000000000000" pitchFamily="2" charset="-122"/>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17"/>
          <p:cNvGrpSpPr/>
          <p:nvPr/>
        </p:nvGrpSpPr>
        <p:grpSpPr>
          <a:xfrm>
            <a:off x="392432" y="769746"/>
            <a:ext cx="1831741" cy="420971"/>
            <a:chOff x="670560" y="892917"/>
            <a:chExt cx="1831741" cy="420971"/>
          </a:xfrm>
        </p:grpSpPr>
        <p:sp>
          <p:nvSpPr>
            <p:cNvPr id="34" name="矩形 33"/>
            <p:cNvSpPr/>
            <p:nvPr/>
          </p:nvSpPr>
          <p:spPr>
            <a:xfrm>
              <a:off x="1035233" y="913778"/>
              <a:ext cx="1467068"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编码的定义</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35"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2" name="矩形 1"/>
          <p:cNvSpPr/>
          <p:nvPr/>
        </p:nvSpPr>
        <p:spPr>
          <a:xfrm>
            <a:off x="757105" y="1301224"/>
            <a:ext cx="6478002" cy="923330"/>
          </a:xfrm>
          <a:prstGeom prst="rect">
            <a:avLst/>
          </a:prstGeom>
        </p:spPr>
        <p:txBody>
          <a:bodyPr wrap="square">
            <a:spAutoFit/>
          </a:bodyPr>
          <a:lstStyle/>
          <a:p>
            <a:pPr>
              <a:lnSpc>
                <a:spcPct val="150000"/>
              </a:lnSpc>
            </a:pPr>
            <a:r>
              <a:rPr lang="zh-CN" altLang="en-US" dirty="0">
                <a:solidFill>
                  <a:srgbClr val="CC00CC"/>
                </a:solidFill>
                <a:latin typeface="方正粗黑宋简体" panose="02000000000000000000" pitchFamily="2" charset="-122"/>
                <a:ea typeface="方正粗黑宋简体" panose="02000000000000000000" pitchFamily="2" charset="-122"/>
                <a:cs typeface="Times New Roman" panose="02020603050405020304" pitchFamily="18" charset="0"/>
              </a:rPr>
              <a:t>二进制</a:t>
            </a:r>
            <a:r>
              <a:rPr lang="zh-CN" altLang="zh-CN" dirty="0">
                <a:solidFill>
                  <a:srgbClr val="CC00CC"/>
                </a:solidFill>
                <a:latin typeface="方正粗黑宋简体" panose="02000000000000000000" pitchFamily="2" charset="-122"/>
                <a:ea typeface="方正粗黑宋简体" panose="02000000000000000000" pitchFamily="2" charset="-122"/>
                <a:cs typeface="Times New Roman" panose="02020603050405020304" pitchFamily="18" charset="0"/>
              </a:rPr>
              <a:t>编码</a:t>
            </a:r>
            <a:r>
              <a:rPr lang="zh-CN" altLang="en-US" dirty="0">
                <a:solidFill>
                  <a:srgbClr val="CC00CC"/>
                </a:solidFill>
                <a:latin typeface="方正粗黑宋简体" panose="02000000000000000000" pitchFamily="2" charset="-122"/>
                <a:ea typeface="方正粗黑宋简体" panose="02000000000000000000" pitchFamily="2" charset="-122"/>
                <a:cs typeface="Times New Roman" panose="02020603050405020304" pitchFamily="18" charset="0"/>
              </a:rPr>
              <a:t>：</a:t>
            </a:r>
            <a:r>
              <a:rPr lang="zh-CN" altLang="zh-CN" dirty="0">
                <a:latin typeface="黑体" panose="02010609060101010101" pitchFamily="49" charset="-122"/>
                <a:ea typeface="黑体" panose="02010609060101010101" pitchFamily="49" charset="-122"/>
                <a:cs typeface="Times New Roman" panose="02020603050405020304" pitchFamily="18" charset="0"/>
              </a:rPr>
              <a:t>用一个二进制代码表示特定含义信息的过程</a:t>
            </a:r>
            <a:r>
              <a:rPr lang="zh-CN" altLang="en-US" dirty="0">
                <a:latin typeface="黑体" panose="02010609060101010101" pitchFamily="49" charset="-122"/>
                <a:ea typeface="黑体" panose="02010609060101010101" pitchFamily="49" charset="-122"/>
                <a:cs typeface="Times New Roman" panose="02020603050405020304" pitchFamily="18" charset="0"/>
              </a:rPr>
              <a:t>。</a:t>
            </a:r>
            <a:endParaRPr lang="en-US" altLang="zh-CN" dirty="0">
              <a:latin typeface="黑体" panose="02010609060101010101" pitchFamily="49" charset="-122"/>
              <a:ea typeface="黑体" panose="02010609060101010101" pitchFamily="49" charset="-122"/>
              <a:cs typeface="Times New Roman" panose="02020603050405020304" pitchFamily="18" charset="0"/>
            </a:endParaRPr>
          </a:p>
          <a:p>
            <a:pPr>
              <a:lnSpc>
                <a:spcPct val="150000"/>
              </a:lnSpc>
            </a:pPr>
            <a:r>
              <a:rPr lang="zh-CN" altLang="zh-CN" dirty="0">
                <a:solidFill>
                  <a:srgbClr val="CC00CC"/>
                </a:solidFill>
                <a:latin typeface="方正粗黑宋简体" panose="02000000000000000000" pitchFamily="2" charset="-122"/>
                <a:ea typeface="方正粗黑宋简体" panose="02000000000000000000" pitchFamily="2" charset="-122"/>
                <a:cs typeface="Times New Roman" panose="02020603050405020304" pitchFamily="18" charset="0"/>
              </a:rPr>
              <a:t>编码器</a:t>
            </a:r>
            <a:r>
              <a:rPr lang="zh-CN" altLang="en-US" dirty="0">
                <a:solidFill>
                  <a:srgbClr val="CC00CC"/>
                </a:solidFill>
                <a:latin typeface="方正粗黑宋简体" panose="02000000000000000000" pitchFamily="2" charset="-122"/>
                <a:ea typeface="方正粗黑宋简体" panose="02000000000000000000" pitchFamily="2" charset="-122"/>
                <a:cs typeface="Times New Roman" panose="02020603050405020304" pitchFamily="18" charset="0"/>
              </a:rPr>
              <a:t>：</a:t>
            </a:r>
            <a:r>
              <a:rPr lang="zh-CN" altLang="zh-CN" dirty="0">
                <a:latin typeface="黑体" panose="02010609060101010101" pitchFamily="49" charset="-122"/>
                <a:ea typeface="黑体" panose="02010609060101010101" pitchFamily="49" charset="-122"/>
                <a:cs typeface="Times New Roman" panose="02020603050405020304" pitchFamily="18" charset="0"/>
              </a:rPr>
              <a:t>具有编码功能的逻辑电路。</a:t>
            </a:r>
            <a:endParaRPr lang="zh-CN" altLang="en-US" dirty="0">
              <a:latin typeface="黑体" panose="02010609060101010101" pitchFamily="49" charset="-122"/>
              <a:ea typeface="黑体" panose="02010609060101010101" pitchFamily="49" charset="-122"/>
            </a:endParaRPr>
          </a:p>
        </p:txBody>
      </p:sp>
      <p:grpSp>
        <p:nvGrpSpPr>
          <p:cNvPr id="21" name="组合 20"/>
          <p:cNvGrpSpPr/>
          <p:nvPr/>
        </p:nvGrpSpPr>
        <p:grpSpPr>
          <a:xfrm>
            <a:off x="793198" y="2414554"/>
            <a:ext cx="4101899" cy="954107"/>
            <a:chOff x="2132180" y="2091442"/>
            <a:chExt cx="4101899" cy="954107"/>
          </a:xfrm>
        </p:grpSpPr>
        <p:grpSp>
          <p:nvGrpSpPr>
            <p:cNvPr id="22" name="组合 46"/>
            <p:cNvGrpSpPr/>
            <p:nvPr/>
          </p:nvGrpSpPr>
          <p:grpSpPr>
            <a:xfrm>
              <a:off x="2797525" y="2091442"/>
              <a:ext cx="2756206" cy="954107"/>
              <a:chOff x="1890674" y="1363980"/>
              <a:chExt cx="3754423" cy="954107"/>
            </a:xfrm>
          </p:grpSpPr>
          <p:sp>
            <p:nvSpPr>
              <p:cNvPr id="28" name="圆角矩形 27"/>
              <p:cNvSpPr/>
              <p:nvPr/>
            </p:nvSpPr>
            <p:spPr>
              <a:xfrm>
                <a:off x="3063240" y="1405890"/>
                <a:ext cx="1398270" cy="895350"/>
              </a:xfrm>
              <a:prstGeom prst="roundRect">
                <a:avLst>
                  <a:gd name="adj" fmla="val 0"/>
                </a:avLst>
              </a:prstGeom>
              <a:solidFill>
                <a:schemeClr val="accent2">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dirty="0">
                    <a:solidFill>
                      <a:srgbClr val="6600FF"/>
                    </a:solidFill>
                    <a:latin typeface="黑体" panose="02010609060101010101" pitchFamily="49" charset="-122"/>
                    <a:ea typeface="黑体" panose="02010609060101010101" pitchFamily="49" charset="-122"/>
                  </a:rPr>
                  <a:t>二进制编码器</a:t>
                </a:r>
                <a:endParaRPr lang="zh-CN" altLang="en-US" sz="2000" dirty="0">
                  <a:solidFill>
                    <a:srgbClr val="6600FF"/>
                  </a:solidFill>
                  <a:latin typeface="黑体" panose="02010609060101010101" pitchFamily="49" charset="-122"/>
                  <a:ea typeface="黑体" panose="02010609060101010101" pitchFamily="49" charset="-122"/>
                </a:endParaRPr>
              </a:p>
            </p:txBody>
          </p:sp>
          <p:grpSp>
            <p:nvGrpSpPr>
              <p:cNvPr id="36" name="组合 36"/>
              <p:cNvGrpSpPr/>
              <p:nvPr/>
            </p:nvGrpSpPr>
            <p:grpSpPr>
              <a:xfrm>
                <a:off x="2363888" y="1535430"/>
                <a:ext cx="699352" cy="636270"/>
                <a:chOff x="2417228" y="1527810"/>
                <a:chExt cx="699352" cy="636270"/>
              </a:xfrm>
            </p:grpSpPr>
            <p:cxnSp>
              <p:nvCxnSpPr>
                <p:cNvPr id="52" name="直接箭头连接符 51"/>
                <p:cNvCxnSpPr/>
                <p:nvPr/>
              </p:nvCxnSpPr>
              <p:spPr>
                <a:xfrm>
                  <a:off x="2468880" y="1527810"/>
                  <a:ext cx="63627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3" name="直接箭头连接符 52"/>
                <p:cNvCxnSpPr/>
                <p:nvPr/>
              </p:nvCxnSpPr>
              <p:spPr>
                <a:xfrm>
                  <a:off x="2468880" y="1764030"/>
                  <a:ext cx="63627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4" name="直接箭头连接符 53"/>
                <p:cNvCxnSpPr/>
                <p:nvPr/>
              </p:nvCxnSpPr>
              <p:spPr>
                <a:xfrm>
                  <a:off x="2468880" y="2164080"/>
                  <a:ext cx="63627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5" name="TextBox 25"/>
                <p:cNvSpPr txBox="1"/>
                <p:nvPr/>
              </p:nvSpPr>
              <p:spPr>
                <a:xfrm>
                  <a:off x="2417228" y="1828800"/>
                  <a:ext cx="699352" cy="251031"/>
                </a:xfrm>
                <a:prstGeom prst="rect">
                  <a:avLst/>
                </a:prstGeom>
                <a:noFill/>
              </p:spPr>
              <p:txBody>
                <a:bodyPr vert="wordArtVertRtl" wrap="square" rtlCol="0">
                  <a:spAutoFit/>
                </a:bodyPr>
                <a:lstStyle/>
                <a:p>
                  <a:r>
                    <a:rPr lang="en-US" altLang="zh-CN" dirty="0">
                      <a:solidFill>
                        <a:schemeClr val="accent1">
                          <a:lumMod val="75000"/>
                        </a:schemeClr>
                      </a:solidFill>
                    </a:rPr>
                    <a:t>…</a:t>
                  </a:r>
                  <a:endParaRPr lang="zh-CN" altLang="en-US" dirty="0">
                    <a:solidFill>
                      <a:schemeClr val="accent1">
                        <a:lumMod val="75000"/>
                      </a:schemeClr>
                    </a:solidFill>
                  </a:endParaRPr>
                </a:p>
              </p:txBody>
            </p:sp>
          </p:grpSp>
          <p:sp>
            <p:nvSpPr>
              <p:cNvPr id="37" name="TextBox 15"/>
              <p:cNvSpPr txBox="1"/>
              <p:nvPr/>
            </p:nvSpPr>
            <p:spPr>
              <a:xfrm>
                <a:off x="1890674" y="1363980"/>
                <a:ext cx="629304" cy="954107"/>
              </a:xfrm>
              <a:prstGeom prst="rect">
                <a:avLst/>
              </a:prstGeom>
              <a:noFill/>
            </p:spPr>
            <p:txBody>
              <a:bodyPr wrap="none" rtlCol="0">
                <a:spAutoFit/>
              </a:bodyPr>
              <a:lstStyle/>
              <a:p>
                <a:r>
                  <a:rPr lang="en-US" altLang="zh-CN" sz="1400" b="1" i="1" dirty="0">
                    <a:latin typeface="Times New Roman" panose="02020603050405020304" pitchFamily="18" charset="0"/>
                    <a:cs typeface="Times New Roman" panose="02020603050405020304" pitchFamily="18" charset="0"/>
                  </a:rPr>
                  <a:t>I</a:t>
                </a:r>
                <a:r>
                  <a:rPr lang="en-US" altLang="zh-CN" sz="1400" b="1" baseline="-25000" dirty="0">
                    <a:latin typeface="Times New Roman" panose="02020603050405020304" pitchFamily="18" charset="0"/>
                    <a:cs typeface="Times New Roman" panose="02020603050405020304" pitchFamily="18" charset="0"/>
                  </a:rPr>
                  <a:t>0</a:t>
                </a:r>
                <a:endParaRPr lang="en-US" altLang="zh-CN" sz="1400" b="1" baseline="-25000" dirty="0">
                  <a:latin typeface="Times New Roman" panose="02020603050405020304" pitchFamily="18" charset="0"/>
                  <a:cs typeface="Times New Roman" panose="02020603050405020304" pitchFamily="18" charset="0"/>
                </a:endParaRPr>
              </a:p>
              <a:p>
                <a:r>
                  <a:rPr lang="en-US" altLang="zh-CN" sz="1400" b="1" i="1" dirty="0">
                    <a:latin typeface="Times New Roman" panose="02020603050405020304" pitchFamily="18" charset="0"/>
                    <a:cs typeface="Times New Roman" panose="02020603050405020304" pitchFamily="18" charset="0"/>
                  </a:rPr>
                  <a:t>I</a:t>
                </a:r>
                <a:r>
                  <a:rPr lang="en-US" altLang="zh-CN" sz="1400" b="1" baseline="-25000" dirty="0">
                    <a:latin typeface="Times New Roman" panose="02020603050405020304" pitchFamily="18" charset="0"/>
                    <a:cs typeface="Times New Roman" panose="02020603050405020304" pitchFamily="18" charset="0"/>
                  </a:rPr>
                  <a:t>1</a:t>
                </a:r>
                <a:endParaRPr lang="en-US" altLang="zh-CN" sz="1400" b="1" baseline="-25000" dirty="0">
                  <a:latin typeface="Times New Roman" panose="02020603050405020304" pitchFamily="18" charset="0"/>
                  <a:cs typeface="Times New Roman" panose="02020603050405020304" pitchFamily="18" charset="0"/>
                </a:endParaRPr>
              </a:p>
              <a:p>
                <a:endParaRPr lang="en-US" altLang="zh-CN" sz="1400" b="1" dirty="0">
                  <a:latin typeface="Times New Roman" panose="02020603050405020304" pitchFamily="18" charset="0"/>
                  <a:cs typeface="Times New Roman" panose="02020603050405020304" pitchFamily="18" charset="0"/>
                </a:endParaRPr>
              </a:p>
              <a:p>
                <a:r>
                  <a:rPr lang="en-US" altLang="zh-CN" sz="1400" b="1" i="1" dirty="0">
                    <a:latin typeface="Times New Roman" panose="02020603050405020304" pitchFamily="18" charset="0"/>
                    <a:cs typeface="Times New Roman" panose="02020603050405020304" pitchFamily="18" charset="0"/>
                  </a:rPr>
                  <a:t>I</a:t>
                </a:r>
                <a:r>
                  <a:rPr lang="en-US" altLang="zh-CN" sz="1400" b="1" baseline="-25000" dirty="0">
                    <a:latin typeface="Times New Roman" panose="02020603050405020304" pitchFamily="18" charset="0"/>
                    <a:cs typeface="Times New Roman" panose="02020603050405020304" pitchFamily="18" charset="0"/>
                  </a:rPr>
                  <a:t>2</a:t>
                </a:r>
                <a:r>
                  <a:rPr lang="en-US" altLang="zh-CN" sz="1000" b="1" baseline="30000" dirty="0">
                    <a:latin typeface="Times New Roman" panose="02020603050405020304" pitchFamily="18" charset="0"/>
                    <a:cs typeface="Times New Roman" panose="02020603050405020304" pitchFamily="18" charset="0"/>
                  </a:rPr>
                  <a:t>n</a:t>
                </a:r>
                <a:r>
                  <a:rPr lang="en-US" altLang="zh-CN" sz="1400" b="1" baseline="-25000" dirty="0">
                    <a:latin typeface="Times New Roman" panose="02020603050405020304" pitchFamily="18" charset="0"/>
                    <a:cs typeface="Times New Roman" panose="02020603050405020304" pitchFamily="18" charset="0"/>
                  </a:rPr>
                  <a:t>-1</a:t>
                </a:r>
                <a:endParaRPr lang="zh-CN" altLang="en-US" sz="1400" b="1" baseline="-25000" dirty="0">
                  <a:latin typeface="Times New Roman" panose="02020603050405020304" pitchFamily="18" charset="0"/>
                  <a:cs typeface="Times New Roman" panose="02020603050405020304" pitchFamily="18" charset="0"/>
                </a:endParaRPr>
              </a:p>
            </p:txBody>
          </p:sp>
          <p:grpSp>
            <p:nvGrpSpPr>
              <p:cNvPr id="40" name="组合 38"/>
              <p:cNvGrpSpPr/>
              <p:nvPr/>
            </p:nvGrpSpPr>
            <p:grpSpPr>
              <a:xfrm>
                <a:off x="4409858" y="1535430"/>
                <a:ext cx="699352" cy="636270"/>
                <a:chOff x="2417228" y="1527810"/>
                <a:chExt cx="699352" cy="636270"/>
              </a:xfrm>
            </p:grpSpPr>
            <p:cxnSp>
              <p:nvCxnSpPr>
                <p:cNvPr id="42" name="直接箭头连接符 41"/>
                <p:cNvCxnSpPr/>
                <p:nvPr/>
              </p:nvCxnSpPr>
              <p:spPr>
                <a:xfrm>
                  <a:off x="2468880" y="1527810"/>
                  <a:ext cx="63627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3" name="直接箭头连接符 42"/>
                <p:cNvCxnSpPr/>
                <p:nvPr/>
              </p:nvCxnSpPr>
              <p:spPr>
                <a:xfrm>
                  <a:off x="2468880" y="1764030"/>
                  <a:ext cx="63627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7" name="直接箭头连接符 46"/>
                <p:cNvCxnSpPr/>
                <p:nvPr/>
              </p:nvCxnSpPr>
              <p:spPr>
                <a:xfrm>
                  <a:off x="2468880" y="2164080"/>
                  <a:ext cx="63627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1" name="TextBox 21"/>
                <p:cNvSpPr txBox="1"/>
                <p:nvPr/>
              </p:nvSpPr>
              <p:spPr>
                <a:xfrm>
                  <a:off x="2417228" y="1828800"/>
                  <a:ext cx="699352" cy="251031"/>
                </a:xfrm>
                <a:prstGeom prst="rect">
                  <a:avLst/>
                </a:prstGeom>
                <a:noFill/>
              </p:spPr>
              <p:txBody>
                <a:bodyPr vert="wordArtVertRtl" wrap="square" rtlCol="0">
                  <a:spAutoFit/>
                </a:bodyPr>
                <a:lstStyle/>
                <a:p>
                  <a:r>
                    <a:rPr lang="en-US" altLang="zh-CN" dirty="0">
                      <a:solidFill>
                        <a:schemeClr val="accent1">
                          <a:lumMod val="75000"/>
                        </a:schemeClr>
                      </a:solidFill>
                    </a:rPr>
                    <a:t>…</a:t>
                  </a:r>
                  <a:endParaRPr lang="zh-CN" altLang="en-US" dirty="0">
                    <a:solidFill>
                      <a:schemeClr val="accent1">
                        <a:lumMod val="75000"/>
                      </a:schemeClr>
                    </a:solidFill>
                  </a:endParaRPr>
                </a:p>
              </p:txBody>
            </p:sp>
          </p:grpSp>
          <p:sp>
            <p:nvSpPr>
              <p:cNvPr id="41" name="TextBox 17"/>
              <p:cNvSpPr txBox="1"/>
              <p:nvPr/>
            </p:nvSpPr>
            <p:spPr>
              <a:xfrm>
                <a:off x="5017978" y="1363980"/>
                <a:ext cx="627119" cy="954107"/>
              </a:xfrm>
              <a:prstGeom prst="rect">
                <a:avLst/>
              </a:prstGeom>
              <a:noFill/>
            </p:spPr>
            <p:txBody>
              <a:bodyPr wrap="none" rtlCol="0">
                <a:spAutoFit/>
              </a:bodyPr>
              <a:lstStyle/>
              <a:p>
                <a:r>
                  <a:rPr lang="en-US" altLang="zh-CN" sz="1400" b="1" i="1" dirty="0">
                    <a:latin typeface="Times New Roman" panose="02020603050405020304" pitchFamily="18" charset="0"/>
                    <a:cs typeface="Times New Roman" panose="02020603050405020304" pitchFamily="18" charset="0"/>
                  </a:rPr>
                  <a:t>Y</a:t>
                </a:r>
                <a:r>
                  <a:rPr lang="en-US" altLang="zh-CN" sz="1400" b="1" baseline="-25000" dirty="0">
                    <a:latin typeface="Times New Roman" panose="02020603050405020304" pitchFamily="18" charset="0"/>
                    <a:cs typeface="Times New Roman" panose="02020603050405020304" pitchFamily="18" charset="0"/>
                  </a:rPr>
                  <a:t>0</a:t>
                </a:r>
                <a:endParaRPr lang="en-US" altLang="zh-CN" sz="1400" b="1" baseline="-25000" dirty="0">
                  <a:latin typeface="Times New Roman" panose="02020603050405020304" pitchFamily="18" charset="0"/>
                  <a:cs typeface="Times New Roman" panose="02020603050405020304" pitchFamily="18" charset="0"/>
                </a:endParaRPr>
              </a:p>
              <a:p>
                <a:r>
                  <a:rPr lang="en-US" altLang="zh-CN" sz="1400" b="1" i="1" dirty="0">
                    <a:latin typeface="Times New Roman" panose="02020603050405020304" pitchFamily="18" charset="0"/>
                    <a:cs typeface="Times New Roman" panose="02020603050405020304" pitchFamily="18" charset="0"/>
                  </a:rPr>
                  <a:t>Y</a:t>
                </a:r>
                <a:r>
                  <a:rPr lang="en-US" altLang="zh-CN" sz="1400" b="1" baseline="-25000" dirty="0">
                    <a:latin typeface="Times New Roman" panose="02020603050405020304" pitchFamily="18" charset="0"/>
                    <a:cs typeface="Times New Roman" panose="02020603050405020304" pitchFamily="18" charset="0"/>
                  </a:rPr>
                  <a:t>1</a:t>
                </a:r>
                <a:endParaRPr lang="en-US" altLang="zh-CN" sz="1400" b="1" baseline="-25000" dirty="0">
                  <a:latin typeface="Times New Roman" panose="02020603050405020304" pitchFamily="18" charset="0"/>
                  <a:cs typeface="Times New Roman" panose="02020603050405020304" pitchFamily="18" charset="0"/>
                </a:endParaRPr>
              </a:p>
              <a:p>
                <a:endParaRPr lang="en-US" altLang="zh-CN" sz="1400" b="1" dirty="0">
                  <a:latin typeface="Times New Roman" panose="02020603050405020304" pitchFamily="18" charset="0"/>
                  <a:cs typeface="Times New Roman" panose="02020603050405020304" pitchFamily="18" charset="0"/>
                </a:endParaRPr>
              </a:p>
              <a:p>
                <a:r>
                  <a:rPr lang="en-US" altLang="zh-CN" sz="1400" b="1" i="1" dirty="0">
                    <a:latin typeface="Times New Roman" panose="02020603050405020304" pitchFamily="18" charset="0"/>
                    <a:cs typeface="Times New Roman" panose="02020603050405020304" pitchFamily="18" charset="0"/>
                  </a:rPr>
                  <a:t>Y</a:t>
                </a:r>
                <a:r>
                  <a:rPr lang="en-US" altLang="zh-CN" sz="1400" b="1" baseline="-25000" dirty="0">
                    <a:latin typeface="Times New Roman" panose="02020603050405020304" pitchFamily="18" charset="0"/>
                    <a:cs typeface="Times New Roman" panose="02020603050405020304" pitchFamily="18" charset="0"/>
                  </a:rPr>
                  <a:t>n-1</a:t>
                </a:r>
                <a:endParaRPr lang="zh-CN" altLang="en-US" sz="1400" b="1" baseline="-25000" dirty="0">
                  <a:latin typeface="Times New Roman" panose="02020603050405020304" pitchFamily="18" charset="0"/>
                  <a:cs typeface="Times New Roman" panose="02020603050405020304" pitchFamily="18" charset="0"/>
                </a:endParaRPr>
              </a:p>
            </p:txBody>
          </p:sp>
        </p:grpSp>
        <p:sp>
          <p:nvSpPr>
            <p:cNvPr id="23" name="左大括号 22"/>
            <p:cNvSpPr/>
            <p:nvPr/>
          </p:nvSpPr>
          <p:spPr>
            <a:xfrm>
              <a:off x="2718122" y="2196117"/>
              <a:ext cx="133350" cy="784860"/>
            </a:xfrm>
            <a:prstGeom prst="leftBrace">
              <a:avLst>
                <a:gd name="adj1" fmla="val 71190"/>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TextBox 27"/>
            <p:cNvSpPr txBox="1"/>
            <p:nvPr/>
          </p:nvSpPr>
          <p:spPr>
            <a:xfrm>
              <a:off x="2132180" y="2383551"/>
              <a:ext cx="607859" cy="369332"/>
            </a:xfrm>
            <a:prstGeom prst="rect">
              <a:avLst/>
            </a:prstGeom>
            <a:noFill/>
          </p:spPr>
          <p:txBody>
            <a:bodyPr wrap="none" rtlCol="0">
              <a:spAutoFit/>
            </a:bodyPr>
            <a:lstStyle/>
            <a:p>
              <a:pPr algn="ctr"/>
              <a:r>
                <a:rPr lang="en-US" altLang="zh-CN" dirty="0">
                  <a:latin typeface="Times New Roman" panose="02020603050405020304" pitchFamily="18" charset="0"/>
                  <a:ea typeface="黑体" panose="02010609060101010101" pitchFamily="49" charset="-122"/>
                  <a:cs typeface="Times New Roman" panose="02020603050405020304" pitchFamily="18" charset="0"/>
                </a:rPr>
                <a:t>2</a:t>
              </a:r>
              <a:r>
                <a:rPr lang="en-US" altLang="zh-CN" baseline="30000" dirty="0">
                  <a:latin typeface="Times New Roman" panose="02020603050405020304" pitchFamily="18" charset="0"/>
                  <a:ea typeface="黑体" panose="02010609060101010101" pitchFamily="49" charset="-122"/>
                  <a:cs typeface="Times New Roman" panose="02020603050405020304" pitchFamily="18" charset="0"/>
                </a:rPr>
                <a:t>n</a:t>
              </a:r>
              <a:r>
                <a:rPr lang="zh-CN" altLang="en-US" dirty="0">
                  <a:latin typeface="Times New Roman" panose="02020603050405020304" pitchFamily="18" charset="0"/>
                  <a:ea typeface="黑体" panose="02010609060101010101" pitchFamily="49" charset="-122"/>
                  <a:cs typeface="Times New Roman" panose="02020603050405020304" pitchFamily="18" charset="0"/>
                </a:rPr>
                <a:t>个</a:t>
              </a:r>
              <a:endParaRPr lang="en-US" altLang="zh-CN" baseline="300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26" name="TextBox 28"/>
            <p:cNvSpPr txBox="1"/>
            <p:nvPr/>
          </p:nvSpPr>
          <p:spPr>
            <a:xfrm>
              <a:off x="5703164" y="2419689"/>
              <a:ext cx="530915" cy="369332"/>
            </a:xfrm>
            <a:prstGeom prst="rect">
              <a:avLst/>
            </a:prstGeom>
            <a:noFill/>
          </p:spPr>
          <p:txBody>
            <a:bodyPr wrap="none" rtlCol="0">
              <a:spAutoFit/>
            </a:bodyPr>
            <a:lstStyle/>
            <a:p>
              <a:r>
                <a:rPr lang="en-US" altLang="zh-CN" dirty="0">
                  <a:latin typeface="黑体" panose="02010609060101010101" pitchFamily="49" charset="-122"/>
                  <a:ea typeface="黑体" panose="02010609060101010101" pitchFamily="49" charset="-122"/>
                </a:rPr>
                <a:t>n</a:t>
              </a:r>
              <a:r>
                <a:rPr lang="zh-CN" altLang="en-US" dirty="0">
                  <a:latin typeface="黑体" panose="02010609060101010101" pitchFamily="49" charset="-122"/>
                  <a:ea typeface="黑体" panose="02010609060101010101" pitchFamily="49" charset="-122"/>
                </a:rPr>
                <a:t>位</a:t>
              </a:r>
              <a:endParaRPr lang="zh-CN" altLang="en-US" dirty="0">
                <a:latin typeface="黑体" panose="02010609060101010101" pitchFamily="49" charset="-122"/>
                <a:ea typeface="黑体" panose="02010609060101010101" pitchFamily="49" charset="-122"/>
              </a:endParaRPr>
            </a:p>
          </p:txBody>
        </p:sp>
        <p:sp>
          <p:nvSpPr>
            <p:cNvPr id="27" name="左大括号 26"/>
            <p:cNvSpPr/>
            <p:nvPr/>
          </p:nvSpPr>
          <p:spPr>
            <a:xfrm flipH="1">
              <a:off x="5480979" y="2204138"/>
              <a:ext cx="133350" cy="784860"/>
            </a:xfrm>
            <a:prstGeom prst="leftBrace">
              <a:avLst>
                <a:gd name="adj1" fmla="val 71190"/>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61" name="矩形 60"/>
          <p:cNvSpPr/>
          <p:nvPr/>
        </p:nvSpPr>
        <p:spPr>
          <a:xfrm>
            <a:off x="735332" y="3631173"/>
            <a:ext cx="7571303" cy="369332"/>
          </a:xfrm>
          <a:prstGeom prst="rect">
            <a:avLst/>
          </a:prstGeom>
        </p:spPr>
        <p:txBody>
          <a:bodyPr wrap="none">
            <a:spAutoFit/>
          </a:bodyPr>
          <a:lstStyle/>
          <a:p>
            <a:r>
              <a:rPr lang="zh-CN" altLang="en-US" dirty="0">
                <a:solidFill>
                  <a:srgbClr val="CC00CC"/>
                </a:solidFill>
                <a:latin typeface="黑体" panose="02010609060101010101" pitchFamily="49" charset="-122"/>
                <a:ea typeface="黑体" panose="02010609060101010101" pitchFamily="49" charset="-122"/>
              </a:rPr>
              <a:t>常见二进制编码器：</a:t>
            </a:r>
            <a:r>
              <a:rPr lang="en-US" altLang="zh-CN" dirty="0">
                <a:solidFill>
                  <a:srgbClr val="0000FF"/>
                </a:solidFill>
                <a:latin typeface="黑体" panose="02010609060101010101" pitchFamily="49" charset="-122"/>
                <a:ea typeface="黑体" panose="02010609060101010101" pitchFamily="49" charset="-122"/>
              </a:rPr>
              <a:t>4</a:t>
            </a:r>
            <a:r>
              <a:rPr lang="zh-CN" altLang="en-US" dirty="0">
                <a:solidFill>
                  <a:srgbClr val="0000FF"/>
                </a:solidFill>
                <a:latin typeface="黑体" panose="02010609060101010101" pitchFamily="49" charset="-122"/>
                <a:ea typeface="黑体" panose="02010609060101010101" pitchFamily="49" charset="-122"/>
              </a:rPr>
              <a:t>线</a:t>
            </a:r>
            <a:r>
              <a:rPr lang="en-US" altLang="zh-CN" dirty="0">
                <a:solidFill>
                  <a:srgbClr val="0000FF"/>
                </a:solidFill>
                <a:latin typeface="黑体" panose="02010609060101010101" pitchFamily="49" charset="-122"/>
                <a:ea typeface="黑体" panose="02010609060101010101" pitchFamily="49" charset="-122"/>
              </a:rPr>
              <a:t>-2</a:t>
            </a:r>
            <a:r>
              <a:rPr lang="zh-CN" altLang="en-US" dirty="0">
                <a:solidFill>
                  <a:srgbClr val="0000FF"/>
                </a:solidFill>
                <a:latin typeface="黑体" panose="02010609060101010101" pitchFamily="49" charset="-122"/>
                <a:ea typeface="黑体" panose="02010609060101010101" pitchFamily="49" charset="-122"/>
              </a:rPr>
              <a:t>线编码器；</a:t>
            </a:r>
            <a:r>
              <a:rPr lang="en-US" altLang="zh-CN" dirty="0">
                <a:solidFill>
                  <a:srgbClr val="0000FF"/>
                </a:solidFill>
                <a:latin typeface="黑体" panose="02010609060101010101" pitchFamily="49" charset="-122"/>
                <a:ea typeface="黑体" panose="02010609060101010101" pitchFamily="49" charset="-122"/>
              </a:rPr>
              <a:t>8</a:t>
            </a:r>
            <a:r>
              <a:rPr lang="zh-CN" altLang="en-US" dirty="0">
                <a:solidFill>
                  <a:srgbClr val="0000FF"/>
                </a:solidFill>
                <a:latin typeface="黑体" panose="02010609060101010101" pitchFamily="49" charset="-122"/>
                <a:ea typeface="黑体" panose="02010609060101010101" pitchFamily="49" charset="-122"/>
              </a:rPr>
              <a:t>线</a:t>
            </a:r>
            <a:r>
              <a:rPr lang="en-US" altLang="zh-CN" dirty="0">
                <a:solidFill>
                  <a:srgbClr val="0000FF"/>
                </a:solidFill>
                <a:latin typeface="黑体" panose="02010609060101010101" pitchFamily="49" charset="-122"/>
                <a:ea typeface="黑体" panose="02010609060101010101" pitchFamily="49" charset="-122"/>
              </a:rPr>
              <a:t>-3</a:t>
            </a:r>
            <a:r>
              <a:rPr lang="zh-CN" altLang="en-US" dirty="0">
                <a:solidFill>
                  <a:srgbClr val="0000FF"/>
                </a:solidFill>
                <a:latin typeface="黑体" panose="02010609060101010101" pitchFamily="49" charset="-122"/>
                <a:ea typeface="黑体" panose="02010609060101010101" pitchFamily="49" charset="-122"/>
              </a:rPr>
              <a:t>线编码器；</a:t>
            </a:r>
            <a:r>
              <a:rPr lang="en-US" altLang="zh-CN" dirty="0">
                <a:solidFill>
                  <a:srgbClr val="0000FF"/>
                </a:solidFill>
                <a:latin typeface="黑体" panose="02010609060101010101" pitchFamily="49" charset="-122"/>
                <a:ea typeface="黑体" panose="02010609060101010101" pitchFamily="49" charset="-122"/>
              </a:rPr>
              <a:t>16</a:t>
            </a:r>
            <a:r>
              <a:rPr lang="zh-CN" altLang="en-US" dirty="0">
                <a:solidFill>
                  <a:srgbClr val="0000FF"/>
                </a:solidFill>
                <a:latin typeface="黑体" panose="02010609060101010101" pitchFamily="49" charset="-122"/>
                <a:ea typeface="黑体" panose="02010609060101010101" pitchFamily="49" charset="-122"/>
              </a:rPr>
              <a:t>线</a:t>
            </a:r>
            <a:r>
              <a:rPr lang="en-US" altLang="zh-CN" dirty="0">
                <a:solidFill>
                  <a:srgbClr val="0000FF"/>
                </a:solidFill>
                <a:latin typeface="黑体" panose="02010609060101010101" pitchFamily="49" charset="-122"/>
                <a:ea typeface="黑体" panose="02010609060101010101" pitchFamily="49" charset="-122"/>
              </a:rPr>
              <a:t>-4</a:t>
            </a:r>
            <a:r>
              <a:rPr lang="zh-CN" altLang="en-US" dirty="0">
                <a:solidFill>
                  <a:srgbClr val="0000FF"/>
                </a:solidFill>
                <a:latin typeface="黑体" panose="02010609060101010101" pitchFamily="49" charset="-122"/>
                <a:ea typeface="黑体" panose="02010609060101010101" pitchFamily="49" charset="-122"/>
              </a:rPr>
              <a:t>线编码器</a:t>
            </a:r>
            <a:r>
              <a:rPr lang="en-US" altLang="zh-CN" dirty="0">
                <a:solidFill>
                  <a:srgbClr val="0000FF"/>
                </a:solidFill>
                <a:latin typeface="黑体" panose="02010609060101010101" pitchFamily="49" charset="-122"/>
                <a:ea typeface="黑体" panose="02010609060101010101" pitchFamily="49" charset="-122"/>
              </a:rPr>
              <a:t>…</a:t>
            </a:r>
            <a:endParaRPr lang="zh-CN" altLang="en-US" dirty="0">
              <a:solidFill>
                <a:srgbClr val="0000FF"/>
              </a:solidFill>
            </a:endParaRPr>
          </a:p>
        </p:txBody>
      </p:sp>
      <p:grpSp>
        <p:nvGrpSpPr>
          <p:cNvPr id="3" name="组合 2"/>
          <p:cNvGrpSpPr/>
          <p:nvPr/>
        </p:nvGrpSpPr>
        <p:grpSpPr>
          <a:xfrm>
            <a:off x="5283636" y="2500449"/>
            <a:ext cx="3613854" cy="903238"/>
            <a:chOff x="5250264" y="2011133"/>
            <a:chExt cx="3613854" cy="903238"/>
          </a:xfrm>
        </p:grpSpPr>
        <p:sp>
          <p:nvSpPr>
            <p:cNvPr id="56" name="矩形 55"/>
            <p:cNvSpPr/>
            <p:nvPr/>
          </p:nvSpPr>
          <p:spPr>
            <a:xfrm>
              <a:off x="5286901" y="2475789"/>
              <a:ext cx="2182889" cy="438582"/>
            </a:xfrm>
            <a:prstGeom prst="rect">
              <a:avLst/>
            </a:prstGeom>
          </p:spPr>
          <p:txBody>
            <a:bodyPr wrap="square">
              <a:spAutoFit/>
            </a:bodyPr>
            <a:lstStyle/>
            <a:p>
              <a:pPr>
                <a:lnSpc>
                  <a:spcPct val="125000"/>
                </a:lnSpc>
                <a:spcBef>
                  <a:spcPct val="50000"/>
                </a:spcBef>
              </a:pPr>
              <a:r>
                <a:rPr kumimoji="1" lang="en-US" altLang="zh-CN"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kumimoji="1" lang="zh-CN" altLang="en-US"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：二进制编码位数</a:t>
              </a:r>
              <a:endParaRPr kumimoji="1" lang="zh-CN" altLang="en-US"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57" name="组合 56"/>
            <p:cNvGrpSpPr/>
            <p:nvPr/>
          </p:nvGrpSpPr>
          <p:grpSpPr>
            <a:xfrm>
              <a:off x="7715463" y="2071207"/>
              <a:ext cx="1148655" cy="784860"/>
              <a:chOff x="4758679" y="2015644"/>
              <a:chExt cx="1148655" cy="784860"/>
            </a:xfrm>
          </p:grpSpPr>
          <p:sp>
            <p:nvSpPr>
              <p:cNvPr id="58" name="矩形 57"/>
              <p:cNvSpPr/>
              <p:nvPr/>
            </p:nvSpPr>
            <p:spPr>
              <a:xfrm>
                <a:off x="5028567" y="2227666"/>
                <a:ext cx="878767" cy="400110"/>
              </a:xfrm>
              <a:prstGeom prst="rect">
                <a:avLst/>
              </a:prstGeom>
            </p:spPr>
            <p:txBody>
              <a:bodyPr wrap="none">
                <a:spAutoFit/>
              </a:bodyPr>
              <a:lstStyle/>
              <a:p>
                <a:r>
                  <a:rPr kumimoji="1" lang="en-US" altLang="zh-CN"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2</a:t>
                </a:r>
                <a:r>
                  <a:rPr kumimoji="1" lang="en-US" altLang="zh-CN" sz="2000" b="1" i="1" baseline="30000"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n</a:t>
                </a:r>
                <a:r>
                  <a:rPr kumimoji="1" lang="en-US" altLang="zh-CN" sz="2000" b="1" dirty="0">
                    <a:solidFill>
                      <a:srgbClr val="000000"/>
                    </a:solidFill>
                    <a:latin typeface="+mn-ea"/>
                    <a:cs typeface="Times New Roman" panose="02020603050405020304" pitchFamily="18" charset="0"/>
                  </a:rPr>
                  <a:t>≥</a:t>
                </a:r>
                <a:r>
                  <a:rPr kumimoji="1" lang="en-US" altLang="zh-CN" sz="2000" b="1" i="1" dirty="0">
                    <a:solidFill>
                      <a:srgbClr val="000000"/>
                    </a:solidFill>
                    <a:latin typeface="Times New Roman" panose="02020603050405020304" pitchFamily="18" charset="0"/>
                    <a:cs typeface="Times New Roman" panose="02020603050405020304" pitchFamily="18" charset="0"/>
                  </a:rPr>
                  <a:t>m</a:t>
                </a:r>
                <a:endParaRPr lang="zh-CN" altLang="en-US" sz="2000" b="1" i="1"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9" name="左大括号 58"/>
              <p:cNvSpPr/>
              <p:nvPr/>
            </p:nvSpPr>
            <p:spPr>
              <a:xfrm flipH="1">
                <a:off x="4758679" y="2015644"/>
                <a:ext cx="133350" cy="784860"/>
              </a:xfrm>
              <a:prstGeom prst="leftBrace">
                <a:avLst>
                  <a:gd name="adj1" fmla="val 71190"/>
                  <a:gd name="adj2" fmla="val 5000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63" name="矩形 62"/>
            <p:cNvSpPr/>
            <p:nvPr/>
          </p:nvSpPr>
          <p:spPr>
            <a:xfrm>
              <a:off x="5250264" y="2011133"/>
              <a:ext cx="2441694" cy="438582"/>
            </a:xfrm>
            <a:prstGeom prst="rect">
              <a:avLst/>
            </a:prstGeom>
          </p:spPr>
          <p:txBody>
            <a:bodyPr wrap="none">
              <a:spAutoFit/>
            </a:bodyPr>
            <a:lstStyle/>
            <a:p>
              <a:pPr>
                <a:lnSpc>
                  <a:spcPct val="125000"/>
                </a:lnSpc>
                <a:spcBef>
                  <a:spcPct val="50000"/>
                </a:spcBef>
              </a:pPr>
              <a:r>
                <a:rPr kumimoji="1" lang="en-US" altLang="zh-CN" b="1" i="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m</a:t>
              </a:r>
              <a:r>
                <a:rPr kumimoji="1" lang="zh-CN" altLang="en-US"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：编码输入信号数量</a:t>
              </a:r>
              <a:endParaRPr kumimoji="1" lang="en-US" altLang="zh-CN"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grpSp>
      <p:grpSp>
        <p:nvGrpSpPr>
          <p:cNvPr id="4" name="组合 3"/>
          <p:cNvGrpSpPr/>
          <p:nvPr/>
        </p:nvGrpSpPr>
        <p:grpSpPr>
          <a:xfrm>
            <a:off x="1149614" y="4131430"/>
            <a:ext cx="6460663" cy="1414755"/>
            <a:chOff x="1149614" y="4131430"/>
            <a:chExt cx="6460663" cy="1414755"/>
          </a:xfrm>
        </p:grpSpPr>
        <p:grpSp>
          <p:nvGrpSpPr>
            <p:cNvPr id="64" name="组合 63"/>
            <p:cNvGrpSpPr/>
            <p:nvPr/>
          </p:nvGrpSpPr>
          <p:grpSpPr>
            <a:xfrm>
              <a:off x="1149614" y="4257754"/>
              <a:ext cx="2981765" cy="1162106"/>
              <a:chOff x="1062846" y="3735563"/>
              <a:chExt cx="2981765" cy="1162106"/>
            </a:xfrm>
          </p:grpSpPr>
          <p:grpSp>
            <p:nvGrpSpPr>
              <p:cNvPr id="65" name="组合 64"/>
              <p:cNvGrpSpPr/>
              <p:nvPr/>
            </p:nvGrpSpPr>
            <p:grpSpPr>
              <a:xfrm>
                <a:off x="2067473" y="3910354"/>
                <a:ext cx="496154" cy="807106"/>
                <a:chOff x="1738610" y="3814100"/>
                <a:chExt cx="496154" cy="807105"/>
              </a:xfrm>
            </p:grpSpPr>
            <p:cxnSp>
              <p:nvCxnSpPr>
                <p:cNvPr id="69" name="肘形连接符 68"/>
                <p:cNvCxnSpPr/>
                <p:nvPr/>
              </p:nvCxnSpPr>
              <p:spPr>
                <a:xfrm>
                  <a:off x="1738610" y="4219361"/>
                  <a:ext cx="496154" cy="401844"/>
                </a:xfrm>
                <a:prstGeom prst="bentConnector3">
                  <a:avLst>
                    <a:gd name="adj1" fmla="val 50000"/>
                  </a:avLst>
                </a:prstGeom>
                <a:ln w="28575">
                  <a:solidFill>
                    <a:srgbClr val="6600FF"/>
                  </a:solidFill>
                  <a:tailEnd type="arrow"/>
                </a:ln>
              </p:spPr>
              <p:style>
                <a:lnRef idx="1">
                  <a:schemeClr val="accent1"/>
                </a:lnRef>
                <a:fillRef idx="0">
                  <a:schemeClr val="accent1"/>
                </a:fillRef>
                <a:effectRef idx="0">
                  <a:schemeClr val="accent1"/>
                </a:effectRef>
                <a:fontRef idx="minor">
                  <a:schemeClr val="tx1"/>
                </a:fontRef>
              </p:style>
            </p:cxnSp>
            <p:cxnSp>
              <p:nvCxnSpPr>
                <p:cNvPr id="70" name="肘形连接符 69"/>
                <p:cNvCxnSpPr/>
                <p:nvPr/>
              </p:nvCxnSpPr>
              <p:spPr>
                <a:xfrm flipV="1">
                  <a:off x="1738610" y="3814100"/>
                  <a:ext cx="496154" cy="401844"/>
                </a:xfrm>
                <a:prstGeom prst="bentConnector3">
                  <a:avLst>
                    <a:gd name="adj1" fmla="val 50000"/>
                  </a:avLst>
                </a:prstGeom>
                <a:ln w="28575">
                  <a:solidFill>
                    <a:srgbClr val="6600FF"/>
                  </a:solidFill>
                  <a:tailEnd type="arrow"/>
                </a:ln>
              </p:spPr>
              <p:style>
                <a:lnRef idx="1">
                  <a:schemeClr val="accent1"/>
                </a:lnRef>
                <a:fillRef idx="0">
                  <a:schemeClr val="accent1"/>
                </a:fillRef>
                <a:effectRef idx="0">
                  <a:schemeClr val="accent1"/>
                </a:effectRef>
                <a:fontRef idx="minor">
                  <a:schemeClr val="tx1"/>
                </a:fontRef>
              </p:style>
            </p:cxnSp>
          </p:grpSp>
          <p:sp>
            <p:nvSpPr>
              <p:cNvPr id="66" name="圆角矩形 65"/>
              <p:cNvSpPr/>
              <p:nvPr/>
            </p:nvSpPr>
            <p:spPr>
              <a:xfrm>
                <a:off x="2604611" y="3735563"/>
                <a:ext cx="1440000" cy="360000"/>
              </a:xfrm>
              <a:prstGeom prst="roundRect">
                <a:avLst/>
              </a:prstGeom>
              <a:solidFill>
                <a:schemeClr val="accent6">
                  <a:lumMod val="60000"/>
                  <a:lumOff val="40000"/>
                </a:schemeClr>
              </a:solidFill>
              <a:ln>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FF"/>
                    </a:solidFill>
                    <a:latin typeface="黑体" panose="02010609060101010101" pitchFamily="49" charset="-122"/>
                    <a:ea typeface="黑体" panose="02010609060101010101" pitchFamily="49" charset="-122"/>
                  </a:rPr>
                  <a:t>普通编码器</a:t>
                </a:r>
                <a:endParaRPr lang="zh-CN" altLang="en-US" dirty="0">
                  <a:solidFill>
                    <a:srgbClr val="0000FF"/>
                  </a:solidFill>
                  <a:latin typeface="黑体" panose="02010609060101010101" pitchFamily="49" charset="-122"/>
                  <a:ea typeface="黑体" panose="02010609060101010101" pitchFamily="49" charset="-122"/>
                </a:endParaRPr>
              </a:p>
            </p:txBody>
          </p:sp>
          <p:sp>
            <p:nvSpPr>
              <p:cNvPr id="67" name="圆角矩形 66"/>
              <p:cNvSpPr/>
              <p:nvPr/>
            </p:nvSpPr>
            <p:spPr>
              <a:xfrm>
                <a:off x="1062846" y="4131089"/>
                <a:ext cx="996409" cy="360000"/>
              </a:xfrm>
              <a:prstGeom prst="roundRect">
                <a:avLst/>
              </a:prstGeom>
              <a:solidFill>
                <a:schemeClr val="accent6">
                  <a:lumMod val="60000"/>
                  <a:lumOff val="40000"/>
                </a:schemeClr>
              </a:solidFill>
              <a:ln>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FF"/>
                    </a:solidFill>
                    <a:latin typeface="黑体" panose="02010609060101010101" pitchFamily="49" charset="-122"/>
                    <a:ea typeface="黑体" panose="02010609060101010101" pitchFamily="49" charset="-122"/>
                  </a:rPr>
                  <a:t>编码器</a:t>
                </a:r>
                <a:endParaRPr lang="zh-CN" altLang="en-US" dirty="0">
                  <a:solidFill>
                    <a:srgbClr val="0000FF"/>
                  </a:solidFill>
                  <a:latin typeface="黑体" panose="02010609060101010101" pitchFamily="49" charset="-122"/>
                  <a:ea typeface="黑体" panose="02010609060101010101" pitchFamily="49" charset="-122"/>
                </a:endParaRPr>
              </a:p>
            </p:txBody>
          </p:sp>
          <p:sp>
            <p:nvSpPr>
              <p:cNvPr id="68" name="圆角矩形 67"/>
              <p:cNvSpPr/>
              <p:nvPr/>
            </p:nvSpPr>
            <p:spPr>
              <a:xfrm>
                <a:off x="2588892" y="4537669"/>
                <a:ext cx="1440000" cy="360000"/>
              </a:xfrm>
              <a:prstGeom prst="roundRect">
                <a:avLst/>
              </a:prstGeom>
              <a:solidFill>
                <a:schemeClr val="accent6">
                  <a:lumMod val="60000"/>
                  <a:lumOff val="40000"/>
                </a:schemeClr>
              </a:solidFill>
              <a:ln>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0000FF"/>
                    </a:solidFill>
                    <a:latin typeface="黑体" panose="02010609060101010101" pitchFamily="49" charset="-122"/>
                    <a:ea typeface="黑体" panose="02010609060101010101" pitchFamily="49" charset="-122"/>
                  </a:rPr>
                  <a:t>优先编码器</a:t>
                </a:r>
                <a:endParaRPr lang="zh-CN" altLang="en-US" dirty="0">
                  <a:solidFill>
                    <a:srgbClr val="0000FF"/>
                  </a:solidFill>
                  <a:latin typeface="黑体" panose="02010609060101010101" pitchFamily="49" charset="-122"/>
                  <a:ea typeface="黑体" panose="02010609060101010101" pitchFamily="49" charset="-122"/>
                </a:endParaRPr>
              </a:p>
            </p:txBody>
          </p:sp>
        </p:grpSp>
        <p:sp>
          <p:nvSpPr>
            <p:cNvPr id="71" name="流程图: 可选过程 70"/>
            <p:cNvSpPr/>
            <p:nvPr/>
          </p:nvSpPr>
          <p:spPr>
            <a:xfrm>
              <a:off x="4082277" y="4933537"/>
              <a:ext cx="3528000" cy="612648"/>
            </a:xfrm>
            <a:prstGeom prst="flowChartAlternateProcess">
              <a:avLst/>
            </a:prstGeom>
            <a:solidFill>
              <a:schemeClr val="accent6">
                <a:lumMod val="20000"/>
                <a:lumOff val="80000"/>
              </a:schemeClr>
            </a:solidFill>
            <a:ln>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rgbClr val="6600FF"/>
                  </a:solidFill>
                  <a:latin typeface="黑体" panose="02010609060101010101" pitchFamily="49" charset="-122"/>
                  <a:ea typeface="黑体" panose="02010609060101010101" pitchFamily="49" charset="-122"/>
                </a:rPr>
                <a:t>允许多个编码输入信号同时有效，仅对其中优先权最高的输入进行编码。</a:t>
              </a:r>
              <a:endParaRPr lang="zh-CN" altLang="en-US" sz="1600" dirty="0">
                <a:solidFill>
                  <a:srgbClr val="6600FF"/>
                </a:solidFill>
                <a:latin typeface="黑体" panose="02010609060101010101" pitchFamily="49" charset="-122"/>
                <a:ea typeface="黑体" panose="02010609060101010101" pitchFamily="49" charset="-122"/>
              </a:endParaRPr>
            </a:p>
          </p:txBody>
        </p:sp>
        <p:sp>
          <p:nvSpPr>
            <p:cNvPr id="72" name="流程图: 可选过程 71"/>
            <p:cNvSpPr/>
            <p:nvPr/>
          </p:nvSpPr>
          <p:spPr>
            <a:xfrm>
              <a:off x="4082277" y="4131430"/>
              <a:ext cx="3528000" cy="612648"/>
            </a:xfrm>
            <a:prstGeom prst="flowChartAlternateProcess">
              <a:avLst/>
            </a:prstGeom>
            <a:solidFill>
              <a:schemeClr val="accent6">
                <a:lumMod val="20000"/>
                <a:lumOff val="80000"/>
              </a:schemeClr>
            </a:solidFill>
            <a:ln>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zh-CN" sz="1600" dirty="0">
                  <a:solidFill>
                    <a:srgbClr val="6600FF"/>
                  </a:solidFill>
                  <a:latin typeface="黑体" panose="02010609060101010101" pitchFamily="49" charset="-122"/>
                  <a:ea typeface="黑体" panose="02010609060101010101" pitchFamily="49" charset="-122"/>
                </a:rPr>
                <a:t>任何时候只允许一个且必须有一个编码输入信号有效</a:t>
              </a:r>
              <a:r>
                <a:rPr lang="zh-CN" altLang="en-US" sz="1600" dirty="0">
                  <a:solidFill>
                    <a:srgbClr val="6600FF"/>
                  </a:solidFill>
                  <a:latin typeface="黑体" panose="02010609060101010101" pitchFamily="49" charset="-122"/>
                  <a:ea typeface="黑体" panose="02010609060101010101" pitchFamily="49" charset="-122"/>
                </a:rPr>
                <a:t>。</a:t>
              </a:r>
              <a:endParaRPr lang="zh-CN" altLang="en-US" sz="1600" dirty="0">
                <a:solidFill>
                  <a:srgbClr val="6600FF"/>
                </a:solidFill>
                <a:latin typeface="黑体" panose="02010609060101010101" pitchFamily="49" charset="-122"/>
                <a:ea typeface="黑体" panose="02010609060101010101" pitchFamily="49"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slide(fromBottom)">
                                      <p:cBhvr>
                                        <p:cTn id="7" dur="10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anim calcmode="lin" valueType="num">
                                      <p:cBhvr>
                                        <p:cTn id="13" dur="1000" fill="hold"/>
                                        <p:tgtEl>
                                          <p:spTgt spid="3"/>
                                        </p:tgtEl>
                                        <p:attrNameLst>
                                          <p:attrName>ppt_x</p:attrName>
                                        </p:attrNameLst>
                                      </p:cBhvr>
                                      <p:tavLst>
                                        <p:tav tm="0">
                                          <p:val>
                                            <p:strVal val="#ppt_x"/>
                                          </p:val>
                                        </p:tav>
                                        <p:tav tm="100000">
                                          <p:val>
                                            <p:strVal val="#ppt_x"/>
                                          </p:val>
                                        </p:tav>
                                      </p:tavLst>
                                    </p:anim>
                                    <p:anim calcmode="lin" valueType="num">
                                      <p:cBhvr>
                                        <p:cTn id="1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fade">
                                      <p:cBhvr>
                                        <p:cTn id="19" dur="1000"/>
                                        <p:tgtEl>
                                          <p:spTgt spid="61"/>
                                        </p:tgtEl>
                                      </p:cBhvr>
                                    </p:animEffect>
                                    <p:anim calcmode="lin" valueType="num">
                                      <p:cBhvr>
                                        <p:cTn id="20" dur="1000" fill="hold"/>
                                        <p:tgtEl>
                                          <p:spTgt spid="61"/>
                                        </p:tgtEl>
                                        <p:attrNameLst>
                                          <p:attrName>ppt_x</p:attrName>
                                        </p:attrNameLst>
                                      </p:cBhvr>
                                      <p:tavLst>
                                        <p:tav tm="0">
                                          <p:val>
                                            <p:strVal val="#ppt_x"/>
                                          </p:val>
                                        </p:tav>
                                        <p:tav tm="100000">
                                          <p:val>
                                            <p:strVal val="#ppt_x"/>
                                          </p:val>
                                        </p:tav>
                                      </p:tavLst>
                                    </p:anim>
                                    <p:anim calcmode="lin" valueType="num">
                                      <p:cBhvr>
                                        <p:cTn id="21" dur="1000" fill="hold"/>
                                        <p:tgtEl>
                                          <p:spTgt spid="61"/>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42" presetClass="entr" presetSubtype="0" fill="hold" nodeType="after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1000"/>
                                        <p:tgtEl>
                                          <p:spTgt spid="4"/>
                                        </p:tgtEl>
                                      </p:cBhvr>
                                    </p:animEffect>
                                    <p:anim calcmode="lin" valueType="num">
                                      <p:cBhvr>
                                        <p:cTn id="26" dur="1000" fill="hold"/>
                                        <p:tgtEl>
                                          <p:spTgt spid="4"/>
                                        </p:tgtEl>
                                        <p:attrNameLst>
                                          <p:attrName>ppt_x</p:attrName>
                                        </p:attrNameLst>
                                      </p:cBhvr>
                                      <p:tavLst>
                                        <p:tav tm="0">
                                          <p:val>
                                            <p:strVal val="#ppt_x"/>
                                          </p:val>
                                        </p:tav>
                                        <p:tav tm="100000">
                                          <p:val>
                                            <p:strVal val="#ppt_x"/>
                                          </p:val>
                                        </p:tav>
                                      </p:tavLst>
                                    </p:anim>
                                    <p:anim calcmode="lin" valueType="num">
                                      <p:cBhvr>
                                        <p:cTn id="2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p:cNvGrpSpPr/>
          <p:nvPr/>
        </p:nvGrpSpPr>
        <p:grpSpPr>
          <a:xfrm>
            <a:off x="392432" y="769746"/>
            <a:ext cx="4713941" cy="420971"/>
            <a:chOff x="670560" y="892917"/>
            <a:chExt cx="4713941" cy="420971"/>
          </a:xfrm>
        </p:grpSpPr>
        <p:sp>
          <p:nvSpPr>
            <p:cNvPr id="37" name="矩形 36"/>
            <p:cNvSpPr/>
            <p:nvPr/>
          </p:nvSpPr>
          <p:spPr>
            <a:xfrm>
              <a:off x="1035233" y="913778"/>
              <a:ext cx="4349268"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普通编码器的工作原理（</a:t>
              </a:r>
              <a:r>
                <a:rPr lang="en-US" altLang="zh-CN" sz="2000" b="1" dirty="0">
                  <a:solidFill>
                    <a:srgbClr val="002060"/>
                  </a:solidFill>
                  <a:latin typeface="微软雅黑" panose="020B0503020204020204" pitchFamily="34" charset="-122"/>
                  <a:ea typeface="微软雅黑" panose="020B0503020204020204" pitchFamily="34" charset="-122"/>
                </a:rPr>
                <a:t>4</a:t>
              </a:r>
              <a:r>
                <a:rPr lang="zh-CN" altLang="en-US" sz="2000" b="1" dirty="0">
                  <a:solidFill>
                    <a:srgbClr val="002060"/>
                  </a:solidFill>
                  <a:latin typeface="微软雅黑" panose="020B0503020204020204" pitchFamily="34" charset="-122"/>
                  <a:ea typeface="微软雅黑" panose="020B0503020204020204" pitchFamily="34" charset="-122"/>
                </a:rPr>
                <a:t>线－</a:t>
              </a:r>
              <a:r>
                <a:rPr lang="en-US" altLang="zh-CN" sz="2000" b="1" dirty="0">
                  <a:solidFill>
                    <a:srgbClr val="002060"/>
                  </a:solidFill>
                  <a:latin typeface="微软雅黑" panose="020B0503020204020204" pitchFamily="34" charset="-122"/>
                  <a:ea typeface="微软雅黑" panose="020B0503020204020204" pitchFamily="34" charset="-122"/>
                </a:rPr>
                <a:t>2</a:t>
              </a:r>
              <a:r>
                <a:rPr lang="zh-CN" altLang="en-US" sz="2000" b="1" dirty="0">
                  <a:solidFill>
                    <a:srgbClr val="002060"/>
                  </a:solidFill>
                  <a:latin typeface="微软雅黑" panose="020B0503020204020204" pitchFamily="34" charset="-122"/>
                  <a:ea typeface="微软雅黑" panose="020B0503020204020204" pitchFamily="34" charset="-122"/>
                </a:rPr>
                <a:t>线）</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38"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aphicFrame>
        <p:nvGraphicFramePr>
          <p:cNvPr id="40" name="Group 64"/>
          <p:cNvGraphicFramePr>
            <a:graphicFrameLocks noGrp="1"/>
          </p:cNvGraphicFramePr>
          <p:nvPr/>
        </p:nvGraphicFramePr>
        <p:xfrm>
          <a:off x="850649" y="1485117"/>
          <a:ext cx="2786896" cy="2194560"/>
        </p:xfrm>
        <a:graphic>
          <a:graphicData uri="http://schemas.openxmlformats.org/drawingml/2006/table">
            <a:tbl>
              <a:tblPr/>
              <a:tblGrid>
                <a:gridCol w="464048"/>
                <a:gridCol w="462744"/>
                <a:gridCol w="464048"/>
                <a:gridCol w="469263"/>
                <a:gridCol w="462745"/>
                <a:gridCol w="464048"/>
              </a:tblGrid>
              <a:tr h="365760">
                <a:tc gridSpan="4">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latin typeface="方正姚体" panose="02010601030101010101" pitchFamily="2" charset="-122"/>
                          <a:ea typeface="方正姚体" panose="02010601030101010101" pitchFamily="2" charset="-122"/>
                        </a:rPr>
                        <a:t>输        入</a:t>
                      </a:r>
                      <a:endParaRPr kumimoji="0" lang="zh-CN" altLang="en-US" sz="1800" b="1" i="0" u="none" strike="noStrike" cap="none" normalizeH="0" baseline="0" dirty="0">
                        <a:ln>
                          <a:noFill/>
                        </a:ln>
                        <a:solidFill>
                          <a:srgbClr val="000000"/>
                        </a:solidFill>
                        <a:effectLst/>
                        <a:latin typeface="方正姚体" panose="02010601030101010101" pitchFamily="2" charset="-122"/>
                        <a:ea typeface="方正姚体" panose="02010601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hMerge="1">
                  <a:tcPr/>
                </a:tc>
                <a:tc hMerge="1">
                  <a:tcPr/>
                </a:tc>
                <a:tc hMerge="1">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a:ln>
                            <a:noFill/>
                          </a:ln>
                          <a:solidFill>
                            <a:srgbClr val="000000"/>
                          </a:solidFill>
                          <a:effectLst/>
                          <a:latin typeface="方正姚体" panose="02010601030101010101" pitchFamily="2" charset="-122"/>
                          <a:ea typeface="方正姚体" panose="02010601030101010101" pitchFamily="2" charset="-122"/>
                        </a:rPr>
                        <a:t>输   出</a:t>
                      </a:r>
                      <a:endParaRPr kumimoji="0" lang="zh-CN" altLang="en-US" sz="1800" b="1" i="0" u="none" strike="noStrike" cap="none" normalizeH="0" baseline="0">
                        <a:ln>
                          <a:noFill/>
                        </a:ln>
                        <a:solidFill>
                          <a:srgbClr val="000000"/>
                        </a:solidFill>
                        <a:effectLst/>
                        <a:latin typeface="方正姚体" panose="02010601030101010101" pitchFamily="2" charset="-122"/>
                        <a:ea typeface="方正姚体" panose="02010601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hMerge="1">
                  <a:tcPr/>
                </a:tc>
              </a:tr>
              <a:tr h="36576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2</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3</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Y</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Y</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r>
              <a:tr h="36576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rgbClr val="FFFFFF"/>
                    </a:solidFill>
                  </a:tcPr>
                </a:tc>
              </a:tr>
              <a:tr h="36576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rgbClr val="FFFFFF"/>
                    </a:solidFill>
                  </a:tcPr>
                </a:tc>
              </a:tr>
              <a:tr h="36576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rgbClr val="FFFFFF"/>
                    </a:solidFill>
                  </a:tcPr>
                </a:tc>
              </a:tr>
              <a:tr h="36576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r>
            </a:tbl>
          </a:graphicData>
        </a:graphic>
      </p:graphicFrame>
      <p:sp>
        <p:nvSpPr>
          <p:cNvPr id="41" name="圆角矩形 40"/>
          <p:cNvSpPr/>
          <p:nvPr/>
        </p:nvSpPr>
        <p:spPr>
          <a:xfrm>
            <a:off x="854243" y="1875275"/>
            <a:ext cx="1816769" cy="312821"/>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圆角矩形 41"/>
          <p:cNvSpPr/>
          <p:nvPr/>
        </p:nvSpPr>
        <p:spPr>
          <a:xfrm>
            <a:off x="2767263" y="1875274"/>
            <a:ext cx="798096" cy="1744226"/>
          </a:xfrm>
          <a:prstGeom prst="roundRect">
            <a:avLst>
              <a:gd name="adj" fmla="val 7119"/>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圆角矩形 45"/>
          <p:cNvSpPr/>
          <p:nvPr/>
        </p:nvSpPr>
        <p:spPr>
          <a:xfrm rot="2266807">
            <a:off x="773432" y="2783964"/>
            <a:ext cx="2030641" cy="312821"/>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5" name="组合 114"/>
          <p:cNvGrpSpPr/>
          <p:nvPr/>
        </p:nvGrpSpPr>
        <p:grpSpPr>
          <a:xfrm>
            <a:off x="1249496" y="3890517"/>
            <a:ext cx="1986990" cy="954107"/>
            <a:chOff x="1915244" y="3631485"/>
            <a:chExt cx="1986990" cy="954107"/>
          </a:xfrm>
        </p:grpSpPr>
        <p:sp>
          <p:nvSpPr>
            <p:cNvPr id="84" name="TextBox 83"/>
            <p:cNvSpPr txBox="1"/>
            <p:nvPr/>
          </p:nvSpPr>
          <p:spPr>
            <a:xfrm>
              <a:off x="1915244" y="3631485"/>
              <a:ext cx="314510" cy="954107"/>
            </a:xfrm>
            <a:prstGeom prst="rect">
              <a:avLst/>
            </a:prstGeom>
            <a:noFill/>
          </p:spPr>
          <p:txBody>
            <a:bodyPr wrap="none" rtlCol="0">
              <a:spAutoFit/>
            </a:bodyPr>
            <a:lstStyle/>
            <a:p>
              <a:r>
                <a:rPr lang="en-US" altLang="zh-CN" sz="1400" b="1" i="1" dirty="0">
                  <a:latin typeface="Times New Roman" panose="02020603050405020304" pitchFamily="18" charset="0"/>
                  <a:cs typeface="Times New Roman" panose="02020603050405020304" pitchFamily="18" charset="0"/>
                </a:rPr>
                <a:t>I</a:t>
              </a:r>
              <a:r>
                <a:rPr lang="en-US" altLang="zh-CN" sz="1400" b="1" baseline="-25000" dirty="0">
                  <a:latin typeface="Times New Roman" panose="02020603050405020304" pitchFamily="18" charset="0"/>
                  <a:cs typeface="Times New Roman" panose="02020603050405020304" pitchFamily="18" charset="0"/>
                </a:rPr>
                <a:t>0</a:t>
              </a:r>
              <a:endParaRPr lang="en-US" altLang="zh-CN" sz="1400" b="1" baseline="-25000" dirty="0">
                <a:latin typeface="Times New Roman" panose="02020603050405020304" pitchFamily="18" charset="0"/>
                <a:cs typeface="Times New Roman" panose="02020603050405020304" pitchFamily="18" charset="0"/>
              </a:endParaRPr>
            </a:p>
            <a:p>
              <a:r>
                <a:rPr lang="en-US" altLang="zh-CN" sz="1400" b="1" i="1" dirty="0">
                  <a:latin typeface="Times New Roman" panose="02020603050405020304" pitchFamily="18" charset="0"/>
                  <a:cs typeface="Times New Roman" panose="02020603050405020304" pitchFamily="18" charset="0"/>
                </a:rPr>
                <a:t>I</a:t>
              </a:r>
              <a:r>
                <a:rPr lang="en-US" altLang="zh-CN" sz="1400" b="1" baseline="-25000" dirty="0">
                  <a:latin typeface="Times New Roman" panose="02020603050405020304" pitchFamily="18" charset="0"/>
                  <a:cs typeface="Times New Roman" panose="02020603050405020304" pitchFamily="18" charset="0"/>
                </a:rPr>
                <a:t>1</a:t>
              </a:r>
              <a:endParaRPr lang="en-US" altLang="zh-CN" sz="1400" b="1" baseline="-25000" dirty="0">
                <a:latin typeface="Times New Roman" panose="02020603050405020304" pitchFamily="18" charset="0"/>
                <a:cs typeface="Times New Roman" panose="02020603050405020304" pitchFamily="18" charset="0"/>
              </a:endParaRPr>
            </a:p>
            <a:p>
              <a:r>
                <a:rPr lang="en-US" altLang="zh-CN" sz="1400" b="1" i="1" dirty="0">
                  <a:latin typeface="Times New Roman" panose="02020603050405020304" pitchFamily="18" charset="0"/>
                  <a:cs typeface="Times New Roman" panose="02020603050405020304" pitchFamily="18" charset="0"/>
                </a:rPr>
                <a:t>I</a:t>
              </a:r>
              <a:r>
                <a:rPr lang="en-US" altLang="zh-CN" sz="1400" b="1" baseline="-25000" dirty="0">
                  <a:latin typeface="Times New Roman" panose="02020603050405020304" pitchFamily="18" charset="0"/>
                  <a:cs typeface="Times New Roman" panose="02020603050405020304" pitchFamily="18" charset="0"/>
                </a:rPr>
                <a:t>2</a:t>
              </a:r>
              <a:endParaRPr lang="en-US" altLang="zh-CN" sz="1400" b="1" dirty="0">
                <a:latin typeface="Times New Roman" panose="02020603050405020304" pitchFamily="18" charset="0"/>
                <a:cs typeface="Times New Roman" panose="02020603050405020304" pitchFamily="18" charset="0"/>
              </a:endParaRPr>
            </a:p>
            <a:p>
              <a:r>
                <a:rPr lang="en-US" altLang="zh-CN" sz="1400" b="1" i="1" dirty="0">
                  <a:latin typeface="Times New Roman" panose="02020603050405020304" pitchFamily="18" charset="0"/>
                  <a:cs typeface="Times New Roman" panose="02020603050405020304" pitchFamily="18" charset="0"/>
                </a:rPr>
                <a:t>I</a:t>
              </a:r>
              <a:r>
                <a:rPr lang="en-US" altLang="zh-CN" sz="1400" b="1" baseline="-25000" dirty="0">
                  <a:latin typeface="Times New Roman" panose="02020603050405020304" pitchFamily="18" charset="0"/>
                  <a:cs typeface="Times New Roman" panose="02020603050405020304" pitchFamily="18" charset="0"/>
                </a:rPr>
                <a:t>3</a:t>
              </a:r>
              <a:endParaRPr lang="zh-CN" altLang="en-US" sz="1400" b="1" baseline="-25000" dirty="0">
                <a:latin typeface="Times New Roman" panose="02020603050405020304" pitchFamily="18" charset="0"/>
                <a:cs typeface="Times New Roman" panose="02020603050405020304" pitchFamily="18" charset="0"/>
              </a:endParaRPr>
            </a:p>
          </p:txBody>
        </p:sp>
        <p:sp>
          <p:nvSpPr>
            <p:cNvPr id="90" name="TextBox 89"/>
            <p:cNvSpPr txBox="1"/>
            <p:nvPr/>
          </p:nvSpPr>
          <p:spPr>
            <a:xfrm>
              <a:off x="3549252" y="3799928"/>
              <a:ext cx="352982" cy="666849"/>
            </a:xfrm>
            <a:prstGeom prst="rect">
              <a:avLst/>
            </a:prstGeom>
            <a:noFill/>
          </p:spPr>
          <p:txBody>
            <a:bodyPr wrap="none" rtlCol="0">
              <a:spAutoFit/>
            </a:bodyPr>
            <a:lstStyle/>
            <a:p>
              <a:r>
                <a:rPr lang="en-US" altLang="zh-CN" sz="1400" b="1" i="1" dirty="0">
                  <a:latin typeface="Times New Roman" panose="02020603050405020304" pitchFamily="18" charset="0"/>
                  <a:cs typeface="Times New Roman" panose="02020603050405020304" pitchFamily="18" charset="0"/>
                </a:rPr>
                <a:t>Y</a:t>
              </a:r>
              <a:r>
                <a:rPr lang="en-US" altLang="zh-CN" sz="1400" b="1" baseline="-25000" dirty="0">
                  <a:latin typeface="Times New Roman" panose="02020603050405020304" pitchFamily="18" charset="0"/>
                  <a:cs typeface="Times New Roman" panose="02020603050405020304" pitchFamily="18" charset="0"/>
                </a:rPr>
                <a:t>0</a:t>
              </a:r>
              <a:endParaRPr lang="en-US" altLang="zh-CN" sz="1400" b="1" baseline="-25000" dirty="0">
                <a:latin typeface="Times New Roman" panose="02020603050405020304" pitchFamily="18" charset="0"/>
                <a:cs typeface="Times New Roman" panose="02020603050405020304" pitchFamily="18" charset="0"/>
              </a:endParaRPr>
            </a:p>
            <a:p>
              <a:endParaRPr lang="en-US" altLang="zh-CN" sz="1400" b="1" baseline="-25000" dirty="0">
                <a:latin typeface="Times New Roman" panose="02020603050405020304" pitchFamily="18" charset="0"/>
                <a:cs typeface="Times New Roman" panose="02020603050405020304" pitchFamily="18" charset="0"/>
              </a:endParaRPr>
            </a:p>
            <a:p>
              <a:r>
                <a:rPr lang="en-US" altLang="zh-CN" sz="1400" b="1" i="1" dirty="0">
                  <a:latin typeface="Times New Roman" panose="02020603050405020304" pitchFamily="18" charset="0"/>
                  <a:cs typeface="Times New Roman" panose="02020603050405020304" pitchFamily="18" charset="0"/>
                </a:rPr>
                <a:t>Y</a:t>
              </a:r>
              <a:r>
                <a:rPr lang="en-US" altLang="zh-CN" sz="1400" b="1" baseline="-25000" dirty="0">
                  <a:latin typeface="Times New Roman" panose="02020603050405020304" pitchFamily="18" charset="0"/>
                  <a:cs typeface="Times New Roman" panose="02020603050405020304" pitchFamily="18" charset="0"/>
                </a:rPr>
                <a:t>1</a:t>
              </a:r>
              <a:endParaRPr lang="zh-CN" altLang="en-US" sz="1400" b="1" baseline="-25000" dirty="0">
                <a:latin typeface="Times New Roman" panose="02020603050405020304" pitchFamily="18" charset="0"/>
                <a:cs typeface="Times New Roman" panose="02020603050405020304" pitchFamily="18" charset="0"/>
              </a:endParaRPr>
            </a:p>
          </p:txBody>
        </p:sp>
        <p:grpSp>
          <p:nvGrpSpPr>
            <p:cNvPr id="114" name="组合 113"/>
            <p:cNvGrpSpPr/>
            <p:nvPr/>
          </p:nvGrpSpPr>
          <p:grpSpPr>
            <a:xfrm>
              <a:off x="2181726" y="3814968"/>
              <a:ext cx="309176" cy="636270"/>
              <a:chOff x="2023802" y="3814968"/>
              <a:chExt cx="467100" cy="636270"/>
            </a:xfrm>
          </p:grpSpPr>
          <p:cxnSp>
            <p:nvCxnSpPr>
              <p:cNvPr id="101" name="直接箭头连接符 100"/>
              <p:cNvCxnSpPr/>
              <p:nvPr/>
            </p:nvCxnSpPr>
            <p:spPr>
              <a:xfrm>
                <a:off x="2023802" y="3814968"/>
                <a:ext cx="46710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p:nvPr/>
            </p:nvCxnSpPr>
            <p:spPr>
              <a:xfrm>
                <a:off x="2023802" y="4027058"/>
                <a:ext cx="46710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p:nvPr/>
            </p:nvCxnSpPr>
            <p:spPr>
              <a:xfrm>
                <a:off x="2023802" y="4451238"/>
                <a:ext cx="46710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0" name="直接箭头连接符 109"/>
              <p:cNvCxnSpPr/>
              <p:nvPr/>
            </p:nvCxnSpPr>
            <p:spPr>
              <a:xfrm>
                <a:off x="2023802" y="4239148"/>
                <a:ext cx="46710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13" name="组合 112"/>
            <p:cNvGrpSpPr/>
            <p:nvPr/>
          </p:nvGrpSpPr>
          <p:grpSpPr>
            <a:xfrm>
              <a:off x="3287089" y="3970911"/>
              <a:ext cx="354440" cy="324398"/>
              <a:chOff x="3531760" y="3970911"/>
              <a:chExt cx="467100" cy="324398"/>
            </a:xfrm>
          </p:grpSpPr>
          <p:cxnSp>
            <p:nvCxnSpPr>
              <p:cNvPr id="111" name="直接箭头连接符 110"/>
              <p:cNvCxnSpPr/>
              <p:nvPr/>
            </p:nvCxnSpPr>
            <p:spPr>
              <a:xfrm>
                <a:off x="3531760" y="3970911"/>
                <a:ext cx="46710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2" name="直接箭头连接符 111"/>
              <p:cNvCxnSpPr/>
              <p:nvPr/>
            </p:nvCxnSpPr>
            <p:spPr>
              <a:xfrm>
                <a:off x="3531760" y="4295309"/>
                <a:ext cx="46710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82" name="圆角矩形 81"/>
            <p:cNvSpPr/>
            <p:nvPr/>
          </p:nvSpPr>
          <p:spPr>
            <a:xfrm>
              <a:off x="2503302" y="3685428"/>
              <a:ext cx="849498" cy="895350"/>
            </a:xfrm>
            <a:prstGeom prst="roundRect">
              <a:avLst>
                <a:gd name="adj" fmla="val 0"/>
              </a:avLst>
            </a:prstGeom>
            <a:solidFill>
              <a:schemeClr val="accent2">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6600FF"/>
                  </a:solidFill>
                  <a:latin typeface="黑体" panose="02010609060101010101" pitchFamily="49" charset="-122"/>
                  <a:ea typeface="黑体" panose="02010609060101010101" pitchFamily="49" charset="-122"/>
                </a:rPr>
                <a:t>4</a:t>
              </a:r>
              <a:r>
                <a:rPr lang="zh-CN" altLang="en-US" sz="1600" dirty="0">
                  <a:solidFill>
                    <a:srgbClr val="6600FF"/>
                  </a:solidFill>
                  <a:latin typeface="黑体" panose="02010609060101010101" pitchFamily="49" charset="-122"/>
                  <a:ea typeface="黑体" panose="02010609060101010101" pitchFamily="49" charset="-122"/>
                </a:rPr>
                <a:t>线</a:t>
              </a:r>
              <a:r>
                <a:rPr lang="en-US" altLang="zh-CN" sz="1600" dirty="0">
                  <a:solidFill>
                    <a:srgbClr val="6600FF"/>
                  </a:solidFill>
                  <a:latin typeface="黑体" panose="02010609060101010101" pitchFamily="49" charset="-122"/>
                  <a:ea typeface="黑体" panose="02010609060101010101" pitchFamily="49" charset="-122"/>
                </a:rPr>
                <a:t>-2</a:t>
              </a:r>
              <a:r>
                <a:rPr lang="zh-CN" altLang="en-US" sz="1600" dirty="0">
                  <a:solidFill>
                    <a:srgbClr val="6600FF"/>
                  </a:solidFill>
                  <a:latin typeface="黑体" panose="02010609060101010101" pitchFamily="49" charset="-122"/>
                  <a:ea typeface="黑体" panose="02010609060101010101" pitchFamily="49" charset="-122"/>
                </a:rPr>
                <a:t>线编码器</a:t>
              </a:r>
              <a:endParaRPr lang="zh-CN" altLang="en-US" sz="1600" dirty="0">
                <a:solidFill>
                  <a:srgbClr val="6600FF"/>
                </a:solidFill>
                <a:latin typeface="黑体" panose="02010609060101010101" pitchFamily="49" charset="-122"/>
                <a:ea typeface="黑体" panose="02010609060101010101" pitchFamily="49"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600">
        <p14:prism dir="u"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 calcmode="lin" valueType="num">
                                      <p:cBhvr>
                                        <p:cTn id="7" dur="1000" fill="hold"/>
                                        <p:tgtEl>
                                          <p:spTgt spid="41"/>
                                        </p:tgtEl>
                                        <p:attrNameLst>
                                          <p:attrName>ppt_w</p:attrName>
                                        </p:attrNameLst>
                                      </p:cBhvr>
                                      <p:tavLst>
                                        <p:tav tm="0">
                                          <p:val>
                                            <p:fltVal val="0"/>
                                          </p:val>
                                        </p:tav>
                                        <p:tav tm="100000">
                                          <p:val>
                                            <p:strVal val="#ppt_w"/>
                                          </p:val>
                                        </p:tav>
                                      </p:tavLst>
                                    </p:anim>
                                    <p:anim calcmode="lin" valueType="num">
                                      <p:cBhvr>
                                        <p:cTn id="8" dur="1000" fill="hold"/>
                                        <p:tgtEl>
                                          <p:spTgt spid="41"/>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46"/>
                                        </p:tgtEl>
                                        <p:attrNameLst>
                                          <p:attrName>style.visibility</p:attrName>
                                        </p:attrNameLst>
                                      </p:cBhvr>
                                      <p:to>
                                        <p:strVal val="visible"/>
                                      </p:to>
                                    </p:set>
                                    <p:anim calcmode="lin" valueType="num">
                                      <p:cBhvr>
                                        <p:cTn id="13" dur="1000" fill="hold"/>
                                        <p:tgtEl>
                                          <p:spTgt spid="46"/>
                                        </p:tgtEl>
                                        <p:attrNameLst>
                                          <p:attrName>ppt_w</p:attrName>
                                        </p:attrNameLst>
                                      </p:cBhvr>
                                      <p:tavLst>
                                        <p:tav tm="0">
                                          <p:val>
                                            <p:fltVal val="0"/>
                                          </p:val>
                                        </p:tav>
                                        <p:tav tm="100000">
                                          <p:val>
                                            <p:strVal val="#ppt_w"/>
                                          </p:val>
                                        </p:tav>
                                      </p:tavLst>
                                    </p:anim>
                                    <p:anim calcmode="lin" valueType="num">
                                      <p:cBhvr>
                                        <p:cTn id="14" dur="1000" fill="hold"/>
                                        <p:tgtEl>
                                          <p:spTgt spid="46"/>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42"/>
                                        </p:tgtEl>
                                        <p:attrNameLst>
                                          <p:attrName>style.visibility</p:attrName>
                                        </p:attrNameLst>
                                      </p:cBhvr>
                                      <p:to>
                                        <p:strVal val="visible"/>
                                      </p:to>
                                    </p:set>
                                    <p:anim calcmode="lin" valueType="num">
                                      <p:cBhvr>
                                        <p:cTn id="19" dur="1000" fill="hold"/>
                                        <p:tgtEl>
                                          <p:spTgt spid="42"/>
                                        </p:tgtEl>
                                        <p:attrNameLst>
                                          <p:attrName>ppt_w</p:attrName>
                                        </p:attrNameLst>
                                      </p:cBhvr>
                                      <p:tavLst>
                                        <p:tav tm="0">
                                          <p:val>
                                            <p:fltVal val="0"/>
                                          </p:val>
                                        </p:tav>
                                        <p:tav tm="100000">
                                          <p:val>
                                            <p:strVal val="#ppt_w"/>
                                          </p:val>
                                        </p:tav>
                                      </p:tavLst>
                                    </p:anim>
                                    <p:anim calcmode="lin" valueType="num">
                                      <p:cBhvr>
                                        <p:cTn id="20" dur="1000" fill="hold"/>
                                        <p:tgtEl>
                                          <p:spTgt spid="42"/>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115"/>
                                        </p:tgtEl>
                                        <p:attrNameLst>
                                          <p:attrName>style.visibility</p:attrName>
                                        </p:attrNameLst>
                                      </p:cBhvr>
                                      <p:to>
                                        <p:strVal val="visible"/>
                                      </p:to>
                                    </p:set>
                                    <p:animEffect transition="in" filter="slide(fromBottom)">
                                      <p:cBhvr>
                                        <p:cTn id="25" dur="10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6" name="组合 35"/>
          <p:cNvGrpSpPr/>
          <p:nvPr/>
        </p:nvGrpSpPr>
        <p:grpSpPr>
          <a:xfrm>
            <a:off x="392432" y="769746"/>
            <a:ext cx="4713941" cy="420971"/>
            <a:chOff x="670560" y="892917"/>
            <a:chExt cx="4713941" cy="420971"/>
          </a:xfrm>
        </p:grpSpPr>
        <p:sp>
          <p:nvSpPr>
            <p:cNvPr id="37" name="矩形 36"/>
            <p:cNvSpPr/>
            <p:nvPr/>
          </p:nvSpPr>
          <p:spPr>
            <a:xfrm>
              <a:off x="1035233" y="913778"/>
              <a:ext cx="4349268"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普通编码器的工作原理（</a:t>
              </a:r>
              <a:r>
                <a:rPr lang="en-US" altLang="zh-CN" sz="2000" b="1" dirty="0">
                  <a:solidFill>
                    <a:srgbClr val="002060"/>
                  </a:solidFill>
                  <a:latin typeface="微软雅黑" panose="020B0503020204020204" pitchFamily="34" charset="-122"/>
                  <a:ea typeface="微软雅黑" panose="020B0503020204020204" pitchFamily="34" charset="-122"/>
                </a:rPr>
                <a:t>4</a:t>
              </a:r>
              <a:r>
                <a:rPr lang="zh-CN" altLang="en-US" sz="2000" b="1" dirty="0">
                  <a:solidFill>
                    <a:srgbClr val="002060"/>
                  </a:solidFill>
                  <a:latin typeface="微软雅黑" panose="020B0503020204020204" pitchFamily="34" charset="-122"/>
                  <a:ea typeface="微软雅黑" panose="020B0503020204020204" pitchFamily="34" charset="-122"/>
                </a:rPr>
                <a:t>线－</a:t>
              </a:r>
              <a:r>
                <a:rPr lang="en-US" altLang="zh-CN" sz="2000" b="1" dirty="0">
                  <a:solidFill>
                    <a:srgbClr val="002060"/>
                  </a:solidFill>
                  <a:latin typeface="微软雅黑" panose="020B0503020204020204" pitchFamily="34" charset="-122"/>
                  <a:ea typeface="微软雅黑" panose="020B0503020204020204" pitchFamily="34" charset="-122"/>
                </a:rPr>
                <a:t>2</a:t>
              </a:r>
              <a:r>
                <a:rPr lang="zh-CN" altLang="en-US" sz="2000" b="1" dirty="0">
                  <a:solidFill>
                    <a:srgbClr val="002060"/>
                  </a:solidFill>
                  <a:latin typeface="微软雅黑" panose="020B0503020204020204" pitchFamily="34" charset="-122"/>
                  <a:ea typeface="微软雅黑" panose="020B0503020204020204" pitchFamily="34" charset="-122"/>
                </a:rPr>
                <a:t>线）</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38"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aphicFrame>
        <p:nvGraphicFramePr>
          <p:cNvPr id="40" name="Group 64"/>
          <p:cNvGraphicFramePr>
            <a:graphicFrameLocks noGrp="1"/>
          </p:cNvGraphicFramePr>
          <p:nvPr/>
        </p:nvGraphicFramePr>
        <p:xfrm>
          <a:off x="850649" y="1485117"/>
          <a:ext cx="2786896" cy="2194560"/>
        </p:xfrm>
        <a:graphic>
          <a:graphicData uri="http://schemas.openxmlformats.org/drawingml/2006/table">
            <a:tbl>
              <a:tblPr/>
              <a:tblGrid>
                <a:gridCol w="464048"/>
                <a:gridCol w="462744"/>
                <a:gridCol w="464048"/>
                <a:gridCol w="469263"/>
                <a:gridCol w="462745"/>
                <a:gridCol w="464048"/>
              </a:tblGrid>
              <a:tr h="365760">
                <a:tc gridSpan="4">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latin typeface="方正姚体" panose="02010601030101010101" pitchFamily="2" charset="-122"/>
                          <a:ea typeface="方正姚体" panose="02010601030101010101" pitchFamily="2" charset="-122"/>
                        </a:rPr>
                        <a:t>输        入</a:t>
                      </a:r>
                      <a:endParaRPr kumimoji="0" lang="zh-CN" altLang="en-US" sz="1800" b="1" i="0" u="none" strike="noStrike" cap="none" normalizeH="0" baseline="0" dirty="0">
                        <a:ln>
                          <a:noFill/>
                        </a:ln>
                        <a:solidFill>
                          <a:srgbClr val="000000"/>
                        </a:solidFill>
                        <a:effectLst/>
                        <a:latin typeface="方正姚体" panose="02010601030101010101" pitchFamily="2" charset="-122"/>
                        <a:ea typeface="方正姚体" panose="02010601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hMerge="1">
                  <a:tcPr/>
                </a:tc>
                <a:tc hMerge="1">
                  <a:tcPr/>
                </a:tc>
                <a:tc hMerge="1">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latin typeface="方正姚体" panose="02010601030101010101" pitchFamily="2" charset="-122"/>
                          <a:ea typeface="方正姚体" panose="02010601030101010101" pitchFamily="2" charset="-122"/>
                        </a:rPr>
                        <a:t>输   出</a:t>
                      </a:r>
                      <a:endParaRPr kumimoji="0" lang="zh-CN" altLang="en-US" sz="1800" b="1" i="0" u="none" strike="noStrike" cap="none" normalizeH="0" baseline="0" dirty="0">
                        <a:ln>
                          <a:noFill/>
                        </a:ln>
                        <a:solidFill>
                          <a:srgbClr val="000000"/>
                        </a:solidFill>
                        <a:effectLst/>
                        <a:latin typeface="方正姚体" panose="02010601030101010101" pitchFamily="2" charset="-122"/>
                        <a:ea typeface="方正姚体" panose="02010601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hMerge="1">
                  <a:tcPr/>
                </a:tc>
              </a:tr>
              <a:tr h="36576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2</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3</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Y</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Y</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r>
              <a:tr h="36576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rgbClr val="FFFFFF"/>
                    </a:solidFill>
                  </a:tcPr>
                </a:tc>
              </a:tr>
              <a:tr h="36576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rgbClr val="FFFFFF"/>
                    </a:solidFill>
                  </a:tcPr>
                </a:tc>
              </a:tr>
              <a:tr h="36576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rgbClr val="FFFFFF"/>
                    </a:solidFill>
                  </a:tcPr>
                </a:tc>
              </a:tr>
              <a:tr h="36576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r>
            </a:tbl>
          </a:graphicData>
        </a:graphic>
      </p:graphicFrame>
      <p:sp>
        <p:nvSpPr>
          <p:cNvPr id="43" name="圆角矩形 42"/>
          <p:cNvSpPr/>
          <p:nvPr/>
        </p:nvSpPr>
        <p:spPr>
          <a:xfrm>
            <a:off x="866802" y="2256272"/>
            <a:ext cx="2763248" cy="312821"/>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6" name="组合 55"/>
          <p:cNvGrpSpPr/>
          <p:nvPr/>
        </p:nvGrpSpPr>
        <p:grpSpPr>
          <a:xfrm>
            <a:off x="4877067" y="1478246"/>
            <a:ext cx="2857161" cy="1243262"/>
            <a:chOff x="649185" y="3573380"/>
            <a:chExt cx="3169370" cy="1279355"/>
          </a:xfrm>
        </p:grpSpPr>
        <p:sp>
          <p:nvSpPr>
            <p:cNvPr id="55" name="圆角矩形 54"/>
            <p:cNvSpPr/>
            <p:nvPr/>
          </p:nvSpPr>
          <p:spPr>
            <a:xfrm>
              <a:off x="649185" y="3717755"/>
              <a:ext cx="3169370" cy="1134980"/>
            </a:xfrm>
            <a:prstGeom prst="roundRect">
              <a:avLst>
                <a:gd name="adj" fmla="val 4386"/>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流程图: 可选过程 51"/>
            <p:cNvSpPr/>
            <p:nvPr/>
          </p:nvSpPr>
          <p:spPr>
            <a:xfrm>
              <a:off x="1193161" y="3573380"/>
              <a:ext cx="2081418" cy="288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latin typeface="Times New Roman" panose="02020603050405020304" pitchFamily="18" charset="0"/>
                  <a:ea typeface="黑体" panose="02010609060101010101" pitchFamily="49" charset="-122"/>
                  <a:cs typeface="Times New Roman" panose="02020603050405020304" pitchFamily="18" charset="0"/>
                </a:rPr>
                <a:t>其他</a:t>
              </a:r>
              <a:r>
                <a:rPr lang="en-US" altLang="zh-CN" sz="1400" dirty="0">
                  <a:latin typeface="Times New Roman" panose="02020603050405020304" pitchFamily="18" charset="0"/>
                  <a:ea typeface="黑体" panose="02010609060101010101" pitchFamily="49" charset="-122"/>
                  <a:cs typeface="Times New Roman" panose="02020603050405020304" pitchFamily="18" charset="0"/>
                </a:rPr>
                <a:t>12</a:t>
              </a:r>
              <a:r>
                <a:rPr lang="zh-CN" altLang="en-US" sz="1400" dirty="0">
                  <a:latin typeface="Times New Roman" panose="02020603050405020304" pitchFamily="18" charset="0"/>
                  <a:ea typeface="黑体" panose="02010609060101010101" pitchFamily="49" charset="-122"/>
                  <a:cs typeface="Times New Roman" panose="02020603050405020304" pitchFamily="18" charset="0"/>
                </a:rPr>
                <a:t>种组合</a:t>
              </a:r>
              <a:r>
                <a:rPr lang="en-US" altLang="zh-CN" sz="1400" i="1" dirty="0">
                  <a:latin typeface="Times New Roman" panose="02020603050405020304" pitchFamily="18" charset="0"/>
                  <a:ea typeface="黑体" panose="02010609060101010101" pitchFamily="49" charset="-122"/>
                  <a:cs typeface="Times New Roman" panose="02020603050405020304" pitchFamily="18" charset="0"/>
                </a:rPr>
                <a:t>Y</a:t>
              </a:r>
              <a:r>
                <a:rPr lang="en-US" altLang="zh-CN" sz="1400" baseline="-25000" dirty="0">
                  <a:latin typeface="Times New Roman" panose="02020603050405020304" pitchFamily="18" charset="0"/>
                  <a:ea typeface="黑体" panose="02010609060101010101" pitchFamily="49" charset="-122"/>
                  <a:cs typeface="Times New Roman" panose="02020603050405020304" pitchFamily="18" charset="0"/>
                </a:rPr>
                <a:t>1</a:t>
              </a:r>
              <a:r>
                <a:rPr lang="en-US" altLang="zh-CN" sz="1400" i="1" dirty="0">
                  <a:latin typeface="Times New Roman" panose="02020603050405020304" pitchFamily="18" charset="0"/>
                  <a:ea typeface="黑体" panose="02010609060101010101" pitchFamily="49" charset="-122"/>
                  <a:cs typeface="Times New Roman" panose="02020603050405020304" pitchFamily="18" charset="0"/>
                </a:rPr>
                <a:t>Y</a:t>
              </a:r>
              <a:r>
                <a:rPr lang="en-US" altLang="zh-CN" sz="1400" baseline="-25000" dirty="0">
                  <a:latin typeface="Times New Roman" panose="02020603050405020304" pitchFamily="18" charset="0"/>
                  <a:ea typeface="黑体" panose="02010609060101010101" pitchFamily="49" charset="-122"/>
                  <a:cs typeface="Times New Roman" panose="02020603050405020304" pitchFamily="18" charset="0"/>
                </a:rPr>
                <a:t>0</a:t>
              </a:r>
              <a:r>
                <a:rPr lang="en-US" altLang="zh-CN" sz="1400" dirty="0">
                  <a:latin typeface="Times New Roman" panose="02020603050405020304" pitchFamily="18" charset="0"/>
                  <a:ea typeface="黑体" panose="02010609060101010101" pitchFamily="49" charset="-122"/>
                  <a:cs typeface="Times New Roman" panose="02020603050405020304" pitchFamily="18" charset="0"/>
                </a:rPr>
                <a:t>=00</a:t>
              </a:r>
              <a:endParaRPr lang="zh-CN" altLang="en-US" sz="1400" dirty="0"/>
            </a:p>
          </p:txBody>
        </p:sp>
      </p:grpSp>
      <p:graphicFrame>
        <p:nvGraphicFramePr>
          <p:cNvPr id="48" name="Object 60"/>
          <p:cNvGraphicFramePr>
            <a:graphicFrameLocks noChangeAspect="1"/>
          </p:cNvGraphicFramePr>
          <p:nvPr/>
        </p:nvGraphicFramePr>
        <p:xfrm>
          <a:off x="5234675" y="1831144"/>
          <a:ext cx="2141945" cy="356030"/>
        </p:xfrm>
        <a:graphic>
          <a:graphicData uri="http://schemas.openxmlformats.org/presentationml/2006/ole">
            <mc:AlternateContent xmlns:mc="http://schemas.openxmlformats.org/markup-compatibility/2006">
              <mc:Choice xmlns:v="urn:schemas-microsoft-com:vml" Requires="v">
                <p:oleObj spid="_x0000_s21539" name="公式" r:id="rId2" imgW="1485265" imgH="254000" progId="">
                  <p:embed/>
                </p:oleObj>
              </mc:Choice>
              <mc:Fallback>
                <p:oleObj name="公式" r:id="rId2" imgW="1485265" imgH="254000" progId="">
                  <p:embed/>
                  <p:pic>
                    <p:nvPicPr>
                      <p:cNvPr id="0" name="Object 6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34675" y="1831144"/>
                        <a:ext cx="2141945" cy="356030"/>
                      </a:xfrm>
                      <a:prstGeom prst="rect">
                        <a:avLst/>
                      </a:prstGeom>
                      <a:noFill/>
                      <a:extLst>
                        <a:ext uri="{909E8E84-426E-40DD-AFC4-6F175D3DCCD1}">
                          <a14:hiddenFill xmlns:a14="http://schemas.microsoft.com/office/drawing/2010/main">
                            <a:solidFill>
                              <a:srgbClr val="FFFF66"/>
                            </a:solidFill>
                          </a14:hiddenFill>
                        </a:ext>
                      </a:extLst>
                    </p:spPr>
                  </p:pic>
                </p:oleObj>
              </mc:Fallback>
            </mc:AlternateContent>
          </a:graphicData>
        </a:graphic>
      </p:graphicFrame>
      <p:graphicFrame>
        <p:nvGraphicFramePr>
          <p:cNvPr id="49" name="Object 61"/>
          <p:cNvGraphicFramePr>
            <a:graphicFrameLocks noChangeAspect="1"/>
          </p:cNvGraphicFramePr>
          <p:nvPr/>
        </p:nvGraphicFramePr>
        <p:xfrm>
          <a:off x="5234675" y="2235592"/>
          <a:ext cx="2141945" cy="390280"/>
        </p:xfrm>
        <a:graphic>
          <a:graphicData uri="http://schemas.openxmlformats.org/presentationml/2006/ole">
            <mc:AlternateContent xmlns:mc="http://schemas.openxmlformats.org/markup-compatibility/2006">
              <mc:Choice xmlns:v="urn:schemas-microsoft-com:vml" Requires="v">
                <p:oleObj spid="_x0000_s21540" name="公式" r:id="rId4" imgW="1497965" imgH="254000" progId="">
                  <p:embed/>
                </p:oleObj>
              </mc:Choice>
              <mc:Fallback>
                <p:oleObj name="公式" r:id="rId4" imgW="1497965" imgH="254000" progId="">
                  <p:embed/>
                  <p:pic>
                    <p:nvPicPr>
                      <p:cNvPr id="0" name="Object 6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34675" y="2235592"/>
                        <a:ext cx="2141945" cy="390280"/>
                      </a:xfrm>
                      <a:prstGeom prst="rect">
                        <a:avLst/>
                      </a:prstGeom>
                      <a:noFill/>
                      <a:extLst>
                        <a:ext uri="{909E8E84-426E-40DD-AFC4-6F175D3DCCD1}">
                          <a14:hiddenFill xmlns:a14="http://schemas.microsoft.com/office/drawing/2010/main">
                            <a:solidFill>
                              <a:srgbClr val="FFFF66"/>
                            </a:solidFill>
                          </a14:hiddenFill>
                        </a:ext>
                      </a:extLst>
                    </p:spPr>
                  </p:pic>
                </p:oleObj>
              </mc:Fallback>
            </mc:AlternateContent>
          </a:graphicData>
        </a:graphic>
      </p:graphicFrame>
      <p:grpSp>
        <p:nvGrpSpPr>
          <p:cNvPr id="115" name="组合 114"/>
          <p:cNvGrpSpPr/>
          <p:nvPr/>
        </p:nvGrpSpPr>
        <p:grpSpPr>
          <a:xfrm>
            <a:off x="1249496" y="3890517"/>
            <a:ext cx="1986990" cy="954107"/>
            <a:chOff x="1915244" y="3631485"/>
            <a:chExt cx="1986990" cy="954107"/>
          </a:xfrm>
        </p:grpSpPr>
        <p:sp>
          <p:nvSpPr>
            <p:cNvPr id="84" name="TextBox 83"/>
            <p:cNvSpPr txBox="1"/>
            <p:nvPr/>
          </p:nvSpPr>
          <p:spPr>
            <a:xfrm>
              <a:off x="1915244" y="3631485"/>
              <a:ext cx="314510" cy="954107"/>
            </a:xfrm>
            <a:prstGeom prst="rect">
              <a:avLst/>
            </a:prstGeom>
            <a:noFill/>
          </p:spPr>
          <p:txBody>
            <a:bodyPr wrap="none" rtlCol="0">
              <a:spAutoFit/>
            </a:bodyPr>
            <a:lstStyle/>
            <a:p>
              <a:r>
                <a:rPr lang="en-US" altLang="zh-CN" sz="1400" b="1" i="1" dirty="0">
                  <a:latin typeface="Times New Roman" panose="02020603050405020304" pitchFamily="18" charset="0"/>
                  <a:cs typeface="Times New Roman" panose="02020603050405020304" pitchFamily="18" charset="0"/>
                </a:rPr>
                <a:t>I</a:t>
              </a:r>
              <a:r>
                <a:rPr lang="en-US" altLang="zh-CN" sz="1400" b="1" baseline="-25000" dirty="0">
                  <a:latin typeface="Times New Roman" panose="02020603050405020304" pitchFamily="18" charset="0"/>
                  <a:cs typeface="Times New Roman" panose="02020603050405020304" pitchFamily="18" charset="0"/>
                </a:rPr>
                <a:t>0</a:t>
              </a:r>
              <a:endParaRPr lang="en-US" altLang="zh-CN" sz="1400" b="1" baseline="-25000" dirty="0">
                <a:latin typeface="Times New Roman" panose="02020603050405020304" pitchFamily="18" charset="0"/>
                <a:cs typeface="Times New Roman" panose="02020603050405020304" pitchFamily="18" charset="0"/>
              </a:endParaRPr>
            </a:p>
            <a:p>
              <a:r>
                <a:rPr lang="en-US" altLang="zh-CN" sz="1400" b="1" i="1" dirty="0">
                  <a:latin typeface="Times New Roman" panose="02020603050405020304" pitchFamily="18" charset="0"/>
                  <a:cs typeface="Times New Roman" panose="02020603050405020304" pitchFamily="18" charset="0"/>
                </a:rPr>
                <a:t>I</a:t>
              </a:r>
              <a:r>
                <a:rPr lang="en-US" altLang="zh-CN" sz="1400" b="1" baseline="-25000" dirty="0">
                  <a:latin typeface="Times New Roman" panose="02020603050405020304" pitchFamily="18" charset="0"/>
                  <a:cs typeface="Times New Roman" panose="02020603050405020304" pitchFamily="18" charset="0"/>
                </a:rPr>
                <a:t>1</a:t>
              </a:r>
              <a:endParaRPr lang="en-US" altLang="zh-CN" sz="1400" b="1" baseline="-25000" dirty="0">
                <a:latin typeface="Times New Roman" panose="02020603050405020304" pitchFamily="18" charset="0"/>
                <a:cs typeface="Times New Roman" panose="02020603050405020304" pitchFamily="18" charset="0"/>
              </a:endParaRPr>
            </a:p>
            <a:p>
              <a:r>
                <a:rPr lang="en-US" altLang="zh-CN" sz="1400" b="1" i="1" dirty="0">
                  <a:latin typeface="Times New Roman" panose="02020603050405020304" pitchFamily="18" charset="0"/>
                  <a:cs typeface="Times New Roman" panose="02020603050405020304" pitchFamily="18" charset="0"/>
                </a:rPr>
                <a:t>I</a:t>
              </a:r>
              <a:r>
                <a:rPr lang="en-US" altLang="zh-CN" sz="1400" b="1" baseline="-25000" dirty="0">
                  <a:latin typeface="Times New Roman" panose="02020603050405020304" pitchFamily="18" charset="0"/>
                  <a:cs typeface="Times New Roman" panose="02020603050405020304" pitchFamily="18" charset="0"/>
                </a:rPr>
                <a:t>2</a:t>
              </a:r>
              <a:endParaRPr lang="en-US" altLang="zh-CN" sz="1400" b="1" dirty="0">
                <a:latin typeface="Times New Roman" panose="02020603050405020304" pitchFamily="18" charset="0"/>
                <a:cs typeface="Times New Roman" panose="02020603050405020304" pitchFamily="18" charset="0"/>
              </a:endParaRPr>
            </a:p>
            <a:p>
              <a:r>
                <a:rPr lang="en-US" altLang="zh-CN" sz="1400" b="1" i="1" dirty="0">
                  <a:latin typeface="Times New Roman" panose="02020603050405020304" pitchFamily="18" charset="0"/>
                  <a:cs typeface="Times New Roman" panose="02020603050405020304" pitchFamily="18" charset="0"/>
                </a:rPr>
                <a:t>I</a:t>
              </a:r>
              <a:r>
                <a:rPr lang="en-US" altLang="zh-CN" sz="1400" b="1" baseline="-25000" dirty="0">
                  <a:latin typeface="Times New Roman" panose="02020603050405020304" pitchFamily="18" charset="0"/>
                  <a:cs typeface="Times New Roman" panose="02020603050405020304" pitchFamily="18" charset="0"/>
                </a:rPr>
                <a:t>3</a:t>
              </a:r>
              <a:endParaRPr lang="zh-CN" altLang="en-US" sz="1400" b="1" baseline="-25000" dirty="0">
                <a:latin typeface="Times New Roman" panose="02020603050405020304" pitchFamily="18" charset="0"/>
                <a:cs typeface="Times New Roman" panose="02020603050405020304" pitchFamily="18" charset="0"/>
              </a:endParaRPr>
            </a:p>
          </p:txBody>
        </p:sp>
        <p:sp>
          <p:nvSpPr>
            <p:cNvPr id="90" name="TextBox 89"/>
            <p:cNvSpPr txBox="1"/>
            <p:nvPr/>
          </p:nvSpPr>
          <p:spPr>
            <a:xfrm>
              <a:off x="3549252" y="3799928"/>
              <a:ext cx="352982" cy="666849"/>
            </a:xfrm>
            <a:prstGeom prst="rect">
              <a:avLst/>
            </a:prstGeom>
            <a:noFill/>
          </p:spPr>
          <p:txBody>
            <a:bodyPr wrap="none" rtlCol="0">
              <a:spAutoFit/>
            </a:bodyPr>
            <a:lstStyle/>
            <a:p>
              <a:r>
                <a:rPr lang="en-US" altLang="zh-CN" sz="1400" b="1" i="1" dirty="0">
                  <a:latin typeface="Times New Roman" panose="02020603050405020304" pitchFamily="18" charset="0"/>
                  <a:cs typeface="Times New Roman" panose="02020603050405020304" pitchFamily="18" charset="0"/>
                </a:rPr>
                <a:t>Y</a:t>
              </a:r>
              <a:r>
                <a:rPr lang="en-US" altLang="zh-CN" sz="1400" b="1" baseline="-25000" dirty="0">
                  <a:latin typeface="Times New Roman" panose="02020603050405020304" pitchFamily="18" charset="0"/>
                  <a:cs typeface="Times New Roman" panose="02020603050405020304" pitchFamily="18" charset="0"/>
                </a:rPr>
                <a:t>0</a:t>
              </a:r>
              <a:endParaRPr lang="en-US" altLang="zh-CN" sz="1400" b="1" baseline="-25000" dirty="0">
                <a:latin typeface="Times New Roman" panose="02020603050405020304" pitchFamily="18" charset="0"/>
                <a:cs typeface="Times New Roman" panose="02020603050405020304" pitchFamily="18" charset="0"/>
              </a:endParaRPr>
            </a:p>
            <a:p>
              <a:endParaRPr lang="en-US" altLang="zh-CN" sz="1400" b="1" baseline="-25000" dirty="0">
                <a:latin typeface="Times New Roman" panose="02020603050405020304" pitchFamily="18" charset="0"/>
                <a:cs typeface="Times New Roman" panose="02020603050405020304" pitchFamily="18" charset="0"/>
              </a:endParaRPr>
            </a:p>
            <a:p>
              <a:r>
                <a:rPr lang="en-US" altLang="zh-CN" sz="1400" b="1" i="1" dirty="0">
                  <a:latin typeface="Times New Roman" panose="02020603050405020304" pitchFamily="18" charset="0"/>
                  <a:cs typeface="Times New Roman" panose="02020603050405020304" pitchFamily="18" charset="0"/>
                </a:rPr>
                <a:t>Y</a:t>
              </a:r>
              <a:r>
                <a:rPr lang="en-US" altLang="zh-CN" sz="1400" b="1" baseline="-25000" dirty="0">
                  <a:latin typeface="Times New Roman" panose="02020603050405020304" pitchFamily="18" charset="0"/>
                  <a:cs typeface="Times New Roman" panose="02020603050405020304" pitchFamily="18" charset="0"/>
                </a:rPr>
                <a:t>1</a:t>
              </a:r>
              <a:endParaRPr lang="zh-CN" altLang="en-US" sz="1400" b="1" baseline="-25000" dirty="0">
                <a:latin typeface="Times New Roman" panose="02020603050405020304" pitchFamily="18" charset="0"/>
                <a:cs typeface="Times New Roman" panose="02020603050405020304" pitchFamily="18" charset="0"/>
              </a:endParaRPr>
            </a:p>
          </p:txBody>
        </p:sp>
        <p:grpSp>
          <p:nvGrpSpPr>
            <p:cNvPr id="114" name="组合 113"/>
            <p:cNvGrpSpPr/>
            <p:nvPr/>
          </p:nvGrpSpPr>
          <p:grpSpPr>
            <a:xfrm>
              <a:off x="2181726" y="3814968"/>
              <a:ext cx="309176" cy="636270"/>
              <a:chOff x="2023802" y="3814968"/>
              <a:chExt cx="467100" cy="636270"/>
            </a:xfrm>
          </p:grpSpPr>
          <p:cxnSp>
            <p:nvCxnSpPr>
              <p:cNvPr id="101" name="直接箭头连接符 100"/>
              <p:cNvCxnSpPr/>
              <p:nvPr/>
            </p:nvCxnSpPr>
            <p:spPr>
              <a:xfrm>
                <a:off x="2023802" y="3814968"/>
                <a:ext cx="46710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3" name="直接箭头连接符 102"/>
              <p:cNvCxnSpPr/>
              <p:nvPr/>
            </p:nvCxnSpPr>
            <p:spPr>
              <a:xfrm>
                <a:off x="2023802" y="4027058"/>
                <a:ext cx="46710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6" name="直接箭头连接符 105"/>
              <p:cNvCxnSpPr/>
              <p:nvPr/>
            </p:nvCxnSpPr>
            <p:spPr>
              <a:xfrm>
                <a:off x="2023802" y="4451238"/>
                <a:ext cx="46710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0" name="直接箭头连接符 109"/>
              <p:cNvCxnSpPr/>
              <p:nvPr/>
            </p:nvCxnSpPr>
            <p:spPr>
              <a:xfrm>
                <a:off x="2023802" y="4239148"/>
                <a:ext cx="46710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grpSp>
          <p:nvGrpSpPr>
            <p:cNvPr id="113" name="组合 112"/>
            <p:cNvGrpSpPr/>
            <p:nvPr/>
          </p:nvGrpSpPr>
          <p:grpSpPr>
            <a:xfrm>
              <a:off x="3287089" y="3970911"/>
              <a:ext cx="354440" cy="324398"/>
              <a:chOff x="3531760" y="3970911"/>
              <a:chExt cx="467100" cy="324398"/>
            </a:xfrm>
          </p:grpSpPr>
          <p:cxnSp>
            <p:nvCxnSpPr>
              <p:cNvPr id="111" name="直接箭头连接符 110"/>
              <p:cNvCxnSpPr/>
              <p:nvPr/>
            </p:nvCxnSpPr>
            <p:spPr>
              <a:xfrm>
                <a:off x="3531760" y="3970911"/>
                <a:ext cx="46710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2" name="直接箭头连接符 111"/>
              <p:cNvCxnSpPr/>
              <p:nvPr/>
            </p:nvCxnSpPr>
            <p:spPr>
              <a:xfrm>
                <a:off x="3531760" y="4295309"/>
                <a:ext cx="46710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82" name="圆角矩形 81"/>
            <p:cNvSpPr/>
            <p:nvPr/>
          </p:nvSpPr>
          <p:spPr>
            <a:xfrm>
              <a:off x="2503302" y="3685428"/>
              <a:ext cx="849498" cy="895350"/>
            </a:xfrm>
            <a:prstGeom prst="roundRect">
              <a:avLst>
                <a:gd name="adj" fmla="val 0"/>
              </a:avLst>
            </a:prstGeom>
            <a:solidFill>
              <a:schemeClr val="accent2">
                <a:lumMod val="20000"/>
                <a:lumOff val="80000"/>
              </a:schemeClr>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solidFill>
                    <a:srgbClr val="6600FF"/>
                  </a:solidFill>
                  <a:latin typeface="黑体" panose="02010609060101010101" pitchFamily="49" charset="-122"/>
                  <a:ea typeface="黑体" panose="02010609060101010101" pitchFamily="49" charset="-122"/>
                </a:rPr>
                <a:t>4</a:t>
              </a:r>
              <a:r>
                <a:rPr lang="zh-CN" altLang="en-US" sz="1600" dirty="0">
                  <a:solidFill>
                    <a:srgbClr val="6600FF"/>
                  </a:solidFill>
                  <a:latin typeface="黑体" panose="02010609060101010101" pitchFamily="49" charset="-122"/>
                  <a:ea typeface="黑体" panose="02010609060101010101" pitchFamily="49" charset="-122"/>
                </a:rPr>
                <a:t>线</a:t>
              </a:r>
              <a:r>
                <a:rPr lang="en-US" altLang="zh-CN" sz="1600" dirty="0">
                  <a:solidFill>
                    <a:srgbClr val="6600FF"/>
                  </a:solidFill>
                  <a:latin typeface="黑体" panose="02010609060101010101" pitchFamily="49" charset="-122"/>
                  <a:ea typeface="黑体" panose="02010609060101010101" pitchFamily="49" charset="-122"/>
                </a:rPr>
                <a:t>-2</a:t>
              </a:r>
              <a:r>
                <a:rPr lang="zh-CN" altLang="en-US" sz="1600" dirty="0">
                  <a:solidFill>
                    <a:srgbClr val="6600FF"/>
                  </a:solidFill>
                  <a:latin typeface="黑体" panose="02010609060101010101" pitchFamily="49" charset="-122"/>
                  <a:ea typeface="黑体" panose="02010609060101010101" pitchFamily="49" charset="-122"/>
                </a:rPr>
                <a:t>线编码器</a:t>
              </a:r>
              <a:endParaRPr lang="zh-CN" altLang="en-US" sz="1600" dirty="0">
                <a:solidFill>
                  <a:srgbClr val="6600FF"/>
                </a:solidFill>
                <a:latin typeface="黑体" panose="02010609060101010101" pitchFamily="49" charset="-122"/>
                <a:ea typeface="黑体" panose="02010609060101010101" pitchFamily="49" charset="-122"/>
              </a:endParaRPr>
            </a:p>
          </p:txBody>
        </p:sp>
      </p:grpSp>
      <p:sp>
        <p:nvSpPr>
          <p:cNvPr id="58" name="下箭头 57"/>
          <p:cNvSpPr/>
          <p:nvPr/>
        </p:nvSpPr>
        <p:spPr>
          <a:xfrm>
            <a:off x="6063331" y="2742045"/>
            <a:ext cx="484632" cy="21226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p:nvGrpSpPr>
        <p:grpSpPr>
          <a:xfrm>
            <a:off x="4877067" y="3001428"/>
            <a:ext cx="2857161" cy="2344149"/>
            <a:chOff x="4745040" y="2767838"/>
            <a:chExt cx="2857161" cy="2344149"/>
          </a:xfrm>
        </p:grpSpPr>
        <p:sp>
          <p:nvSpPr>
            <p:cNvPr id="131" name="AutoShape 8"/>
            <p:cNvSpPr>
              <a:spLocks noChangeArrowheads="1"/>
            </p:cNvSpPr>
            <p:nvPr/>
          </p:nvSpPr>
          <p:spPr bwMode="auto">
            <a:xfrm>
              <a:off x="4745040" y="2767838"/>
              <a:ext cx="2857161" cy="2344149"/>
            </a:xfrm>
            <a:prstGeom prst="roundRect">
              <a:avLst>
                <a:gd name="adj" fmla="val 2731"/>
              </a:avLst>
            </a:prstGeom>
            <a:solidFill>
              <a:schemeClr val="accent1">
                <a:lumMod val="20000"/>
                <a:lumOff val="80000"/>
              </a:schemeClr>
            </a:solidFill>
            <a:ln w="9525">
              <a:solidFill>
                <a:schemeClr val="tx1"/>
              </a:solidFill>
              <a:miter lim="800000"/>
            </a:ln>
          </p:spPr>
          <p:txBody>
            <a:bodyPr wrap="none" anchor="ctr"/>
            <a:lstStyle/>
            <a:p>
              <a:endParaRPr lang="zh-CN" altLang="en-US" sz="2000">
                <a:solidFill>
                  <a:srgbClr val="000000"/>
                </a:solidFill>
              </a:endParaRPr>
            </a:p>
          </p:txBody>
        </p:sp>
        <p:graphicFrame>
          <p:nvGraphicFramePr>
            <p:cNvPr id="4" name="对象 3"/>
            <p:cNvGraphicFramePr>
              <a:graphicFrameLocks noChangeAspect="1"/>
            </p:cNvGraphicFramePr>
            <p:nvPr/>
          </p:nvGraphicFramePr>
          <p:xfrm>
            <a:off x="4861744" y="2828297"/>
            <a:ext cx="2687062" cy="2283383"/>
          </p:xfrm>
          <a:graphic>
            <a:graphicData uri="http://schemas.openxmlformats.org/presentationml/2006/ole">
              <mc:AlternateContent xmlns:mc="http://schemas.openxmlformats.org/markup-compatibility/2006">
                <mc:Choice xmlns:v="urn:schemas-microsoft-com:vml" Requires="v">
                  <p:oleObj spid="_x0000_s21541" name="Visio" r:id="rId6" imgW="1981200" imgH="1685925" progId="">
                    <p:embed/>
                  </p:oleObj>
                </mc:Choice>
                <mc:Fallback>
                  <p:oleObj name="Visio" r:id="rId6" imgW="1981200" imgH="1685925" progId="">
                    <p:embed/>
                    <p:pic>
                      <p:nvPicPr>
                        <p:cNvPr id="0" name="对象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861744" y="2828297"/>
                          <a:ext cx="2687062" cy="228338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39" name="圆角矩形 38"/>
          <p:cNvSpPr/>
          <p:nvPr/>
        </p:nvSpPr>
        <p:spPr>
          <a:xfrm>
            <a:off x="866802" y="2611155"/>
            <a:ext cx="2763248" cy="312821"/>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圆角矩形 49"/>
          <p:cNvSpPr/>
          <p:nvPr/>
        </p:nvSpPr>
        <p:spPr>
          <a:xfrm>
            <a:off x="866802" y="2953956"/>
            <a:ext cx="2763248" cy="312821"/>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圆角矩形 50"/>
          <p:cNvSpPr/>
          <p:nvPr/>
        </p:nvSpPr>
        <p:spPr>
          <a:xfrm>
            <a:off x="866802" y="3323501"/>
            <a:ext cx="2763248" cy="312821"/>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圆角矩形 52"/>
          <p:cNvSpPr/>
          <p:nvPr/>
        </p:nvSpPr>
        <p:spPr>
          <a:xfrm>
            <a:off x="854243" y="2235592"/>
            <a:ext cx="1816769" cy="1423400"/>
          </a:xfrm>
          <a:prstGeom prst="roundRect">
            <a:avLst>
              <a:gd name="adj" fmla="val 2801"/>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 calcmode="lin" valueType="num">
                                      <p:cBhvr additive="base">
                                        <p:cTn id="7" dur="1000"/>
                                        <p:tgtEl>
                                          <p:spTgt spid="43"/>
                                        </p:tgtEl>
                                        <p:attrNameLst>
                                          <p:attrName>ppt_y</p:attrName>
                                        </p:attrNameLst>
                                      </p:cBhvr>
                                      <p:tavLst>
                                        <p:tav tm="0">
                                          <p:val>
                                            <p:strVal val="#ppt_y-#ppt_h*1.125000"/>
                                          </p:val>
                                        </p:tav>
                                        <p:tav tm="100000">
                                          <p:val>
                                            <p:strVal val="#ppt_y"/>
                                          </p:val>
                                        </p:tav>
                                      </p:tavLst>
                                    </p:anim>
                                    <p:animEffect transition="in" filter="wipe(down)">
                                      <p:cBhvr>
                                        <p:cTn id="8" dur="1000"/>
                                        <p:tgtEl>
                                          <p:spTgt spid="43"/>
                                        </p:tgtEl>
                                      </p:cBhvr>
                                    </p:animEffect>
                                  </p:childTnLst>
                                  <p:subTnLst>
                                    <p:set>
                                      <p:cBhvr override="childStyle">
                                        <p:cTn dur="1" fill="hold" display="0" masterRel="nextClick" afterEffect="1"/>
                                        <p:tgtEl>
                                          <p:spTgt spid="43"/>
                                        </p:tgtEl>
                                        <p:attrNameLst>
                                          <p:attrName>style.visibility</p:attrName>
                                        </p:attrNameLst>
                                      </p:cBhvr>
                                      <p:to>
                                        <p:strVal val="hidden"/>
                                      </p:to>
                                    </p:set>
                                  </p:subTnLst>
                                </p:cTn>
                              </p:par>
                            </p:childTnLst>
                          </p:cTn>
                        </p:par>
                      </p:childTnLst>
                    </p:cTn>
                  </p:par>
                  <p:par>
                    <p:cTn id="9" fill="hold">
                      <p:stCondLst>
                        <p:cond delay="indefinite"/>
                      </p:stCondLst>
                      <p:childTnLst>
                        <p:par>
                          <p:cTn id="10" fill="hold">
                            <p:stCondLst>
                              <p:cond delay="0"/>
                            </p:stCondLst>
                            <p:childTnLst>
                              <p:par>
                                <p:cTn id="11" presetID="12" presetClass="entr" presetSubtype="1" fill="hold" grpId="0" nodeType="clickEffect">
                                  <p:stCondLst>
                                    <p:cond delay="0"/>
                                  </p:stCondLst>
                                  <p:childTnLst>
                                    <p:set>
                                      <p:cBhvr>
                                        <p:cTn id="12" dur="1" fill="hold">
                                          <p:stCondLst>
                                            <p:cond delay="0"/>
                                          </p:stCondLst>
                                        </p:cTn>
                                        <p:tgtEl>
                                          <p:spTgt spid="39"/>
                                        </p:tgtEl>
                                        <p:attrNameLst>
                                          <p:attrName>style.visibility</p:attrName>
                                        </p:attrNameLst>
                                      </p:cBhvr>
                                      <p:to>
                                        <p:strVal val="visible"/>
                                      </p:to>
                                    </p:set>
                                    <p:anim calcmode="lin" valueType="num">
                                      <p:cBhvr additive="base">
                                        <p:cTn id="13" dur="1000"/>
                                        <p:tgtEl>
                                          <p:spTgt spid="39"/>
                                        </p:tgtEl>
                                        <p:attrNameLst>
                                          <p:attrName>ppt_y</p:attrName>
                                        </p:attrNameLst>
                                      </p:cBhvr>
                                      <p:tavLst>
                                        <p:tav tm="0">
                                          <p:val>
                                            <p:strVal val="#ppt_y-#ppt_h*1.125000"/>
                                          </p:val>
                                        </p:tav>
                                        <p:tav tm="100000">
                                          <p:val>
                                            <p:strVal val="#ppt_y"/>
                                          </p:val>
                                        </p:tav>
                                      </p:tavLst>
                                    </p:anim>
                                    <p:animEffect transition="in" filter="wipe(down)">
                                      <p:cBhvr>
                                        <p:cTn id="14" dur="1000"/>
                                        <p:tgtEl>
                                          <p:spTgt spid="39"/>
                                        </p:tgtEl>
                                      </p:cBhvr>
                                    </p:animEffect>
                                  </p:childTnLst>
                                  <p:subTnLst>
                                    <p:set>
                                      <p:cBhvr override="childStyle">
                                        <p:cTn dur="1" fill="hold" display="0" masterRel="nextClick" afterEffect="1"/>
                                        <p:tgtEl>
                                          <p:spTgt spid="39"/>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2" presetClass="entr" presetSubtype="1" fill="hold" grpId="0" nodeType="clickEffect">
                                  <p:stCondLst>
                                    <p:cond delay="0"/>
                                  </p:stCondLst>
                                  <p:childTnLst>
                                    <p:set>
                                      <p:cBhvr>
                                        <p:cTn id="18" dur="1" fill="hold">
                                          <p:stCondLst>
                                            <p:cond delay="0"/>
                                          </p:stCondLst>
                                        </p:cTn>
                                        <p:tgtEl>
                                          <p:spTgt spid="50"/>
                                        </p:tgtEl>
                                        <p:attrNameLst>
                                          <p:attrName>style.visibility</p:attrName>
                                        </p:attrNameLst>
                                      </p:cBhvr>
                                      <p:to>
                                        <p:strVal val="visible"/>
                                      </p:to>
                                    </p:set>
                                    <p:anim calcmode="lin" valueType="num">
                                      <p:cBhvr additive="base">
                                        <p:cTn id="19" dur="1000"/>
                                        <p:tgtEl>
                                          <p:spTgt spid="50"/>
                                        </p:tgtEl>
                                        <p:attrNameLst>
                                          <p:attrName>ppt_y</p:attrName>
                                        </p:attrNameLst>
                                      </p:cBhvr>
                                      <p:tavLst>
                                        <p:tav tm="0">
                                          <p:val>
                                            <p:strVal val="#ppt_y-#ppt_h*1.125000"/>
                                          </p:val>
                                        </p:tav>
                                        <p:tav tm="100000">
                                          <p:val>
                                            <p:strVal val="#ppt_y"/>
                                          </p:val>
                                        </p:tav>
                                      </p:tavLst>
                                    </p:anim>
                                    <p:animEffect transition="in" filter="wipe(down)">
                                      <p:cBhvr>
                                        <p:cTn id="20" dur="1000"/>
                                        <p:tgtEl>
                                          <p:spTgt spid="50"/>
                                        </p:tgtEl>
                                      </p:cBhvr>
                                    </p:animEffect>
                                  </p:childTnLst>
                                  <p:subTnLst>
                                    <p:set>
                                      <p:cBhvr override="childStyle">
                                        <p:cTn dur="1" fill="hold" display="0" masterRel="nextClick" afterEffect="1"/>
                                        <p:tgtEl>
                                          <p:spTgt spid="50"/>
                                        </p:tgtEl>
                                        <p:attrNameLst>
                                          <p:attrName>style.visibility</p:attrName>
                                        </p:attrNameLst>
                                      </p:cBhvr>
                                      <p:to>
                                        <p:strVal val="hidden"/>
                                      </p:to>
                                    </p:set>
                                  </p:subTnLst>
                                </p:cTn>
                              </p:par>
                            </p:childTnLst>
                          </p:cTn>
                        </p:par>
                      </p:childTnLst>
                    </p:cTn>
                  </p:par>
                  <p:par>
                    <p:cTn id="21" fill="hold">
                      <p:stCondLst>
                        <p:cond delay="indefinite"/>
                      </p:stCondLst>
                      <p:childTnLst>
                        <p:par>
                          <p:cTn id="22" fill="hold">
                            <p:stCondLst>
                              <p:cond delay="0"/>
                            </p:stCondLst>
                            <p:childTnLst>
                              <p:par>
                                <p:cTn id="23" presetID="12" presetClass="entr" presetSubtype="1" fill="hold" grpId="0" nodeType="clickEffect">
                                  <p:stCondLst>
                                    <p:cond delay="0"/>
                                  </p:stCondLst>
                                  <p:childTnLst>
                                    <p:set>
                                      <p:cBhvr>
                                        <p:cTn id="24" dur="1" fill="hold">
                                          <p:stCondLst>
                                            <p:cond delay="0"/>
                                          </p:stCondLst>
                                        </p:cTn>
                                        <p:tgtEl>
                                          <p:spTgt spid="51"/>
                                        </p:tgtEl>
                                        <p:attrNameLst>
                                          <p:attrName>style.visibility</p:attrName>
                                        </p:attrNameLst>
                                      </p:cBhvr>
                                      <p:to>
                                        <p:strVal val="visible"/>
                                      </p:to>
                                    </p:set>
                                    <p:anim calcmode="lin" valueType="num">
                                      <p:cBhvr additive="base">
                                        <p:cTn id="25" dur="1000"/>
                                        <p:tgtEl>
                                          <p:spTgt spid="51"/>
                                        </p:tgtEl>
                                        <p:attrNameLst>
                                          <p:attrName>ppt_y</p:attrName>
                                        </p:attrNameLst>
                                      </p:cBhvr>
                                      <p:tavLst>
                                        <p:tav tm="0">
                                          <p:val>
                                            <p:strVal val="#ppt_y-#ppt_h*1.125000"/>
                                          </p:val>
                                        </p:tav>
                                        <p:tav tm="100000">
                                          <p:val>
                                            <p:strVal val="#ppt_y"/>
                                          </p:val>
                                        </p:tav>
                                      </p:tavLst>
                                    </p:anim>
                                    <p:animEffect transition="in" filter="wipe(down)">
                                      <p:cBhvr>
                                        <p:cTn id="26" dur="1000"/>
                                        <p:tgtEl>
                                          <p:spTgt spid="51"/>
                                        </p:tgtEl>
                                      </p:cBhvr>
                                    </p:animEffect>
                                  </p:childTnLst>
                                  <p:subTnLst>
                                    <p:set>
                                      <p:cBhvr override="childStyle">
                                        <p:cTn dur="1" fill="hold" display="0" masterRel="nextClick" afterEffect="1"/>
                                        <p:tgtEl>
                                          <p:spTgt spid="51"/>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53"/>
                                        </p:tgtEl>
                                        <p:attrNameLst>
                                          <p:attrName>style.visibility</p:attrName>
                                        </p:attrNameLst>
                                      </p:cBhvr>
                                      <p:to>
                                        <p:strVal val="visible"/>
                                      </p:to>
                                    </p:set>
                                    <p:anim calcmode="lin" valueType="num">
                                      <p:cBhvr>
                                        <p:cTn id="31" dur="1000" fill="hold"/>
                                        <p:tgtEl>
                                          <p:spTgt spid="53"/>
                                        </p:tgtEl>
                                        <p:attrNameLst>
                                          <p:attrName>ppt_w</p:attrName>
                                        </p:attrNameLst>
                                      </p:cBhvr>
                                      <p:tavLst>
                                        <p:tav tm="0">
                                          <p:val>
                                            <p:fltVal val="0"/>
                                          </p:val>
                                        </p:tav>
                                        <p:tav tm="100000">
                                          <p:val>
                                            <p:strVal val="#ppt_w"/>
                                          </p:val>
                                        </p:tav>
                                      </p:tavLst>
                                    </p:anim>
                                    <p:anim calcmode="lin" valueType="num">
                                      <p:cBhvr>
                                        <p:cTn id="32" dur="1000" fill="hold"/>
                                        <p:tgtEl>
                                          <p:spTgt spid="53"/>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56"/>
                                        </p:tgtEl>
                                        <p:attrNameLst>
                                          <p:attrName>style.visibility</p:attrName>
                                        </p:attrNameLst>
                                      </p:cBhvr>
                                      <p:to>
                                        <p:strVal val="visible"/>
                                      </p:to>
                                    </p:set>
                                    <p:animEffect transition="in" filter="wipe(up)">
                                      <p:cBhvr>
                                        <p:cTn id="37" dur="1000"/>
                                        <p:tgtEl>
                                          <p:spTgt spid="56"/>
                                        </p:tgtEl>
                                      </p:cBhvr>
                                    </p:animEffect>
                                  </p:childTnLst>
                                </p:cTn>
                              </p:par>
                            </p:childTnLst>
                          </p:cTn>
                        </p:par>
                        <p:par>
                          <p:cTn id="38" fill="hold">
                            <p:stCondLst>
                              <p:cond delay="1000"/>
                            </p:stCondLst>
                            <p:childTnLst>
                              <p:par>
                                <p:cTn id="39" presetID="12" presetClass="entr" presetSubtype="4" fill="hold" nodeType="afterEffect">
                                  <p:stCondLst>
                                    <p:cond delay="0"/>
                                  </p:stCondLst>
                                  <p:childTnLst>
                                    <p:set>
                                      <p:cBhvr>
                                        <p:cTn id="40" dur="1" fill="hold">
                                          <p:stCondLst>
                                            <p:cond delay="0"/>
                                          </p:stCondLst>
                                        </p:cTn>
                                        <p:tgtEl>
                                          <p:spTgt spid="48"/>
                                        </p:tgtEl>
                                        <p:attrNameLst>
                                          <p:attrName>style.visibility</p:attrName>
                                        </p:attrNameLst>
                                      </p:cBhvr>
                                      <p:to>
                                        <p:strVal val="visible"/>
                                      </p:to>
                                    </p:set>
                                    <p:animEffect transition="in" filter="slide(fromBottom)">
                                      <p:cBhvr>
                                        <p:cTn id="41" dur="1000"/>
                                        <p:tgtEl>
                                          <p:spTgt spid="48"/>
                                        </p:tgtEl>
                                      </p:cBhvr>
                                    </p:animEffect>
                                  </p:childTnLst>
                                </p:cTn>
                              </p:par>
                            </p:childTnLst>
                          </p:cTn>
                        </p:par>
                        <p:par>
                          <p:cTn id="42" fill="hold">
                            <p:stCondLst>
                              <p:cond delay="2000"/>
                            </p:stCondLst>
                            <p:childTnLst>
                              <p:par>
                                <p:cTn id="43" presetID="12" presetClass="entr" presetSubtype="4" fill="hold" nodeType="afterEffect">
                                  <p:stCondLst>
                                    <p:cond delay="0"/>
                                  </p:stCondLst>
                                  <p:childTnLst>
                                    <p:set>
                                      <p:cBhvr>
                                        <p:cTn id="44" dur="1" fill="hold">
                                          <p:stCondLst>
                                            <p:cond delay="0"/>
                                          </p:stCondLst>
                                        </p:cTn>
                                        <p:tgtEl>
                                          <p:spTgt spid="49"/>
                                        </p:tgtEl>
                                        <p:attrNameLst>
                                          <p:attrName>style.visibility</p:attrName>
                                        </p:attrNameLst>
                                      </p:cBhvr>
                                      <p:to>
                                        <p:strVal val="visible"/>
                                      </p:to>
                                    </p:set>
                                    <p:animEffect transition="in" filter="slide(fromBottom)">
                                      <p:cBhvr>
                                        <p:cTn id="45" dur="1000"/>
                                        <p:tgtEl>
                                          <p:spTgt spid="49"/>
                                        </p:tgtEl>
                                      </p:cBhvr>
                                    </p:animEffect>
                                  </p:childTnLst>
                                </p:cTn>
                              </p:par>
                            </p:childTnLst>
                          </p:cTn>
                        </p:par>
                      </p:childTnLst>
                    </p:cTn>
                  </p:par>
                  <p:par>
                    <p:cTn id="46" fill="hold">
                      <p:stCondLst>
                        <p:cond delay="indefinite"/>
                      </p:stCondLst>
                      <p:childTnLst>
                        <p:par>
                          <p:cTn id="47" fill="hold">
                            <p:stCondLst>
                              <p:cond delay="0"/>
                            </p:stCondLst>
                            <p:childTnLst>
                              <p:par>
                                <p:cTn id="48" presetID="12" presetClass="entr" presetSubtype="1" fill="hold" grpId="0" nodeType="clickEffect">
                                  <p:stCondLst>
                                    <p:cond delay="0"/>
                                  </p:stCondLst>
                                  <p:childTnLst>
                                    <p:set>
                                      <p:cBhvr>
                                        <p:cTn id="49" dur="1" fill="hold">
                                          <p:stCondLst>
                                            <p:cond delay="0"/>
                                          </p:stCondLst>
                                        </p:cTn>
                                        <p:tgtEl>
                                          <p:spTgt spid="58"/>
                                        </p:tgtEl>
                                        <p:attrNameLst>
                                          <p:attrName>style.visibility</p:attrName>
                                        </p:attrNameLst>
                                      </p:cBhvr>
                                      <p:to>
                                        <p:strVal val="visible"/>
                                      </p:to>
                                    </p:set>
                                    <p:animEffect transition="in" filter="slide(fromTop)">
                                      <p:cBhvr>
                                        <p:cTn id="50" dur="1000"/>
                                        <p:tgtEl>
                                          <p:spTgt spid="58"/>
                                        </p:tgtEl>
                                      </p:cBhvr>
                                    </p:animEffect>
                                  </p:childTnLst>
                                </p:cTn>
                              </p:par>
                            </p:childTnLst>
                          </p:cTn>
                        </p:par>
                        <p:par>
                          <p:cTn id="51" fill="hold">
                            <p:stCondLst>
                              <p:cond delay="1000"/>
                            </p:stCondLst>
                            <p:childTnLst>
                              <p:par>
                                <p:cTn id="52" presetID="12" presetClass="entr" presetSubtype="1" fill="hold" nodeType="afterEffect">
                                  <p:stCondLst>
                                    <p:cond delay="0"/>
                                  </p:stCondLst>
                                  <p:childTnLst>
                                    <p:set>
                                      <p:cBhvr>
                                        <p:cTn id="53" dur="1" fill="hold">
                                          <p:stCondLst>
                                            <p:cond delay="0"/>
                                          </p:stCondLst>
                                        </p:cTn>
                                        <p:tgtEl>
                                          <p:spTgt spid="5"/>
                                        </p:tgtEl>
                                        <p:attrNameLst>
                                          <p:attrName>style.visibility</p:attrName>
                                        </p:attrNameLst>
                                      </p:cBhvr>
                                      <p:to>
                                        <p:strVal val="visible"/>
                                      </p:to>
                                    </p:set>
                                    <p:anim calcmode="lin" valueType="num">
                                      <p:cBhvr additive="base">
                                        <p:cTn id="54" dur="1000"/>
                                        <p:tgtEl>
                                          <p:spTgt spid="5"/>
                                        </p:tgtEl>
                                        <p:attrNameLst>
                                          <p:attrName>ppt_y</p:attrName>
                                        </p:attrNameLst>
                                      </p:cBhvr>
                                      <p:tavLst>
                                        <p:tav tm="0">
                                          <p:val>
                                            <p:strVal val="#ppt_y-#ppt_h*1.125000"/>
                                          </p:val>
                                        </p:tav>
                                        <p:tav tm="100000">
                                          <p:val>
                                            <p:strVal val="#ppt_y"/>
                                          </p:val>
                                        </p:tav>
                                      </p:tavLst>
                                    </p:anim>
                                    <p:animEffect transition="in" filter="wipe(down)">
                                      <p:cBhvr>
                                        <p:cTn id="55"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animBg="1"/>
      <p:bldP spid="58" grpId="0" animBg="1"/>
      <p:bldP spid="39" grpId="0" animBg="1"/>
      <p:bldP spid="50" grpId="0" animBg="1"/>
      <p:bldP spid="51" grpId="0" animBg="1"/>
      <p:bldP spid="5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Group 64"/>
          <p:cNvGraphicFramePr>
            <a:graphicFrameLocks noGrp="1"/>
          </p:cNvGraphicFramePr>
          <p:nvPr/>
        </p:nvGraphicFramePr>
        <p:xfrm>
          <a:off x="850649" y="1278223"/>
          <a:ext cx="2786896" cy="2194560"/>
        </p:xfrm>
        <a:graphic>
          <a:graphicData uri="http://schemas.openxmlformats.org/drawingml/2006/table">
            <a:tbl>
              <a:tblPr/>
              <a:tblGrid>
                <a:gridCol w="464048"/>
                <a:gridCol w="462744"/>
                <a:gridCol w="464048"/>
                <a:gridCol w="469263"/>
                <a:gridCol w="462745"/>
                <a:gridCol w="464048"/>
              </a:tblGrid>
              <a:tr h="365760">
                <a:tc gridSpan="4">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latin typeface="方正姚体" panose="02010601030101010101" pitchFamily="2" charset="-122"/>
                          <a:ea typeface="方正姚体" panose="02010601030101010101" pitchFamily="2" charset="-122"/>
                        </a:rPr>
                        <a:t>输        入</a:t>
                      </a:r>
                      <a:endParaRPr kumimoji="0" lang="zh-CN" altLang="en-US" sz="1800" b="1" i="0" u="none" strike="noStrike" cap="none" normalizeH="0" baseline="0" dirty="0">
                        <a:ln>
                          <a:noFill/>
                        </a:ln>
                        <a:solidFill>
                          <a:srgbClr val="000000"/>
                        </a:solidFill>
                        <a:effectLst/>
                        <a:latin typeface="方正姚体" panose="02010601030101010101" pitchFamily="2" charset="-122"/>
                        <a:ea typeface="方正姚体" panose="02010601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hMerge="1">
                  <a:tcPr/>
                </a:tc>
                <a:tc hMerge="1">
                  <a:tcPr/>
                </a:tc>
                <a:tc hMerge="1">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latin typeface="方正姚体" panose="02010601030101010101" pitchFamily="2" charset="-122"/>
                          <a:ea typeface="方正姚体" panose="02010601030101010101" pitchFamily="2" charset="-122"/>
                        </a:rPr>
                        <a:t>输   出</a:t>
                      </a:r>
                      <a:endParaRPr kumimoji="0" lang="zh-CN" altLang="en-US" sz="1800" b="1" i="0" u="none" strike="noStrike" cap="none" normalizeH="0" baseline="0" dirty="0">
                        <a:ln>
                          <a:noFill/>
                        </a:ln>
                        <a:solidFill>
                          <a:srgbClr val="000000"/>
                        </a:solidFill>
                        <a:effectLst/>
                        <a:latin typeface="方正姚体" panose="02010601030101010101" pitchFamily="2" charset="-122"/>
                        <a:ea typeface="方正姚体" panose="02010601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hMerge="1">
                  <a:tcPr/>
                </a:tc>
              </a:tr>
              <a:tr h="36576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2</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3</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Y</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Y</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r>
              <a:tr h="36576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rgbClr val="FFFFFF"/>
                    </a:solidFill>
                  </a:tcPr>
                </a:tc>
              </a:tr>
              <a:tr h="36576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rgbClr val="FFFFFF"/>
                    </a:solidFill>
                  </a:tcPr>
                </a:tc>
              </a:tr>
              <a:tr h="36576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rgbClr val="FFFFFF"/>
                    </a:solidFill>
                  </a:tcPr>
                </a:tc>
              </a:tr>
              <a:tr h="36576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r>
            </a:tbl>
          </a:graphicData>
        </a:graphic>
      </p:graphicFrame>
      <p:sp>
        <p:nvSpPr>
          <p:cNvPr id="47" name="圆角矩形 46"/>
          <p:cNvSpPr/>
          <p:nvPr/>
        </p:nvSpPr>
        <p:spPr>
          <a:xfrm>
            <a:off x="874297" y="2049378"/>
            <a:ext cx="445169" cy="312821"/>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a:off x="1319465" y="2394284"/>
            <a:ext cx="445169" cy="312821"/>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圆角矩形 49"/>
          <p:cNvSpPr/>
          <p:nvPr/>
        </p:nvSpPr>
        <p:spPr>
          <a:xfrm>
            <a:off x="1776663" y="2747210"/>
            <a:ext cx="445169" cy="312821"/>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圆角矩形 50"/>
          <p:cNvSpPr/>
          <p:nvPr/>
        </p:nvSpPr>
        <p:spPr>
          <a:xfrm>
            <a:off x="2225845" y="3120190"/>
            <a:ext cx="445169" cy="312821"/>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五边形 125"/>
          <p:cNvSpPr/>
          <p:nvPr/>
        </p:nvSpPr>
        <p:spPr>
          <a:xfrm rot="5400000">
            <a:off x="6214571" y="2540992"/>
            <a:ext cx="296778" cy="484632"/>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3" name="组合 132"/>
          <p:cNvGrpSpPr/>
          <p:nvPr/>
        </p:nvGrpSpPr>
        <p:grpSpPr>
          <a:xfrm>
            <a:off x="5196013" y="2963732"/>
            <a:ext cx="2354139" cy="774082"/>
            <a:chOff x="4054679" y="2963732"/>
            <a:chExt cx="2354139" cy="774082"/>
          </a:xfrm>
        </p:grpSpPr>
        <p:sp>
          <p:nvSpPr>
            <p:cNvPr id="132" name="圆角矩形 131"/>
            <p:cNvSpPr/>
            <p:nvPr/>
          </p:nvSpPr>
          <p:spPr>
            <a:xfrm>
              <a:off x="4054679" y="2963732"/>
              <a:ext cx="2354139" cy="774082"/>
            </a:xfrm>
            <a:prstGeom prst="roundRect">
              <a:avLst>
                <a:gd name="adj" fmla="val 4386"/>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altLang="zh-CN" sz="14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a:p>
              <a:pPr algn="ctr"/>
              <a:endParaRPr lang="en-US" altLang="zh-CN" sz="14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a:p>
              <a:pPr algn="ctr"/>
              <a:r>
                <a:rPr lang="en-US" altLang="zh-CN"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Y</a:t>
              </a:r>
              <a:r>
                <a:rPr lang="en-US" altLang="zh-CN" b="1"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a:t>
              </a:r>
              <a:r>
                <a:rPr lang="en-US" altLang="zh-CN"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Y</a:t>
              </a:r>
              <a:r>
                <a:rPr lang="en-US" altLang="zh-CN" b="1"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0</a:t>
              </a:r>
              <a:r>
                <a:rPr lang="en-US" altLang="zh-CN"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=00</a:t>
              </a:r>
              <a:endParaRPr lang="zh-CN" altLang="en-US" b="1" dirty="0"/>
            </a:p>
          </p:txBody>
        </p:sp>
        <p:sp>
          <p:nvSpPr>
            <p:cNvPr id="130" name="圆角矩形 129"/>
            <p:cNvSpPr/>
            <p:nvPr/>
          </p:nvSpPr>
          <p:spPr>
            <a:xfrm>
              <a:off x="4102792" y="2999827"/>
              <a:ext cx="1080000" cy="324000"/>
            </a:xfrm>
            <a:prstGeom prst="roundRect">
              <a:avLst>
                <a:gd name="adj" fmla="val 4386"/>
              </a:avLst>
            </a:prstGeom>
            <a:solidFill>
              <a:srgbClr val="66FFCC"/>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400" b="1"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0</a:t>
              </a:r>
              <a:r>
                <a:rPr lang="en-US" altLang="zh-CN" sz="14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400" b="1"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a:t>
              </a:r>
              <a:r>
                <a:rPr lang="en-US" altLang="zh-CN" sz="14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400" b="1"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3</a:t>
              </a:r>
              <a:r>
                <a:rPr lang="en-US" altLang="zh-CN" sz="14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400" b="1"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4</a:t>
              </a:r>
              <a:r>
                <a:rPr lang="en-US" altLang="zh-CN" sz="14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=1000</a:t>
              </a:r>
              <a:endParaRPr lang="zh-CN" altLang="en-US" sz="1400" b="1" dirty="0">
                <a:solidFill>
                  <a:srgbClr val="0000FF"/>
                </a:solidFill>
              </a:endParaRPr>
            </a:p>
          </p:txBody>
        </p:sp>
        <p:sp>
          <p:nvSpPr>
            <p:cNvPr id="131" name="圆角矩形 130"/>
            <p:cNvSpPr/>
            <p:nvPr/>
          </p:nvSpPr>
          <p:spPr>
            <a:xfrm>
              <a:off x="5281895" y="2995816"/>
              <a:ext cx="1080000" cy="324000"/>
            </a:xfrm>
            <a:prstGeom prst="roundRect">
              <a:avLst>
                <a:gd name="adj" fmla="val 4386"/>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其他</a:t>
              </a:r>
              <a:r>
                <a:rPr lang="en-US" altLang="zh-CN" sz="14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12</a:t>
              </a:r>
              <a:r>
                <a:rPr lang="zh-CN" altLang="en-US" sz="14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种组合</a:t>
              </a:r>
              <a:endParaRPr lang="zh-CN" altLang="en-US" sz="1400" dirty="0"/>
            </a:p>
          </p:txBody>
        </p:sp>
      </p:grpSp>
      <p:grpSp>
        <p:nvGrpSpPr>
          <p:cNvPr id="143" name="组合 142"/>
          <p:cNvGrpSpPr/>
          <p:nvPr/>
        </p:nvGrpSpPr>
        <p:grpSpPr>
          <a:xfrm>
            <a:off x="725153" y="3903819"/>
            <a:ext cx="2993358" cy="882302"/>
            <a:chOff x="3996990" y="2735180"/>
            <a:chExt cx="2901640" cy="882302"/>
          </a:xfrm>
        </p:grpSpPr>
        <p:sp>
          <p:nvSpPr>
            <p:cNvPr id="144" name="圆角矩形 143"/>
            <p:cNvSpPr/>
            <p:nvPr/>
          </p:nvSpPr>
          <p:spPr>
            <a:xfrm>
              <a:off x="4203059" y="2855439"/>
              <a:ext cx="2695571" cy="762043"/>
            </a:xfrm>
            <a:prstGeom prst="roundRect">
              <a:avLst>
                <a:gd name="adj" fmla="val 4386"/>
              </a:avLst>
            </a:prstGeom>
            <a:solidFill>
              <a:schemeClr val="bg1"/>
            </a:solidFill>
            <a:ln w="28575">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8900"/>
              <a:r>
                <a:rPr lang="zh-CN" altLang="en-US" b="1" dirty="0">
                  <a:solidFill>
                    <a:srgbClr val="0000FF"/>
                  </a:solidFill>
                  <a:latin typeface="楷体" panose="02010609060101010101" pitchFamily="49" charset="-122"/>
                  <a:ea typeface="楷体" panose="02010609060101010101" pitchFamily="49" charset="-122"/>
                </a:rPr>
                <a:t>任何时刻都只能且必须有一个输入信号有效！</a:t>
              </a:r>
              <a:endParaRPr lang="zh-CN" altLang="en-US" b="1" dirty="0">
                <a:solidFill>
                  <a:srgbClr val="0000FF"/>
                </a:solidFill>
                <a:latin typeface="楷体" panose="02010609060101010101" pitchFamily="49" charset="-122"/>
                <a:ea typeface="楷体" panose="02010609060101010101" pitchFamily="49" charset="-122"/>
              </a:endParaRPr>
            </a:p>
          </p:txBody>
        </p:sp>
        <p:pic>
          <p:nvPicPr>
            <p:cNvPr id="145" name="Picture 32"/>
            <p:cNvPicPr>
              <a:picLocks noChangeAspect="1" noChangeArrowheads="1"/>
            </p:cNvPicPr>
            <p:nvPr/>
          </p:nvPicPr>
          <p:blipFill>
            <a:blip r:embed="rId1" cstate="print"/>
            <a:srcRect/>
            <a:stretch>
              <a:fillRect/>
            </a:stretch>
          </p:blipFill>
          <p:spPr bwMode="auto">
            <a:xfrm>
              <a:off x="3996990" y="2735180"/>
              <a:ext cx="412063" cy="441909"/>
            </a:xfrm>
            <a:prstGeom prst="rect">
              <a:avLst/>
            </a:prstGeom>
            <a:noFill/>
            <a:ln w="9525">
              <a:noFill/>
              <a:miter lim="800000"/>
              <a:headEnd/>
              <a:tailEnd/>
            </a:ln>
          </p:spPr>
        </p:pic>
      </p:grpSp>
      <p:grpSp>
        <p:nvGrpSpPr>
          <p:cNvPr id="28" name="组合 27"/>
          <p:cNvGrpSpPr/>
          <p:nvPr/>
        </p:nvGrpSpPr>
        <p:grpSpPr>
          <a:xfrm>
            <a:off x="4572000" y="3769849"/>
            <a:ext cx="3461945" cy="1017251"/>
            <a:chOff x="524518" y="3525252"/>
            <a:chExt cx="3461945" cy="1038320"/>
          </a:xfrm>
        </p:grpSpPr>
        <p:sp>
          <p:nvSpPr>
            <p:cNvPr id="29" name="圆角矩形 28"/>
            <p:cNvSpPr/>
            <p:nvPr/>
          </p:nvSpPr>
          <p:spPr>
            <a:xfrm>
              <a:off x="720388" y="3701655"/>
              <a:ext cx="3266075" cy="861917"/>
            </a:xfrm>
            <a:prstGeom prst="roundRect">
              <a:avLst>
                <a:gd name="adj" fmla="val 4386"/>
              </a:avLst>
            </a:prstGeom>
            <a:solidFill>
              <a:schemeClr val="bg1"/>
            </a:solidFill>
            <a:ln w="28575">
              <a:solidFill>
                <a:srgbClr val="336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8900"/>
              <a:r>
                <a:rPr lang="en-US" altLang="zh-CN" b="1" dirty="0">
                  <a:solidFill>
                    <a:srgbClr val="6600FF"/>
                  </a:solidFill>
                  <a:latin typeface="楷体" panose="02010609060101010101" pitchFamily="49" charset="-122"/>
                  <a:ea typeface="楷体" panose="02010609060101010101" pitchFamily="49" charset="-122"/>
                </a:rPr>
                <a:t>12</a:t>
              </a:r>
              <a:r>
                <a:rPr lang="zh-CN" altLang="en-US" b="1" dirty="0">
                  <a:solidFill>
                    <a:srgbClr val="6600FF"/>
                  </a:solidFill>
                  <a:latin typeface="楷体" panose="02010609060101010101" pitchFamily="49" charset="-122"/>
                  <a:ea typeface="楷体" panose="02010609060101010101" pitchFamily="49" charset="-122"/>
                </a:rPr>
                <a:t>种非正常编码输入与</a:t>
              </a:r>
              <a:r>
                <a:rPr lang="en-US" altLang="zh-CN" b="1" i="1" dirty="0">
                  <a:solidFill>
                    <a:srgbClr val="6600FF"/>
                  </a:solidFill>
                  <a:latin typeface="Times New Roman" panose="02020603050405020304" pitchFamily="18" charset="0"/>
                  <a:ea typeface="楷体" panose="02010609060101010101" pitchFamily="49" charset="-122"/>
                  <a:cs typeface="Times New Roman" panose="02020603050405020304" pitchFamily="18" charset="0"/>
                </a:rPr>
                <a:t>I</a:t>
              </a:r>
              <a:r>
                <a:rPr lang="en-US" altLang="zh-CN" b="1" baseline="-25000" dirty="0">
                  <a:solidFill>
                    <a:srgbClr val="6600FF"/>
                  </a:solidFill>
                  <a:latin typeface="Times New Roman" panose="02020603050405020304" pitchFamily="18" charset="0"/>
                  <a:ea typeface="楷体" panose="02010609060101010101" pitchFamily="49" charset="-122"/>
                  <a:cs typeface="Times New Roman" panose="02020603050405020304" pitchFamily="18" charset="0"/>
                </a:rPr>
                <a:t>0</a:t>
              </a:r>
              <a:r>
                <a:rPr lang="zh-CN" altLang="en-US" b="1" dirty="0">
                  <a:solidFill>
                    <a:srgbClr val="6600FF"/>
                  </a:solidFill>
                  <a:latin typeface="楷体" panose="02010609060101010101" pitchFamily="49" charset="-122"/>
                  <a:ea typeface="楷体" panose="02010609060101010101" pitchFamily="49" charset="-122"/>
                </a:rPr>
                <a:t>有效正常编码输入输出代码相同。</a:t>
              </a:r>
              <a:endParaRPr lang="zh-CN" altLang="en-US" b="1" dirty="0">
                <a:solidFill>
                  <a:srgbClr val="6600FF"/>
                </a:solidFill>
                <a:latin typeface="楷体" panose="02010609060101010101" pitchFamily="49" charset="-122"/>
                <a:ea typeface="楷体" panose="02010609060101010101" pitchFamily="49" charset="-122"/>
              </a:endParaRPr>
            </a:p>
          </p:txBody>
        </p:sp>
        <p:pic>
          <p:nvPicPr>
            <p:cNvPr id="30" name="Picture 7" descr="ç¸å³å¾ç"/>
            <p:cNvPicPr>
              <a:picLocks noChangeAspect="1" noChangeArrowheads="1"/>
            </p:cNvPicPr>
            <p:nvPr/>
          </p:nvPicPr>
          <p:blipFill>
            <a:blip r:embed="rId2" cstate="print"/>
            <a:srcRect/>
            <a:stretch>
              <a:fillRect/>
            </a:stretch>
          </p:blipFill>
          <p:spPr bwMode="auto">
            <a:xfrm>
              <a:off x="524518" y="3525252"/>
              <a:ext cx="464550" cy="441158"/>
            </a:xfrm>
            <a:prstGeom prst="rect">
              <a:avLst/>
            </a:prstGeom>
            <a:noFill/>
          </p:spPr>
        </p:pic>
      </p:grpSp>
      <p:grpSp>
        <p:nvGrpSpPr>
          <p:cNvPr id="2" name="组合 1"/>
          <p:cNvGrpSpPr/>
          <p:nvPr/>
        </p:nvGrpSpPr>
        <p:grpSpPr>
          <a:xfrm>
            <a:off x="4877067" y="1478246"/>
            <a:ext cx="2857161" cy="1243262"/>
            <a:chOff x="4877067" y="1478246"/>
            <a:chExt cx="2857161" cy="1243262"/>
          </a:xfrm>
        </p:grpSpPr>
        <p:grpSp>
          <p:nvGrpSpPr>
            <p:cNvPr id="36" name="组合 35"/>
            <p:cNvGrpSpPr/>
            <p:nvPr/>
          </p:nvGrpSpPr>
          <p:grpSpPr>
            <a:xfrm>
              <a:off x="4877067" y="1478246"/>
              <a:ext cx="2857161" cy="1243262"/>
              <a:chOff x="649185" y="3573380"/>
              <a:chExt cx="3169370" cy="1279355"/>
            </a:xfrm>
          </p:grpSpPr>
          <p:sp>
            <p:nvSpPr>
              <p:cNvPr id="37" name="圆角矩形 36"/>
              <p:cNvSpPr/>
              <p:nvPr/>
            </p:nvSpPr>
            <p:spPr>
              <a:xfrm>
                <a:off x="649185" y="3717755"/>
                <a:ext cx="3169370" cy="1134980"/>
              </a:xfrm>
              <a:prstGeom prst="roundRect">
                <a:avLst>
                  <a:gd name="adj" fmla="val 4386"/>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流程图: 可选过程 37"/>
              <p:cNvSpPr/>
              <p:nvPr/>
            </p:nvSpPr>
            <p:spPr>
              <a:xfrm>
                <a:off x="1193161" y="3573380"/>
                <a:ext cx="2081418" cy="2880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400" dirty="0">
                    <a:latin typeface="Times New Roman" panose="02020603050405020304" pitchFamily="18" charset="0"/>
                    <a:ea typeface="黑体" panose="02010609060101010101" pitchFamily="49" charset="-122"/>
                    <a:cs typeface="Times New Roman" panose="02020603050405020304" pitchFamily="18" charset="0"/>
                  </a:rPr>
                  <a:t>其他</a:t>
                </a:r>
                <a:r>
                  <a:rPr lang="en-US" altLang="zh-CN" sz="1400" dirty="0">
                    <a:latin typeface="Times New Roman" panose="02020603050405020304" pitchFamily="18" charset="0"/>
                    <a:ea typeface="黑体" panose="02010609060101010101" pitchFamily="49" charset="-122"/>
                    <a:cs typeface="Times New Roman" panose="02020603050405020304" pitchFamily="18" charset="0"/>
                  </a:rPr>
                  <a:t>12</a:t>
                </a:r>
                <a:r>
                  <a:rPr lang="zh-CN" altLang="en-US" sz="1400" dirty="0">
                    <a:latin typeface="Times New Roman" panose="02020603050405020304" pitchFamily="18" charset="0"/>
                    <a:ea typeface="黑体" panose="02010609060101010101" pitchFamily="49" charset="-122"/>
                    <a:cs typeface="Times New Roman" panose="02020603050405020304" pitchFamily="18" charset="0"/>
                  </a:rPr>
                  <a:t>种组合</a:t>
                </a:r>
                <a:r>
                  <a:rPr lang="en-US" altLang="zh-CN" sz="1400" i="1" dirty="0">
                    <a:latin typeface="Times New Roman" panose="02020603050405020304" pitchFamily="18" charset="0"/>
                    <a:ea typeface="黑体" panose="02010609060101010101" pitchFamily="49" charset="-122"/>
                    <a:cs typeface="Times New Roman" panose="02020603050405020304" pitchFamily="18" charset="0"/>
                  </a:rPr>
                  <a:t>Y</a:t>
                </a:r>
                <a:r>
                  <a:rPr lang="en-US" altLang="zh-CN" sz="1400" baseline="-25000" dirty="0">
                    <a:latin typeface="Times New Roman" panose="02020603050405020304" pitchFamily="18" charset="0"/>
                    <a:ea typeface="黑体" panose="02010609060101010101" pitchFamily="49" charset="-122"/>
                    <a:cs typeface="Times New Roman" panose="02020603050405020304" pitchFamily="18" charset="0"/>
                  </a:rPr>
                  <a:t>1</a:t>
                </a:r>
                <a:r>
                  <a:rPr lang="en-US" altLang="zh-CN" sz="1400" i="1" dirty="0">
                    <a:latin typeface="Times New Roman" panose="02020603050405020304" pitchFamily="18" charset="0"/>
                    <a:ea typeface="黑体" panose="02010609060101010101" pitchFamily="49" charset="-122"/>
                    <a:cs typeface="Times New Roman" panose="02020603050405020304" pitchFamily="18" charset="0"/>
                  </a:rPr>
                  <a:t>Y</a:t>
                </a:r>
                <a:r>
                  <a:rPr lang="en-US" altLang="zh-CN" sz="1400" baseline="-25000" dirty="0">
                    <a:latin typeface="Times New Roman" panose="02020603050405020304" pitchFamily="18" charset="0"/>
                    <a:ea typeface="黑体" panose="02010609060101010101" pitchFamily="49" charset="-122"/>
                    <a:cs typeface="Times New Roman" panose="02020603050405020304" pitchFamily="18" charset="0"/>
                  </a:rPr>
                  <a:t>0</a:t>
                </a:r>
                <a:r>
                  <a:rPr lang="en-US" altLang="zh-CN" sz="1400" dirty="0">
                    <a:latin typeface="Times New Roman" panose="02020603050405020304" pitchFamily="18" charset="0"/>
                    <a:ea typeface="黑体" panose="02010609060101010101" pitchFamily="49" charset="-122"/>
                    <a:cs typeface="Times New Roman" panose="02020603050405020304" pitchFamily="18" charset="0"/>
                  </a:rPr>
                  <a:t>=00</a:t>
                </a:r>
                <a:endParaRPr lang="zh-CN" altLang="en-US" sz="1400" dirty="0"/>
              </a:p>
            </p:txBody>
          </p:sp>
        </p:grpSp>
        <p:graphicFrame>
          <p:nvGraphicFramePr>
            <p:cNvPr id="39" name="Object 60"/>
            <p:cNvGraphicFramePr>
              <a:graphicFrameLocks noChangeAspect="1"/>
            </p:cNvGraphicFramePr>
            <p:nvPr/>
          </p:nvGraphicFramePr>
          <p:xfrm>
            <a:off x="5234675" y="1831144"/>
            <a:ext cx="2141945" cy="356030"/>
          </p:xfrm>
          <a:graphic>
            <a:graphicData uri="http://schemas.openxmlformats.org/presentationml/2006/ole">
              <mc:AlternateContent xmlns:mc="http://schemas.openxmlformats.org/markup-compatibility/2006">
                <mc:Choice xmlns:v="urn:schemas-microsoft-com:vml" Requires="v">
                  <p:oleObj spid="_x0000_s22552" name="公式" r:id="rId3" imgW="1485265" imgH="254000" progId="">
                    <p:embed/>
                  </p:oleObj>
                </mc:Choice>
                <mc:Fallback>
                  <p:oleObj name="公式" r:id="rId3" imgW="1485265" imgH="254000" progId="">
                    <p:embed/>
                    <p:pic>
                      <p:nvPicPr>
                        <p:cNvPr id="0" name="Object 6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34675" y="1831144"/>
                          <a:ext cx="2141945" cy="356030"/>
                        </a:xfrm>
                        <a:prstGeom prst="rect">
                          <a:avLst/>
                        </a:prstGeom>
                        <a:noFill/>
                        <a:extLst>
                          <a:ext uri="{909E8E84-426E-40DD-AFC4-6F175D3DCCD1}">
                            <a14:hiddenFill xmlns:a14="http://schemas.microsoft.com/office/drawing/2010/main">
                              <a:solidFill>
                                <a:srgbClr val="FFFF66"/>
                              </a:solidFill>
                            </a14:hiddenFill>
                          </a:ext>
                        </a:extLst>
                      </p:spPr>
                    </p:pic>
                  </p:oleObj>
                </mc:Fallback>
              </mc:AlternateContent>
            </a:graphicData>
          </a:graphic>
        </p:graphicFrame>
        <p:graphicFrame>
          <p:nvGraphicFramePr>
            <p:cNvPr id="43" name="Object 61"/>
            <p:cNvGraphicFramePr>
              <a:graphicFrameLocks noChangeAspect="1"/>
            </p:cNvGraphicFramePr>
            <p:nvPr/>
          </p:nvGraphicFramePr>
          <p:xfrm>
            <a:off x="5234675" y="2235592"/>
            <a:ext cx="2141945" cy="390280"/>
          </p:xfrm>
          <a:graphic>
            <a:graphicData uri="http://schemas.openxmlformats.org/presentationml/2006/ole">
              <mc:AlternateContent xmlns:mc="http://schemas.openxmlformats.org/markup-compatibility/2006">
                <mc:Choice xmlns:v="urn:schemas-microsoft-com:vml" Requires="v">
                  <p:oleObj spid="_x0000_s22553" name="公式" r:id="rId5" imgW="1497965" imgH="254000" progId="">
                    <p:embed/>
                  </p:oleObj>
                </mc:Choice>
                <mc:Fallback>
                  <p:oleObj name="公式" r:id="rId5" imgW="1497965" imgH="254000" progId="">
                    <p:embed/>
                    <p:pic>
                      <p:nvPicPr>
                        <p:cNvPr id="0" name="Object 6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34675" y="2235592"/>
                          <a:ext cx="2141945" cy="390280"/>
                        </a:xfrm>
                        <a:prstGeom prst="rect">
                          <a:avLst/>
                        </a:prstGeom>
                        <a:noFill/>
                        <a:extLst>
                          <a:ext uri="{909E8E84-426E-40DD-AFC4-6F175D3DCCD1}">
                            <a14:hiddenFill xmlns:a14="http://schemas.microsoft.com/office/drawing/2010/main">
                              <a:solidFill>
                                <a:srgbClr val="FFFF66"/>
                              </a:solidFill>
                            </a14:hiddenFill>
                          </a:ext>
                        </a:extLst>
                      </p:spPr>
                    </p:pic>
                  </p:oleObj>
                </mc:Fallback>
              </mc:AlternateContent>
            </a:graphicData>
          </a:graphic>
        </p:graphicFrame>
      </p:grpSp>
      <p:grpSp>
        <p:nvGrpSpPr>
          <p:cNvPr id="45" name="组合 44"/>
          <p:cNvGrpSpPr/>
          <p:nvPr/>
        </p:nvGrpSpPr>
        <p:grpSpPr>
          <a:xfrm>
            <a:off x="392432" y="769746"/>
            <a:ext cx="4713941" cy="420971"/>
            <a:chOff x="670560" y="892917"/>
            <a:chExt cx="4713941" cy="420971"/>
          </a:xfrm>
        </p:grpSpPr>
        <p:sp>
          <p:nvSpPr>
            <p:cNvPr id="46" name="矩形 45"/>
            <p:cNvSpPr/>
            <p:nvPr/>
          </p:nvSpPr>
          <p:spPr>
            <a:xfrm>
              <a:off x="1035233" y="913778"/>
              <a:ext cx="4349268"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普通编码器的工作原理（</a:t>
              </a:r>
              <a:r>
                <a:rPr lang="en-US" altLang="zh-CN" sz="2000" b="1" dirty="0">
                  <a:solidFill>
                    <a:srgbClr val="002060"/>
                  </a:solidFill>
                  <a:latin typeface="微软雅黑" panose="020B0503020204020204" pitchFamily="34" charset="-122"/>
                  <a:ea typeface="微软雅黑" panose="020B0503020204020204" pitchFamily="34" charset="-122"/>
                </a:rPr>
                <a:t>4</a:t>
              </a:r>
              <a:r>
                <a:rPr lang="zh-CN" altLang="en-US" sz="2000" b="1" dirty="0">
                  <a:solidFill>
                    <a:srgbClr val="002060"/>
                  </a:solidFill>
                  <a:latin typeface="微软雅黑" panose="020B0503020204020204" pitchFamily="34" charset="-122"/>
                  <a:ea typeface="微软雅黑" panose="020B0503020204020204" pitchFamily="34" charset="-122"/>
                </a:rPr>
                <a:t>线－</a:t>
              </a:r>
              <a:r>
                <a:rPr lang="en-US" altLang="zh-CN" sz="2000" b="1" dirty="0">
                  <a:solidFill>
                    <a:srgbClr val="002060"/>
                  </a:solidFill>
                  <a:latin typeface="微软雅黑" panose="020B0503020204020204" pitchFamily="34" charset="-122"/>
                  <a:ea typeface="微软雅黑" panose="020B0503020204020204" pitchFamily="34" charset="-122"/>
                </a:rPr>
                <a:t>2</a:t>
              </a:r>
              <a:r>
                <a:rPr lang="zh-CN" altLang="en-US" sz="2000" b="1" dirty="0">
                  <a:solidFill>
                    <a:srgbClr val="002060"/>
                  </a:solidFill>
                  <a:latin typeface="微软雅黑" panose="020B0503020204020204" pitchFamily="34" charset="-122"/>
                  <a:ea typeface="微软雅黑" panose="020B0503020204020204" pitchFamily="34" charset="-122"/>
                </a:rPr>
                <a:t>线）</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8" name="Picture 3"/>
            <p:cNvPicPr>
              <a:picLocks noChangeAspect="1" noChangeArrowheads="1"/>
            </p:cNvPicPr>
            <p:nvPr/>
          </p:nvPicPr>
          <p:blipFill>
            <a:blip r:embed="rId7" cstate="print"/>
            <a:srcRect/>
            <a:stretch>
              <a:fillRect/>
            </a:stretch>
          </p:blipFill>
          <p:spPr bwMode="auto">
            <a:xfrm flipH="1">
              <a:off x="670560" y="892917"/>
              <a:ext cx="342900" cy="411055"/>
            </a:xfrm>
            <a:prstGeom prst="rect">
              <a:avLst/>
            </a:prstGeom>
            <a:noFill/>
            <a:ln w="9525">
              <a:noFill/>
              <a:miter lim="800000"/>
              <a:headEnd/>
              <a:tailEnd/>
            </a:ln>
          </p:spPr>
        </p:pic>
      </p:gr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126"/>
                                        </p:tgtEl>
                                        <p:attrNameLst>
                                          <p:attrName>style.visibility</p:attrName>
                                        </p:attrNameLst>
                                      </p:cBhvr>
                                      <p:to>
                                        <p:strVal val="visible"/>
                                      </p:to>
                                    </p:set>
                                    <p:animEffect transition="in" filter="slide(fromTop)">
                                      <p:cBhvr>
                                        <p:cTn id="7" dur="1000"/>
                                        <p:tgtEl>
                                          <p:spTgt spid="126"/>
                                        </p:tgtEl>
                                      </p:cBhvr>
                                    </p:animEffect>
                                  </p:childTnLst>
                                </p:cTn>
                              </p:par>
                            </p:childTnLst>
                          </p:cTn>
                        </p:par>
                        <p:par>
                          <p:cTn id="8" fill="hold">
                            <p:stCondLst>
                              <p:cond delay="1000"/>
                            </p:stCondLst>
                            <p:childTnLst>
                              <p:par>
                                <p:cTn id="9" presetID="12" presetClass="entr" presetSubtype="1" fill="hold" nodeType="afterEffect">
                                  <p:stCondLst>
                                    <p:cond delay="0"/>
                                  </p:stCondLst>
                                  <p:childTnLst>
                                    <p:set>
                                      <p:cBhvr>
                                        <p:cTn id="10" dur="1" fill="hold">
                                          <p:stCondLst>
                                            <p:cond delay="0"/>
                                          </p:stCondLst>
                                        </p:cTn>
                                        <p:tgtEl>
                                          <p:spTgt spid="133"/>
                                        </p:tgtEl>
                                        <p:attrNameLst>
                                          <p:attrName>style.visibility</p:attrName>
                                        </p:attrNameLst>
                                      </p:cBhvr>
                                      <p:to>
                                        <p:strVal val="visible"/>
                                      </p:to>
                                    </p:set>
                                    <p:animEffect transition="in" filter="slide(fromTop)">
                                      <p:cBhvr>
                                        <p:cTn id="11" dur="1000"/>
                                        <p:tgtEl>
                                          <p:spTgt spid="133"/>
                                        </p:tgtEl>
                                      </p:cBhvr>
                                    </p:animEffect>
                                  </p:childTnLst>
                                </p:cTn>
                              </p:par>
                            </p:childTnLst>
                          </p:cTn>
                        </p:par>
                        <p:par>
                          <p:cTn id="12" fill="hold">
                            <p:stCondLst>
                              <p:cond delay="2000"/>
                            </p:stCondLst>
                            <p:childTnLst>
                              <p:par>
                                <p:cTn id="13" presetID="12" presetClass="entr" presetSubtype="4" fill="hold" nodeType="afterEffect">
                                  <p:stCondLst>
                                    <p:cond delay="0"/>
                                  </p:stCondLst>
                                  <p:childTnLst>
                                    <p:set>
                                      <p:cBhvr>
                                        <p:cTn id="14" dur="1" fill="hold">
                                          <p:stCondLst>
                                            <p:cond delay="0"/>
                                          </p:stCondLst>
                                        </p:cTn>
                                        <p:tgtEl>
                                          <p:spTgt spid="28"/>
                                        </p:tgtEl>
                                        <p:attrNameLst>
                                          <p:attrName>style.visibility</p:attrName>
                                        </p:attrNameLst>
                                      </p:cBhvr>
                                      <p:to>
                                        <p:strVal val="visible"/>
                                      </p:to>
                                    </p:set>
                                    <p:animEffect transition="in" filter="slide(fromBottom)">
                                      <p:cBhvr>
                                        <p:cTn id="15"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92432" y="769746"/>
            <a:ext cx="4713941" cy="420971"/>
            <a:chOff x="670560" y="892917"/>
            <a:chExt cx="4713941" cy="420971"/>
          </a:xfrm>
        </p:grpSpPr>
        <p:sp>
          <p:nvSpPr>
            <p:cNvPr id="3" name="矩形 2"/>
            <p:cNvSpPr/>
            <p:nvPr/>
          </p:nvSpPr>
          <p:spPr>
            <a:xfrm>
              <a:off x="1035233" y="913778"/>
              <a:ext cx="4349268"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优先编码器的工作原理（</a:t>
              </a:r>
              <a:r>
                <a:rPr lang="en-US" altLang="zh-CN" sz="2000" b="1" dirty="0">
                  <a:solidFill>
                    <a:srgbClr val="002060"/>
                  </a:solidFill>
                  <a:latin typeface="微软雅黑" panose="020B0503020204020204" pitchFamily="34" charset="-122"/>
                  <a:ea typeface="微软雅黑" panose="020B0503020204020204" pitchFamily="34" charset="-122"/>
                </a:rPr>
                <a:t>4</a:t>
              </a:r>
              <a:r>
                <a:rPr lang="zh-CN" altLang="en-US" sz="2000" b="1" dirty="0">
                  <a:solidFill>
                    <a:srgbClr val="002060"/>
                  </a:solidFill>
                  <a:latin typeface="微软雅黑" panose="020B0503020204020204" pitchFamily="34" charset="-122"/>
                  <a:ea typeface="微软雅黑" panose="020B0503020204020204" pitchFamily="34" charset="-122"/>
                </a:rPr>
                <a:t>线－</a:t>
              </a:r>
              <a:r>
                <a:rPr lang="en-US" altLang="zh-CN" sz="2000" b="1" dirty="0">
                  <a:solidFill>
                    <a:srgbClr val="002060"/>
                  </a:solidFill>
                  <a:latin typeface="微软雅黑" panose="020B0503020204020204" pitchFamily="34" charset="-122"/>
                  <a:ea typeface="微软雅黑" panose="020B0503020204020204" pitchFamily="34" charset="-122"/>
                </a:rPr>
                <a:t>2</a:t>
              </a:r>
              <a:r>
                <a:rPr lang="zh-CN" altLang="en-US" sz="2000" b="1" dirty="0">
                  <a:solidFill>
                    <a:srgbClr val="002060"/>
                  </a:solidFill>
                  <a:latin typeface="微软雅黑" panose="020B0503020204020204" pitchFamily="34" charset="-122"/>
                  <a:ea typeface="微软雅黑" panose="020B0503020204020204" pitchFamily="34" charset="-122"/>
                </a:rPr>
                <a:t>线）</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aphicFrame>
        <p:nvGraphicFramePr>
          <p:cNvPr id="5" name="Group 64"/>
          <p:cNvGraphicFramePr>
            <a:graphicFrameLocks noGrp="1"/>
          </p:cNvGraphicFramePr>
          <p:nvPr/>
        </p:nvGraphicFramePr>
        <p:xfrm>
          <a:off x="850649" y="1394542"/>
          <a:ext cx="2786896" cy="2194560"/>
        </p:xfrm>
        <a:graphic>
          <a:graphicData uri="http://schemas.openxmlformats.org/drawingml/2006/table">
            <a:tbl>
              <a:tblPr/>
              <a:tblGrid>
                <a:gridCol w="464048"/>
                <a:gridCol w="462744"/>
                <a:gridCol w="464048"/>
                <a:gridCol w="469263"/>
                <a:gridCol w="462745"/>
                <a:gridCol w="464048"/>
              </a:tblGrid>
              <a:tr h="365760">
                <a:tc gridSpan="4">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latin typeface="方正姚体" panose="02010601030101010101" pitchFamily="2" charset="-122"/>
                          <a:ea typeface="方正姚体" panose="02010601030101010101" pitchFamily="2" charset="-122"/>
                        </a:rPr>
                        <a:t>输        入</a:t>
                      </a:r>
                      <a:endParaRPr kumimoji="0" lang="zh-CN" altLang="en-US" sz="1800" b="1" i="0" u="none" strike="noStrike" cap="none" normalizeH="0" baseline="0" dirty="0">
                        <a:ln>
                          <a:noFill/>
                        </a:ln>
                        <a:solidFill>
                          <a:srgbClr val="000000"/>
                        </a:solidFill>
                        <a:effectLst/>
                        <a:latin typeface="方正姚体" panose="02010601030101010101" pitchFamily="2" charset="-122"/>
                        <a:ea typeface="方正姚体" panose="02010601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hMerge="1">
                  <a:tcPr/>
                </a:tc>
                <a:tc hMerge="1">
                  <a:tcPr/>
                </a:tc>
                <a:tc hMerge="1">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a:ln>
                            <a:noFill/>
                          </a:ln>
                          <a:solidFill>
                            <a:srgbClr val="000000"/>
                          </a:solidFill>
                          <a:effectLst/>
                          <a:latin typeface="方正姚体" panose="02010601030101010101" pitchFamily="2" charset="-122"/>
                          <a:ea typeface="方正姚体" panose="02010601030101010101" pitchFamily="2" charset="-122"/>
                        </a:rPr>
                        <a:t>输   出</a:t>
                      </a:r>
                      <a:endParaRPr kumimoji="0" lang="zh-CN" altLang="en-US" sz="1800" b="1" i="0" u="none" strike="noStrike" cap="none" normalizeH="0" baseline="0">
                        <a:ln>
                          <a:noFill/>
                        </a:ln>
                        <a:solidFill>
                          <a:srgbClr val="000000"/>
                        </a:solidFill>
                        <a:effectLst/>
                        <a:latin typeface="方正姚体" panose="02010601030101010101" pitchFamily="2" charset="-122"/>
                        <a:ea typeface="方正姚体" panose="02010601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hMerge="1">
                  <a:tcPr/>
                </a:tc>
              </a:tr>
              <a:tr h="36576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2</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3</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Y</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Y</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r>
              <a:tr h="36576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rgbClr val="FFFFFF"/>
                    </a:solidFill>
                  </a:tcPr>
                </a:tc>
              </a:tr>
              <a:tr h="36576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rgbClr val="FFFFFF"/>
                    </a:solidFill>
                  </a:tcPr>
                </a:tc>
              </a:tr>
              <a:tr h="36576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rgbClr val="FFFFFF"/>
                    </a:solidFill>
                  </a:tcPr>
                </a:tc>
              </a:tr>
              <a:tr h="36576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r>
            </a:tbl>
          </a:graphicData>
        </a:graphic>
      </p:graphicFrame>
      <p:grpSp>
        <p:nvGrpSpPr>
          <p:cNvPr id="17" name="组合 16"/>
          <p:cNvGrpSpPr/>
          <p:nvPr/>
        </p:nvGrpSpPr>
        <p:grpSpPr>
          <a:xfrm>
            <a:off x="3909777" y="1425345"/>
            <a:ext cx="4956368" cy="338554"/>
            <a:chOff x="682049" y="4337201"/>
            <a:chExt cx="4956368" cy="338554"/>
          </a:xfrm>
        </p:grpSpPr>
        <p:sp>
          <p:nvSpPr>
            <p:cNvPr id="18" name="矩形 17"/>
            <p:cNvSpPr/>
            <p:nvPr/>
          </p:nvSpPr>
          <p:spPr>
            <a:xfrm>
              <a:off x="939695" y="4337201"/>
              <a:ext cx="4698722" cy="338554"/>
            </a:xfrm>
            <a:prstGeom prst="rect">
              <a:avLst/>
            </a:prstGeom>
          </p:spPr>
          <p:txBody>
            <a:bodyPr wrap="none">
              <a:spAutoFit/>
            </a:bodyPr>
            <a:lstStyle/>
            <a:p>
              <a:r>
                <a:rPr lang="zh-CN" altLang="en-US" sz="1600" dirty="0">
                  <a:solidFill>
                    <a:srgbClr val="336699"/>
                  </a:solidFill>
                  <a:latin typeface="黑体" panose="02010609060101010101" pitchFamily="49" charset="-122"/>
                  <a:ea typeface="黑体" panose="02010609060101010101" pitchFamily="49" charset="-122"/>
                </a:rPr>
                <a:t>能够按输入的优先级别，对优先级高的输入编码。</a:t>
              </a:r>
              <a:endParaRPr lang="zh-CN" altLang="en-US" sz="1600" dirty="0">
                <a:solidFill>
                  <a:srgbClr val="336699"/>
                </a:solidFill>
              </a:endParaRPr>
            </a:p>
          </p:txBody>
        </p:sp>
        <p:pic>
          <p:nvPicPr>
            <p:cNvPr id="19" name="Picture 5"/>
            <p:cNvPicPr>
              <a:picLocks noChangeAspect="1" noChangeArrowheads="1"/>
            </p:cNvPicPr>
            <p:nvPr/>
          </p:nvPicPr>
          <p:blipFill>
            <a:blip r:embed="rId2" cstate="print"/>
            <a:srcRect/>
            <a:stretch>
              <a:fillRect/>
            </a:stretch>
          </p:blipFill>
          <p:spPr bwMode="auto">
            <a:xfrm>
              <a:off x="682049" y="4363451"/>
              <a:ext cx="301850" cy="277564"/>
            </a:xfrm>
            <a:prstGeom prst="rect">
              <a:avLst/>
            </a:prstGeom>
            <a:noFill/>
            <a:ln w="9525">
              <a:noFill/>
              <a:miter lim="800000"/>
              <a:headEnd/>
              <a:tailEnd/>
            </a:ln>
          </p:spPr>
        </p:pic>
      </p:grpSp>
      <p:grpSp>
        <p:nvGrpSpPr>
          <p:cNvPr id="20" name="组合 19"/>
          <p:cNvGrpSpPr/>
          <p:nvPr/>
        </p:nvGrpSpPr>
        <p:grpSpPr>
          <a:xfrm>
            <a:off x="3909777" y="2728701"/>
            <a:ext cx="2981469" cy="338554"/>
            <a:chOff x="682049" y="4337201"/>
            <a:chExt cx="2981469" cy="338554"/>
          </a:xfrm>
        </p:grpSpPr>
        <p:sp>
          <p:nvSpPr>
            <p:cNvPr id="21" name="矩形 20"/>
            <p:cNvSpPr/>
            <p:nvPr/>
          </p:nvSpPr>
          <p:spPr>
            <a:xfrm>
              <a:off x="939695" y="4337201"/>
              <a:ext cx="2723823" cy="338554"/>
            </a:xfrm>
            <a:prstGeom prst="rect">
              <a:avLst/>
            </a:prstGeom>
          </p:spPr>
          <p:txBody>
            <a:bodyPr wrap="none">
              <a:spAutoFit/>
            </a:bodyPr>
            <a:lstStyle/>
            <a:p>
              <a:r>
                <a:rPr lang="zh-CN" altLang="en-US" sz="1600" dirty="0">
                  <a:solidFill>
                    <a:srgbClr val="336699"/>
                  </a:solidFill>
                  <a:latin typeface="黑体" panose="02010609060101010101" pitchFamily="49" charset="-122"/>
                  <a:ea typeface="黑体" panose="02010609060101010101" pitchFamily="49" charset="-122"/>
                </a:rPr>
                <a:t>优先级顺序：</a:t>
              </a:r>
              <a:r>
                <a:rPr lang="en-US" altLang="zh-CN" sz="1600" b="1" i="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600" b="1" baseline="-25000"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3</a:t>
              </a:r>
              <a:r>
                <a:rPr lang="en-US" altLang="zh-CN" sz="1600"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&gt;</a:t>
              </a:r>
              <a:r>
                <a:rPr lang="en-US" altLang="zh-CN" sz="1600" b="1" i="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 I</a:t>
              </a:r>
              <a:r>
                <a:rPr lang="en-US" altLang="zh-CN" sz="1600" b="1" baseline="-25000"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2</a:t>
              </a:r>
              <a:r>
                <a:rPr lang="en-US" altLang="zh-CN" sz="1600"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&gt;</a:t>
              </a:r>
              <a:r>
                <a:rPr lang="en-US" altLang="zh-CN" sz="1600" b="1" i="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 I</a:t>
              </a:r>
              <a:r>
                <a:rPr lang="en-US" altLang="zh-CN" sz="1600" b="1" baseline="-25000"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1</a:t>
              </a:r>
              <a:r>
                <a:rPr lang="en-US" altLang="zh-CN" sz="1600"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&gt;</a:t>
              </a:r>
              <a:r>
                <a:rPr lang="en-US" altLang="zh-CN" sz="1600" b="1" i="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 I</a:t>
              </a:r>
              <a:r>
                <a:rPr lang="en-US" altLang="zh-CN" sz="1600" b="1" baseline="-25000"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sz="1600" b="1"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sz="1600" b="1" dirty="0">
                <a:solidFill>
                  <a:srgbClr val="336699"/>
                </a:solidFill>
                <a:latin typeface="Times New Roman" panose="02020603050405020304" pitchFamily="18" charset="0"/>
                <a:cs typeface="Times New Roman" panose="02020603050405020304" pitchFamily="18" charset="0"/>
              </a:endParaRPr>
            </a:p>
          </p:txBody>
        </p:sp>
        <p:pic>
          <p:nvPicPr>
            <p:cNvPr id="22" name="Picture 5"/>
            <p:cNvPicPr>
              <a:picLocks noChangeAspect="1" noChangeArrowheads="1"/>
            </p:cNvPicPr>
            <p:nvPr/>
          </p:nvPicPr>
          <p:blipFill>
            <a:blip r:embed="rId2" cstate="print"/>
            <a:srcRect/>
            <a:stretch>
              <a:fillRect/>
            </a:stretch>
          </p:blipFill>
          <p:spPr bwMode="auto">
            <a:xfrm>
              <a:off x="682049" y="4363451"/>
              <a:ext cx="301850" cy="277564"/>
            </a:xfrm>
            <a:prstGeom prst="rect">
              <a:avLst/>
            </a:prstGeom>
            <a:noFill/>
            <a:ln w="9525">
              <a:noFill/>
              <a:miter lim="800000"/>
              <a:headEnd/>
              <a:tailEnd/>
            </a:ln>
          </p:spPr>
        </p:pic>
      </p:grpSp>
      <p:grpSp>
        <p:nvGrpSpPr>
          <p:cNvPr id="31" name="组合 30"/>
          <p:cNvGrpSpPr/>
          <p:nvPr/>
        </p:nvGrpSpPr>
        <p:grpSpPr>
          <a:xfrm>
            <a:off x="3909777" y="1859797"/>
            <a:ext cx="4071511" cy="338554"/>
            <a:chOff x="682049" y="4337201"/>
            <a:chExt cx="4071511" cy="338554"/>
          </a:xfrm>
        </p:grpSpPr>
        <p:sp>
          <p:nvSpPr>
            <p:cNvPr id="32" name="矩形 31"/>
            <p:cNvSpPr/>
            <p:nvPr/>
          </p:nvSpPr>
          <p:spPr>
            <a:xfrm>
              <a:off x="939695" y="4337201"/>
              <a:ext cx="3813865" cy="338554"/>
            </a:xfrm>
            <a:prstGeom prst="rect">
              <a:avLst/>
            </a:prstGeom>
          </p:spPr>
          <p:txBody>
            <a:bodyPr wrap="none">
              <a:spAutoFit/>
            </a:bodyPr>
            <a:lstStyle/>
            <a:p>
              <a:r>
                <a:rPr lang="zh-CN" altLang="en-US" sz="1600" dirty="0">
                  <a:solidFill>
                    <a:srgbClr val="336699"/>
                  </a:solidFill>
                  <a:latin typeface="黑体" panose="02010609060101010101" pitchFamily="49" charset="-122"/>
                  <a:ea typeface="黑体" panose="02010609060101010101" pitchFamily="49" charset="-122"/>
                </a:rPr>
                <a:t>当</a:t>
              </a:r>
              <a:r>
                <a:rPr lang="en-US" altLang="zh-CN" sz="1600" i="1"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600" baseline="-25000"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sz="1600" dirty="0">
                  <a:solidFill>
                    <a:srgbClr val="336699"/>
                  </a:solidFill>
                  <a:latin typeface="黑体" panose="02010609060101010101" pitchFamily="49" charset="-122"/>
                  <a:ea typeface="黑体" panose="02010609060101010101" pitchFamily="49" charset="-122"/>
                </a:rPr>
                <a:t>有效，而</a:t>
              </a:r>
              <a:r>
                <a:rPr lang="en-US" altLang="zh-CN" sz="1600" i="1"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600" baseline="-25000"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1600" baseline="-25000"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i="1"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600" baseline="-25000"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1600" baseline="-25000"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i="1"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600" baseline="-25000"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3</a:t>
              </a:r>
              <a:r>
                <a:rPr lang="zh-CN" altLang="en-US" sz="1600" dirty="0">
                  <a:solidFill>
                    <a:srgbClr val="336699"/>
                  </a:solidFill>
                  <a:latin typeface="黑体" panose="02010609060101010101" pitchFamily="49" charset="-122"/>
                  <a:ea typeface="黑体" panose="02010609060101010101" pitchFamily="49" charset="-122"/>
                </a:rPr>
                <a:t>无效时，对</a:t>
              </a:r>
              <a:r>
                <a:rPr lang="en-US" altLang="zh-CN" sz="1600" i="1"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600" baseline="-25000"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0</a:t>
              </a:r>
              <a:r>
                <a:rPr lang="zh-CN" altLang="en-US" sz="1600" dirty="0">
                  <a:solidFill>
                    <a:srgbClr val="336699"/>
                  </a:solidFill>
                  <a:latin typeface="黑体" panose="02010609060101010101" pitchFamily="49" charset="-122"/>
                  <a:ea typeface="黑体" panose="02010609060101010101" pitchFamily="49" charset="-122"/>
                </a:rPr>
                <a:t>编码。</a:t>
              </a:r>
              <a:endParaRPr lang="zh-CN" altLang="en-US" sz="1600" dirty="0">
                <a:solidFill>
                  <a:srgbClr val="336699"/>
                </a:solidFill>
              </a:endParaRPr>
            </a:p>
          </p:txBody>
        </p:sp>
        <p:pic>
          <p:nvPicPr>
            <p:cNvPr id="33" name="Picture 5"/>
            <p:cNvPicPr>
              <a:picLocks noChangeAspect="1" noChangeArrowheads="1"/>
            </p:cNvPicPr>
            <p:nvPr/>
          </p:nvPicPr>
          <p:blipFill>
            <a:blip r:embed="rId2" cstate="print"/>
            <a:srcRect/>
            <a:stretch>
              <a:fillRect/>
            </a:stretch>
          </p:blipFill>
          <p:spPr bwMode="auto">
            <a:xfrm>
              <a:off x="682049" y="4363451"/>
              <a:ext cx="301850" cy="277564"/>
            </a:xfrm>
            <a:prstGeom prst="rect">
              <a:avLst/>
            </a:prstGeom>
            <a:noFill/>
            <a:ln w="9525">
              <a:noFill/>
              <a:miter lim="800000"/>
              <a:headEnd/>
              <a:tailEnd/>
            </a:ln>
          </p:spPr>
        </p:pic>
      </p:grpSp>
      <p:grpSp>
        <p:nvGrpSpPr>
          <p:cNvPr id="34" name="组合 33"/>
          <p:cNvGrpSpPr/>
          <p:nvPr/>
        </p:nvGrpSpPr>
        <p:grpSpPr>
          <a:xfrm>
            <a:off x="3909777" y="2294249"/>
            <a:ext cx="4961178" cy="338554"/>
            <a:chOff x="682049" y="4337201"/>
            <a:chExt cx="4961178" cy="338554"/>
          </a:xfrm>
        </p:grpSpPr>
        <p:sp>
          <p:nvSpPr>
            <p:cNvPr id="35" name="矩形 34"/>
            <p:cNvSpPr/>
            <p:nvPr/>
          </p:nvSpPr>
          <p:spPr>
            <a:xfrm>
              <a:off x="939695" y="4337201"/>
              <a:ext cx="4703532" cy="338554"/>
            </a:xfrm>
            <a:prstGeom prst="rect">
              <a:avLst/>
            </a:prstGeom>
          </p:spPr>
          <p:txBody>
            <a:bodyPr wrap="none">
              <a:spAutoFit/>
            </a:bodyPr>
            <a:lstStyle/>
            <a:p>
              <a:r>
                <a:rPr lang="zh-CN" altLang="en-US" sz="1600" dirty="0">
                  <a:solidFill>
                    <a:srgbClr val="336699"/>
                  </a:solidFill>
                  <a:latin typeface="黑体" panose="02010609060101010101" pitchFamily="49" charset="-122"/>
                  <a:ea typeface="黑体" panose="02010609060101010101" pitchFamily="49" charset="-122"/>
                </a:rPr>
                <a:t>当</a:t>
              </a:r>
              <a:r>
                <a:rPr lang="en-US" altLang="zh-CN" sz="1600" i="1"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600" baseline="-25000"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3</a:t>
              </a:r>
              <a:r>
                <a:rPr lang="zh-CN" altLang="en-US" sz="1600" dirty="0">
                  <a:solidFill>
                    <a:srgbClr val="336699"/>
                  </a:solidFill>
                  <a:latin typeface="黑体" panose="02010609060101010101" pitchFamily="49" charset="-122"/>
                  <a:ea typeface="黑体" panose="02010609060101010101" pitchFamily="49" charset="-122"/>
                </a:rPr>
                <a:t>有效时，无论</a:t>
              </a:r>
              <a:r>
                <a:rPr lang="en-US" altLang="zh-CN" sz="1600" i="1"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600" baseline="-25000"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1600" baseline="-25000"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i="1"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600" baseline="-25000"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1600" baseline="-25000"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i="1"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600" baseline="-25000"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3</a:t>
              </a:r>
              <a:r>
                <a:rPr lang="zh-CN" altLang="en-US" sz="1600" dirty="0">
                  <a:solidFill>
                    <a:srgbClr val="336699"/>
                  </a:solidFill>
                  <a:latin typeface="黑体" panose="02010609060101010101" pitchFamily="49" charset="-122"/>
                  <a:ea typeface="黑体" panose="02010609060101010101" pitchFamily="49" charset="-122"/>
                </a:rPr>
                <a:t>是否有效，均对</a:t>
              </a:r>
              <a:r>
                <a:rPr lang="en-US" altLang="zh-CN" sz="1600" i="1"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600" baseline="-25000" dirty="0">
                  <a:solidFill>
                    <a:srgbClr val="336699"/>
                  </a:solidFill>
                  <a:latin typeface="Times New Roman" panose="02020603050405020304" pitchFamily="18" charset="0"/>
                  <a:ea typeface="黑体" panose="02010609060101010101" pitchFamily="49" charset="-122"/>
                  <a:cs typeface="Times New Roman" panose="02020603050405020304" pitchFamily="18" charset="0"/>
                </a:rPr>
                <a:t>3</a:t>
              </a:r>
              <a:r>
                <a:rPr lang="zh-CN" altLang="en-US" sz="1600" dirty="0">
                  <a:solidFill>
                    <a:srgbClr val="336699"/>
                  </a:solidFill>
                  <a:latin typeface="黑体" panose="02010609060101010101" pitchFamily="49" charset="-122"/>
                  <a:ea typeface="黑体" panose="02010609060101010101" pitchFamily="49" charset="-122"/>
                </a:rPr>
                <a:t>编码。</a:t>
              </a:r>
              <a:endParaRPr lang="zh-CN" altLang="en-US" sz="1600" dirty="0">
                <a:solidFill>
                  <a:srgbClr val="336699"/>
                </a:solidFill>
              </a:endParaRPr>
            </a:p>
          </p:txBody>
        </p:sp>
        <p:pic>
          <p:nvPicPr>
            <p:cNvPr id="36" name="Picture 5"/>
            <p:cNvPicPr>
              <a:picLocks noChangeAspect="1" noChangeArrowheads="1"/>
            </p:cNvPicPr>
            <p:nvPr/>
          </p:nvPicPr>
          <p:blipFill>
            <a:blip r:embed="rId2" cstate="print"/>
            <a:srcRect/>
            <a:stretch>
              <a:fillRect/>
            </a:stretch>
          </p:blipFill>
          <p:spPr bwMode="auto">
            <a:xfrm>
              <a:off x="682049" y="4363451"/>
              <a:ext cx="301850" cy="277564"/>
            </a:xfrm>
            <a:prstGeom prst="rect">
              <a:avLst/>
            </a:prstGeom>
            <a:noFill/>
            <a:ln w="9525">
              <a:noFill/>
              <a:miter lim="800000"/>
              <a:headEnd/>
              <a:tailEnd/>
            </a:ln>
          </p:spPr>
        </p:pic>
      </p:grpSp>
      <p:grpSp>
        <p:nvGrpSpPr>
          <p:cNvPr id="6" name="组合 5"/>
          <p:cNvGrpSpPr/>
          <p:nvPr/>
        </p:nvGrpSpPr>
        <p:grpSpPr>
          <a:xfrm>
            <a:off x="874295" y="3747283"/>
            <a:ext cx="2560002" cy="1344124"/>
            <a:chOff x="874295" y="3747283"/>
            <a:chExt cx="2560002" cy="1344124"/>
          </a:xfrm>
        </p:grpSpPr>
        <p:sp>
          <p:nvSpPr>
            <p:cNvPr id="39" name="圆角矩形 38"/>
            <p:cNvSpPr/>
            <p:nvPr/>
          </p:nvSpPr>
          <p:spPr>
            <a:xfrm>
              <a:off x="981503" y="4269246"/>
              <a:ext cx="2452794" cy="822161"/>
            </a:xfrm>
            <a:prstGeom prst="roundRect">
              <a:avLst>
                <a:gd name="adj" fmla="val 4386"/>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altLang="zh-CN" sz="14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a:p>
              <a:pPr algn="ctr"/>
              <a:endParaRPr lang="en-US" altLang="zh-CN" sz="14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24" name="组合 23"/>
            <p:cNvGrpSpPr/>
            <p:nvPr/>
          </p:nvGrpSpPr>
          <p:grpSpPr>
            <a:xfrm>
              <a:off x="874295" y="3747283"/>
              <a:ext cx="2083787" cy="338554"/>
              <a:chOff x="682049" y="4337201"/>
              <a:chExt cx="2083787" cy="338554"/>
            </a:xfrm>
          </p:grpSpPr>
          <p:sp>
            <p:nvSpPr>
              <p:cNvPr id="25" name="矩形 24"/>
              <p:cNvSpPr/>
              <p:nvPr/>
            </p:nvSpPr>
            <p:spPr>
              <a:xfrm>
                <a:off x="939695" y="4337201"/>
                <a:ext cx="1826141" cy="338554"/>
              </a:xfrm>
              <a:prstGeom prst="rect">
                <a:avLst/>
              </a:prstGeom>
            </p:spPr>
            <p:txBody>
              <a:bodyPr wrap="none">
                <a:spAutoFit/>
              </a:bodyPr>
              <a:lstStyle/>
              <a:p>
                <a:r>
                  <a:rPr lang="zh-CN" altLang="en-US" sz="1600" dirty="0">
                    <a:solidFill>
                      <a:srgbClr val="336699"/>
                    </a:solidFill>
                    <a:latin typeface="黑体" panose="02010609060101010101" pitchFamily="49" charset="-122"/>
                    <a:ea typeface="黑体" panose="02010609060101010101" pitchFamily="49" charset="-122"/>
                  </a:rPr>
                  <a:t>输出逻辑表达式：</a:t>
                </a:r>
                <a:endParaRPr lang="zh-CN" altLang="en-US" sz="1600" b="1" dirty="0">
                  <a:solidFill>
                    <a:srgbClr val="336699"/>
                  </a:solidFill>
                  <a:latin typeface="Times New Roman" panose="02020603050405020304" pitchFamily="18" charset="0"/>
                  <a:cs typeface="Times New Roman" panose="02020603050405020304" pitchFamily="18" charset="0"/>
                </a:endParaRPr>
              </a:p>
            </p:txBody>
          </p:sp>
          <p:pic>
            <p:nvPicPr>
              <p:cNvPr id="26" name="Picture 5"/>
              <p:cNvPicPr>
                <a:picLocks noChangeAspect="1" noChangeArrowheads="1"/>
              </p:cNvPicPr>
              <p:nvPr/>
            </p:nvPicPr>
            <p:blipFill>
              <a:blip r:embed="rId2" cstate="print"/>
              <a:srcRect/>
              <a:stretch>
                <a:fillRect/>
              </a:stretch>
            </p:blipFill>
            <p:spPr bwMode="auto">
              <a:xfrm>
                <a:off x="682049" y="4363451"/>
                <a:ext cx="301850" cy="277564"/>
              </a:xfrm>
              <a:prstGeom prst="rect">
                <a:avLst/>
              </a:prstGeom>
              <a:noFill/>
              <a:ln w="9525">
                <a:noFill/>
                <a:miter lim="800000"/>
                <a:headEnd/>
                <a:tailEnd/>
              </a:ln>
            </p:spPr>
          </p:pic>
        </p:grpSp>
        <p:graphicFrame>
          <p:nvGraphicFramePr>
            <p:cNvPr id="112695" name="Object 55"/>
            <p:cNvGraphicFramePr>
              <a:graphicFrameLocks noChangeAspect="1"/>
            </p:cNvGraphicFramePr>
            <p:nvPr/>
          </p:nvGraphicFramePr>
          <p:xfrm>
            <a:off x="1057210" y="4281366"/>
            <a:ext cx="2162086" cy="400050"/>
          </p:xfrm>
          <a:graphic>
            <a:graphicData uri="http://schemas.openxmlformats.org/presentationml/2006/ole">
              <mc:AlternateContent xmlns:mc="http://schemas.openxmlformats.org/markup-compatibility/2006">
                <mc:Choice xmlns:v="urn:schemas-microsoft-com:vml" Requires="v">
                  <p:oleObj spid="_x0000_s23587" name="公式" r:id="rId3" imgW="1358265" imgH="254000" progId="">
                    <p:embed/>
                  </p:oleObj>
                </mc:Choice>
                <mc:Fallback>
                  <p:oleObj name="公式" r:id="rId3" imgW="1358265" imgH="254000" progId="">
                    <p:embed/>
                    <p:pic>
                      <p:nvPicPr>
                        <p:cNvPr id="0" name="Object 5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7210" y="4281366"/>
                          <a:ext cx="2162086" cy="400050"/>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112696" name="Object 56"/>
            <p:cNvGraphicFramePr>
              <a:graphicFrameLocks noChangeAspect="1"/>
            </p:cNvGraphicFramePr>
            <p:nvPr/>
          </p:nvGraphicFramePr>
          <p:xfrm>
            <a:off x="1057470" y="4702113"/>
            <a:ext cx="2334689" cy="385762"/>
          </p:xfrm>
          <a:graphic>
            <a:graphicData uri="http://schemas.openxmlformats.org/presentationml/2006/ole">
              <mc:AlternateContent xmlns:mc="http://schemas.openxmlformats.org/markup-compatibility/2006">
                <mc:Choice xmlns:v="urn:schemas-microsoft-com:vml" Requires="v">
                  <p:oleObj spid="_x0000_s23588" name="公式" r:id="rId5" imgW="1637665" imgH="254000" progId="">
                    <p:embed/>
                  </p:oleObj>
                </mc:Choice>
                <mc:Fallback>
                  <p:oleObj name="公式" r:id="rId5" imgW="1637665" imgH="254000" progId="">
                    <p:embed/>
                    <p:pic>
                      <p:nvPicPr>
                        <p:cNvPr id="0" name="Object 5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57470" y="4702113"/>
                          <a:ext cx="2334689" cy="385762"/>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pSp>
      <p:grpSp>
        <p:nvGrpSpPr>
          <p:cNvPr id="38" name="组合 37"/>
          <p:cNvGrpSpPr/>
          <p:nvPr/>
        </p:nvGrpSpPr>
        <p:grpSpPr>
          <a:xfrm>
            <a:off x="4746034" y="3536954"/>
            <a:ext cx="3023029" cy="1592175"/>
            <a:chOff x="4746034" y="3536954"/>
            <a:chExt cx="3023029" cy="1592175"/>
          </a:xfrm>
        </p:grpSpPr>
        <p:sp>
          <p:nvSpPr>
            <p:cNvPr id="37" name="圆角矩形 36"/>
            <p:cNvSpPr/>
            <p:nvPr/>
          </p:nvSpPr>
          <p:spPr>
            <a:xfrm>
              <a:off x="4746034" y="3536954"/>
              <a:ext cx="3023029" cy="1592175"/>
            </a:xfrm>
            <a:prstGeom prst="roundRect">
              <a:avLst>
                <a:gd name="adj" fmla="val 4386"/>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altLang="zh-CN" sz="14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a:p>
              <a:pPr algn="ctr"/>
              <a:endParaRPr lang="en-US" altLang="zh-CN" sz="14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7" name="对象 6"/>
            <p:cNvGraphicFramePr>
              <a:graphicFrameLocks noChangeAspect="1"/>
            </p:cNvGraphicFramePr>
            <p:nvPr/>
          </p:nvGraphicFramePr>
          <p:xfrm>
            <a:off x="4930649" y="3563027"/>
            <a:ext cx="2653797" cy="1540027"/>
          </p:xfrm>
          <a:graphic>
            <a:graphicData uri="http://schemas.openxmlformats.org/presentationml/2006/ole">
              <mc:AlternateContent xmlns:mc="http://schemas.openxmlformats.org/markup-compatibility/2006">
                <mc:Choice xmlns:v="urn:schemas-microsoft-com:vml" Requires="v">
                  <p:oleObj spid="_x0000_s23589" name="" r:id="rId7" imgW="1543050" imgH="895350" progId="">
                    <p:embed/>
                  </p:oleObj>
                </mc:Choice>
                <mc:Fallback>
                  <p:oleObj name="" r:id="rId7" imgW="1543050" imgH="895350" progId="">
                    <p:embed/>
                    <p:pic>
                      <p:nvPicPr>
                        <p:cNvPr id="0" name="对象 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30649" y="3563027"/>
                          <a:ext cx="2653797" cy="15400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5" name="圆角矩形 44"/>
          <p:cNvSpPr/>
          <p:nvPr/>
        </p:nvSpPr>
        <p:spPr>
          <a:xfrm>
            <a:off x="866802" y="2166332"/>
            <a:ext cx="2763248" cy="312821"/>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圆角矩形 45"/>
          <p:cNvSpPr/>
          <p:nvPr/>
        </p:nvSpPr>
        <p:spPr>
          <a:xfrm>
            <a:off x="866802" y="2521215"/>
            <a:ext cx="2763248" cy="312821"/>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a:off x="866802" y="2864016"/>
            <a:ext cx="2763248" cy="312821"/>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a:off x="866802" y="3233561"/>
            <a:ext cx="2763248" cy="312821"/>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Bottom)">
                                      <p:cBhvr>
                                        <p:cTn id="11" dur="10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1" fill="hold" grpId="0" nodeType="clickEffect">
                                  <p:stCondLst>
                                    <p:cond delay="0"/>
                                  </p:stCondLst>
                                  <p:childTnLst>
                                    <p:set>
                                      <p:cBhvr>
                                        <p:cTn id="15" dur="1" fill="hold">
                                          <p:stCondLst>
                                            <p:cond delay="0"/>
                                          </p:stCondLst>
                                        </p:cTn>
                                        <p:tgtEl>
                                          <p:spTgt spid="45"/>
                                        </p:tgtEl>
                                        <p:attrNameLst>
                                          <p:attrName>style.visibility</p:attrName>
                                        </p:attrNameLst>
                                      </p:cBhvr>
                                      <p:to>
                                        <p:strVal val="visible"/>
                                      </p:to>
                                    </p:set>
                                    <p:anim calcmode="lin" valueType="num">
                                      <p:cBhvr additive="base">
                                        <p:cTn id="16" dur="1000"/>
                                        <p:tgtEl>
                                          <p:spTgt spid="45"/>
                                        </p:tgtEl>
                                        <p:attrNameLst>
                                          <p:attrName>ppt_y</p:attrName>
                                        </p:attrNameLst>
                                      </p:cBhvr>
                                      <p:tavLst>
                                        <p:tav tm="0">
                                          <p:val>
                                            <p:strVal val="#ppt_y-#ppt_h*1.125000"/>
                                          </p:val>
                                        </p:tav>
                                        <p:tav tm="100000">
                                          <p:val>
                                            <p:strVal val="#ppt_y"/>
                                          </p:val>
                                        </p:tav>
                                      </p:tavLst>
                                    </p:anim>
                                    <p:animEffect transition="in" filter="wipe(down)">
                                      <p:cBhvr>
                                        <p:cTn id="17" dur="1000"/>
                                        <p:tgtEl>
                                          <p:spTgt spid="45"/>
                                        </p:tgtEl>
                                      </p:cBhvr>
                                    </p:animEffect>
                                  </p:childTnLst>
                                  <p:subTnLst>
                                    <p:set>
                                      <p:cBhvr override="childStyle">
                                        <p:cTn dur="1" fill="hold" display="0" masterRel="nextClick" afterEffect="1"/>
                                        <p:tgtEl>
                                          <p:spTgt spid="45"/>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stCondLst>
                                    <p:cond delay="0"/>
                                  </p:stCondLst>
                                  <p:childTnLst>
                                    <p:set>
                                      <p:cBhvr>
                                        <p:cTn id="21" dur="1" fill="hold">
                                          <p:stCondLst>
                                            <p:cond delay="0"/>
                                          </p:stCondLst>
                                        </p:cTn>
                                        <p:tgtEl>
                                          <p:spTgt spid="46"/>
                                        </p:tgtEl>
                                        <p:attrNameLst>
                                          <p:attrName>style.visibility</p:attrName>
                                        </p:attrNameLst>
                                      </p:cBhvr>
                                      <p:to>
                                        <p:strVal val="visible"/>
                                      </p:to>
                                    </p:set>
                                    <p:anim calcmode="lin" valueType="num">
                                      <p:cBhvr additive="base">
                                        <p:cTn id="22" dur="1000"/>
                                        <p:tgtEl>
                                          <p:spTgt spid="46"/>
                                        </p:tgtEl>
                                        <p:attrNameLst>
                                          <p:attrName>ppt_y</p:attrName>
                                        </p:attrNameLst>
                                      </p:cBhvr>
                                      <p:tavLst>
                                        <p:tav tm="0">
                                          <p:val>
                                            <p:strVal val="#ppt_y-#ppt_h*1.125000"/>
                                          </p:val>
                                        </p:tav>
                                        <p:tav tm="100000">
                                          <p:val>
                                            <p:strVal val="#ppt_y"/>
                                          </p:val>
                                        </p:tav>
                                      </p:tavLst>
                                    </p:anim>
                                    <p:animEffect transition="in" filter="wipe(down)">
                                      <p:cBhvr>
                                        <p:cTn id="23" dur="1000"/>
                                        <p:tgtEl>
                                          <p:spTgt spid="46"/>
                                        </p:tgtEl>
                                      </p:cBhvr>
                                    </p:animEffect>
                                  </p:childTnLst>
                                  <p:subTnLst>
                                    <p:set>
                                      <p:cBhvr override="childStyle">
                                        <p:cTn dur="1" fill="hold" display="0" masterRel="nextClick" afterEffect="1"/>
                                        <p:tgtEl>
                                          <p:spTgt spid="46"/>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12" presetClass="entr" presetSubtype="1" fill="hold" grpId="0" nodeType="clickEffect">
                                  <p:stCondLst>
                                    <p:cond delay="0"/>
                                  </p:stCondLst>
                                  <p:childTnLst>
                                    <p:set>
                                      <p:cBhvr>
                                        <p:cTn id="27" dur="1" fill="hold">
                                          <p:stCondLst>
                                            <p:cond delay="0"/>
                                          </p:stCondLst>
                                        </p:cTn>
                                        <p:tgtEl>
                                          <p:spTgt spid="47"/>
                                        </p:tgtEl>
                                        <p:attrNameLst>
                                          <p:attrName>style.visibility</p:attrName>
                                        </p:attrNameLst>
                                      </p:cBhvr>
                                      <p:to>
                                        <p:strVal val="visible"/>
                                      </p:to>
                                    </p:set>
                                    <p:anim calcmode="lin" valueType="num">
                                      <p:cBhvr additive="base">
                                        <p:cTn id="28" dur="1000"/>
                                        <p:tgtEl>
                                          <p:spTgt spid="47"/>
                                        </p:tgtEl>
                                        <p:attrNameLst>
                                          <p:attrName>ppt_y</p:attrName>
                                        </p:attrNameLst>
                                      </p:cBhvr>
                                      <p:tavLst>
                                        <p:tav tm="0">
                                          <p:val>
                                            <p:strVal val="#ppt_y-#ppt_h*1.125000"/>
                                          </p:val>
                                        </p:tav>
                                        <p:tav tm="100000">
                                          <p:val>
                                            <p:strVal val="#ppt_y"/>
                                          </p:val>
                                        </p:tav>
                                      </p:tavLst>
                                    </p:anim>
                                    <p:animEffect transition="in" filter="wipe(down)">
                                      <p:cBhvr>
                                        <p:cTn id="29" dur="1000"/>
                                        <p:tgtEl>
                                          <p:spTgt spid="47"/>
                                        </p:tgtEl>
                                      </p:cBhvr>
                                    </p:animEffect>
                                  </p:childTnLst>
                                  <p:subTnLst>
                                    <p:set>
                                      <p:cBhvr override="childStyle">
                                        <p:cTn dur="1" fill="hold" display="0" masterRel="nextClick" afterEffect="1"/>
                                        <p:tgtEl>
                                          <p:spTgt spid="47"/>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12" presetClass="entr" presetSubtype="1" fill="hold" grpId="0" nodeType="clickEffect">
                                  <p:stCondLst>
                                    <p:cond delay="0"/>
                                  </p:stCondLst>
                                  <p:childTnLst>
                                    <p:set>
                                      <p:cBhvr>
                                        <p:cTn id="33" dur="1" fill="hold">
                                          <p:stCondLst>
                                            <p:cond delay="0"/>
                                          </p:stCondLst>
                                        </p:cTn>
                                        <p:tgtEl>
                                          <p:spTgt spid="48"/>
                                        </p:tgtEl>
                                        <p:attrNameLst>
                                          <p:attrName>style.visibility</p:attrName>
                                        </p:attrNameLst>
                                      </p:cBhvr>
                                      <p:to>
                                        <p:strVal val="visible"/>
                                      </p:to>
                                    </p:set>
                                    <p:anim calcmode="lin" valueType="num">
                                      <p:cBhvr additive="base">
                                        <p:cTn id="34" dur="1000"/>
                                        <p:tgtEl>
                                          <p:spTgt spid="48"/>
                                        </p:tgtEl>
                                        <p:attrNameLst>
                                          <p:attrName>ppt_y</p:attrName>
                                        </p:attrNameLst>
                                      </p:cBhvr>
                                      <p:tavLst>
                                        <p:tav tm="0">
                                          <p:val>
                                            <p:strVal val="#ppt_y-#ppt_h*1.125000"/>
                                          </p:val>
                                        </p:tav>
                                        <p:tav tm="100000">
                                          <p:val>
                                            <p:strVal val="#ppt_y"/>
                                          </p:val>
                                        </p:tav>
                                      </p:tavLst>
                                    </p:anim>
                                    <p:animEffect transition="in" filter="wipe(down)">
                                      <p:cBhvr>
                                        <p:cTn id="35" dur="1000"/>
                                        <p:tgtEl>
                                          <p:spTgt spid="48"/>
                                        </p:tgtEl>
                                      </p:cBhvr>
                                    </p:animEffect>
                                  </p:childTnLst>
                                  <p:subTnLst>
                                    <p:set>
                                      <p:cBhvr override="childStyle">
                                        <p:cTn dur="1" fill="hold" display="0" masterRel="nextClick" afterEffect="1"/>
                                        <p:tgtEl>
                                          <p:spTgt spid="48"/>
                                        </p:tgtEl>
                                        <p:attrNameLst>
                                          <p:attrName>style.visibility</p:attrName>
                                        </p:attrNameLst>
                                      </p:cBhvr>
                                      <p:to>
                                        <p:strVal val="hidden"/>
                                      </p:to>
                                    </p:set>
                                  </p:subTnLst>
                                </p:cTn>
                              </p:par>
                            </p:childTnLst>
                          </p:cTn>
                        </p:par>
                      </p:childTnLst>
                    </p:cTn>
                  </p:par>
                  <p:par>
                    <p:cTn id="36" fill="hold">
                      <p:stCondLst>
                        <p:cond delay="indefinite"/>
                      </p:stCondLst>
                      <p:childTnLst>
                        <p:par>
                          <p:cTn id="37" fill="hold">
                            <p:stCondLst>
                              <p:cond delay="0"/>
                            </p:stCondLst>
                            <p:childTnLst>
                              <p:par>
                                <p:cTn id="38" presetID="12" presetClass="entr" presetSubtype="4" fill="hold" nodeType="clickEffect">
                                  <p:stCondLst>
                                    <p:cond delay="0"/>
                                  </p:stCondLst>
                                  <p:childTnLst>
                                    <p:set>
                                      <p:cBhvr>
                                        <p:cTn id="39" dur="1" fill="hold">
                                          <p:stCondLst>
                                            <p:cond delay="0"/>
                                          </p:stCondLst>
                                        </p:cTn>
                                        <p:tgtEl>
                                          <p:spTgt spid="17"/>
                                        </p:tgtEl>
                                        <p:attrNameLst>
                                          <p:attrName>style.visibility</p:attrName>
                                        </p:attrNameLst>
                                      </p:cBhvr>
                                      <p:to>
                                        <p:strVal val="visible"/>
                                      </p:to>
                                    </p:set>
                                    <p:animEffect transition="in" filter="slide(fromBottom)">
                                      <p:cBhvr>
                                        <p:cTn id="40" dur="1000"/>
                                        <p:tgtEl>
                                          <p:spTgt spid="17"/>
                                        </p:tgtEl>
                                      </p:cBhvr>
                                    </p:animEffect>
                                  </p:childTnLst>
                                </p:cTn>
                              </p:par>
                            </p:childTnLst>
                          </p:cTn>
                        </p:par>
                        <p:par>
                          <p:cTn id="41" fill="hold">
                            <p:stCondLst>
                              <p:cond delay="1000"/>
                            </p:stCondLst>
                            <p:childTnLst>
                              <p:par>
                                <p:cTn id="42" presetID="12" presetClass="entr" presetSubtype="4" fill="hold" nodeType="afterEffect">
                                  <p:stCondLst>
                                    <p:cond delay="0"/>
                                  </p:stCondLst>
                                  <p:childTnLst>
                                    <p:set>
                                      <p:cBhvr>
                                        <p:cTn id="43" dur="1" fill="hold">
                                          <p:stCondLst>
                                            <p:cond delay="0"/>
                                          </p:stCondLst>
                                        </p:cTn>
                                        <p:tgtEl>
                                          <p:spTgt spid="31"/>
                                        </p:tgtEl>
                                        <p:attrNameLst>
                                          <p:attrName>style.visibility</p:attrName>
                                        </p:attrNameLst>
                                      </p:cBhvr>
                                      <p:to>
                                        <p:strVal val="visible"/>
                                      </p:to>
                                    </p:set>
                                    <p:animEffect transition="in" filter="slide(fromBottom)">
                                      <p:cBhvr>
                                        <p:cTn id="44" dur="1000"/>
                                        <p:tgtEl>
                                          <p:spTgt spid="31"/>
                                        </p:tgtEl>
                                      </p:cBhvr>
                                    </p:animEffect>
                                  </p:childTnLst>
                                </p:cTn>
                              </p:par>
                            </p:childTnLst>
                          </p:cTn>
                        </p:par>
                        <p:par>
                          <p:cTn id="45" fill="hold">
                            <p:stCondLst>
                              <p:cond delay="2000"/>
                            </p:stCondLst>
                            <p:childTnLst>
                              <p:par>
                                <p:cTn id="46" presetID="12" presetClass="entr" presetSubtype="4" fill="hold" nodeType="afterEffect">
                                  <p:stCondLst>
                                    <p:cond delay="0"/>
                                  </p:stCondLst>
                                  <p:childTnLst>
                                    <p:set>
                                      <p:cBhvr>
                                        <p:cTn id="47" dur="1" fill="hold">
                                          <p:stCondLst>
                                            <p:cond delay="0"/>
                                          </p:stCondLst>
                                        </p:cTn>
                                        <p:tgtEl>
                                          <p:spTgt spid="34"/>
                                        </p:tgtEl>
                                        <p:attrNameLst>
                                          <p:attrName>style.visibility</p:attrName>
                                        </p:attrNameLst>
                                      </p:cBhvr>
                                      <p:to>
                                        <p:strVal val="visible"/>
                                      </p:to>
                                    </p:set>
                                    <p:animEffect transition="in" filter="slide(fromBottom)">
                                      <p:cBhvr>
                                        <p:cTn id="48" dur="1000"/>
                                        <p:tgtEl>
                                          <p:spTgt spid="34"/>
                                        </p:tgtEl>
                                      </p:cBhvr>
                                    </p:animEffect>
                                  </p:childTnLst>
                                </p:cTn>
                              </p:par>
                            </p:childTnLst>
                          </p:cTn>
                        </p:par>
                        <p:par>
                          <p:cTn id="49" fill="hold">
                            <p:stCondLst>
                              <p:cond delay="3000"/>
                            </p:stCondLst>
                            <p:childTnLst>
                              <p:par>
                                <p:cTn id="50" presetID="12" presetClass="entr" presetSubtype="4" fill="hold" nodeType="after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slide(fromBottom)">
                                      <p:cBhvr>
                                        <p:cTn id="52" dur="1000"/>
                                        <p:tgtEl>
                                          <p:spTgt spid="20"/>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fade">
                                      <p:cBhvr>
                                        <p:cTn id="57" dur="1000"/>
                                        <p:tgtEl>
                                          <p:spTgt spid="6"/>
                                        </p:tgtEl>
                                      </p:cBhvr>
                                    </p:animEffect>
                                    <p:anim calcmode="lin" valueType="num">
                                      <p:cBhvr>
                                        <p:cTn id="58" dur="1000" fill="hold"/>
                                        <p:tgtEl>
                                          <p:spTgt spid="6"/>
                                        </p:tgtEl>
                                        <p:attrNameLst>
                                          <p:attrName>ppt_x</p:attrName>
                                        </p:attrNameLst>
                                      </p:cBhvr>
                                      <p:tavLst>
                                        <p:tav tm="0">
                                          <p:val>
                                            <p:strVal val="#ppt_x"/>
                                          </p:val>
                                        </p:tav>
                                        <p:tav tm="100000">
                                          <p:val>
                                            <p:strVal val="#ppt_x"/>
                                          </p:val>
                                        </p:tav>
                                      </p:tavLst>
                                    </p:anim>
                                    <p:anim calcmode="lin" valueType="num">
                                      <p:cBhvr>
                                        <p:cTn id="59" dur="1000" fill="hold"/>
                                        <p:tgtEl>
                                          <p:spTgt spid="6"/>
                                        </p:tgtEl>
                                        <p:attrNameLst>
                                          <p:attrName>ppt_y</p:attrName>
                                        </p:attrNameLst>
                                      </p:cBhvr>
                                      <p:tavLst>
                                        <p:tav tm="0">
                                          <p:val>
                                            <p:strVal val="#ppt_y+.1"/>
                                          </p:val>
                                        </p:tav>
                                        <p:tav tm="100000">
                                          <p:val>
                                            <p:strVal val="#ppt_y"/>
                                          </p:val>
                                        </p:tav>
                                      </p:tavLst>
                                    </p:anim>
                                  </p:childTnLst>
                                </p:cTn>
                              </p:par>
                            </p:childTnLst>
                          </p:cTn>
                        </p:par>
                        <p:par>
                          <p:cTn id="60" fill="hold">
                            <p:stCondLst>
                              <p:cond delay="1000"/>
                            </p:stCondLst>
                            <p:childTnLst>
                              <p:par>
                                <p:cTn id="61" presetID="12" presetClass="entr" presetSubtype="4" fill="hold" nodeType="after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slide(fromBottom)">
                                      <p:cBhvr>
                                        <p:cTn id="63" dur="10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animBg="1"/>
      <p:bldP spid="47" grpId="0" animBg="1"/>
      <p:bldP spid="48"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64"/>
          <p:cNvGraphicFramePr>
            <a:graphicFrameLocks noGrp="1"/>
          </p:cNvGraphicFramePr>
          <p:nvPr/>
        </p:nvGraphicFramePr>
        <p:xfrm>
          <a:off x="850649" y="1394542"/>
          <a:ext cx="2786896" cy="2194560"/>
        </p:xfrm>
        <a:graphic>
          <a:graphicData uri="http://schemas.openxmlformats.org/drawingml/2006/table">
            <a:tbl>
              <a:tblPr/>
              <a:tblGrid>
                <a:gridCol w="464048"/>
                <a:gridCol w="462744"/>
                <a:gridCol w="464048"/>
                <a:gridCol w="469263"/>
                <a:gridCol w="462745"/>
                <a:gridCol w="464048"/>
              </a:tblGrid>
              <a:tr h="365760">
                <a:tc gridSpan="4">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latin typeface="方正姚体" panose="02010601030101010101" pitchFamily="2" charset="-122"/>
                          <a:ea typeface="方正姚体" panose="02010601030101010101" pitchFamily="2" charset="-122"/>
                        </a:rPr>
                        <a:t>输        入</a:t>
                      </a:r>
                      <a:endParaRPr kumimoji="0" lang="zh-CN" altLang="en-US" sz="1800" b="1" i="0" u="none" strike="noStrike" cap="none" normalizeH="0" baseline="0" dirty="0">
                        <a:ln>
                          <a:noFill/>
                        </a:ln>
                        <a:solidFill>
                          <a:srgbClr val="000000"/>
                        </a:solidFill>
                        <a:effectLst/>
                        <a:latin typeface="方正姚体" panose="02010601030101010101" pitchFamily="2" charset="-122"/>
                        <a:ea typeface="方正姚体" panose="02010601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hMerge="1">
                  <a:tcPr/>
                </a:tc>
                <a:tc hMerge="1">
                  <a:tcPr/>
                </a:tc>
                <a:tc hMerge="1">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a:ln>
                            <a:noFill/>
                          </a:ln>
                          <a:solidFill>
                            <a:srgbClr val="000000"/>
                          </a:solidFill>
                          <a:effectLst/>
                          <a:latin typeface="方正姚体" panose="02010601030101010101" pitchFamily="2" charset="-122"/>
                          <a:ea typeface="方正姚体" panose="02010601030101010101" pitchFamily="2" charset="-122"/>
                        </a:rPr>
                        <a:t>输   出</a:t>
                      </a:r>
                      <a:endParaRPr kumimoji="0" lang="zh-CN" altLang="en-US" sz="1800" b="1" i="0" u="none" strike="noStrike" cap="none" normalizeH="0" baseline="0">
                        <a:ln>
                          <a:noFill/>
                        </a:ln>
                        <a:solidFill>
                          <a:srgbClr val="000000"/>
                        </a:solidFill>
                        <a:effectLst/>
                        <a:latin typeface="方正姚体" panose="02010601030101010101" pitchFamily="2" charset="-122"/>
                        <a:ea typeface="方正姚体" panose="02010601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hMerge="1">
                  <a:tcPr/>
                </a:tc>
              </a:tr>
              <a:tr h="36576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2</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3</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Y</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Y</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r>
              <a:tr h="36576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rgbClr val="FFFFFF"/>
                    </a:solidFill>
                  </a:tcPr>
                </a:tc>
              </a:tr>
              <a:tr h="36576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rgbClr val="FFFFFF"/>
                    </a:solidFill>
                  </a:tcPr>
                </a:tc>
              </a:tr>
              <a:tr h="36576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rgbClr val="FFFFFF"/>
                    </a:solidFill>
                  </a:tcPr>
                </a:tc>
              </a:tr>
              <a:tr h="36576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r>
            </a:tbl>
          </a:graphicData>
        </a:graphic>
      </p:graphicFrame>
      <p:sp>
        <p:nvSpPr>
          <p:cNvPr id="8" name="圆角矩形 7"/>
          <p:cNvSpPr/>
          <p:nvPr/>
        </p:nvSpPr>
        <p:spPr>
          <a:xfrm>
            <a:off x="874295" y="2165697"/>
            <a:ext cx="1776667" cy="312821"/>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a:off x="874295" y="2510603"/>
            <a:ext cx="1776667" cy="312821"/>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874295" y="2863529"/>
            <a:ext cx="1776667" cy="312821"/>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a:off x="874295" y="3236509"/>
            <a:ext cx="1776667" cy="312821"/>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a:off x="2763253" y="2173720"/>
            <a:ext cx="798096" cy="312821"/>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a:off x="2763253" y="2529320"/>
            <a:ext cx="798096" cy="312821"/>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圆角矩形 13"/>
          <p:cNvSpPr/>
          <p:nvPr/>
        </p:nvSpPr>
        <p:spPr>
          <a:xfrm>
            <a:off x="2763253" y="2884920"/>
            <a:ext cx="798096" cy="312821"/>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a:off x="2763253" y="3240520"/>
            <a:ext cx="798096" cy="312821"/>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43"/>
          <p:cNvGrpSpPr/>
          <p:nvPr/>
        </p:nvGrpSpPr>
        <p:grpSpPr>
          <a:xfrm>
            <a:off x="4296020" y="1376268"/>
            <a:ext cx="4414664" cy="1015746"/>
            <a:chOff x="719870" y="3748769"/>
            <a:chExt cx="4610281" cy="1015746"/>
          </a:xfrm>
        </p:grpSpPr>
        <p:sp>
          <p:nvSpPr>
            <p:cNvPr id="42" name="圆角矩形 41"/>
            <p:cNvSpPr/>
            <p:nvPr/>
          </p:nvSpPr>
          <p:spPr>
            <a:xfrm>
              <a:off x="912907" y="3809946"/>
              <a:ext cx="4417244" cy="954569"/>
            </a:xfrm>
            <a:prstGeom prst="roundRect">
              <a:avLst>
                <a:gd name="adj" fmla="val 4386"/>
              </a:avLst>
            </a:prstGeom>
            <a:solidFill>
              <a:schemeClr val="bg1"/>
            </a:solidFill>
            <a:ln w="28575">
              <a:solidFill>
                <a:srgbClr val="336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49580" indent="-360680"/>
              <a:r>
                <a:rPr lang="en-US" altLang="zh-CN" b="1" dirty="0">
                  <a:solidFill>
                    <a:srgbClr val="6600FF"/>
                  </a:solidFill>
                  <a:latin typeface="楷体" panose="02010609060101010101" pitchFamily="49" charset="-122"/>
                  <a:ea typeface="楷体" panose="02010609060101010101" pitchFamily="49" charset="-122"/>
                </a:rPr>
                <a:t>(1)</a:t>
              </a:r>
              <a:r>
                <a:rPr lang="zh-CN" altLang="en-US" b="1" dirty="0">
                  <a:solidFill>
                    <a:srgbClr val="6600FF"/>
                  </a:solidFill>
                  <a:latin typeface="楷体" panose="02010609060101010101" pitchFamily="49" charset="-122"/>
                  <a:ea typeface="楷体" panose="02010609060101010101" pitchFamily="49" charset="-122"/>
                </a:rPr>
                <a:t>与普通编码器相比，优先编码器解决了什么问题？</a:t>
              </a:r>
              <a:endParaRPr lang="en-US" altLang="zh-CN" b="1" dirty="0">
                <a:solidFill>
                  <a:srgbClr val="6600FF"/>
                </a:solidFill>
                <a:latin typeface="楷体" panose="02010609060101010101" pitchFamily="49" charset="-122"/>
                <a:ea typeface="楷体" panose="02010609060101010101" pitchFamily="49" charset="-122"/>
              </a:endParaRPr>
            </a:p>
            <a:p>
              <a:pPr marL="88900"/>
              <a:r>
                <a:rPr lang="en-US" altLang="zh-CN" b="1" dirty="0">
                  <a:solidFill>
                    <a:srgbClr val="6600FF"/>
                  </a:solidFill>
                  <a:latin typeface="楷体" panose="02010609060101010101" pitchFamily="49" charset="-122"/>
                  <a:ea typeface="楷体" panose="02010609060101010101" pitchFamily="49" charset="-122"/>
                </a:rPr>
                <a:t>(2)</a:t>
              </a:r>
              <a:r>
                <a:rPr lang="zh-CN" altLang="en-US" b="1" dirty="0">
                  <a:solidFill>
                    <a:srgbClr val="6600FF"/>
                  </a:solidFill>
                  <a:latin typeface="楷体" panose="02010609060101010101" pitchFamily="49" charset="-122"/>
                  <a:ea typeface="楷体" panose="02010609060101010101" pitchFamily="49" charset="-122"/>
                </a:rPr>
                <a:t>还存在什么问题？</a:t>
              </a:r>
              <a:endParaRPr lang="zh-CN" altLang="en-US" b="1" dirty="0">
                <a:solidFill>
                  <a:srgbClr val="6600FF"/>
                </a:solidFill>
                <a:latin typeface="楷体" panose="02010609060101010101" pitchFamily="49" charset="-122"/>
                <a:ea typeface="楷体" panose="02010609060101010101" pitchFamily="49" charset="-122"/>
              </a:endParaRPr>
            </a:p>
          </p:txBody>
        </p:sp>
        <p:pic>
          <p:nvPicPr>
            <p:cNvPr id="23557" name="Picture 5"/>
            <p:cNvPicPr>
              <a:picLocks noChangeAspect="1" noChangeArrowheads="1"/>
            </p:cNvPicPr>
            <p:nvPr/>
          </p:nvPicPr>
          <p:blipFill>
            <a:blip r:embed="rId1" cstate="print"/>
            <a:srcRect/>
            <a:stretch>
              <a:fillRect/>
            </a:stretch>
          </p:blipFill>
          <p:spPr bwMode="auto">
            <a:xfrm>
              <a:off x="719870" y="3748769"/>
              <a:ext cx="429011" cy="375802"/>
            </a:xfrm>
            <a:prstGeom prst="rect">
              <a:avLst/>
            </a:prstGeom>
            <a:noFill/>
            <a:ln w="9525">
              <a:noFill/>
              <a:miter lim="800000"/>
              <a:headEnd/>
              <a:tailEnd/>
            </a:ln>
          </p:spPr>
        </p:pic>
      </p:grpSp>
      <p:grpSp>
        <p:nvGrpSpPr>
          <p:cNvPr id="24" name="组合 48"/>
          <p:cNvGrpSpPr/>
          <p:nvPr/>
        </p:nvGrpSpPr>
        <p:grpSpPr>
          <a:xfrm>
            <a:off x="4304546" y="2490821"/>
            <a:ext cx="4405797" cy="543307"/>
            <a:chOff x="717089" y="4570114"/>
            <a:chExt cx="4236875" cy="543307"/>
          </a:xfrm>
        </p:grpSpPr>
        <p:sp>
          <p:nvSpPr>
            <p:cNvPr id="47" name="圆角矩形 46"/>
            <p:cNvSpPr/>
            <p:nvPr/>
          </p:nvSpPr>
          <p:spPr>
            <a:xfrm>
              <a:off x="936929" y="4676274"/>
              <a:ext cx="4017035" cy="437147"/>
            </a:xfrm>
            <a:prstGeom prst="roundRect">
              <a:avLst>
                <a:gd name="adj" fmla="val 4386"/>
              </a:avLst>
            </a:prstGeom>
            <a:solidFill>
              <a:schemeClr val="bg1"/>
            </a:solidFill>
            <a:ln w="28575">
              <a:solidFill>
                <a:srgbClr val="336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8900"/>
              <a:r>
                <a:rPr lang="zh-CN" altLang="en-US" b="1" dirty="0">
                  <a:solidFill>
                    <a:srgbClr val="0000FF"/>
                  </a:solidFill>
                  <a:latin typeface="楷体" panose="02010609060101010101" pitchFamily="49" charset="-122"/>
                  <a:ea typeface="楷体" panose="02010609060101010101" pitchFamily="49" charset="-122"/>
                </a:rPr>
                <a:t>解决了多个输入同时有效的问题！</a:t>
              </a:r>
              <a:endParaRPr lang="zh-CN" altLang="en-US" b="1" dirty="0">
                <a:solidFill>
                  <a:srgbClr val="0000FF"/>
                </a:solidFill>
                <a:latin typeface="楷体" panose="02010609060101010101" pitchFamily="49" charset="-122"/>
                <a:ea typeface="楷体" panose="02010609060101010101" pitchFamily="49" charset="-122"/>
              </a:endParaRPr>
            </a:p>
          </p:txBody>
        </p:sp>
        <p:pic>
          <p:nvPicPr>
            <p:cNvPr id="23558" name="Picture 6"/>
            <p:cNvPicPr>
              <a:picLocks noChangeAspect="1" noChangeArrowheads="1"/>
            </p:cNvPicPr>
            <p:nvPr/>
          </p:nvPicPr>
          <p:blipFill>
            <a:blip r:embed="rId2" cstate="print"/>
            <a:srcRect/>
            <a:stretch>
              <a:fillRect/>
            </a:stretch>
          </p:blipFill>
          <p:spPr bwMode="auto">
            <a:xfrm>
              <a:off x="717089" y="4570114"/>
              <a:ext cx="413836" cy="401687"/>
            </a:xfrm>
            <a:prstGeom prst="rect">
              <a:avLst/>
            </a:prstGeom>
            <a:noFill/>
            <a:ln w="9525">
              <a:noFill/>
              <a:miter lim="800000"/>
              <a:headEnd/>
              <a:tailEnd/>
            </a:ln>
          </p:spPr>
        </p:pic>
      </p:grpSp>
      <p:grpSp>
        <p:nvGrpSpPr>
          <p:cNvPr id="43" name="组合 42"/>
          <p:cNvGrpSpPr/>
          <p:nvPr/>
        </p:nvGrpSpPr>
        <p:grpSpPr>
          <a:xfrm>
            <a:off x="4285515" y="3237850"/>
            <a:ext cx="4438156" cy="543307"/>
            <a:chOff x="644902" y="4369583"/>
            <a:chExt cx="4267993" cy="543307"/>
          </a:xfrm>
        </p:grpSpPr>
        <p:grpSp>
          <p:nvGrpSpPr>
            <p:cNvPr id="27" name="组合 49"/>
            <p:cNvGrpSpPr/>
            <p:nvPr/>
          </p:nvGrpSpPr>
          <p:grpSpPr>
            <a:xfrm>
              <a:off x="644902" y="4369583"/>
              <a:ext cx="4267993" cy="543307"/>
              <a:chOff x="709067" y="4570114"/>
              <a:chExt cx="4267993" cy="543307"/>
            </a:xfrm>
          </p:grpSpPr>
          <p:sp>
            <p:nvSpPr>
              <p:cNvPr id="51" name="圆角矩形 50"/>
              <p:cNvSpPr/>
              <p:nvPr/>
            </p:nvSpPr>
            <p:spPr>
              <a:xfrm>
                <a:off x="936930" y="4676274"/>
                <a:ext cx="4040130" cy="437147"/>
              </a:xfrm>
              <a:prstGeom prst="roundRect">
                <a:avLst>
                  <a:gd name="adj" fmla="val 4386"/>
                </a:avLst>
              </a:prstGeom>
              <a:solidFill>
                <a:schemeClr val="bg1"/>
              </a:solidFill>
              <a:ln w="28575">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8900"/>
                <a:r>
                  <a:rPr lang="zh-CN" altLang="en-US" b="1" dirty="0">
                    <a:solidFill>
                      <a:srgbClr val="0000FF"/>
                    </a:solidFill>
                    <a:latin typeface="楷体" panose="02010609060101010101" pitchFamily="49" charset="-122"/>
                    <a:ea typeface="楷体" panose="02010609060101010101" pitchFamily="49" charset="-122"/>
                  </a:rPr>
                  <a:t>输入均无效与</a:t>
                </a:r>
                <a:r>
                  <a:rPr lang="en-US" altLang="zh-CN" sz="16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600" b="1"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0</a:t>
                </a:r>
                <a:r>
                  <a:rPr lang="en-US" altLang="zh-CN" sz="16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600" b="1"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a:t>
                </a:r>
                <a:r>
                  <a:rPr lang="en-US" altLang="zh-CN" sz="16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600" b="1"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a:t>
                </a:r>
                <a:r>
                  <a:rPr lang="en-US" altLang="zh-CN" sz="16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600" b="1"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3</a:t>
                </a:r>
                <a:r>
                  <a:rPr lang="en-US" altLang="zh-CN" sz="16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=1000</a:t>
                </a:r>
                <a:r>
                  <a:rPr lang="zh-CN" altLang="en-US" b="1" dirty="0">
                    <a:solidFill>
                      <a:srgbClr val="0000FF"/>
                    </a:solidFill>
                    <a:latin typeface="楷体" panose="02010609060101010101" pitchFamily="49" charset="-122"/>
                    <a:ea typeface="楷体" panose="02010609060101010101" pitchFamily="49" charset="-122"/>
                  </a:rPr>
                  <a:t>输出代码相同</a:t>
                </a:r>
                <a:r>
                  <a:rPr lang="en-US" altLang="zh-CN" b="1" dirty="0">
                    <a:solidFill>
                      <a:srgbClr val="0000FF"/>
                    </a:solidFill>
                    <a:latin typeface="楷体" panose="02010609060101010101" pitchFamily="49" charset="-122"/>
                    <a:ea typeface="楷体" panose="02010609060101010101" pitchFamily="49" charset="-122"/>
                  </a:rPr>
                  <a:t>!</a:t>
                </a:r>
                <a:endParaRPr lang="zh-CN" altLang="en-US" b="1" dirty="0">
                  <a:solidFill>
                    <a:srgbClr val="0000FF"/>
                  </a:solidFill>
                  <a:latin typeface="楷体" panose="02010609060101010101" pitchFamily="49" charset="-122"/>
                  <a:ea typeface="楷体" panose="02010609060101010101" pitchFamily="49" charset="-122"/>
                </a:endParaRPr>
              </a:p>
            </p:txBody>
          </p:sp>
          <p:pic>
            <p:nvPicPr>
              <p:cNvPr id="52" name="Picture 6"/>
              <p:cNvPicPr>
                <a:picLocks noChangeAspect="1" noChangeArrowheads="1"/>
              </p:cNvPicPr>
              <p:nvPr/>
            </p:nvPicPr>
            <p:blipFill>
              <a:blip r:embed="rId2" cstate="print"/>
              <a:srcRect/>
              <a:stretch>
                <a:fillRect/>
              </a:stretch>
            </p:blipFill>
            <p:spPr bwMode="auto">
              <a:xfrm>
                <a:off x="709067" y="4570114"/>
                <a:ext cx="413836" cy="401687"/>
              </a:xfrm>
              <a:prstGeom prst="rect">
                <a:avLst/>
              </a:prstGeom>
              <a:noFill/>
              <a:ln w="9525">
                <a:noFill/>
                <a:miter lim="800000"/>
                <a:headEnd/>
                <a:tailEnd/>
              </a:ln>
            </p:spPr>
          </p:pic>
        </p:grpSp>
        <p:pic>
          <p:nvPicPr>
            <p:cNvPr id="26628" name="Picture 4"/>
            <p:cNvPicPr>
              <a:picLocks noChangeAspect="1" noChangeArrowheads="1"/>
            </p:cNvPicPr>
            <p:nvPr/>
          </p:nvPicPr>
          <p:blipFill>
            <a:blip r:embed="rId3" cstate="print"/>
            <a:srcRect/>
            <a:stretch>
              <a:fillRect/>
            </a:stretch>
          </p:blipFill>
          <p:spPr bwMode="auto">
            <a:xfrm>
              <a:off x="648703" y="4373232"/>
              <a:ext cx="414087" cy="388765"/>
            </a:xfrm>
            <a:prstGeom prst="rect">
              <a:avLst/>
            </a:prstGeom>
            <a:noFill/>
            <a:ln w="9525">
              <a:noFill/>
              <a:miter lim="800000"/>
              <a:headEnd/>
              <a:tailEnd/>
            </a:ln>
          </p:spPr>
        </p:pic>
      </p:grpSp>
      <p:grpSp>
        <p:nvGrpSpPr>
          <p:cNvPr id="2" name="组合 1"/>
          <p:cNvGrpSpPr/>
          <p:nvPr/>
        </p:nvGrpSpPr>
        <p:grpSpPr>
          <a:xfrm>
            <a:off x="619838" y="3694970"/>
            <a:ext cx="3563542" cy="822594"/>
            <a:chOff x="619838" y="3694970"/>
            <a:chExt cx="3563542" cy="822594"/>
          </a:xfrm>
        </p:grpSpPr>
        <p:grpSp>
          <p:nvGrpSpPr>
            <p:cNvPr id="41" name="组合 40"/>
            <p:cNvGrpSpPr/>
            <p:nvPr/>
          </p:nvGrpSpPr>
          <p:grpSpPr>
            <a:xfrm>
              <a:off x="619838" y="3694970"/>
              <a:ext cx="1337097" cy="822594"/>
              <a:chOff x="5887488" y="3056004"/>
              <a:chExt cx="1337097" cy="822594"/>
            </a:xfrm>
          </p:grpSpPr>
          <p:sp>
            <p:nvSpPr>
              <p:cNvPr id="39" name="圆角矩形 38"/>
              <p:cNvSpPr/>
              <p:nvPr/>
            </p:nvSpPr>
            <p:spPr>
              <a:xfrm>
                <a:off x="5887488" y="3056004"/>
                <a:ext cx="1337097" cy="822161"/>
              </a:xfrm>
              <a:prstGeom prst="roundRect">
                <a:avLst>
                  <a:gd name="adj" fmla="val 4386"/>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altLang="zh-CN" sz="14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a:p>
                <a:pPr algn="ctr"/>
                <a:endParaRPr lang="en-US" altLang="zh-CN" sz="14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112695" name="Object 55"/>
              <p:cNvGraphicFramePr>
                <a:graphicFrameLocks noChangeAspect="1"/>
              </p:cNvGraphicFramePr>
              <p:nvPr/>
            </p:nvGraphicFramePr>
            <p:xfrm>
              <a:off x="5955546" y="3124852"/>
              <a:ext cx="1143000" cy="360362"/>
            </p:xfrm>
            <a:graphic>
              <a:graphicData uri="http://schemas.openxmlformats.org/presentationml/2006/ole">
                <mc:AlternateContent xmlns:mc="http://schemas.openxmlformats.org/markup-compatibility/2006">
                  <mc:Choice xmlns:v="urn:schemas-microsoft-com:vml" Requires="v">
                    <p:oleObj spid="_x0000_s24600" name="公式" r:id="rId4" imgW="685800" imgH="228600" progId="">
                      <p:embed/>
                    </p:oleObj>
                  </mc:Choice>
                  <mc:Fallback>
                    <p:oleObj name="公式" r:id="rId4" imgW="685800" imgH="228600" progId="">
                      <p:embed/>
                      <p:pic>
                        <p:nvPicPr>
                          <p:cNvPr id="0" name="Object 5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55546" y="3124852"/>
                            <a:ext cx="1143000" cy="360362"/>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aphicFrame>
            <p:nvGraphicFramePr>
              <p:cNvPr id="112696" name="Object 56"/>
              <p:cNvGraphicFramePr>
                <a:graphicFrameLocks noChangeAspect="1"/>
              </p:cNvGraphicFramePr>
              <p:nvPr/>
            </p:nvGraphicFramePr>
            <p:xfrm>
              <a:off x="5942730" y="3492835"/>
              <a:ext cx="1233487" cy="385763"/>
            </p:xfrm>
            <a:graphic>
              <a:graphicData uri="http://schemas.openxmlformats.org/presentationml/2006/ole">
                <mc:AlternateContent xmlns:mc="http://schemas.openxmlformats.org/markup-compatibility/2006">
                  <mc:Choice xmlns:v="urn:schemas-microsoft-com:vml" Requires="v">
                    <p:oleObj spid="_x0000_s24601" name="公式" r:id="rId6" imgW="825500" imgH="254000" progId="">
                      <p:embed/>
                    </p:oleObj>
                  </mc:Choice>
                  <mc:Fallback>
                    <p:oleObj name="公式" r:id="rId6" imgW="825500" imgH="254000" progId="">
                      <p:embed/>
                      <p:pic>
                        <p:nvPicPr>
                          <p:cNvPr id="0" name="Object 5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42730" y="3492835"/>
                            <a:ext cx="1233487" cy="385763"/>
                          </a:xfrm>
                          <a:prstGeom prst="rect">
                            <a:avLst/>
                          </a:prstGeom>
                          <a:noFill/>
                          <a:extLst>
                            <a:ext uri="{909E8E84-426E-40DD-AFC4-6F175D3DCCD1}">
                              <a14:hiddenFill xmlns:a14="http://schemas.microsoft.com/office/drawing/2010/main">
                                <a:solidFill>
                                  <a:srgbClr val="FFFF99"/>
                                </a:solidFill>
                              </a14:hiddenFill>
                            </a:ext>
                          </a:extLst>
                        </p:spPr>
                      </p:pic>
                    </p:oleObj>
                  </mc:Fallback>
                </mc:AlternateContent>
              </a:graphicData>
            </a:graphic>
          </p:graphicFrame>
        </p:grpSp>
        <p:sp>
          <p:nvSpPr>
            <p:cNvPr id="49" name="五边形 48"/>
            <p:cNvSpPr/>
            <p:nvPr/>
          </p:nvSpPr>
          <p:spPr>
            <a:xfrm flipV="1">
              <a:off x="1981032" y="3890254"/>
              <a:ext cx="248709" cy="484632"/>
            </a:xfrm>
            <a:prstGeom prst="homePlate">
              <a:avLst/>
            </a:prstGeom>
            <a:solidFill>
              <a:srgbClr val="66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0" name="组合 49"/>
            <p:cNvGrpSpPr/>
            <p:nvPr/>
          </p:nvGrpSpPr>
          <p:grpSpPr>
            <a:xfrm>
              <a:off x="2255814" y="3711392"/>
              <a:ext cx="1927566" cy="774082"/>
              <a:chOff x="4054680" y="2951699"/>
              <a:chExt cx="2009723" cy="774082"/>
            </a:xfrm>
            <a:solidFill>
              <a:schemeClr val="accent6">
                <a:lumMod val="20000"/>
                <a:lumOff val="80000"/>
              </a:schemeClr>
            </a:solidFill>
          </p:grpSpPr>
          <p:sp>
            <p:nvSpPr>
              <p:cNvPr id="53" name="圆角矩形 52"/>
              <p:cNvSpPr/>
              <p:nvPr/>
            </p:nvSpPr>
            <p:spPr>
              <a:xfrm>
                <a:off x="4054680" y="2951699"/>
                <a:ext cx="2009723" cy="774082"/>
              </a:xfrm>
              <a:prstGeom prst="roundRect">
                <a:avLst>
                  <a:gd name="adj" fmla="val 4386"/>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indent="1167130" algn="ctr"/>
                <a:r>
                  <a:rPr lang="en-US" altLang="zh-CN" sz="16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Y</a:t>
                </a:r>
                <a:r>
                  <a:rPr lang="en-US" altLang="zh-CN" sz="1600" b="1"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a:t>
                </a:r>
                <a:r>
                  <a:rPr lang="en-US" altLang="zh-CN" sz="16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Y</a:t>
                </a:r>
                <a:r>
                  <a:rPr lang="en-US" altLang="zh-CN" sz="1600" b="1"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0</a:t>
                </a:r>
                <a:r>
                  <a:rPr lang="en-US" altLang="zh-CN" sz="16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=00</a:t>
                </a:r>
                <a:endParaRPr lang="zh-CN" altLang="en-US" sz="1600" b="1" dirty="0"/>
              </a:p>
            </p:txBody>
          </p:sp>
          <p:sp>
            <p:nvSpPr>
              <p:cNvPr id="54" name="圆角矩形 53"/>
              <p:cNvSpPr/>
              <p:nvPr/>
            </p:nvSpPr>
            <p:spPr>
              <a:xfrm>
                <a:off x="4102792" y="3365587"/>
                <a:ext cx="1080000" cy="324000"/>
              </a:xfrm>
              <a:prstGeom prst="roundRect">
                <a:avLst>
                  <a:gd name="adj" fmla="val 4386"/>
                </a:avLst>
              </a:prstGeom>
              <a:solidFill>
                <a:srgbClr val="66FFCC"/>
              </a:solidFill>
              <a:ln w="952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400" b="1"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0</a:t>
                </a:r>
                <a:r>
                  <a:rPr lang="en-US" altLang="zh-CN" sz="14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400" b="1"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a:t>
                </a:r>
                <a:r>
                  <a:rPr lang="en-US" altLang="zh-CN" sz="14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400" b="1"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2</a:t>
                </a:r>
                <a:r>
                  <a:rPr lang="en-US" altLang="zh-CN" sz="14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400" b="1" baseline="-25000"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3</a:t>
                </a:r>
                <a:r>
                  <a:rPr lang="en-US" altLang="zh-CN" sz="1400"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=1000</a:t>
                </a:r>
                <a:endParaRPr lang="zh-CN" altLang="en-US" sz="1400" b="1" dirty="0"/>
              </a:p>
            </p:txBody>
          </p:sp>
          <p:sp>
            <p:nvSpPr>
              <p:cNvPr id="55" name="圆角矩形 54"/>
              <p:cNvSpPr/>
              <p:nvPr/>
            </p:nvSpPr>
            <p:spPr>
              <a:xfrm>
                <a:off x="4106904" y="2998623"/>
                <a:ext cx="1080000" cy="324000"/>
              </a:xfrm>
              <a:prstGeom prst="roundRect">
                <a:avLst>
                  <a:gd name="adj" fmla="val 4386"/>
                </a:avLst>
              </a:prstGeom>
              <a:solidFill>
                <a:srgbClr val="FFFF00"/>
              </a:solidFill>
              <a:ln w="9525"/>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b="1" i="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400" b="1" baseline="-25000"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0</a:t>
                </a:r>
                <a:r>
                  <a:rPr lang="en-US" altLang="zh-CN" sz="1400" b="1" i="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400" b="1" baseline="-25000"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1</a:t>
                </a:r>
                <a:r>
                  <a:rPr lang="en-US" altLang="zh-CN" sz="1400" b="1" i="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400" b="1" baseline="-25000"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2</a:t>
                </a:r>
                <a:r>
                  <a:rPr lang="en-US" altLang="zh-CN" sz="1400" b="1" i="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I</a:t>
                </a:r>
                <a:r>
                  <a:rPr lang="en-US" altLang="zh-CN" sz="1400" b="1" baseline="-25000"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3</a:t>
                </a:r>
                <a:r>
                  <a:rPr lang="en-US" altLang="zh-CN" sz="1400"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=0000</a:t>
                </a:r>
                <a:endParaRPr lang="zh-CN" altLang="en-US" sz="1400" b="1" dirty="0">
                  <a:solidFill>
                    <a:srgbClr val="CC00CC"/>
                  </a:solidFill>
                </a:endParaRPr>
              </a:p>
            </p:txBody>
          </p:sp>
        </p:grpSp>
      </p:grpSp>
      <p:grpSp>
        <p:nvGrpSpPr>
          <p:cNvPr id="34" name="组合 33"/>
          <p:cNvGrpSpPr/>
          <p:nvPr/>
        </p:nvGrpSpPr>
        <p:grpSpPr>
          <a:xfrm>
            <a:off x="392432" y="769746"/>
            <a:ext cx="4713941" cy="420971"/>
            <a:chOff x="670560" y="892917"/>
            <a:chExt cx="4713941" cy="420971"/>
          </a:xfrm>
        </p:grpSpPr>
        <p:sp>
          <p:nvSpPr>
            <p:cNvPr id="35" name="矩形 34"/>
            <p:cNvSpPr/>
            <p:nvPr/>
          </p:nvSpPr>
          <p:spPr>
            <a:xfrm>
              <a:off x="1035233" y="913778"/>
              <a:ext cx="4349268"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优先编码器的工作原理（</a:t>
              </a:r>
              <a:r>
                <a:rPr lang="en-US" altLang="zh-CN" sz="2000" b="1" dirty="0">
                  <a:solidFill>
                    <a:srgbClr val="002060"/>
                  </a:solidFill>
                  <a:latin typeface="微软雅黑" panose="020B0503020204020204" pitchFamily="34" charset="-122"/>
                  <a:ea typeface="微软雅黑" panose="020B0503020204020204" pitchFamily="34" charset="-122"/>
                </a:rPr>
                <a:t>4</a:t>
              </a:r>
              <a:r>
                <a:rPr lang="zh-CN" altLang="en-US" sz="2000" b="1" dirty="0">
                  <a:solidFill>
                    <a:srgbClr val="002060"/>
                  </a:solidFill>
                  <a:latin typeface="微软雅黑" panose="020B0503020204020204" pitchFamily="34" charset="-122"/>
                  <a:ea typeface="微软雅黑" panose="020B0503020204020204" pitchFamily="34" charset="-122"/>
                </a:rPr>
                <a:t>线－</a:t>
              </a:r>
              <a:r>
                <a:rPr lang="en-US" altLang="zh-CN" sz="2000" b="1" dirty="0">
                  <a:solidFill>
                    <a:srgbClr val="002060"/>
                  </a:solidFill>
                  <a:latin typeface="微软雅黑" panose="020B0503020204020204" pitchFamily="34" charset="-122"/>
                  <a:ea typeface="微软雅黑" panose="020B0503020204020204" pitchFamily="34" charset="-122"/>
                </a:rPr>
                <a:t>2</a:t>
              </a:r>
              <a:r>
                <a:rPr lang="zh-CN" altLang="en-US" sz="2000" b="1" dirty="0">
                  <a:solidFill>
                    <a:srgbClr val="002060"/>
                  </a:solidFill>
                  <a:latin typeface="微软雅黑" panose="020B0503020204020204" pitchFamily="34" charset="-122"/>
                  <a:ea typeface="微软雅黑" panose="020B0503020204020204" pitchFamily="34" charset="-122"/>
                </a:rPr>
                <a:t>线）</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36" name="Picture 3"/>
            <p:cNvPicPr>
              <a:picLocks noChangeAspect="1" noChangeArrowheads="1"/>
            </p:cNvPicPr>
            <p:nvPr/>
          </p:nvPicPr>
          <p:blipFill>
            <a:blip r:embed="rId8" cstate="print"/>
            <a:srcRect/>
            <a:stretch>
              <a:fillRect/>
            </a:stretch>
          </p:blipFill>
          <p:spPr bwMode="auto">
            <a:xfrm flipH="1">
              <a:off x="670560" y="892917"/>
              <a:ext cx="342900" cy="411055"/>
            </a:xfrm>
            <a:prstGeom prst="rect">
              <a:avLst/>
            </a:prstGeom>
            <a:noFill/>
            <a:ln w="9525">
              <a:noFill/>
              <a:miter lim="800000"/>
              <a:headEnd/>
              <a:tailEnd/>
            </a:ln>
          </p:spPr>
        </p:pic>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slide(fromBottom)">
                                      <p:cBhvr>
                                        <p:cTn id="7" dur="10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slide(fromBottom)">
                                      <p:cBhvr>
                                        <p:cTn id="17" dur="10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Group 64"/>
          <p:cNvGraphicFramePr>
            <a:graphicFrameLocks noGrp="1"/>
          </p:cNvGraphicFramePr>
          <p:nvPr/>
        </p:nvGraphicFramePr>
        <p:xfrm>
          <a:off x="850647" y="1394542"/>
          <a:ext cx="3307536" cy="2560320"/>
        </p:xfrm>
        <a:graphic>
          <a:graphicData uri="http://schemas.openxmlformats.org/drawingml/2006/table">
            <a:tbl>
              <a:tblPr/>
              <a:tblGrid>
                <a:gridCol w="438182"/>
                <a:gridCol w="438182"/>
                <a:gridCol w="438182"/>
                <a:gridCol w="438182"/>
                <a:gridCol w="472921"/>
                <a:gridCol w="492356"/>
                <a:gridCol w="589531"/>
              </a:tblGrid>
              <a:tr h="365760">
                <a:tc gridSpan="4">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latin typeface="方正姚体" panose="02010601030101010101" pitchFamily="2" charset="-122"/>
                          <a:ea typeface="方正姚体" panose="02010601030101010101" pitchFamily="2" charset="-122"/>
                        </a:rPr>
                        <a:t>输        入</a:t>
                      </a:r>
                      <a:endParaRPr kumimoji="0" lang="zh-CN" altLang="en-US" sz="1800" b="1" i="0" u="none" strike="noStrike" cap="none" normalizeH="0" baseline="0" dirty="0">
                        <a:ln>
                          <a:noFill/>
                        </a:ln>
                        <a:solidFill>
                          <a:srgbClr val="000000"/>
                        </a:solidFill>
                        <a:effectLst/>
                        <a:latin typeface="方正姚体" panose="02010601030101010101" pitchFamily="2" charset="-122"/>
                        <a:ea typeface="方正姚体" panose="02010601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hMerge="1">
                  <a:tcPr/>
                </a:tc>
                <a:tc hMerge="1">
                  <a:tcPr/>
                </a:tc>
                <a:tc hMerge="1">
                  <a:tcPr/>
                </a:tc>
                <a:tc gridSpan="3">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800" b="1" i="0" u="none" strike="noStrike" cap="none" normalizeH="0" baseline="0" dirty="0">
                          <a:ln>
                            <a:noFill/>
                          </a:ln>
                          <a:solidFill>
                            <a:srgbClr val="000000"/>
                          </a:solidFill>
                          <a:effectLst/>
                          <a:latin typeface="方正姚体" panose="02010601030101010101" pitchFamily="2" charset="-122"/>
                          <a:ea typeface="方正姚体" panose="02010601030101010101" pitchFamily="2" charset="-122"/>
                        </a:rPr>
                        <a:t>输   出</a:t>
                      </a:r>
                      <a:endParaRPr kumimoji="0" lang="zh-CN" altLang="en-US" sz="1800" b="1" i="0" u="none" strike="noStrike" cap="none" normalizeH="0" baseline="0" dirty="0">
                        <a:ln>
                          <a:noFill/>
                        </a:ln>
                        <a:solidFill>
                          <a:srgbClr val="000000"/>
                        </a:solidFill>
                        <a:effectLst/>
                        <a:latin typeface="方正姚体" panose="02010601030101010101" pitchFamily="2" charset="-122"/>
                        <a:ea typeface="方正姚体" panose="02010601030101010101" pitchFamily="2" charset="-122"/>
                      </a:endParaRPr>
                    </a:p>
                  </a:txBody>
                  <a:tcPr horzOverflow="overflow">
                    <a:lnL w="28575" cap="flat" cmpd="sng" algn="ctr">
                      <a:solidFill>
                        <a:schemeClr val="hlink"/>
                      </a:solidFill>
                      <a:prstDash val="solid"/>
                      <a:miter lim="800000"/>
                      <a:headEnd type="none" w="med" len="med"/>
                      <a:tailEnd type="none" w="med" len="med"/>
                    </a:lnL>
                    <a:lnR w="28575" cap="flat" cmpd="sng" algn="ctr">
                      <a:no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hMerge="1">
                  <a:tcPr/>
                </a:tc>
                <a:tc hMerge="1">
                  <a:tcPr horzOverflow="overflow">
                    <a:lnL w="28575" cap="flat" cmpd="sng" algn="ctr">
                      <a:solidFill>
                        <a:schemeClr val="hlink"/>
                      </a:solidFill>
                      <a:prstDash val="solid"/>
                      <a:miter lim="800000"/>
                      <a:headEnd type="none" w="med" len="med"/>
                      <a:tailEnd type="none" w="med" len="med"/>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r>
              <a:tr h="36576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2</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I</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3</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Y</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1"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Y</a:t>
                      </a:r>
                      <a:r>
                        <a:rPr kumimoji="0" lang="en-US" altLang="zh-CN" sz="1800" b="1" i="0" u="none" strike="noStrike" cap="none" normalizeH="0" baseline="-30000" dirty="0">
                          <a:ln>
                            <a:noFill/>
                          </a:ln>
                          <a:solidFill>
                            <a:srgbClr val="000000"/>
                          </a:solidFill>
                          <a:effectLst/>
                          <a:latin typeface="Times New Roman" panose="02020603050405020304" pitchFamily="18"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rPr>
                        <a:t>GS</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r>
              <a:tr h="365760">
                <a:tc>
                  <a:txBody>
                    <a:bodyPr/>
                    <a:lstStyle/>
                    <a:p>
                      <a:pPr algn="ctr"/>
                      <a:r>
                        <a:rPr kumimoji="0" lang="en-US" altLang="zh-CN" sz="1800" b="1" i="0" u="none" strike="noStrike" kern="1200" cap="none" normalizeH="0" baseline="0" dirty="0">
                          <a:ln>
                            <a:noFill/>
                          </a:ln>
                          <a:solidFill>
                            <a:srgbClr val="000000"/>
                          </a:solidFill>
                          <a:effectLst/>
                          <a:latin typeface="Arial" panose="020B0604020202020204" pitchFamily="34" charset="0"/>
                          <a:ea typeface="宋体" panose="02010600030101010101" pitchFamily="2" charset="-122"/>
                          <a:cs typeface="+mn-cs"/>
                        </a:rPr>
                        <a:t>0</a:t>
                      </a:r>
                      <a:endParaRPr kumimoji="0" lang="zh-CN" altLang="en-US" sz="1800" b="1" i="0" u="none" strike="noStrike" kern="1200" cap="none" normalizeH="0" baseline="0" dirty="0">
                        <a:ln>
                          <a:noFill/>
                        </a:ln>
                        <a:solidFill>
                          <a:srgbClr val="000000"/>
                        </a:solidFill>
                        <a:effectLst/>
                        <a:latin typeface="Arial" panose="020B0604020202020204" pitchFamily="34" charset="0"/>
                        <a:ea typeface="宋体" panose="02010600030101010101" pitchFamily="2" charset="-122"/>
                        <a:cs typeface="+mn-cs"/>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algn="ctr"/>
                      <a:r>
                        <a:rPr kumimoji="0" lang="en-US" altLang="zh-CN" sz="1800" b="1" i="0" u="none" strike="noStrike" kern="1200" cap="none" normalizeH="0" baseline="0" dirty="0">
                          <a:ln>
                            <a:noFill/>
                          </a:ln>
                          <a:solidFill>
                            <a:srgbClr val="000000"/>
                          </a:solidFill>
                          <a:effectLst/>
                          <a:latin typeface="Arial" panose="020B0604020202020204" pitchFamily="34" charset="0"/>
                          <a:ea typeface="宋体" panose="02010600030101010101" pitchFamily="2" charset="-122"/>
                          <a:cs typeface="+mn-cs"/>
                        </a:rPr>
                        <a:t>0</a:t>
                      </a:r>
                      <a:endParaRPr kumimoji="0" lang="zh-CN" altLang="en-US" sz="1800" b="1" i="0" u="none" strike="noStrike" kern="1200" cap="none" normalizeH="0" baseline="0" dirty="0">
                        <a:ln>
                          <a:noFill/>
                        </a:ln>
                        <a:solidFill>
                          <a:srgbClr val="000000"/>
                        </a:solidFill>
                        <a:effectLst/>
                        <a:latin typeface="Arial" panose="020B0604020202020204" pitchFamily="34" charset="0"/>
                        <a:ea typeface="宋体" panose="02010600030101010101" pitchFamily="2" charset="-122"/>
                        <a:cs typeface="+mn-cs"/>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algn="ctr"/>
                      <a:r>
                        <a:rPr kumimoji="0" lang="en-US" altLang="zh-CN" sz="1800" b="1" i="0" u="none" strike="noStrike" kern="1200" cap="none" normalizeH="0" baseline="0" dirty="0">
                          <a:ln>
                            <a:noFill/>
                          </a:ln>
                          <a:solidFill>
                            <a:srgbClr val="000000"/>
                          </a:solidFill>
                          <a:effectLst/>
                          <a:latin typeface="Arial" panose="020B0604020202020204" pitchFamily="34" charset="0"/>
                          <a:ea typeface="宋体" panose="02010600030101010101" pitchFamily="2" charset="-122"/>
                          <a:cs typeface="+mn-cs"/>
                        </a:rPr>
                        <a:t>0</a:t>
                      </a:r>
                      <a:endParaRPr kumimoji="0" lang="zh-CN" altLang="en-US" sz="1800" b="1" i="0" u="none" strike="noStrike" kern="1200" cap="none" normalizeH="0" baseline="0" dirty="0">
                        <a:ln>
                          <a:noFill/>
                        </a:ln>
                        <a:solidFill>
                          <a:srgbClr val="000000"/>
                        </a:solidFill>
                        <a:effectLst/>
                        <a:latin typeface="Arial" panose="020B0604020202020204" pitchFamily="34" charset="0"/>
                        <a:ea typeface="宋体" panose="02010600030101010101" pitchFamily="2" charset="-122"/>
                        <a:cs typeface="+mn-cs"/>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algn="ctr"/>
                      <a:r>
                        <a:rPr kumimoji="0" lang="en-US" altLang="zh-CN" sz="1800" b="1" i="0" u="none" strike="noStrike" kern="1200" cap="none" normalizeH="0" baseline="0" dirty="0">
                          <a:ln>
                            <a:noFill/>
                          </a:ln>
                          <a:solidFill>
                            <a:srgbClr val="000000"/>
                          </a:solidFill>
                          <a:effectLst/>
                          <a:latin typeface="Arial" panose="020B0604020202020204" pitchFamily="34" charset="0"/>
                          <a:ea typeface="宋体" panose="02010600030101010101" pitchFamily="2" charset="-122"/>
                          <a:cs typeface="+mn-cs"/>
                        </a:rPr>
                        <a:t>0</a:t>
                      </a:r>
                      <a:endParaRPr kumimoji="0" lang="zh-CN" altLang="en-US" sz="1800" b="1" i="0" u="none" strike="noStrike" kern="1200" cap="none" normalizeH="0" baseline="0" dirty="0">
                        <a:ln>
                          <a:noFill/>
                        </a:ln>
                        <a:solidFill>
                          <a:srgbClr val="000000"/>
                        </a:solidFill>
                        <a:effectLst/>
                        <a:latin typeface="Arial" panose="020B0604020202020204" pitchFamily="34" charset="0"/>
                        <a:ea typeface="宋体" panose="02010600030101010101" pitchFamily="2" charset="-122"/>
                        <a:cs typeface="+mn-cs"/>
                      </a:endParaRPr>
                    </a:p>
                  </a:txBody>
                  <a:tcPr anchor="ctr" horzOverflow="overflow">
                    <a:lnL>
                      <a:noFill/>
                    </a:lnL>
                    <a:lnR w="28575" cap="flat" cmpd="sng" algn="ctr">
                      <a:solidFill>
                        <a:schemeClr val="hlink"/>
                      </a:solidFill>
                      <a:prstDash val="solid"/>
                      <a:miter lim="800000"/>
                      <a:headEnd type="none" w="med" len="med"/>
                      <a:tailEnd type="none" w="med" len="med"/>
                    </a:lnR>
                    <a:lnT w="28575" cap="flat" cmpd="sng" algn="ctr">
                      <a:solidFill>
                        <a:schemeClr val="hlink"/>
                      </a:solidFill>
                      <a:prstDash val="solid"/>
                      <a:miter lim="800000"/>
                      <a:headEnd type="none" w="med" len="med"/>
                      <a:tailEnd type="none" w="med" len="med"/>
                    </a:lnT>
                    <a:lnB>
                      <a:noFill/>
                    </a:lnB>
                    <a:lnTlToBr>
                      <a:noFill/>
                    </a:lnTlToBr>
                    <a:lnBlToTr>
                      <a:noFill/>
                    </a:lnBlToTr>
                    <a:solidFill>
                      <a:schemeClr val="bg1"/>
                    </a:solidFill>
                  </a:tcPr>
                </a:tc>
                <a:tc>
                  <a:txBody>
                    <a:bodyPr/>
                    <a:lstStyle/>
                    <a:p>
                      <a:pPr algn="ctr"/>
                      <a:r>
                        <a:rPr kumimoji="0" lang="en-US" altLang="zh-CN" sz="1800" b="1" i="0" u="none" strike="noStrike" kern="1200" cap="none" normalizeH="0" baseline="0" dirty="0">
                          <a:ln>
                            <a:noFill/>
                          </a:ln>
                          <a:solidFill>
                            <a:srgbClr val="000000"/>
                          </a:solidFill>
                          <a:effectLst/>
                          <a:latin typeface="Arial" panose="020B0604020202020204" pitchFamily="34" charset="0"/>
                          <a:ea typeface="宋体" panose="02010600030101010101" pitchFamily="2" charset="-122"/>
                          <a:cs typeface="+mn-cs"/>
                        </a:rPr>
                        <a:t>0</a:t>
                      </a:r>
                      <a:endParaRPr kumimoji="0" lang="zh-CN" altLang="en-US" sz="1800" b="1" i="0" u="none" strike="noStrike" kern="1200" cap="none" normalizeH="0" baseline="0" dirty="0">
                        <a:ln>
                          <a:noFill/>
                        </a:ln>
                        <a:solidFill>
                          <a:srgbClr val="000000"/>
                        </a:solidFill>
                        <a:effectLst/>
                        <a:latin typeface="Arial" panose="020B0604020202020204" pitchFamily="34" charset="0"/>
                        <a:ea typeface="宋体" panose="02010600030101010101" pitchFamily="2" charset="-122"/>
                        <a:cs typeface="+mn-cs"/>
                      </a:endParaRPr>
                    </a:p>
                  </a:txBody>
                  <a:tcPr horzOverflow="overflow">
                    <a:lnL w="28575" cap="flat" cmpd="sng" algn="ctr">
                      <a:solidFill>
                        <a:schemeClr val="hlink"/>
                      </a:solidFill>
                      <a:prstDash val="solid"/>
                      <a:miter lim="800000"/>
                      <a:headEnd type="none" w="med" len="med"/>
                      <a:tailEnd type="none" w="med" len="med"/>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rgbClr val="FFFFFF"/>
                    </a:solidFill>
                  </a:tcPr>
                </a:tc>
                <a:tc>
                  <a:txBody>
                    <a:bodyPr/>
                    <a:lstStyle/>
                    <a:p>
                      <a:pPr algn="ctr"/>
                      <a:r>
                        <a:rPr kumimoji="0" lang="en-US" altLang="zh-CN" sz="1800" b="1" i="0" u="none" strike="noStrike" kern="1200" cap="none" normalizeH="0" baseline="0" dirty="0">
                          <a:ln>
                            <a:noFill/>
                          </a:ln>
                          <a:solidFill>
                            <a:srgbClr val="000000"/>
                          </a:solidFill>
                          <a:effectLst/>
                          <a:latin typeface="Arial" panose="020B0604020202020204" pitchFamily="34" charset="0"/>
                          <a:ea typeface="宋体" panose="02010600030101010101" pitchFamily="2" charset="-122"/>
                          <a:cs typeface="+mn-cs"/>
                        </a:rPr>
                        <a:t>0</a:t>
                      </a:r>
                      <a:endParaRPr kumimoji="0" lang="zh-CN" altLang="en-US" sz="1800" b="1" i="0" u="none" strike="noStrike" kern="1200" cap="none" normalizeH="0" baseline="0" dirty="0">
                        <a:ln>
                          <a:noFill/>
                        </a:ln>
                        <a:solidFill>
                          <a:srgbClr val="000000"/>
                        </a:solidFill>
                        <a:effectLst/>
                        <a:latin typeface="Arial" panose="020B0604020202020204" pitchFamily="34" charset="0"/>
                        <a:ea typeface="宋体" panose="02010600030101010101" pitchFamily="2" charset="-122"/>
                        <a:cs typeface="+mn-cs"/>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w="28575" cap="flat" cmpd="sng" algn="ctr">
                      <a:solidFill>
                        <a:schemeClr val="hlink"/>
                      </a:solidFill>
                      <a:prstDash val="solid"/>
                      <a:miter lim="800000"/>
                      <a:headEnd type="none" w="med" len="med"/>
                      <a:tailEnd type="none" w="med" len="med"/>
                    </a:lnT>
                    <a:lnB>
                      <a:noFill/>
                    </a:lnB>
                    <a:lnTlToBr>
                      <a:noFill/>
                    </a:lnTlToBr>
                    <a:lnBlToTr>
                      <a:noFill/>
                    </a:lnBlToTr>
                    <a:solidFill>
                      <a:srgbClr val="FFFFFF"/>
                    </a:solidFill>
                  </a:tcPr>
                </a:tc>
              </a:tr>
              <a:tr h="36576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rgbClr val="FFFFFF"/>
                    </a:solidFill>
                  </a:tcPr>
                </a:tc>
              </a:tr>
              <a:tr h="36576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rgbClr val="FFFFFF"/>
                    </a:solidFill>
                  </a:tcPr>
                </a:tc>
              </a:tr>
              <a:tr h="36576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0</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a:noFill/>
                    </a:lnB>
                    <a:lnTlToBr>
                      <a:noFill/>
                    </a:lnTlToBr>
                    <a:lnBlToTr>
                      <a:noFill/>
                    </a:lnBlToTr>
                    <a:solidFill>
                      <a:srgbClr val="FFFFFF"/>
                    </a:solidFill>
                  </a:tcPr>
                </a:tc>
              </a:tr>
              <a:tr h="36576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8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w="28575" cap="flat" cmpd="sng" algn="ctr">
                      <a:solidFill>
                        <a:schemeClr val="hlink"/>
                      </a:solidFill>
                      <a:prstDash val="solid"/>
                      <a:miter lim="800000"/>
                      <a:headEnd type="none" w="med" len="med"/>
                      <a:tailEnd type="none" w="med" len="med"/>
                    </a:lnR>
                    <a:lnT>
                      <a:noFill/>
                    </a:lnT>
                    <a:lnB w="28575" cap="flat" cmpd="sng" algn="ctr">
                      <a:solidFill>
                        <a:schemeClr val="hlink"/>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a:ln>
                          <a:noFill/>
                        </a:ln>
                        <a:solidFill>
                          <a:srgbClr val="000000"/>
                        </a:solidFill>
                        <a:effectLst/>
                        <a:latin typeface="Arial" panose="020B0604020202020204" pitchFamily="34" charset="0"/>
                        <a:ea typeface="宋体" panose="02010600030101010101" pitchFamily="2" charset="-122"/>
                      </a:endParaRPr>
                    </a:p>
                  </a:txBody>
                  <a:tcPr horzOverflow="overflow">
                    <a:lnL w="28575" cap="flat" cmpd="sng" algn="ctr">
                      <a:solidFill>
                        <a:schemeClr val="hlink"/>
                      </a:solidFill>
                      <a:prstDash val="solid"/>
                      <a:miter lim="800000"/>
                      <a:headEnd type="none" w="med" len="med"/>
                      <a:tailEnd type="none" w="med" len="med"/>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rPr>
                        <a:t>1</a:t>
                      </a:r>
                      <a:endParaRPr kumimoji="0" lang="en-US" altLang="zh-CN" sz="1800" b="1" i="0" u="none" strike="noStrike" cap="none" normalizeH="0" baseline="0" dirty="0">
                        <a:ln>
                          <a:noFill/>
                        </a:ln>
                        <a:solidFill>
                          <a:srgbClr val="000000"/>
                        </a:solidFill>
                        <a:effectLst/>
                        <a:latin typeface="Arial" panose="020B0604020202020204" pitchFamily="34" charset="0"/>
                        <a:ea typeface="宋体" panose="02010600030101010101" pitchFamily="2" charset="-122"/>
                      </a:endParaRPr>
                    </a:p>
                  </a:txBody>
                  <a:tcPr anchor="ctr" horzOverflow="overflow">
                    <a:lnL>
                      <a:noFill/>
                    </a:lnL>
                    <a:lnR>
                      <a:noFill/>
                    </a:lnR>
                    <a:lnT>
                      <a:noFill/>
                    </a:lnT>
                    <a:lnB w="28575" cap="flat" cmpd="sng" algn="ctr">
                      <a:solidFill>
                        <a:schemeClr val="hlink"/>
                      </a:solidFill>
                      <a:prstDash val="solid"/>
                      <a:miter lim="800000"/>
                      <a:headEnd type="none" w="med" len="med"/>
                      <a:tailEnd type="none" w="med" len="med"/>
                    </a:lnB>
                    <a:lnTlToBr>
                      <a:noFill/>
                    </a:lnTlToBr>
                    <a:lnBlToTr>
                      <a:noFill/>
                    </a:lnBlToTr>
                    <a:solidFill>
                      <a:srgbClr val="FFFFFF"/>
                    </a:solidFill>
                  </a:tcPr>
                </a:tc>
              </a:tr>
            </a:tbl>
          </a:graphicData>
        </a:graphic>
      </p:graphicFrame>
      <p:grpSp>
        <p:nvGrpSpPr>
          <p:cNvPr id="34" name="组合 33"/>
          <p:cNvGrpSpPr/>
          <p:nvPr/>
        </p:nvGrpSpPr>
        <p:grpSpPr>
          <a:xfrm>
            <a:off x="392432" y="769746"/>
            <a:ext cx="4713941" cy="420971"/>
            <a:chOff x="670560" y="892917"/>
            <a:chExt cx="4713941" cy="420971"/>
          </a:xfrm>
        </p:grpSpPr>
        <p:sp>
          <p:nvSpPr>
            <p:cNvPr id="35" name="矩形 34"/>
            <p:cNvSpPr/>
            <p:nvPr/>
          </p:nvSpPr>
          <p:spPr>
            <a:xfrm>
              <a:off x="1035233" y="913778"/>
              <a:ext cx="4349268"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优先编码器的工作原理（</a:t>
              </a:r>
              <a:r>
                <a:rPr lang="en-US" altLang="zh-CN" sz="2000" b="1" dirty="0">
                  <a:solidFill>
                    <a:srgbClr val="002060"/>
                  </a:solidFill>
                  <a:latin typeface="微软雅黑" panose="020B0503020204020204" pitchFamily="34" charset="-122"/>
                  <a:ea typeface="微软雅黑" panose="020B0503020204020204" pitchFamily="34" charset="-122"/>
                </a:rPr>
                <a:t>4</a:t>
              </a:r>
              <a:r>
                <a:rPr lang="zh-CN" altLang="en-US" sz="2000" b="1" dirty="0">
                  <a:solidFill>
                    <a:srgbClr val="002060"/>
                  </a:solidFill>
                  <a:latin typeface="微软雅黑" panose="020B0503020204020204" pitchFamily="34" charset="-122"/>
                  <a:ea typeface="微软雅黑" panose="020B0503020204020204" pitchFamily="34" charset="-122"/>
                </a:rPr>
                <a:t>线－</a:t>
              </a:r>
              <a:r>
                <a:rPr lang="en-US" altLang="zh-CN" sz="2000" b="1" dirty="0">
                  <a:solidFill>
                    <a:srgbClr val="002060"/>
                  </a:solidFill>
                  <a:latin typeface="微软雅黑" panose="020B0503020204020204" pitchFamily="34" charset="-122"/>
                  <a:ea typeface="微软雅黑" panose="020B0503020204020204" pitchFamily="34" charset="-122"/>
                </a:rPr>
                <a:t>2</a:t>
              </a:r>
              <a:r>
                <a:rPr lang="zh-CN" altLang="en-US" sz="2000" b="1" dirty="0">
                  <a:solidFill>
                    <a:srgbClr val="002060"/>
                  </a:solidFill>
                  <a:latin typeface="微软雅黑" panose="020B0503020204020204" pitchFamily="34" charset="-122"/>
                  <a:ea typeface="微软雅黑" panose="020B0503020204020204" pitchFamily="34" charset="-122"/>
                </a:rPr>
                <a:t>线）</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36"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37" name="圆角矩形 36"/>
          <p:cNvSpPr/>
          <p:nvPr/>
        </p:nvSpPr>
        <p:spPr>
          <a:xfrm>
            <a:off x="874295" y="2165697"/>
            <a:ext cx="3270540" cy="312821"/>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a:off x="874295" y="2518291"/>
            <a:ext cx="3270540" cy="1436570"/>
          </a:xfrm>
          <a:prstGeom prst="roundRect">
            <a:avLst>
              <a:gd name="adj" fmla="val 4454"/>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4799429" y="1628567"/>
            <a:ext cx="3577009" cy="2175872"/>
            <a:chOff x="4799429" y="1628567"/>
            <a:chExt cx="3577009" cy="2175872"/>
          </a:xfrm>
        </p:grpSpPr>
        <p:sp>
          <p:nvSpPr>
            <p:cNvPr id="40" name="圆角矩形 39"/>
            <p:cNvSpPr/>
            <p:nvPr/>
          </p:nvSpPr>
          <p:spPr>
            <a:xfrm>
              <a:off x="4799429" y="1628567"/>
              <a:ext cx="3577009" cy="2175872"/>
            </a:xfrm>
            <a:prstGeom prst="roundRect">
              <a:avLst>
                <a:gd name="adj" fmla="val 4386"/>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US" altLang="zh-CN" sz="14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a:p>
              <a:pPr algn="ctr"/>
              <a:endParaRPr lang="en-US" altLang="zh-CN" sz="1400" b="1" i="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endParaRPr>
            </a:p>
          </p:txBody>
        </p:sp>
        <p:graphicFrame>
          <p:nvGraphicFramePr>
            <p:cNvPr id="3" name="对象 2"/>
            <p:cNvGraphicFramePr>
              <a:graphicFrameLocks noChangeAspect="1"/>
            </p:cNvGraphicFramePr>
            <p:nvPr/>
          </p:nvGraphicFramePr>
          <p:xfrm>
            <a:off x="4852326" y="1892045"/>
            <a:ext cx="3307026" cy="1675560"/>
          </p:xfrm>
          <a:graphic>
            <a:graphicData uri="http://schemas.openxmlformats.org/presentationml/2006/ole">
              <mc:AlternateContent xmlns:mc="http://schemas.openxmlformats.org/markup-compatibility/2006">
                <mc:Choice xmlns:v="urn:schemas-microsoft-com:vml" Requires="v">
                  <p:oleObj spid="_x0000_s25613" name="" r:id="rId2" imgW="1790700" imgH="914400" progId="">
                    <p:embed/>
                  </p:oleObj>
                </mc:Choice>
                <mc:Fallback>
                  <p:oleObj name="" r:id="rId2" imgW="1790700" imgH="914400" progId="">
                    <p:embed/>
                    <p:pic>
                      <p:nvPicPr>
                        <p:cNvPr id="0"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2326" y="1892045"/>
                          <a:ext cx="3307026" cy="167556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44" name="圆角矩形 43"/>
          <p:cNvSpPr/>
          <p:nvPr/>
        </p:nvSpPr>
        <p:spPr>
          <a:xfrm>
            <a:off x="7033702" y="1892045"/>
            <a:ext cx="1178547" cy="657596"/>
          </a:xfrm>
          <a:prstGeom prst="roundRect">
            <a:avLst/>
          </a:prstGeom>
          <a:solidFill>
            <a:srgbClr val="CC00CC">
              <a:alpha val="25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600">
        <p14:prism dir="r"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44"/>
                                        </p:tgtEl>
                                        <p:attrNameLst>
                                          <p:attrName>style.visibility</p:attrName>
                                        </p:attrNameLst>
                                      </p:cBhvr>
                                      <p:to>
                                        <p:strVal val="visible"/>
                                      </p:to>
                                    </p:set>
                                    <p:anim calcmode="lin" valueType="num">
                                      <p:cBhvr>
                                        <p:cTn id="7" dur="1000" fill="hold"/>
                                        <p:tgtEl>
                                          <p:spTgt spid="44"/>
                                        </p:tgtEl>
                                        <p:attrNameLst>
                                          <p:attrName>ppt_w</p:attrName>
                                        </p:attrNameLst>
                                      </p:cBhvr>
                                      <p:tavLst>
                                        <p:tav tm="0">
                                          <p:val>
                                            <p:fltVal val="0"/>
                                          </p:val>
                                        </p:tav>
                                        <p:tav tm="100000">
                                          <p:val>
                                            <p:strVal val="#ppt_w"/>
                                          </p:val>
                                        </p:tav>
                                      </p:tavLst>
                                    </p:anim>
                                    <p:anim calcmode="lin" valueType="num">
                                      <p:cBhvr>
                                        <p:cTn id="8" dur="1000" fill="hold"/>
                                        <p:tgtEl>
                                          <p:spTgt spid="44"/>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wipe(left)">
                                      <p:cBhvr>
                                        <p:cTn id="13" dur="1000"/>
                                        <p:tgtEl>
                                          <p:spTgt spid="38"/>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37"/>
                                        </p:tgtEl>
                                        <p:attrNameLst>
                                          <p:attrName>style.visibility</p:attrName>
                                        </p:attrNameLst>
                                      </p:cBhvr>
                                      <p:to>
                                        <p:strVal val="visible"/>
                                      </p:to>
                                    </p:set>
                                    <p:animEffect transition="in" filter="wipe(left)">
                                      <p:cBhvr>
                                        <p:cTn id="18"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4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17"/>
          <p:cNvGrpSpPr/>
          <p:nvPr/>
        </p:nvGrpSpPr>
        <p:grpSpPr>
          <a:xfrm>
            <a:off x="392432" y="769746"/>
            <a:ext cx="2857663" cy="420971"/>
            <a:chOff x="670560" y="892917"/>
            <a:chExt cx="2857663" cy="420971"/>
          </a:xfrm>
        </p:grpSpPr>
        <p:sp>
          <p:nvSpPr>
            <p:cNvPr id="34" name="矩形 33"/>
            <p:cNvSpPr/>
            <p:nvPr/>
          </p:nvSpPr>
          <p:spPr>
            <a:xfrm>
              <a:off x="1035233" y="913778"/>
              <a:ext cx="2492990"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常用集成电路编码器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35"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76" name="组合 75"/>
          <p:cNvGrpSpPr/>
          <p:nvPr/>
        </p:nvGrpSpPr>
        <p:grpSpPr>
          <a:xfrm>
            <a:off x="678456" y="1898059"/>
            <a:ext cx="2664102" cy="2566631"/>
            <a:chOff x="678456" y="1463349"/>
            <a:chExt cx="2664102" cy="2566631"/>
          </a:xfrm>
        </p:grpSpPr>
        <p:sp>
          <p:nvSpPr>
            <p:cNvPr id="71" name="圆角矩形 70"/>
            <p:cNvSpPr/>
            <p:nvPr/>
          </p:nvSpPr>
          <p:spPr>
            <a:xfrm>
              <a:off x="678558" y="2842501"/>
              <a:ext cx="2664000" cy="1187479"/>
            </a:xfrm>
            <a:prstGeom prst="roundRect">
              <a:avLst>
                <a:gd name="adj" fmla="val 9001"/>
              </a:avLst>
            </a:prstGeom>
          </p:spPr>
          <p:style>
            <a:lnRef idx="2">
              <a:schemeClr val="accent1">
                <a:shade val="50000"/>
              </a:schemeClr>
            </a:lnRef>
            <a:fillRef idx="1">
              <a:schemeClr val="accent1"/>
            </a:fillRef>
            <a:effectRef idx="0">
              <a:schemeClr val="accent1"/>
            </a:effectRef>
            <a:fontRef idx="minor">
              <a:schemeClr val="lt1"/>
            </a:fontRef>
          </p:style>
          <p:txBody>
            <a:bodyPr lIns="72000" tIns="0" rIns="72000" bIns="36000" rtlCol="0" anchor="b" anchorCtr="0"/>
            <a:lstStyle/>
            <a:p>
              <a:pPr algn="ctr"/>
              <a:r>
                <a:rPr lang="en-US" altLang="zh-CN" dirty="0">
                  <a:latin typeface="黑体" panose="02010609060101010101" pitchFamily="49" charset="-122"/>
                  <a:ea typeface="黑体" panose="02010609060101010101" pitchFamily="49" charset="-122"/>
                </a:rPr>
                <a:t>10</a:t>
              </a:r>
              <a:r>
                <a:rPr lang="zh-CN" altLang="en-US" dirty="0">
                  <a:latin typeface="黑体" panose="02010609060101010101" pitchFamily="49" charset="-122"/>
                  <a:ea typeface="黑体" panose="02010609060101010101" pitchFamily="49" charset="-122"/>
                </a:rPr>
                <a:t>线</a:t>
              </a:r>
              <a:r>
                <a:rPr lang="en-US" altLang="zh-CN" dirty="0">
                  <a:latin typeface="黑体" panose="02010609060101010101" pitchFamily="49" charset="-122"/>
                  <a:ea typeface="黑体" panose="02010609060101010101" pitchFamily="49" charset="-122"/>
                </a:rPr>
                <a:t>-4</a:t>
              </a:r>
              <a:r>
                <a:rPr lang="zh-CN" altLang="en-US" dirty="0">
                  <a:latin typeface="黑体" panose="02010609060101010101" pitchFamily="49" charset="-122"/>
                  <a:ea typeface="黑体" panose="02010609060101010101" pitchFamily="49" charset="-122"/>
                </a:rPr>
                <a:t>线</a:t>
              </a:r>
              <a:r>
                <a:rPr lang="en-US" altLang="zh-CN" dirty="0">
                  <a:latin typeface="黑体" panose="02010609060101010101" pitchFamily="49" charset="-122"/>
                  <a:ea typeface="黑体" panose="02010609060101010101" pitchFamily="49" charset="-122"/>
                </a:rPr>
                <a:t>8421BCD</a:t>
              </a:r>
              <a:r>
                <a:rPr lang="zh-CN" altLang="en-US" dirty="0">
                  <a:latin typeface="黑体" panose="02010609060101010101" pitchFamily="49" charset="-122"/>
                  <a:ea typeface="黑体" panose="02010609060101010101" pitchFamily="49" charset="-122"/>
                </a:rPr>
                <a:t>码优先编码器，输入低电平有效。</a:t>
              </a:r>
              <a:endParaRPr lang="zh-CN" altLang="en-US" dirty="0">
                <a:latin typeface="黑体" panose="02010609060101010101" pitchFamily="49" charset="-122"/>
                <a:ea typeface="黑体" panose="02010609060101010101" pitchFamily="49" charset="-122"/>
              </a:endParaRPr>
            </a:p>
          </p:txBody>
        </p:sp>
        <p:grpSp>
          <p:nvGrpSpPr>
            <p:cNvPr id="62" name="组合 61"/>
            <p:cNvGrpSpPr/>
            <p:nvPr/>
          </p:nvGrpSpPr>
          <p:grpSpPr>
            <a:xfrm>
              <a:off x="678456" y="1463349"/>
              <a:ext cx="2664000" cy="1616736"/>
              <a:chOff x="525366" y="1463349"/>
              <a:chExt cx="2664000" cy="1616736"/>
            </a:xfrm>
          </p:grpSpPr>
          <p:sp>
            <p:nvSpPr>
              <p:cNvPr id="22" name="圆角矩形 21"/>
              <p:cNvSpPr/>
              <p:nvPr/>
            </p:nvSpPr>
            <p:spPr>
              <a:xfrm>
                <a:off x="525366" y="1624264"/>
                <a:ext cx="2664000" cy="1455821"/>
              </a:xfrm>
              <a:prstGeom prst="roundRect">
                <a:avLst>
                  <a:gd name="adj" fmla="val 7852"/>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69" name="Picture 1"/>
              <p:cNvPicPr>
                <a:picLocks noChangeAspect="1" noChangeArrowheads="1"/>
              </p:cNvPicPr>
              <p:nvPr/>
            </p:nvPicPr>
            <p:blipFill>
              <a:blip r:embed="rId2" cstate="print"/>
              <a:srcRect l="6696"/>
              <a:stretch>
                <a:fillRect/>
              </a:stretch>
            </p:blipFill>
            <p:spPr bwMode="auto">
              <a:xfrm>
                <a:off x="1752575" y="1860899"/>
                <a:ext cx="1397216" cy="1129214"/>
              </a:xfrm>
              <a:prstGeom prst="rect">
                <a:avLst/>
              </a:prstGeom>
              <a:noFill/>
              <a:ln w="9525">
                <a:noFill/>
                <a:miter lim="800000"/>
                <a:headEnd/>
                <a:tailEnd/>
              </a:ln>
            </p:spPr>
          </p:pic>
          <p:pic>
            <p:nvPicPr>
              <p:cNvPr id="7170" name="Picture 2"/>
              <p:cNvPicPr>
                <a:picLocks noChangeAspect="1" noChangeArrowheads="1"/>
              </p:cNvPicPr>
              <p:nvPr/>
            </p:nvPicPr>
            <p:blipFill>
              <a:blip r:embed="rId3" cstate="print"/>
              <a:srcRect l="4925" t="4552" r="5783"/>
              <a:stretch>
                <a:fillRect/>
              </a:stretch>
            </p:blipFill>
            <p:spPr bwMode="auto">
              <a:xfrm>
                <a:off x="573483" y="1856886"/>
                <a:ext cx="1221108" cy="1135481"/>
              </a:xfrm>
              <a:prstGeom prst="rect">
                <a:avLst/>
              </a:prstGeom>
              <a:noFill/>
              <a:ln w="9525">
                <a:noFill/>
                <a:miter lim="800000"/>
                <a:headEnd/>
                <a:tailEnd/>
              </a:ln>
            </p:spPr>
          </p:pic>
          <p:sp>
            <p:nvSpPr>
              <p:cNvPr id="28" name="流程图: 可选过程 27"/>
              <p:cNvSpPr/>
              <p:nvPr/>
            </p:nvSpPr>
            <p:spPr>
              <a:xfrm>
                <a:off x="1098310" y="1463349"/>
                <a:ext cx="1501072" cy="303346"/>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t>74</a:t>
                </a:r>
                <a:r>
                  <a:rPr lang="en-US" altLang="zh-CN" sz="1600" dirty="0">
                    <a:latin typeface="黑体" panose="02010609060101010101" pitchFamily="49" charset="-122"/>
                    <a:ea typeface="黑体" panose="02010609060101010101" pitchFamily="49" charset="-122"/>
                  </a:rPr>
                  <a:t>×</a:t>
                </a:r>
                <a:r>
                  <a:rPr lang="en-US" altLang="zh-CN" sz="1600" dirty="0"/>
                  <a:t>147</a:t>
                </a:r>
                <a:endParaRPr lang="zh-CN" altLang="en-US" sz="1600" dirty="0"/>
              </a:p>
            </p:txBody>
          </p:sp>
        </p:grpSp>
      </p:grpSp>
      <p:grpSp>
        <p:nvGrpSpPr>
          <p:cNvPr id="75" name="组合 74"/>
          <p:cNvGrpSpPr/>
          <p:nvPr/>
        </p:nvGrpSpPr>
        <p:grpSpPr>
          <a:xfrm>
            <a:off x="3578296" y="1898059"/>
            <a:ext cx="2664000" cy="2566631"/>
            <a:chOff x="3578296" y="1463349"/>
            <a:chExt cx="2664000" cy="2566631"/>
          </a:xfrm>
        </p:grpSpPr>
        <p:sp>
          <p:nvSpPr>
            <p:cNvPr id="72" name="圆角矩形 71"/>
            <p:cNvSpPr/>
            <p:nvPr/>
          </p:nvSpPr>
          <p:spPr>
            <a:xfrm>
              <a:off x="3578296" y="2842501"/>
              <a:ext cx="2664000" cy="1187479"/>
            </a:xfrm>
            <a:prstGeom prst="roundRect">
              <a:avLst>
                <a:gd name="adj" fmla="val 9001"/>
              </a:avLst>
            </a:prstGeom>
          </p:spPr>
          <p:style>
            <a:lnRef idx="2">
              <a:schemeClr val="accent1">
                <a:shade val="50000"/>
              </a:schemeClr>
            </a:lnRef>
            <a:fillRef idx="1">
              <a:schemeClr val="accent1"/>
            </a:fillRef>
            <a:effectRef idx="0">
              <a:schemeClr val="accent1"/>
            </a:effectRef>
            <a:fontRef idx="minor">
              <a:schemeClr val="lt1"/>
            </a:fontRef>
          </p:style>
          <p:txBody>
            <a:bodyPr lIns="72000" tIns="0" rIns="72000" bIns="36000" rtlCol="0" anchor="ctr" anchorCtr="0"/>
            <a:lstStyle/>
            <a:p>
              <a:pPr algn="ctr"/>
              <a:r>
                <a:rPr lang="en-US" altLang="zh-CN" dirty="0">
                  <a:latin typeface="黑体" panose="02010609060101010101" pitchFamily="49" charset="-122"/>
                  <a:ea typeface="黑体" panose="02010609060101010101" pitchFamily="49" charset="-122"/>
                </a:rPr>
                <a:t>8</a:t>
              </a:r>
              <a:r>
                <a:rPr lang="zh-CN" altLang="en-US" dirty="0">
                  <a:latin typeface="黑体" panose="02010609060101010101" pitchFamily="49" charset="-122"/>
                  <a:ea typeface="黑体" panose="02010609060101010101" pitchFamily="49" charset="-122"/>
                </a:rPr>
                <a:t>线</a:t>
              </a:r>
              <a:r>
                <a:rPr lang="en-US" altLang="zh-CN" dirty="0">
                  <a:latin typeface="黑体" panose="02010609060101010101" pitchFamily="49" charset="-122"/>
                  <a:ea typeface="黑体" panose="02010609060101010101" pitchFamily="49" charset="-122"/>
                </a:rPr>
                <a:t>-3</a:t>
              </a:r>
              <a:r>
                <a:rPr lang="zh-CN" altLang="en-US" dirty="0">
                  <a:latin typeface="黑体" panose="02010609060101010101" pitchFamily="49" charset="-122"/>
                  <a:ea typeface="黑体" panose="02010609060101010101" pitchFamily="49" charset="-122"/>
                </a:rPr>
                <a:t>线码优先编码器，输入低电平有效。</a:t>
              </a:r>
              <a:endParaRPr lang="zh-CN" altLang="en-US" dirty="0">
                <a:latin typeface="黑体" panose="02010609060101010101" pitchFamily="49" charset="-122"/>
                <a:ea typeface="黑体" panose="02010609060101010101" pitchFamily="49" charset="-122"/>
              </a:endParaRPr>
            </a:p>
          </p:txBody>
        </p:sp>
        <p:grpSp>
          <p:nvGrpSpPr>
            <p:cNvPr id="63" name="组合 62"/>
            <p:cNvGrpSpPr/>
            <p:nvPr/>
          </p:nvGrpSpPr>
          <p:grpSpPr>
            <a:xfrm>
              <a:off x="3578296" y="1463349"/>
              <a:ext cx="2664000" cy="1616736"/>
              <a:chOff x="3581387" y="1463349"/>
              <a:chExt cx="2703108" cy="1616736"/>
            </a:xfrm>
          </p:grpSpPr>
          <p:sp>
            <p:nvSpPr>
              <p:cNvPr id="26" name="圆角矩形 25"/>
              <p:cNvSpPr/>
              <p:nvPr/>
            </p:nvSpPr>
            <p:spPr>
              <a:xfrm>
                <a:off x="3581387" y="1624264"/>
                <a:ext cx="2703108" cy="1455821"/>
              </a:xfrm>
              <a:prstGeom prst="roundRect">
                <a:avLst>
                  <a:gd name="adj" fmla="val 7852"/>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72" name="Picture 4"/>
              <p:cNvPicPr>
                <a:picLocks noChangeAspect="1" noChangeArrowheads="1"/>
              </p:cNvPicPr>
              <p:nvPr/>
            </p:nvPicPr>
            <p:blipFill>
              <a:blip r:embed="rId4" cstate="print"/>
              <a:srcRect/>
              <a:stretch>
                <a:fillRect/>
              </a:stretch>
            </p:blipFill>
            <p:spPr bwMode="auto">
              <a:xfrm>
                <a:off x="4832411" y="1911807"/>
                <a:ext cx="1375861" cy="1129438"/>
              </a:xfrm>
              <a:prstGeom prst="rect">
                <a:avLst/>
              </a:prstGeom>
              <a:noFill/>
              <a:ln w="9525">
                <a:noFill/>
                <a:miter lim="800000"/>
                <a:headEnd/>
                <a:tailEnd/>
              </a:ln>
            </p:spPr>
          </p:pic>
          <p:pic>
            <p:nvPicPr>
              <p:cNvPr id="7171" name="Picture 3"/>
              <p:cNvPicPr>
                <a:picLocks noChangeAspect="1" noChangeArrowheads="1"/>
              </p:cNvPicPr>
              <p:nvPr/>
            </p:nvPicPr>
            <p:blipFill>
              <a:blip r:embed="rId5" cstate="print"/>
              <a:srcRect t="4268" r="4882" b="2697"/>
              <a:stretch>
                <a:fillRect/>
              </a:stretch>
            </p:blipFill>
            <p:spPr bwMode="auto">
              <a:xfrm>
                <a:off x="3633265" y="1918995"/>
                <a:ext cx="1186394" cy="1112975"/>
              </a:xfrm>
              <a:prstGeom prst="rect">
                <a:avLst/>
              </a:prstGeom>
              <a:noFill/>
              <a:ln w="9525">
                <a:noFill/>
                <a:miter lim="800000"/>
                <a:headEnd/>
                <a:tailEnd/>
              </a:ln>
            </p:spPr>
          </p:pic>
          <p:sp>
            <p:nvSpPr>
              <p:cNvPr id="36" name="流程图: 可选过程 35"/>
              <p:cNvSpPr/>
              <p:nvPr/>
            </p:nvSpPr>
            <p:spPr>
              <a:xfrm>
                <a:off x="4182405" y="1463349"/>
                <a:ext cx="1501072" cy="303346"/>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t>74</a:t>
                </a:r>
                <a:r>
                  <a:rPr lang="en-US" altLang="zh-CN" sz="1600" dirty="0">
                    <a:latin typeface="黑体" panose="02010609060101010101" pitchFamily="49" charset="-122"/>
                    <a:ea typeface="黑体" panose="02010609060101010101" pitchFamily="49" charset="-122"/>
                  </a:rPr>
                  <a:t>×</a:t>
                </a:r>
                <a:r>
                  <a:rPr lang="en-US" altLang="zh-CN" sz="1600" dirty="0"/>
                  <a:t>148</a:t>
                </a:r>
                <a:endParaRPr lang="zh-CN" altLang="en-US" sz="1600" dirty="0"/>
              </a:p>
            </p:txBody>
          </p:sp>
        </p:grpSp>
      </p:grpSp>
      <p:grpSp>
        <p:nvGrpSpPr>
          <p:cNvPr id="74" name="组合 73"/>
          <p:cNvGrpSpPr/>
          <p:nvPr/>
        </p:nvGrpSpPr>
        <p:grpSpPr>
          <a:xfrm>
            <a:off x="6523889" y="1873234"/>
            <a:ext cx="1864880" cy="2591456"/>
            <a:chOff x="6523889" y="1438524"/>
            <a:chExt cx="1864880" cy="2591456"/>
          </a:xfrm>
        </p:grpSpPr>
        <p:sp>
          <p:nvSpPr>
            <p:cNvPr id="73" name="圆角矩形 72"/>
            <p:cNvSpPr/>
            <p:nvPr/>
          </p:nvSpPr>
          <p:spPr>
            <a:xfrm>
              <a:off x="6527684" y="2842501"/>
              <a:ext cx="1855006" cy="1187479"/>
            </a:xfrm>
            <a:prstGeom prst="roundRect">
              <a:avLst>
                <a:gd name="adj" fmla="val 9001"/>
              </a:avLst>
            </a:prstGeom>
          </p:spPr>
          <p:style>
            <a:lnRef idx="2">
              <a:schemeClr val="accent1">
                <a:shade val="50000"/>
              </a:schemeClr>
            </a:lnRef>
            <a:fillRef idx="1">
              <a:schemeClr val="accent1"/>
            </a:fillRef>
            <a:effectRef idx="0">
              <a:schemeClr val="accent1"/>
            </a:effectRef>
            <a:fontRef idx="minor">
              <a:schemeClr val="lt1"/>
            </a:fontRef>
          </p:style>
          <p:txBody>
            <a:bodyPr lIns="72000" tIns="0" rIns="72000" bIns="36000" rtlCol="0" anchor="b" anchorCtr="0"/>
            <a:lstStyle/>
            <a:p>
              <a:pPr algn="ctr"/>
              <a:r>
                <a:rPr lang="en-US" altLang="zh-CN" dirty="0">
                  <a:latin typeface="黑体" panose="02010609060101010101" pitchFamily="49" charset="-122"/>
                  <a:ea typeface="黑体" panose="02010609060101010101" pitchFamily="49" charset="-122"/>
                </a:rPr>
                <a:t>8</a:t>
              </a:r>
              <a:r>
                <a:rPr lang="zh-CN" altLang="en-US" dirty="0">
                  <a:latin typeface="黑体" panose="02010609060101010101" pitchFamily="49" charset="-122"/>
                  <a:ea typeface="黑体" panose="02010609060101010101" pitchFamily="49" charset="-122"/>
                </a:rPr>
                <a:t>线</a:t>
              </a:r>
              <a:r>
                <a:rPr lang="en-US" altLang="zh-CN" dirty="0">
                  <a:latin typeface="黑体" panose="02010609060101010101" pitchFamily="49" charset="-122"/>
                  <a:ea typeface="黑体" panose="02010609060101010101" pitchFamily="49" charset="-122"/>
                </a:rPr>
                <a:t>-3</a:t>
              </a:r>
              <a:r>
                <a:rPr lang="zh-CN" altLang="en-US" dirty="0">
                  <a:latin typeface="黑体" panose="02010609060101010101" pitchFamily="49" charset="-122"/>
                  <a:ea typeface="黑体" panose="02010609060101010101" pitchFamily="49" charset="-122"/>
                </a:rPr>
                <a:t>线码优先编码器，输入高电平有效。</a:t>
              </a:r>
              <a:endParaRPr lang="zh-CN" altLang="en-US" dirty="0">
                <a:latin typeface="黑体" panose="02010609060101010101" pitchFamily="49" charset="-122"/>
                <a:ea typeface="黑体" panose="02010609060101010101" pitchFamily="49" charset="-122"/>
              </a:endParaRPr>
            </a:p>
          </p:txBody>
        </p:sp>
        <p:grpSp>
          <p:nvGrpSpPr>
            <p:cNvPr id="64" name="组合 63"/>
            <p:cNvGrpSpPr/>
            <p:nvPr/>
          </p:nvGrpSpPr>
          <p:grpSpPr>
            <a:xfrm>
              <a:off x="6523889" y="1438524"/>
              <a:ext cx="1864880" cy="1616736"/>
              <a:chOff x="6825931" y="1463349"/>
              <a:chExt cx="1864880" cy="1616736"/>
            </a:xfrm>
          </p:grpSpPr>
          <p:sp>
            <p:nvSpPr>
              <p:cNvPr id="27" name="圆角矩形 26"/>
              <p:cNvSpPr/>
              <p:nvPr/>
            </p:nvSpPr>
            <p:spPr>
              <a:xfrm>
                <a:off x="6825931" y="1624264"/>
                <a:ext cx="1864880" cy="1455821"/>
              </a:xfrm>
              <a:prstGeom prst="roundRect">
                <a:avLst>
                  <a:gd name="adj" fmla="val 7852"/>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7173" name="Picture 5"/>
              <p:cNvPicPr>
                <a:picLocks noChangeAspect="1" noChangeArrowheads="1"/>
              </p:cNvPicPr>
              <p:nvPr/>
            </p:nvPicPr>
            <p:blipFill>
              <a:blip r:embed="rId6" cstate="print"/>
              <a:srcRect t="2722" b="6564"/>
              <a:stretch>
                <a:fillRect/>
              </a:stretch>
            </p:blipFill>
            <p:spPr bwMode="auto">
              <a:xfrm>
                <a:off x="7007137" y="1836821"/>
                <a:ext cx="1503195" cy="1171074"/>
              </a:xfrm>
              <a:prstGeom prst="rect">
                <a:avLst/>
              </a:prstGeom>
              <a:noFill/>
              <a:ln w="9525">
                <a:noFill/>
                <a:miter lim="800000"/>
                <a:headEnd/>
                <a:tailEnd/>
              </a:ln>
            </p:spPr>
          </p:pic>
          <p:sp>
            <p:nvSpPr>
              <p:cNvPr id="37" name="流程图: 可选过程 36"/>
              <p:cNvSpPr/>
              <p:nvPr/>
            </p:nvSpPr>
            <p:spPr>
              <a:xfrm>
                <a:off x="7007835" y="1463349"/>
                <a:ext cx="1501072" cy="303346"/>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t>CD4532</a:t>
                </a:r>
                <a:endParaRPr lang="zh-CN" altLang="en-US" sz="1600" dirty="0"/>
              </a:p>
            </p:txBody>
          </p:sp>
        </p:grpSp>
      </p:grpSp>
      <p:sp>
        <p:nvSpPr>
          <p:cNvPr id="38" name="圆角矩形标注 37"/>
          <p:cNvSpPr/>
          <p:nvPr/>
        </p:nvSpPr>
        <p:spPr>
          <a:xfrm>
            <a:off x="5404059" y="4703355"/>
            <a:ext cx="3037889" cy="501763"/>
          </a:xfrm>
          <a:prstGeom prst="wedgeRoundRectCallout">
            <a:avLst>
              <a:gd name="adj1" fmla="val 28784"/>
              <a:gd name="adj2" fmla="val -83217"/>
              <a:gd name="adj3" fmla="val 16667"/>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solidFill>
                  <a:srgbClr val="CC00CC"/>
                </a:solidFill>
              </a:rPr>
              <a:t>4000</a:t>
            </a:r>
            <a:r>
              <a:rPr lang="zh-CN" altLang="en-US" dirty="0">
                <a:solidFill>
                  <a:srgbClr val="CC00CC"/>
                </a:solidFill>
              </a:rPr>
              <a:t>系列</a:t>
            </a:r>
            <a:r>
              <a:rPr lang="en-US" altLang="zh-CN" dirty="0">
                <a:solidFill>
                  <a:srgbClr val="CC00CC"/>
                </a:solidFill>
              </a:rPr>
              <a:t>CMOS</a:t>
            </a:r>
            <a:r>
              <a:rPr lang="zh-CN" altLang="en-US" dirty="0">
                <a:solidFill>
                  <a:srgbClr val="CC00CC"/>
                </a:solidFill>
              </a:rPr>
              <a:t>集成电路</a:t>
            </a:r>
            <a:endParaRPr lang="zh-CN" altLang="en-US" dirty="0">
              <a:solidFill>
                <a:srgbClr val="CC00CC"/>
              </a:solidFill>
            </a:endParaRPr>
          </a:p>
        </p:txBody>
      </p:sp>
      <p:sp>
        <p:nvSpPr>
          <p:cNvPr id="39" name="圆角矩形标注 38"/>
          <p:cNvSpPr/>
          <p:nvPr/>
        </p:nvSpPr>
        <p:spPr>
          <a:xfrm>
            <a:off x="3795173" y="876606"/>
            <a:ext cx="3362630" cy="769531"/>
          </a:xfrm>
          <a:prstGeom prst="wedgeRoundRectCallout">
            <a:avLst>
              <a:gd name="adj1" fmla="val -18024"/>
              <a:gd name="adj2" fmla="val 92100"/>
              <a:gd name="adj3" fmla="val 16667"/>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LS</a:t>
            </a:r>
            <a:r>
              <a:rPr lang="zh-CN" altLang="en-US"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：低功耗肖特基</a:t>
            </a:r>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TTL</a:t>
            </a:r>
            <a:endPar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HC</a:t>
            </a:r>
            <a:r>
              <a:rPr lang="zh-CN" altLang="en-US"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：高速</a:t>
            </a:r>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CMOS</a:t>
            </a:r>
            <a:endPar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a:p>
            <a:r>
              <a:rPr lang="en-US" altLang="zh-CN"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b="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up)">
                                      <p:cBhvr>
                                        <p:cTn id="7" dur="500"/>
                                        <p:tgtEl>
                                          <p:spTgt spid="39"/>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wipe(up)">
                                      <p:cBhvr>
                                        <p:cTn id="11"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392434" y="769746"/>
            <a:ext cx="4410974" cy="420971"/>
            <a:chOff x="670560" y="892917"/>
            <a:chExt cx="4410974" cy="420971"/>
          </a:xfrm>
        </p:grpSpPr>
        <p:sp>
          <p:nvSpPr>
            <p:cNvPr id="19" name="矩形 18"/>
            <p:cNvSpPr/>
            <p:nvPr/>
          </p:nvSpPr>
          <p:spPr>
            <a:xfrm>
              <a:off x="1035233" y="913778"/>
              <a:ext cx="4046301"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8</a:t>
              </a:r>
              <a:r>
                <a:rPr lang="zh-CN" altLang="en-US" sz="2000" b="1" dirty="0">
                  <a:solidFill>
                    <a:srgbClr val="002060"/>
                  </a:solidFill>
                  <a:latin typeface="微软雅黑" panose="020B0503020204020204" pitchFamily="34" charset="-122"/>
                  <a:ea typeface="微软雅黑" panose="020B0503020204020204" pitchFamily="34" charset="-122"/>
                </a:rPr>
                <a:t>线</a:t>
              </a:r>
              <a:r>
                <a:rPr lang="en-US" altLang="zh-CN" sz="2000" b="1" dirty="0">
                  <a:solidFill>
                    <a:srgbClr val="002060"/>
                  </a:solidFill>
                  <a:latin typeface="微软雅黑" panose="020B0503020204020204" pitchFamily="34" charset="-122"/>
                  <a:ea typeface="微软雅黑" panose="020B0503020204020204" pitchFamily="34" charset="-122"/>
                </a:rPr>
                <a:t>-3</a:t>
              </a:r>
              <a:r>
                <a:rPr lang="zh-CN" altLang="en-US" sz="2000" b="1" dirty="0">
                  <a:solidFill>
                    <a:srgbClr val="002060"/>
                  </a:solidFill>
                  <a:latin typeface="微软雅黑" panose="020B0503020204020204" pitchFamily="34" charset="-122"/>
                  <a:ea typeface="微软雅黑" panose="020B0503020204020204" pitchFamily="34" charset="-122"/>
                </a:rPr>
                <a:t>线集成优先编码器</a:t>
              </a:r>
              <a:r>
                <a:rPr lang="en-US" altLang="zh-CN" sz="2000" b="1" dirty="0">
                  <a:solidFill>
                    <a:srgbClr val="002060"/>
                  </a:solidFill>
                  <a:latin typeface="微软雅黑" panose="020B0503020204020204" pitchFamily="34" charset="-122"/>
                  <a:ea typeface="微软雅黑" panose="020B0503020204020204" pitchFamily="34" charset="-122"/>
                </a:rPr>
                <a:t>-CD4532</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0"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58" name="组合 57"/>
          <p:cNvGrpSpPr/>
          <p:nvPr/>
        </p:nvGrpSpPr>
        <p:grpSpPr>
          <a:xfrm>
            <a:off x="2391536" y="1237129"/>
            <a:ext cx="3781727" cy="3769314"/>
            <a:chOff x="794411" y="1232992"/>
            <a:chExt cx="3781727" cy="3976192"/>
          </a:xfrm>
        </p:grpSpPr>
        <p:pic>
          <p:nvPicPr>
            <p:cNvPr id="29" name="Picture 19" descr="未命名"/>
            <p:cNvPicPr>
              <a:picLocks noChangeAspect="1" noChangeArrowheads="1"/>
            </p:cNvPicPr>
            <p:nvPr/>
          </p:nvPicPr>
          <p:blipFill>
            <a:blip r:embed="rId2" cstate="print"/>
            <a:srcRect l="6575" r="8987"/>
            <a:stretch>
              <a:fillRect/>
            </a:stretch>
          </p:blipFill>
          <p:spPr bwMode="auto">
            <a:xfrm>
              <a:off x="1096452" y="1267579"/>
              <a:ext cx="3148681" cy="3874751"/>
            </a:xfrm>
            <a:prstGeom prst="rect">
              <a:avLst/>
            </a:prstGeom>
            <a:noFill/>
            <a:ln w="9525">
              <a:noFill/>
              <a:miter lim="800000"/>
              <a:headEnd/>
              <a:tailEnd/>
            </a:ln>
          </p:spPr>
        </p:pic>
        <p:sp>
          <p:nvSpPr>
            <p:cNvPr id="30" name="TextBox 29"/>
            <p:cNvSpPr txBox="1"/>
            <p:nvPr/>
          </p:nvSpPr>
          <p:spPr>
            <a:xfrm>
              <a:off x="947496" y="1278504"/>
              <a:ext cx="137858" cy="246221"/>
            </a:xfrm>
            <a:prstGeom prst="rect">
              <a:avLst/>
            </a:prstGeom>
            <a:noFill/>
          </p:spPr>
          <p:txBody>
            <a:bodyPr wrap="none" lIns="0" tIns="0" rIns="0" bIns="0" rtlCol="0">
              <a:spAutoFit/>
            </a:bodyPr>
            <a:lstStyle/>
            <a:p>
              <a:r>
                <a:rPr lang="en-US" altLang="zh-CN" sz="1600" i="1">
                  <a:latin typeface="Times New Roman" panose="02020603050405020304" pitchFamily="18" charset="0"/>
                  <a:cs typeface="Times New Roman" panose="02020603050405020304" pitchFamily="18" charset="0"/>
                </a:rPr>
                <a:t>I</a:t>
              </a:r>
              <a:r>
                <a:rPr lang="en-US" altLang="zh-CN" sz="1600" baseline="-25000">
                  <a:latin typeface="Times New Roman" panose="02020603050405020304" pitchFamily="18" charset="0"/>
                  <a:cs typeface="Times New Roman" panose="02020603050405020304" pitchFamily="18" charset="0"/>
                </a:rPr>
                <a:t>1</a:t>
              </a:r>
              <a:endParaRPr lang="zh-CN" altLang="en-US" sz="1600" baseline="-25000" dirty="0">
                <a:latin typeface="Times New Roman" panose="02020603050405020304" pitchFamily="18" charset="0"/>
                <a:cs typeface="Times New Roman" panose="02020603050405020304" pitchFamily="18" charset="0"/>
              </a:endParaRPr>
            </a:p>
          </p:txBody>
        </p:sp>
        <p:sp>
          <p:nvSpPr>
            <p:cNvPr id="31" name="TextBox 30"/>
            <p:cNvSpPr txBox="1"/>
            <p:nvPr/>
          </p:nvSpPr>
          <p:spPr>
            <a:xfrm>
              <a:off x="947496" y="1795009"/>
              <a:ext cx="137858" cy="246221"/>
            </a:xfrm>
            <a:prstGeom prst="rect">
              <a:avLst/>
            </a:prstGeom>
            <a:noFill/>
          </p:spPr>
          <p:txBody>
            <a:bodyPr wrap="none" lIns="0" tIns="0" rIns="0" bIns="0" rtlCol="0">
              <a:spAutoFit/>
            </a:bodyPr>
            <a:lstStyle/>
            <a:p>
              <a:r>
                <a:rPr lang="en-US" altLang="zh-CN" sz="1600" i="1">
                  <a:latin typeface="Times New Roman" panose="02020603050405020304" pitchFamily="18" charset="0"/>
                  <a:cs typeface="Times New Roman" panose="02020603050405020304" pitchFamily="18" charset="0"/>
                </a:rPr>
                <a:t>I</a:t>
              </a:r>
              <a:r>
                <a:rPr lang="en-US" altLang="zh-CN" sz="1600" baseline="-25000">
                  <a:latin typeface="Times New Roman" panose="02020603050405020304" pitchFamily="18" charset="0"/>
                  <a:cs typeface="Times New Roman" panose="02020603050405020304" pitchFamily="18" charset="0"/>
                </a:rPr>
                <a:t>2</a:t>
              </a:r>
              <a:endParaRPr lang="zh-CN" altLang="en-US" sz="1600" baseline="-25000" dirty="0">
                <a:latin typeface="Times New Roman" panose="02020603050405020304" pitchFamily="18" charset="0"/>
                <a:cs typeface="Times New Roman" panose="02020603050405020304" pitchFamily="18" charset="0"/>
              </a:endParaRPr>
            </a:p>
          </p:txBody>
        </p:sp>
        <p:sp>
          <p:nvSpPr>
            <p:cNvPr id="32" name="TextBox 31"/>
            <p:cNvSpPr txBox="1"/>
            <p:nvPr/>
          </p:nvSpPr>
          <p:spPr>
            <a:xfrm>
              <a:off x="947496" y="2527357"/>
              <a:ext cx="137858" cy="246221"/>
            </a:xfrm>
            <a:prstGeom prst="rect">
              <a:avLst/>
            </a:prstGeom>
            <a:noFill/>
          </p:spPr>
          <p:txBody>
            <a:bodyPr wrap="none" lIns="0" tIns="0" rIns="0" bIns="0" rtlCol="0">
              <a:spAutoFit/>
            </a:bodyPr>
            <a:lstStyle/>
            <a:p>
              <a:r>
                <a:rPr lang="en-US" altLang="zh-CN" sz="1600" i="1">
                  <a:latin typeface="Times New Roman" panose="02020603050405020304" pitchFamily="18" charset="0"/>
                  <a:cs typeface="Times New Roman" panose="02020603050405020304" pitchFamily="18" charset="0"/>
                </a:rPr>
                <a:t>I</a:t>
              </a:r>
              <a:r>
                <a:rPr lang="en-US" altLang="zh-CN" sz="1600" baseline="-25000">
                  <a:latin typeface="Times New Roman" panose="02020603050405020304" pitchFamily="18" charset="0"/>
                  <a:cs typeface="Times New Roman" panose="02020603050405020304" pitchFamily="18" charset="0"/>
                </a:rPr>
                <a:t>3</a:t>
              </a:r>
              <a:endParaRPr lang="zh-CN" altLang="en-US" sz="1600" baseline="-25000" dirty="0">
                <a:latin typeface="Times New Roman" panose="02020603050405020304" pitchFamily="18" charset="0"/>
                <a:cs typeface="Times New Roman" panose="02020603050405020304" pitchFamily="18" charset="0"/>
              </a:endParaRPr>
            </a:p>
          </p:txBody>
        </p:sp>
        <p:sp>
          <p:nvSpPr>
            <p:cNvPr id="33" name="TextBox 32"/>
            <p:cNvSpPr txBox="1"/>
            <p:nvPr/>
          </p:nvSpPr>
          <p:spPr>
            <a:xfrm>
              <a:off x="947496" y="2845949"/>
              <a:ext cx="137858" cy="246221"/>
            </a:xfrm>
            <a:prstGeom prst="rect">
              <a:avLst/>
            </a:prstGeom>
            <a:noFill/>
          </p:spPr>
          <p:txBody>
            <a:bodyPr wrap="none" lIns="0" tIns="0" rIns="0" bIns="0" rtlCol="0">
              <a:spAutoFit/>
            </a:bodyPr>
            <a:lstStyle/>
            <a:p>
              <a:r>
                <a:rPr lang="en-US" altLang="zh-CN" sz="1600" i="1">
                  <a:latin typeface="Times New Roman" panose="02020603050405020304" pitchFamily="18" charset="0"/>
                  <a:cs typeface="Times New Roman" panose="02020603050405020304" pitchFamily="18" charset="0"/>
                </a:rPr>
                <a:t>I</a:t>
              </a:r>
              <a:r>
                <a:rPr lang="en-US" altLang="zh-CN" sz="1600" baseline="-25000">
                  <a:latin typeface="Times New Roman" panose="02020603050405020304" pitchFamily="18" charset="0"/>
                  <a:cs typeface="Times New Roman" panose="02020603050405020304" pitchFamily="18" charset="0"/>
                </a:rPr>
                <a:t>4</a:t>
              </a:r>
              <a:endParaRPr lang="zh-CN" altLang="en-US" sz="1600" baseline="-25000" dirty="0">
                <a:latin typeface="Times New Roman" panose="02020603050405020304" pitchFamily="18" charset="0"/>
                <a:cs typeface="Times New Roman" panose="02020603050405020304" pitchFamily="18" charset="0"/>
              </a:endParaRPr>
            </a:p>
          </p:txBody>
        </p:sp>
        <p:sp>
          <p:nvSpPr>
            <p:cNvPr id="34" name="TextBox 33"/>
            <p:cNvSpPr txBox="1"/>
            <p:nvPr/>
          </p:nvSpPr>
          <p:spPr>
            <a:xfrm>
              <a:off x="947496" y="3210054"/>
              <a:ext cx="137858" cy="246221"/>
            </a:xfrm>
            <a:prstGeom prst="rect">
              <a:avLst/>
            </a:prstGeom>
            <a:noFill/>
          </p:spPr>
          <p:txBody>
            <a:bodyPr wrap="none" lIns="0" tIns="0" rIns="0" bIns="0" rtlCol="0">
              <a:spAutoFit/>
            </a:bodyPr>
            <a:lstStyle/>
            <a:p>
              <a:r>
                <a:rPr lang="en-US" altLang="zh-CN" sz="1600" i="1">
                  <a:latin typeface="Times New Roman" panose="02020603050405020304" pitchFamily="18" charset="0"/>
                  <a:cs typeface="Times New Roman" panose="02020603050405020304" pitchFamily="18" charset="0"/>
                </a:rPr>
                <a:t>I</a:t>
              </a:r>
              <a:r>
                <a:rPr lang="en-US" altLang="zh-CN" sz="1600" baseline="-25000">
                  <a:latin typeface="Times New Roman" panose="02020603050405020304" pitchFamily="18" charset="0"/>
                  <a:cs typeface="Times New Roman" panose="02020603050405020304" pitchFamily="18" charset="0"/>
                </a:rPr>
                <a:t>5</a:t>
              </a:r>
              <a:endParaRPr lang="zh-CN" altLang="en-US" sz="1600" baseline="-25000" dirty="0">
                <a:latin typeface="Times New Roman" panose="02020603050405020304" pitchFamily="18" charset="0"/>
                <a:cs typeface="Times New Roman" panose="02020603050405020304" pitchFamily="18" charset="0"/>
              </a:endParaRPr>
            </a:p>
          </p:txBody>
        </p:sp>
        <p:sp>
          <p:nvSpPr>
            <p:cNvPr id="35" name="TextBox 34"/>
            <p:cNvSpPr txBox="1"/>
            <p:nvPr/>
          </p:nvSpPr>
          <p:spPr>
            <a:xfrm>
              <a:off x="947496" y="3570021"/>
              <a:ext cx="137858" cy="246221"/>
            </a:xfrm>
            <a:prstGeom prst="rect">
              <a:avLst/>
            </a:prstGeom>
            <a:noFill/>
          </p:spPr>
          <p:txBody>
            <a:bodyPr wrap="none" lIns="0" tIns="0" rIns="0" bIns="0" rtlCol="0">
              <a:spAutoFit/>
            </a:bodyPr>
            <a:lstStyle/>
            <a:p>
              <a:r>
                <a:rPr lang="en-US" altLang="zh-CN" sz="1600" i="1">
                  <a:latin typeface="Times New Roman" panose="02020603050405020304" pitchFamily="18" charset="0"/>
                  <a:cs typeface="Times New Roman" panose="02020603050405020304" pitchFamily="18" charset="0"/>
                </a:rPr>
                <a:t>I</a:t>
              </a:r>
              <a:r>
                <a:rPr lang="en-US" altLang="zh-CN" sz="1600" baseline="-25000">
                  <a:latin typeface="Times New Roman" panose="02020603050405020304" pitchFamily="18" charset="0"/>
                  <a:cs typeface="Times New Roman" panose="02020603050405020304" pitchFamily="18" charset="0"/>
                </a:rPr>
                <a:t>6</a:t>
              </a:r>
              <a:endParaRPr lang="zh-CN" altLang="en-US" sz="1600" baseline="-25000" dirty="0">
                <a:latin typeface="Times New Roman" panose="02020603050405020304" pitchFamily="18" charset="0"/>
                <a:cs typeface="Times New Roman" panose="02020603050405020304" pitchFamily="18" charset="0"/>
              </a:endParaRPr>
            </a:p>
          </p:txBody>
        </p:sp>
        <p:sp>
          <p:nvSpPr>
            <p:cNvPr id="36" name="TextBox 35"/>
            <p:cNvSpPr txBox="1"/>
            <p:nvPr/>
          </p:nvSpPr>
          <p:spPr>
            <a:xfrm>
              <a:off x="947496" y="3867925"/>
              <a:ext cx="137858" cy="246221"/>
            </a:xfrm>
            <a:prstGeom prst="rect">
              <a:avLst/>
            </a:prstGeom>
            <a:noFill/>
          </p:spPr>
          <p:txBody>
            <a:bodyPr wrap="none" lIns="0" tIns="0" rIns="0" bIns="0" rtlCol="0">
              <a:spAutoFit/>
            </a:bodyPr>
            <a:lstStyle/>
            <a:p>
              <a:r>
                <a:rPr lang="en-US" altLang="zh-CN" sz="1600" i="1">
                  <a:latin typeface="Times New Roman" panose="02020603050405020304" pitchFamily="18" charset="0"/>
                  <a:cs typeface="Times New Roman" panose="02020603050405020304" pitchFamily="18" charset="0"/>
                </a:rPr>
                <a:t>I</a:t>
              </a:r>
              <a:r>
                <a:rPr lang="en-US" altLang="zh-CN" sz="1600" baseline="-25000">
                  <a:latin typeface="Times New Roman" panose="02020603050405020304" pitchFamily="18" charset="0"/>
                  <a:cs typeface="Times New Roman" panose="02020603050405020304" pitchFamily="18" charset="0"/>
                </a:rPr>
                <a:t>7</a:t>
              </a:r>
              <a:endParaRPr lang="zh-CN" altLang="en-US" sz="1600" baseline="-25000" dirty="0">
                <a:latin typeface="Times New Roman" panose="02020603050405020304" pitchFamily="18" charset="0"/>
                <a:cs typeface="Times New Roman" panose="02020603050405020304" pitchFamily="18" charset="0"/>
              </a:endParaRPr>
            </a:p>
          </p:txBody>
        </p:sp>
        <p:sp>
          <p:nvSpPr>
            <p:cNvPr id="37" name="TextBox 36"/>
            <p:cNvSpPr txBox="1"/>
            <p:nvPr/>
          </p:nvSpPr>
          <p:spPr>
            <a:xfrm>
              <a:off x="947496" y="4484420"/>
              <a:ext cx="137858" cy="246221"/>
            </a:xfrm>
            <a:prstGeom prst="rect">
              <a:avLst/>
            </a:prstGeom>
            <a:noFill/>
          </p:spPr>
          <p:txBody>
            <a:bodyPr wrap="none" lIns="0" tIns="0" rIns="0" bIns="0" rtlCol="0">
              <a:spAutoFit/>
            </a:bodyPr>
            <a:lstStyle/>
            <a:p>
              <a:r>
                <a:rPr lang="en-US" altLang="zh-CN" sz="1600" i="1">
                  <a:latin typeface="Times New Roman" panose="02020603050405020304" pitchFamily="18" charset="0"/>
                  <a:cs typeface="Times New Roman" panose="02020603050405020304" pitchFamily="18" charset="0"/>
                </a:rPr>
                <a:t>I</a:t>
              </a:r>
              <a:r>
                <a:rPr lang="en-US" altLang="zh-CN" sz="1600" baseline="-25000">
                  <a:latin typeface="Times New Roman" panose="02020603050405020304" pitchFamily="18" charset="0"/>
                  <a:cs typeface="Times New Roman" panose="02020603050405020304" pitchFamily="18" charset="0"/>
                </a:rPr>
                <a:t>0</a:t>
              </a:r>
              <a:endParaRPr lang="zh-CN" altLang="en-US" sz="1600" baseline="-25000" dirty="0">
                <a:latin typeface="Times New Roman" panose="02020603050405020304" pitchFamily="18" charset="0"/>
                <a:cs typeface="Times New Roman" panose="02020603050405020304" pitchFamily="18" charset="0"/>
              </a:endParaRPr>
            </a:p>
          </p:txBody>
        </p:sp>
        <p:sp>
          <p:nvSpPr>
            <p:cNvPr id="38" name="TextBox 37"/>
            <p:cNvSpPr txBox="1"/>
            <p:nvPr/>
          </p:nvSpPr>
          <p:spPr>
            <a:xfrm>
              <a:off x="897802" y="4803012"/>
              <a:ext cx="193964" cy="246221"/>
            </a:xfrm>
            <a:prstGeom prst="rect">
              <a:avLst/>
            </a:prstGeom>
            <a:noFill/>
          </p:spPr>
          <p:txBody>
            <a:bodyPr wrap="none" lIns="0" tIns="0" rIns="0" bIns="0" rtlCol="0">
              <a:spAutoFit/>
            </a:bodyPr>
            <a:lstStyle/>
            <a:p>
              <a:r>
                <a:rPr lang="en-US" altLang="zh-CN" sz="1600" i="1">
                  <a:latin typeface="Times New Roman" panose="02020603050405020304" pitchFamily="18" charset="0"/>
                  <a:cs typeface="Times New Roman" panose="02020603050405020304" pitchFamily="18" charset="0"/>
                </a:rPr>
                <a:t>EI</a:t>
              </a:r>
              <a:endParaRPr lang="zh-CN" altLang="en-US" sz="1600" baseline="-25000" dirty="0">
                <a:latin typeface="Times New Roman" panose="02020603050405020304" pitchFamily="18" charset="0"/>
                <a:cs typeface="Times New Roman" panose="02020603050405020304" pitchFamily="18" charset="0"/>
              </a:endParaRPr>
            </a:p>
          </p:txBody>
        </p:sp>
        <p:sp>
          <p:nvSpPr>
            <p:cNvPr id="44" name="TextBox 43"/>
            <p:cNvSpPr txBox="1"/>
            <p:nvPr/>
          </p:nvSpPr>
          <p:spPr>
            <a:xfrm>
              <a:off x="4259618" y="1868795"/>
              <a:ext cx="182742" cy="246221"/>
            </a:xfrm>
            <a:prstGeom prst="rect">
              <a:avLst/>
            </a:prstGeom>
            <a:noFill/>
          </p:spPr>
          <p:txBody>
            <a:bodyPr wrap="none" lIns="0" tIns="0" rIns="0" bIns="0" rtlCol="0">
              <a:spAutoFit/>
            </a:bodyPr>
            <a:lstStyle/>
            <a:p>
              <a:r>
                <a:rPr lang="en-US" altLang="zh-CN" sz="1600" i="1" dirty="0">
                  <a:latin typeface="Times New Roman" panose="02020603050405020304" pitchFamily="18" charset="0"/>
                  <a:cs typeface="Times New Roman" panose="02020603050405020304" pitchFamily="18" charset="0"/>
                </a:rPr>
                <a:t>Y</a:t>
              </a:r>
              <a:r>
                <a:rPr lang="en-US" altLang="zh-CN" sz="1600" baseline="-25000" dirty="0">
                  <a:latin typeface="Times New Roman" panose="02020603050405020304" pitchFamily="18" charset="0"/>
                  <a:cs typeface="Times New Roman" panose="02020603050405020304" pitchFamily="18" charset="0"/>
                </a:rPr>
                <a:t>0</a:t>
              </a:r>
              <a:endParaRPr lang="zh-CN" altLang="en-US" sz="1600" baseline="-25000" dirty="0">
                <a:latin typeface="Times New Roman" panose="02020603050405020304" pitchFamily="18" charset="0"/>
                <a:cs typeface="Times New Roman" panose="02020603050405020304" pitchFamily="18" charset="0"/>
              </a:endParaRPr>
            </a:p>
          </p:txBody>
        </p:sp>
        <p:sp>
          <p:nvSpPr>
            <p:cNvPr id="45" name="TextBox 44"/>
            <p:cNvSpPr txBox="1"/>
            <p:nvPr/>
          </p:nvSpPr>
          <p:spPr>
            <a:xfrm>
              <a:off x="4259618" y="2931458"/>
              <a:ext cx="182742" cy="246221"/>
            </a:xfrm>
            <a:prstGeom prst="rect">
              <a:avLst/>
            </a:prstGeom>
            <a:noFill/>
          </p:spPr>
          <p:txBody>
            <a:bodyPr wrap="none" lIns="0" tIns="0" rIns="0" bIns="0" rtlCol="0">
              <a:spAutoFit/>
            </a:bodyPr>
            <a:lstStyle/>
            <a:p>
              <a:r>
                <a:rPr lang="en-US" altLang="zh-CN" sz="1600" i="1" dirty="0">
                  <a:latin typeface="Times New Roman" panose="02020603050405020304" pitchFamily="18" charset="0"/>
                  <a:cs typeface="Times New Roman" panose="02020603050405020304" pitchFamily="18" charset="0"/>
                </a:rPr>
                <a:t>Y</a:t>
              </a:r>
              <a:r>
                <a:rPr lang="en-US" altLang="zh-CN" sz="1600" baseline="-25000" dirty="0">
                  <a:latin typeface="Times New Roman" panose="02020603050405020304" pitchFamily="18" charset="0"/>
                  <a:cs typeface="Times New Roman" panose="02020603050405020304" pitchFamily="18" charset="0"/>
                </a:rPr>
                <a:t>1</a:t>
              </a:r>
              <a:endParaRPr lang="zh-CN" altLang="en-US" sz="1600" baseline="-25000" dirty="0">
                <a:latin typeface="Times New Roman" panose="02020603050405020304" pitchFamily="18" charset="0"/>
                <a:cs typeface="Times New Roman" panose="02020603050405020304" pitchFamily="18" charset="0"/>
              </a:endParaRPr>
            </a:p>
          </p:txBody>
        </p:sp>
        <p:sp>
          <p:nvSpPr>
            <p:cNvPr id="46" name="TextBox 45"/>
            <p:cNvSpPr txBox="1"/>
            <p:nvPr/>
          </p:nvSpPr>
          <p:spPr>
            <a:xfrm>
              <a:off x="4259618" y="3518990"/>
              <a:ext cx="182742" cy="246221"/>
            </a:xfrm>
            <a:prstGeom prst="rect">
              <a:avLst/>
            </a:prstGeom>
            <a:noFill/>
          </p:spPr>
          <p:txBody>
            <a:bodyPr wrap="none" lIns="0" tIns="0" rIns="0" bIns="0" rtlCol="0">
              <a:spAutoFit/>
            </a:bodyPr>
            <a:lstStyle/>
            <a:p>
              <a:r>
                <a:rPr lang="en-US" altLang="zh-CN" sz="1600" i="1" dirty="0">
                  <a:latin typeface="Times New Roman" panose="02020603050405020304" pitchFamily="18" charset="0"/>
                  <a:cs typeface="Times New Roman" panose="02020603050405020304" pitchFamily="18" charset="0"/>
                </a:rPr>
                <a:t>Y</a:t>
              </a:r>
              <a:r>
                <a:rPr lang="en-US" altLang="zh-CN" sz="1600" baseline="-25000" dirty="0">
                  <a:latin typeface="Times New Roman" panose="02020603050405020304" pitchFamily="18" charset="0"/>
                  <a:cs typeface="Times New Roman" panose="02020603050405020304" pitchFamily="18" charset="0"/>
                </a:rPr>
                <a:t>2</a:t>
              </a:r>
              <a:endParaRPr lang="zh-CN" altLang="en-US" sz="1600" baseline="-25000" dirty="0">
                <a:latin typeface="Times New Roman" panose="02020603050405020304" pitchFamily="18" charset="0"/>
                <a:cs typeface="Times New Roman" panose="02020603050405020304" pitchFamily="18" charset="0"/>
              </a:endParaRPr>
            </a:p>
          </p:txBody>
        </p:sp>
        <p:sp>
          <p:nvSpPr>
            <p:cNvPr id="47" name="TextBox 46"/>
            <p:cNvSpPr txBox="1"/>
            <p:nvPr/>
          </p:nvSpPr>
          <p:spPr>
            <a:xfrm>
              <a:off x="4259618" y="4313401"/>
              <a:ext cx="250068" cy="246221"/>
            </a:xfrm>
            <a:prstGeom prst="rect">
              <a:avLst/>
            </a:prstGeom>
            <a:noFill/>
          </p:spPr>
          <p:txBody>
            <a:bodyPr wrap="none" lIns="0" tIns="0" rIns="0" bIns="0" rtlCol="0">
              <a:spAutoFit/>
            </a:bodyPr>
            <a:lstStyle/>
            <a:p>
              <a:r>
                <a:rPr lang="en-US" altLang="zh-CN" sz="1600" i="1" dirty="0">
                  <a:latin typeface="Times New Roman" panose="02020603050405020304" pitchFamily="18" charset="0"/>
                  <a:cs typeface="Times New Roman" panose="02020603050405020304" pitchFamily="18" charset="0"/>
                </a:rPr>
                <a:t>GS</a:t>
              </a:r>
              <a:endParaRPr lang="zh-CN" altLang="en-US" sz="1600" baseline="-25000" dirty="0">
                <a:latin typeface="Times New Roman" panose="02020603050405020304" pitchFamily="18" charset="0"/>
                <a:cs typeface="Times New Roman" panose="02020603050405020304" pitchFamily="18" charset="0"/>
              </a:endParaRPr>
            </a:p>
          </p:txBody>
        </p:sp>
        <p:sp>
          <p:nvSpPr>
            <p:cNvPr id="48" name="TextBox 47"/>
            <p:cNvSpPr txBox="1"/>
            <p:nvPr/>
          </p:nvSpPr>
          <p:spPr>
            <a:xfrm>
              <a:off x="4259618" y="4610616"/>
              <a:ext cx="272510" cy="246221"/>
            </a:xfrm>
            <a:prstGeom prst="rect">
              <a:avLst/>
            </a:prstGeom>
            <a:noFill/>
          </p:spPr>
          <p:txBody>
            <a:bodyPr wrap="none" lIns="0" tIns="0" rIns="0" bIns="0" rtlCol="0">
              <a:spAutoFit/>
            </a:bodyPr>
            <a:lstStyle/>
            <a:p>
              <a:r>
                <a:rPr lang="en-US" altLang="zh-CN" sz="1600" i="1" dirty="0">
                  <a:latin typeface="Times New Roman" panose="02020603050405020304" pitchFamily="18" charset="0"/>
                  <a:cs typeface="Times New Roman" panose="02020603050405020304" pitchFamily="18" charset="0"/>
                </a:rPr>
                <a:t>EO</a:t>
              </a:r>
              <a:endParaRPr lang="zh-CN" altLang="en-US" sz="1600" baseline="-25000" dirty="0">
                <a:latin typeface="Times New Roman" panose="02020603050405020304" pitchFamily="18" charset="0"/>
                <a:cs typeface="Times New Roman" panose="02020603050405020304" pitchFamily="18" charset="0"/>
              </a:endParaRPr>
            </a:p>
          </p:txBody>
        </p:sp>
        <p:sp>
          <p:nvSpPr>
            <p:cNvPr id="57" name="圆角矩形 56"/>
            <p:cNvSpPr/>
            <p:nvPr/>
          </p:nvSpPr>
          <p:spPr>
            <a:xfrm>
              <a:off x="794411" y="1232992"/>
              <a:ext cx="3781727" cy="3976192"/>
            </a:xfrm>
            <a:prstGeom prst="roundRect">
              <a:avLst>
                <a:gd name="adj" fmla="val 2621"/>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0" name="圆角矩形 59"/>
          <p:cNvSpPr/>
          <p:nvPr/>
        </p:nvSpPr>
        <p:spPr>
          <a:xfrm>
            <a:off x="2415554" y="1290918"/>
            <a:ext cx="306179" cy="3298640"/>
          </a:xfrm>
          <a:prstGeom prst="roundRect">
            <a:avLst/>
          </a:prstGeom>
          <a:solidFill>
            <a:srgbClr val="FF00FF">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3" name="圆角矩形标注 62"/>
          <p:cNvSpPr/>
          <p:nvPr/>
        </p:nvSpPr>
        <p:spPr>
          <a:xfrm>
            <a:off x="673007" y="1977656"/>
            <a:ext cx="1522582" cy="1016200"/>
          </a:xfrm>
          <a:prstGeom prst="wedgeRoundRectCallout">
            <a:avLst>
              <a:gd name="adj1" fmla="val 66705"/>
              <a:gd name="adj2" fmla="val 24023"/>
              <a:gd name="adj3" fmla="val 16667"/>
            </a:avLst>
          </a:prstGeom>
          <a:solidFill>
            <a:schemeClr val="accent1">
              <a:lumMod val="20000"/>
              <a:lumOff val="80000"/>
            </a:schemeClr>
          </a:solidFill>
        </p:spPr>
        <p:style>
          <a:lnRef idx="2">
            <a:schemeClr val="accent5">
              <a:shade val="50000"/>
            </a:schemeClr>
          </a:lnRef>
          <a:fillRef idx="1">
            <a:schemeClr val="accent5"/>
          </a:fillRef>
          <a:effectRef idx="0">
            <a:schemeClr val="accent5"/>
          </a:effectRef>
          <a:fontRef idx="minor">
            <a:schemeClr val="lt1"/>
          </a:fontRef>
        </p:style>
        <p:txBody>
          <a:bodyPr lIns="36000" rIns="36000" rtlCol="0" anchor="ctr"/>
          <a:lstStyle/>
          <a:p>
            <a:pPr algn="ctr"/>
            <a:r>
              <a:rPr lang="zh-CN" altLang="en-US" dirty="0">
                <a:solidFill>
                  <a:schemeClr val="tx1"/>
                </a:solidFill>
                <a:latin typeface="黑体" panose="02010609060101010101" pitchFamily="49" charset="-122"/>
                <a:ea typeface="黑体" panose="02010609060101010101" pitchFamily="49" charset="-122"/>
              </a:rPr>
              <a:t>编码请求信号输入端</a:t>
            </a:r>
            <a:endParaRPr lang="en-US" altLang="zh-CN" dirty="0">
              <a:solidFill>
                <a:schemeClr val="tx1"/>
              </a:solidFill>
              <a:latin typeface="黑体" panose="02010609060101010101" pitchFamily="49" charset="-122"/>
              <a:ea typeface="黑体" panose="02010609060101010101" pitchFamily="49" charset="-122"/>
            </a:endParaRPr>
          </a:p>
          <a:p>
            <a:pPr algn="ctr"/>
            <a:r>
              <a:rPr lang="en-US" altLang="zh-CN" dirty="0">
                <a:solidFill>
                  <a:schemeClr val="tx1"/>
                </a:solidFill>
                <a:latin typeface="黑体" panose="02010609060101010101" pitchFamily="49" charset="-122"/>
                <a:ea typeface="黑体" panose="02010609060101010101" pitchFamily="49" charset="-122"/>
              </a:rPr>
              <a:t>(</a:t>
            </a:r>
            <a:r>
              <a:rPr lang="zh-CN" altLang="en-US" dirty="0">
                <a:solidFill>
                  <a:schemeClr val="tx1"/>
                </a:solidFill>
                <a:latin typeface="黑体" panose="02010609060101010101" pitchFamily="49" charset="-122"/>
                <a:ea typeface="黑体" panose="02010609060101010101" pitchFamily="49" charset="-122"/>
              </a:rPr>
              <a:t>高电平有效</a:t>
            </a:r>
            <a:r>
              <a:rPr lang="en-US" altLang="zh-CN" dirty="0">
                <a:solidFill>
                  <a:schemeClr val="tx1"/>
                </a:solidFill>
                <a:latin typeface="黑体" panose="02010609060101010101" pitchFamily="49" charset="-122"/>
                <a:ea typeface="黑体" panose="02010609060101010101" pitchFamily="49" charset="-122"/>
              </a:rPr>
              <a:t>)</a:t>
            </a:r>
            <a:endParaRPr lang="zh-CN" altLang="en-US" dirty="0">
              <a:solidFill>
                <a:schemeClr val="tx1"/>
              </a:solidFill>
              <a:latin typeface="黑体" panose="02010609060101010101" pitchFamily="49" charset="-122"/>
              <a:ea typeface="黑体" panose="02010609060101010101" pitchFamily="49" charset="-122"/>
            </a:endParaRPr>
          </a:p>
        </p:txBody>
      </p:sp>
      <p:sp>
        <p:nvSpPr>
          <p:cNvPr id="64" name="圆角矩形标注 63"/>
          <p:cNvSpPr/>
          <p:nvPr/>
        </p:nvSpPr>
        <p:spPr>
          <a:xfrm>
            <a:off x="667009" y="4131087"/>
            <a:ext cx="1522582" cy="822004"/>
          </a:xfrm>
          <a:prstGeom prst="wedgeRoundRectCallout">
            <a:avLst>
              <a:gd name="adj1" fmla="val 66705"/>
              <a:gd name="adj2" fmla="val 24023"/>
              <a:gd name="adj3" fmla="val 16667"/>
            </a:avLst>
          </a:prstGeom>
          <a:solidFill>
            <a:schemeClr val="accent1">
              <a:lumMod val="20000"/>
              <a:lumOff val="80000"/>
            </a:schemeClr>
          </a:solidFill>
        </p:spPr>
        <p:style>
          <a:lnRef idx="2">
            <a:schemeClr val="accent5">
              <a:shade val="50000"/>
            </a:schemeClr>
          </a:lnRef>
          <a:fillRef idx="1">
            <a:schemeClr val="accent5"/>
          </a:fillRef>
          <a:effectRef idx="0">
            <a:schemeClr val="accent5"/>
          </a:effectRef>
          <a:fontRef idx="minor">
            <a:schemeClr val="lt1"/>
          </a:fontRef>
        </p:style>
        <p:txBody>
          <a:bodyPr lIns="36000" rIns="36000" rtlCol="0" anchor="ctr"/>
          <a:lstStyle/>
          <a:p>
            <a:pPr algn="ctr"/>
            <a:r>
              <a:rPr lang="zh-CN" altLang="en-US" dirty="0">
                <a:solidFill>
                  <a:schemeClr val="tx1"/>
                </a:solidFill>
                <a:latin typeface="黑体" panose="02010609060101010101" pitchFamily="49" charset="-122"/>
                <a:ea typeface="黑体" panose="02010609060101010101" pitchFamily="49" charset="-122"/>
              </a:rPr>
              <a:t>输入使能端</a:t>
            </a:r>
            <a:r>
              <a:rPr lang="en-US" altLang="zh-CN" dirty="0">
                <a:solidFill>
                  <a:schemeClr val="tx1"/>
                </a:solidFill>
                <a:latin typeface="黑体" panose="02010609060101010101" pitchFamily="49" charset="-122"/>
                <a:ea typeface="黑体" panose="02010609060101010101" pitchFamily="49" charset="-122"/>
              </a:rPr>
              <a:t>(</a:t>
            </a:r>
            <a:r>
              <a:rPr lang="zh-CN" altLang="en-US" dirty="0">
                <a:solidFill>
                  <a:schemeClr val="tx1"/>
                </a:solidFill>
                <a:latin typeface="黑体" panose="02010609060101010101" pitchFamily="49" charset="-122"/>
                <a:ea typeface="黑体" panose="02010609060101010101" pitchFamily="49" charset="-122"/>
              </a:rPr>
              <a:t>高电平有效</a:t>
            </a:r>
            <a:r>
              <a:rPr lang="en-US" altLang="zh-CN" dirty="0">
                <a:solidFill>
                  <a:schemeClr val="tx1"/>
                </a:solidFill>
                <a:latin typeface="黑体" panose="02010609060101010101" pitchFamily="49" charset="-122"/>
                <a:ea typeface="黑体" panose="02010609060101010101" pitchFamily="49" charset="-122"/>
              </a:rPr>
              <a:t>)</a:t>
            </a:r>
            <a:endParaRPr lang="zh-CN" altLang="en-US" dirty="0">
              <a:solidFill>
                <a:schemeClr val="tx1"/>
              </a:solidFill>
              <a:latin typeface="黑体" panose="02010609060101010101" pitchFamily="49" charset="-122"/>
              <a:ea typeface="黑体" panose="02010609060101010101" pitchFamily="49" charset="-122"/>
            </a:endParaRPr>
          </a:p>
        </p:txBody>
      </p:sp>
      <p:sp>
        <p:nvSpPr>
          <p:cNvPr id="65" name="圆角矩形 64"/>
          <p:cNvSpPr/>
          <p:nvPr/>
        </p:nvSpPr>
        <p:spPr>
          <a:xfrm>
            <a:off x="2423351" y="4657179"/>
            <a:ext cx="306179" cy="223882"/>
          </a:xfrm>
          <a:prstGeom prst="roundRect">
            <a:avLst/>
          </a:prstGeom>
          <a:solidFill>
            <a:srgbClr val="FF00FF">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圆角矩形 65"/>
          <p:cNvSpPr/>
          <p:nvPr/>
        </p:nvSpPr>
        <p:spPr>
          <a:xfrm>
            <a:off x="5804505" y="1821836"/>
            <a:ext cx="306179" cy="1949901"/>
          </a:xfrm>
          <a:prstGeom prst="roundRect">
            <a:avLst/>
          </a:prstGeom>
          <a:solidFill>
            <a:srgbClr val="FF00FF">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圆角矩形标注 66"/>
          <p:cNvSpPr/>
          <p:nvPr/>
        </p:nvSpPr>
        <p:spPr>
          <a:xfrm>
            <a:off x="6475304" y="2073262"/>
            <a:ext cx="1323741" cy="357986"/>
          </a:xfrm>
          <a:prstGeom prst="wedgeRoundRectCallout">
            <a:avLst>
              <a:gd name="adj1" fmla="val -76583"/>
              <a:gd name="adj2" fmla="val 64125"/>
              <a:gd name="adj3" fmla="val 16667"/>
            </a:avLst>
          </a:prstGeom>
          <a:solidFill>
            <a:schemeClr val="accent1">
              <a:lumMod val="20000"/>
              <a:lumOff val="80000"/>
            </a:schemeClr>
          </a:solidFill>
        </p:spPr>
        <p:style>
          <a:lnRef idx="2">
            <a:schemeClr val="accent5">
              <a:shade val="50000"/>
            </a:schemeClr>
          </a:lnRef>
          <a:fillRef idx="1">
            <a:schemeClr val="accent5"/>
          </a:fillRef>
          <a:effectRef idx="0">
            <a:schemeClr val="accent5"/>
          </a:effectRef>
          <a:fontRef idx="minor">
            <a:schemeClr val="lt1"/>
          </a:fontRef>
        </p:style>
        <p:txBody>
          <a:bodyPr lIns="36000" rIns="36000" rtlCol="0" anchor="ctr"/>
          <a:lstStyle/>
          <a:p>
            <a:pPr algn="ctr"/>
            <a:r>
              <a:rPr lang="zh-CN" altLang="en-US" dirty="0">
                <a:solidFill>
                  <a:schemeClr val="tx1"/>
                </a:solidFill>
                <a:latin typeface="黑体" panose="02010609060101010101" pitchFamily="49" charset="-122"/>
                <a:ea typeface="黑体" panose="02010609060101010101" pitchFamily="49" charset="-122"/>
              </a:rPr>
              <a:t>代码输出端</a:t>
            </a:r>
            <a:endParaRPr lang="zh-CN" altLang="en-US" dirty="0">
              <a:solidFill>
                <a:schemeClr val="tx1"/>
              </a:solidFill>
              <a:latin typeface="黑体" panose="02010609060101010101" pitchFamily="49" charset="-122"/>
              <a:ea typeface="黑体" panose="02010609060101010101" pitchFamily="49" charset="-122"/>
            </a:endParaRPr>
          </a:p>
        </p:txBody>
      </p:sp>
      <p:sp>
        <p:nvSpPr>
          <p:cNvPr id="68" name="圆角矩形 67"/>
          <p:cNvSpPr/>
          <p:nvPr/>
        </p:nvSpPr>
        <p:spPr>
          <a:xfrm>
            <a:off x="5846326" y="4477268"/>
            <a:ext cx="306179" cy="223882"/>
          </a:xfrm>
          <a:prstGeom prst="roundRect">
            <a:avLst/>
          </a:prstGeom>
          <a:solidFill>
            <a:srgbClr val="FF00FF">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圆角矩形 68"/>
          <p:cNvSpPr/>
          <p:nvPr/>
        </p:nvSpPr>
        <p:spPr>
          <a:xfrm>
            <a:off x="5833567" y="4183809"/>
            <a:ext cx="306179" cy="223882"/>
          </a:xfrm>
          <a:prstGeom prst="roundRect">
            <a:avLst/>
          </a:prstGeom>
          <a:solidFill>
            <a:srgbClr val="FF00FF">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圆角矩形标注 69"/>
          <p:cNvSpPr/>
          <p:nvPr/>
        </p:nvSpPr>
        <p:spPr>
          <a:xfrm>
            <a:off x="6374077" y="3520893"/>
            <a:ext cx="1555014" cy="568476"/>
          </a:xfrm>
          <a:prstGeom prst="wedgeRoundRectCallout">
            <a:avLst>
              <a:gd name="adj1" fmla="val -65510"/>
              <a:gd name="adj2" fmla="val 76825"/>
              <a:gd name="adj3" fmla="val 16667"/>
            </a:avLst>
          </a:prstGeom>
          <a:solidFill>
            <a:schemeClr val="accent1">
              <a:lumMod val="20000"/>
              <a:lumOff val="80000"/>
            </a:schemeClr>
          </a:solidFill>
        </p:spPr>
        <p:style>
          <a:lnRef idx="2">
            <a:schemeClr val="accent5">
              <a:shade val="50000"/>
            </a:schemeClr>
          </a:lnRef>
          <a:fillRef idx="1">
            <a:schemeClr val="accent5"/>
          </a:fillRef>
          <a:effectRef idx="0">
            <a:schemeClr val="accent5"/>
          </a:effectRef>
          <a:fontRef idx="minor">
            <a:schemeClr val="lt1"/>
          </a:fontRef>
        </p:style>
        <p:txBody>
          <a:bodyPr lIns="36000" rIns="36000" rtlCol="0" anchor="ctr"/>
          <a:lstStyle/>
          <a:p>
            <a:pPr algn="ctr"/>
            <a:r>
              <a:rPr lang="zh-CN" altLang="en-US" dirty="0">
                <a:solidFill>
                  <a:schemeClr val="tx1"/>
                </a:solidFill>
                <a:latin typeface="黑体" panose="02010609060101010101" pitchFamily="49" charset="-122"/>
                <a:ea typeface="黑体" panose="02010609060101010101" pitchFamily="49" charset="-122"/>
              </a:rPr>
              <a:t>工作状态</a:t>
            </a:r>
            <a:endParaRPr lang="en-US" altLang="zh-CN" dirty="0">
              <a:solidFill>
                <a:schemeClr val="tx1"/>
              </a:solidFill>
              <a:latin typeface="黑体" panose="02010609060101010101" pitchFamily="49" charset="-122"/>
              <a:ea typeface="黑体" panose="02010609060101010101" pitchFamily="49" charset="-122"/>
            </a:endParaRPr>
          </a:p>
          <a:p>
            <a:pPr algn="ctr"/>
            <a:r>
              <a:rPr lang="zh-CN" altLang="en-US" dirty="0">
                <a:solidFill>
                  <a:schemeClr val="tx1"/>
                </a:solidFill>
                <a:latin typeface="黑体" panose="02010609060101010101" pitchFamily="49" charset="-122"/>
                <a:ea typeface="黑体" panose="02010609060101010101" pitchFamily="49" charset="-122"/>
              </a:rPr>
              <a:t>标志位</a:t>
            </a:r>
            <a:endParaRPr lang="zh-CN" altLang="en-US" dirty="0">
              <a:solidFill>
                <a:schemeClr val="tx1"/>
              </a:solidFill>
              <a:latin typeface="黑体" panose="02010609060101010101" pitchFamily="49" charset="-122"/>
              <a:ea typeface="黑体" panose="02010609060101010101" pitchFamily="49" charset="-122"/>
            </a:endParaRPr>
          </a:p>
        </p:txBody>
      </p:sp>
      <p:sp>
        <p:nvSpPr>
          <p:cNvPr id="71" name="圆角矩形标注 70"/>
          <p:cNvSpPr/>
          <p:nvPr/>
        </p:nvSpPr>
        <p:spPr>
          <a:xfrm>
            <a:off x="6257951" y="4373692"/>
            <a:ext cx="1564286" cy="718346"/>
          </a:xfrm>
          <a:prstGeom prst="wedgeRoundRectCallout">
            <a:avLst>
              <a:gd name="adj1" fmla="val -56505"/>
              <a:gd name="adj2" fmla="val -11286"/>
              <a:gd name="adj3" fmla="val 16667"/>
            </a:avLst>
          </a:prstGeom>
          <a:solidFill>
            <a:schemeClr val="accent1">
              <a:lumMod val="20000"/>
              <a:lumOff val="80000"/>
            </a:schemeClr>
          </a:solidFill>
        </p:spPr>
        <p:style>
          <a:lnRef idx="2">
            <a:schemeClr val="accent5">
              <a:shade val="50000"/>
            </a:schemeClr>
          </a:lnRef>
          <a:fillRef idx="1">
            <a:schemeClr val="accent5"/>
          </a:fillRef>
          <a:effectRef idx="0">
            <a:schemeClr val="accent5"/>
          </a:effectRef>
          <a:fontRef idx="minor">
            <a:schemeClr val="lt1"/>
          </a:fontRef>
        </p:style>
        <p:txBody>
          <a:bodyPr lIns="36000" rIns="36000" rtlCol="0" anchor="ctr"/>
          <a:lstStyle/>
          <a:p>
            <a:pPr algn="ctr"/>
            <a:r>
              <a:rPr lang="zh-CN" altLang="en-US" dirty="0">
                <a:solidFill>
                  <a:schemeClr val="tx1"/>
                </a:solidFill>
                <a:latin typeface="黑体" panose="02010609060101010101" pitchFamily="49" charset="-122"/>
                <a:ea typeface="黑体" panose="02010609060101010101" pitchFamily="49" charset="-122"/>
              </a:rPr>
              <a:t>输出使能端</a:t>
            </a:r>
            <a:endParaRPr lang="en-US" altLang="zh-CN" dirty="0">
              <a:solidFill>
                <a:schemeClr val="tx1"/>
              </a:solidFill>
              <a:latin typeface="黑体" panose="02010609060101010101" pitchFamily="49" charset="-122"/>
              <a:ea typeface="黑体" panose="02010609060101010101" pitchFamily="49" charset="-122"/>
            </a:endParaRPr>
          </a:p>
          <a:p>
            <a:pPr algn="ctr"/>
            <a:r>
              <a:rPr lang="zh-CN" altLang="en-US" dirty="0">
                <a:solidFill>
                  <a:schemeClr val="tx1"/>
                </a:solidFill>
                <a:latin typeface="黑体" panose="02010609060101010101" pitchFamily="49" charset="-122"/>
                <a:ea typeface="黑体" panose="02010609060101010101" pitchFamily="49" charset="-122"/>
              </a:rPr>
              <a:t>（高电平有效）</a:t>
            </a:r>
            <a:endParaRPr lang="en-US" altLang="zh-CN" dirty="0">
              <a:solidFill>
                <a:schemeClr val="tx1"/>
              </a:solidFill>
              <a:latin typeface="黑体" panose="02010609060101010101" pitchFamily="49" charset="-122"/>
              <a:ea typeface="黑体" panose="02010609060101010101" pitchFamily="49" charset="-122"/>
            </a:endParaRPr>
          </a:p>
        </p:txBody>
      </p:sp>
      <p:grpSp>
        <p:nvGrpSpPr>
          <p:cNvPr id="72" name="Group 23"/>
          <p:cNvGrpSpPr/>
          <p:nvPr/>
        </p:nvGrpSpPr>
        <p:grpSpPr bwMode="auto">
          <a:xfrm>
            <a:off x="1741788" y="1529834"/>
            <a:ext cx="5740400" cy="3060700"/>
            <a:chOff x="1240" y="1976"/>
            <a:chExt cx="3616" cy="1928"/>
          </a:xfrm>
          <a:solidFill>
            <a:schemeClr val="bg1"/>
          </a:solidFill>
        </p:grpSpPr>
        <p:sp>
          <p:nvSpPr>
            <p:cNvPr id="73" name="AutoShape 22"/>
            <p:cNvSpPr>
              <a:spLocks noChangeArrowheads="1"/>
            </p:cNvSpPr>
            <p:nvPr/>
          </p:nvSpPr>
          <p:spPr bwMode="auto">
            <a:xfrm>
              <a:off x="1240" y="1976"/>
              <a:ext cx="3616" cy="1928"/>
            </a:xfrm>
            <a:prstGeom prst="roundRect">
              <a:avLst>
                <a:gd name="adj" fmla="val 7199"/>
              </a:avLst>
            </a:prstGeom>
            <a:grpFill/>
            <a:ln w="28575" algn="ctr">
              <a:solidFill>
                <a:schemeClr val="accent2">
                  <a:lumMod val="75000"/>
                </a:schemeClr>
              </a:solidFill>
              <a:round/>
            </a:ln>
            <a:effectLst/>
          </p:spPr>
          <p:txBody>
            <a:bodyPr wrap="none" lIns="0" rIns="0" anchor="ctr"/>
            <a:lstStyle/>
            <a:p>
              <a:pPr>
                <a:defRPr/>
              </a:pPr>
              <a:endParaRPr lang="zh-CN" altLang="en-US">
                <a:solidFill>
                  <a:srgbClr val="000000"/>
                </a:solidFill>
                <a:effectLst>
                  <a:outerShdw blurRad="38100" dist="38100" dir="2700000" algn="tl">
                    <a:srgbClr val="C0C0C0"/>
                  </a:outerShdw>
                </a:effectLst>
              </a:endParaRPr>
            </a:p>
          </p:txBody>
        </p:sp>
        <p:grpSp>
          <p:nvGrpSpPr>
            <p:cNvPr id="74" name="Group 20"/>
            <p:cNvGrpSpPr/>
            <p:nvPr/>
          </p:nvGrpSpPr>
          <p:grpSpPr bwMode="auto">
            <a:xfrm>
              <a:off x="1314" y="2049"/>
              <a:ext cx="3416" cy="1821"/>
              <a:chOff x="1138" y="1058"/>
              <a:chExt cx="3416" cy="1821"/>
            </a:xfrm>
            <a:grpFill/>
          </p:grpSpPr>
          <p:graphicFrame>
            <p:nvGraphicFramePr>
              <p:cNvPr id="75" name="Object 7"/>
              <p:cNvGraphicFramePr>
                <a:graphicFrameLocks noChangeAspect="1"/>
              </p:cNvGraphicFramePr>
              <p:nvPr/>
            </p:nvGraphicFramePr>
            <p:xfrm>
              <a:off x="1138" y="1381"/>
              <a:ext cx="1393" cy="1498"/>
            </p:xfrm>
            <a:graphic>
              <a:graphicData uri="http://schemas.openxmlformats.org/presentationml/2006/ole">
                <mc:AlternateContent xmlns:mc="http://schemas.openxmlformats.org/markup-compatibility/2006">
                  <mc:Choice xmlns:v="urn:schemas-microsoft-com:vml" Requires="v">
                    <p:oleObj spid="_x0000_s26648" name="位图图像" r:id="rId3" imgW="3905250" imgH="4200525" progId="PBrush">
                      <p:embed/>
                    </p:oleObj>
                  </mc:Choice>
                  <mc:Fallback>
                    <p:oleObj name="位图图像" r:id="rId3" imgW="3905250" imgH="4200525" progId="PBrush">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38" y="1381"/>
                            <a:ext cx="1393" cy="149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aphicFrame>
            <p:nvGraphicFramePr>
              <p:cNvPr id="76" name="Object 8"/>
              <p:cNvGraphicFramePr>
                <a:graphicFrameLocks noChangeAspect="1"/>
              </p:cNvGraphicFramePr>
              <p:nvPr/>
            </p:nvGraphicFramePr>
            <p:xfrm>
              <a:off x="3242" y="1373"/>
              <a:ext cx="1312" cy="1498"/>
            </p:xfrm>
            <a:graphic>
              <a:graphicData uri="http://schemas.openxmlformats.org/presentationml/2006/ole">
                <mc:AlternateContent xmlns:mc="http://schemas.openxmlformats.org/markup-compatibility/2006">
                  <mc:Choice xmlns:v="urn:schemas-microsoft-com:vml" Requires="v">
                    <p:oleObj spid="_x0000_s26649" name="位图图像" r:id="rId5" imgW="3143250" imgH="3590925" progId="PBrush">
                      <p:embed/>
                    </p:oleObj>
                  </mc:Choice>
                  <mc:Fallback>
                    <p:oleObj name="位图图像" r:id="rId5" imgW="3143250" imgH="3590925" progId="PBrush">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42" y="1373"/>
                            <a:ext cx="1312" cy="1498"/>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sp>
            <p:nvSpPr>
              <p:cNvPr id="77" name="Rectangle 9"/>
              <p:cNvSpPr>
                <a:spLocks noChangeArrowheads="1"/>
              </p:cNvSpPr>
              <p:nvPr/>
            </p:nvSpPr>
            <p:spPr bwMode="auto">
              <a:xfrm>
                <a:off x="1518" y="1071"/>
                <a:ext cx="436" cy="233"/>
              </a:xfrm>
              <a:prstGeom prst="rect">
                <a:avLst/>
              </a:prstGeom>
              <a:grpFill/>
              <a:ln w="9525" algn="ctr">
                <a:noFill/>
                <a:miter lim="800000"/>
              </a:ln>
            </p:spPr>
            <p:txBody>
              <a:bodyPr wrap="none" lIns="0" rIns="0">
                <a:spAutoFit/>
              </a:bodyPr>
              <a:lstStyle/>
              <a:p>
                <a:r>
                  <a:rPr lang="zh-CN" altLang="en-US" dirty="0">
                    <a:solidFill>
                      <a:srgbClr val="000000"/>
                    </a:solidFill>
                    <a:latin typeface="黑体" panose="02010609060101010101" pitchFamily="49" charset="-122"/>
                    <a:ea typeface="黑体" panose="02010609060101010101" pitchFamily="49" charset="-122"/>
                  </a:rPr>
                  <a:t>逻辑图</a:t>
                </a:r>
                <a:endParaRPr lang="zh-CN" altLang="en-US" dirty="0">
                  <a:solidFill>
                    <a:srgbClr val="000000"/>
                  </a:solidFill>
                  <a:latin typeface="黑体" panose="02010609060101010101" pitchFamily="49" charset="-122"/>
                  <a:ea typeface="黑体" panose="02010609060101010101" pitchFamily="49" charset="-122"/>
                </a:endParaRPr>
              </a:p>
            </p:txBody>
          </p:sp>
          <p:sp>
            <p:nvSpPr>
              <p:cNvPr id="78" name="Rectangle 10"/>
              <p:cNvSpPr>
                <a:spLocks noChangeArrowheads="1"/>
              </p:cNvSpPr>
              <p:nvPr/>
            </p:nvSpPr>
            <p:spPr bwMode="auto">
              <a:xfrm>
                <a:off x="3631" y="1058"/>
                <a:ext cx="436" cy="233"/>
              </a:xfrm>
              <a:prstGeom prst="rect">
                <a:avLst/>
              </a:prstGeom>
              <a:grpFill/>
              <a:ln w="9525" algn="ctr">
                <a:noFill/>
                <a:miter lim="800000"/>
              </a:ln>
            </p:spPr>
            <p:txBody>
              <a:bodyPr wrap="none" lIns="0" rIns="0">
                <a:spAutoFit/>
              </a:bodyPr>
              <a:lstStyle/>
              <a:p>
                <a:r>
                  <a:rPr lang="zh-CN" altLang="en-US">
                    <a:solidFill>
                      <a:srgbClr val="000000"/>
                    </a:solidFill>
                    <a:latin typeface="黑体" panose="02010609060101010101" pitchFamily="49" charset="-122"/>
                    <a:ea typeface="黑体" panose="02010609060101010101" pitchFamily="49" charset="-122"/>
                  </a:rPr>
                  <a:t>引脚图</a:t>
                </a:r>
                <a:endParaRPr lang="zh-CN" altLang="en-US">
                  <a:solidFill>
                    <a:srgbClr val="000000"/>
                  </a:solidFill>
                  <a:latin typeface="黑体" panose="02010609060101010101" pitchFamily="49" charset="-122"/>
                  <a:ea typeface="黑体" panose="02010609060101010101" pitchFamily="49" charset="-122"/>
                </a:endParaRPr>
              </a:p>
            </p:txBody>
          </p:sp>
        </p:grpSp>
      </p:grpSp>
    </p:spTree>
  </p:cSld>
  <p:clrMapOvr>
    <a:masterClrMapping/>
  </p:clrMapOvr>
  <mc:AlternateContent xmlns:mc="http://schemas.openxmlformats.org/markup-compatibility/2006">
    <mc:Choice xmlns:p14="http://schemas.microsoft.com/office/powerpoint/2010/main" Requires="p14">
      <p:transition spd="slow" p14:dur="1500">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 calcmode="lin" valueType="num">
                                      <p:cBhvr>
                                        <p:cTn id="7" dur="1000" fill="hold"/>
                                        <p:tgtEl>
                                          <p:spTgt spid="60"/>
                                        </p:tgtEl>
                                        <p:attrNameLst>
                                          <p:attrName>ppt_w</p:attrName>
                                        </p:attrNameLst>
                                      </p:cBhvr>
                                      <p:tavLst>
                                        <p:tav tm="0">
                                          <p:val>
                                            <p:fltVal val="0"/>
                                          </p:val>
                                        </p:tav>
                                        <p:tav tm="100000">
                                          <p:val>
                                            <p:strVal val="#ppt_w"/>
                                          </p:val>
                                        </p:tav>
                                      </p:tavLst>
                                    </p:anim>
                                    <p:anim calcmode="lin" valueType="num">
                                      <p:cBhvr>
                                        <p:cTn id="8" dur="1000" fill="hold"/>
                                        <p:tgtEl>
                                          <p:spTgt spid="60"/>
                                        </p:tgtEl>
                                        <p:attrNameLst>
                                          <p:attrName>ppt_h</p:attrName>
                                        </p:attrNameLst>
                                      </p:cBhvr>
                                      <p:tavLst>
                                        <p:tav tm="0">
                                          <p:val>
                                            <p:fltVal val="0"/>
                                          </p:val>
                                        </p:tav>
                                        <p:tav tm="100000">
                                          <p:val>
                                            <p:strVal val="#ppt_h"/>
                                          </p:val>
                                        </p:tav>
                                      </p:tavLst>
                                    </p:anim>
                                  </p:childTnLst>
                                </p:cTn>
                              </p:par>
                            </p:childTnLst>
                          </p:cTn>
                        </p:par>
                        <p:par>
                          <p:cTn id="9" fill="hold">
                            <p:stCondLst>
                              <p:cond delay="1000"/>
                            </p:stCondLst>
                            <p:childTnLst>
                              <p:par>
                                <p:cTn id="10" presetID="22" presetClass="entr" presetSubtype="2" fill="hold" grpId="0" nodeType="afterEffect">
                                  <p:stCondLst>
                                    <p:cond delay="0"/>
                                  </p:stCondLst>
                                  <p:childTnLst>
                                    <p:set>
                                      <p:cBhvr>
                                        <p:cTn id="11" dur="1" fill="hold">
                                          <p:stCondLst>
                                            <p:cond delay="0"/>
                                          </p:stCondLst>
                                        </p:cTn>
                                        <p:tgtEl>
                                          <p:spTgt spid="63"/>
                                        </p:tgtEl>
                                        <p:attrNameLst>
                                          <p:attrName>style.visibility</p:attrName>
                                        </p:attrNameLst>
                                      </p:cBhvr>
                                      <p:to>
                                        <p:strVal val="visible"/>
                                      </p:to>
                                    </p:set>
                                    <p:animEffect transition="in" filter="wipe(right)">
                                      <p:cBhvr>
                                        <p:cTn id="12" dur="1000"/>
                                        <p:tgtEl>
                                          <p:spTgt spid="63"/>
                                        </p:tgtEl>
                                      </p:cBhvr>
                                    </p:animEffect>
                                  </p:childTnLst>
                                </p:cTn>
                              </p:par>
                            </p:childTnLst>
                          </p:cTn>
                        </p:par>
                      </p:childTnLst>
                    </p:cTn>
                  </p:par>
                  <p:par>
                    <p:cTn id="13" fill="hold">
                      <p:stCondLst>
                        <p:cond delay="indefinite"/>
                      </p:stCondLst>
                      <p:childTnLst>
                        <p:par>
                          <p:cTn id="14" fill="hold">
                            <p:stCondLst>
                              <p:cond delay="0"/>
                            </p:stCondLst>
                            <p:childTnLst>
                              <p:par>
                                <p:cTn id="15" presetID="23" presetClass="entr" presetSubtype="16" fill="hold" grpId="0" nodeType="clickEffect">
                                  <p:stCondLst>
                                    <p:cond delay="0"/>
                                  </p:stCondLst>
                                  <p:childTnLst>
                                    <p:set>
                                      <p:cBhvr>
                                        <p:cTn id="16" dur="1" fill="hold">
                                          <p:stCondLst>
                                            <p:cond delay="0"/>
                                          </p:stCondLst>
                                        </p:cTn>
                                        <p:tgtEl>
                                          <p:spTgt spid="66"/>
                                        </p:tgtEl>
                                        <p:attrNameLst>
                                          <p:attrName>style.visibility</p:attrName>
                                        </p:attrNameLst>
                                      </p:cBhvr>
                                      <p:to>
                                        <p:strVal val="visible"/>
                                      </p:to>
                                    </p:set>
                                    <p:anim calcmode="lin" valueType="num">
                                      <p:cBhvr>
                                        <p:cTn id="17" dur="1000" fill="hold"/>
                                        <p:tgtEl>
                                          <p:spTgt spid="66"/>
                                        </p:tgtEl>
                                        <p:attrNameLst>
                                          <p:attrName>ppt_w</p:attrName>
                                        </p:attrNameLst>
                                      </p:cBhvr>
                                      <p:tavLst>
                                        <p:tav tm="0">
                                          <p:val>
                                            <p:fltVal val="0"/>
                                          </p:val>
                                        </p:tav>
                                        <p:tav tm="100000">
                                          <p:val>
                                            <p:strVal val="#ppt_w"/>
                                          </p:val>
                                        </p:tav>
                                      </p:tavLst>
                                    </p:anim>
                                    <p:anim calcmode="lin" valueType="num">
                                      <p:cBhvr>
                                        <p:cTn id="18" dur="1000" fill="hold"/>
                                        <p:tgtEl>
                                          <p:spTgt spid="66"/>
                                        </p:tgtEl>
                                        <p:attrNameLst>
                                          <p:attrName>ppt_h</p:attrName>
                                        </p:attrNameLst>
                                      </p:cBhvr>
                                      <p:tavLst>
                                        <p:tav tm="0">
                                          <p:val>
                                            <p:fltVal val="0"/>
                                          </p:val>
                                        </p:tav>
                                        <p:tav tm="100000">
                                          <p:val>
                                            <p:strVal val="#ppt_h"/>
                                          </p:val>
                                        </p:tav>
                                      </p:tavLst>
                                    </p:anim>
                                  </p:childTnLst>
                                </p:cTn>
                              </p:par>
                            </p:childTnLst>
                          </p:cTn>
                        </p:par>
                        <p:par>
                          <p:cTn id="19" fill="hold">
                            <p:stCondLst>
                              <p:cond delay="1000"/>
                            </p:stCondLst>
                            <p:childTnLst>
                              <p:par>
                                <p:cTn id="20" presetID="22" presetClass="entr" presetSubtype="8" fill="hold" grpId="0" nodeType="afterEffect">
                                  <p:stCondLst>
                                    <p:cond delay="0"/>
                                  </p:stCondLst>
                                  <p:childTnLst>
                                    <p:set>
                                      <p:cBhvr>
                                        <p:cTn id="21" dur="1" fill="hold">
                                          <p:stCondLst>
                                            <p:cond delay="0"/>
                                          </p:stCondLst>
                                        </p:cTn>
                                        <p:tgtEl>
                                          <p:spTgt spid="67"/>
                                        </p:tgtEl>
                                        <p:attrNameLst>
                                          <p:attrName>style.visibility</p:attrName>
                                        </p:attrNameLst>
                                      </p:cBhvr>
                                      <p:to>
                                        <p:strVal val="visible"/>
                                      </p:to>
                                    </p:set>
                                    <p:animEffect transition="in" filter="wipe(left)">
                                      <p:cBhvr>
                                        <p:cTn id="22" dur="1000"/>
                                        <p:tgtEl>
                                          <p:spTgt spid="67"/>
                                        </p:tgtEl>
                                      </p:cBhvr>
                                    </p:animEffect>
                                  </p:childTnLst>
                                </p:cTn>
                              </p:par>
                            </p:childTnLst>
                          </p:cTn>
                        </p:par>
                      </p:childTnLst>
                    </p:cTn>
                  </p:par>
                  <p:par>
                    <p:cTn id="23" fill="hold">
                      <p:stCondLst>
                        <p:cond delay="indefinite"/>
                      </p:stCondLst>
                      <p:childTnLst>
                        <p:par>
                          <p:cTn id="24" fill="hold">
                            <p:stCondLst>
                              <p:cond delay="0"/>
                            </p:stCondLst>
                            <p:childTnLst>
                              <p:par>
                                <p:cTn id="25" presetID="23" presetClass="entr" presetSubtype="16" fill="hold" grpId="0" nodeType="clickEffect">
                                  <p:stCondLst>
                                    <p:cond delay="0"/>
                                  </p:stCondLst>
                                  <p:childTnLst>
                                    <p:set>
                                      <p:cBhvr>
                                        <p:cTn id="26" dur="1" fill="hold">
                                          <p:stCondLst>
                                            <p:cond delay="0"/>
                                          </p:stCondLst>
                                        </p:cTn>
                                        <p:tgtEl>
                                          <p:spTgt spid="65"/>
                                        </p:tgtEl>
                                        <p:attrNameLst>
                                          <p:attrName>style.visibility</p:attrName>
                                        </p:attrNameLst>
                                      </p:cBhvr>
                                      <p:to>
                                        <p:strVal val="visible"/>
                                      </p:to>
                                    </p:set>
                                    <p:anim calcmode="lin" valueType="num">
                                      <p:cBhvr>
                                        <p:cTn id="27" dur="1000" fill="hold"/>
                                        <p:tgtEl>
                                          <p:spTgt spid="65"/>
                                        </p:tgtEl>
                                        <p:attrNameLst>
                                          <p:attrName>ppt_w</p:attrName>
                                        </p:attrNameLst>
                                      </p:cBhvr>
                                      <p:tavLst>
                                        <p:tav tm="0">
                                          <p:val>
                                            <p:fltVal val="0"/>
                                          </p:val>
                                        </p:tav>
                                        <p:tav tm="100000">
                                          <p:val>
                                            <p:strVal val="#ppt_w"/>
                                          </p:val>
                                        </p:tav>
                                      </p:tavLst>
                                    </p:anim>
                                    <p:anim calcmode="lin" valueType="num">
                                      <p:cBhvr>
                                        <p:cTn id="28" dur="1000" fill="hold"/>
                                        <p:tgtEl>
                                          <p:spTgt spid="65"/>
                                        </p:tgtEl>
                                        <p:attrNameLst>
                                          <p:attrName>ppt_h</p:attrName>
                                        </p:attrNameLst>
                                      </p:cBhvr>
                                      <p:tavLst>
                                        <p:tav tm="0">
                                          <p:val>
                                            <p:fltVal val="0"/>
                                          </p:val>
                                        </p:tav>
                                        <p:tav tm="100000">
                                          <p:val>
                                            <p:strVal val="#ppt_h"/>
                                          </p:val>
                                        </p:tav>
                                      </p:tavLst>
                                    </p:anim>
                                  </p:childTnLst>
                                </p:cTn>
                              </p:par>
                            </p:childTnLst>
                          </p:cTn>
                        </p:par>
                        <p:par>
                          <p:cTn id="29" fill="hold">
                            <p:stCondLst>
                              <p:cond delay="1000"/>
                            </p:stCondLst>
                            <p:childTnLst>
                              <p:par>
                                <p:cTn id="30" presetID="22" presetClass="entr" presetSubtype="2" fill="hold" grpId="0" nodeType="afterEffect">
                                  <p:stCondLst>
                                    <p:cond delay="0"/>
                                  </p:stCondLst>
                                  <p:childTnLst>
                                    <p:set>
                                      <p:cBhvr>
                                        <p:cTn id="31" dur="1" fill="hold">
                                          <p:stCondLst>
                                            <p:cond delay="0"/>
                                          </p:stCondLst>
                                        </p:cTn>
                                        <p:tgtEl>
                                          <p:spTgt spid="64"/>
                                        </p:tgtEl>
                                        <p:attrNameLst>
                                          <p:attrName>style.visibility</p:attrName>
                                        </p:attrNameLst>
                                      </p:cBhvr>
                                      <p:to>
                                        <p:strVal val="visible"/>
                                      </p:to>
                                    </p:set>
                                    <p:animEffect transition="in" filter="wipe(right)">
                                      <p:cBhvr>
                                        <p:cTn id="32" dur="1000"/>
                                        <p:tgtEl>
                                          <p:spTgt spid="64"/>
                                        </p:tgtEl>
                                      </p:cBhvr>
                                    </p:animEffect>
                                  </p:childTnLst>
                                </p:cTn>
                              </p:par>
                            </p:childTnLst>
                          </p:cTn>
                        </p:par>
                        <p:par>
                          <p:cTn id="33" fill="hold">
                            <p:stCondLst>
                              <p:cond delay="2000"/>
                            </p:stCondLst>
                            <p:childTnLst>
                              <p:par>
                                <p:cTn id="34" presetID="23" presetClass="entr" presetSubtype="16" fill="hold" grpId="0" nodeType="afterEffect">
                                  <p:stCondLst>
                                    <p:cond delay="0"/>
                                  </p:stCondLst>
                                  <p:childTnLst>
                                    <p:set>
                                      <p:cBhvr>
                                        <p:cTn id="35" dur="1" fill="hold">
                                          <p:stCondLst>
                                            <p:cond delay="0"/>
                                          </p:stCondLst>
                                        </p:cTn>
                                        <p:tgtEl>
                                          <p:spTgt spid="68"/>
                                        </p:tgtEl>
                                        <p:attrNameLst>
                                          <p:attrName>style.visibility</p:attrName>
                                        </p:attrNameLst>
                                      </p:cBhvr>
                                      <p:to>
                                        <p:strVal val="visible"/>
                                      </p:to>
                                    </p:set>
                                    <p:anim calcmode="lin" valueType="num">
                                      <p:cBhvr>
                                        <p:cTn id="36" dur="1000" fill="hold"/>
                                        <p:tgtEl>
                                          <p:spTgt spid="68"/>
                                        </p:tgtEl>
                                        <p:attrNameLst>
                                          <p:attrName>ppt_w</p:attrName>
                                        </p:attrNameLst>
                                      </p:cBhvr>
                                      <p:tavLst>
                                        <p:tav tm="0">
                                          <p:val>
                                            <p:fltVal val="0"/>
                                          </p:val>
                                        </p:tav>
                                        <p:tav tm="100000">
                                          <p:val>
                                            <p:strVal val="#ppt_w"/>
                                          </p:val>
                                        </p:tav>
                                      </p:tavLst>
                                    </p:anim>
                                    <p:anim calcmode="lin" valueType="num">
                                      <p:cBhvr>
                                        <p:cTn id="37" dur="1000" fill="hold"/>
                                        <p:tgtEl>
                                          <p:spTgt spid="68"/>
                                        </p:tgtEl>
                                        <p:attrNameLst>
                                          <p:attrName>ppt_h</p:attrName>
                                        </p:attrNameLst>
                                      </p:cBhvr>
                                      <p:tavLst>
                                        <p:tav tm="0">
                                          <p:val>
                                            <p:fltVal val="0"/>
                                          </p:val>
                                        </p:tav>
                                        <p:tav tm="100000">
                                          <p:val>
                                            <p:strVal val="#ppt_h"/>
                                          </p:val>
                                        </p:tav>
                                      </p:tavLst>
                                    </p:anim>
                                  </p:childTnLst>
                                </p:cTn>
                              </p:par>
                            </p:childTnLst>
                          </p:cTn>
                        </p:par>
                        <p:par>
                          <p:cTn id="38" fill="hold">
                            <p:stCondLst>
                              <p:cond delay="3000"/>
                            </p:stCondLst>
                            <p:childTnLst>
                              <p:par>
                                <p:cTn id="39" presetID="22" presetClass="entr" presetSubtype="8" fill="hold" grpId="0" nodeType="afterEffect">
                                  <p:stCondLst>
                                    <p:cond delay="0"/>
                                  </p:stCondLst>
                                  <p:childTnLst>
                                    <p:set>
                                      <p:cBhvr>
                                        <p:cTn id="40" dur="1" fill="hold">
                                          <p:stCondLst>
                                            <p:cond delay="0"/>
                                          </p:stCondLst>
                                        </p:cTn>
                                        <p:tgtEl>
                                          <p:spTgt spid="71"/>
                                        </p:tgtEl>
                                        <p:attrNameLst>
                                          <p:attrName>style.visibility</p:attrName>
                                        </p:attrNameLst>
                                      </p:cBhvr>
                                      <p:to>
                                        <p:strVal val="visible"/>
                                      </p:to>
                                    </p:set>
                                    <p:animEffect transition="in" filter="wipe(left)">
                                      <p:cBhvr>
                                        <p:cTn id="41" dur="1000"/>
                                        <p:tgtEl>
                                          <p:spTgt spid="71"/>
                                        </p:tgtEl>
                                      </p:cBhvr>
                                    </p:animEffect>
                                  </p:childTnLst>
                                </p:cTn>
                              </p:par>
                            </p:childTnLst>
                          </p:cTn>
                        </p:par>
                      </p:childTnLst>
                    </p:cTn>
                  </p:par>
                  <p:par>
                    <p:cTn id="42" fill="hold">
                      <p:stCondLst>
                        <p:cond delay="indefinite"/>
                      </p:stCondLst>
                      <p:childTnLst>
                        <p:par>
                          <p:cTn id="43" fill="hold">
                            <p:stCondLst>
                              <p:cond delay="0"/>
                            </p:stCondLst>
                            <p:childTnLst>
                              <p:par>
                                <p:cTn id="44" presetID="23" presetClass="entr" presetSubtype="16" fill="hold" grpId="0" nodeType="clickEffect">
                                  <p:stCondLst>
                                    <p:cond delay="0"/>
                                  </p:stCondLst>
                                  <p:childTnLst>
                                    <p:set>
                                      <p:cBhvr>
                                        <p:cTn id="45" dur="1" fill="hold">
                                          <p:stCondLst>
                                            <p:cond delay="0"/>
                                          </p:stCondLst>
                                        </p:cTn>
                                        <p:tgtEl>
                                          <p:spTgt spid="69"/>
                                        </p:tgtEl>
                                        <p:attrNameLst>
                                          <p:attrName>style.visibility</p:attrName>
                                        </p:attrNameLst>
                                      </p:cBhvr>
                                      <p:to>
                                        <p:strVal val="visible"/>
                                      </p:to>
                                    </p:set>
                                    <p:anim calcmode="lin" valueType="num">
                                      <p:cBhvr>
                                        <p:cTn id="46" dur="1000" fill="hold"/>
                                        <p:tgtEl>
                                          <p:spTgt spid="69"/>
                                        </p:tgtEl>
                                        <p:attrNameLst>
                                          <p:attrName>ppt_w</p:attrName>
                                        </p:attrNameLst>
                                      </p:cBhvr>
                                      <p:tavLst>
                                        <p:tav tm="0">
                                          <p:val>
                                            <p:fltVal val="0"/>
                                          </p:val>
                                        </p:tav>
                                        <p:tav tm="100000">
                                          <p:val>
                                            <p:strVal val="#ppt_w"/>
                                          </p:val>
                                        </p:tav>
                                      </p:tavLst>
                                    </p:anim>
                                    <p:anim calcmode="lin" valueType="num">
                                      <p:cBhvr>
                                        <p:cTn id="47" dur="1000" fill="hold"/>
                                        <p:tgtEl>
                                          <p:spTgt spid="69"/>
                                        </p:tgtEl>
                                        <p:attrNameLst>
                                          <p:attrName>ppt_h</p:attrName>
                                        </p:attrNameLst>
                                      </p:cBhvr>
                                      <p:tavLst>
                                        <p:tav tm="0">
                                          <p:val>
                                            <p:fltVal val="0"/>
                                          </p:val>
                                        </p:tav>
                                        <p:tav tm="100000">
                                          <p:val>
                                            <p:strVal val="#ppt_h"/>
                                          </p:val>
                                        </p:tav>
                                      </p:tavLst>
                                    </p:anim>
                                  </p:childTnLst>
                                </p:cTn>
                              </p:par>
                            </p:childTnLst>
                          </p:cTn>
                        </p:par>
                        <p:par>
                          <p:cTn id="48" fill="hold">
                            <p:stCondLst>
                              <p:cond delay="1000"/>
                            </p:stCondLst>
                            <p:childTnLst>
                              <p:par>
                                <p:cTn id="49" presetID="22" presetClass="entr" presetSubtype="8" fill="hold" grpId="0" nodeType="afterEffect">
                                  <p:stCondLst>
                                    <p:cond delay="0"/>
                                  </p:stCondLst>
                                  <p:childTnLst>
                                    <p:set>
                                      <p:cBhvr>
                                        <p:cTn id="50" dur="1" fill="hold">
                                          <p:stCondLst>
                                            <p:cond delay="0"/>
                                          </p:stCondLst>
                                        </p:cTn>
                                        <p:tgtEl>
                                          <p:spTgt spid="70"/>
                                        </p:tgtEl>
                                        <p:attrNameLst>
                                          <p:attrName>style.visibility</p:attrName>
                                        </p:attrNameLst>
                                      </p:cBhvr>
                                      <p:to>
                                        <p:strVal val="visible"/>
                                      </p:to>
                                    </p:set>
                                    <p:animEffect transition="in" filter="wipe(left)">
                                      <p:cBhvr>
                                        <p:cTn id="51" dur="1000"/>
                                        <p:tgtEl>
                                          <p:spTgt spid="70"/>
                                        </p:tgtEl>
                                      </p:cBhvr>
                                    </p:animEffect>
                                  </p:childTnLst>
                                </p:cTn>
                              </p:par>
                            </p:childTnLst>
                          </p:cTn>
                        </p:par>
                      </p:childTnLst>
                    </p:cTn>
                  </p:par>
                  <p:par>
                    <p:cTn id="52" fill="hold">
                      <p:stCondLst>
                        <p:cond delay="indefinite"/>
                      </p:stCondLst>
                      <p:childTnLst>
                        <p:par>
                          <p:cTn id="53" fill="hold">
                            <p:stCondLst>
                              <p:cond delay="0"/>
                            </p:stCondLst>
                            <p:childTnLst>
                              <p:par>
                                <p:cTn id="54" presetID="23" presetClass="entr" presetSubtype="16" fill="hold" nodeType="clickEffect">
                                  <p:stCondLst>
                                    <p:cond delay="0"/>
                                  </p:stCondLst>
                                  <p:childTnLst>
                                    <p:set>
                                      <p:cBhvr>
                                        <p:cTn id="55" dur="1" fill="hold">
                                          <p:stCondLst>
                                            <p:cond delay="0"/>
                                          </p:stCondLst>
                                        </p:cTn>
                                        <p:tgtEl>
                                          <p:spTgt spid="72"/>
                                        </p:tgtEl>
                                        <p:attrNameLst>
                                          <p:attrName>style.visibility</p:attrName>
                                        </p:attrNameLst>
                                      </p:cBhvr>
                                      <p:to>
                                        <p:strVal val="visible"/>
                                      </p:to>
                                    </p:set>
                                    <p:anim calcmode="lin" valueType="num">
                                      <p:cBhvr>
                                        <p:cTn id="56" dur="1000" fill="hold"/>
                                        <p:tgtEl>
                                          <p:spTgt spid="72"/>
                                        </p:tgtEl>
                                        <p:attrNameLst>
                                          <p:attrName>ppt_w</p:attrName>
                                        </p:attrNameLst>
                                      </p:cBhvr>
                                      <p:tavLst>
                                        <p:tav tm="0">
                                          <p:val>
                                            <p:fltVal val="0"/>
                                          </p:val>
                                        </p:tav>
                                        <p:tav tm="100000">
                                          <p:val>
                                            <p:strVal val="#ppt_w"/>
                                          </p:val>
                                        </p:tav>
                                      </p:tavLst>
                                    </p:anim>
                                    <p:anim calcmode="lin" valueType="num">
                                      <p:cBhvr>
                                        <p:cTn id="57" dur="1000" fill="hold"/>
                                        <p:tgtEl>
                                          <p:spTgt spid="7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animBg="1"/>
      <p:bldP spid="63" grpId="0" animBg="1"/>
      <p:bldP spid="64" grpId="0" animBg="1"/>
      <p:bldP spid="65" grpId="0" animBg="1"/>
      <p:bldP spid="66" grpId="0" animBg="1"/>
      <p:bldP spid="67" grpId="0" animBg="1"/>
      <p:bldP spid="68" grpId="0" animBg="1"/>
      <p:bldP spid="69" grpId="0" animBg="1"/>
      <p:bldP spid="70" grpId="0" animBg="1"/>
      <p:bldP spid="71"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43"/>
          <p:cNvGrpSpPr/>
          <p:nvPr/>
        </p:nvGrpSpPr>
        <p:grpSpPr>
          <a:xfrm>
            <a:off x="6137821" y="1376268"/>
            <a:ext cx="2572814" cy="647548"/>
            <a:chOff x="719870" y="3748769"/>
            <a:chExt cx="2793940" cy="647548"/>
          </a:xfrm>
        </p:grpSpPr>
        <p:sp>
          <p:nvSpPr>
            <p:cNvPr id="35" name="圆角矩形 34"/>
            <p:cNvSpPr/>
            <p:nvPr/>
          </p:nvSpPr>
          <p:spPr>
            <a:xfrm>
              <a:off x="912908" y="3809947"/>
              <a:ext cx="2600902" cy="586370"/>
            </a:xfrm>
            <a:prstGeom prst="roundRect">
              <a:avLst>
                <a:gd name="adj" fmla="val 4386"/>
              </a:avLst>
            </a:prstGeom>
            <a:solidFill>
              <a:schemeClr val="bg1"/>
            </a:solidFill>
            <a:ln w="28575">
              <a:solidFill>
                <a:srgbClr val="336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90805" indent="-1905"/>
              <a:r>
                <a:rPr lang="en-US" altLang="zh-CN" b="1" dirty="0">
                  <a:solidFill>
                    <a:srgbClr val="6600FF"/>
                  </a:solidFill>
                  <a:latin typeface="楷体" panose="02010609060101010101" pitchFamily="49" charset="-122"/>
                  <a:ea typeface="楷体" panose="02010609060101010101" pitchFamily="49" charset="-122"/>
                </a:rPr>
                <a:t> </a:t>
              </a:r>
              <a:r>
                <a:rPr lang="zh-CN" altLang="en-US" b="1" dirty="0">
                  <a:solidFill>
                    <a:srgbClr val="6600FF"/>
                  </a:solidFill>
                  <a:latin typeface="楷体" panose="02010609060101010101" pitchFamily="49" charset="-122"/>
                  <a:ea typeface="楷体" panose="02010609060101010101" pitchFamily="49" charset="-122"/>
                </a:rPr>
                <a:t>功能表与真值表之间有何差别？</a:t>
              </a:r>
              <a:endParaRPr lang="zh-CN" altLang="en-US" b="1" dirty="0">
                <a:solidFill>
                  <a:srgbClr val="6600FF"/>
                </a:solidFill>
                <a:latin typeface="楷体" panose="02010609060101010101" pitchFamily="49" charset="-122"/>
                <a:ea typeface="楷体" panose="02010609060101010101" pitchFamily="49" charset="-122"/>
              </a:endParaRPr>
            </a:p>
          </p:txBody>
        </p:sp>
        <p:pic>
          <p:nvPicPr>
            <p:cNvPr id="36" name="Picture 5"/>
            <p:cNvPicPr>
              <a:picLocks noChangeAspect="1" noChangeArrowheads="1"/>
            </p:cNvPicPr>
            <p:nvPr/>
          </p:nvPicPr>
          <p:blipFill>
            <a:blip r:embed="rId1" cstate="print"/>
            <a:srcRect/>
            <a:stretch>
              <a:fillRect/>
            </a:stretch>
          </p:blipFill>
          <p:spPr bwMode="auto">
            <a:xfrm>
              <a:off x="719870" y="3748769"/>
              <a:ext cx="429011" cy="375802"/>
            </a:xfrm>
            <a:prstGeom prst="rect">
              <a:avLst/>
            </a:prstGeom>
            <a:noFill/>
            <a:ln w="9525">
              <a:noFill/>
              <a:miter lim="800000"/>
              <a:headEnd/>
              <a:tailEnd/>
            </a:ln>
          </p:spPr>
        </p:pic>
      </p:grpSp>
      <p:graphicFrame>
        <p:nvGraphicFramePr>
          <p:cNvPr id="33" name="Group 209"/>
          <p:cNvGraphicFramePr>
            <a:graphicFrameLocks noGrp="1"/>
          </p:cNvGraphicFramePr>
          <p:nvPr/>
        </p:nvGraphicFramePr>
        <p:xfrm>
          <a:off x="538631" y="1378020"/>
          <a:ext cx="5372094" cy="3355512"/>
        </p:xfrm>
        <a:graphic>
          <a:graphicData uri="http://schemas.openxmlformats.org/drawingml/2006/table">
            <a:tbl>
              <a:tblPr/>
              <a:tblGrid>
                <a:gridCol w="383721"/>
                <a:gridCol w="383721"/>
                <a:gridCol w="383721"/>
                <a:gridCol w="383721"/>
                <a:gridCol w="383721"/>
                <a:gridCol w="383721"/>
                <a:gridCol w="383721"/>
                <a:gridCol w="383721"/>
                <a:gridCol w="383721"/>
                <a:gridCol w="383721"/>
                <a:gridCol w="383721"/>
                <a:gridCol w="383721"/>
                <a:gridCol w="383721"/>
                <a:gridCol w="383721"/>
              </a:tblGrid>
              <a:tr h="279626">
                <a:tc gridSpan="9">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zh-CN" altLang="en-US" sz="1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输      入</a:t>
                      </a:r>
                      <a:endParaRPr kumimoji="0" lang="zh-CN" altLang="en-US" sz="1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0" marR="0" marT="0" marB="0" anchor="b" horzOverflow="overflow">
                    <a:lnL>
                      <a:noFill/>
                    </a:lnL>
                    <a:lnR w="28575" cap="flat" cmpd="sng" algn="ctr">
                      <a:solidFill>
                        <a:schemeClr val="hlink"/>
                      </a:solidFill>
                      <a:prstDash val="solid"/>
                      <a:round/>
                      <a:headEnd type="none" w="med" len="med"/>
                      <a:tailEnd type="none" w="med" len="med"/>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hMerge="1">
                  <a:tcPr/>
                </a:tc>
                <a:tc hMerge="1">
                  <a:tcPr/>
                </a:tc>
                <a:tc hMerge="1">
                  <a:tcPr/>
                </a:tc>
                <a:tc hMerge="1">
                  <a:tcPr/>
                </a:tc>
                <a:tc hMerge="1">
                  <a:tcPr/>
                </a:tc>
                <a:tc hMerge="1">
                  <a:tcPr/>
                </a:tc>
                <a:tc hMerge="1">
                  <a:tcPr/>
                </a:tc>
                <a:tc hMerge="1">
                  <a:tcPr/>
                </a:tc>
                <a:tc gridSpan="5">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zh-CN" altLang="en-US" sz="1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输   出</a:t>
                      </a:r>
                      <a:endParaRPr kumimoji="0" lang="zh-CN" altLang="en-US" sz="1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0" marR="0" marT="0" marB="0" anchor="b" horzOverflow="overflow">
                    <a:lnL w="28575" cap="flat" cmpd="sng" algn="ctr">
                      <a:solidFill>
                        <a:schemeClr val="hlink"/>
                      </a:solidFill>
                      <a:prstDash val="solid"/>
                      <a:round/>
                      <a:headEnd type="none" w="med" len="med"/>
                      <a:tailEnd type="none" w="med" len="med"/>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hMerge="1">
                  <a:tcPr/>
                </a:tc>
                <a:tc hMerge="1">
                  <a:tcPr/>
                </a:tc>
                <a:tc hMerge="1">
                  <a:tcPr/>
                </a:tc>
                <a:tc hMerge="1">
                  <a:tcPr/>
                </a:tc>
              </a:tr>
              <a:tr h="279626">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EI</a:t>
                      </a:r>
                      <a:endParaRPr kumimoji="0" lang="en-US" altLang="zh-CN" sz="1600" b="1" i="1"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600" b="1" i="0" u="none" strike="noStrike" cap="none" normalizeH="0" baseline="-2500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7</a:t>
                      </a:r>
                      <a:endPar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600" b="1" i="0" u="none" strike="noStrike" cap="none" normalizeH="0" baseline="-2500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6</a:t>
                      </a:r>
                      <a:endPar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600" b="1" i="0" u="none" strike="noStrike" cap="none" normalizeH="0" baseline="-2500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5</a:t>
                      </a:r>
                      <a:endPar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600" b="1" i="0" u="none" strike="noStrike" cap="none" normalizeH="0" baseline="-2500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a:t>
                      </a:r>
                      <a:endPar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600" b="1" i="0" u="none" strike="noStrike" cap="none" normalizeH="0" baseline="-2500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600" b="1" i="0" u="none" strike="noStrike" cap="none" normalizeH="0" baseline="-2500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600" b="1" i="0" u="none" strike="noStrike" cap="none" normalizeH="0" baseline="-2500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600" b="1" i="0" u="none" strike="noStrike" cap="none" normalizeH="0" baseline="-2500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hlink"/>
                      </a:solidFill>
                      <a:prstDash val="solid"/>
                      <a:round/>
                      <a:headEnd type="none" w="med" len="med"/>
                      <a:tailEnd type="none" w="med" len="med"/>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Y</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hlink"/>
                      </a:solidFill>
                      <a:prstDash val="solid"/>
                      <a:round/>
                      <a:headEnd type="none" w="med" len="med"/>
                      <a:tailEnd type="none" w="med" len="med"/>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Y</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Y</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1" u="none" strike="noStrike" kern="1200"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GS</a:t>
                      </a:r>
                      <a:endParaRPr kumimoji="0" lang="en-US" altLang="zh-CN" sz="1600" b="1" i="1" u="none" strike="noStrike" kern="1200"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EO</a:t>
                      </a:r>
                      <a:endParaRPr kumimoji="0" lang="en-US" altLang="zh-CN" sz="1600" b="1" i="1" u="none" strike="noStrike" kern="1200"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r>
              <a:tr h="279626">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w="28575" cap="flat" cmpd="sng" algn="ctr">
                      <a:solidFill>
                        <a:schemeClr val="hlink"/>
                      </a:solidFill>
                      <a:prstDash val="solid"/>
                      <a:round/>
                      <a:headEnd type="none" w="med" len="med"/>
                      <a:tailEnd type="none" w="med" len="med"/>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w="28575" cap="flat" cmpd="sng" algn="ctr">
                      <a:solidFill>
                        <a:schemeClr val="hlink"/>
                      </a:solidFill>
                      <a:prstDash val="solid"/>
                      <a:round/>
                      <a:headEnd type="none" w="med" len="med"/>
                      <a:tailEnd type="none" w="med" len="med"/>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r>
              <a:tr h="279626">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r>
              <a:tr h="279626">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r>
              <a:tr h="279626">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r>
              <a:tr h="279626">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r>
              <a:tr h="279626">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r>
              <a:tr h="279626">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r>
              <a:tr h="279626">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r>
              <a:tr h="279626">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r>
              <a:tr h="279626">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w="28575" cap="flat" cmpd="sng" algn="ctr">
                      <a:solidFill>
                        <a:schemeClr val="hlink"/>
                      </a:solidFill>
                      <a:prstDash val="solid"/>
                      <a:round/>
                      <a:headEnd type="none" w="med" len="med"/>
                      <a:tailEnd type="none" w="med" len="med"/>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w="28575" cap="flat" cmpd="sng" algn="ctr">
                      <a:solidFill>
                        <a:schemeClr val="hlink"/>
                      </a:solidFill>
                      <a:prstDash val="solid"/>
                      <a:round/>
                      <a:headEnd type="none" w="med" len="med"/>
                      <a:tailEnd type="none" w="med" len="med"/>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600" b="1" i="0" u="none" strike="noStrike" kern="1200" cap="none" normalizeH="0" baseline="0" dirty="0">
                        <a:ln>
                          <a:noFill/>
                        </a:ln>
                        <a:solidFill>
                          <a:srgbClr val="CC00CC"/>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600" b="1" i="0" u="none" strike="noStrike" kern="1200" cap="none" normalizeH="0" baseline="0" dirty="0">
                        <a:ln>
                          <a:noFill/>
                        </a:ln>
                        <a:solidFill>
                          <a:srgbClr val="0000FF"/>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46" name="组合 45"/>
          <p:cNvGrpSpPr/>
          <p:nvPr/>
        </p:nvGrpSpPr>
        <p:grpSpPr>
          <a:xfrm>
            <a:off x="392434" y="769746"/>
            <a:ext cx="4410974" cy="420971"/>
            <a:chOff x="670560" y="892917"/>
            <a:chExt cx="4410974" cy="420971"/>
          </a:xfrm>
        </p:grpSpPr>
        <p:sp>
          <p:nvSpPr>
            <p:cNvPr id="47" name="矩形 46"/>
            <p:cNvSpPr/>
            <p:nvPr/>
          </p:nvSpPr>
          <p:spPr>
            <a:xfrm>
              <a:off x="1035233" y="913778"/>
              <a:ext cx="4046301"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8</a:t>
              </a:r>
              <a:r>
                <a:rPr lang="zh-CN" altLang="en-US" sz="2000" b="1" dirty="0">
                  <a:solidFill>
                    <a:srgbClr val="002060"/>
                  </a:solidFill>
                  <a:latin typeface="微软雅黑" panose="020B0503020204020204" pitchFamily="34" charset="-122"/>
                  <a:ea typeface="微软雅黑" panose="020B0503020204020204" pitchFamily="34" charset="-122"/>
                </a:rPr>
                <a:t>线</a:t>
              </a:r>
              <a:r>
                <a:rPr lang="en-US" altLang="zh-CN" sz="2000" b="1" dirty="0">
                  <a:solidFill>
                    <a:srgbClr val="002060"/>
                  </a:solidFill>
                  <a:latin typeface="微软雅黑" panose="020B0503020204020204" pitchFamily="34" charset="-122"/>
                  <a:ea typeface="微软雅黑" panose="020B0503020204020204" pitchFamily="34" charset="-122"/>
                </a:rPr>
                <a:t>-3</a:t>
              </a:r>
              <a:r>
                <a:rPr lang="zh-CN" altLang="en-US" sz="2000" b="1" dirty="0">
                  <a:solidFill>
                    <a:srgbClr val="002060"/>
                  </a:solidFill>
                  <a:latin typeface="微软雅黑" panose="020B0503020204020204" pitchFamily="34" charset="-122"/>
                  <a:ea typeface="微软雅黑" panose="020B0503020204020204" pitchFamily="34" charset="-122"/>
                </a:rPr>
                <a:t>线集成优先编码器</a:t>
              </a:r>
              <a:r>
                <a:rPr lang="en-US" altLang="zh-CN" sz="2000" b="1" dirty="0">
                  <a:solidFill>
                    <a:srgbClr val="002060"/>
                  </a:solidFill>
                  <a:latin typeface="微软雅黑" panose="020B0503020204020204" pitchFamily="34" charset="-122"/>
                  <a:ea typeface="微软雅黑" panose="020B0503020204020204" pitchFamily="34" charset="-122"/>
                </a:rPr>
                <a:t>-CD4532</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8" name="Picture 3"/>
            <p:cNvPicPr>
              <a:picLocks noChangeAspect="1" noChangeArrowheads="1"/>
            </p:cNvPicPr>
            <p:nvPr/>
          </p:nvPicPr>
          <p:blipFill>
            <a:blip r:embed="rId2"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97" name="组合 96"/>
          <p:cNvGrpSpPr/>
          <p:nvPr/>
        </p:nvGrpSpPr>
        <p:grpSpPr>
          <a:xfrm>
            <a:off x="5560072" y="2230802"/>
            <a:ext cx="1403641" cy="338554"/>
            <a:chOff x="5560072" y="2230802"/>
            <a:chExt cx="1403641" cy="338554"/>
          </a:xfrm>
        </p:grpSpPr>
        <p:sp>
          <p:nvSpPr>
            <p:cNvPr id="44" name="椭圆 43"/>
            <p:cNvSpPr/>
            <p:nvPr/>
          </p:nvSpPr>
          <p:spPr>
            <a:xfrm>
              <a:off x="5560072" y="2262165"/>
              <a:ext cx="294688" cy="2340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1" name="任意多边形 60"/>
            <p:cNvSpPr/>
            <p:nvPr/>
          </p:nvSpPr>
          <p:spPr>
            <a:xfrm>
              <a:off x="5785421" y="2266499"/>
              <a:ext cx="368360" cy="125675"/>
            </a:xfrm>
            <a:custGeom>
              <a:avLst/>
              <a:gdLst>
                <a:gd name="connsiteX0" fmla="*/ 0 w 455033"/>
                <a:gd name="connsiteY0" fmla="*/ 14445 h 101118"/>
                <a:gd name="connsiteX1" fmla="*/ 242685 w 455033"/>
                <a:gd name="connsiteY1" fmla="*/ 14445 h 101118"/>
                <a:gd name="connsiteX2" fmla="*/ 455033 w 455033"/>
                <a:gd name="connsiteY2" fmla="*/ 101118 h 101118"/>
                <a:gd name="connsiteX3" fmla="*/ 455033 w 455033"/>
                <a:gd name="connsiteY3" fmla="*/ 101118 h 101118"/>
              </a:gdLst>
              <a:ahLst/>
              <a:cxnLst>
                <a:cxn ang="0">
                  <a:pos x="connsiteX0" y="connsiteY0"/>
                </a:cxn>
                <a:cxn ang="0">
                  <a:pos x="connsiteX1" y="connsiteY1"/>
                </a:cxn>
                <a:cxn ang="0">
                  <a:pos x="connsiteX2" y="connsiteY2"/>
                </a:cxn>
                <a:cxn ang="0">
                  <a:pos x="connsiteX3" y="connsiteY3"/>
                </a:cxn>
              </a:cxnLst>
              <a:rect l="l" t="t" r="r" b="b"/>
              <a:pathLst>
                <a:path w="455033" h="101118">
                  <a:moveTo>
                    <a:pt x="0" y="14445"/>
                  </a:moveTo>
                  <a:cubicBezTo>
                    <a:pt x="83423" y="7222"/>
                    <a:pt x="166846" y="0"/>
                    <a:pt x="242685" y="14445"/>
                  </a:cubicBezTo>
                  <a:cubicBezTo>
                    <a:pt x="318524" y="28890"/>
                    <a:pt x="455033" y="101118"/>
                    <a:pt x="455033" y="101118"/>
                  </a:cubicBezTo>
                  <a:lnTo>
                    <a:pt x="455033" y="101118"/>
                  </a:lnTo>
                </a:path>
              </a:pathLst>
            </a:cu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64" name="矩形 63"/>
            <p:cNvSpPr/>
            <p:nvPr/>
          </p:nvSpPr>
          <p:spPr>
            <a:xfrm>
              <a:off x="6163494" y="2230802"/>
              <a:ext cx="800219" cy="338554"/>
            </a:xfrm>
            <a:prstGeom prst="rect">
              <a:avLst/>
            </a:prstGeom>
            <a:solidFill>
              <a:schemeClr val="accent2">
                <a:lumMod val="20000"/>
                <a:lumOff val="80000"/>
              </a:schemeClr>
            </a:solidFill>
          </p:spPr>
          <p:style>
            <a:lnRef idx="2">
              <a:schemeClr val="accent1"/>
            </a:lnRef>
            <a:fillRef idx="1">
              <a:schemeClr val="lt1"/>
            </a:fillRef>
            <a:effectRef idx="0">
              <a:schemeClr val="accent1"/>
            </a:effectRef>
            <a:fontRef idx="minor">
              <a:schemeClr val="dk1"/>
            </a:fontRef>
          </p:style>
          <p:txBody>
            <a:bodyPr wrap="none">
              <a:spAutoFit/>
            </a:bodyPr>
            <a:lstStyle/>
            <a:p>
              <a:r>
                <a:rPr lang="zh-CN" altLang="en-US" sz="1600" dirty="0">
                  <a:latin typeface="微软雅黑" panose="020B0503020204020204" pitchFamily="34" charset="-122"/>
                  <a:ea typeface="微软雅黑" panose="020B0503020204020204" pitchFamily="34" charset="-122"/>
                </a:rPr>
                <a:t>高电平</a:t>
              </a:r>
              <a:endParaRPr lang="zh-CN" altLang="en-US" sz="1600" dirty="0">
                <a:latin typeface="微软雅黑" panose="020B0503020204020204" pitchFamily="34" charset="-122"/>
                <a:ea typeface="微软雅黑" panose="020B0503020204020204" pitchFamily="34" charset="-122"/>
              </a:endParaRPr>
            </a:p>
          </p:txBody>
        </p:sp>
      </p:grpSp>
      <p:grpSp>
        <p:nvGrpSpPr>
          <p:cNvPr id="98" name="组合 97"/>
          <p:cNvGrpSpPr/>
          <p:nvPr/>
        </p:nvGrpSpPr>
        <p:grpSpPr>
          <a:xfrm>
            <a:off x="5552127" y="2751564"/>
            <a:ext cx="1407973" cy="338554"/>
            <a:chOff x="5552127" y="2751564"/>
            <a:chExt cx="1407973" cy="338554"/>
          </a:xfrm>
        </p:grpSpPr>
        <p:sp>
          <p:nvSpPr>
            <p:cNvPr id="73" name="椭圆 72"/>
            <p:cNvSpPr/>
            <p:nvPr/>
          </p:nvSpPr>
          <p:spPr>
            <a:xfrm>
              <a:off x="5552127" y="2817597"/>
              <a:ext cx="294688" cy="234017"/>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任意多边形 73"/>
            <p:cNvSpPr/>
            <p:nvPr/>
          </p:nvSpPr>
          <p:spPr>
            <a:xfrm flipV="1">
              <a:off x="5785421" y="2930271"/>
              <a:ext cx="368360" cy="125675"/>
            </a:xfrm>
            <a:custGeom>
              <a:avLst/>
              <a:gdLst>
                <a:gd name="connsiteX0" fmla="*/ 0 w 455033"/>
                <a:gd name="connsiteY0" fmla="*/ 14445 h 101118"/>
                <a:gd name="connsiteX1" fmla="*/ 242685 w 455033"/>
                <a:gd name="connsiteY1" fmla="*/ 14445 h 101118"/>
                <a:gd name="connsiteX2" fmla="*/ 455033 w 455033"/>
                <a:gd name="connsiteY2" fmla="*/ 101118 h 101118"/>
                <a:gd name="connsiteX3" fmla="*/ 455033 w 455033"/>
                <a:gd name="connsiteY3" fmla="*/ 101118 h 101118"/>
              </a:gdLst>
              <a:ahLst/>
              <a:cxnLst>
                <a:cxn ang="0">
                  <a:pos x="connsiteX0" y="connsiteY0"/>
                </a:cxn>
                <a:cxn ang="0">
                  <a:pos x="connsiteX1" y="connsiteY1"/>
                </a:cxn>
                <a:cxn ang="0">
                  <a:pos x="connsiteX2" y="connsiteY2"/>
                </a:cxn>
                <a:cxn ang="0">
                  <a:pos x="connsiteX3" y="connsiteY3"/>
                </a:cxn>
              </a:cxnLst>
              <a:rect l="l" t="t" r="r" b="b"/>
              <a:pathLst>
                <a:path w="455033" h="101118">
                  <a:moveTo>
                    <a:pt x="0" y="14445"/>
                  </a:moveTo>
                  <a:cubicBezTo>
                    <a:pt x="83423" y="7222"/>
                    <a:pt x="166846" y="0"/>
                    <a:pt x="242685" y="14445"/>
                  </a:cubicBezTo>
                  <a:cubicBezTo>
                    <a:pt x="318524" y="28890"/>
                    <a:pt x="455033" y="101118"/>
                    <a:pt x="455033" y="101118"/>
                  </a:cubicBezTo>
                  <a:lnTo>
                    <a:pt x="455033" y="101118"/>
                  </a:lnTo>
                </a:path>
              </a:pathLst>
            </a:cu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5" name="矩形 74"/>
            <p:cNvSpPr/>
            <p:nvPr/>
          </p:nvSpPr>
          <p:spPr>
            <a:xfrm>
              <a:off x="6159881" y="2751564"/>
              <a:ext cx="800219" cy="338554"/>
            </a:xfrm>
            <a:prstGeom prst="rect">
              <a:avLst/>
            </a:prstGeom>
            <a:solidFill>
              <a:schemeClr val="accent4">
                <a:lumMod val="40000"/>
                <a:lumOff val="60000"/>
              </a:schemeClr>
            </a:solidFill>
          </p:spPr>
          <p:style>
            <a:lnRef idx="2">
              <a:schemeClr val="accent1"/>
            </a:lnRef>
            <a:fillRef idx="1">
              <a:schemeClr val="lt1"/>
            </a:fillRef>
            <a:effectRef idx="0">
              <a:schemeClr val="accent1"/>
            </a:effectRef>
            <a:fontRef idx="minor">
              <a:schemeClr val="dk1"/>
            </a:fontRef>
          </p:style>
          <p:txBody>
            <a:bodyPr wrap="none">
              <a:spAutoFit/>
            </a:bodyPr>
            <a:lstStyle/>
            <a:p>
              <a:r>
                <a:rPr lang="zh-CN" altLang="en-US" sz="1600" dirty="0">
                  <a:latin typeface="微软雅黑" panose="020B0503020204020204" pitchFamily="34" charset="-122"/>
                  <a:ea typeface="微软雅黑" panose="020B0503020204020204" pitchFamily="34" charset="-122"/>
                </a:rPr>
                <a:t>低电平</a:t>
              </a:r>
              <a:endParaRPr lang="zh-CN" altLang="en-US" sz="1600" dirty="0">
                <a:latin typeface="微软雅黑" panose="020B0503020204020204" pitchFamily="34" charset="-122"/>
                <a:ea typeface="微软雅黑" panose="020B0503020204020204" pitchFamily="34" charset="-122"/>
              </a:endParaRPr>
            </a:p>
          </p:txBody>
        </p:sp>
      </p:grpSp>
      <p:graphicFrame>
        <p:nvGraphicFramePr>
          <p:cNvPr id="78" name="表格 77"/>
          <p:cNvGraphicFramePr>
            <a:graphicFrameLocks noGrp="1"/>
          </p:cNvGraphicFramePr>
          <p:nvPr/>
        </p:nvGraphicFramePr>
        <p:xfrm>
          <a:off x="6051821" y="3336907"/>
          <a:ext cx="981691" cy="1057411"/>
        </p:xfrm>
        <a:graphic>
          <a:graphicData uri="http://schemas.openxmlformats.org/drawingml/2006/table">
            <a:tbl>
              <a:tblPr firstRow="1" bandRow="1">
                <a:tableStyleId>{7DF18680-E054-41AD-8BC1-D1AEF772440D}</a:tableStyleId>
              </a:tblPr>
              <a:tblGrid>
                <a:gridCol w="670479"/>
                <a:gridCol w="311212"/>
              </a:tblGrid>
              <a:tr h="203640">
                <a:tc>
                  <a:txBody>
                    <a:bodyPr/>
                    <a:lstStyle/>
                    <a:p>
                      <a:pPr algn="ctr">
                        <a:lnSpc>
                          <a:spcPts val="1200"/>
                        </a:lnSpc>
                      </a:pPr>
                      <a:r>
                        <a:rPr lang="en-US" altLang="zh-CN" sz="1400" b="1" dirty="0">
                          <a:latin typeface="Times New Roman" panose="02020603050405020304" pitchFamily="18" charset="0"/>
                          <a:cs typeface="Times New Roman" panose="02020603050405020304" pitchFamily="18" charset="0"/>
                        </a:rPr>
                        <a:t>A</a:t>
                      </a:r>
                      <a:r>
                        <a:rPr lang="en-US" altLang="zh-CN" sz="1400" b="1" baseline="0" dirty="0">
                          <a:latin typeface="Times New Roman" panose="02020603050405020304" pitchFamily="18" charset="0"/>
                          <a:cs typeface="Times New Roman" panose="02020603050405020304" pitchFamily="18" charset="0"/>
                        </a:rPr>
                        <a:t>    B </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lnSpc>
                          <a:spcPts val="1200"/>
                        </a:lnSpc>
                      </a:pPr>
                      <a:r>
                        <a:rPr lang="en-US" altLang="zh-CN" sz="1400" b="1" dirty="0">
                          <a:latin typeface="Times New Roman" panose="02020603050405020304" pitchFamily="18" charset="0"/>
                          <a:cs typeface="Times New Roman" panose="02020603050405020304" pitchFamily="18" charset="0"/>
                        </a:rPr>
                        <a:t>C  </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0" marR="0" marT="0"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r>
              <a:tr h="853771">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i="0" dirty="0">
                          <a:latin typeface="Times New Roman" panose="02020603050405020304" pitchFamily="18" charset="0"/>
                          <a:cs typeface="Times New Roman" panose="02020603050405020304" pitchFamily="18" charset="0"/>
                        </a:rPr>
                        <a:t>L    </a:t>
                      </a:r>
                      <a:r>
                        <a:rPr lang="en-US" altLang="zh-CN" sz="1400" b="1" i="0" dirty="0" err="1">
                          <a:latin typeface="Times New Roman" panose="02020603050405020304" pitchFamily="18" charset="0"/>
                          <a:cs typeface="Times New Roman" panose="02020603050405020304" pitchFamily="18" charset="0"/>
                        </a:rPr>
                        <a:t>L</a:t>
                      </a:r>
                      <a:endParaRPr lang="en-US" altLang="zh-CN" sz="1400" b="1" i="0" dirty="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i="0" dirty="0">
                          <a:latin typeface="Times New Roman" panose="02020603050405020304" pitchFamily="18" charset="0"/>
                          <a:cs typeface="Times New Roman" panose="02020603050405020304" pitchFamily="18" charset="0"/>
                        </a:rPr>
                        <a:t>L    H</a:t>
                      </a:r>
                      <a:endParaRPr lang="en-US" altLang="zh-CN" sz="1400" b="1" i="0" dirty="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i="0" dirty="0">
                          <a:latin typeface="Times New Roman" panose="02020603050405020304" pitchFamily="18" charset="0"/>
                          <a:cs typeface="Times New Roman" panose="02020603050405020304" pitchFamily="18" charset="0"/>
                        </a:rPr>
                        <a:t>H    L</a:t>
                      </a:r>
                      <a:endParaRPr lang="en-US" altLang="zh-CN" sz="1400" b="1" i="0" dirty="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i="0" dirty="0">
                          <a:latin typeface="Times New Roman" panose="02020603050405020304" pitchFamily="18" charset="0"/>
                          <a:cs typeface="Times New Roman" panose="02020603050405020304" pitchFamily="18" charset="0"/>
                        </a:rPr>
                        <a:t>H   </a:t>
                      </a:r>
                      <a:r>
                        <a:rPr lang="en-US" altLang="zh-CN" sz="1400" b="1" i="0" dirty="0" err="1">
                          <a:latin typeface="Times New Roman" panose="02020603050405020304" pitchFamily="18" charset="0"/>
                          <a:cs typeface="Times New Roman" panose="02020603050405020304" pitchFamily="18" charset="0"/>
                        </a:rPr>
                        <a:t>H</a:t>
                      </a:r>
                      <a:endParaRPr lang="zh-CN" altLang="en-US" sz="1400" b="1" i="0" dirty="0">
                        <a:solidFill>
                          <a:schemeClr val="tx1"/>
                        </a:solidFill>
                        <a:latin typeface="Times New Roman" panose="02020603050405020304" pitchFamily="18"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solidFill>
                            <a:schemeClr val="tx1"/>
                          </a:solidFill>
                          <a:latin typeface="Times New Roman" panose="02020603050405020304" pitchFamily="18" charset="0"/>
                          <a:cs typeface="Times New Roman" panose="02020603050405020304" pitchFamily="18" charset="0"/>
                        </a:rPr>
                        <a:t>L</a:t>
                      </a:r>
                      <a:endParaRPr lang="en-US" altLang="zh-CN" sz="1400" b="1" dirty="0">
                        <a:solidFill>
                          <a:schemeClr val="tx1"/>
                        </a:solidFill>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solidFill>
                            <a:schemeClr val="tx1"/>
                          </a:solidFill>
                          <a:latin typeface="Times New Roman" panose="02020603050405020304" pitchFamily="18" charset="0"/>
                          <a:cs typeface="Times New Roman" panose="02020603050405020304" pitchFamily="18" charset="0"/>
                        </a:rPr>
                        <a:t>L</a:t>
                      </a:r>
                      <a:endParaRPr lang="en-US" altLang="zh-CN" sz="1400" b="1" dirty="0">
                        <a:solidFill>
                          <a:schemeClr val="tx1"/>
                        </a:solidFill>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solidFill>
                            <a:schemeClr val="tx1"/>
                          </a:solidFill>
                          <a:latin typeface="Times New Roman" panose="02020603050405020304" pitchFamily="18" charset="0"/>
                          <a:cs typeface="Times New Roman" panose="02020603050405020304" pitchFamily="18" charset="0"/>
                        </a:rPr>
                        <a:t>L</a:t>
                      </a:r>
                      <a:endParaRPr lang="en-US" altLang="zh-CN" sz="1400" b="1" dirty="0">
                        <a:solidFill>
                          <a:schemeClr val="tx1"/>
                        </a:solidFill>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solidFill>
                            <a:schemeClr val="tx1"/>
                          </a:solidFill>
                          <a:latin typeface="Times New Roman" panose="02020603050405020304" pitchFamily="18" charset="0"/>
                          <a:cs typeface="Times New Roman" panose="02020603050405020304" pitchFamily="18" charset="0"/>
                        </a:rPr>
                        <a:t>H</a:t>
                      </a:r>
                      <a:endParaRPr lang="zh-CN" altLang="en-US" sz="1400" b="1" dirty="0">
                        <a:solidFill>
                          <a:schemeClr val="tx1"/>
                        </a:solidFill>
                        <a:latin typeface="Times New Roman" panose="02020603050405020304" pitchFamily="18" charset="0"/>
                        <a:cs typeface="Times New Roman" panose="02020603050405020304" pitchFamily="18" charset="0"/>
                      </a:endParaRPr>
                    </a:p>
                  </a:txBody>
                  <a:tcPr marL="0" marR="0" marT="0"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r>
            </a:tbl>
          </a:graphicData>
        </a:graphic>
      </p:graphicFrame>
      <p:graphicFrame>
        <p:nvGraphicFramePr>
          <p:cNvPr id="81" name="表格 80"/>
          <p:cNvGraphicFramePr>
            <a:graphicFrameLocks noGrp="1"/>
          </p:cNvGraphicFramePr>
          <p:nvPr/>
        </p:nvGraphicFramePr>
        <p:xfrm>
          <a:off x="7595337" y="2215216"/>
          <a:ext cx="981691" cy="1065358"/>
        </p:xfrm>
        <a:graphic>
          <a:graphicData uri="http://schemas.openxmlformats.org/drawingml/2006/table">
            <a:tbl>
              <a:tblPr firstRow="1" bandRow="1">
                <a:tableStyleId>{7DF18680-E054-41AD-8BC1-D1AEF772440D}</a:tableStyleId>
              </a:tblPr>
              <a:tblGrid>
                <a:gridCol w="670479"/>
                <a:gridCol w="311212"/>
              </a:tblGrid>
              <a:tr h="203640">
                <a:tc>
                  <a:txBody>
                    <a:bodyPr/>
                    <a:lstStyle/>
                    <a:p>
                      <a:pPr algn="ctr">
                        <a:lnSpc>
                          <a:spcPts val="1200"/>
                        </a:lnSpc>
                      </a:pPr>
                      <a:r>
                        <a:rPr lang="en-US" altLang="zh-CN" sz="1400" b="1" dirty="0">
                          <a:latin typeface="Times New Roman" panose="02020603050405020304" pitchFamily="18" charset="0"/>
                          <a:cs typeface="Times New Roman" panose="02020603050405020304" pitchFamily="18" charset="0"/>
                        </a:rPr>
                        <a:t>A</a:t>
                      </a:r>
                      <a:r>
                        <a:rPr lang="en-US" altLang="zh-CN" sz="1400" b="1" baseline="0" dirty="0">
                          <a:latin typeface="Times New Roman" panose="02020603050405020304" pitchFamily="18" charset="0"/>
                          <a:cs typeface="Times New Roman" panose="02020603050405020304" pitchFamily="18" charset="0"/>
                        </a:rPr>
                        <a:t>    B </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lnSpc>
                          <a:spcPts val="1200"/>
                        </a:lnSpc>
                      </a:pPr>
                      <a:r>
                        <a:rPr lang="en-US" altLang="zh-CN" sz="1400" b="1" dirty="0">
                          <a:latin typeface="Times New Roman" panose="02020603050405020304" pitchFamily="18" charset="0"/>
                          <a:cs typeface="Times New Roman" panose="02020603050405020304" pitchFamily="18" charset="0"/>
                        </a:rPr>
                        <a:t>C  </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0" marR="0" marT="0"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r>
              <a:tr h="861718">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i="0" dirty="0">
                          <a:latin typeface="Times New Roman" panose="02020603050405020304" pitchFamily="18" charset="0"/>
                          <a:cs typeface="Times New Roman" panose="02020603050405020304" pitchFamily="18" charset="0"/>
                        </a:rPr>
                        <a:t>0    0</a:t>
                      </a:r>
                      <a:endParaRPr lang="en-US" altLang="zh-CN" sz="1400" b="1" i="0" dirty="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i="0" dirty="0">
                          <a:latin typeface="Times New Roman" panose="02020603050405020304" pitchFamily="18" charset="0"/>
                          <a:cs typeface="Times New Roman" panose="02020603050405020304" pitchFamily="18" charset="0"/>
                        </a:rPr>
                        <a:t>0    1</a:t>
                      </a:r>
                      <a:endParaRPr lang="en-US" altLang="zh-CN" sz="1400" b="1" i="0" dirty="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i="0" dirty="0">
                          <a:latin typeface="Times New Roman" panose="02020603050405020304" pitchFamily="18" charset="0"/>
                          <a:cs typeface="Times New Roman" panose="02020603050405020304" pitchFamily="18" charset="0"/>
                        </a:rPr>
                        <a:t>1    0</a:t>
                      </a:r>
                      <a:endParaRPr lang="en-US" altLang="zh-CN" sz="1400" b="1" i="0" dirty="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i="0" dirty="0">
                          <a:latin typeface="Times New Roman" panose="02020603050405020304" pitchFamily="18" charset="0"/>
                          <a:cs typeface="Times New Roman" panose="02020603050405020304" pitchFamily="18" charset="0"/>
                        </a:rPr>
                        <a:t>1    1</a:t>
                      </a:r>
                      <a:endParaRPr lang="en-US" altLang="zh-CN" sz="1400" b="1" i="0" dirty="0">
                        <a:latin typeface="Times New Roman" panose="02020603050405020304" pitchFamily="18"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solidFill>
                            <a:schemeClr val="tx1"/>
                          </a:solidFill>
                          <a:latin typeface="Times New Roman" panose="02020603050405020304" pitchFamily="18" charset="0"/>
                          <a:cs typeface="Times New Roman" panose="02020603050405020304" pitchFamily="18" charset="0"/>
                        </a:rPr>
                        <a:t>0</a:t>
                      </a:r>
                      <a:endParaRPr lang="en-US" altLang="zh-CN" sz="1400" b="1" dirty="0">
                        <a:solidFill>
                          <a:schemeClr val="tx1"/>
                        </a:solidFill>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solidFill>
                            <a:schemeClr val="tx1"/>
                          </a:solidFill>
                          <a:latin typeface="Times New Roman" panose="02020603050405020304" pitchFamily="18" charset="0"/>
                          <a:cs typeface="Times New Roman" panose="02020603050405020304" pitchFamily="18" charset="0"/>
                        </a:rPr>
                        <a:t>0</a:t>
                      </a:r>
                      <a:endParaRPr lang="en-US" altLang="zh-CN" sz="1400" b="1" dirty="0">
                        <a:solidFill>
                          <a:schemeClr val="tx1"/>
                        </a:solidFill>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solidFill>
                            <a:schemeClr val="tx1"/>
                          </a:solidFill>
                          <a:latin typeface="Times New Roman" panose="02020603050405020304" pitchFamily="18" charset="0"/>
                          <a:cs typeface="Times New Roman" panose="02020603050405020304" pitchFamily="18" charset="0"/>
                        </a:rPr>
                        <a:t>0</a:t>
                      </a:r>
                      <a:endParaRPr lang="en-US" altLang="zh-CN" sz="1400" b="1" dirty="0">
                        <a:solidFill>
                          <a:schemeClr val="tx1"/>
                        </a:solidFill>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solidFill>
                            <a:schemeClr val="tx1"/>
                          </a:solidFill>
                          <a:latin typeface="Times New Roman" panose="02020603050405020304" pitchFamily="18" charset="0"/>
                          <a:cs typeface="Times New Roman" panose="02020603050405020304" pitchFamily="18" charset="0"/>
                        </a:rPr>
                        <a:t>1</a:t>
                      </a:r>
                      <a:endParaRPr lang="zh-CN" altLang="en-US" sz="1400" b="1" dirty="0">
                        <a:solidFill>
                          <a:schemeClr val="tx1"/>
                        </a:solidFill>
                        <a:latin typeface="Times New Roman" panose="02020603050405020304" pitchFamily="18" charset="0"/>
                        <a:cs typeface="Times New Roman" panose="02020603050405020304" pitchFamily="18" charset="0"/>
                      </a:endParaRPr>
                    </a:p>
                  </a:txBody>
                  <a:tcPr marL="0" marR="0" marT="0"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r>
            </a:tbl>
          </a:graphicData>
        </a:graphic>
      </p:graphicFrame>
      <p:graphicFrame>
        <p:nvGraphicFramePr>
          <p:cNvPr id="82" name="表格 81"/>
          <p:cNvGraphicFramePr>
            <a:graphicFrameLocks noGrp="1"/>
          </p:cNvGraphicFramePr>
          <p:nvPr/>
        </p:nvGraphicFramePr>
        <p:xfrm>
          <a:off x="7700068" y="3819392"/>
          <a:ext cx="981691" cy="1065358"/>
        </p:xfrm>
        <a:graphic>
          <a:graphicData uri="http://schemas.openxmlformats.org/drawingml/2006/table">
            <a:tbl>
              <a:tblPr firstRow="1" bandRow="1">
                <a:tableStyleId>{93296810-A885-4BE3-A3E7-6D5BEEA58F35}</a:tableStyleId>
              </a:tblPr>
              <a:tblGrid>
                <a:gridCol w="670479"/>
                <a:gridCol w="311212"/>
              </a:tblGrid>
              <a:tr h="203640">
                <a:tc>
                  <a:txBody>
                    <a:bodyPr/>
                    <a:lstStyle/>
                    <a:p>
                      <a:pPr algn="ctr">
                        <a:lnSpc>
                          <a:spcPts val="1200"/>
                        </a:lnSpc>
                      </a:pPr>
                      <a:r>
                        <a:rPr lang="en-US" altLang="zh-CN" sz="1400" b="1" dirty="0">
                          <a:latin typeface="Times New Roman" panose="02020603050405020304" pitchFamily="18" charset="0"/>
                          <a:cs typeface="Times New Roman" panose="02020603050405020304" pitchFamily="18" charset="0"/>
                        </a:rPr>
                        <a:t>A</a:t>
                      </a:r>
                      <a:r>
                        <a:rPr lang="en-US" altLang="zh-CN" sz="1400" b="1" baseline="0" dirty="0">
                          <a:latin typeface="Times New Roman" panose="02020603050405020304" pitchFamily="18" charset="0"/>
                          <a:cs typeface="Times New Roman" panose="02020603050405020304" pitchFamily="18" charset="0"/>
                        </a:rPr>
                        <a:t>    B </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lnSpc>
                          <a:spcPts val="1200"/>
                        </a:lnSpc>
                      </a:pPr>
                      <a:r>
                        <a:rPr lang="en-US" altLang="zh-CN" sz="1400" b="1" dirty="0">
                          <a:latin typeface="Times New Roman" panose="02020603050405020304" pitchFamily="18" charset="0"/>
                          <a:cs typeface="Times New Roman" panose="02020603050405020304" pitchFamily="18" charset="0"/>
                        </a:rPr>
                        <a:t>C  </a:t>
                      </a:r>
                      <a:endParaRPr lang="zh-CN" altLang="en-US" sz="1400" b="1" i="1" dirty="0">
                        <a:solidFill>
                          <a:schemeClr val="tx1"/>
                        </a:solidFill>
                        <a:latin typeface="Times New Roman" panose="02020603050405020304" pitchFamily="18" charset="0"/>
                        <a:cs typeface="Times New Roman" panose="02020603050405020304" pitchFamily="18" charset="0"/>
                      </a:endParaRPr>
                    </a:p>
                  </a:txBody>
                  <a:tcPr marL="0" marR="0" marT="0" marB="0" anchor="b">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r>
              <a:tr h="861718">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latin typeface="Times New Roman" panose="02020603050405020304" pitchFamily="18" charset="0"/>
                          <a:cs typeface="Times New Roman" panose="02020603050405020304" pitchFamily="18" charset="0"/>
                        </a:rPr>
                        <a:t>1    1</a:t>
                      </a:r>
                      <a:endParaRPr lang="en-US" altLang="zh-CN" sz="1400" b="1" dirty="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latin typeface="Times New Roman" panose="02020603050405020304" pitchFamily="18" charset="0"/>
                          <a:cs typeface="Times New Roman" panose="02020603050405020304" pitchFamily="18" charset="0"/>
                        </a:rPr>
                        <a:t>1    0</a:t>
                      </a:r>
                      <a:endParaRPr lang="en-US" altLang="zh-CN" sz="1400" b="1" dirty="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latin typeface="Times New Roman" panose="02020603050405020304" pitchFamily="18" charset="0"/>
                          <a:cs typeface="Times New Roman" panose="02020603050405020304" pitchFamily="18" charset="0"/>
                        </a:rPr>
                        <a:t>0    1</a:t>
                      </a:r>
                      <a:endParaRPr lang="en-US" altLang="zh-CN" sz="1400" b="1" dirty="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latin typeface="Times New Roman" panose="02020603050405020304" pitchFamily="18" charset="0"/>
                          <a:cs typeface="Times New Roman" panose="02020603050405020304" pitchFamily="18" charset="0"/>
                        </a:rPr>
                        <a:t>0    0</a:t>
                      </a:r>
                      <a:endParaRPr lang="en-US" altLang="zh-CN" sz="1400" b="1" i="0" dirty="0">
                        <a:latin typeface="Times New Roman" panose="02020603050405020304" pitchFamily="18" charset="0"/>
                        <a:cs typeface="Times New Roman" panose="02020603050405020304" pitchFamily="18" charset="0"/>
                      </a:endParaRPr>
                    </a:p>
                  </a:txBody>
                  <a:tcPr marL="0" marR="0" marT="0" marB="0" anchor="b">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latin typeface="Times New Roman" panose="02020603050405020304" pitchFamily="18" charset="0"/>
                          <a:cs typeface="Times New Roman" panose="02020603050405020304" pitchFamily="18" charset="0"/>
                        </a:rPr>
                        <a:t>1</a:t>
                      </a:r>
                      <a:endParaRPr lang="en-US" altLang="zh-CN" sz="1400" b="1" dirty="0">
                        <a:latin typeface="Times New Roman" panose="02020603050405020304" pitchFamily="18" charset="0"/>
                        <a:cs typeface="Times New Roman" panose="02020603050405020304" pitchFamily="18" charset="0"/>
                      </a:endParaRPr>
                    </a:p>
                    <a:p>
                      <a:pPr marL="0" marR="0" indent="0" algn="ctr" defTabSz="914400" rtl="0" eaLnBrk="1" fontAlgn="auto" latinLnBrk="0" hangingPunct="1">
                        <a:lnSpc>
                          <a:spcPct val="100000"/>
                        </a:lnSpc>
                        <a:spcBef>
                          <a:spcPts val="0"/>
                        </a:spcBef>
                        <a:spcAft>
                          <a:spcPts val="0"/>
                        </a:spcAft>
                        <a:buClrTx/>
                        <a:buSzTx/>
                        <a:buFontTx/>
                        <a:buNone/>
                        <a:defRPr/>
                      </a:pPr>
                      <a:r>
                        <a:rPr lang="en-US" altLang="zh-CN" sz="1400" b="1" dirty="0">
                          <a:latin typeface="Times New Roman" panose="02020603050405020304" pitchFamily="18" charset="0"/>
                          <a:cs typeface="Times New Roman" panose="02020603050405020304" pitchFamily="18" charset="0"/>
                        </a:rPr>
                        <a:t>0</a:t>
                      </a:r>
                      <a:endParaRPr lang="zh-CN" altLang="en-US" sz="1400" b="1" dirty="0">
                        <a:solidFill>
                          <a:schemeClr val="tx1"/>
                        </a:solidFill>
                        <a:latin typeface="Times New Roman" panose="02020603050405020304" pitchFamily="18" charset="0"/>
                        <a:cs typeface="Times New Roman" panose="02020603050405020304" pitchFamily="18" charset="0"/>
                      </a:endParaRPr>
                    </a:p>
                  </a:txBody>
                  <a:tcPr marL="0" marR="0" marT="0" marB="0" anchor="b">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r>
            </a:tbl>
          </a:graphicData>
        </a:graphic>
      </p:graphicFrame>
      <p:grpSp>
        <p:nvGrpSpPr>
          <p:cNvPr id="102" name="组合 101"/>
          <p:cNvGrpSpPr/>
          <p:nvPr/>
        </p:nvGrpSpPr>
        <p:grpSpPr>
          <a:xfrm>
            <a:off x="6957716" y="3141891"/>
            <a:ext cx="646331" cy="498374"/>
            <a:chOff x="6957716" y="3141891"/>
            <a:chExt cx="646331" cy="498374"/>
          </a:xfrm>
        </p:grpSpPr>
        <p:cxnSp>
          <p:nvCxnSpPr>
            <p:cNvPr id="84" name="直接箭头连接符 83"/>
            <p:cNvCxnSpPr/>
            <p:nvPr/>
          </p:nvCxnSpPr>
          <p:spPr>
            <a:xfrm flipV="1">
              <a:off x="7111519" y="3267572"/>
              <a:ext cx="442032" cy="372693"/>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rot="18960215">
              <a:off x="6957716" y="3141891"/>
              <a:ext cx="646331" cy="276999"/>
            </a:xfrm>
            <a:prstGeom prst="rect">
              <a:avLst/>
            </a:prstGeom>
            <a:noFill/>
          </p:spPr>
          <p:txBody>
            <a:bodyPr wrap="none" rtlCol="0">
              <a:spAutoFit/>
            </a:bodyPr>
            <a:lstStyle/>
            <a:p>
              <a:r>
                <a:rPr lang="zh-CN" altLang="en-US" sz="1200" b="1" dirty="0">
                  <a:solidFill>
                    <a:srgbClr val="CC00CC"/>
                  </a:solidFill>
                  <a:latin typeface="微软雅黑" panose="020B0503020204020204" pitchFamily="34" charset="-122"/>
                  <a:ea typeface="微软雅黑" panose="020B0503020204020204" pitchFamily="34" charset="-122"/>
                </a:rPr>
                <a:t>正逻辑</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grpSp>
      <p:grpSp>
        <p:nvGrpSpPr>
          <p:cNvPr id="103" name="组合 102"/>
          <p:cNvGrpSpPr/>
          <p:nvPr/>
        </p:nvGrpSpPr>
        <p:grpSpPr>
          <a:xfrm>
            <a:off x="6967109" y="3765941"/>
            <a:ext cx="707786" cy="533407"/>
            <a:chOff x="6967109" y="3765941"/>
            <a:chExt cx="707786" cy="533407"/>
          </a:xfrm>
        </p:grpSpPr>
        <p:cxnSp>
          <p:nvCxnSpPr>
            <p:cNvPr id="85" name="直接箭头连接符 84"/>
            <p:cNvCxnSpPr/>
            <p:nvPr/>
          </p:nvCxnSpPr>
          <p:spPr>
            <a:xfrm>
              <a:off x="7098518" y="3765941"/>
              <a:ext cx="576377" cy="528707"/>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96" name="TextBox 95"/>
            <p:cNvSpPr txBox="1"/>
            <p:nvPr/>
          </p:nvSpPr>
          <p:spPr>
            <a:xfrm rot="2582937">
              <a:off x="6967109" y="4022349"/>
              <a:ext cx="646331" cy="276999"/>
            </a:xfrm>
            <a:prstGeom prst="rect">
              <a:avLst/>
            </a:prstGeom>
            <a:noFill/>
          </p:spPr>
          <p:txBody>
            <a:bodyPr wrap="none" rtlCol="0">
              <a:spAutoFit/>
            </a:bodyPr>
            <a:lstStyle/>
            <a:p>
              <a:r>
                <a:rPr lang="zh-CN" altLang="en-US" sz="1200" b="1" dirty="0">
                  <a:solidFill>
                    <a:srgbClr val="CC00CC"/>
                  </a:solidFill>
                  <a:latin typeface="微软雅黑" panose="020B0503020204020204" pitchFamily="34" charset="-122"/>
                  <a:ea typeface="微软雅黑" panose="020B0503020204020204" pitchFamily="34" charset="-122"/>
                </a:rPr>
                <a:t>负逻辑</a:t>
              </a:r>
              <a:endParaRPr lang="zh-CN" altLang="en-US" sz="1200" b="1" dirty="0">
                <a:solidFill>
                  <a:srgbClr val="CC00CC"/>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slide(fromBottom)">
                                      <p:cBhvr>
                                        <p:cTn id="7" dur="10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slide(fromBottom)">
                                      <p:cBhvr>
                                        <p:cTn id="12" dur="10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7"/>
                                        </p:tgtEl>
                                        <p:attrNameLst>
                                          <p:attrName>style.visibility</p:attrName>
                                        </p:attrNameLst>
                                      </p:cBhvr>
                                      <p:to>
                                        <p:strVal val="visible"/>
                                      </p:to>
                                    </p:set>
                                    <p:animEffect transition="in" filter="wipe(left)">
                                      <p:cBhvr>
                                        <p:cTn id="17" dur="1000"/>
                                        <p:tgtEl>
                                          <p:spTgt spid="97"/>
                                        </p:tgtEl>
                                      </p:cBhvr>
                                    </p:animEffect>
                                  </p:childTnLst>
                                </p:cTn>
                              </p:par>
                              <p:par>
                                <p:cTn id="18" presetID="22" presetClass="entr" presetSubtype="8" fill="hold" nodeType="withEffect">
                                  <p:stCondLst>
                                    <p:cond delay="0"/>
                                  </p:stCondLst>
                                  <p:childTnLst>
                                    <p:set>
                                      <p:cBhvr>
                                        <p:cTn id="19" dur="1" fill="hold">
                                          <p:stCondLst>
                                            <p:cond delay="0"/>
                                          </p:stCondLst>
                                        </p:cTn>
                                        <p:tgtEl>
                                          <p:spTgt spid="98"/>
                                        </p:tgtEl>
                                        <p:attrNameLst>
                                          <p:attrName>style.visibility</p:attrName>
                                        </p:attrNameLst>
                                      </p:cBhvr>
                                      <p:to>
                                        <p:strVal val="visible"/>
                                      </p:to>
                                    </p:set>
                                    <p:animEffect transition="in" filter="wipe(left)">
                                      <p:cBhvr>
                                        <p:cTn id="20" dur="1000"/>
                                        <p:tgtEl>
                                          <p:spTgt spid="98"/>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2" fill="hold" nodeType="clickEffect">
                                  <p:stCondLst>
                                    <p:cond delay="0"/>
                                  </p:stCondLst>
                                  <p:childTnLst>
                                    <p:set>
                                      <p:cBhvr>
                                        <p:cTn id="24" dur="1" fill="hold">
                                          <p:stCondLst>
                                            <p:cond delay="0"/>
                                          </p:stCondLst>
                                        </p:cTn>
                                        <p:tgtEl>
                                          <p:spTgt spid="81"/>
                                        </p:tgtEl>
                                        <p:attrNameLst>
                                          <p:attrName>style.visibility</p:attrName>
                                        </p:attrNameLst>
                                      </p:cBhvr>
                                      <p:to>
                                        <p:strVal val="visible"/>
                                      </p:to>
                                    </p:set>
                                    <p:animEffect transition="in" filter="slide(fromRight)">
                                      <p:cBhvr>
                                        <p:cTn id="25" dur="1000"/>
                                        <p:tgtEl>
                                          <p:spTgt spid="81"/>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78"/>
                                        </p:tgtEl>
                                        <p:attrNameLst>
                                          <p:attrName>style.visibility</p:attrName>
                                        </p:attrNameLst>
                                      </p:cBhvr>
                                      <p:to>
                                        <p:strVal val="visible"/>
                                      </p:to>
                                    </p:set>
                                    <p:animEffect transition="in" filter="wipe(up)">
                                      <p:cBhvr>
                                        <p:cTn id="30" dur="1000"/>
                                        <p:tgtEl>
                                          <p:spTgt spid="78"/>
                                        </p:tgtEl>
                                      </p:cBhvr>
                                    </p:animEffect>
                                  </p:childTnLst>
                                </p:cTn>
                              </p:par>
                            </p:childTnLst>
                          </p:cTn>
                        </p:par>
                        <p:par>
                          <p:cTn id="31" fill="hold">
                            <p:stCondLst>
                              <p:cond delay="1000"/>
                            </p:stCondLst>
                            <p:childTnLst>
                              <p:par>
                                <p:cTn id="32" presetID="22" presetClass="entr" presetSubtype="8" fill="hold" nodeType="afterEffect">
                                  <p:stCondLst>
                                    <p:cond delay="0"/>
                                  </p:stCondLst>
                                  <p:childTnLst>
                                    <p:set>
                                      <p:cBhvr>
                                        <p:cTn id="33" dur="1" fill="hold">
                                          <p:stCondLst>
                                            <p:cond delay="0"/>
                                          </p:stCondLst>
                                        </p:cTn>
                                        <p:tgtEl>
                                          <p:spTgt spid="102"/>
                                        </p:tgtEl>
                                        <p:attrNameLst>
                                          <p:attrName>style.visibility</p:attrName>
                                        </p:attrNameLst>
                                      </p:cBhvr>
                                      <p:to>
                                        <p:strVal val="visible"/>
                                      </p:to>
                                    </p:set>
                                    <p:animEffect transition="in" filter="wipe(left)">
                                      <p:cBhvr>
                                        <p:cTn id="34" dur="1000"/>
                                        <p:tgtEl>
                                          <p:spTgt spid="102"/>
                                        </p:tgtEl>
                                      </p:cBhvr>
                                    </p:animEffect>
                                  </p:childTnLst>
                                </p:cTn>
                              </p:par>
                            </p:childTnLst>
                          </p:cTn>
                        </p:par>
                        <p:par>
                          <p:cTn id="35" fill="hold">
                            <p:stCondLst>
                              <p:cond delay="2000"/>
                            </p:stCondLst>
                            <p:childTnLst>
                              <p:par>
                                <p:cTn id="36" presetID="22" presetClass="entr" presetSubtype="8" fill="hold" nodeType="afterEffect">
                                  <p:stCondLst>
                                    <p:cond delay="0"/>
                                  </p:stCondLst>
                                  <p:childTnLst>
                                    <p:set>
                                      <p:cBhvr>
                                        <p:cTn id="37" dur="1" fill="hold">
                                          <p:stCondLst>
                                            <p:cond delay="0"/>
                                          </p:stCondLst>
                                        </p:cTn>
                                        <p:tgtEl>
                                          <p:spTgt spid="103"/>
                                        </p:tgtEl>
                                        <p:attrNameLst>
                                          <p:attrName>style.visibility</p:attrName>
                                        </p:attrNameLst>
                                      </p:cBhvr>
                                      <p:to>
                                        <p:strVal val="visible"/>
                                      </p:to>
                                    </p:set>
                                    <p:animEffect transition="in" filter="wipe(left)">
                                      <p:cBhvr>
                                        <p:cTn id="38" dur="1000"/>
                                        <p:tgtEl>
                                          <p:spTgt spid="103"/>
                                        </p:tgtEl>
                                      </p:cBhvr>
                                    </p:animEffect>
                                  </p:childTnLst>
                                </p:cTn>
                              </p:par>
                            </p:childTnLst>
                          </p:cTn>
                        </p:par>
                        <p:par>
                          <p:cTn id="39" fill="hold">
                            <p:stCondLst>
                              <p:cond delay="3000"/>
                            </p:stCondLst>
                            <p:childTnLst>
                              <p:par>
                                <p:cTn id="40" presetID="22" presetClass="entr" presetSubtype="1" fill="hold" nodeType="afterEffect">
                                  <p:stCondLst>
                                    <p:cond delay="0"/>
                                  </p:stCondLst>
                                  <p:childTnLst>
                                    <p:set>
                                      <p:cBhvr>
                                        <p:cTn id="41" dur="1" fill="hold">
                                          <p:stCondLst>
                                            <p:cond delay="0"/>
                                          </p:stCondLst>
                                        </p:cTn>
                                        <p:tgtEl>
                                          <p:spTgt spid="82"/>
                                        </p:tgtEl>
                                        <p:attrNameLst>
                                          <p:attrName>style.visibility</p:attrName>
                                        </p:attrNameLst>
                                      </p:cBhvr>
                                      <p:to>
                                        <p:strVal val="visible"/>
                                      </p:to>
                                    </p:set>
                                    <p:animEffect transition="in" filter="wipe(up)">
                                      <p:cBhvr>
                                        <p:cTn id="42" dur="1000"/>
                                        <p:tgtEl>
                                          <p:spTgt spid="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9" name="Group 209"/>
          <p:cNvGraphicFramePr>
            <a:graphicFrameLocks noGrp="1"/>
          </p:cNvGraphicFramePr>
          <p:nvPr/>
        </p:nvGraphicFramePr>
        <p:xfrm>
          <a:off x="538631" y="1378020"/>
          <a:ext cx="5372094" cy="3355512"/>
        </p:xfrm>
        <a:graphic>
          <a:graphicData uri="http://schemas.openxmlformats.org/drawingml/2006/table">
            <a:tbl>
              <a:tblPr/>
              <a:tblGrid>
                <a:gridCol w="383721"/>
                <a:gridCol w="383721"/>
                <a:gridCol w="383721"/>
                <a:gridCol w="383721"/>
                <a:gridCol w="383721"/>
                <a:gridCol w="383721"/>
                <a:gridCol w="383721"/>
                <a:gridCol w="383721"/>
                <a:gridCol w="383721"/>
                <a:gridCol w="383721"/>
                <a:gridCol w="383721"/>
                <a:gridCol w="383721"/>
                <a:gridCol w="383721"/>
                <a:gridCol w="383721"/>
              </a:tblGrid>
              <a:tr h="279626">
                <a:tc gridSpan="9">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zh-CN" altLang="en-US" sz="1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输      入</a:t>
                      </a:r>
                      <a:endParaRPr kumimoji="0" lang="zh-CN" altLang="en-US" sz="1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0" marR="0" marT="0" marB="0" anchor="b" horzOverflow="overflow">
                    <a:lnL>
                      <a:noFill/>
                    </a:lnL>
                    <a:lnR w="28575" cap="flat" cmpd="sng" algn="ctr">
                      <a:solidFill>
                        <a:schemeClr val="hlink"/>
                      </a:solidFill>
                      <a:prstDash val="solid"/>
                      <a:round/>
                      <a:headEnd type="none" w="med" len="med"/>
                      <a:tailEnd type="none" w="med" len="med"/>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hMerge="1">
                  <a:tcPr/>
                </a:tc>
                <a:tc hMerge="1">
                  <a:tcPr/>
                </a:tc>
                <a:tc hMerge="1">
                  <a:tcPr/>
                </a:tc>
                <a:tc hMerge="1">
                  <a:tcPr/>
                </a:tc>
                <a:tc hMerge="1">
                  <a:tcPr/>
                </a:tc>
                <a:tc hMerge="1">
                  <a:tcPr/>
                </a:tc>
                <a:tc hMerge="1">
                  <a:tcPr/>
                </a:tc>
                <a:tc hMerge="1">
                  <a:tcPr/>
                </a:tc>
                <a:tc gridSpan="5">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zh-CN" altLang="en-US" sz="1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rPr>
                        <a:t>输   出</a:t>
                      </a:r>
                      <a:endParaRPr kumimoji="0" lang="zh-CN" altLang="en-US" sz="1600" b="1" i="0" u="none" strike="noStrike" cap="none" normalizeH="0" baseline="0" dirty="0">
                        <a:ln>
                          <a:noFill/>
                        </a:ln>
                        <a:solidFill>
                          <a:srgbClr val="000000"/>
                        </a:solidFill>
                        <a:effectLst/>
                        <a:latin typeface="黑体" panose="02010609060101010101" pitchFamily="49" charset="-122"/>
                        <a:ea typeface="黑体" panose="02010609060101010101" pitchFamily="49" charset="-122"/>
                        <a:cs typeface="Times New Roman" panose="02020603050405020304" pitchFamily="18" charset="0"/>
                      </a:endParaRPr>
                    </a:p>
                  </a:txBody>
                  <a:tcPr marL="0" marR="0" marT="0" marB="0" anchor="b" horzOverflow="overflow">
                    <a:lnL w="28575" cap="flat" cmpd="sng" algn="ctr">
                      <a:solidFill>
                        <a:schemeClr val="hlink"/>
                      </a:solidFill>
                      <a:prstDash val="solid"/>
                      <a:round/>
                      <a:headEnd type="none" w="med" len="med"/>
                      <a:tailEnd type="none" w="med" len="med"/>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hMerge="1">
                  <a:tcPr/>
                </a:tc>
                <a:tc hMerge="1">
                  <a:tcPr/>
                </a:tc>
                <a:tc hMerge="1">
                  <a:tcPr/>
                </a:tc>
                <a:tc hMerge="1">
                  <a:tcPr/>
                </a:tc>
              </a:tr>
              <a:tr h="279626">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EI</a:t>
                      </a:r>
                      <a:endParaRPr kumimoji="0" lang="en-US" altLang="zh-CN" sz="1600" b="1" i="1"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600" b="1" i="0" u="none" strike="noStrike" cap="none" normalizeH="0" baseline="-2500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7</a:t>
                      </a:r>
                      <a:endPar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600" b="1" i="0" u="none" strike="noStrike" cap="none" normalizeH="0" baseline="-2500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6</a:t>
                      </a:r>
                      <a:endPar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600" b="1" i="0" u="none" strike="noStrike" cap="none" normalizeH="0" baseline="-2500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5</a:t>
                      </a:r>
                      <a:endPar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600" b="1" i="0" u="none" strike="noStrike" cap="none" normalizeH="0" baseline="-2500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a:t>
                      </a:r>
                      <a:endPar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600" b="1" i="0" u="none" strike="noStrike" cap="none" normalizeH="0" baseline="-2500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600" b="1" i="0" u="none" strike="noStrike" cap="none" normalizeH="0" baseline="-2500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600" b="1" i="0" u="none" strike="noStrike" cap="none" normalizeH="0" baseline="-2500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600" b="1" i="0" u="none" strike="noStrike" cap="none" normalizeH="0" baseline="-2500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hlink"/>
                      </a:solidFill>
                      <a:prstDash val="solid"/>
                      <a:round/>
                      <a:headEnd type="none" w="med" len="med"/>
                      <a:tailEnd type="none" w="med" len="med"/>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Y</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hlink"/>
                      </a:solidFill>
                      <a:prstDash val="solid"/>
                      <a:round/>
                      <a:headEnd type="none" w="med" len="med"/>
                      <a:tailEnd type="none" w="med" len="med"/>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Y</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Y</a:t>
                      </a:r>
                      <a:r>
                        <a:rPr kumimoji="0" lang="en-US" altLang="zh-CN" sz="16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1" u="none" strike="noStrike" kern="1200"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GS</a:t>
                      </a:r>
                      <a:endParaRPr kumimoji="0" lang="en-US" altLang="zh-CN" sz="1600" b="1" i="1" u="none" strike="noStrike" kern="1200"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1" u="none" strike="noStrike" kern="1200"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EO</a:t>
                      </a:r>
                      <a:endParaRPr kumimoji="0" lang="en-US" altLang="zh-CN" sz="1600" b="1" i="1" u="none" strike="noStrike" kern="1200"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r>
              <a:tr h="279626">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w="28575" cap="flat" cmpd="sng" algn="ctr">
                      <a:solidFill>
                        <a:schemeClr val="hlink"/>
                      </a:solidFill>
                      <a:prstDash val="solid"/>
                      <a:round/>
                      <a:headEnd type="none" w="med" len="med"/>
                      <a:tailEnd type="none" w="med" len="med"/>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w="28575" cap="flat" cmpd="sng" algn="ctr">
                      <a:solidFill>
                        <a:schemeClr val="hlink"/>
                      </a:solidFill>
                      <a:prstDash val="solid"/>
                      <a:round/>
                      <a:headEnd type="none" w="med" len="med"/>
                      <a:tailEnd type="none" w="med" len="med"/>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chemeClr val="bg1"/>
                    </a:solidFill>
                  </a:tcPr>
                </a:tc>
              </a:tr>
              <a:tr h="279626">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r>
              <a:tr h="279626">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r>
              <a:tr h="279626">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r>
              <a:tr h="279626">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r>
              <a:tr h="279626">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r>
              <a:tr h="279626">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r>
              <a:tr h="279626">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r>
              <a:tr h="279626">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a:noFill/>
                    </a:lnB>
                    <a:lnTlToBr>
                      <a:noFill/>
                    </a:lnTlToBr>
                    <a:lnBlToTr>
                      <a:noFill/>
                    </a:lnBlToTr>
                    <a:solidFill>
                      <a:schemeClr val="bg1"/>
                    </a:solidFill>
                  </a:tcPr>
                </a:tc>
              </a:tr>
              <a:tr h="279626">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w="28575" cap="flat" cmpd="sng" algn="ctr">
                      <a:solidFill>
                        <a:schemeClr val="hlink"/>
                      </a:solidFill>
                      <a:prstDash val="solid"/>
                      <a:round/>
                      <a:headEnd type="none" w="med" len="med"/>
                      <a:tailEnd type="none" w="med" len="med"/>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w="28575" cap="flat" cmpd="sng" algn="ctr">
                      <a:solidFill>
                        <a:schemeClr val="hlink"/>
                      </a:solidFill>
                      <a:prstDash val="solid"/>
                      <a:round/>
                      <a:headEnd type="none" w="med" len="med"/>
                      <a:tailEnd type="none" w="med" len="med"/>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ts val="1500"/>
                        </a:lnSpc>
                        <a:spcBef>
                          <a:spcPct val="0"/>
                        </a:spcBef>
                        <a:spcAft>
                          <a:spcPct val="0"/>
                        </a:spcAft>
                        <a:buClrTx/>
                        <a:buSzTx/>
                        <a:buFontTx/>
                        <a:buNone/>
                        <a:tabLst>
                          <a:tab pos="544195" algn="l"/>
                        </a:tabLst>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b"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3" name="组合 45"/>
          <p:cNvGrpSpPr/>
          <p:nvPr/>
        </p:nvGrpSpPr>
        <p:grpSpPr>
          <a:xfrm>
            <a:off x="392434" y="769746"/>
            <a:ext cx="4410974" cy="420971"/>
            <a:chOff x="670560" y="892917"/>
            <a:chExt cx="4410974" cy="420971"/>
          </a:xfrm>
        </p:grpSpPr>
        <p:sp>
          <p:nvSpPr>
            <p:cNvPr id="47" name="矩形 46"/>
            <p:cNvSpPr/>
            <p:nvPr/>
          </p:nvSpPr>
          <p:spPr>
            <a:xfrm>
              <a:off x="1035233" y="913778"/>
              <a:ext cx="4046301"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8</a:t>
              </a:r>
              <a:r>
                <a:rPr lang="zh-CN" altLang="en-US" sz="2000" b="1" dirty="0">
                  <a:solidFill>
                    <a:srgbClr val="002060"/>
                  </a:solidFill>
                  <a:latin typeface="微软雅黑" panose="020B0503020204020204" pitchFamily="34" charset="-122"/>
                  <a:ea typeface="微软雅黑" panose="020B0503020204020204" pitchFamily="34" charset="-122"/>
                </a:rPr>
                <a:t>线</a:t>
              </a:r>
              <a:r>
                <a:rPr lang="en-US" altLang="zh-CN" sz="2000" b="1" dirty="0">
                  <a:solidFill>
                    <a:srgbClr val="002060"/>
                  </a:solidFill>
                  <a:latin typeface="微软雅黑" panose="020B0503020204020204" pitchFamily="34" charset="-122"/>
                  <a:ea typeface="微软雅黑" panose="020B0503020204020204" pitchFamily="34" charset="-122"/>
                </a:rPr>
                <a:t>-3</a:t>
              </a:r>
              <a:r>
                <a:rPr lang="zh-CN" altLang="en-US" sz="2000" b="1" dirty="0">
                  <a:solidFill>
                    <a:srgbClr val="002060"/>
                  </a:solidFill>
                  <a:latin typeface="微软雅黑" panose="020B0503020204020204" pitchFamily="34" charset="-122"/>
                  <a:ea typeface="微软雅黑" panose="020B0503020204020204" pitchFamily="34" charset="-122"/>
                </a:rPr>
                <a:t>线集成优先编码器</a:t>
              </a:r>
              <a:r>
                <a:rPr lang="en-US" altLang="zh-CN" sz="2000" b="1" dirty="0">
                  <a:solidFill>
                    <a:srgbClr val="002060"/>
                  </a:solidFill>
                  <a:latin typeface="微软雅黑" panose="020B0503020204020204" pitchFamily="34" charset="-122"/>
                  <a:ea typeface="微软雅黑" panose="020B0503020204020204" pitchFamily="34" charset="-122"/>
                </a:rPr>
                <a:t>-CD4532</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8"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1" name="圆角矩形 50"/>
          <p:cNvSpPr/>
          <p:nvPr/>
        </p:nvSpPr>
        <p:spPr>
          <a:xfrm>
            <a:off x="591938" y="1967766"/>
            <a:ext cx="5256371" cy="223882"/>
          </a:xfrm>
          <a:prstGeom prst="roundRect">
            <a:avLst/>
          </a:prstGeom>
          <a:solidFill>
            <a:srgbClr val="FF00FF">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圆角矩形 53"/>
          <p:cNvSpPr/>
          <p:nvPr/>
        </p:nvSpPr>
        <p:spPr>
          <a:xfrm>
            <a:off x="581866" y="2227548"/>
            <a:ext cx="306179" cy="2472520"/>
          </a:xfrm>
          <a:prstGeom prst="roundRect">
            <a:avLst/>
          </a:prstGeom>
          <a:solidFill>
            <a:srgbClr val="FF00FF">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圆角矩形 54"/>
          <p:cNvSpPr/>
          <p:nvPr/>
        </p:nvSpPr>
        <p:spPr>
          <a:xfrm>
            <a:off x="924175" y="2252569"/>
            <a:ext cx="4924134" cy="223882"/>
          </a:xfrm>
          <a:prstGeom prst="roundRect">
            <a:avLst/>
          </a:prstGeom>
          <a:solidFill>
            <a:srgbClr val="FF00FF">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圆角矩形 59"/>
          <p:cNvSpPr/>
          <p:nvPr/>
        </p:nvSpPr>
        <p:spPr>
          <a:xfrm>
            <a:off x="927819" y="2504542"/>
            <a:ext cx="4920490" cy="2187717"/>
          </a:xfrm>
          <a:prstGeom prst="roundRect">
            <a:avLst>
              <a:gd name="adj" fmla="val 3152"/>
            </a:avLst>
          </a:prstGeom>
          <a:solidFill>
            <a:srgbClr val="66FF66">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圆角矩形标注 86"/>
          <p:cNvSpPr/>
          <p:nvPr/>
        </p:nvSpPr>
        <p:spPr>
          <a:xfrm>
            <a:off x="6102256" y="1602638"/>
            <a:ext cx="2342497" cy="474415"/>
          </a:xfrm>
          <a:prstGeom prst="wedgeRoundRectCallout">
            <a:avLst>
              <a:gd name="adj1" fmla="val -61132"/>
              <a:gd name="adj2" fmla="val 48046"/>
              <a:gd name="adj3" fmla="val 16667"/>
            </a:avLst>
          </a:prstGeom>
          <a:solidFill>
            <a:schemeClr val="accent1">
              <a:lumMod val="20000"/>
              <a:lumOff val="80000"/>
            </a:schemeClr>
          </a:solidFill>
        </p:spPr>
        <p:style>
          <a:lnRef idx="2">
            <a:schemeClr val="accent5">
              <a:shade val="50000"/>
            </a:schemeClr>
          </a:lnRef>
          <a:fillRef idx="1">
            <a:schemeClr val="accent5"/>
          </a:fillRef>
          <a:effectRef idx="0">
            <a:schemeClr val="accent5"/>
          </a:effectRef>
          <a:fontRef idx="minor">
            <a:schemeClr val="lt1"/>
          </a:fontRef>
        </p:style>
        <p:txBody>
          <a:bodyPr lIns="36000" rIns="36000" rtlCol="0" anchor="ctr"/>
          <a:lstStyle/>
          <a:p>
            <a:r>
              <a:rPr lang="en-US" altLang="zh-CN" sz="1600" i="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EI</a:t>
            </a:r>
            <a:r>
              <a:rPr lang="zh-CN" altLang="en-US" sz="1600" dirty="0">
                <a:solidFill>
                  <a:schemeClr val="tx1"/>
                </a:solidFill>
                <a:latin typeface="黑体" panose="02010609060101010101" pitchFamily="49" charset="-122"/>
                <a:ea typeface="黑体" panose="02010609060101010101" pitchFamily="49" charset="-122"/>
              </a:rPr>
              <a:t>无效，编码器不工作。</a:t>
            </a:r>
            <a:endParaRPr lang="zh-CN" altLang="en-US" sz="1600" dirty="0">
              <a:solidFill>
                <a:schemeClr val="tx1"/>
              </a:solidFill>
              <a:latin typeface="黑体" panose="02010609060101010101" pitchFamily="49" charset="-122"/>
              <a:ea typeface="黑体" panose="02010609060101010101" pitchFamily="49" charset="-122"/>
            </a:endParaRPr>
          </a:p>
        </p:txBody>
      </p:sp>
      <p:sp>
        <p:nvSpPr>
          <p:cNvPr id="88" name="圆角矩形标注 87"/>
          <p:cNvSpPr/>
          <p:nvPr/>
        </p:nvSpPr>
        <p:spPr>
          <a:xfrm>
            <a:off x="6089154" y="2131553"/>
            <a:ext cx="2376288" cy="1257106"/>
          </a:xfrm>
          <a:prstGeom prst="wedgeRoundRectCallout">
            <a:avLst>
              <a:gd name="adj1" fmla="val -58952"/>
              <a:gd name="adj2" fmla="val -30191"/>
              <a:gd name="adj3" fmla="val 16667"/>
            </a:avLst>
          </a:prstGeom>
          <a:solidFill>
            <a:schemeClr val="accent1">
              <a:lumMod val="20000"/>
              <a:lumOff val="80000"/>
            </a:schemeClr>
          </a:solidFill>
        </p:spPr>
        <p:style>
          <a:lnRef idx="2">
            <a:schemeClr val="accent5">
              <a:shade val="50000"/>
            </a:schemeClr>
          </a:lnRef>
          <a:fillRef idx="1">
            <a:schemeClr val="accent5"/>
          </a:fillRef>
          <a:effectRef idx="0">
            <a:schemeClr val="accent5"/>
          </a:effectRef>
          <a:fontRef idx="minor">
            <a:schemeClr val="lt1"/>
          </a:fontRef>
        </p:style>
        <p:txBody>
          <a:bodyPr lIns="36000" rIns="36000" rtlCol="0" anchor="ctr"/>
          <a:lstStyle/>
          <a:p>
            <a:r>
              <a:rPr lang="zh-CN" altLang="en-US" sz="1600" dirty="0">
                <a:solidFill>
                  <a:schemeClr val="tx1"/>
                </a:solidFill>
                <a:latin typeface="黑体" panose="02010609060101010101" pitchFamily="49" charset="-122"/>
                <a:ea typeface="黑体" panose="02010609060101010101" pitchFamily="49" charset="-122"/>
              </a:rPr>
              <a:t>允许编码器工作，但不编码，</a:t>
            </a:r>
            <a:r>
              <a:rPr lang="en-US" altLang="zh-CN" sz="1600" i="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 GS</a:t>
            </a:r>
            <a:r>
              <a:rPr lang="en-US" altLang="zh-CN" sz="1600" dirty="0">
                <a:solidFill>
                  <a:schemeClr val="tx1"/>
                </a:solidFill>
                <a:latin typeface="黑体" panose="02010609060101010101" pitchFamily="49" charset="-122"/>
                <a:ea typeface="黑体" panose="02010609060101010101" pitchFamily="49" charset="-122"/>
              </a:rPr>
              <a:t>=0</a:t>
            </a:r>
            <a:r>
              <a:rPr lang="zh-CN" altLang="en-US" sz="1600" dirty="0">
                <a:solidFill>
                  <a:schemeClr val="tx1"/>
                </a:solidFill>
                <a:latin typeface="黑体" panose="02010609060101010101" pitchFamily="49" charset="-122"/>
                <a:ea typeface="黑体" panose="02010609060101010101" pitchFamily="49" charset="-122"/>
              </a:rPr>
              <a:t>指示无有效编码输入，</a:t>
            </a:r>
            <a:r>
              <a:rPr lang="en-US" altLang="zh-CN" sz="1600" i="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EO</a:t>
            </a:r>
            <a:r>
              <a:rPr lang="en-US" altLang="zh-CN" sz="16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16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，可级联低位片</a:t>
            </a:r>
            <a:r>
              <a:rPr lang="en-US" altLang="zh-CN" sz="1600" i="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EI</a:t>
            </a:r>
            <a:r>
              <a:rPr lang="zh-CN" altLang="en-US" sz="16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使能低位片工作。</a:t>
            </a:r>
            <a:endParaRPr lang="zh-CN" altLang="en-US" sz="1600" i="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45" name="组合 44"/>
          <p:cNvGrpSpPr/>
          <p:nvPr/>
        </p:nvGrpSpPr>
        <p:grpSpPr>
          <a:xfrm>
            <a:off x="5879468" y="2536322"/>
            <a:ext cx="2605817" cy="2093604"/>
            <a:chOff x="5879468" y="2536322"/>
            <a:chExt cx="2605817" cy="2093604"/>
          </a:xfrm>
        </p:grpSpPr>
        <p:sp>
          <p:nvSpPr>
            <p:cNvPr id="89" name="圆角矩形标注 88"/>
            <p:cNvSpPr/>
            <p:nvPr/>
          </p:nvSpPr>
          <p:spPr>
            <a:xfrm>
              <a:off x="6146389" y="3459032"/>
              <a:ext cx="2338896" cy="1069632"/>
            </a:xfrm>
            <a:prstGeom prst="wedgeRoundRectCallout">
              <a:avLst>
                <a:gd name="adj1" fmla="val -55643"/>
                <a:gd name="adj2" fmla="val -20989"/>
                <a:gd name="adj3" fmla="val 16667"/>
              </a:avLst>
            </a:prstGeom>
            <a:solidFill>
              <a:schemeClr val="accent1">
                <a:lumMod val="20000"/>
                <a:lumOff val="80000"/>
              </a:schemeClr>
            </a:solidFill>
          </p:spPr>
          <p:style>
            <a:lnRef idx="2">
              <a:schemeClr val="accent5">
                <a:shade val="50000"/>
              </a:schemeClr>
            </a:lnRef>
            <a:fillRef idx="1">
              <a:schemeClr val="accent5"/>
            </a:fillRef>
            <a:effectRef idx="0">
              <a:schemeClr val="accent5"/>
            </a:effectRef>
            <a:fontRef idx="minor">
              <a:schemeClr val="lt1"/>
            </a:fontRef>
          </p:style>
          <p:txBody>
            <a:bodyPr lIns="36000" rIns="36000" rtlCol="0" anchor="ctr"/>
            <a:lstStyle/>
            <a:p>
              <a:r>
                <a:rPr lang="zh-CN" altLang="en-US" sz="1600" dirty="0">
                  <a:solidFill>
                    <a:schemeClr val="tx1"/>
                  </a:solidFill>
                  <a:latin typeface="黑体" panose="02010609060101010101" pitchFamily="49" charset="-122"/>
                  <a:ea typeface="黑体" panose="02010609060101010101" pitchFamily="49" charset="-122"/>
                </a:rPr>
                <a:t>编码器正常编码。</a:t>
              </a:r>
              <a:r>
                <a:rPr lang="en-US" altLang="zh-CN" sz="1600" i="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GS</a:t>
              </a:r>
              <a:r>
                <a:rPr lang="en-US" altLang="zh-CN" sz="1600" dirty="0">
                  <a:solidFill>
                    <a:schemeClr val="tx1"/>
                  </a:solidFill>
                  <a:latin typeface="黑体" panose="02010609060101010101" pitchFamily="49" charset="-122"/>
                  <a:ea typeface="黑体" panose="02010609060101010101" pitchFamily="49" charset="-122"/>
                </a:rPr>
                <a:t>=1</a:t>
              </a:r>
              <a:r>
                <a:rPr lang="zh-CN" altLang="en-US" sz="1600" dirty="0">
                  <a:solidFill>
                    <a:schemeClr val="tx1"/>
                  </a:solidFill>
                  <a:latin typeface="黑体" panose="02010609060101010101" pitchFamily="49" charset="-122"/>
                  <a:ea typeface="黑体" panose="02010609060101010101" pitchFamily="49" charset="-122"/>
                </a:rPr>
                <a:t>指示编码器输入使能</a:t>
              </a:r>
              <a:r>
                <a:rPr lang="en-US" altLang="zh-CN" sz="1600" i="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EI</a:t>
              </a:r>
              <a:r>
                <a:rPr lang="zh-CN" altLang="en-US" sz="1600" dirty="0">
                  <a:solidFill>
                    <a:schemeClr val="tx1"/>
                  </a:solidFill>
                  <a:latin typeface="黑体" panose="02010609060101010101" pitchFamily="49" charset="-122"/>
                  <a:ea typeface="黑体" panose="02010609060101010101" pitchFamily="49" charset="-122"/>
                </a:rPr>
                <a:t>有效且有有效编码输入信号</a:t>
              </a:r>
              <a:r>
                <a:rPr lang="zh-CN" altLang="en-US" sz="1600" dirty="0">
                  <a:solidFill>
                    <a:schemeClr val="tx1"/>
                  </a:solidFill>
                  <a:latin typeface="Times New Roman" panose="02020603050405020304" pitchFamily="18" charset="0"/>
                  <a:ea typeface="黑体" panose="02010609060101010101" pitchFamily="49" charset="-122"/>
                  <a:cs typeface="Times New Roman" panose="02020603050405020304" pitchFamily="18" charset="0"/>
                </a:rPr>
                <a:t>。</a:t>
              </a:r>
              <a:endParaRPr lang="zh-CN" altLang="en-US" sz="1600" i="1" dirty="0">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p:txBody>
        </p:sp>
        <p:sp>
          <p:nvSpPr>
            <p:cNvPr id="90" name="右中括号 89"/>
            <p:cNvSpPr/>
            <p:nvPr/>
          </p:nvSpPr>
          <p:spPr>
            <a:xfrm>
              <a:off x="5879468" y="2536322"/>
              <a:ext cx="115852" cy="2093604"/>
            </a:xfrm>
            <a:prstGeom prst="rightBracket">
              <a:avLst>
                <a:gd name="adj" fmla="val 129761"/>
              </a:avLst>
            </a:prstGeom>
            <a:ln w="190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
        <p:nvSpPr>
          <p:cNvPr id="91" name="右箭头 90"/>
          <p:cNvSpPr/>
          <p:nvPr/>
        </p:nvSpPr>
        <p:spPr>
          <a:xfrm>
            <a:off x="972325" y="1575423"/>
            <a:ext cx="3049302" cy="435390"/>
          </a:xfrm>
          <a:prstGeom prst="rightArrow">
            <a:avLst>
              <a:gd name="adj1" fmla="val 50000"/>
              <a:gd name="adj2" fmla="val 69417"/>
            </a:avLst>
          </a:prstGeom>
          <a:solidFill>
            <a:srgbClr val="66FFCC">
              <a:alpha val="26000"/>
            </a:srgbClr>
          </a:solid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圆角矩形 45"/>
          <p:cNvSpPr/>
          <p:nvPr/>
        </p:nvSpPr>
        <p:spPr>
          <a:xfrm>
            <a:off x="927818" y="2536322"/>
            <a:ext cx="4252525" cy="223882"/>
          </a:xfrm>
          <a:prstGeom prst="roundRect">
            <a:avLst/>
          </a:prstGeom>
          <a:solidFill>
            <a:srgbClr val="FF00FF">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5" name="圆角矩形 74"/>
          <p:cNvSpPr/>
          <p:nvPr/>
        </p:nvSpPr>
        <p:spPr>
          <a:xfrm>
            <a:off x="927818" y="2781394"/>
            <a:ext cx="4252525" cy="223882"/>
          </a:xfrm>
          <a:prstGeom prst="roundRect">
            <a:avLst/>
          </a:prstGeom>
          <a:solidFill>
            <a:srgbClr val="FF00FF">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圆角矩形 75"/>
          <p:cNvSpPr/>
          <p:nvPr/>
        </p:nvSpPr>
        <p:spPr>
          <a:xfrm>
            <a:off x="919204" y="4488127"/>
            <a:ext cx="4252525" cy="223882"/>
          </a:xfrm>
          <a:prstGeom prst="roundRect">
            <a:avLst/>
          </a:prstGeom>
          <a:solidFill>
            <a:srgbClr val="FF00FF">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圆角矩形 76"/>
          <p:cNvSpPr/>
          <p:nvPr/>
        </p:nvSpPr>
        <p:spPr>
          <a:xfrm>
            <a:off x="5220117" y="2537371"/>
            <a:ext cx="266283" cy="2174637"/>
          </a:xfrm>
          <a:prstGeom prst="roundRect">
            <a:avLst/>
          </a:prstGeom>
          <a:solidFill>
            <a:srgbClr val="FF00FF">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圆角矩形 77"/>
          <p:cNvSpPr/>
          <p:nvPr/>
        </p:nvSpPr>
        <p:spPr>
          <a:xfrm>
            <a:off x="5590641" y="2525431"/>
            <a:ext cx="266283" cy="2174637"/>
          </a:xfrm>
          <a:prstGeom prst="roundRect">
            <a:avLst/>
          </a:prstGeom>
          <a:solidFill>
            <a:srgbClr val="FF00FF">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49"/>
                                        </p:tgtEl>
                                        <p:attrNameLst>
                                          <p:attrName>style.visibility</p:attrName>
                                        </p:attrNameLst>
                                      </p:cBhvr>
                                      <p:to>
                                        <p:strVal val="visible"/>
                                      </p:to>
                                    </p:set>
                                    <p:animEffect transition="in" filter="wipe(up)">
                                      <p:cBhvr>
                                        <p:cTn id="7" dur="1000"/>
                                        <p:tgtEl>
                                          <p:spTgt spid="4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1"/>
                                        </p:tgtEl>
                                        <p:attrNameLst>
                                          <p:attrName>style.visibility</p:attrName>
                                        </p:attrNameLst>
                                      </p:cBhvr>
                                      <p:to>
                                        <p:strVal val="visible"/>
                                      </p:to>
                                    </p:set>
                                    <p:animEffect transition="in" filter="wipe(left)">
                                      <p:cBhvr>
                                        <p:cTn id="12" dur="1000"/>
                                        <p:tgtEl>
                                          <p:spTgt spid="51"/>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87"/>
                                        </p:tgtEl>
                                        <p:attrNameLst>
                                          <p:attrName>style.visibility</p:attrName>
                                        </p:attrNameLst>
                                      </p:cBhvr>
                                      <p:to>
                                        <p:strVal val="visible"/>
                                      </p:to>
                                    </p:set>
                                    <p:animEffect transition="in" filter="wipe(left)">
                                      <p:cBhvr>
                                        <p:cTn id="16" dur="1000"/>
                                        <p:tgtEl>
                                          <p:spTgt spid="8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54"/>
                                        </p:tgtEl>
                                        <p:attrNameLst>
                                          <p:attrName>style.visibility</p:attrName>
                                        </p:attrNameLst>
                                      </p:cBhvr>
                                      <p:to>
                                        <p:strVal val="visible"/>
                                      </p:to>
                                    </p:set>
                                    <p:animEffect transition="in" filter="wipe(up)">
                                      <p:cBhvr>
                                        <p:cTn id="21" dur="1000"/>
                                        <p:tgtEl>
                                          <p:spTgt spid="54"/>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55"/>
                                        </p:tgtEl>
                                        <p:attrNameLst>
                                          <p:attrName>style.visibility</p:attrName>
                                        </p:attrNameLst>
                                      </p:cBhvr>
                                      <p:to>
                                        <p:strVal val="visible"/>
                                      </p:to>
                                    </p:set>
                                    <p:animEffect transition="in" filter="wipe(left)">
                                      <p:cBhvr>
                                        <p:cTn id="26" dur="1000"/>
                                        <p:tgtEl>
                                          <p:spTgt spid="55"/>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88"/>
                                        </p:tgtEl>
                                        <p:attrNameLst>
                                          <p:attrName>style.visibility</p:attrName>
                                        </p:attrNameLst>
                                      </p:cBhvr>
                                      <p:to>
                                        <p:strVal val="visible"/>
                                      </p:to>
                                    </p:set>
                                    <p:animEffect transition="in" filter="wipe(left)">
                                      <p:cBhvr>
                                        <p:cTn id="30" dur="1000"/>
                                        <p:tgtEl>
                                          <p:spTgt spid="88"/>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grpId="0" nodeType="click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wipe(up)">
                                      <p:cBhvr>
                                        <p:cTn id="35" dur="1000"/>
                                        <p:tgtEl>
                                          <p:spTgt spid="6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46"/>
                                        </p:tgtEl>
                                        <p:attrNameLst>
                                          <p:attrName>style.visibility</p:attrName>
                                        </p:attrNameLst>
                                      </p:cBhvr>
                                      <p:to>
                                        <p:strVal val="visible"/>
                                      </p:to>
                                    </p:set>
                                    <p:animEffect transition="in" filter="wipe(left)">
                                      <p:cBhvr>
                                        <p:cTn id="40" dur="1000"/>
                                        <p:tgtEl>
                                          <p:spTgt spid="46"/>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75"/>
                                        </p:tgtEl>
                                        <p:attrNameLst>
                                          <p:attrName>style.visibility</p:attrName>
                                        </p:attrNameLst>
                                      </p:cBhvr>
                                      <p:to>
                                        <p:strVal val="visible"/>
                                      </p:to>
                                    </p:set>
                                    <p:animEffect transition="in" filter="wipe(left)">
                                      <p:cBhvr>
                                        <p:cTn id="45" dur="1000"/>
                                        <p:tgtEl>
                                          <p:spTgt spid="75"/>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76"/>
                                        </p:tgtEl>
                                        <p:attrNameLst>
                                          <p:attrName>style.visibility</p:attrName>
                                        </p:attrNameLst>
                                      </p:cBhvr>
                                      <p:to>
                                        <p:strVal val="visible"/>
                                      </p:to>
                                    </p:set>
                                    <p:animEffect transition="in" filter="wipe(left)">
                                      <p:cBhvr>
                                        <p:cTn id="50" dur="1000"/>
                                        <p:tgtEl>
                                          <p:spTgt spid="76"/>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91"/>
                                        </p:tgtEl>
                                        <p:attrNameLst>
                                          <p:attrName>style.visibility</p:attrName>
                                        </p:attrNameLst>
                                      </p:cBhvr>
                                      <p:to>
                                        <p:strVal val="visible"/>
                                      </p:to>
                                    </p:set>
                                    <p:animEffect transition="in" filter="wipe(left)">
                                      <p:cBhvr>
                                        <p:cTn id="55" dur="1000"/>
                                        <p:tgtEl>
                                          <p:spTgt spid="91"/>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77"/>
                                        </p:tgtEl>
                                        <p:attrNameLst>
                                          <p:attrName>style.visibility</p:attrName>
                                        </p:attrNameLst>
                                      </p:cBhvr>
                                      <p:to>
                                        <p:strVal val="visible"/>
                                      </p:to>
                                    </p:set>
                                    <p:animEffect transition="in" filter="wipe(left)">
                                      <p:cBhvr>
                                        <p:cTn id="60" dur="1000"/>
                                        <p:tgtEl>
                                          <p:spTgt spid="77"/>
                                        </p:tgtEl>
                                      </p:cBhvr>
                                    </p:animEffect>
                                  </p:childTnLst>
                                </p:cTn>
                              </p:par>
                            </p:childTnLst>
                          </p:cTn>
                        </p:par>
                        <p:par>
                          <p:cTn id="61" fill="hold">
                            <p:stCondLst>
                              <p:cond delay="1000"/>
                            </p:stCondLst>
                            <p:childTnLst>
                              <p:par>
                                <p:cTn id="62" presetID="22" presetClass="entr" presetSubtype="8" fill="hold" nodeType="afterEffect">
                                  <p:stCondLst>
                                    <p:cond delay="0"/>
                                  </p:stCondLst>
                                  <p:childTnLst>
                                    <p:set>
                                      <p:cBhvr>
                                        <p:cTn id="63" dur="1" fill="hold">
                                          <p:stCondLst>
                                            <p:cond delay="0"/>
                                          </p:stCondLst>
                                        </p:cTn>
                                        <p:tgtEl>
                                          <p:spTgt spid="45"/>
                                        </p:tgtEl>
                                        <p:attrNameLst>
                                          <p:attrName>style.visibility</p:attrName>
                                        </p:attrNameLst>
                                      </p:cBhvr>
                                      <p:to>
                                        <p:strVal val="visible"/>
                                      </p:to>
                                    </p:set>
                                    <p:animEffect transition="in" filter="wipe(left)">
                                      <p:cBhvr>
                                        <p:cTn id="64" dur="1000"/>
                                        <p:tgtEl>
                                          <p:spTgt spid="45"/>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grpId="0" nodeType="clickEffect">
                                  <p:stCondLst>
                                    <p:cond delay="0"/>
                                  </p:stCondLst>
                                  <p:childTnLst>
                                    <p:set>
                                      <p:cBhvr>
                                        <p:cTn id="68" dur="1" fill="hold">
                                          <p:stCondLst>
                                            <p:cond delay="0"/>
                                          </p:stCondLst>
                                        </p:cTn>
                                        <p:tgtEl>
                                          <p:spTgt spid="78"/>
                                        </p:tgtEl>
                                        <p:attrNameLst>
                                          <p:attrName>style.visibility</p:attrName>
                                        </p:attrNameLst>
                                      </p:cBhvr>
                                      <p:to>
                                        <p:strVal val="visible"/>
                                      </p:to>
                                    </p:set>
                                    <p:animEffect transition="in" filter="wipe(left)">
                                      <p:cBhvr>
                                        <p:cTn id="69" dur="10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4" grpId="0" animBg="1"/>
      <p:bldP spid="55" grpId="0" animBg="1"/>
      <p:bldP spid="60" grpId="0" animBg="1"/>
      <p:bldP spid="87" grpId="0" animBg="1"/>
      <p:bldP spid="88" grpId="0" animBg="1"/>
      <p:bldP spid="91" grpId="0" animBg="1"/>
      <p:bldP spid="46" grpId="0" animBg="1"/>
      <p:bldP spid="75" grpId="0" animBg="1"/>
      <p:bldP spid="76" grpId="0" animBg="1"/>
      <p:bldP spid="77" grpId="0" animBg="1"/>
      <p:bldP spid="78"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8" name="组合 57"/>
          <p:cNvGrpSpPr/>
          <p:nvPr/>
        </p:nvGrpSpPr>
        <p:grpSpPr>
          <a:xfrm>
            <a:off x="3943918" y="1589933"/>
            <a:ext cx="3306277" cy="2571967"/>
            <a:chOff x="945426" y="3520731"/>
            <a:chExt cx="2687040" cy="1561981"/>
          </a:xfrm>
        </p:grpSpPr>
        <p:sp>
          <p:nvSpPr>
            <p:cNvPr id="59" name="圆角矩形 58"/>
            <p:cNvSpPr/>
            <p:nvPr/>
          </p:nvSpPr>
          <p:spPr>
            <a:xfrm>
              <a:off x="945426" y="3665111"/>
              <a:ext cx="2687040" cy="1417601"/>
            </a:xfrm>
            <a:prstGeom prst="roundRect">
              <a:avLst>
                <a:gd name="adj" fmla="val 4386"/>
              </a:avLst>
            </a:prstGeom>
            <a:noFill/>
            <a:ln w="19050">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流程图: 可选过程 59"/>
            <p:cNvSpPr/>
            <p:nvPr/>
          </p:nvSpPr>
          <p:spPr>
            <a:xfrm>
              <a:off x="1337152" y="3520731"/>
              <a:ext cx="1864943" cy="288000"/>
            </a:xfrm>
            <a:prstGeom prst="flowChartAlternateProcess">
              <a:avLst/>
            </a:prstGeom>
            <a:ln w="19050">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CD4532</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几种工作情况</a:t>
              </a:r>
              <a:endParaRPr lang="zh-CN" altLang="en-US" sz="1600" dirty="0"/>
            </a:p>
          </p:txBody>
        </p:sp>
      </p:grpSp>
      <p:graphicFrame>
        <p:nvGraphicFramePr>
          <p:cNvPr id="61" name="表格 60"/>
          <p:cNvGraphicFramePr>
            <a:graphicFrameLocks noGrp="1"/>
          </p:cNvGraphicFramePr>
          <p:nvPr/>
        </p:nvGraphicFramePr>
        <p:xfrm>
          <a:off x="3959642" y="2158810"/>
          <a:ext cx="3290552" cy="1987022"/>
        </p:xfrm>
        <a:graphic>
          <a:graphicData uri="http://schemas.openxmlformats.org/drawingml/2006/table">
            <a:tbl>
              <a:tblPr firstRow="1" bandRow="1">
                <a:tableStyleId>{5C22544A-7EE6-4342-B048-85BDC9FD1C3A}</a:tableStyleId>
              </a:tblPr>
              <a:tblGrid>
                <a:gridCol w="409925"/>
                <a:gridCol w="391881"/>
                <a:gridCol w="394920"/>
                <a:gridCol w="2093826"/>
              </a:tblGrid>
              <a:tr h="496258">
                <a:tc>
                  <a:txBody>
                    <a:bodyPr/>
                    <a:lstStyle/>
                    <a:p>
                      <a:pPr algn="ctr"/>
                      <a:r>
                        <a:rPr lang="en-US" altLang="zh-CN" sz="1600" b="0" i="1" dirty="0">
                          <a:ln>
                            <a:solidFill>
                              <a:sysClr val="windowText" lastClr="000000"/>
                            </a:solidFill>
                          </a:ln>
                          <a:solidFill>
                            <a:schemeClr val="tx1"/>
                          </a:solidFill>
                          <a:latin typeface="Times New Roman" panose="02020603050405020304" pitchFamily="18" charset="0"/>
                          <a:ea typeface="黑体" panose="02010609060101010101" pitchFamily="49" charset="-122"/>
                          <a:cs typeface="Times New Roman" panose="02020603050405020304" pitchFamily="18" charset="0"/>
                        </a:rPr>
                        <a:t>EI</a:t>
                      </a:r>
                      <a:endParaRPr lang="zh-CN" altLang="en-US" sz="1600" b="0" i="1" dirty="0">
                        <a:ln>
                          <a:solidFill>
                            <a:sysClr val="windowText" lastClr="000000"/>
                          </a:solidFill>
                        </a:ln>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a:lnL w="19050" cap="flat" cmpd="sng" algn="ctr">
                      <a:noFill/>
                      <a:prstDash val="solid"/>
                      <a:round/>
                      <a:headEnd type="none" w="med" len="med"/>
                      <a:tailEnd type="none" w="med" len="med"/>
                    </a:lnL>
                    <a:lnR w="19050" cap="flat" cmpd="sng" algn="ctr">
                      <a:solidFill>
                        <a:srgbClr val="6600FF"/>
                      </a:solidFill>
                      <a:prstDash val="solid"/>
                      <a:round/>
                      <a:headEnd type="none" w="med" len="med"/>
                      <a:tailEnd type="none" w="med" len="med"/>
                    </a:lnR>
                    <a:lnT w="19050" cap="flat" cmpd="sng" algn="ctr">
                      <a:solidFill>
                        <a:srgbClr val="6600FF"/>
                      </a:solidFill>
                      <a:prstDash val="solid"/>
                      <a:round/>
                      <a:headEnd type="none" w="med" len="med"/>
                      <a:tailEnd type="none" w="med" len="med"/>
                    </a:lnT>
                    <a:lnB w="19050" cap="flat" cmpd="sng" algn="ctr">
                      <a:solidFill>
                        <a:srgbClr val="6600FF"/>
                      </a:solidFill>
                      <a:prstDash val="solid"/>
                      <a:round/>
                      <a:headEnd type="none" w="med" len="med"/>
                      <a:tailEnd type="none" w="med" len="med"/>
                    </a:lnB>
                    <a:noFill/>
                  </a:tcPr>
                </a:tc>
                <a:tc>
                  <a:txBody>
                    <a:bodyPr/>
                    <a:lstStyle/>
                    <a:p>
                      <a:pPr algn="ctr"/>
                      <a:r>
                        <a:rPr lang="en-US" altLang="zh-CN" sz="1600" b="0" i="1" dirty="0">
                          <a:ln>
                            <a:solidFill>
                              <a:sysClr val="windowText" lastClr="000000"/>
                            </a:solidFill>
                          </a:ln>
                          <a:solidFill>
                            <a:schemeClr val="tx1"/>
                          </a:solidFill>
                          <a:latin typeface="Times New Roman" panose="02020603050405020304" pitchFamily="18" charset="0"/>
                          <a:ea typeface="黑体" panose="02010609060101010101" pitchFamily="49" charset="-122"/>
                          <a:cs typeface="Times New Roman" panose="02020603050405020304" pitchFamily="18" charset="0"/>
                        </a:rPr>
                        <a:t>GS</a:t>
                      </a:r>
                      <a:endParaRPr lang="zh-CN" altLang="en-US" sz="1600" b="0" i="1" dirty="0">
                        <a:ln>
                          <a:solidFill>
                            <a:sysClr val="windowText" lastClr="000000"/>
                          </a:solidFill>
                        </a:ln>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a:lnL w="19050" cap="flat" cmpd="sng" algn="ctr">
                      <a:solidFill>
                        <a:srgbClr val="6600FF"/>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6600FF"/>
                      </a:solidFill>
                      <a:prstDash val="solid"/>
                      <a:round/>
                      <a:headEnd type="none" w="med" len="med"/>
                      <a:tailEnd type="none" w="med" len="med"/>
                    </a:lnT>
                    <a:lnB w="19050" cap="flat" cmpd="sng" algn="ctr">
                      <a:solidFill>
                        <a:srgbClr val="6600FF"/>
                      </a:solidFill>
                      <a:prstDash val="solid"/>
                      <a:round/>
                      <a:headEnd type="none" w="med" len="med"/>
                      <a:tailEnd type="none" w="med" len="med"/>
                    </a:lnB>
                    <a:noFill/>
                  </a:tcPr>
                </a:tc>
                <a:tc>
                  <a:txBody>
                    <a:bodyPr/>
                    <a:lstStyle/>
                    <a:p>
                      <a:pPr algn="ctr"/>
                      <a:r>
                        <a:rPr lang="en-US" altLang="zh-CN" sz="1600" b="0" i="1" dirty="0">
                          <a:ln>
                            <a:solidFill>
                              <a:sysClr val="windowText" lastClr="000000"/>
                            </a:solidFill>
                          </a:ln>
                          <a:solidFill>
                            <a:schemeClr val="tx1"/>
                          </a:solidFill>
                          <a:latin typeface="Times New Roman" panose="02020603050405020304" pitchFamily="18" charset="0"/>
                          <a:ea typeface="黑体" panose="02010609060101010101" pitchFamily="49" charset="-122"/>
                          <a:cs typeface="Times New Roman" panose="02020603050405020304" pitchFamily="18" charset="0"/>
                        </a:rPr>
                        <a:t>EO</a:t>
                      </a:r>
                      <a:endParaRPr lang="zh-CN" altLang="en-US" sz="1600" b="0" i="1" dirty="0">
                        <a:ln>
                          <a:solidFill>
                            <a:sysClr val="windowText" lastClr="000000"/>
                          </a:solidFill>
                        </a:ln>
                        <a:solidFill>
                          <a:schemeClr val="tx1"/>
                        </a:solidFill>
                        <a:latin typeface="Times New Roman" panose="02020603050405020304" pitchFamily="18" charset="0"/>
                        <a:ea typeface="黑体" panose="02010609060101010101" pitchFamily="49" charset="-122"/>
                        <a:cs typeface="Times New Roman" panose="02020603050405020304" pitchFamily="18" charset="0"/>
                      </a:endParaRPr>
                    </a:p>
                  </a:txBody>
                  <a:tcPr marL="0" marR="0" marT="0" marB="0" anchor="ctr">
                    <a:lnL w="19050" cap="flat" cmpd="sng" algn="ctr">
                      <a:noFill/>
                      <a:prstDash val="solid"/>
                      <a:round/>
                      <a:headEnd type="none" w="med" len="med"/>
                      <a:tailEnd type="none" w="med" len="med"/>
                    </a:lnL>
                    <a:lnR w="19050" cap="flat" cmpd="sng" algn="ctr">
                      <a:solidFill>
                        <a:srgbClr val="6600FF"/>
                      </a:solidFill>
                      <a:prstDash val="solid"/>
                      <a:round/>
                      <a:headEnd type="none" w="med" len="med"/>
                      <a:tailEnd type="none" w="med" len="med"/>
                    </a:lnR>
                    <a:lnT w="19050" cap="flat" cmpd="sng" algn="ctr">
                      <a:solidFill>
                        <a:srgbClr val="6600FF"/>
                      </a:solidFill>
                      <a:prstDash val="solid"/>
                      <a:round/>
                      <a:headEnd type="none" w="med" len="med"/>
                      <a:tailEnd type="none" w="med" len="med"/>
                    </a:lnT>
                    <a:lnB w="19050" cap="flat" cmpd="sng" algn="ctr">
                      <a:solidFill>
                        <a:srgbClr val="6600FF"/>
                      </a:solidFill>
                      <a:prstDash val="solid"/>
                      <a:round/>
                      <a:headEnd type="none" w="med" len="med"/>
                      <a:tailEnd type="none" w="med" len="med"/>
                    </a:lnB>
                    <a:noFill/>
                  </a:tcPr>
                </a:tc>
                <a:tc>
                  <a:txBody>
                    <a:bodyPr/>
                    <a:lstStyle/>
                    <a:p>
                      <a:pPr algn="ctr"/>
                      <a:r>
                        <a:rPr lang="zh-CN" altLang="en-US" sz="1600" b="0" dirty="0">
                          <a:ln>
                            <a:solidFill>
                              <a:sysClr val="windowText" lastClr="000000"/>
                            </a:solidFill>
                          </a:ln>
                          <a:solidFill>
                            <a:schemeClr val="tx1"/>
                          </a:solidFill>
                          <a:latin typeface="黑体" panose="02010609060101010101" pitchFamily="49" charset="-122"/>
                          <a:ea typeface="黑体" panose="02010609060101010101" pitchFamily="49" charset="-122"/>
                        </a:rPr>
                        <a:t>工作情况</a:t>
                      </a:r>
                      <a:endParaRPr lang="zh-CN" altLang="en-US" sz="1600" b="0" dirty="0">
                        <a:ln>
                          <a:solidFill>
                            <a:sysClr val="windowText" lastClr="000000"/>
                          </a:solidFill>
                        </a:ln>
                        <a:solidFill>
                          <a:schemeClr val="tx1"/>
                        </a:solidFill>
                        <a:latin typeface="黑体" panose="02010609060101010101" pitchFamily="49" charset="-122"/>
                        <a:ea typeface="黑体" panose="02010609060101010101" pitchFamily="49" charset="-122"/>
                      </a:endParaRPr>
                    </a:p>
                  </a:txBody>
                  <a:tcPr marL="0" marR="0" marT="0" marB="0" anchor="ctr">
                    <a:lnL w="19050" cap="flat" cmpd="sng" algn="ctr">
                      <a:solidFill>
                        <a:srgbClr val="6600FF"/>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6600FF"/>
                      </a:solidFill>
                      <a:prstDash val="solid"/>
                      <a:round/>
                      <a:headEnd type="none" w="med" len="med"/>
                      <a:tailEnd type="none" w="med" len="med"/>
                    </a:lnT>
                    <a:lnB w="19050" cap="flat" cmpd="sng" algn="ctr">
                      <a:solidFill>
                        <a:srgbClr val="6600FF"/>
                      </a:solidFill>
                      <a:prstDash val="solid"/>
                      <a:round/>
                      <a:headEnd type="none" w="med" len="med"/>
                      <a:tailEnd type="none" w="med" len="med"/>
                    </a:lnB>
                    <a:noFill/>
                  </a:tcPr>
                </a:tc>
              </a:tr>
              <a:tr h="511115">
                <a:tc>
                  <a:txBody>
                    <a:bodyPr/>
                    <a:lstStyle/>
                    <a:p>
                      <a:pPr algn="ctr"/>
                      <a:r>
                        <a:rPr lang="en-US" altLang="zh-CN" sz="1600" b="0" dirty="0">
                          <a:ln>
                            <a:solidFill>
                              <a:sysClr val="windowText" lastClr="000000"/>
                            </a:solidFill>
                          </a:ln>
                          <a:solidFill>
                            <a:schemeClr val="tx1"/>
                          </a:solidFill>
                          <a:latin typeface="黑体" panose="02010609060101010101" pitchFamily="49" charset="-122"/>
                          <a:ea typeface="黑体" panose="02010609060101010101" pitchFamily="49" charset="-122"/>
                        </a:rPr>
                        <a:t>0</a:t>
                      </a:r>
                      <a:endParaRPr lang="zh-CN" altLang="en-US" sz="1600" b="0" dirty="0">
                        <a:ln>
                          <a:solidFill>
                            <a:sysClr val="windowText" lastClr="000000"/>
                          </a:solidFill>
                        </a:ln>
                        <a:solidFill>
                          <a:schemeClr val="tx1"/>
                        </a:solidFill>
                        <a:latin typeface="黑体" panose="02010609060101010101" pitchFamily="49" charset="-122"/>
                        <a:ea typeface="黑体" panose="02010609060101010101" pitchFamily="49" charset="-122"/>
                      </a:endParaRPr>
                    </a:p>
                  </a:txBody>
                  <a:tcPr marL="0" marR="0" marT="0" marB="0" anchor="ctr">
                    <a:lnL w="19050" cap="flat" cmpd="sng" algn="ctr">
                      <a:noFill/>
                      <a:prstDash val="solid"/>
                      <a:round/>
                      <a:headEnd type="none" w="med" len="med"/>
                      <a:tailEnd type="none" w="med" len="med"/>
                    </a:lnL>
                    <a:lnR w="19050" cap="flat" cmpd="sng" algn="ctr">
                      <a:solidFill>
                        <a:srgbClr val="6600FF"/>
                      </a:solidFill>
                      <a:prstDash val="solid"/>
                      <a:round/>
                      <a:headEnd type="none" w="med" len="med"/>
                      <a:tailEnd type="none" w="med" len="med"/>
                    </a:lnR>
                    <a:lnT w="19050" cap="flat" cmpd="sng" algn="ctr">
                      <a:solidFill>
                        <a:srgbClr val="6600FF"/>
                      </a:solidFill>
                      <a:prstDash val="solid"/>
                      <a:round/>
                      <a:headEnd type="none" w="med" len="med"/>
                      <a:tailEnd type="none" w="med" len="med"/>
                    </a:lnT>
                    <a:lnB w="19050" cap="flat" cmpd="sng" algn="ctr">
                      <a:noFill/>
                      <a:prstDash val="solid"/>
                      <a:round/>
                      <a:headEnd type="none" w="med" len="med"/>
                      <a:tailEnd type="none" w="med" len="med"/>
                    </a:lnB>
                    <a:noFill/>
                  </a:tcPr>
                </a:tc>
                <a:tc>
                  <a:txBody>
                    <a:bodyPr/>
                    <a:lstStyle/>
                    <a:p>
                      <a:pPr algn="ctr"/>
                      <a:r>
                        <a:rPr lang="en-US" altLang="zh-CN" sz="1600" b="0" dirty="0">
                          <a:ln>
                            <a:solidFill>
                              <a:sysClr val="windowText" lastClr="000000"/>
                            </a:solidFill>
                          </a:ln>
                          <a:solidFill>
                            <a:schemeClr val="tx1"/>
                          </a:solidFill>
                          <a:latin typeface="黑体" panose="02010609060101010101" pitchFamily="49" charset="-122"/>
                          <a:ea typeface="黑体" panose="02010609060101010101" pitchFamily="49" charset="-122"/>
                        </a:rPr>
                        <a:t>0</a:t>
                      </a:r>
                      <a:endParaRPr lang="zh-CN" altLang="en-US" sz="1600" b="0" dirty="0">
                        <a:ln>
                          <a:solidFill>
                            <a:sysClr val="windowText" lastClr="000000"/>
                          </a:solidFill>
                        </a:ln>
                        <a:solidFill>
                          <a:schemeClr val="tx1"/>
                        </a:solidFill>
                        <a:latin typeface="黑体" panose="02010609060101010101" pitchFamily="49" charset="-122"/>
                        <a:ea typeface="黑体" panose="02010609060101010101" pitchFamily="49" charset="-122"/>
                      </a:endParaRPr>
                    </a:p>
                  </a:txBody>
                  <a:tcPr marL="0" marR="0" marT="0" marB="0" anchor="ctr">
                    <a:lnL w="19050" cap="flat" cmpd="sng" algn="ctr">
                      <a:solidFill>
                        <a:srgbClr val="6600FF"/>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6600FF"/>
                      </a:solidFill>
                      <a:prstDash val="solid"/>
                      <a:round/>
                      <a:headEnd type="none" w="med" len="med"/>
                      <a:tailEnd type="none" w="med" len="med"/>
                    </a:lnT>
                    <a:lnB w="19050" cap="flat" cmpd="sng" algn="ctr">
                      <a:noFill/>
                      <a:prstDash val="solid"/>
                      <a:round/>
                      <a:headEnd type="none" w="med" len="med"/>
                      <a:tailEnd type="none" w="med" len="med"/>
                    </a:lnB>
                    <a:noFill/>
                  </a:tcPr>
                </a:tc>
                <a:tc>
                  <a:txBody>
                    <a:bodyPr/>
                    <a:lstStyle/>
                    <a:p>
                      <a:pPr algn="ctr"/>
                      <a:r>
                        <a:rPr lang="en-US" altLang="zh-CN" sz="1600" b="0" dirty="0">
                          <a:ln>
                            <a:solidFill>
                              <a:sysClr val="windowText" lastClr="000000"/>
                            </a:solidFill>
                          </a:ln>
                          <a:solidFill>
                            <a:schemeClr val="tx1"/>
                          </a:solidFill>
                          <a:latin typeface="黑体" panose="02010609060101010101" pitchFamily="49" charset="-122"/>
                          <a:ea typeface="黑体" panose="02010609060101010101" pitchFamily="49" charset="-122"/>
                        </a:rPr>
                        <a:t>0</a:t>
                      </a:r>
                      <a:endParaRPr lang="zh-CN" altLang="en-US" sz="1600" b="0" dirty="0">
                        <a:ln>
                          <a:solidFill>
                            <a:sysClr val="windowText" lastClr="000000"/>
                          </a:solidFill>
                        </a:ln>
                        <a:solidFill>
                          <a:schemeClr val="tx1"/>
                        </a:solidFill>
                        <a:latin typeface="黑体" panose="02010609060101010101" pitchFamily="49" charset="-122"/>
                        <a:ea typeface="黑体" panose="02010609060101010101" pitchFamily="49" charset="-122"/>
                      </a:endParaRPr>
                    </a:p>
                  </a:txBody>
                  <a:tcPr marL="0" marR="0" marT="0" marB="0" anchor="ctr">
                    <a:lnL w="19050" cap="flat" cmpd="sng" algn="ctr">
                      <a:noFill/>
                      <a:prstDash val="solid"/>
                      <a:round/>
                      <a:headEnd type="none" w="med" len="med"/>
                      <a:tailEnd type="none" w="med" len="med"/>
                    </a:lnL>
                    <a:lnR w="19050" cap="flat" cmpd="sng" algn="ctr">
                      <a:solidFill>
                        <a:srgbClr val="6600FF"/>
                      </a:solidFill>
                      <a:prstDash val="solid"/>
                      <a:round/>
                      <a:headEnd type="none" w="med" len="med"/>
                      <a:tailEnd type="none" w="med" len="med"/>
                    </a:lnR>
                    <a:lnT w="19050" cap="flat" cmpd="sng" algn="ctr">
                      <a:solidFill>
                        <a:srgbClr val="6600FF"/>
                      </a:solidFill>
                      <a:prstDash val="solid"/>
                      <a:round/>
                      <a:headEnd type="none" w="med" len="med"/>
                      <a:tailEnd type="none" w="med" len="med"/>
                    </a:lnT>
                    <a:lnB w="19050" cap="flat" cmpd="sng" algn="ctr">
                      <a:noFill/>
                      <a:prstDash val="solid"/>
                      <a:round/>
                      <a:headEnd type="none" w="med" len="med"/>
                      <a:tailEnd type="none" w="med" len="med"/>
                    </a:lnB>
                    <a:noFill/>
                  </a:tcPr>
                </a:tc>
                <a:tc>
                  <a:txBody>
                    <a:bodyPr/>
                    <a:lstStyle/>
                    <a:p>
                      <a:pPr algn="ctr"/>
                      <a:r>
                        <a:rPr lang="zh-CN" altLang="en-US" sz="1600" b="0" dirty="0">
                          <a:ln>
                            <a:solidFill>
                              <a:sysClr val="windowText" lastClr="000000"/>
                            </a:solidFill>
                          </a:ln>
                          <a:solidFill>
                            <a:schemeClr val="tx1"/>
                          </a:solidFill>
                          <a:latin typeface="黑体" panose="02010609060101010101" pitchFamily="49" charset="-122"/>
                          <a:ea typeface="黑体" panose="02010609060101010101" pitchFamily="49" charset="-122"/>
                        </a:rPr>
                        <a:t>禁止工作</a:t>
                      </a:r>
                      <a:endParaRPr lang="zh-CN" altLang="en-US" sz="1600" b="0" dirty="0">
                        <a:ln>
                          <a:solidFill>
                            <a:sysClr val="windowText" lastClr="000000"/>
                          </a:solidFill>
                        </a:ln>
                        <a:solidFill>
                          <a:schemeClr val="tx1"/>
                        </a:solidFill>
                        <a:latin typeface="黑体" panose="02010609060101010101" pitchFamily="49" charset="-122"/>
                        <a:ea typeface="黑体" panose="02010609060101010101" pitchFamily="49" charset="-122"/>
                      </a:endParaRPr>
                    </a:p>
                  </a:txBody>
                  <a:tcPr marL="0" marR="0" marT="0" marB="0" anchor="ctr">
                    <a:lnL w="19050" cap="flat" cmpd="sng" algn="ctr">
                      <a:solidFill>
                        <a:srgbClr val="6600FF"/>
                      </a:solid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rgbClr val="6600FF"/>
                      </a:solidFill>
                      <a:prstDash val="solid"/>
                      <a:round/>
                      <a:headEnd type="none" w="med" len="med"/>
                      <a:tailEnd type="none" w="med" len="med"/>
                    </a:lnT>
                    <a:lnB w="19050" cap="flat" cmpd="sng" algn="ctr">
                      <a:noFill/>
                      <a:prstDash val="solid"/>
                      <a:round/>
                      <a:headEnd type="none" w="med" len="med"/>
                      <a:tailEnd type="none" w="med" len="med"/>
                    </a:lnB>
                    <a:noFill/>
                  </a:tcPr>
                </a:tc>
              </a:tr>
              <a:tr h="511115">
                <a:tc>
                  <a:txBody>
                    <a:bodyPr/>
                    <a:lstStyle/>
                    <a:p>
                      <a:pPr algn="ctr"/>
                      <a:r>
                        <a:rPr lang="en-US" altLang="zh-CN" sz="1600" b="0" dirty="0">
                          <a:ln>
                            <a:solidFill>
                              <a:sysClr val="windowText" lastClr="000000"/>
                            </a:solidFill>
                          </a:ln>
                          <a:solidFill>
                            <a:schemeClr val="tx1"/>
                          </a:solidFill>
                          <a:latin typeface="黑体" panose="02010609060101010101" pitchFamily="49" charset="-122"/>
                          <a:ea typeface="黑体" panose="02010609060101010101" pitchFamily="49" charset="-122"/>
                        </a:rPr>
                        <a:t>1</a:t>
                      </a:r>
                      <a:endParaRPr lang="zh-CN" altLang="en-US" sz="1600" b="0" dirty="0">
                        <a:ln>
                          <a:solidFill>
                            <a:sysClr val="windowText" lastClr="000000"/>
                          </a:solidFill>
                        </a:ln>
                        <a:solidFill>
                          <a:schemeClr val="tx1"/>
                        </a:solidFill>
                        <a:latin typeface="黑体" panose="02010609060101010101" pitchFamily="49" charset="-122"/>
                        <a:ea typeface="黑体" panose="02010609060101010101" pitchFamily="49" charset="-122"/>
                      </a:endParaRPr>
                    </a:p>
                  </a:txBody>
                  <a:tcPr marL="0" marR="0" marT="0" marB="0" anchor="ctr">
                    <a:lnL w="19050" cap="flat" cmpd="sng" algn="ctr">
                      <a:noFill/>
                      <a:prstDash val="solid"/>
                      <a:round/>
                      <a:headEnd type="none" w="med" len="med"/>
                      <a:tailEnd type="none" w="med" len="med"/>
                    </a:lnL>
                    <a:lnR w="19050" cap="flat" cmpd="sng" algn="ctr">
                      <a:solidFill>
                        <a:srgbClr val="6600FF"/>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noFill/>
                  </a:tcPr>
                </a:tc>
                <a:tc>
                  <a:txBody>
                    <a:bodyPr/>
                    <a:lstStyle/>
                    <a:p>
                      <a:pPr algn="ctr"/>
                      <a:r>
                        <a:rPr lang="en-US" altLang="zh-CN" sz="1600" b="0" dirty="0">
                          <a:ln>
                            <a:solidFill>
                              <a:sysClr val="windowText" lastClr="000000"/>
                            </a:solidFill>
                          </a:ln>
                          <a:solidFill>
                            <a:schemeClr val="tx1"/>
                          </a:solidFill>
                          <a:latin typeface="黑体" panose="02010609060101010101" pitchFamily="49" charset="-122"/>
                          <a:ea typeface="黑体" panose="02010609060101010101" pitchFamily="49" charset="-122"/>
                        </a:rPr>
                        <a:t>0</a:t>
                      </a:r>
                      <a:endParaRPr lang="zh-CN" altLang="en-US" sz="1600" b="0" dirty="0">
                        <a:ln>
                          <a:solidFill>
                            <a:sysClr val="windowText" lastClr="000000"/>
                          </a:solidFill>
                        </a:ln>
                        <a:solidFill>
                          <a:schemeClr val="tx1"/>
                        </a:solidFill>
                        <a:latin typeface="黑体" panose="02010609060101010101" pitchFamily="49" charset="-122"/>
                        <a:ea typeface="黑体" panose="02010609060101010101" pitchFamily="49" charset="-122"/>
                      </a:endParaRPr>
                    </a:p>
                  </a:txBody>
                  <a:tcPr marL="0" marR="0" marT="0" marB="0" anchor="ctr">
                    <a:lnL w="19050" cap="flat" cmpd="sng" algn="ctr">
                      <a:solidFill>
                        <a:srgbClr val="6600FF"/>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noFill/>
                  </a:tcPr>
                </a:tc>
                <a:tc>
                  <a:txBody>
                    <a:bodyPr/>
                    <a:lstStyle/>
                    <a:p>
                      <a:pPr algn="ctr"/>
                      <a:r>
                        <a:rPr lang="en-US" altLang="zh-CN" sz="1600" b="0" dirty="0">
                          <a:ln>
                            <a:solidFill>
                              <a:sysClr val="windowText" lastClr="000000"/>
                            </a:solidFill>
                          </a:ln>
                          <a:solidFill>
                            <a:schemeClr val="tx1"/>
                          </a:solidFill>
                          <a:latin typeface="黑体" panose="02010609060101010101" pitchFamily="49" charset="-122"/>
                          <a:ea typeface="黑体" panose="02010609060101010101" pitchFamily="49" charset="-122"/>
                        </a:rPr>
                        <a:t>1</a:t>
                      </a:r>
                      <a:endParaRPr lang="zh-CN" altLang="en-US" sz="1600" b="0" dirty="0">
                        <a:ln>
                          <a:solidFill>
                            <a:sysClr val="windowText" lastClr="000000"/>
                          </a:solidFill>
                        </a:ln>
                        <a:solidFill>
                          <a:schemeClr val="tx1"/>
                        </a:solidFill>
                        <a:latin typeface="黑体" panose="02010609060101010101" pitchFamily="49" charset="-122"/>
                        <a:ea typeface="黑体" panose="02010609060101010101" pitchFamily="49" charset="-122"/>
                      </a:endParaRPr>
                    </a:p>
                  </a:txBody>
                  <a:tcPr marL="0" marR="0" marT="0" marB="0" anchor="ctr">
                    <a:lnL w="19050" cap="flat" cmpd="sng" algn="ctr">
                      <a:noFill/>
                      <a:prstDash val="solid"/>
                      <a:round/>
                      <a:headEnd type="none" w="med" len="med"/>
                      <a:tailEnd type="none" w="med" len="med"/>
                    </a:lnL>
                    <a:lnR w="19050" cap="flat" cmpd="sng" algn="ctr">
                      <a:solidFill>
                        <a:srgbClr val="6600FF"/>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noFill/>
                  </a:tcPr>
                </a:tc>
                <a:tc>
                  <a:txBody>
                    <a:bodyPr/>
                    <a:lstStyle/>
                    <a:p>
                      <a:pPr algn="ctr"/>
                      <a:r>
                        <a:rPr lang="zh-CN" altLang="en-US" sz="1600" b="0" dirty="0">
                          <a:ln>
                            <a:solidFill>
                              <a:sysClr val="windowText" lastClr="000000"/>
                            </a:solidFill>
                          </a:ln>
                          <a:solidFill>
                            <a:schemeClr val="tx1"/>
                          </a:solidFill>
                          <a:latin typeface="黑体" panose="02010609060101010101" pitchFamily="49" charset="-122"/>
                          <a:ea typeface="黑体" panose="02010609060101010101" pitchFamily="49" charset="-122"/>
                        </a:rPr>
                        <a:t>允许工作</a:t>
                      </a:r>
                      <a:r>
                        <a:rPr lang="en-US" altLang="zh-CN" sz="1600" b="0" dirty="0">
                          <a:ln>
                            <a:solidFill>
                              <a:sysClr val="windowText" lastClr="000000"/>
                            </a:solidFill>
                          </a:ln>
                          <a:solidFill>
                            <a:schemeClr val="tx1"/>
                          </a:solidFill>
                          <a:latin typeface="黑体" panose="02010609060101010101" pitchFamily="49" charset="-122"/>
                          <a:ea typeface="黑体" panose="02010609060101010101" pitchFamily="49" charset="-122"/>
                        </a:rPr>
                        <a:t>(</a:t>
                      </a:r>
                      <a:r>
                        <a:rPr lang="zh-CN" altLang="en-US" sz="1600" b="0" dirty="0">
                          <a:ln>
                            <a:solidFill>
                              <a:sysClr val="windowText" lastClr="000000"/>
                            </a:solidFill>
                          </a:ln>
                          <a:solidFill>
                            <a:schemeClr val="tx1"/>
                          </a:solidFill>
                          <a:latin typeface="黑体" panose="02010609060101010101" pitchFamily="49" charset="-122"/>
                          <a:ea typeface="黑体" panose="02010609060101010101" pitchFamily="49" charset="-122"/>
                        </a:rPr>
                        <a:t>无输入，不编码，使能低位片</a:t>
                      </a:r>
                      <a:r>
                        <a:rPr lang="en-US" altLang="zh-CN" sz="1600" b="0" dirty="0">
                          <a:ln>
                            <a:solidFill>
                              <a:sysClr val="windowText" lastClr="000000"/>
                            </a:solidFill>
                          </a:ln>
                          <a:solidFill>
                            <a:schemeClr val="tx1"/>
                          </a:solidFill>
                          <a:latin typeface="黑体" panose="02010609060101010101" pitchFamily="49" charset="-122"/>
                          <a:ea typeface="黑体" panose="02010609060101010101" pitchFamily="49" charset="-122"/>
                        </a:rPr>
                        <a:t>)</a:t>
                      </a:r>
                      <a:endParaRPr lang="zh-CN" altLang="en-US" sz="1600" b="0" dirty="0">
                        <a:ln>
                          <a:solidFill>
                            <a:sysClr val="windowText" lastClr="000000"/>
                          </a:solidFill>
                        </a:ln>
                        <a:solidFill>
                          <a:schemeClr val="tx1"/>
                        </a:solidFill>
                        <a:latin typeface="黑体" panose="02010609060101010101" pitchFamily="49" charset="-122"/>
                        <a:ea typeface="黑体" panose="02010609060101010101" pitchFamily="49" charset="-122"/>
                      </a:endParaRPr>
                    </a:p>
                  </a:txBody>
                  <a:tcPr marL="0" marR="0" marT="0" marB="0" anchor="ctr">
                    <a:lnL w="19050" cap="flat" cmpd="sng" algn="ctr">
                      <a:solidFill>
                        <a:srgbClr val="6600FF"/>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noFill/>
                  </a:tcPr>
                </a:tc>
              </a:tr>
              <a:tr h="468534">
                <a:tc>
                  <a:txBody>
                    <a:bodyPr/>
                    <a:lstStyle/>
                    <a:p>
                      <a:pPr algn="ctr"/>
                      <a:r>
                        <a:rPr lang="en-US" altLang="zh-CN" sz="1600" b="0" dirty="0">
                          <a:ln>
                            <a:solidFill>
                              <a:sysClr val="windowText" lastClr="000000"/>
                            </a:solidFill>
                          </a:ln>
                          <a:solidFill>
                            <a:schemeClr val="tx1"/>
                          </a:solidFill>
                          <a:latin typeface="黑体" panose="02010609060101010101" pitchFamily="49" charset="-122"/>
                          <a:ea typeface="黑体" panose="02010609060101010101" pitchFamily="49" charset="-122"/>
                        </a:rPr>
                        <a:t>1</a:t>
                      </a:r>
                      <a:endParaRPr lang="zh-CN" altLang="en-US" sz="1600" b="0" dirty="0">
                        <a:ln>
                          <a:solidFill>
                            <a:sysClr val="windowText" lastClr="000000"/>
                          </a:solidFill>
                        </a:ln>
                        <a:solidFill>
                          <a:schemeClr val="tx1"/>
                        </a:solidFill>
                        <a:latin typeface="黑体" panose="02010609060101010101" pitchFamily="49" charset="-122"/>
                        <a:ea typeface="黑体" panose="02010609060101010101" pitchFamily="49" charset="-122"/>
                      </a:endParaRPr>
                    </a:p>
                  </a:txBody>
                  <a:tcPr marL="0" marR="0" marT="0" marB="0" anchor="ctr">
                    <a:lnL w="19050" cap="flat" cmpd="sng" algn="ctr">
                      <a:noFill/>
                      <a:prstDash val="solid"/>
                      <a:round/>
                      <a:headEnd type="none" w="med" len="med"/>
                      <a:tailEnd type="none" w="med" len="med"/>
                    </a:lnL>
                    <a:lnR w="19050" cap="flat" cmpd="sng" algn="ctr">
                      <a:solidFill>
                        <a:srgbClr val="6600FF"/>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noFill/>
                  </a:tcPr>
                </a:tc>
                <a:tc>
                  <a:txBody>
                    <a:bodyPr/>
                    <a:lstStyle/>
                    <a:p>
                      <a:pPr algn="ctr"/>
                      <a:r>
                        <a:rPr lang="en-US" altLang="zh-CN" sz="1600" b="0" dirty="0">
                          <a:ln>
                            <a:solidFill>
                              <a:sysClr val="windowText" lastClr="000000"/>
                            </a:solidFill>
                          </a:ln>
                          <a:solidFill>
                            <a:schemeClr val="tx1"/>
                          </a:solidFill>
                          <a:latin typeface="黑体" panose="02010609060101010101" pitchFamily="49" charset="-122"/>
                          <a:ea typeface="黑体" panose="02010609060101010101" pitchFamily="49" charset="-122"/>
                        </a:rPr>
                        <a:t>1</a:t>
                      </a:r>
                      <a:endParaRPr lang="zh-CN" altLang="en-US" sz="1600" b="0" dirty="0">
                        <a:ln>
                          <a:solidFill>
                            <a:sysClr val="windowText" lastClr="000000"/>
                          </a:solidFill>
                        </a:ln>
                        <a:solidFill>
                          <a:schemeClr val="tx1"/>
                        </a:solidFill>
                        <a:latin typeface="黑体" panose="02010609060101010101" pitchFamily="49" charset="-122"/>
                        <a:ea typeface="黑体" panose="02010609060101010101" pitchFamily="49" charset="-122"/>
                      </a:endParaRPr>
                    </a:p>
                  </a:txBody>
                  <a:tcPr marL="0" marR="0" marT="0" marB="0" anchor="ctr">
                    <a:lnL w="19050" cap="flat" cmpd="sng" algn="ctr">
                      <a:solidFill>
                        <a:srgbClr val="6600FF"/>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noFill/>
                  </a:tcPr>
                </a:tc>
                <a:tc>
                  <a:txBody>
                    <a:bodyPr/>
                    <a:lstStyle/>
                    <a:p>
                      <a:pPr algn="ctr"/>
                      <a:r>
                        <a:rPr lang="en-US" altLang="zh-CN" sz="1600" b="0" dirty="0">
                          <a:ln>
                            <a:solidFill>
                              <a:sysClr val="windowText" lastClr="000000"/>
                            </a:solidFill>
                          </a:ln>
                          <a:solidFill>
                            <a:schemeClr val="tx1"/>
                          </a:solidFill>
                          <a:latin typeface="黑体" panose="02010609060101010101" pitchFamily="49" charset="-122"/>
                          <a:ea typeface="黑体" panose="02010609060101010101" pitchFamily="49" charset="-122"/>
                        </a:rPr>
                        <a:t>0</a:t>
                      </a:r>
                      <a:endParaRPr lang="zh-CN" altLang="en-US" sz="1600" b="0" dirty="0">
                        <a:ln>
                          <a:solidFill>
                            <a:sysClr val="windowText" lastClr="000000"/>
                          </a:solidFill>
                        </a:ln>
                        <a:solidFill>
                          <a:schemeClr val="tx1"/>
                        </a:solidFill>
                        <a:latin typeface="黑体" panose="02010609060101010101" pitchFamily="49" charset="-122"/>
                        <a:ea typeface="黑体" panose="02010609060101010101" pitchFamily="49" charset="-122"/>
                      </a:endParaRPr>
                    </a:p>
                  </a:txBody>
                  <a:tcPr marL="0" marR="0" marT="0" marB="0" anchor="ctr">
                    <a:lnL w="19050" cap="flat" cmpd="sng" algn="ctr">
                      <a:noFill/>
                      <a:prstDash val="solid"/>
                      <a:round/>
                      <a:headEnd type="none" w="med" len="med"/>
                      <a:tailEnd type="none" w="med" len="med"/>
                    </a:lnL>
                    <a:lnR w="19050" cap="flat" cmpd="sng" algn="ctr">
                      <a:solidFill>
                        <a:srgbClr val="6600FF"/>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noFill/>
                  </a:tcPr>
                </a:tc>
                <a:tc>
                  <a:txBody>
                    <a:bodyPr/>
                    <a:lstStyle/>
                    <a:p>
                      <a:pPr algn="ctr"/>
                      <a:r>
                        <a:rPr lang="zh-CN" altLang="en-US" sz="1600" b="0" dirty="0">
                          <a:ln>
                            <a:solidFill>
                              <a:sysClr val="windowText" lastClr="000000"/>
                            </a:solidFill>
                          </a:ln>
                          <a:solidFill>
                            <a:schemeClr val="tx1"/>
                          </a:solidFill>
                          <a:latin typeface="黑体" panose="02010609060101010101" pitchFamily="49" charset="-122"/>
                          <a:ea typeface="黑体" panose="02010609060101010101" pitchFamily="49" charset="-122"/>
                        </a:rPr>
                        <a:t>工作</a:t>
                      </a:r>
                      <a:r>
                        <a:rPr lang="en-US" altLang="zh-CN" sz="1600" b="0" dirty="0">
                          <a:ln>
                            <a:solidFill>
                              <a:sysClr val="windowText" lastClr="000000"/>
                            </a:solidFill>
                          </a:ln>
                          <a:solidFill>
                            <a:schemeClr val="tx1"/>
                          </a:solidFill>
                          <a:latin typeface="黑体" panose="02010609060101010101" pitchFamily="49" charset="-122"/>
                          <a:ea typeface="黑体" panose="02010609060101010101" pitchFamily="49" charset="-122"/>
                        </a:rPr>
                        <a:t>(</a:t>
                      </a:r>
                      <a:r>
                        <a:rPr lang="zh-CN" altLang="en-US" sz="1600" b="0" dirty="0">
                          <a:ln>
                            <a:solidFill>
                              <a:sysClr val="windowText" lastClr="000000"/>
                            </a:solidFill>
                          </a:ln>
                          <a:solidFill>
                            <a:schemeClr val="tx1"/>
                          </a:solidFill>
                          <a:latin typeface="黑体" panose="02010609060101010101" pitchFamily="49" charset="-122"/>
                          <a:ea typeface="黑体" panose="02010609060101010101" pitchFamily="49" charset="-122"/>
                        </a:rPr>
                        <a:t>正常编码</a:t>
                      </a:r>
                      <a:r>
                        <a:rPr lang="en-US" altLang="zh-CN" sz="1600" b="0" dirty="0">
                          <a:ln>
                            <a:solidFill>
                              <a:sysClr val="windowText" lastClr="000000"/>
                            </a:solidFill>
                          </a:ln>
                          <a:solidFill>
                            <a:schemeClr val="tx1"/>
                          </a:solidFill>
                          <a:latin typeface="黑体" panose="02010609060101010101" pitchFamily="49" charset="-122"/>
                          <a:ea typeface="黑体" panose="02010609060101010101" pitchFamily="49" charset="-122"/>
                        </a:rPr>
                        <a:t>)</a:t>
                      </a:r>
                      <a:endParaRPr lang="zh-CN" altLang="en-US" sz="1600" b="0" dirty="0">
                        <a:ln>
                          <a:solidFill>
                            <a:sysClr val="windowText" lastClr="000000"/>
                          </a:solidFill>
                        </a:ln>
                        <a:solidFill>
                          <a:schemeClr val="tx1"/>
                        </a:solidFill>
                        <a:latin typeface="黑体" panose="02010609060101010101" pitchFamily="49" charset="-122"/>
                        <a:ea typeface="黑体" panose="02010609060101010101" pitchFamily="49" charset="-122"/>
                      </a:endParaRPr>
                    </a:p>
                  </a:txBody>
                  <a:tcPr marL="0" marR="0" marT="0" marB="0" anchor="ctr">
                    <a:lnL w="19050" cap="flat" cmpd="sng" algn="ctr">
                      <a:solidFill>
                        <a:srgbClr val="6600FF"/>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noFill/>
                  </a:tcPr>
                </a:tc>
              </a:tr>
            </a:tbl>
          </a:graphicData>
        </a:graphic>
      </p:graphicFrame>
      <p:grpSp>
        <p:nvGrpSpPr>
          <p:cNvPr id="64" name="组合 63"/>
          <p:cNvGrpSpPr/>
          <p:nvPr/>
        </p:nvGrpSpPr>
        <p:grpSpPr>
          <a:xfrm>
            <a:off x="392434" y="769746"/>
            <a:ext cx="4410974" cy="420971"/>
            <a:chOff x="670560" y="892917"/>
            <a:chExt cx="4410974" cy="420971"/>
          </a:xfrm>
        </p:grpSpPr>
        <p:sp>
          <p:nvSpPr>
            <p:cNvPr id="65" name="矩形 64"/>
            <p:cNvSpPr/>
            <p:nvPr/>
          </p:nvSpPr>
          <p:spPr>
            <a:xfrm>
              <a:off x="1035233" y="913778"/>
              <a:ext cx="4046301"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8</a:t>
              </a:r>
              <a:r>
                <a:rPr lang="zh-CN" altLang="en-US" sz="2000" b="1" dirty="0">
                  <a:solidFill>
                    <a:srgbClr val="002060"/>
                  </a:solidFill>
                  <a:latin typeface="微软雅黑" panose="020B0503020204020204" pitchFamily="34" charset="-122"/>
                  <a:ea typeface="微软雅黑" panose="020B0503020204020204" pitchFamily="34" charset="-122"/>
                </a:rPr>
                <a:t>线</a:t>
              </a:r>
              <a:r>
                <a:rPr lang="en-US" altLang="zh-CN" sz="2000" b="1" dirty="0">
                  <a:solidFill>
                    <a:srgbClr val="002060"/>
                  </a:solidFill>
                  <a:latin typeface="微软雅黑" panose="020B0503020204020204" pitchFamily="34" charset="-122"/>
                  <a:ea typeface="微软雅黑" panose="020B0503020204020204" pitchFamily="34" charset="-122"/>
                </a:rPr>
                <a:t>-3</a:t>
              </a:r>
              <a:r>
                <a:rPr lang="zh-CN" altLang="en-US" sz="2000" b="1" dirty="0">
                  <a:solidFill>
                    <a:srgbClr val="002060"/>
                  </a:solidFill>
                  <a:latin typeface="微软雅黑" panose="020B0503020204020204" pitchFamily="34" charset="-122"/>
                  <a:ea typeface="微软雅黑" panose="020B0503020204020204" pitchFamily="34" charset="-122"/>
                </a:rPr>
                <a:t>线集成优先编码器</a:t>
              </a:r>
              <a:r>
                <a:rPr lang="en-US" altLang="zh-CN" sz="2000" b="1" dirty="0">
                  <a:solidFill>
                    <a:srgbClr val="002060"/>
                  </a:solidFill>
                  <a:latin typeface="微软雅黑" panose="020B0503020204020204" pitchFamily="34" charset="-122"/>
                  <a:ea typeface="微软雅黑" panose="020B0503020204020204" pitchFamily="34" charset="-122"/>
                </a:rPr>
                <a:t>-CD4532</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66"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pic>
        <p:nvPicPr>
          <p:cNvPr id="1057" name="Picture 33"/>
          <p:cNvPicPr>
            <a:picLocks noChangeAspect="1" noChangeArrowheads="1"/>
          </p:cNvPicPr>
          <p:nvPr/>
        </p:nvPicPr>
        <p:blipFill>
          <a:blip r:embed="rId2" cstate="print"/>
          <a:srcRect l="5853" r="8292"/>
          <a:stretch>
            <a:fillRect/>
          </a:stretch>
        </p:blipFill>
        <p:spPr bwMode="auto">
          <a:xfrm>
            <a:off x="1381943" y="1695911"/>
            <a:ext cx="1986028" cy="2488130"/>
          </a:xfrm>
          <a:prstGeom prst="rect">
            <a:avLst/>
          </a:prstGeom>
          <a:noFill/>
          <a:ln w="9525">
            <a:noFill/>
            <a:miter lim="800000"/>
            <a:headEnd/>
            <a:tailEnd/>
          </a:ln>
        </p:spPr>
      </p:pic>
      <p:sp>
        <p:nvSpPr>
          <p:cNvPr id="14" name="圆角矩形 13"/>
          <p:cNvSpPr/>
          <p:nvPr/>
        </p:nvSpPr>
        <p:spPr>
          <a:xfrm>
            <a:off x="3982624" y="2735061"/>
            <a:ext cx="3192348" cy="325218"/>
          </a:xfrm>
          <a:prstGeom prst="roundRect">
            <a:avLst/>
          </a:prstGeom>
          <a:solidFill>
            <a:srgbClr val="FF00FF">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圆角矩形 14"/>
          <p:cNvSpPr/>
          <p:nvPr/>
        </p:nvSpPr>
        <p:spPr>
          <a:xfrm>
            <a:off x="3987680" y="3154934"/>
            <a:ext cx="3192348" cy="542298"/>
          </a:xfrm>
          <a:prstGeom prst="roundRect">
            <a:avLst/>
          </a:prstGeom>
          <a:solidFill>
            <a:srgbClr val="FF00FF">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圆角矩形 15"/>
          <p:cNvSpPr/>
          <p:nvPr/>
        </p:nvSpPr>
        <p:spPr>
          <a:xfrm>
            <a:off x="4000681" y="3776612"/>
            <a:ext cx="3179347" cy="325218"/>
          </a:xfrm>
          <a:prstGeom prst="roundRect">
            <a:avLst/>
          </a:prstGeom>
          <a:solidFill>
            <a:srgbClr val="FF00FF">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10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10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P spid="1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对象 6"/>
          <p:cNvGraphicFramePr>
            <a:graphicFrameLocks noChangeAspect="1"/>
          </p:cNvGraphicFramePr>
          <p:nvPr/>
        </p:nvGraphicFramePr>
        <p:xfrm>
          <a:off x="408694" y="1365863"/>
          <a:ext cx="5621443" cy="2948502"/>
        </p:xfrm>
        <a:graphic>
          <a:graphicData uri="http://schemas.openxmlformats.org/presentationml/2006/ole">
            <mc:AlternateContent xmlns:mc="http://schemas.openxmlformats.org/markup-compatibility/2006">
              <mc:Choice xmlns:v="urn:schemas-microsoft-com:vml" Requires="v">
                <p:oleObj spid="_x0000_s27661" name="Visio" r:id="rId1" imgW="2990850" imgH="1571625" progId="">
                  <p:embed/>
                </p:oleObj>
              </mc:Choice>
              <mc:Fallback>
                <p:oleObj name="Visio" r:id="rId1" imgW="2990850" imgH="1571625" progId="">
                  <p:embed/>
                  <p:pic>
                    <p:nvPicPr>
                      <p:cNvPr id="0" name="对象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694" y="1365863"/>
                        <a:ext cx="5621443" cy="29485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Picture 2"/>
          <p:cNvPicPr>
            <a:picLocks noChangeAspect="1" noChangeArrowheads="1"/>
          </p:cNvPicPr>
          <p:nvPr/>
        </p:nvPicPr>
        <p:blipFill>
          <a:blip r:embed="rId3" cstate="print"/>
          <a:srcRect/>
          <a:stretch>
            <a:fillRect/>
          </a:stretch>
        </p:blipFill>
        <p:spPr bwMode="auto">
          <a:xfrm>
            <a:off x="6317584" y="750539"/>
            <a:ext cx="2610755" cy="2053621"/>
          </a:xfrm>
          <a:prstGeom prst="rect">
            <a:avLst/>
          </a:prstGeom>
          <a:noFill/>
          <a:ln w="9525">
            <a:noFill/>
            <a:miter lim="800000"/>
            <a:headEnd/>
            <a:tailEnd/>
          </a:ln>
        </p:spPr>
      </p:pic>
      <p:grpSp>
        <p:nvGrpSpPr>
          <p:cNvPr id="2" name="组合 47"/>
          <p:cNvGrpSpPr/>
          <p:nvPr/>
        </p:nvGrpSpPr>
        <p:grpSpPr>
          <a:xfrm>
            <a:off x="392434" y="769746"/>
            <a:ext cx="5108279" cy="420971"/>
            <a:chOff x="670560" y="892917"/>
            <a:chExt cx="5108279" cy="420971"/>
          </a:xfrm>
        </p:grpSpPr>
        <p:sp>
          <p:nvSpPr>
            <p:cNvPr id="49" name="矩形 48"/>
            <p:cNvSpPr/>
            <p:nvPr/>
          </p:nvSpPr>
          <p:spPr>
            <a:xfrm>
              <a:off x="1035233" y="913778"/>
              <a:ext cx="4743606"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CD4532</a:t>
              </a:r>
              <a:r>
                <a:rPr lang="zh-CN" altLang="en-US" sz="2000" b="1" dirty="0">
                  <a:solidFill>
                    <a:srgbClr val="002060"/>
                  </a:solidFill>
                  <a:latin typeface="微软雅黑" panose="020B0503020204020204" pitchFamily="34" charset="-122"/>
                  <a:ea typeface="微软雅黑" panose="020B0503020204020204" pitchFamily="34" charset="-122"/>
                </a:rPr>
                <a:t>应用（</a:t>
              </a:r>
              <a:r>
                <a:rPr lang="zh-CN" altLang="en-US" sz="1600" b="1" dirty="0">
                  <a:solidFill>
                    <a:srgbClr val="FF00FF"/>
                  </a:solidFill>
                  <a:latin typeface="微软雅黑" panose="020B0503020204020204" pitchFamily="34" charset="-122"/>
                  <a:ea typeface="微软雅黑" panose="020B0503020204020204" pitchFamily="34" charset="-122"/>
                </a:rPr>
                <a:t>扩展为</a:t>
              </a:r>
              <a:r>
                <a:rPr lang="en-US" altLang="zh-CN" sz="1600" b="1" dirty="0">
                  <a:solidFill>
                    <a:srgbClr val="FF00FF"/>
                  </a:solidFill>
                  <a:latin typeface="微软雅黑" panose="020B0503020204020204" pitchFamily="34" charset="-122"/>
                  <a:ea typeface="微软雅黑" panose="020B0503020204020204" pitchFamily="34" charset="-122"/>
                </a:rPr>
                <a:t>16</a:t>
              </a:r>
              <a:r>
                <a:rPr lang="zh-CN" altLang="en-US" sz="1600" b="1" dirty="0">
                  <a:solidFill>
                    <a:srgbClr val="FF00FF"/>
                  </a:solidFill>
                  <a:latin typeface="微软雅黑" panose="020B0503020204020204" pitchFamily="34" charset="-122"/>
                  <a:ea typeface="微软雅黑" panose="020B0503020204020204" pitchFamily="34" charset="-122"/>
                </a:rPr>
                <a:t>线</a:t>
              </a:r>
              <a:r>
                <a:rPr lang="en-US" altLang="zh-CN" sz="1600" b="1" dirty="0">
                  <a:solidFill>
                    <a:srgbClr val="FF00FF"/>
                  </a:solidFill>
                  <a:latin typeface="微软雅黑" panose="020B0503020204020204" pitchFamily="34" charset="-122"/>
                  <a:ea typeface="微软雅黑" panose="020B0503020204020204" pitchFamily="34" charset="-122"/>
                </a:rPr>
                <a:t>-4</a:t>
              </a:r>
              <a:r>
                <a:rPr lang="zh-CN" altLang="en-US" sz="1600" b="1" dirty="0">
                  <a:solidFill>
                    <a:srgbClr val="FF00FF"/>
                  </a:solidFill>
                  <a:latin typeface="微软雅黑" panose="020B0503020204020204" pitchFamily="34" charset="-122"/>
                  <a:ea typeface="微软雅黑" panose="020B0503020204020204" pitchFamily="34" charset="-122"/>
                </a:rPr>
                <a:t>线优先编码器</a:t>
              </a:r>
              <a:r>
                <a:rPr lang="zh-CN" altLang="en-US" sz="2000" b="1" dirty="0">
                  <a:solidFill>
                    <a:srgbClr val="002060"/>
                  </a:solidFill>
                  <a:latin typeface="微软雅黑" panose="020B0503020204020204" pitchFamily="34" charset="-122"/>
                  <a:ea typeface="微软雅黑" panose="020B0503020204020204" pitchFamily="34" charset="-122"/>
                </a:rPr>
                <a: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50"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22" name="圆角矩形 13"/>
          <p:cNvSpPr/>
          <p:nvPr/>
        </p:nvSpPr>
        <p:spPr>
          <a:xfrm>
            <a:off x="2528514" y="2072602"/>
            <a:ext cx="1168843" cy="408205"/>
          </a:xfrm>
          <a:prstGeom prst="roundRect">
            <a:avLst/>
          </a:prstGeom>
          <a:solidFill>
            <a:srgbClr val="FF00FF">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圆角矩形 13"/>
          <p:cNvSpPr/>
          <p:nvPr/>
        </p:nvSpPr>
        <p:spPr>
          <a:xfrm>
            <a:off x="417970" y="2093803"/>
            <a:ext cx="774946" cy="408205"/>
          </a:xfrm>
          <a:prstGeom prst="roundRect">
            <a:avLst/>
          </a:prstGeom>
          <a:solidFill>
            <a:srgbClr val="FF00FF">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13"/>
          <p:cNvSpPr/>
          <p:nvPr/>
        </p:nvSpPr>
        <p:spPr>
          <a:xfrm>
            <a:off x="5133736" y="2096454"/>
            <a:ext cx="845646" cy="408205"/>
          </a:xfrm>
          <a:prstGeom prst="roundRect">
            <a:avLst/>
          </a:prstGeom>
          <a:solidFill>
            <a:srgbClr val="FF00FF">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13"/>
          <p:cNvSpPr/>
          <p:nvPr/>
        </p:nvSpPr>
        <p:spPr>
          <a:xfrm>
            <a:off x="939578" y="1308667"/>
            <a:ext cx="1886838" cy="408205"/>
          </a:xfrm>
          <a:prstGeom prst="roundRect">
            <a:avLst/>
          </a:prstGeom>
          <a:solidFill>
            <a:srgbClr val="FF00FF">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圆角矩形 13"/>
          <p:cNvSpPr/>
          <p:nvPr/>
        </p:nvSpPr>
        <p:spPr>
          <a:xfrm>
            <a:off x="3478178" y="1326928"/>
            <a:ext cx="1886838" cy="408205"/>
          </a:xfrm>
          <a:prstGeom prst="roundRect">
            <a:avLst/>
          </a:prstGeom>
          <a:solidFill>
            <a:srgbClr val="FF00FF">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9" name="圆角矩形 13"/>
          <p:cNvSpPr/>
          <p:nvPr/>
        </p:nvSpPr>
        <p:spPr>
          <a:xfrm>
            <a:off x="1057523" y="3941900"/>
            <a:ext cx="460456" cy="375658"/>
          </a:xfrm>
          <a:prstGeom prst="roundRect">
            <a:avLst/>
          </a:prstGeom>
          <a:solidFill>
            <a:srgbClr val="FF00FF">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圆角矩形 13"/>
          <p:cNvSpPr/>
          <p:nvPr/>
        </p:nvSpPr>
        <p:spPr>
          <a:xfrm>
            <a:off x="1574358" y="3941900"/>
            <a:ext cx="3660582" cy="375657"/>
          </a:xfrm>
          <a:prstGeom prst="roundRect">
            <a:avLst/>
          </a:prstGeom>
          <a:solidFill>
            <a:srgbClr val="FF00FF">
              <a:alpha val="32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1000"/>
                                        <p:tgtEl>
                                          <p:spTgt spid="22"/>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1000"/>
                                        <p:tgtEl>
                                          <p:spTgt spid="23"/>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wipe(left)">
                                      <p:cBhvr>
                                        <p:cTn id="15" dur="1000"/>
                                        <p:tgtEl>
                                          <p:spTgt spid="25"/>
                                        </p:tgtEl>
                                      </p:cBhvr>
                                    </p:animEffect>
                                  </p:childTnLst>
                                </p:cTn>
                              </p:par>
                            </p:childTnLst>
                          </p:cTn>
                        </p:par>
                        <p:par>
                          <p:cTn id="16" fill="hold">
                            <p:stCondLst>
                              <p:cond delay="3000"/>
                            </p:stCondLst>
                            <p:childTnLst>
                              <p:par>
                                <p:cTn id="17" presetID="22" presetClass="entr" presetSubtype="8" fill="hold" grpId="0"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wipe(left)">
                                      <p:cBhvr>
                                        <p:cTn id="19" dur="1000"/>
                                        <p:tgtEl>
                                          <p:spTgt spid="27"/>
                                        </p:tgtEl>
                                      </p:cBhvr>
                                    </p:animEffect>
                                  </p:childTnLst>
                                </p:cTn>
                              </p:par>
                            </p:childTnLst>
                          </p:cTn>
                        </p:par>
                        <p:par>
                          <p:cTn id="20" fill="hold">
                            <p:stCondLst>
                              <p:cond delay="4000"/>
                            </p:stCondLst>
                            <p:childTnLst>
                              <p:par>
                                <p:cTn id="21" presetID="22" presetClass="entr" presetSubtype="8" fill="hold" grpId="0" nodeType="afterEffect">
                                  <p:stCondLst>
                                    <p:cond delay="0"/>
                                  </p:stCondLst>
                                  <p:childTnLst>
                                    <p:set>
                                      <p:cBhvr>
                                        <p:cTn id="22" dur="1" fill="hold">
                                          <p:stCondLst>
                                            <p:cond delay="0"/>
                                          </p:stCondLst>
                                        </p:cTn>
                                        <p:tgtEl>
                                          <p:spTgt spid="28"/>
                                        </p:tgtEl>
                                        <p:attrNameLst>
                                          <p:attrName>style.visibility</p:attrName>
                                        </p:attrNameLst>
                                      </p:cBhvr>
                                      <p:to>
                                        <p:strVal val="visible"/>
                                      </p:to>
                                    </p:set>
                                    <p:animEffect transition="in" filter="wipe(left)">
                                      <p:cBhvr>
                                        <p:cTn id="23" dur="1000"/>
                                        <p:tgtEl>
                                          <p:spTgt spid="28"/>
                                        </p:tgtEl>
                                      </p:cBhvr>
                                    </p:animEffect>
                                  </p:childTnLst>
                                </p:cTn>
                              </p:par>
                            </p:childTnLst>
                          </p:cTn>
                        </p:par>
                        <p:par>
                          <p:cTn id="24" fill="hold">
                            <p:stCondLst>
                              <p:cond delay="5000"/>
                            </p:stCondLst>
                            <p:childTnLst>
                              <p:par>
                                <p:cTn id="25" presetID="22" presetClass="entr" presetSubtype="8" fill="hold" grpId="0" nodeType="afterEffect">
                                  <p:stCondLst>
                                    <p:cond delay="0"/>
                                  </p:stCondLst>
                                  <p:childTnLst>
                                    <p:set>
                                      <p:cBhvr>
                                        <p:cTn id="26" dur="1" fill="hold">
                                          <p:stCondLst>
                                            <p:cond delay="0"/>
                                          </p:stCondLst>
                                        </p:cTn>
                                        <p:tgtEl>
                                          <p:spTgt spid="29"/>
                                        </p:tgtEl>
                                        <p:attrNameLst>
                                          <p:attrName>style.visibility</p:attrName>
                                        </p:attrNameLst>
                                      </p:cBhvr>
                                      <p:to>
                                        <p:strVal val="visible"/>
                                      </p:to>
                                    </p:set>
                                    <p:animEffect transition="in" filter="wipe(left)">
                                      <p:cBhvr>
                                        <p:cTn id="27" dur="1000"/>
                                        <p:tgtEl>
                                          <p:spTgt spid="29"/>
                                        </p:tgtEl>
                                      </p:cBhvr>
                                    </p:animEffect>
                                  </p:childTnLst>
                                </p:cTn>
                              </p:par>
                            </p:childTnLst>
                          </p:cTn>
                        </p:par>
                        <p:par>
                          <p:cTn id="28" fill="hold">
                            <p:stCondLst>
                              <p:cond delay="6000"/>
                            </p:stCondLst>
                            <p:childTnLst>
                              <p:par>
                                <p:cTn id="29" presetID="22" presetClass="entr" presetSubtype="8" fill="hold" grpId="0" nodeType="after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wipe(left)">
                                      <p:cBhvr>
                                        <p:cTn id="31"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5" grpId="0" animBg="1"/>
      <p:bldP spid="27" grpId="0" animBg="1"/>
      <p:bldP spid="28" grpId="0" animBg="1"/>
      <p:bldP spid="29" grpId="0" animBg="1"/>
      <p:bldP spid="30"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对象 21"/>
          <p:cNvGraphicFramePr>
            <a:graphicFrameLocks noChangeAspect="1"/>
          </p:cNvGraphicFramePr>
          <p:nvPr/>
        </p:nvGraphicFramePr>
        <p:xfrm>
          <a:off x="408694" y="1365863"/>
          <a:ext cx="5621443" cy="2948502"/>
        </p:xfrm>
        <a:graphic>
          <a:graphicData uri="http://schemas.openxmlformats.org/presentationml/2006/ole">
            <mc:AlternateContent xmlns:mc="http://schemas.openxmlformats.org/markup-compatibility/2006">
              <mc:Choice xmlns:v="urn:schemas-microsoft-com:vml" Requires="v">
                <p:oleObj spid="_x0000_s28685" name="Visio" r:id="rId1" imgW="2990850" imgH="1571625" progId="">
                  <p:embed/>
                </p:oleObj>
              </mc:Choice>
              <mc:Fallback>
                <p:oleObj name="Visio" r:id="rId1" imgW="2990850" imgH="1571625" progId="">
                  <p:embed/>
                  <p:pic>
                    <p:nvPicPr>
                      <p:cNvPr id="0" name="对象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694" y="1365863"/>
                        <a:ext cx="5621443" cy="29485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 name="Picture 2"/>
          <p:cNvPicPr>
            <a:picLocks noChangeAspect="1" noChangeArrowheads="1"/>
          </p:cNvPicPr>
          <p:nvPr/>
        </p:nvPicPr>
        <p:blipFill>
          <a:blip r:embed="rId3" cstate="print"/>
          <a:srcRect/>
          <a:stretch>
            <a:fillRect/>
          </a:stretch>
        </p:blipFill>
        <p:spPr bwMode="auto">
          <a:xfrm>
            <a:off x="6317584" y="750539"/>
            <a:ext cx="2610755" cy="2053621"/>
          </a:xfrm>
          <a:prstGeom prst="rect">
            <a:avLst/>
          </a:prstGeom>
          <a:noFill/>
          <a:ln w="9525">
            <a:noFill/>
            <a:miter lim="800000"/>
            <a:headEnd/>
            <a:tailEnd/>
          </a:ln>
        </p:spPr>
      </p:pic>
      <p:grpSp>
        <p:nvGrpSpPr>
          <p:cNvPr id="2" name="组合 47"/>
          <p:cNvGrpSpPr/>
          <p:nvPr/>
        </p:nvGrpSpPr>
        <p:grpSpPr>
          <a:xfrm>
            <a:off x="392434" y="769746"/>
            <a:ext cx="5108279" cy="420971"/>
            <a:chOff x="670560" y="892917"/>
            <a:chExt cx="5108279" cy="420971"/>
          </a:xfrm>
        </p:grpSpPr>
        <p:sp>
          <p:nvSpPr>
            <p:cNvPr id="49" name="矩形 48"/>
            <p:cNvSpPr/>
            <p:nvPr/>
          </p:nvSpPr>
          <p:spPr>
            <a:xfrm>
              <a:off x="1035233" y="913778"/>
              <a:ext cx="4743606"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CD4532</a:t>
              </a:r>
              <a:r>
                <a:rPr lang="zh-CN" altLang="en-US" sz="2000" b="1" dirty="0">
                  <a:solidFill>
                    <a:srgbClr val="002060"/>
                  </a:solidFill>
                  <a:latin typeface="微软雅黑" panose="020B0503020204020204" pitchFamily="34" charset="-122"/>
                  <a:ea typeface="微软雅黑" panose="020B0503020204020204" pitchFamily="34" charset="-122"/>
                </a:rPr>
                <a:t>应用（</a:t>
              </a:r>
              <a:r>
                <a:rPr lang="zh-CN" altLang="en-US" sz="1600" b="1" dirty="0">
                  <a:solidFill>
                    <a:srgbClr val="FF00FF"/>
                  </a:solidFill>
                  <a:latin typeface="微软雅黑" panose="020B0503020204020204" pitchFamily="34" charset="-122"/>
                  <a:ea typeface="微软雅黑" panose="020B0503020204020204" pitchFamily="34" charset="-122"/>
                </a:rPr>
                <a:t>扩展为</a:t>
              </a:r>
              <a:r>
                <a:rPr lang="en-US" altLang="zh-CN" sz="1600" b="1" dirty="0">
                  <a:solidFill>
                    <a:srgbClr val="FF00FF"/>
                  </a:solidFill>
                  <a:latin typeface="微软雅黑" panose="020B0503020204020204" pitchFamily="34" charset="-122"/>
                  <a:ea typeface="微软雅黑" panose="020B0503020204020204" pitchFamily="34" charset="-122"/>
                </a:rPr>
                <a:t>16</a:t>
              </a:r>
              <a:r>
                <a:rPr lang="zh-CN" altLang="en-US" sz="1600" b="1" dirty="0">
                  <a:solidFill>
                    <a:srgbClr val="FF00FF"/>
                  </a:solidFill>
                  <a:latin typeface="微软雅黑" panose="020B0503020204020204" pitchFamily="34" charset="-122"/>
                  <a:ea typeface="微软雅黑" panose="020B0503020204020204" pitchFamily="34" charset="-122"/>
                </a:rPr>
                <a:t>线</a:t>
              </a:r>
              <a:r>
                <a:rPr lang="en-US" altLang="zh-CN" sz="1600" b="1" dirty="0">
                  <a:solidFill>
                    <a:srgbClr val="FF00FF"/>
                  </a:solidFill>
                  <a:latin typeface="微软雅黑" panose="020B0503020204020204" pitchFamily="34" charset="-122"/>
                  <a:ea typeface="微软雅黑" panose="020B0503020204020204" pitchFamily="34" charset="-122"/>
                </a:rPr>
                <a:t>-4</a:t>
              </a:r>
              <a:r>
                <a:rPr lang="zh-CN" altLang="en-US" sz="1600" b="1" dirty="0">
                  <a:solidFill>
                    <a:srgbClr val="FF00FF"/>
                  </a:solidFill>
                  <a:latin typeface="微软雅黑" panose="020B0503020204020204" pitchFamily="34" charset="-122"/>
                  <a:ea typeface="微软雅黑" panose="020B0503020204020204" pitchFamily="34" charset="-122"/>
                </a:rPr>
                <a:t>线优先编码器</a:t>
              </a:r>
              <a:r>
                <a:rPr lang="zh-CN" altLang="en-US" sz="2000" b="1" dirty="0">
                  <a:solidFill>
                    <a:srgbClr val="002060"/>
                  </a:solidFill>
                  <a:latin typeface="微软雅黑" panose="020B0503020204020204" pitchFamily="34" charset="-122"/>
                  <a:ea typeface="微软雅黑" panose="020B0503020204020204" pitchFamily="34" charset="-122"/>
                </a:rPr>
                <a: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50"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5" name="组合 4"/>
          <p:cNvGrpSpPr/>
          <p:nvPr/>
        </p:nvGrpSpPr>
        <p:grpSpPr>
          <a:xfrm>
            <a:off x="637530" y="2178952"/>
            <a:ext cx="5078802" cy="2287797"/>
            <a:chOff x="637530" y="2178952"/>
            <a:chExt cx="5078802" cy="2287797"/>
          </a:xfrm>
        </p:grpSpPr>
        <p:sp>
          <p:nvSpPr>
            <p:cNvPr id="105" name="圆角矩形 104"/>
            <p:cNvSpPr/>
            <p:nvPr/>
          </p:nvSpPr>
          <p:spPr>
            <a:xfrm>
              <a:off x="1719640" y="2684059"/>
              <a:ext cx="990459" cy="311823"/>
            </a:xfrm>
            <a:prstGeom prst="roundRect">
              <a:avLst>
                <a:gd name="adj" fmla="val 791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b="1" dirty="0">
                  <a:solidFill>
                    <a:srgbClr val="0000FF"/>
                  </a:solidFill>
                </a:rPr>
                <a:t>0     0    0</a:t>
              </a:r>
              <a:endParaRPr lang="zh-CN" altLang="en-US" b="1" dirty="0">
                <a:solidFill>
                  <a:srgbClr val="0000FF"/>
                </a:solidFill>
              </a:endParaRPr>
            </a:p>
          </p:txBody>
        </p:sp>
        <p:sp>
          <p:nvSpPr>
            <p:cNvPr id="106" name="圆角矩形 105"/>
            <p:cNvSpPr/>
            <p:nvPr/>
          </p:nvSpPr>
          <p:spPr>
            <a:xfrm>
              <a:off x="4229005" y="2704666"/>
              <a:ext cx="990459" cy="311823"/>
            </a:xfrm>
            <a:prstGeom prst="roundRect">
              <a:avLst>
                <a:gd name="adj" fmla="val 791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b="1" dirty="0">
                  <a:solidFill>
                    <a:srgbClr val="0000FF"/>
                  </a:solidFill>
                </a:rPr>
                <a:t>0    0     0</a:t>
              </a:r>
              <a:endParaRPr lang="zh-CN" altLang="en-US" b="1" dirty="0">
                <a:solidFill>
                  <a:srgbClr val="0000FF"/>
                </a:solidFill>
              </a:endParaRPr>
            </a:p>
          </p:txBody>
        </p:sp>
        <p:grpSp>
          <p:nvGrpSpPr>
            <p:cNvPr id="4" name="组合 24"/>
            <p:cNvGrpSpPr/>
            <p:nvPr/>
          </p:nvGrpSpPr>
          <p:grpSpPr>
            <a:xfrm>
              <a:off x="1696134" y="4189750"/>
              <a:ext cx="3386528" cy="276999"/>
              <a:chOff x="1696134" y="4375947"/>
              <a:chExt cx="3386528" cy="276999"/>
            </a:xfrm>
          </p:grpSpPr>
          <p:sp>
            <p:nvSpPr>
              <p:cNvPr id="113" name="矩形 112"/>
              <p:cNvSpPr/>
              <p:nvPr/>
            </p:nvSpPr>
            <p:spPr>
              <a:xfrm>
                <a:off x="1696134" y="4375947"/>
                <a:ext cx="169918" cy="276999"/>
              </a:xfrm>
              <a:prstGeom prst="rect">
                <a:avLst/>
              </a:prstGeom>
            </p:spPr>
            <p:txBody>
              <a:bodyPr wrap="none" lIns="0" tIns="0" rIns="0" bIns="0">
                <a:spAutoFit/>
              </a:bodyPr>
              <a:lstStyle/>
              <a:p>
                <a:r>
                  <a:rPr lang="en-US" altLang="zh-CN" b="1" dirty="0">
                    <a:solidFill>
                      <a:srgbClr val="0000FF"/>
                    </a:solidFill>
                  </a:rPr>
                  <a:t>0 </a:t>
                </a:r>
                <a:endParaRPr lang="zh-CN" altLang="en-US" b="1" dirty="0">
                  <a:solidFill>
                    <a:srgbClr val="0000FF"/>
                  </a:solidFill>
                </a:endParaRPr>
              </a:p>
            </p:txBody>
          </p:sp>
          <p:sp>
            <p:nvSpPr>
              <p:cNvPr id="117" name="矩形 116"/>
              <p:cNvSpPr/>
              <p:nvPr/>
            </p:nvSpPr>
            <p:spPr>
              <a:xfrm>
                <a:off x="2827236" y="4375947"/>
                <a:ext cx="2255426" cy="276999"/>
              </a:xfrm>
              <a:prstGeom prst="rect">
                <a:avLst/>
              </a:prstGeom>
            </p:spPr>
            <p:txBody>
              <a:bodyPr wrap="none" lIns="0" tIns="0" rIns="0" bIns="0">
                <a:spAutoFit/>
              </a:bodyPr>
              <a:lstStyle/>
              <a:p>
                <a:r>
                  <a:rPr lang="en-US" altLang="zh-CN" b="1" dirty="0">
                    <a:solidFill>
                      <a:srgbClr val="0000FF"/>
                    </a:solidFill>
                  </a:rPr>
                  <a:t>0                  0                  0</a:t>
                </a:r>
                <a:endParaRPr lang="zh-CN" altLang="en-US" b="1" dirty="0">
                  <a:solidFill>
                    <a:srgbClr val="0000FF"/>
                  </a:solidFill>
                </a:endParaRPr>
              </a:p>
            </p:txBody>
          </p:sp>
        </p:grpSp>
        <p:sp>
          <p:nvSpPr>
            <p:cNvPr id="121" name="矩形 120"/>
            <p:cNvSpPr/>
            <p:nvPr/>
          </p:nvSpPr>
          <p:spPr>
            <a:xfrm>
              <a:off x="637530" y="2254995"/>
              <a:ext cx="216000" cy="276999"/>
            </a:xfrm>
            <a:prstGeom prst="rect">
              <a:avLst/>
            </a:prstGeom>
          </p:spPr>
          <p:txBody>
            <a:bodyPr wrap="none" lIns="0" tIns="0" rIns="0" bIns="0">
              <a:spAutoFit/>
            </a:bodyPr>
            <a:lstStyle/>
            <a:p>
              <a:pPr algn="ctr"/>
              <a:r>
                <a:rPr lang="en-US" altLang="zh-CN" b="1" dirty="0">
                  <a:solidFill>
                    <a:srgbClr val="FF00FF"/>
                  </a:solidFill>
                </a:rPr>
                <a:t>0 </a:t>
              </a:r>
              <a:endParaRPr lang="zh-CN" altLang="en-US" b="1" dirty="0"/>
            </a:p>
          </p:txBody>
        </p:sp>
        <p:sp>
          <p:nvSpPr>
            <p:cNvPr id="126" name="矩形 125"/>
            <p:cNvSpPr/>
            <p:nvPr/>
          </p:nvSpPr>
          <p:spPr>
            <a:xfrm>
              <a:off x="2887949" y="2288576"/>
              <a:ext cx="216000" cy="276999"/>
            </a:xfrm>
            <a:prstGeom prst="rect">
              <a:avLst/>
            </a:prstGeom>
          </p:spPr>
          <p:txBody>
            <a:bodyPr wrap="none" lIns="0" tIns="0" rIns="0" bIns="0">
              <a:spAutoFit/>
            </a:bodyPr>
            <a:lstStyle/>
            <a:p>
              <a:pPr algn="ctr"/>
              <a:r>
                <a:rPr lang="en-US" altLang="zh-CN" b="1" dirty="0">
                  <a:solidFill>
                    <a:srgbClr val="FF00FF"/>
                  </a:solidFill>
                </a:rPr>
                <a:t>0 </a:t>
              </a:r>
              <a:endParaRPr lang="zh-CN" altLang="en-US" b="1" dirty="0"/>
            </a:p>
          </p:txBody>
        </p:sp>
        <p:sp>
          <p:nvSpPr>
            <p:cNvPr id="127" name="矩形 126"/>
            <p:cNvSpPr/>
            <p:nvPr/>
          </p:nvSpPr>
          <p:spPr>
            <a:xfrm>
              <a:off x="3258962" y="2286924"/>
              <a:ext cx="216000" cy="276999"/>
            </a:xfrm>
            <a:prstGeom prst="rect">
              <a:avLst/>
            </a:prstGeom>
          </p:spPr>
          <p:txBody>
            <a:bodyPr wrap="none" lIns="0" tIns="0" rIns="0" bIns="0">
              <a:spAutoFit/>
            </a:bodyPr>
            <a:lstStyle/>
            <a:p>
              <a:pPr algn="ctr"/>
              <a:r>
                <a:rPr lang="en-US" altLang="zh-CN" b="1" dirty="0">
                  <a:solidFill>
                    <a:srgbClr val="FF00FF"/>
                  </a:solidFill>
                </a:rPr>
                <a:t>0 </a:t>
              </a:r>
              <a:endParaRPr lang="zh-CN" altLang="en-US" b="1" dirty="0"/>
            </a:p>
          </p:txBody>
        </p:sp>
        <p:sp>
          <p:nvSpPr>
            <p:cNvPr id="128" name="矩形 127"/>
            <p:cNvSpPr/>
            <p:nvPr/>
          </p:nvSpPr>
          <p:spPr>
            <a:xfrm>
              <a:off x="5500332" y="2288578"/>
              <a:ext cx="216000" cy="276999"/>
            </a:xfrm>
            <a:prstGeom prst="rect">
              <a:avLst/>
            </a:prstGeom>
          </p:spPr>
          <p:txBody>
            <a:bodyPr wrap="none" lIns="0" tIns="0" rIns="0" bIns="0">
              <a:spAutoFit/>
            </a:bodyPr>
            <a:lstStyle/>
            <a:p>
              <a:pPr algn="ctr"/>
              <a:r>
                <a:rPr lang="en-US" altLang="zh-CN" b="1" dirty="0">
                  <a:solidFill>
                    <a:srgbClr val="FF00FF"/>
                  </a:solidFill>
                </a:rPr>
                <a:t>0 </a:t>
              </a:r>
              <a:endParaRPr lang="zh-CN" altLang="en-US" b="1" dirty="0"/>
            </a:p>
          </p:txBody>
        </p:sp>
        <p:sp>
          <p:nvSpPr>
            <p:cNvPr id="131" name="矩形 130"/>
            <p:cNvSpPr/>
            <p:nvPr/>
          </p:nvSpPr>
          <p:spPr>
            <a:xfrm>
              <a:off x="1183149" y="2728408"/>
              <a:ext cx="186429" cy="276999"/>
            </a:xfrm>
            <a:prstGeom prst="rect">
              <a:avLst/>
            </a:prstGeom>
          </p:spPr>
          <p:txBody>
            <a:bodyPr wrap="square" lIns="0" tIns="0" rIns="0" bIns="0">
              <a:spAutoFit/>
            </a:bodyPr>
            <a:lstStyle/>
            <a:p>
              <a:r>
                <a:rPr lang="en-US" altLang="zh-CN" b="1" dirty="0">
                  <a:solidFill>
                    <a:srgbClr val="C00000"/>
                  </a:solidFill>
                </a:rPr>
                <a:t>0 </a:t>
              </a:r>
              <a:endParaRPr lang="zh-CN" altLang="en-US" b="1" dirty="0">
                <a:solidFill>
                  <a:srgbClr val="C00000"/>
                </a:solidFill>
              </a:endParaRPr>
            </a:p>
          </p:txBody>
        </p:sp>
        <p:sp>
          <p:nvSpPr>
            <p:cNvPr id="141" name="矩形 140"/>
            <p:cNvSpPr/>
            <p:nvPr/>
          </p:nvSpPr>
          <p:spPr>
            <a:xfrm>
              <a:off x="3521684" y="2690657"/>
              <a:ext cx="169918" cy="276999"/>
            </a:xfrm>
            <a:prstGeom prst="rect">
              <a:avLst/>
            </a:prstGeom>
          </p:spPr>
          <p:txBody>
            <a:bodyPr wrap="none" lIns="0" tIns="0" rIns="0" bIns="0">
              <a:spAutoFit/>
            </a:bodyPr>
            <a:lstStyle/>
            <a:p>
              <a:r>
                <a:rPr lang="en-US" altLang="zh-CN" b="1" dirty="0">
                  <a:solidFill>
                    <a:srgbClr val="C00000"/>
                  </a:solidFill>
                </a:rPr>
                <a:t>0 </a:t>
              </a:r>
              <a:endParaRPr lang="zh-CN" altLang="en-US" b="1" dirty="0">
                <a:solidFill>
                  <a:srgbClr val="C00000"/>
                </a:solidFill>
              </a:endParaRPr>
            </a:p>
          </p:txBody>
        </p:sp>
        <p:sp>
          <p:nvSpPr>
            <p:cNvPr id="142" name="矩形 141"/>
            <p:cNvSpPr/>
            <p:nvPr/>
          </p:nvSpPr>
          <p:spPr>
            <a:xfrm>
              <a:off x="1184853" y="4182522"/>
              <a:ext cx="169918" cy="276999"/>
            </a:xfrm>
            <a:prstGeom prst="rect">
              <a:avLst/>
            </a:prstGeom>
            <a:noFill/>
          </p:spPr>
          <p:txBody>
            <a:bodyPr wrap="none" lIns="0" tIns="0" rIns="0" bIns="0">
              <a:spAutoFit/>
            </a:bodyPr>
            <a:lstStyle/>
            <a:p>
              <a:r>
                <a:rPr lang="en-US" altLang="zh-CN" b="1" dirty="0">
                  <a:solidFill>
                    <a:srgbClr val="C00000"/>
                  </a:solidFill>
                </a:rPr>
                <a:t>0 </a:t>
              </a:r>
              <a:endParaRPr lang="zh-CN" altLang="en-US" b="1" dirty="0">
                <a:solidFill>
                  <a:srgbClr val="C00000"/>
                </a:solidFill>
              </a:endParaRPr>
            </a:p>
          </p:txBody>
        </p:sp>
        <p:sp>
          <p:nvSpPr>
            <p:cNvPr id="155" name="圆角矩形 154"/>
            <p:cNvSpPr/>
            <p:nvPr/>
          </p:nvSpPr>
          <p:spPr>
            <a:xfrm>
              <a:off x="3939027" y="2204147"/>
              <a:ext cx="1190725" cy="327847"/>
            </a:xfrm>
            <a:prstGeom prst="roundRect">
              <a:avLst/>
            </a:prstGeom>
            <a:solidFill>
              <a:srgbClr val="CC00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黑体" panose="02010609060101010101" pitchFamily="49" charset="-122"/>
                  <a:ea typeface="黑体" panose="02010609060101010101" pitchFamily="49" charset="-122"/>
                </a:rPr>
                <a:t>禁止编码</a:t>
              </a:r>
              <a:endParaRPr lang="zh-CN" altLang="en-US" sz="1400" dirty="0">
                <a:latin typeface="黑体" panose="02010609060101010101" pitchFamily="49" charset="-122"/>
                <a:ea typeface="黑体" panose="02010609060101010101" pitchFamily="49" charset="-122"/>
              </a:endParaRPr>
            </a:p>
          </p:txBody>
        </p:sp>
        <p:sp>
          <p:nvSpPr>
            <p:cNvPr id="156" name="圆角矩形 155"/>
            <p:cNvSpPr/>
            <p:nvPr/>
          </p:nvSpPr>
          <p:spPr>
            <a:xfrm>
              <a:off x="1311575" y="2178952"/>
              <a:ext cx="1190725" cy="327847"/>
            </a:xfrm>
            <a:prstGeom prst="roundRect">
              <a:avLst/>
            </a:prstGeom>
            <a:solidFill>
              <a:srgbClr val="CC00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黑体" panose="02010609060101010101" pitchFamily="49" charset="-122"/>
                  <a:ea typeface="黑体" panose="02010609060101010101" pitchFamily="49" charset="-122"/>
                </a:rPr>
                <a:t>禁止编码</a:t>
              </a:r>
              <a:endParaRPr lang="zh-CN" altLang="en-US" sz="1400" dirty="0">
                <a:latin typeface="黑体" panose="02010609060101010101" pitchFamily="49" charset="-122"/>
                <a:ea typeface="黑体" panose="02010609060101010101" pitchFamily="49" charset="-122"/>
              </a:endParaRPr>
            </a:p>
          </p:txBody>
        </p:sp>
      </p:grpSp>
      <p:sp>
        <p:nvSpPr>
          <p:cNvPr id="24" name="Rectangle 207"/>
          <p:cNvSpPr>
            <a:spLocks noChangeArrowheads="1"/>
          </p:cNvSpPr>
          <p:nvPr/>
        </p:nvSpPr>
        <p:spPr bwMode="auto">
          <a:xfrm>
            <a:off x="532765" y="4524375"/>
            <a:ext cx="8184515" cy="707886"/>
          </a:xfrm>
          <a:prstGeom prst="rect">
            <a:avLst/>
          </a:prstGeom>
          <a:noFill/>
          <a:ln w="9525" algn="ctr">
            <a:noFill/>
            <a:miter lim="800000"/>
          </a:ln>
        </p:spPr>
        <p:txBody>
          <a:bodyPr wrap="square" lIns="0" rIns="0">
            <a:spAutoFit/>
          </a:bodyPr>
          <a:lstStyle/>
          <a:p>
            <a:pPr marL="541655" indent="-541655" algn="l">
              <a:lnSpc>
                <a:spcPct val="125000"/>
              </a:lnSpc>
            </a:pP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EI</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，片（</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）禁止编码，从而</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EO</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，所以片（</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）也禁止编码，整个电路的编码输出</a:t>
            </a:r>
            <a:r>
              <a:rPr lang="en-US" altLang="zh-CN"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=0000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是非编码输出；</a:t>
            </a:r>
            <a:endPar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spd="slow">
    <p:push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1000"/>
                                        <p:tgtEl>
                                          <p:spTgt spid="5"/>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24"/>
                                        </p:tgtEl>
                                        <p:attrNameLst>
                                          <p:attrName>style.visibility</p:attrName>
                                        </p:attrNameLst>
                                      </p:cBhvr>
                                      <p:to>
                                        <p:strVal val="visible"/>
                                      </p:to>
                                    </p:set>
                                    <p:animEffect transition="in" filter="wipe(up)">
                                      <p:cBhvr>
                                        <p:cTn id="11" dur="10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对象 34"/>
          <p:cNvGraphicFramePr>
            <a:graphicFrameLocks noChangeAspect="1"/>
          </p:cNvGraphicFramePr>
          <p:nvPr/>
        </p:nvGraphicFramePr>
        <p:xfrm>
          <a:off x="408694" y="1365863"/>
          <a:ext cx="5621443" cy="2948502"/>
        </p:xfrm>
        <a:graphic>
          <a:graphicData uri="http://schemas.openxmlformats.org/presentationml/2006/ole">
            <mc:AlternateContent xmlns:mc="http://schemas.openxmlformats.org/markup-compatibility/2006">
              <mc:Choice xmlns:v="urn:schemas-microsoft-com:vml" Requires="v">
                <p:oleObj spid="_x0000_s29709" name="Visio" r:id="rId1" imgW="2990850" imgH="1571625" progId="">
                  <p:embed/>
                </p:oleObj>
              </mc:Choice>
              <mc:Fallback>
                <p:oleObj name="Visio" r:id="rId1" imgW="2990850" imgH="1571625" progId="">
                  <p:embed/>
                  <p:pic>
                    <p:nvPicPr>
                      <p:cNvPr id="0" name="对象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694" y="1365863"/>
                        <a:ext cx="5621443" cy="29485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组合 47"/>
          <p:cNvGrpSpPr/>
          <p:nvPr/>
        </p:nvGrpSpPr>
        <p:grpSpPr>
          <a:xfrm>
            <a:off x="392434" y="769746"/>
            <a:ext cx="5108279" cy="420971"/>
            <a:chOff x="670560" y="892917"/>
            <a:chExt cx="5108279" cy="420971"/>
          </a:xfrm>
        </p:grpSpPr>
        <p:sp>
          <p:nvSpPr>
            <p:cNvPr id="49" name="矩形 48"/>
            <p:cNvSpPr/>
            <p:nvPr/>
          </p:nvSpPr>
          <p:spPr>
            <a:xfrm>
              <a:off x="1035233" y="913778"/>
              <a:ext cx="4743606"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CD4532</a:t>
              </a:r>
              <a:r>
                <a:rPr lang="zh-CN" altLang="en-US" sz="2000" b="1" dirty="0">
                  <a:solidFill>
                    <a:srgbClr val="002060"/>
                  </a:solidFill>
                  <a:latin typeface="微软雅黑" panose="020B0503020204020204" pitchFamily="34" charset="-122"/>
                  <a:ea typeface="微软雅黑" panose="020B0503020204020204" pitchFamily="34" charset="-122"/>
                </a:rPr>
                <a:t>应用（</a:t>
              </a:r>
              <a:r>
                <a:rPr lang="zh-CN" altLang="en-US" sz="1600" b="1" dirty="0">
                  <a:solidFill>
                    <a:srgbClr val="FF00FF"/>
                  </a:solidFill>
                  <a:latin typeface="微软雅黑" panose="020B0503020204020204" pitchFamily="34" charset="-122"/>
                  <a:ea typeface="微软雅黑" panose="020B0503020204020204" pitchFamily="34" charset="-122"/>
                </a:rPr>
                <a:t>扩展为</a:t>
              </a:r>
              <a:r>
                <a:rPr lang="en-US" altLang="zh-CN" sz="1600" b="1" dirty="0">
                  <a:solidFill>
                    <a:srgbClr val="FF00FF"/>
                  </a:solidFill>
                  <a:latin typeface="微软雅黑" panose="020B0503020204020204" pitchFamily="34" charset="-122"/>
                  <a:ea typeface="微软雅黑" panose="020B0503020204020204" pitchFamily="34" charset="-122"/>
                </a:rPr>
                <a:t>16</a:t>
              </a:r>
              <a:r>
                <a:rPr lang="zh-CN" altLang="en-US" sz="1600" b="1" dirty="0">
                  <a:solidFill>
                    <a:srgbClr val="FF00FF"/>
                  </a:solidFill>
                  <a:latin typeface="微软雅黑" panose="020B0503020204020204" pitchFamily="34" charset="-122"/>
                  <a:ea typeface="微软雅黑" panose="020B0503020204020204" pitchFamily="34" charset="-122"/>
                </a:rPr>
                <a:t>线</a:t>
              </a:r>
              <a:r>
                <a:rPr lang="en-US" altLang="zh-CN" sz="1600" b="1" dirty="0">
                  <a:solidFill>
                    <a:srgbClr val="FF00FF"/>
                  </a:solidFill>
                  <a:latin typeface="微软雅黑" panose="020B0503020204020204" pitchFamily="34" charset="-122"/>
                  <a:ea typeface="微软雅黑" panose="020B0503020204020204" pitchFamily="34" charset="-122"/>
                </a:rPr>
                <a:t>-4</a:t>
              </a:r>
              <a:r>
                <a:rPr lang="zh-CN" altLang="en-US" sz="1600" b="1" dirty="0">
                  <a:solidFill>
                    <a:srgbClr val="FF00FF"/>
                  </a:solidFill>
                  <a:latin typeface="微软雅黑" panose="020B0503020204020204" pitchFamily="34" charset="-122"/>
                  <a:ea typeface="微软雅黑" panose="020B0503020204020204" pitchFamily="34" charset="-122"/>
                </a:rPr>
                <a:t>线优先编码器</a:t>
              </a:r>
              <a:r>
                <a:rPr lang="zh-CN" altLang="en-US" sz="2000" b="1" dirty="0">
                  <a:solidFill>
                    <a:srgbClr val="002060"/>
                  </a:solidFill>
                  <a:latin typeface="微软雅黑" panose="020B0503020204020204" pitchFamily="34" charset="-122"/>
                  <a:ea typeface="微软雅黑" panose="020B0503020204020204" pitchFamily="34" charset="-122"/>
                </a:rPr>
                <a: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50"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47" name="Rectangle 6"/>
          <p:cNvSpPr>
            <a:spLocks noChangeArrowheads="1"/>
          </p:cNvSpPr>
          <p:nvPr/>
        </p:nvSpPr>
        <p:spPr bwMode="auto">
          <a:xfrm>
            <a:off x="531178" y="4701857"/>
            <a:ext cx="8247062" cy="584775"/>
          </a:xfrm>
          <a:prstGeom prst="rect">
            <a:avLst/>
          </a:prstGeom>
          <a:noFill/>
          <a:ln w="9525" algn="ctr">
            <a:noFill/>
            <a:miter lim="800000"/>
          </a:ln>
        </p:spPr>
        <p:txBody>
          <a:bodyPr wrap="square" lIns="0" rIns="0">
            <a:spAutoFit/>
          </a:bodyPr>
          <a:lstStyle/>
          <a:p>
            <a:pPr marL="449580" indent="-449580" algn="l"/>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EI</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，片（</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）允许编码，若</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15</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8</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有有效编码输入，则</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EO</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，使</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EI</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，从而禁止片（</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）编码；</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=1000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1111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（对应</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8</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15</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0" name="组合 9"/>
          <p:cNvGrpSpPr/>
          <p:nvPr/>
        </p:nvGrpSpPr>
        <p:grpSpPr>
          <a:xfrm>
            <a:off x="686241" y="1142308"/>
            <a:ext cx="5092768" cy="3374242"/>
            <a:chOff x="694192" y="1182063"/>
            <a:chExt cx="5092768" cy="3374242"/>
          </a:xfrm>
        </p:grpSpPr>
        <p:sp>
          <p:nvSpPr>
            <p:cNvPr id="26" name="圆角矩形 25"/>
            <p:cNvSpPr/>
            <p:nvPr/>
          </p:nvSpPr>
          <p:spPr>
            <a:xfrm>
              <a:off x="4403933" y="2735477"/>
              <a:ext cx="990459" cy="311823"/>
            </a:xfrm>
            <a:prstGeom prst="roundRect">
              <a:avLst>
                <a:gd name="adj" fmla="val 791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b="1" dirty="0">
                  <a:solidFill>
                    <a:srgbClr val="0000FF"/>
                  </a:solidFill>
                </a:rPr>
                <a:t>0     0     0</a:t>
              </a:r>
              <a:endParaRPr lang="zh-CN" altLang="en-US" b="1" dirty="0">
                <a:solidFill>
                  <a:srgbClr val="0000FF"/>
                </a:solidFill>
              </a:endParaRPr>
            </a:p>
          </p:txBody>
        </p:sp>
        <p:sp>
          <p:nvSpPr>
            <p:cNvPr id="29" name="矩形 28"/>
            <p:cNvSpPr/>
            <p:nvPr/>
          </p:nvSpPr>
          <p:spPr>
            <a:xfrm>
              <a:off x="694192" y="2319386"/>
              <a:ext cx="169918" cy="276999"/>
            </a:xfrm>
            <a:prstGeom prst="rect">
              <a:avLst/>
            </a:prstGeom>
          </p:spPr>
          <p:txBody>
            <a:bodyPr wrap="none" lIns="0" tIns="0" rIns="0" bIns="0">
              <a:spAutoFit/>
            </a:bodyPr>
            <a:lstStyle/>
            <a:p>
              <a:r>
                <a:rPr lang="en-US" altLang="zh-CN" b="1" dirty="0">
                  <a:solidFill>
                    <a:srgbClr val="FF00FF"/>
                  </a:solidFill>
                </a:rPr>
                <a:t>1 </a:t>
              </a:r>
              <a:endParaRPr lang="zh-CN" altLang="en-US" b="1" dirty="0"/>
            </a:p>
          </p:txBody>
        </p:sp>
        <p:sp>
          <p:nvSpPr>
            <p:cNvPr id="30" name="矩形 29"/>
            <p:cNvSpPr/>
            <p:nvPr/>
          </p:nvSpPr>
          <p:spPr>
            <a:xfrm>
              <a:off x="2938566" y="2319386"/>
              <a:ext cx="169918" cy="276999"/>
            </a:xfrm>
            <a:prstGeom prst="rect">
              <a:avLst/>
            </a:prstGeom>
          </p:spPr>
          <p:txBody>
            <a:bodyPr wrap="none" lIns="0" tIns="0" rIns="0" bIns="0">
              <a:spAutoFit/>
            </a:bodyPr>
            <a:lstStyle/>
            <a:p>
              <a:r>
                <a:rPr lang="en-US" altLang="zh-CN" b="1" dirty="0">
                  <a:solidFill>
                    <a:srgbClr val="FF00FF"/>
                  </a:solidFill>
                </a:rPr>
                <a:t>0 </a:t>
              </a:r>
              <a:endParaRPr lang="zh-CN" altLang="en-US" b="1" dirty="0"/>
            </a:p>
          </p:txBody>
        </p:sp>
        <p:sp>
          <p:nvSpPr>
            <p:cNvPr id="31" name="矩形 30"/>
            <p:cNvSpPr/>
            <p:nvPr/>
          </p:nvSpPr>
          <p:spPr>
            <a:xfrm>
              <a:off x="3255545" y="2319389"/>
              <a:ext cx="169918" cy="276999"/>
            </a:xfrm>
            <a:prstGeom prst="rect">
              <a:avLst/>
            </a:prstGeom>
          </p:spPr>
          <p:txBody>
            <a:bodyPr wrap="none" lIns="0" tIns="0" rIns="0" bIns="0">
              <a:spAutoFit/>
            </a:bodyPr>
            <a:lstStyle/>
            <a:p>
              <a:r>
                <a:rPr lang="en-US" altLang="zh-CN" b="1" dirty="0">
                  <a:solidFill>
                    <a:srgbClr val="FF00FF"/>
                  </a:solidFill>
                </a:rPr>
                <a:t>0 </a:t>
              </a:r>
              <a:endParaRPr lang="zh-CN" altLang="en-US" b="1" dirty="0"/>
            </a:p>
          </p:txBody>
        </p:sp>
        <p:sp>
          <p:nvSpPr>
            <p:cNvPr id="32" name="矩形 31"/>
            <p:cNvSpPr/>
            <p:nvPr/>
          </p:nvSpPr>
          <p:spPr>
            <a:xfrm>
              <a:off x="5558903" y="2319389"/>
              <a:ext cx="117020" cy="276999"/>
            </a:xfrm>
            <a:prstGeom prst="rect">
              <a:avLst/>
            </a:prstGeom>
          </p:spPr>
          <p:txBody>
            <a:bodyPr wrap="none" lIns="0" tIns="0" rIns="0" bIns="0">
              <a:spAutoFit/>
            </a:bodyPr>
            <a:lstStyle/>
            <a:p>
              <a:r>
                <a:rPr lang="en-US" altLang="zh-CN" b="1" dirty="0">
                  <a:solidFill>
                    <a:srgbClr val="FF00FF"/>
                  </a:solidFill>
                </a:rPr>
                <a:t>0</a:t>
              </a:r>
              <a:endParaRPr lang="zh-CN" altLang="en-US" b="1" dirty="0">
                <a:solidFill>
                  <a:srgbClr val="FF00FF"/>
                </a:solidFill>
              </a:endParaRPr>
            </a:p>
          </p:txBody>
        </p:sp>
        <p:sp>
          <p:nvSpPr>
            <p:cNvPr id="33" name="矩形 32"/>
            <p:cNvSpPr/>
            <p:nvPr/>
          </p:nvSpPr>
          <p:spPr>
            <a:xfrm>
              <a:off x="1205800" y="2826456"/>
              <a:ext cx="169918" cy="276999"/>
            </a:xfrm>
            <a:prstGeom prst="rect">
              <a:avLst/>
            </a:prstGeom>
          </p:spPr>
          <p:txBody>
            <a:bodyPr wrap="none" lIns="0" tIns="0" rIns="0" bIns="0">
              <a:spAutoFit/>
            </a:bodyPr>
            <a:lstStyle/>
            <a:p>
              <a:r>
                <a:rPr lang="en-US" altLang="zh-CN" b="1" dirty="0">
                  <a:solidFill>
                    <a:srgbClr val="C00000"/>
                  </a:solidFill>
                </a:rPr>
                <a:t>1 </a:t>
              </a:r>
              <a:endParaRPr lang="zh-CN" altLang="en-US" b="1" dirty="0">
                <a:solidFill>
                  <a:srgbClr val="C00000"/>
                </a:solidFill>
              </a:endParaRPr>
            </a:p>
          </p:txBody>
        </p:sp>
        <p:sp>
          <p:nvSpPr>
            <p:cNvPr id="34" name="矩形 33"/>
            <p:cNvSpPr/>
            <p:nvPr/>
          </p:nvSpPr>
          <p:spPr>
            <a:xfrm>
              <a:off x="3503071" y="2736814"/>
              <a:ext cx="169918" cy="276999"/>
            </a:xfrm>
            <a:prstGeom prst="rect">
              <a:avLst/>
            </a:prstGeom>
          </p:spPr>
          <p:txBody>
            <a:bodyPr wrap="none" lIns="0" tIns="0" rIns="0" bIns="0">
              <a:spAutoFit/>
            </a:bodyPr>
            <a:lstStyle/>
            <a:p>
              <a:r>
                <a:rPr lang="en-US" altLang="zh-CN" b="1" dirty="0">
                  <a:solidFill>
                    <a:srgbClr val="C00000"/>
                  </a:solidFill>
                </a:rPr>
                <a:t>0 </a:t>
              </a:r>
              <a:endParaRPr lang="zh-CN" altLang="en-US" b="1" dirty="0">
                <a:solidFill>
                  <a:srgbClr val="C00000"/>
                </a:solidFill>
              </a:endParaRPr>
            </a:p>
          </p:txBody>
        </p:sp>
        <p:sp>
          <p:nvSpPr>
            <p:cNvPr id="36" name="圆角矩形 35"/>
            <p:cNvSpPr/>
            <p:nvPr/>
          </p:nvSpPr>
          <p:spPr>
            <a:xfrm>
              <a:off x="3976031" y="2240093"/>
              <a:ext cx="1190725" cy="327847"/>
            </a:xfrm>
            <a:prstGeom prst="roundRect">
              <a:avLst/>
            </a:prstGeom>
            <a:solidFill>
              <a:srgbClr val="CC00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黑体" panose="02010609060101010101" pitchFamily="49" charset="-122"/>
                  <a:ea typeface="黑体" panose="02010609060101010101" pitchFamily="49" charset="-122"/>
                </a:rPr>
                <a:t>禁止编码</a:t>
              </a:r>
              <a:endParaRPr lang="zh-CN" altLang="en-US" sz="1400" dirty="0">
                <a:latin typeface="黑体" panose="02010609060101010101" pitchFamily="49" charset="-122"/>
                <a:ea typeface="黑体" panose="02010609060101010101" pitchFamily="49" charset="-122"/>
              </a:endParaRPr>
            </a:p>
          </p:txBody>
        </p:sp>
        <p:sp>
          <p:nvSpPr>
            <p:cNvPr id="37" name="圆角矩形 36"/>
            <p:cNvSpPr/>
            <p:nvPr/>
          </p:nvSpPr>
          <p:spPr>
            <a:xfrm>
              <a:off x="1311575" y="2201812"/>
              <a:ext cx="1190725" cy="327847"/>
            </a:xfrm>
            <a:prstGeom prst="roundRect">
              <a:avLst/>
            </a:prstGeom>
            <a:solidFill>
              <a:srgbClr val="CC00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黑体" panose="02010609060101010101" pitchFamily="49" charset="-122"/>
                  <a:ea typeface="黑体" panose="02010609060101010101" pitchFamily="49" charset="-122"/>
                </a:rPr>
                <a:t>正常编码</a:t>
              </a:r>
              <a:endParaRPr lang="zh-CN" altLang="en-US" sz="1400" dirty="0">
                <a:latin typeface="黑体" panose="02010609060101010101" pitchFamily="49" charset="-122"/>
                <a:ea typeface="黑体" panose="02010609060101010101" pitchFamily="49" charset="-122"/>
              </a:endParaRPr>
            </a:p>
          </p:txBody>
        </p:sp>
        <p:sp>
          <p:nvSpPr>
            <p:cNvPr id="57" name="圆角矩形 56"/>
            <p:cNvSpPr/>
            <p:nvPr/>
          </p:nvSpPr>
          <p:spPr>
            <a:xfrm>
              <a:off x="909167" y="1182063"/>
              <a:ext cx="2003672" cy="311823"/>
            </a:xfrm>
            <a:prstGeom prst="roundRect">
              <a:avLst>
                <a:gd name="adj" fmla="val 791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b="1" dirty="0">
                  <a:solidFill>
                    <a:srgbClr val="CC00CC"/>
                  </a:solidFill>
                  <a:latin typeface="黑体" panose="02010609060101010101" pitchFamily="49" charset="-122"/>
                  <a:ea typeface="黑体" panose="02010609060101010101" pitchFamily="49" charset="-122"/>
                </a:rPr>
                <a:t>有 编 码 输 入</a:t>
              </a:r>
              <a:endParaRPr lang="zh-CN" altLang="en-US" sz="1600" b="1" dirty="0">
                <a:solidFill>
                  <a:srgbClr val="CC00CC"/>
                </a:solidFill>
                <a:latin typeface="黑体" panose="02010609060101010101" pitchFamily="49" charset="-122"/>
                <a:ea typeface="黑体" panose="02010609060101010101" pitchFamily="49" charset="-122"/>
              </a:endParaRPr>
            </a:p>
          </p:txBody>
        </p:sp>
        <p:grpSp>
          <p:nvGrpSpPr>
            <p:cNvPr id="7" name="组合 65"/>
            <p:cNvGrpSpPr/>
            <p:nvPr/>
          </p:nvGrpSpPr>
          <p:grpSpPr>
            <a:xfrm>
              <a:off x="1137193" y="2815791"/>
              <a:ext cx="615603" cy="1289923"/>
              <a:chOff x="1137193" y="3013911"/>
              <a:chExt cx="615603" cy="1289923"/>
            </a:xfrm>
          </p:grpSpPr>
          <p:grpSp>
            <p:nvGrpSpPr>
              <p:cNvPr id="8" name="组合 57"/>
              <p:cNvGrpSpPr/>
              <p:nvPr/>
            </p:nvGrpSpPr>
            <p:grpSpPr>
              <a:xfrm>
                <a:off x="1137194" y="3575014"/>
                <a:ext cx="615602" cy="728820"/>
                <a:chOff x="2055886" y="3670355"/>
                <a:chExt cx="637898" cy="728820"/>
              </a:xfrm>
            </p:grpSpPr>
            <p:cxnSp>
              <p:nvCxnSpPr>
                <p:cNvPr id="69" name="直接连接符 68"/>
                <p:cNvCxnSpPr/>
                <p:nvPr/>
              </p:nvCxnSpPr>
              <p:spPr>
                <a:xfrm>
                  <a:off x="2693784" y="3670355"/>
                  <a:ext cx="0" cy="72882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2055886" y="3670355"/>
                  <a:ext cx="637898"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cxnSp>
            <p:nvCxnSpPr>
              <p:cNvPr id="68" name="直接连接符 67"/>
              <p:cNvCxnSpPr/>
              <p:nvPr/>
            </p:nvCxnSpPr>
            <p:spPr>
              <a:xfrm>
                <a:off x="1137193" y="3013911"/>
                <a:ext cx="1" cy="698684"/>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72" name="矩形 71"/>
            <p:cNvSpPr/>
            <p:nvPr/>
          </p:nvSpPr>
          <p:spPr>
            <a:xfrm>
              <a:off x="1691299" y="4184143"/>
              <a:ext cx="169918" cy="276999"/>
            </a:xfrm>
            <a:prstGeom prst="rect">
              <a:avLst/>
            </a:prstGeom>
          </p:spPr>
          <p:txBody>
            <a:bodyPr wrap="none" lIns="0" tIns="0" rIns="0" bIns="0">
              <a:spAutoFit/>
            </a:bodyPr>
            <a:lstStyle/>
            <a:p>
              <a:r>
                <a:rPr lang="en-US" altLang="zh-CN" b="1" dirty="0">
                  <a:solidFill>
                    <a:srgbClr val="0000FF"/>
                  </a:solidFill>
                </a:rPr>
                <a:t>1 </a:t>
              </a:r>
              <a:endParaRPr lang="zh-CN" altLang="en-US" b="1" dirty="0">
                <a:solidFill>
                  <a:srgbClr val="0000FF"/>
                </a:solidFill>
              </a:endParaRPr>
            </a:p>
          </p:txBody>
        </p:sp>
        <p:sp>
          <p:nvSpPr>
            <p:cNvPr id="74" name="圆角矩形 73"/>
            <p:cNvSpPr/>
            <p:nvPr/>
          </p:nvSpPr>
          <p:spPr>
            <a:xfrm>
              <a:off x="1886841" y="2754109"/>
              <a:ext cx="1187440" cy="311823"/>
            </a:xfrm>
            <a:prstGeom prst="roundRect">
              <a:avLst>
                <a:gd name="adj" fmla="val 791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b="1" dirty="0">
                  <a:solidFill>
                    <a:srgbClr val="0000FF"/>
                  </a:solidFill>
                  <a:latin typeface="Times New Roman" panose="02020603050405020304" pitchFamily="18" charset="0"/>
                  <a:cs typeface="Times New Roman" panose="02020603050405020304" pitchFamily="18" charset="0"/>
                </a:rPr>
                <a:t>Y</a:t>
              </a:r>
              <a:r>
                <a:rPr lang="en-US" altLang="zh-CN" b="1" baseline="-25000" dirty="0">
                  <a:solidFill>
                    <a:srgbClr val="0000FF"/>
                  </a:solidFill>
                  <a:latin typeface="Times New Roman" panose="02020603050405020304" pitchFamily="18" charset="0"/>
                  <a:cs typeface="Times New Roman" panose="02020603050405020304" pitchFamily="18" charset="0"/>
                </a:rPr>
                <a:t>2</a:t>
              </a:r>
              <a:r>
                <a:rPr lang="en-US" altLang="zh-CN" b="1" dirty="0">
                  <a:solidFill>
                    <a:srgbClr val="0000FF"/>
                  </a:solidFill>
                  <a:latin typeface="Times New Roman" panose="02020603050405020304" pitchFamily="18" charset="0"/>
                  <a:cs typeface="Times New Roman" panose="02020603050405020304" pitchFamily="18" charset="0"/>
                </a:rPr>
                <a:t>  Y</a:t>
              </a:r>
              <a:r>
                <a:rPr lang="en-US" altLang="zh-CN" b="1" baseline="-25000" dirty="0">
                  <a:solidFill>
                    <a:srgbClr val="0000FF"/>
                  </a:solidFill>
                  <a:latin typeface="Times New Roman" panose="02020603050405020304" pitchFamily="18" charset="0"/>
                  <a:cs typeface="Times New Roman" panose="02020603050405020304" pitchFamily="18" charset="0"/>
                </a:rPr>
                <a:t>1</a:t>
              </a:r>
              <a:r>
                <a:rPr lang="en-US" altLang="zh-CN" b="1" dirty="0">
                  <a:solidFill>
                    <a:srgbClr val="0000FF"/>
                  </a:solidFill>
                  <a:latin typeface="Times New Roman" panose="02020603050405020304" pitchFamily="18" charset="0"/>
                  <a:cs typeface="Times New Roman" panose="02020603050405020304" pitchFamily="18" charset="0"/>
                </a:rPr>
                <a:t>  Y</a:t>
              </a:r>
              <a:r>
                <a:rPr lang="en-US" altLang="zh-CN" b="1" baseline="-25000" dirty="0">
                  <a:solidFill>
                    <a:srgbClr val="0000FF"/>
                  </a:solidFill>
                  <a:latin typeface="Times New Roman" panose="02020603050405020304" pitchFamily="18" charset="0"/>
                  <a:cs typeface="Times New Roman" panose="02020603050405020304" pitchFamily="18" charset="0"/>
                </a:rPr>
                <a:t>0</a:t>
              </a:r>
              <a:endParaRPr lang="zh-CN" altLang="en-US" b="1" dirty="0">
                <a:solidFill>
                  <a:srgbClr val="0000FF"/>
                </a:solidFill>
                <a:latin typeface="Times New Roman" panose="02020603050405020304" pitchFamily="18" charset="0"/>
                <a:cs typeface="Times New Roman" panose="02020603050405020304" pitchFamily="18" charset="0"/>
              </a:endParaRPr>
            </a:p>
          </p:txBody>
        </p:sp>
        <p:sp>
          <p:nvSpPr>
            <p:cNvPr id="80" name="矩形 79"/>
            <p:cNvSpPr/>
            <p:nvPr/>
          </p:nvSpPr>
          <p:spPr>
            <a:xfrm>
              <a:off x="1226616" y="4184142"/>
              <a:ext cx="169918" cy="276999"/>
            </a:xfrm>
            <a:prstGeom prst="rect">
              <a:avLst/>
            </a:prstGeom>
          </p:spPr>
          <p:txBody>
            <a:bodyPr wrap="none" lIns="0" tIns="0" rIns="0" bIns="0">
              <a:spAutoFit/>
            </a:bodyPr>
            <a:lstStyle/>
            <a:p>
              <a:r>
                <a:rPr lang="en-US" altLang="zh-CN" b="1" dirty="0">
                  <a:solidFill>
                    <a:srgbClr val="C00000"/>
                  </a:solidFill>
                </a:rPr>
                <a:t>1 </a:t>
              </a:r>
              <a:endParaRPr lang="zh-CN" altLang="en-US" b="1" dirty="0">
                <a:solidFill>
                  <a:srgbClr val="C00000"/>
                </a:solidFill>
              </a:endParaRPr>
            </a:p>
          </p:txBody>
        </p:sp>
        <p:sp>
          <p:nvSpPr>
            <p:cNvPr id="45" name="圆角矩形 73"/>
            <p:cNvSpPr/>
            <p:nvPr/>
          </p:nvSpPr>
          <p:spPr>
            <a:xfrm>
              <a:off x="2814384" y="4244482"/>
              <a:ext cx="2972576" cy="311823"/>
            </a:xfrm>
            <a:prstGeom prst="roundRect">
              <a:avLst>
                <a:gd name="adj" fmla="val 791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b="1" dirty="0">
                  <a:solidFill>
                    <a:srgbClr val="0000FF"/>
                  </a:solidFill>
                  <a:latin typeface="Times New Roman" panose="02020603050405020304" pitchFamily="18" charset="0"/>
                  <a:cs typeface="Times New Roman" panose="02020603050405020304" pitchFamily="18" charset="0"/>
                </a:rPr>
                <a:t>Y</a:t>
              </a:r>
              <a:r>
                <a:rPr lang="en-US" altLang="zh-CN" b="1" baseline="-25000" dirty="0">
                  <a:solidFill>
                    <a:srgbClr val="0000FF"/>
                  </a:solidFill>
                  <a:latin typeface="Times New Roman" panose="02020603050405020304" pitchFamily="18" charset="0"/>
                  <a:cs typeface="Times New Roman" panose="02020603050405020304" pitchFamily="18" charset="0"/>
                </a:rPr>
                <a:t>2</a:t>
              </a:r>
              <a:r>
                <a:rPr lang="en-US" altLang="zh-CN" b="1" dirty="0">
                  <a:solidFill>
                    <a:srgbClr val="0000FF"/>
                  </a:solidFill>
                  <a:latin typeface="Times New Roman" panose="02020603050405020304" pitchFamily="18" charset="0"/>
                  <a:cs typeface="Times New Roman" panose="02020603050405020304" pitchFamily="18" charset="0"/>
                </a:rPr>
                <a:t>             Y</a:t>
              </a:r>
              <a:r>
                <a:rPr lang="en-US" altLang="zh-CN" b="1" baseline="-25000" dirty="0">
                  <a:solidFill>
                    <a:srgbClr val="0000FF"/>
                  </a:solidFill>
                  <a:latin typeface="Times New Roman" panose="02020603050405020304" pitchFamily="18" charset="0"/>
                  <a:cs typeface="Times New Roman" panose="02020603050405020304" pitchFamily="18" charset="0"/>
                </a:rPr>
                <a:t>1</a:t>
              </a:r>
              <a:r>
                <a:rPr lang="en-US" altLang="zh-CN" b="1" dirty="0">
                  <a:solidFill>
                    <a:srgbClr val="0000FF"/>
                  </a:solidFill>
                  <a:latin typeface="Times New Roman" panose="02020603050405020304" pitchFamily="18" charset="0"/>
                  <a:cs typeface="Times New Roman" panose="02020603050405020304" pitchFamily="18" charset="0"/>
                </a:rPr>
                <a:t>               Y</a:t>
              </a:r>
              <a:r>
                <a:rPr lang="en-US" altLang="zh-CN" b="1" baseline="-25000" dirty="0">
                  <a:solidFill>
                    <a:srgbClr val="0000FF"/>
                  </a:solidFill>
                  <a:latin typeface="Times New Roman" panose="02020603050405020304" pitchFamily="18" charset="0"/>
                  <a:cs typeface="Times New Roman" panose="02020603050405020304" pitchFamily="18" charset="0"/>
                </a:rPr>
                <a:t>0</a:t>
              </a:r>
              <a:endParaRPr lang="zh-CN" altLang="en-US" b="1" dirty="0">
                <a:solidFill>
                  <a:srgbClr val="0000FF"/>
                </a:solidFill>
                <a:latin typeface="Times New Roman" panose="02020603050405020304" pitchFamily="18" charset="0"/>
                <a:cs typeface="Times New Roman" panose="02020603050405020304" pitchFamily="18" charset="0"/>
              </a:endParaRPr>
            </a:p>
          </p:txBody>
        </p:sp>
      </p:grpSp>
      <p:pic>
        <p:nvPicPr>
          <p:cNvPr id="38" name="Picture 2"/>
          <p:cNvPicPr>
            <a:picLocks noChangeAspect="1" noChangeArrowheads="1"/>
          </p:cNvPicPr>
          <p:nvPr/>
        </p:nvPicPr>
        <p:blipFill>
          <a:blip r:embed="rId4" cstate="print"/>
          <a:srcRect/>
          <a:stretch>
            <a:fillRect/>
          </a:stretch>
        </p:blipFill>
        <p:spPr bwMode="auto">
          <a:xfrm>
            <a:off x="6317584" y="750539"/>
            <a:ext cx="2610755" cy="2053621"/>
          </a:xfrm>
          <a:prstGeom prst="rect">
            <a:avLst/>
          </a:prstGeom>
          <a:noFill/>
          <a:ln w="9525">
            <a:noFill/>
            <a:miter lim="800000"/>
            <a:headEnd/>
            <a:tailEnd/>
          </a:ln>
        </p:spPr>
      </p:pic>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1000"/>
                                        <p:tgtEl>
                                          <p:spTgt spid="10"/>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wipe(up)">
                                      <p:cBhvr>
                                        <p:cTn id="11" dur="10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5" name="对象 64"/>
          <p:cNvGraphicFramePr>
            <a:graphicFrameLocks noChangeAspect="1"/>
          </p:cNvGraphicFramePr>
          <p:nvPr/>
        </p:nvGraphicFramePr>
        <p:xfrm>
          <a:off x="408694" y="1365863"/>
          <a:ext cx="5621443" cy="2948502"/>
        </p:xfrm>
        <a:graphic>
          <a:graphicData uri="http://schemas.openxmlformats.org/presentationml/2006/ole">
            <mc:AlternateContent xmlns:mc="http://schemas.openxmlformats.org/markup-compatibility/2006">
              <mc:Choice xmlns:v="urn:schemas-microsoft-com:vml" Requires="v">
                <p:oleObj spid="_x0000_s30733" name="Visio" r:id="rId1" imgW="2990850" imgH="1571625" progId="">
                  <p:embed/>
                </p:oleObj>
              </mc:Choice>
              <mc:Fallback>
                <p:oleObj name="Visio" r:id="rId1" imgW="2990850" imgH="1571625" progId="">
                  <p:embed/>
                  <p:pic>
                    <p:nvPicPr>
                      <p:cNvPr id="0" name="对象 6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694" y="1365863"/>
                        <a:ext cx="5621443" cy="29485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组合 47"/>
          <p:cNvGrpSpPr/>
          <p:nvPr/>
        </p:nvGrpSpPr>
        <p:grpSpPr>
          <a:xfrm>
            <a:off x="392434" y="769746"/>
            <a:ext cx="5108279" cy="420971"/>
            <a:chOff x="670560" y="892917"/>
            <a:chExt cx="5108279" cy="420971"/>
          </a:xfrm>
        </p:grpSpPr>
        <p:sp>
          <p:nvSpPr>
            <p:cNvPr id="49" name="矩形 48"/>
            <p:cNvSpPr/>
            <p:nvPr/>
          </p:nvSpPr>
          <p:spPr>
            <a:xfrm>
              <a:off x="1035233" y="913778"/>
              <a:ext cx="4743606"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CD4532</a:t>
              </a:r>
              <a:r>
                <a:rPr lang="zh-CN" altLang="en-US" sz="2000" b="1" dirty="0">
                  <a:solidFill>
                    <a:srgbClr val="002060"/>
                  </a:solidFill>
                  <a:latin typeface="微软雅黑" panose="020B0503020204020204" pitchFamily="34" charset="-122"/>
                  <a:ea typeface="微软雅黑" panose="020B0503020204020204" pitchFamily="34" charset="-122"/>
                </a:rPr>
                <a:t>应用（</a:t>
              </a:r>
              <a:r>
                <a:rPr lang="zh-CN" altLang="en-US" sz="1600" b="1" dirty="0">
                  <a:solidFill>
                    <a:srgbClr val="FF00FF"/>
                  </a:solidFill>
                  <a:latin typeface="微软雅黑" panose="020B0503020204020204" pitchFamily="34" charset="-122"/>
                  <a:ea typeface="微软雅黑" panose="020B0503020204020204" pitchFamily="34" charset="-122"/>
                </a:rPr>
                <a:t>扩展为</a:t>
              </a:r>
              <a:r>
                <a:rPr lang="en-US" altLang="zh-CN" sz="1600" b="1" dirty="0">
                  <a:solidFill>
                    <a:srgbClr val="FF00FF"/>
                  </a:solidFill>
                  <a:latin typeface="微软雅黑" panose="020B0503020204020204" pitchFamily="34" charset="-122"/>
                  <a:ea typeface="微软雅黑" panose="020B0503020204020204" pitchFamily="34" charset="-122"/>
                </a:rPr>
                <a:t>16</a:t>
              </a:r>
              <a:r>
                <a:rPr lang="zh-CN" altLang="en-US" sz="1600" b="1" dirty="0">
                  <a:solidFill>
                    <a:srgbClr val="FF00FF"/>
                  </a:solidFill>
                  <a:latin typeface="微软雅黑" panose="020B0503020204020204" pitchFamily="34" charset="-122"/>
                  <a:ea typeface="微软雅黑" panose="020B0503020204020204" pitchFamily="34" charset="-122"/>
                </a:rPr>
                <a:t>线</a:t>
              </a:r>
              <a:r>
                <a:rPr lang="en-US" altLang="zh-CN" sz="1600" b="1" dirty="0">
                  <a:solidFill>
                    <a:srgbClr val="FF00FF"/>
                  </a:solidFill>
                  <a:latin typeface="微软雅黑" panose="020B0503020204020204" pitchFamily="34" charset="-122"/>
                  <a:ea typeface="微软雅黑" panose="020B0503020204020204" pitchFamily="34" charset="-122"/>
                </a:rPr>
                <a:t>-4</a:t>
              </a:r>
              <a:r>
                <a:rPr lang="zh-CN" altLang="en-US" sz="1600" b="1" dirty="0">
                  <a:solidFill>
                    <a:srgbClr val="FF00FF"/>
                  </a:solidFill>
                  <a:latin typeface="微软雅黑" panose="020B0503020204020204" pitchFamily="34" charset="-122"/>
                  <a:ea typeface="微软雅黑" panose="020B0503020204020204" pitchFamily="34" charset="-122"/>
                </a:rPr>
                <a:t>线优先编码器</a:t>
              </a:r>
              <a:r>
                <a:rPr lang="zh-CN" altLang="en-US" sz="2000" b="1" dirty="0">
                  <a:solidFill>
                    <a:srgbClr val="002060"/>
                  </a:solidFill>
                  <a:latin typeface="微软雅黑" panose="020B0503020204020204" pitchFamily="34" charset="-122"/>
                  <a:ea typeface="微软雅黑" panose="020B0503020204020204" pitchFamily="34" charset="-122"/>
                </a:rPr>
                <a: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50"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6" name="Rectangle 6"/>
          <p:cNvSpPr>
            <a:spLocks noChangeArrowheads="1"/>
          </p:cNvSpPr>
          <p:nvPr/>
        </p:nvSpPr>
        <p:spPr bwMode="auto">
          <a:xfrm>
            <a:off x="531178" y="4701857"/>
            <a:ext cx="8247062" cy="584775"/>
          </a:xfrm>
          <a:prstGeom prst="rect">
            <a:avLst/>
          </a:prstGeom>
          <a:noFill/>
          <a:ln w="9525" algn="ctr">
            <a:noFill/>
            <a:miter lim="800000"/>
          </a:ln>
        </p:spPr>
        <p:txBody>
          <a:bodyPr wrap="square" lIns="0" rIns="0">
            <a:spAutoFit/>
          </a:bodyPr>
          <a:lstStyle/>
          <a:p>
            <a:pPr marL="449580" indent="-449580"/>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EI</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，片（</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）允许编码，若</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15</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8</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无有效编码输入，则</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EO</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，使</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EI</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，从而允许片（</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）编码；在</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7</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有有效编码输入时，</a:t>
            </a:r>
            <a:r>
              <a:rPr lang="en-US" altLang="zh-CN"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=0000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0111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（对应</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7</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10" name="组合 9"/>
          <p:cNvGrpSpPr/>
          <p:nvPr/>
        </p:nvGrpSpPr>
        <p:grpSpPr>
          <a:xfrm>
            <a:off x="659764" y="1162798"/>
            <a:ext cx="5092910" cy="3328398"/>
            <a:chOff x="659764" y="1162798"/>
            <a:chExt cx="5092910" cy="3328398"/>
          </a:xfrm>
        </p:grpSpPr>
        <p:sp>
          <p:nvSpPr>
            <p:cNvPr id="108" name="圆角矩形 107"/>
            <p:cNvSpPr/>
            <p:nvPr/>
          </p:nvSpPr>
          <p:spPr>
            <a:xfrm>
              <a:off x="886160" y="1205787"/>
              <a:ext cx="2003672" cy="311823"/>
            </a:xfrm>
            <a:prstGeom prst="roundRect">
              <a:avLst>
                <a:gd name="adj" fmla="val 791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b="1" dirty="0">
                  <a:solidFill>
                    <a:srgbClr val="CC00CC"/>
                  </a:solidFill>
                </a:rPr>
                <a:t>0  0  0  0  0  0  0  0</a:t>
              </a:r>
              <a:endParaRPr lang="zh-CN" altLang="en-US" b="1" dirty="0">
                <a:solidFill>
                  <a:srgbClr val="CC00CC"/>
                </a:solidFill>
              </a:endParaRPr>
            </a:p>
          </p:txBody>
        </p:sp>
        <p:sp>
          <p:nvSpPr>
            <p:cNvPr id="21" name="圆角矩形 20"/>
            <p:cNvSpPr/>
            <p:nvPr/>
          </p:nvSpPr>
          <p:spPr>
            <a:xfrm>
              <a:off x="1934622" y="2691409"/>
              <a:ext cx="990459" cy="311823"/>
            </a:xfrm>
            <a:prstGeom prst="roundRect">
              <a:avLst>
                <a:gd name="adj" fmla="val 791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b="1" dirty="0">
                  <a:solidFill>
                    <a:srgbClr val="0000FF"/>
                  </a:solidFill>
                </a:rPr>
                <a:t>0    0    0</a:t>
              </a:r>
              <a:endParaRPr lang="zh-CN" altLang="en-US" b="1" dirty="0">
                <a:solidFill>
                  <a:srgbClr val="0000FF"/>
                </a:solidFill>
              </a:endParaRPr>
            </a:p>
          </p:txBody>
        </p:sp>
        <p:sp>
          <p:nvSpPr>
            <p:cNvPr id="23" name="矩形 22"/>
            <p:cNvSpPr/>
            <p:nvPr/>
          </p:nvSpPr>
          <p:spPr>
            <a:xfrm flipH="1">
              <a:off x="1701580" y="4214197"/>
              <a:ext cx="82019" cy="276999"/>
            </a:xfrm>
            <a:prstGeom prst="rect">
              <a:avLst/>
            </a:prstGeom>
          </p:spPr>
          <p:txBody>
            <a:bodyPr wrap="square" lIns="0" tIns="0" rIns="0" bIns="0">
              <a:spAutoFit/>
            </a:bodyPr>
            <a:lstStyle/>
            <a:p>
              <a:r>
                <a:rPr lang="en-US" altLang="zh-CN" b="1" dirty="0">
                  <a:solidFill>
                    <a:srgbClr val="0000FF"/>
                  </a:solidFill>
                </a:rPr>
                <a:t>0 </a:t>
              </a:r>
              <a:endParaRPr lang="zh-CN" altLang="en-US" b="1" dirty="0">
                <a:solidFill>
                  <a:srgbClr val="0000FF"/>
                </a:solidFill>
              </a:endParaRPr>
            </a:p>
          </p:txBody>
        </p:sp>
        <p:sp>
          <p:nvSpPr>
            <p:cNvPr id="25" name="矩形 24"/>
            <p:cNvSpPr/>
            <p:nvPr/>
          </p:nvSpPr>
          <p:spPr>
            <a:xfrm>
              <a:off x="659764" y="2311213"/>
              <a:ext cx="169918" cy="276999"/>
            </a:xfrm>
            <a:prstGeom prst="rect">
              <a:avLst/>
            </a:prstGeom>
          </p:spPr>
          <p:txBody>
            <a:bodyPr wrap="none" lIns="0" tIns="0" rIns="0" bIns="0">
              <a:spAutoFit/>
            </a:bodyPr>
            <a:lstStyle/>
            <a:p>
              <a:r>
                <a:rPr lang="en-US" altLang="zh-CN" b="1" dirty="0">
                  <a:solidFill>
                    <a:srgbClr val="FF00FF"/>
                  </a:solidFill>
                </a:rPr>
                <a:t>1 </a:t>
              </a:r>
              <a:endParaRPr lang="zh-CN" altLang="en-US" b="1" dirty="0"/>
            </a:p>
          </p:txBody>
        </p:sp>
        <p:sp>
          <p:nvSpPr>
            <p:cNvPr id="26" name="矩形 25"/>
            <p:cNvSpPr/>
            <p:nvPr/>
          </p:nvSpPr>
          <p:spPr>
            <a:xfrm>
              <a:off x="2905768" y="2246171"/>
              <a:ext cx="169918" cy="276999"/>
            </a:xfrm>
            <a:prstGeom prst="rect">
              <a:avLst/>
            </a:prstGeom>
          </p:spPr>
          <p:txBody>
            <a:bodyPr wrap="none" lIns="0" tIns="0" rIns="0" bIns="0">
              <a:spAutoFit/>
            </a:bodyPr>
            <a:lstStyle/>
            <a:p>
              <a:r>
                <a:rPr lang="en-US" altLang="zh-CN" b="1" dirty="0">
                  <a:solidFill>
                    <a:srgbClr val="FF00FF"/>
                  </a:solidFill>
                </a:rPr>
                <a:t>1 </a:t>
              </a:r>
              <a:endParaRPr lang="zh-CN" altLang="en-US" b="1" dirty="0"/>
            </a:p>
          </p:txBody>
        </p:sp>
        <p:sp>
          <p:nvSpPr>
            <p:cNvPr id="27" name="矩形 26"/>
            <p:cNvSpPr/>
            <p:nvPr/>
          </p:nvSpPr>
          <p:spPr>
            <a:xfrm>
              <a:off x="3287353" y="2270024"/>
              <a:ext cx="169918" cy="276999"/>
            </a:xfrm>
            <a:prstGeom prst="rect">
              <a:avLst/>
            </a:prstGeom>
          </p:spPr>
          <p:txBody>
            <a:bodyPr wrap="none" lIns="0" tIns="0" rIns="0" bIns="0">
              <a:spAutoFit/>
            </a:bodyPr>
            <a:lstStyle/>
            <a:p>
              <a:r>
                <a:rPr lang="en-US" altLang="zh-CN" b="1" dirty="0">
                  <a:solidFill>
                    <a:srgbClr val="FF00FF"/>
                  </a:solidFill>
                </a:rPr>
                <a:t>1 </a:t>
              </a:r>
              <a:endParaRPr lang="zh-CN" altLang="en-US" b="1" dirty="0"/>
            </a:p>
          </p:txBody>
        </p:sp>
        <p:sp>
          <p:nvSpPr>
            <p:cNvPr id="28" name="矩形 27"/>
            <p:cNvSpPr/>
            <p:nvPr/>
          </p:nvSpPr>
          <p:spPr>
            <a:xfrm>
              <a:off x="5582756" y="2293877"/>
              <a:ext cx="169918" cy="276999"/>
            </a:xfrm>
            <a:prstGeom prst="rect">
              <a:avLst/>
            </a:prstGeom>
          </p:spPr>
          <p:txBody>
            <a:bodyPr wrap="none" lIns="0" tIns="0" rIns="0" bIns="0">
              <a:spAutoFit/>
            </a:bodyPr>
            <a:lstStyle/>
            <a:p>
              <a:r>
                <a:rPr lang="en-US" altLang="zh-CN" b="1" dirty="0">
                  <a:solidFill>
                    <a:srgbClr val="FF00FF"/>
                  </a:solidFill>
                </a:rPr>
                <a:t>0 </a:t>
              </a:r>
              <a:endParaRPr lang="zh-CN" altLang="en-US" b="1" dirty="0"/>
            </a:p>
          </p:txBody>
        </p:sp>
        <p:sp>
          <p:nvSpPr>
            <p:cNvPr id="29" name="矩形 28"/>
            <p:cNvSpPr/>
            <p:nvPr/>
          </p:nvSpPr>
          <p:spPr>
            <a:xfrm>
              <a:off x="1156699" y="2726233"/>
              <a:ext cx="169918" cy="276999"/>
            </a:xfrm>
            <a:prstGeom prst="rect">
              <a:avLst/>
            </a:prstGeom>
          </p:spPr>
          <p:txBody>
            <a:bodyPr wrap="none" lIns="0" tIns="0" rIns="0" bIns="0">
              <a:spAutoFit/>
            </a:bodyPr>
            <a:lstStyle/>
            <a:p>
              <a:r>
                <a:rPr lang="en-US" altLang="zh-CN" b="1" dirty="0">
                  <a:solidFill>
                    <a:srgbClr val="C00000"/>
                  </a:solidFill>
                </a:rPr>
                <a:t>0 </a:t>
              </a:r>
              <a:endParaRPr lang="zh-CN" altLang="en-US" b="1" dirty="0">
                <a:solidFill>
                  <a:srgbClr val="C00000"/>
                </a:solidFill>
              </a:endParaRPr>
            </a:p>
          </p:txBody>
        </p:sp>
        <p:sp>
          <p:nvSpPr>
            <p:cNvPr id="30" name="矩形 29"/>
            <p:cNvSpPr/>
            <p:nvPr/>
          </p:nvSpPr>
          <p:spPr>
            <a:xfrm>
              <a:off x="3502380" y="2695430"/>
              <a:ext cx="169918" cy="276999"/>
            </a:xfrm>
            <a:prstGeom prst="rect">
              <a:avLst/>
            </a:prstGeom>
          </p:spPr>
          <p:txBody>
            <a:bodyPr wrap="none" lIns="0" tIns="0" rIns="0" bIns="0">
              <a:spAutoFit/>
            </a:bodyPr>
            <a:lstStyle/>
            <a:p>
              <a:r>
                <a:rPr lang="en-US" altLang="zh-CN" b="1" dirty="0">
                  <a:solidFill>
                    <a:srgbClr val="C00000"/>
                  </a:solidFill>
                </a:rPr>
                <a:t>1 </a:t>
              </a:r>
              <a:endParaRPr lang="zh-CN" altLang="en-US" b="1" dirty="0">
                <a:solidFill>
                  <a:srgbClr val="C00000"/>
                </a:solidFill>
              </a:endParaRPr>
            </a:p>
          </p:txBody>
        </p:sp>
        <p:sp>
          <p:nvSpPr>
            <p:cNvPr id="31" name="矩形 30"/>
            <p:cNvSpPr/>
            <p:nvPr/>
          </p:nvSpPr>
          <p:spPr>
            <a:xfrm>
              <a:off x="1184853" y="4175865"/>
              <a:ext cx="169918" cy="276999"/>
            </a:xfrm>
            <a:prstGeom prst="rect">
              <a:avLst/>
            </a:prstGeom>
            <a:noFill/>
          </p:spPr>
          <p:txBody>
            <a:bodyPr wrap="none" lIns="0" tIns="0" rIns="0" bIns="0">
              <a:spAutoFit/>
            </a:bodyPr>
            <a:lstStyle/>
            <a:p>
              <a:r>
                <a:rPr lang="en-US" altLang="zh-CN" b="1" dirty="0">
                  <a:solidFill>
                    <a:srgbClr val="C00000"/>
                  </a:solidFill>
                </a:rPr>
                <a:t>1 </a:t>
              </a:r>
              <a:endParaRPr lang="zh-CN" altLang="en-US" b="1" dirty="0">
                <a:solidFill>
                  <a:srgbClr val="C00000"/>
                </a:solidFill>
              </a:endParaRPr>
            </a:p>
          </p:txBody>
        </p:sp>
        <p:sp>
          <p:nvSpPr>
            <p:cNvPr id="32" name="圆角矩形 31"/>
            <p:cNvSpPr/>
            <p:nvPr/>
          </p:nvSpPr>
          <p:spPr>
            <a:xfrm>
              <a:off x="3817524" y="2162940"/>
              <a:ext cx="1190725" cy="327847"/>
            </a:xfrm>
            <a:prstGeom prst="roundRect">
              <a:avLst/>
            </a:prstGeom>
            <a:solidFill>
              <a:srgbClr val="CC00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黑体" panose="02010609060101010101" pitchFamily="49" charset="-122"/>
                  <a:ea typeface="黑体" panose="02010609060101010101" pitchFamily="49" charset="-122"/>
                </a:rPr>
                <a:t>允许编码</a:t>
              </a:r>
              <a:endParaRPr lang="zh-CN" altLang="en-US" sz="1400" dirty="0">
                <a:latin typeface="黑体" panose="02010609060101010101" pitchFamily="49" charset="-122"/>
                <a:ea typeface="黑体" panose="02010609060101010101" pitchFamily="49" charset="-122"/>
              </a:endParaRPr>
            </a:p>
          </p:txBody>
        </p:sp>
        <p:sp>
          <p:nvSpPr>
            <p:cNvPr id="33" name="圆角矩形 32"/>
            <p:cNvSpPr/>
            <p:nvPr/>
          </p:nvSpPr>
          <p:spPr>
            <a:xfrm>
              <a:off x="1317728" y="2096870"/>
              <a:ext cx="1063265" cy="442032"/>
            </a:xfrm>
            <a:prstGeom prst="roundRect">
              <a:avLst/>
            </a:prstGeom>
            <a:solidFill>
              <a:srgbClr val="CC00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黑体" panose="02010609060101010101" pitchFamily="49" charset="-122"/>
                  <a:ea typeface="黑体" panose="02010609060101010101" pitchFamily="49" charset="-122"/>
                </a:rPr>
                <a:t>允许编码不编码</a:t>
              </a:r>
              <a:endParaRPr lang="zh-CN" altLang="en-US" sz="1400" dirty="0">
                <a:latin typeface="黑体" panose="02010609060101010101" pitchFamily="49" charset="-122"/>
                <a:ea typeface="黑体" panose="02010609060101010101" pitchFamily="49" charset="-122"/>
              </a:endParaRPr>
            </a:p>
          </p:txBody>
        </p:sp>
        <p:grpSp>
          <p:nvGrpSpPr>
            <p:cNvPr id="6" name="组合 45"/>
            <p:cNvGrpSpPr/>
            <p:nvPr/>
          </p:nvGrpSpPr>
          <p:grpSpPr>
            <a:xfrm flipH="1">
              <a:off x="1409900" y="2744840"/>
              <a:ext cx="2261473" cy="784173"/>
              <a:chOff x="1984266" y="3061882"/>
              <a:chExt cx="525975" cy="1760082"/>
            </a:xfrm>
          </p:grpSpPr>
          <p:cxnSp>
            <p:nvCxnSpPr>
              <p:cNvPr id="52" name="直接连接符 51"/>
              <p:cNvCxnSpPr/>
              <p:nvPr/>
            </p:nvCxnSpPr>
            <p:spPr>
              <a:xfrm flipH="1">
                <a:off x="2510241" y="3495097"/>
                <a:ext cx="0" cy="1326867"/>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1985621" y="3475911"/>
                <a:ext cx="52448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1984266" y="3061882"/>
                <a:ext cx="0" cy="43321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55" name="圆角矩形 54"/>
            <p:cNvSpPr/>
            <p:nvPr/>
          </p:nvSpPr>
          <p:spPr>
            <a:xfrm>
              <a:off x="3480411" y="1162798"/>
              <a:ext cx="2003672" cy="311823"/>
            </a:xfrm>
            <a:prstGeom prst="roundRect">
              <a:avLst>
                <a:gd name="adj" fmla="val 791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b="1" dirty="0">
                  <a:solidFill>
                    <a:srgbClr val="CC00CC"/>
                  </a:solidFill>
                  <a:latin typeface="黑体" panose="02010609060101010101" pitchFamily="49" charset="-122"/>
                  <a:ea typeface="黑体" panose="02010609060101010101" pitchFamily="49" charset="-122"/>
                </a:rPr>
                <a:t>有 编 码 输 入</a:t>
              </a:r>
              <a:endParaRPr lang="zh-CN" altLang="en-US" sz="1600" b="1" dirty="0">
                <a:solidFill>
                  <a:srgbClr val="CC00CC"/>
                </a:solidFill>
                <a:latin typeface="黑体" panose="02010609060101010101" pitchFamily="49" charset="-122"/>
                <a:ea typeface="黑体" panose="02010609060101010101" pitchFamily="49" charset="-122"/>
              </a:endParaRPr>
            </a:p>
          </p:txBody>
        </p:sp>
        <p:sp>
          <p:nvSpPr>
            <p:cNvPr id="57" name="圆角矩形 73"/>
            <p:cNvSpPr/>
            <p:nvPr/>
          </p:nvSpPr>
          <p:spPr>
            <a:xfrm>
              <a:off x="4390209" y="2704955"/>
              <a:ext cx="1187440" cy="311823"/>
            </a:xfrm>
            <a:prstGeom prst="roundRect">
              <a:avLst>
                <a:gd name="adj" fmla="val 791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b="1" dirty="0">
                  <a:solidFill>
                    <a:srgbClr val="0000FF"/>
                  </a:solidFill>
                  <a:latin typeface="Times New Roman" panose="02020603050405020304" pitchFamily="18" charset="0"/>
                  <a:cs typeface="Times New Roman" panose="02020603050405020304" pitchFamily="18" charset="0"/>
                </a:rPr>
                <a:t>Y</a:t>
              </a:r>
              <a:r>
                <a:rPr lang="en-US" altLang="zh-CN" b="1" baseline="-25000" dirty="0">
                  <a:solidFill>
                    <a:srgbClr val="0000FF"/>
                  </a:solidFill>
                  <a:latin typeface="Times New Roman" panose="02020603050405020304" pitchFamily="18" charset="0"/>
                  <a:cs typeface="Times New Roman" panose="02020603050405020304" pitchFamily="18" charset="0"/>
                </a:rPr>
                <a:t>2</a:t>
              </a:r>
              <a:r>
                <a:rPr lang="en-US" altLang="zh-CN" b="1" dirty="0">
                  <a:solidFill>
                    <a:srgbClr val="0000FF"/>
                  </a:solidFill>
                  <a:latin typeface="Times New Roman" panose="02020603050405020304" pitchFamily="18" charset="0"/>
                  <a:cs typeface="Times New Roman" panose="02020603050405020304" pitchFamily="18" charset="0"/>
                </a:rPr>
                <a:t>  Y</a:t>
              </a:r>
              <a:r>
                <a:rPr lang="en-US" altLang="zh-CN" b="1" baseline="-25000" dirty="0">
                  <a:solidFill>
                    <a:srgbClr val="0000FF"/>
                  </a:solidFill>
                  <a:latin typeface="Times New Roman" panose="02020603050405020304" pitchFamily="18" charset="0"/>
                  <a:cs typeface="Times New Roman" panose="02020603050405020304" pitchFamily="18" charset="0"/>
                </a:rPr>
                <a:t>1</a:t>
              </a:r>
              <a:r>
                <a:rPr lang="en-US" altLang="zh-CN" b="1" dirty="0">
                  <a:solidFill>
                    <a:srgbClr val="0000FF"/>
                  </a:solidFill>
                  <a:latin typeface="Times New Roman" panose="02020603050405020304" pitchFamily="18" charset="0"/>
                  <a:cs typeface="Times New Roman" panose="02020603050405020304" pitchFamily="18" charset="0"/>
                </a:rPr>
                <a:t>  Y</a:t>
              </a:r>
              <a:r>
                <a:rPr lang="en-US" altLang="zh-CN" b="1" baseline="-25000" dirty="0">
                  <a:solidFill>
                    <a:srgbClr val="0000FF"/>
                  </a:solidFill>
                  <a:latin typeface="Times New Roman" panose="02020603050405020304" pitchFamily="18" charset="0"/>
                  <a:cs typeface="Times New Roman" panose="02020603050405020304" pitchFamily="18" charset="0"/>
                </a:rPr>
                <a:t>0</a:t>
              </a:r>
              <a:endParaRPr lang="zh-CN" altLang="en-US" b="1" dirty="0">
                <a:solidFill>
                  <a:srgbClr val="0000FF"/>
                </a:solidFill>
                <a:latin typeface="Times New Roman" panose="02020603050405020304" pitchFamily="18" charset="0"/>
                <a:cs typeface="Times New Roman" panose="02020603050405020304" pitchFamily="18" charset="0"/>
              </a:endParaRPr>
            </a:p>
          </p:txBody>
        </p:sp>
        <p:sp>
          <p:nvSpPr>
            <p:cNvPr id="62" name="圆角矩形 73"/>
            <p:cNvSpPr/>
            <p:nvPr/>
          </p:nvSpPr>
          <p:spPr>
            <a:xfrm>
              <a:off x="2780098" y="4157865"/>
              <a:ext cx="2972576" cy="311823"/>
            </a:xfrm>
            <a:prstGeom prst="roundRect">
              <a:avLst>
                <a:gd name="adj" fmla="val 791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b="1" dirty="0">
                  <a:solidFill>
                    <a:srgbClr val="0000FF"/>
                  </a:solidFill>
                  <a:latin typeface="Times New Roman" panose="02020603050405020304" pitchFamily="18" charset="0"/>
                  <a:cs typeface="Times New Roman" panose="02020603050405020304" pitchFamily="18" charset="0"/>
                </a:rPr>
                <a:t>Y</a:t>
              </a:r>
              <a:r>
                <a:rPr lang="en-US" altLang="zh-CN" b="1" baseline="-25000" dirty="0">
                  <a:solidFill>
                    <a:srgbClr val="0000FF"/>
                  </a:solidFill>
                  <a:latin typeface="Times New Roman" panose="02020603050405020304" pitchFamily="18" charset="0"/>
                  <a:cs typeface="Times New Roman" panose="02020603050405020304" pitchFamily="18" charset="0"/>
                </a:rPr>
                <a:t>2</a:t>
              </a:r>
              <a:r>
                <a:rPr lang="en-US" altLang="zh-CN" b="1" dirty="0">
                  <a:solidFill>
                    <a:srgbClr val="0000FF"/>
                  </a:solidFill>
                  <a:latin typeface="Times New Roman" panose="02020603050405020304" pitchFamily="18" charset="0"/>
                  <a:cs typeface="Times New Roman" panose="02020603050405020304" pitchFamily="18" charset="0"/>
                </a:rPr>
                <a:t>              Y</a:t>
              </a:r>
              <a:r>
                <a:rPr lang="en-US" altLang="zh-CN" b="1" baseline="-25000" dirty="0">
                  <a:solidFill>
                    <a:srgbClr val="0000FF"/>
                  </a:solidFill>
                  <a:latin typeface="Times New Roman" panose="02020603050405020304" pitchFamily="18" charset="0"/>
                  <a:cs typeface="Times New Roman" panose="02020603050405020304" pitchFamily="18" charset="0"/>
                </a:rPr>
                <a:t>1</a:t>
              </a:r>
              <a:r>
                <a:rPr lang="en-US" altLang="zh-CN" b="1" dirty="0">
                  <a:solidFill>
                    <a:srgbClr val="0000FF"/>
                  </a:solidFill>
                  <a:latin typeface="Times New Roman" panose="02020603050405020304" pitchFamily="18" charset="0"/>
                  <a:cs typeface="Times New Roman" panose="02020603050405020304" pitchFamily="18" charset="0"/>
                </a:rPr>
                <a:t>              Y</a:t>
              </a:r>
              <a:r>
                <a:rPr lang="en-US" altLang="zh-CN" b="1" baseline="-25000" dirty="0">
                  <a:solidFill>
                    <a:srgbClr val="0000FF"/>
                  </a:solidFill>
                  <a:latin typeface="Times New Roman" panose="02020603050405020304" pitchFamily="18" charset="0"/>
                  <a:cs typeface="Times New Roman" panose="02020603050405020304" pitchFamily="18" charset="0"/>
                </a:rPr>
                <a:t>0</a:t>
              </a:r>
              <a:endParaRPr lang="zh-CN" altLang="en-US" b="1" dirty="0">
                <a:solidFill>
                  <a:srgbClr val="0000FF"/>
                </a:solidFill>
                <a:latin typeface="Times New Roman" panose="02020603050405020304" pitchFamily="18" charset="0"/>
                <a:cs typeface="Times New Roman" panose="02020603050405020304" pitchFamily="18" charset="0"/>
              </a:endParaRPr>
            </a:p>
          </p:txBody>
        </p:sp>
      </p:grpSp>
      <p:pic>
        <p:nvPicPr>
          <p:cNvPr id="66" name="Picture 2"/>
          <p:cNvPicPr>
            <a:picLocks noChangeAspect="1" noChangeArrowheads="1"/>
          </p:cNvPicPr>
          <p:nvPr/>
        </p:nvPicPr>
        <p:blipFill>
          <a:blip r:embed="rId4" cstate="print"/>
          <a:srcRect/>
          <a:stretch>
            <a:fillRect/>
          </a:stretch>
        </p:blipFill>
        <p:spPr bwMode="auto">
          <a:xfrm>
            <a:off x="6317584" y="750539"/>
            <a:ext cx="2610755" cy="2053621"/>
          </a:xfrm>
          <a:prstGeom prst="rect">
            <a:avLst/>
          </a:prstGeom>
          <a:noFill/>
          <a:ln w="9525">
            <a:noFill/>
            <a:miter lim="800000"/>
            <a:headEnd/>
            <a:tailEnd/>
          </a:ln>
        </p:spPr>
      </p:pic>
    </p:spTree>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1000"/>
                                        <p:tgtEl>
                                          <p:spTgt spid="10"/>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56"/>
                                        </p:tgtEl>
                                        <p:attrNameLst>
                                          <p:attrName>style.visibility</p:attrName>
                                        </p:attrNameLst>
                                      </p:cBhvr>
                                      <p:to>
                                        <p:strVal val="visible"/>
                                      </p:to>
                                    </p:set>
                                    <p:animEffect transition="in" filter="wipe(up)">
                                      <p:cBhvr>
                                        <p:cTn id="11" dur="1000"/>
                                        <p:tgtEl>
                                          <p:spTgt spid="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5" name="对象 34"/>
          <p:cNvGraphicFramePr>
            <a:graphicFrameLocks noChangeAspect="1"/>
          </p:cNvGraphicFramePr>
          <p:nvPr/>
        </p:nvGraphicFramePr>
        <p:xfrm>
          <a:off x="408694" y="1365863"/>
          <a:ext cx="5621443" cy="2948502"/>
        </p:xfrm>
        <a:graphic>
          <a:graphicData uri="http://schemas.openxmlformats.org/presentationml/2006/ole">
            <mc:AlternateContent xmlns:mc="http://schemas.openxmlformats.org/markup-compatibility/2006">
              <mc:Choice xmlns:v="urn:schemas-microsoft-com:vml" Requires="v">
                <p:oleObj spid="_x0000_s31757" name="Visio" r:id="rId1" imgW="2990850" imgH="1571625" progId="">
                  <p:embed/>
                </p:oleObj>
              </mc:Choice>
              <mc:Fallback>
                <p:oleObj name="Visio" r:id="rId1" imgW="2990850" imgH="1571625" progId="">
                  <p:embed/>
                  <p:pic>
                    <p:nvPicPr>
                      <p:cNvPr id="0" name="对象 3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8694" y="1365863"/>
                        <a:ext cx="5621443" cy="29485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44" name="Picture 2"/>
          <p:cNvPicPr>
            <a:picLocks noChangeAspect="1" noChangeArrowheads="1"/>
          </p:cNvPicPr>
          <p:nvPr/>
        </p:nvPicPr>
        <p:blipFill>
          <a:blip r:embed="rId3" cstate="print"/>
          <a:srcRect/>
          <a:stretch>
            <a:fillRect/>
          </a:stretch>
        </p:blipFill>
        <p:spPr bwMode="auto">
          <a:xfrm>
            <a:off x="6008390" y="750539"/>
            <a:ext cx="2919950" cy="2296834"/>
          </a:xfrm>
          <a:prstGeom prst="rect">
            <a:avLst/>
          </a:prstGeom>
          <a:noFill/>
          <a:ln w="9525">
            <a:noFill/>
            <a:miter lim="800000"/>
            <a:headEnd/>
            <a:tailEnd/>
          </a:ln>
        </p:spPr>
      </p:pic>
      <p:grpSp>
        <p:nvGrpSpPr>
          <p:cNvPr id="2" name="组合 47"/>
          <p:cNvGrpSpPr/>
          <p:nvPr/>
        </p:nvGrpSpPr>
        <p:grpSpPr>
          <a:xfrm>
            <a:off x="392434" y="769746"/>
            <a:ext cx="5108279" cy="420971"/>
            <a:chOff x="670560" y="892917"/>
            <a:chExt cx="5108279" cy="420971"/>
          </a:xfrm>
        </p:grpSpPr>
        <p:sp>
          <p:nvSpPr>
            <p:cNvPr id="49" name="矩形 48"/>
            <p:cNvSpPr/>
            <p:nvPr/>
          </p:nvSpPr>
          <p:spPr>
            <a:xfrm>
              <a:off x="1035233" y="913778"/>
              <a:ext cx="4743606"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CD4532</a:t>
              </a:r>
              <a:r>
                <a:rPr lang="zh-CN" altLang="en-US" sz="2000" b="1" dirty="0">
                  <a:solidFill>
                    <a:srgbClr val="002060"/>
                  </a:solidFill>
                  <a:latin typeface="微软雅黑" panose="020B0503020204020204" pitchFamily="34" charset="-122"/>
                  <a:ea typeface="微软雅黑" panose="020B0503020204020204" pitchFamily="34" charset="-122"/>
                </a:rPr>
                <a:t>应用（</a:t>
              </a:r>
              <a:r>
                <a:rPr lang="zh-CN" altLang="en-US" sz="1600" b="1" dirty="0">
                  <a:solidFill>
                    <a:srgbClr val="FF00FF"/>
                  </a:solidFill>
                  <a:latin typeface="微软雅黑" panose="020B0503020204020204" pitchFamily="34" charset="-122"/>
                  <a:ea typeface="微软雅黑" panose="020B0503020204020204" pitchFamily="34" charset="-122"/>
                </a:rPr>
                <a:t>扩展为</a:t>
              </a:r>
              <a:r>
                <a:rPr lang="en-US" altLang="zh-CN" sz="1600" b="1" dirty="0">
                  <a:solidFill>
                    <a:srgbClr val="FF00FF"/>
                  </a:solidFill>
                  <a:latin typeface="微软雅黑" panose="020B0503020204020204" pitchFamily="34" charset="-122"/>
                  <a:ea typeface="微软雅黑" panose="020B0503020204020204" pitchFamily="34" charset="-122"/>
                </a:rPr>
                <a:t>16</a:t>
              </a:r>
              <a:r>
                <a:rPr lang="zh-CN" altLang="en-US" sz="1600" b="1" dirty="0">
                  <a:solidFill>
                    <a:srgbClr val="FF00FF"/>
                  </a:solidFill>
                  <a:latin typeface="微软雅黑" panose="020B0503020204020204" pitchFamily="34" charset="-122"/>
                  <a:ea typeface="微软雅黑" panose="020B0503020204020204" pitchFamily="34" charset="-122"/>
                </a:rPr>
                <a:t>线</a:t>
              </a:r>
              <a:r>
                <a:rPr lang="en-US" altLang="zh-CN" sz="1600" b="1" dirty="0">
                  <a:solidFill>
                    <a:srgbClr val="FF00FF"/>
                  </a:solidFill>
                  <a:latin typeface="微软雅黑" panose="020B0503020204020204" pitchFamily="34" charset="-122"/>
                  <a:ea typeface="微软雅黑" panose="020B0503020204020204" pitchFamily="34" charset="-122"/>
                </a:rPr>
                <a:t>-4</a:t>
              </a:r>
              <a:r>
                <a:rPr lang="zh-CN" altLang="en-US" sz="1600" b="1" dirty="0">
                  <a:solidFill>
                    <a:srgbClr val="FF00FF"/>
                  </a:solidFill>
                  <a:latin typeface="微软雅黑" panose="020B0503020204020204" pitchFamily="34" charset="-122"/>
                  <a:ea typeface="微软雅黑" panose="020B0503020204020204" pitchFamily="34" charset="-122"/>
                </a:rPr>
                <a:t>线优先编码器</a:t>
              </a:r>
              <a:r>
                <a:rPr lang="zh-CN" altLang="en-US" sz="2000" b="1" dirty="0">
                  <a:solidFill>
                    <a:srgbClr val="002060"/>
                  </a:solidFill>
                  <a:latin typeface="微软雅黑" panose="020B0503020204020204" pitchFamily="34" charset="-122"/>
                  <a:ea typeface="微软雅黑" panose="020B0503020204020204" pitchFamily="34" charset="-122"/>
                </a:rPr>
                <a: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50"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7" name="组合 6"/>
          <p:cNvGrpSpPr/>
          <p:nvPr/>
        </p:nvGrpSpPr>
        <p:grpSpPr>
          <a:xfrm>
            <a:off x="690164" y="1210531"/>
            <a:ext cx="5009612" cy="3221109"/>
            <a:chOff x="690164" y="1210531"/>
            <a:chExt cx="5009612" cy="3221109"/>
          </a:xfrm>
        </p:grpSpPr>
        <p:sp>
          <p:nvSpPr>
            <p:cNvPr id="29" name="矩形 28"/>
            <p:cNvSpPr/>
            <p:nvPr/>
          </p:nvSpPr>
          <p:spPr>
            <a:xfrm>
              <a:off x="690164" y="2293700"/>
              <a:ext cx="169918" cy="276999"/>
            </a:xfrm>
            <a:prstGeom prst="rect">
              <a:avLst/>
            </a:prstGeom>
          </p:spPr>
          <p:txBody>
            <a:bodyPr wrap="none" lIns="0" tIns="0" rIns="0" bIns="0">
              <a:spAutoFit/>
            </a:bodyPr>
            <a:lstStyle/>
            <a:p>
              <a:r>
                <a:rPr lang="en-US" altLang="zh-CN" b="1" dirty="0">
                  <a:solidFill>
                    <a:srgbClr val="FF00FF"/>
                  </a:solidFill>
                </a:rPr>
                <a:t>1 </a:t>
              </a:r>
              <a:endParaRPr lang="zh-CN" altLang="en-US" b="1" dirty="0"/>
            </a:p>
          </p:txBody>
        </p:sp>
        <p:sp>
          <p:nvSpPr>
            <p:cNvPr id="30" name="矩形 29"/>
            <p:cNvSpPr/>
            <p:nvPr/>
          </p:nvSpPr>
          <p:spPr>
            <a:xfrm>
              <a:off x="2949583" y="2293700"/>
              <a:ext cx="169918" cy="276999"/>
            </a:xfrm>
            <a:prstGeom prst="rect">
              <a:avLst/>
            </a:prstGeom>
          </p:spPr>
          <p:txBody>
            <a:bodyPr wrap="none" lIns="0" tIns="0" rIns="0" bIns="0">
              <a:spAutoFit/>
            </a:bodyPr>
            <a:lstStyle/>
            <a:p>
              <a:r>
                <a:rPr lang="en-US" altLang="zh-CN" b="1" dirty="0">
                  <a:solidFill>
                    <a:srgbClr val="FF00FF"/>
                  </a:solidFill>
                </a:rPr>
                <a:t>1 </a:t>
              </a:r>
              <a:endParaRPr lang="zh-CN" altLang="en-US" b="1" dirty="0"/>
            </a:p>
          </p:txBody>
        </p:sp>
        <p:sp>
          <p:nvSpPr>
            <p:cNvPr id="31" name="矩形 30"/>
            <p:cNvSpPr/>
            <p:nvPr/>
          </p:nvSpPr>
          <p:spPr>
            <a:xfrm>
              <a:off x="3238401" y="2293700"/>
              <a:ext cx="169918" cy="276999"/>
            </a:xfrm>
            <a:prstGeom prst="rect">
              <a:avLst/>
            </a:prstGeom>
          </p:spPr>
          <p:txBody>
            <a:bodyPr wrap="none" lIns="0" tIns="0" rIns="0" bIns="0">
              <a:spAutoFit/>
            </a:bodyPr>
            <a:lstStyle/>
            <a:p>
              <a:r>
                <a:rPr lang="en-US" altLang="zh-CN" b="1" dirty="0">
                  <a:solidFill>
                    <a:srgbClr val="FF00FF"/>
                  </a:solidFill>
                </a:rPr>
                <a:t>1 </a:t>
              </a:r>
              <a:endParaRPr lang="zh-CN" altLang="en-US" b="1" dirty="0"/>
            </a:p>
          </p:txBody>
        </p:sp>
        <p:sp>
          <p:nvSpPr>
            <p:cNvPr id="32" name="矩形 31"/>
            <p:cNvSpPr/>
            <p:nvPr/>
          </p:nvSpPr>
          <p:spPr>
            <a:xfrm>
              <a:off x="5582756" y="2293700"/>
              <a:ext cx="117020" cy="276999"/>
            </a:xfrm>
            <a:prstGeom prst="rect">
              <a:avLst/>
            </a:prstGeom>
          </p:spPr>
          <p:txBody>
            <a:bodyPr wrap="none" lIns="0" tIns="0" rIns="0" bIns="0">
              <a:spAutoFit/>
            </a:bodyPr>
            <a:lstStyle/>
            <a:p>
              <a:r>
                <a:rPr lang="en-US" altLang="zh-CN" b="1" dirty="0">
                  <a:solidFill>
                    <a:srgbClr val="FF00FF"/>
                  </a:solidFill>
                </a:rPr>
                <a:t>1</a:t>
              </a:r>
              <a:endParaRPr lang="zh-CN" altLang="en-US" b="1" dirty="0">
                <a:solidFill>
                  <a:srgbClr val="FF00FF"/>
                </a:solidFill>
              </a:endParaRPr>
            </a:p>
          </p:txBody>
        </p:sp>
        <p:sp>
          <p:nvSpPr>
            <p:cNvPr id="36" name="圆角矩形 35"/>
            <p:cNvSpPr/>
            <p:nvPr/>
          </p:nvSpPr>
          <p:spPr>
            <a:xfrm>
              <a:off x="3863546" y="2077700"/>
              <a:ext cx="1190725" cy="432000"/>
            </a:xfrm>
            <a:prstGeom prst="roundRect">
              <a:avLst/>
            </a:prstGeom>
            <a:solidFill>
              <a:srgbClr val="CC00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黑体" panose="02010609060101010101" pitchFamily="49" charset="-122"/>
                  <a:ea typeface="黑体" panose="02010609060101010101" pitchFamily="49" charset="-122"/>
                </a:rPr>
                <a:t>允许编码</a:t>
              </a:r>
              <a:endParaRPr lang="en-US" altLang="zh-CN" sz="1400" dirty="0">
                <a:latin typeface="黑体" panose="02010609060101010101" pitchFamily="49" charset="-122"/>
                <a:ea typeface="黑体" panose="02010609060101010101" pitchFamily="49" charset="-122"/>
              </a:endParaRPr>
            </a:p>
            <a:p>
              <a:pPr algn="ctr"/>
              <a:r>
                <a:rPr lang="zh-CN" altLang="en-US" sz="1400" dirty="0">
                  <a:latin typeface="黑体" panose="02010609060101010101" pitchFamily="49" charset="-122"/>
                  <a:ea typeface="黑体" panose="02010609060101010101" pitchFamily="49" charset="-122"/>
                </a:rPr>
                <a:t>不编码</a:t>
              </a:r>
              <a:endParaRPr lang="zh-CN" altLang="en-US" sz="1400" dirty="0">
                <a:latin typeface="黑体" panose="02010609060101010101" pitchFamily="49" charset="-122"/>
                <a:ea typeface="黑体" panose="02010609060101010101" pitchFamily="49" charset="-122"/>
              </a:endParaRPr>
            </a:p>
          </p:txBody>
        </p:sp>
        <p:sp>
          <p:nvSpPr>
            <p:cNvPr id="37" name="圆角矩形 36"/>
            <p:cNvSpPr/>
            <p:nvPr/>
          </p:nvSpPr>
          <p:spPr>
            <a:xfrm>
              <a:off x="1245682" y="2092565"/>
              <a:ext cx="1190725" cy="432000"/>
            </a:xfrm>
            <a:prstGeom prst="roundRect">
              <a:avLst/>
            </a:prstGeom>
            <a:solidFill>
              <a:srgbClr val="CC00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黑体" panose="02010609060101010101" pitchFamily="49" charset="-122"/>
                  <a:ea typeface="黑体" panose="02010609060101010101" pitchFamily="49" charset="-122"/>
                </a:rPr>
                <a:t>允许编码</a:t>
              </a:r>
              <a:endParaRPr lang="en-US" altLang="zh-CN" sz="1400" dirty="0">
                <a:latin typeface="黑体" panose="02010609060101010101" pitchFamily="49" charset="-122"/>
                <a:ea typeface="黑体" panose="02010609060101010101" pitchFamily="49" charset="-122"/>
              </a:endParaRPr>
            </a:p>
            <a:p>
              <a:pPr algn="ctr"/>
              <a:r>
                <a:rPr lang="zh-CN" altLang="en-US" sz="1400" dirty="0">
                  <a:latin typeface="黑体" panose="02010609060101010101" pitchFamily="49" charset="-122"/>
                  <a:ea typeface="黑体" panose="02010609060101010101" pitchFamily="49" charset="-122"/>
                </a:rPr>
                <a:t>不编码</a:t>
              </a:r>
              <a:endParaRPr lang="zh-CN" altLang="en-US" sz="1400" dirty="0">
                <a:latin typeface="黑体" panose="02010609060101010101" pitchFamily="49" charset="-122"/>
                <a:ea typeface="黑体" panose="02010609060101010101" pitchFamily="49" charset="-122"/>
              </a:endParaRPr>
            </a:p>
          </p:txBody>
        </p:sp>
        <p:grpSp>
          <p:nvGrpSpPr>
            <p:cNvPr id="3" name="组合 59"/>
            <p:cNvGrpSpPr/>
            <p:nvPr/>
          </p:nvGrpSpPr>
          <p:grpSpPr>
            <a:xfrm>
              <a:off x="1187314" y="2674239"/>
              <a:ext cx="4223953" cy="355482"/>
              <a:chOff x="1187314" y="2826639"/>
              <a:chExt cx="4223953" cy="355482"/>
            </a:xfrm>
          </p:grpSpPr>
          <p:sp>
            <p:nvSpPr>
              <p:cNvPr id="26" name="圆角矩形 25"/>
              <p:cNvSpPr/>
              <p:nvPr/>
            </p:nvSpPr>
            <p:spPr>
              <a:xfrm>
                <a:off x="4420808" y="2847162"/>
                <a:ext cx="990459" cy="311823"/>
              </a:xfrm>
              <a:prstGeom prst="roundRect">
                <a:avLst>
                  <a:gd name="adj" fmla="val 791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b="1" dirty="0">
                    <a:solidFill>
                      <a:srgbClr val="0000FF"/>
                    </a:solidFill>
                  </a:rPr>
                  <a:t>0     0    0</a:t>
                </a:r>
                <a:endParaRPr lang="zh-CN" altLang="en-US" b="1" dirty="0">
                  <a:solidFill>
                    <a:srgbClr val="0000FF"/>
                  </a:solidFill>
                </a:endParaRPr>
              </a:p>
            </p:txBody>
          </p:sp>
          <p:sp>
            <p:nvSpPr>
              <p:cNvPr id="33" name="矩形 32"/>
              <p:cNvSpPr/>
              <p:nvPr/>
            </p:nvSpPr>
            <p:spPr>
              <a:xfrm>
                <a:off x="1187314" y="2905122"/>
                <a:ext cx="146750" cy="276999"/>
              </a:xfrm>
              <a:prstGeom prst="rect">
                <a:avLst/>
              </a:prstGeom>
            </p:spPr>
            <p:txBody>
              <a:bodyPr wrap="square" lIns="0" tIns="0" rIns="0" bIns="0">
                <a:spAutoFit/>
              </a:bodyPr>
              <a:lstStyle/>
              <a:p>
                <a:r>
                  <a:rPr lang="en-US" altLang="zh-CN" b="1" dirty="0">
                    <a:solidFill>
                      <a:srgbClr val="C00000"/>
                    </a:solidFill>
                  </a:rPr>
                  <a:t>0 </a:t>
                </a:r>
                <a:endParaRPr lang="zh-CN" altLang="en-US" b="1" dirty="0">
                  <a:solidFill>
                    <a:srgbClr val="C00000"/>
                  </a:solidFill>
                </a:endParaRPr>
              </a:p>
            </p:txBody>
          </p:sp>
          <p:sp>
            <p:nvSpPr>
              <p:cNvPr id="34" name="矩形 33"/>
              <p:cNvSpPr/>
              <p:nvPr/>
            </p:nvSpPr>
            <p:spPr>
              <a:xfrm>
                <a:off x="3789153" y="2871400"/>
                <a:ext cx="169918" cy="276999"/>
              </a:xfrm>
              <a:prstGeom prst="rect">
                <a:avLst/>
              </a:prstGeom>
            </p:spPr>
            <p:txBody>
              <a:bodyPr wrap="none" lIns="0" tIns="0" rIns="0" bIns="0">
                <a:spAutoFit/>
              </a:bodyPr>
              <a:lstStyle/>
              <a:p>
                <a:r>
                  <a:rPr lang="en-US" altLang="zh-CN" b="1" dirty="0">
                    <a:solidFill>
                      <a:srgbClr val="C00000"/>
                    </a:solidFill>
                  </a:rPr>
                  <a:t>0 </a:t>
                </a:r>
                <a:endParaRPr lang="zh-CN" altLang="en-US" b="1" dirty="0">
                  <a:solidFill>
                    <a:srgbClr val="C00000"/>
                  </a:solidFill>
                </a:endParaRPr>
              </a:p>
            </p:txBody>
          </p:sp>
          <p:sp>
            <p:nvSpPr>
              <p:cNvPr id="71" name="圆角矩形 70"/>
              <p:cNvSpPr/>
              <p:nvPr/>
            </p:nvSpPr>
            <p:spPr>
              <a:xfrm>
                <a:off x="1919522" y="2826639"/>
                <a:ext cx="990459" cy="311823"/>
              </a:xfrm>
              <a:prstGeom prst="roundRect">
                <a:avLst>
                  <a:gd name="adj" fmla="val 791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r>
                  <a:rPr lang="en-US" altLang="zh-CN" b="1" dirty="0">
                    <a:solidFill>
                      <a:srgbClr val="0000FF"/>
                    </a:solidFill>
                  </a:rPr>
                  <a:t>0    0     0  </a:t>
                </a:r>
                <a:endParaRPr lang="zh-CN" altLang="en-US" b="1" dirty="0">
                  <a:solidFill>
                    <a:srgbClr val="0000FF"/>
                  </a:solidFill>
                </a:endParaRPr>
              </a:p>
            </p:txBody>
          </p:sp>
        </p:grpSp>
        <p:grpSp>
          <p:nvGrpSpPr>
            <p:cNvPr id="4" name="组合 60"/>
            <p:cNvGrpSpPr/>
            <p:nvPr/>
          </p:nvGrpSpPr>
          <p:grpSpPr>
            <a:xfrm>
              <a:off x="1194297" y="4141077"/>
              <a:ext cx="3920248" cy="290563"/>
              <a:chOff x="1194297" y="4293477"/>
              <a:chExt cx="3920248" cy="290563"/>
            </a:xfrm>
          </p:grpSpPr>
          <p:grpSp>
            <p:nvGrpSpPr>
              <p:cNvPr id="5" name="组合 74"/>
              <p:cNvGrpSpPr/>
              <p:nvPr/>
            </p:nvGrpSpPr>
            <p:grpSpPr>
              <a:xfrm>
                <a:off x="1724349" y="4293477"/>
                <a:ext cx="3390196" cy="287673"/>
                <a:chOff x="1761733" y="4365273"/>
                <a:chExt cx="3390196" cy="287673"/>
              </a:xfrm>
            </p:grpSpPr>
            <p:sp>
              <p:nvSpPr>
                <p:cNvPr id="76" name="矩形 75"/>
                <p:cNvSpPr/>
                <p:nvPr/>
              </p:nvSpPr>
              <p:spPr>
                <a:xfrm flipH="1">
                  <a:off x="1761733" y="4375947"/>
                  <a:ext cx="45719" cy="276999"/>
                </a:xfrm>
                <a:prstGeom prst="rect">
                  <a:avLst/>
                </a:prstGeom>
              </p:spPr>
              <p:txBody>
                <a:bodyPr wrap="square" lIns="0" tIns="0" rIns="0" bIns="0">
                  <a:spAutoFit/>
                </a:bodyPr>
                <a:lstStyle/>
                <a:p>
                  <a:r>
                    <a:rPr lang="en-US" altLang="zh-CN" b="1" dirty="0">
                      <a:solidFill>
                        <a:srgbClr val="0000FF"/>
                      </a:solidFill>
                    </a:rPr>
                    <a:t>0</a:t>
                  </a:r>
                  <a:endParaRPr lang="zh-CN" altLang="en-US" b="1" dirty="0">
                    <a:solidFill>
                      <a:srgbClr val="0000FF"/>
                    </a:solidFill>
                  </a:endParaRPr>
                </a:p>
              </p:txBody>
            </p:sp>
            <p:sp>
              <p:nvSpPr>
                <p:cNvPr id="77" name="矩形 76"/>
                <p:cNvSpPr/>
                <p:nvPr/>
              </p:nvSpPr>
              <p:spPr>
                <a:xfrm>
                  <a:off x="2843605" y="4365273"/>
                  <a:ext cx="2308324" cy="276999"/>
                </a:xfrm>
                <a:prstGeom prst="rect">
                  <a:avLst/>
                </a:prstGeom>
              </p:spPr>
              <p:txBody>
                <a:bodyPr wrap="none" lIns="0" tIns="0" rIns="0" bIns="0">
                  <a:spAutoFit/>
                </a:bodyPr>
                <a:lstStyle/>
                <a:p>
                  <a:r>
                    <a:rPr lang="en-US" altLang="zh-CN" b="1" dirty="0">
                      <a:solidFill>
                        <a:srgbClr val="0000FF"/>
                      </a:solidFill>
                    </a:rPr>
                    <a:t>0                   0                 0</a:t>
                  </a:r>
                  <a:endParaRPr lang="zh-CN" altLang="en-US" b="1" dirty="0">
                    <a:solidFill>
                      <a:srgbClr val="0000FF"/>
                    </a:solidFill>
                  </a:endParaRPr>
                </a:p>
              </p:txBody>
            </p:sp>
          </p:grpSp>
          <p:sp>
            <p:nvSpPr>
              <p:cNvPr id="80" name="矩形 79"/>
              <p:cNvSpPr/>
              <p:nvPr/>
            </p:nvSpPr>
            <p:spPr>
              <a:xfrm>
                <a:off x="1194297" y="4307041"/>
                <a:ext cx="169918" cy="276999"/>
              </a:xfrm>
              <a:prstGeom prst="rect">
                <a:avLst/>
              </a:prstGeom>
            </p:spPr>
            <p:txBody>
              <a:bodyPr wrap="none" lIns="0" tIns="0" rIns="0" bIns="0">
                <a:spAutoFit/>
              </a:bodyPr>
              <a:lstStyle/>
              <a:p>
                <a:r>
                  <a:rPr lang="en-US" altLang="zh-CN" b="1" dirty="0">
                    <a:solidFill>
                      <a:srgbClr val="C00000"/>
                    </a:solidFill>
                  </a:rPr>
                  <a:t>0 </a:t>
                </a:r>
                <a:endParaRPr lang="zh-CN" altLang="en-US" b="1" dirty="0">
                  <a:solidFill>
                    <a:srgbClr val="C00000"/>
                  </a:solidFill>
                </a:endParaRPr>
              </a:p>
            </p:txBody>
          </p:sp>
        </p:grpSp>
        <p:grpSp>
          <p:nvGrpSpPr>
            <p:cNvPr id="6" name="组合 57"/>
            <p:cNvGrpSpPr/>
            <p:nvPr/>
          </p:nvGrpSpPr>
          <p:grpSpPr>
            <a:xfrm>
              <a:off x="886160" y="1210531"/>
              <a:ext cx="4533901" cy="314699"/>
              <a:chOff x="886160" y="1362931"/>
              <a:chExt cx="4533901" cy="314699"/>
            </a:xfrm>
          </p:grpSpPr>
          <p:sp>
            <p:nvSpPr>
              <p:cNvPr id="47" name="圆角矩形 46"/>
              <p:cNvSpPr/>
              <p:nvPr/>
            </p:nvSpPr>
            <p:spPr>
              <a:xfrm>
                <a:off x="886160" y="1365807"/>
                <a:ext cx="2003672" cy="311823"/>
              </a:xfrm>
              <a:prstGeom prst="roundRect">
                <a:avLst>
                  <a:gd name="adj" fmla="val 791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b="1" dirty="0">
                    <a:solidFill>
                      <a:srgbClr val="0000FF"/>
                    </a:solidFill>
                  </a:rPr>
                  <a:t>0  0  0  0  0  0  0  0</a:t>
                </a:r>
                <a:endParaRPr lang="zh-CN" altLang="en-US" b="1" dirty="0">
                  <a:solidFill>
                    <a:srgbClr val="0000FF"/>
                  </a:solidFill>
                </a:endParaRPr>
              </a:p>
            </p:txBody>
          </p:sp>
          <p:sp>
            <p:nvSpPr>
              <p:cNvPr id="53" name="圆角矩形 52"/>
              <p:cNvSpPr/>
              <p:nvPr/>
            </p:nvSpPr>
            <p:spPr>
              <a:xfrm>
                <a:off x="3416389" y="1362931"/>
                <a:ext cx="2003672" cy="311823"/>
              </a:xfrm>
              <a:prstGeom prst="roundRect">
                <a:avLst>
                  <a:gd name="adj" fmla="val 7911"/>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b="1" dirty="0">
                    <a:solidFill>
                      <a:srgbClr val="0000FF"/>
                    </a:solidFill>
                  </a:rPr>
                  <a:t>0  0  0  0  0  0  0  0</a:t>
                </a:r>
                <a:endParaRPr lang="zh-CN" altLang="en-US" b="1" dirty="0">
                  <a:solidFill>
                    <a:srgbClr val="0000FF"/>
                  </a:solidFill>
                </a:endParaRPr>
              </a:p>
            </p:txBody>
          </p:sp>
        </p:grpSp>
      </p:grpSp>
      <p:sp>
        <p:nvSpPr>
          <p:cNvPr id="28" name="Rectangle 6"/>
          <p:cNvSpPr>
            <a:spLocks noChangeArrowheads="1"/>
          </p:cNvSpPr>
          <p:nvPr/>
        </p:nvSpPr>
        <p:spPr bwMode="auto">
          <a:xfrm>
            <a:off x="531178" y="4564697"/>
            <a:ext cx="8247062" cy="584775"/>
          </a:xfrm>
          <a:prstGeom prst="rect">
            <a:avLst/>
          </a:prstGeom>
          <a:noFill/>
          <a:ln w="9525" algn="ctr">
            <a:noFill/>
            <a:miter lim="800000"/>
          </a:ln>
        </p:spPr>
        <p:txBody>
          <a:bodyPr wrap="square" lIns="0" rIns="0">
            <a:spAutoFit/>
          </a:bodyPr>
          <a:lstStyle/>
          <a:p>
            <a:pPr marL="449580" indent="-449580"/>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4</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EI</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15</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均无有效编码输入，两片均允许编码但不编码，此时，</a:t>
            </a:r>
            <a:r>
              <a:rPr lang="en-US" altLang="zh-CN"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600" i="1"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L</a:t>
            </a:r>
            <a:r>
              <a:rPr lang="en-US" altLang="zh-CN" sz="16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=0000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GS=0</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标识电路无有效编码输入信号，</a:t>
            </a:r>
            <a:r>
              <a:rPr lang="en-US" altLang="zh-CN"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EO=1</a:t>
            </a:r>
            <a:r>
              <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可在级联中继续使能低位片。</a:t>
            </a:r>
            <a:endParaRPr lang="zh-CN" altLang="en-US" sz="16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1000"/>
                                        <p:tgtEl>
                                          <p:spTgt spid="7"/>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up)">
                                      <p:cBhvr>
                                        <p:cTn id="11" dur="10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36"/>
          <p:cNvGrpSpPr/>
          <p:nvPr/>
        </p:nvGrpSpPr>
        <p:grpSpPr>
          <a:xfrm>
            <a:off x="783751" y="1365100"/>
            <a:ext cx="4923012" cy="3765942"/>
            <a:chOff x="783751" y="1365100"/>
            <a:chExt cx="4923012" cy="3765942"/>
          </a:xfrm>
        </p:grpSpPr>
        <p:grpSp>
          <p:nvGrpSpPr>
            <p:cNvPr id="2" name="组合 12"/>
            <p:cNvGrpSpPr/>
            <p:nvPr/>
          </p:nvGrpSpPr>
          <p:grpSpPr>
            <a:xfrm>
              <a:off x="783751" y="1365100"/>
              <a:ext cx="4923012" cy="3765942"/>
              <a:chOff x="416040" y="1256759"/>
              <a:chExt cx="4923012" cy="3765942"/>
            </a:xfrm>
          </p:grpSpPr>
          <p:sp>
            <p:nvSpPr>
              <p:cNvPr id="7" name="圆角矩形 6"/>
              <p:cNvSpPr/>
              <p:nvPr/>
            </p:nvSpPr>
            <p:spPr>
              <a:xfrm>
                <a:off x="416040" y="1256759"/>
                <a:ext cx="4923012" cy="3765942"/>
              </a:xfrm>
              <a:prstGeom prst="roundRect">
                <a:avLst>
                  <a:gd name="adj" fmla="val 3075"/>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6386" name="Picture 2"/>
              <p:cNvPicPr>
                <a:picLocks noChangeAspect="1" noChangeArrowheads="1"/>
              </p:cNvPicPr>
              <p:nvPr/>
            </p:nvPicPr>
            <p:blipFill>
              <a:blip r:embed="rId1" cstate="print"/>
              <a:srcRect/>
              <a:stretch>
                <a:fillRect/>
              </a:stretch>
            </p:blipFill>
            <p:spPr bwMode="auto">
              <a:xfrm>
                <a:off x="450912" y="1330430"/>
                <a:ext cx="4807252" cy="3610818"/>
              </a:xfrm>
              <a:prstGeom prst="rect">
                <a:avLst/>
              </a:prstGeom>
              <a:noFill/>
              <a:ln w="9525">
                <a:noFill/>
                <a:miter lim="800000"/>
                <a:headEnd/>
                <a:tailEnd/>
              </a:ln>
            </p:spPr>
          </p:pic>
        </p:grpSp>
        <p:sp>
          <p:nvSpPr>
            <p:cNvPr id="36" name="TextBox 35"/>
            <p:cNvSpPr txBox="1"/>
            <p:nvPr/>
          </p:nvSpPr>
          <p:spPr>
            <a:xfrm>
              <a:off x="5358066" y="2767256"/>
              <a:ext cx="164432" cy="2223686"/>
            </a:xfrm>
            <a:prstGeom prst="rect">
              <a:avLst/>
            </a:prstGeom>
            <a:solidFill>
              <a:schemeClr val="bg1"/>
            </a:solidFill>
          </p:spPr>
          <p:txBody>
            <a:bodyPr wrap="square" lIns="0" tIns="0" rIns="0" bIns="0" rtlCol="0">
              <a:spAutoFit/>
            </a:bodyPr>
            <a:lstStyle/>
            <a:p>
              <a:pPr>
                <a:lnSpc>
                  <a:spcPct val="114000"/>
                </a:lnSpc>
              </a:pPr>
              <a:r>
                <a:rPr lang="en-US" altLang="zh-CN" sz="1600" b="1" dirty="0">
                  <a:latin typeface="Times New Roman" panose="02020603050405020304" pitchFamily="18" charset="0"/>
                  <a:cs typeface="Times New Roman" panose="02020603050405020304" pitchFamily="18" charset="0"/>
                </a:rPr>
                <a:t>0</a:t>
              </a:r>
              <a:endParaRPr lang="en-US" altLang="zh-CN" sz="1600" b="1" dirty="0">
                <a:latin typeface="Times New Roman" panose="02020603050405020304" pitchFamily="18" charset="0"/>
                <a:cs typeface="Times New Roman" panose="02020603050405020304" pitchFamily="18" charset="0"/>
              </a:endParaRPr>
            </a:p>
            <a:p>
              <a:pPr>
                <a:lnSpc>
                  <a:spcPct val="114000"/>
                </a:lnSpc>
              </a:pPr>
              <a:r>
                <a:rPr lang="en-US" altLang="zh-CN" sz="1600" b="1" dirty="0">
                  <a:latin typeface="Times New Roman" panose="02020603050405020304" pitchFamily="18" charset="0"/>
                  <a:cs typeface="Times New Roman" panose="02020603050405020304" pitchFamily="18" charset="0"/>
                </a:rPr>
                <a:t>0</a:t>
              </a:r>
              <a:endParaRPr lang="en-US" altLang="zh-CN" sz="1600" b="1" dirty="0">
                <a:latin typeface="Times New Roman" panose="02020603050405020304" pitchFamily="18" charset="0"/>
                <a:cs typeface="Times New Roman" panose="02020603050405020304" pitchFamily="18" charset="0"/>
              </a:endParaRPr>
            </a:p>
            <a:p>
              <a:pPr>
                <a:lnSpc>
                  <a:spcPct val="114000"/>
                </a:lnSpc>
              </a:pPr>
              <a:r>
                <a:rPr lang="en-US" altLang="zh-CN" sz="1600" b="1" dirty="0">
                  <a:latin typeface="Times New Roman" panose="02020603050405020304" pitchFamily="18" charset="0"/>
                  <a:cs typeface="Times New Roman" panose="02020603050405020304" pitchFamily="18" charset="0"/>
                </a:rPr>
                <a:t>0</a:t>
              </a:r>
              <a:endParaRPr lang="en-US" altLang="zh-CN" sz="1600" b="1" dirty="0">
                <a:latin typeface="Times New Roman" panose="02020603050405020304" pitchFamily="18" charset="0"/>
                <a:cs typeface="Times New Roman" panose="02020603050405020304" pitchFamily="18" charset="0"/>
              </a:endParaRPr>
            </a:p>
            <a:p>
              <a:pPr>
                <a:lnSpc>
                  <a:spcPct val="114000"/>
                </a:lnSpc>
              </a:pPr>
              <a:r>
                <a:rPr lang="en-US" altLang="zh-CN" sz="1600" b="1" dirty="0">
                  <a:latin typeface="Times New Roman" panose="02020603050405020304" pitchFamily="18" charset="0"/>
                  <a:cs typeface="Times New Roman" panose="02020603050405020304" pitchFamily="18" charset="0"/>
                </a:rPr>
                <a:t>0</a:t>
              </a:r>
              <a:endParaRPr lang="en-US" altLang="zh-CN" sz="1600" b="1" dirty="0">
                <a:latin typeface="Times New Roman" panose="02020603050405020304" pitchFamily="18" charset="0"/>
                <a:cs typeface="Times New Roman" panose="02020603050405020304" pitchFamily="18" charset="0"/>
              </a:endParaRPr>
            </a:p>
            <a:p>
              <a:pPr>
                <a:lnSpc>
                  <a:spcPct val="114000"/>
                </a:lnSpc>
              </a:pPr>
              <a:r>
                <a:rPr lang="en-US" altLang="zh-CN" sz="1600" b="1" dirty="0">
                  <a:latin typeface="Times New Roman" panose="02020603050405020304" pitchFamily="18" charset="0"/>
                  <a:cs typeface="Times New Roman" panose="02020603050405020304" pitchFamily="18" charset="0"/>
                </a:rPr>
                <a:t>0</a:t>
              </a:r>
              <a:endParaRPr lang="en-US" altLang="zh-CN" sz="1600" b="1" dirty="0">
                <a:latin typeface="Times New Roman" panose="02020603050405020304" pitchFamily="18" charset="0"/>
                <a:cs typeface="Times New Roman" panose="02020603050405020304" pitchFamily="18" charset="0"/>
              </a:endParaRPr>
            </a:p>
            <a:p>
              <a:pPr>
                <a:lnSpc>
                  <a:spcPct val="114000"/>
                </a:lnSpc>
              </a:pPr>
              <a:r>
                <a:rPr lang="en-US" altLang="zh-CN" sz="1600" b="1" dirty="0">
                  <a:latin typeface="Times New Roman" panose="02020603050405020304" pitchFamily="18" charset="0"/>
                  <a:cs typeface="Times New Roman" panose="02020603050405020304" pitchFamily="18" charset="0"/>
                </a:rPr>
                <a:t>0</a:t>
              </a:r>
              <a:endParaRPr lang="en-US" altLang="zh-CN" sz="1600" b="1" dirty="0">
                <a:latin typeface="Times New Roman" panose="02020603050405020304" pitchFamily="18" charset="0"/>
                <a:cs typeface="Times New Roman" panose="02020603050405020304" pitchFamily="18" charset="0"/>
              </a:endParaRPr>
            </a:p>
            <a:p>
              <a:pPr>
                <a:lnSpc>
                  <a:spcPct val="114000"/>
                </a:lnSpc>
              </a:pPr>
              <a:r>
                <a:rPr lang="en-US" altLang="zh-CN" sz="1600" b="1" dirty="0">
                  <a:latin typeface="Times New Roman" panose="02020603050405020304" pitchFamily="18" charset="0"/>
                  <a:cs typeface="Times New Roman" panose="02020603050405020304" pitchFamily="18" charset="0"/>
                </a:rPr>
                <a:t>0</a:t>
              </a:r>
              <a:endParaRPr lang="en-US" altLang="zh-CN" sz="1600" b="1" dirty="0">
                <a:latin typeface="Times New Roman" panose="02020603050405020304" pitchFamily="18" charset="0"/>
                <a:cs typeface="Times New Roman" panose="02020603050405020304" pitchFamily="18" charset="0"/>
              </a:endParaRPr>
            </a:p>
            <a:p>
              <a:pPr>
                <a:lnSpc>
                  <a:spcPct val="114000"/>
                </a:lnSpc>
              </a:pPr>
              <a:r>
                <a:rPr lang="en-US" altLang="zh-CN" sz="1600" b="1" dirty="0">
                  <a:latin typeface="Times New Roman" panose="02020603050405020304" pitchFamily="18" charset="0"/>
                  <a:cs typeface="Times New Roman" panose="02020603050405020304" pitchFamily="18" charset="0"/>
                </a:rPr>
                <a:t>0</a:t>
              </a:r>
              <a:endParaRPr lang="zh-CN" altLang="en-US" sz="1600" b="1" dirty="0">
                <a:latin typeface="Times New Roman" panose="02020603050405020304" pitchFamily="18" charset="0"/>
                <a:cs typeface="Times New Roman" panose="02020603050405020304" pitchFamily="18" charset="0"/>
              </a:endParaRPr>
            </a:p>
          </p:txBody>
        </p:sp>
      </p:grpSp>
      <p:grpSp>
        <p:nvGrpSpPr>
          <p:cNvPr id="3" name="组合 65"/>
          <p:cNvGrpSpPr/>
          <p:nvPr/>
        </p:nvGrpSpPr>
        <p:grpSpPr>
          <a:xfrm>
            <a:off x="392434" y="769746"/>
            <a:ext cx="5108279" cy="420971"/>
            <a:chOff x="670560" y="892917"/>
            <a:chExt cx="5108279" cy="420971"/>
          </a:xfrm>
        </p:grpSpPr>
        <p:sp>
          <p:nvSpPr>
            <p:cNvPr id="67" name="矩形 66"/>
            <p:cNvSpPr/>
            <p:nvPr/>
          </p:nvSpPr>
          <p:spPr>
            <a:xfrm>
              <a:off x="1035233" y="913778"/>
              <a:ext cx="4743606"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CD4532</a:t>
              </a:r>
              <a:r>
                <a:rPr lang="zh-CN" altLang="en-US" sz="2000" b="1" dirty="0">
                  <a:solidFill>
                    <a:srgbClr val="002060"/>
                  </a:solidFill>
                  <a:latin typeface="微软雅黑" panose="020B0503020204020204" pitchFamily="34" charset="-122"/>
                  <a:ea typeface="微软雅黑" panose="020B0503020204020204" pitchFamily="34" charset="-122"/>
                </a:rPr>
                <a:t>应用（</a:t>
              </a:r>
              <a:r>
                <a:rPr lang="zh-CN" altLang="en-US" sz="1600" b="1" dirty="0">
                  <a:solidFill>
                    <a:srgbClr val="FF00FF"/>
                  </a:solidFill>
                  <a:latin typeface="微软雅黑" panose="020B0503020204020204" pitchFamily="34" charset="-122"/>
                  <a:ea typeface="微软雅黑" panose="020B0503020204020204" pitchFamily="34" charset="-122"/>
                </a:rPr>
                <a:t>扩展为</a:t>
              </a:r>
              <a:r>
                <a:rPr lang="en-US" altLang="zh-CN" sz="1600" b="1" dirty="0">
                  <a:solidFill>
                    <a:srgbClr val="FF00FF"/>
                  </a:solidFill>
                  <a:latin typeface="微软雅黑" panose="020B0503020204020204" pitchFamily="34" charset="-122"/>
                  <a:ea typeface="微软雅黑" panose="020B0503020204020204" pitchFamily="34" charset="-122"/>
                </a:rPr>
                <a:t>16</a:t>
              </a:r>
              <a:r>
                <a:rPr lang="zh-CN" altLang="en-US" sz="1600" b="1" dirty="0">
                  <a:solidFill>
                    <a:srgbClr val="FF00FF"/>
                  </a:solidFill>
                  <a:latin typeface="微软雅黑" panose="020B0503020204020204" pitchFamily="34" charset="-122"/>
                  <a:ea typeface="微软雅黑" panose="020B0503020204020204" pitchFamily="34" charset="-122"/>
                </a:rPr>
                <a:t>线</a:t>
              </a:r>
              <a:r>
                <a:rPr lang="en-US" altLang="zh-CN" sz="1600" b="1" dirty="0">
                  <a:solidFill>
                    <a:srgbClr val="FF00FF"/>
                  </a:solidFill>
                  <a:latin typeface="微软雅黑" panose="020B0503020204020204" pitchFamily="34" charset="-122"/>
                  <a:ea typeface="微软雅黑" panose="020B0503020204020204" pitchFamily="34" charset="-122"/>
                </a:rPr>
                <a:t>-4</a:t>
              </a:r>
              <a:r>
                <a:rPr lang="zh-CN" altLang="en-US" sz="1600" b="1" dirty="0">
                  <a:solidFill>
                    <a:srgbClr val="FF00FF"/>
                  </a:solidFill>
                  <a:latin typeface="微软雅黑" panose="020B0503020204020204" pitchFamily="34" charset="-122"/>
                  <a:ea typeface="微软雅黑" panose="020B0503020204020204" pitchFamily="34" charset="-122"/>
                </a:rPr>
                <a:t>线优先编码器</a:t>
              </a:r>
              <a:r>
                <a:rPr lang="zh-CN" altLang="en-US" sz="2000" b="1" dirty="0">
                  <a:solidFill>
                    <a:srgbClr val="002060"/>
                  </a:solidFill>
                  <a:latin typeface="微软雅黑" panose="020B0503020204020204" pitchFamily="34" charset="-122"/>
                  <a:ea typeface="微软雅黑" panose="020B0503020204020204" pitchFamily="34" charset="-122"/>
                </a:rPr>
                <a: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68" name="Picture 3"/>
            <p:cNvPicPr>
              <a:picLocks noChangeAspect="1" noChangeArrowheads="1"/>
            </p:cNvPicPr>
            <p:nvPr/>
          </p:nvPicPr>
          <p:blipFill>
            <a:blip r:embed="rId2"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12" name="组合 11"/>
          <p:cNvGrpSpPr/>
          <p:nvPr/>
        </p:nvGrpSpPr>
        <p:grpSpPr>
          <a:xfrm>
            <a:off x="6363290" y="2030012"/>
            <a:ext cx="1868579" cy="2266502"/>
            <a:chOff x="786168" y="2119152"/>
            <a:chExt cx="1868579" cy="2266502"/>
          </a:xfrm>
        </p:grpSpPr>
        <p:grpSp>
          <p:nvGrpSpPr>
            <p:cNvPr id="13" name="组合 107"/>
            <p:cNvGrpSpPr/>
            <p:nvPr/>
          </p:nvGrpSpPr>
          <p:grpSpPr>
            <a:xfrm>
              <a:off x="786168" y="2119152"/>
              <a:ext cx="1868579" cy="2266502"/>
              <a:chOff x="777500" y="1958807"/>
              <a:chExt cx="1868579" cy="2266502"/>
            </a:xfrm>
          </p:grpSpPr>
          <p:sp>
            <p:nvSpPr>
              <p:cNvPr id="16" name="矩形 15"/>
              <p:cNvSpPr/>
              <p:nvPr/>
            </p:nvSpPr>
            <p:spPr>
              <a:xfrm>
                <a:off x="1083391" y="1984812"/>
                <a:ext cx="1339097" cy="2240497"/>
              </a:xfrm>
              <a:prstGeom prst="rect">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7" name="直接连接符 16"/>
              <p:cNvCxnSpPr/>
              <p:nvPr/>
            </p:nvCxnSpPr>
            <p:spPr>
              <a:xfrm flipH="1">
                <a:off x="851909" y="2140822"/>
                <a:ext cx="216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851909" y="2384332"/>
                <a:ext cx="216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851909" y="2627842"/>
                <a:ext cx="216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851909" y="3358372"/>
                <a:ext cx="216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851909" y="3601882"/>
                <a:ext cx="216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848297" y="4032455"/>
                <a:ext cx="216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2430079" y="2236879"/>
                <a:ext cx="216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2430079" y="2593221"/>
                <a:ext cx="216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2421412" y="3447436"/>
                <a:ext cx="216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2421412" y="3192241"/>
                <a:ext cx="216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2421412" y="3702631"/>
                <a:ext cx="216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2421412" y="3957825"/>
                <a:ext cx="2160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9" name="TextBox 28"/>
              <p:cNvSpPr txBox="1"/>
              <p:nvPr/>
            </p:nvSpPr>
            <p:spPr>
              <a:xfrm>
                <a:off x="1066078" y="1958807"/>
                <a:ext cx="447558" cy="2062103"/>
              </a:xfrm>
              <a:prstGeom prst="rect">
                <a:avLst/>
              </a:prstGeom>
              <a:noFill/>
            </p:spPr>
            <p:txBody>
              <a:bodyPr wrap="square" rtlCol="0">
                <a:spAutoFit/>
              </a:bodyPr>
              <a:lstStyle/>
              <a:p>
                <a:r>
                  <a:rPr lang="en-US" altLang="zh-CN" sz="1600" i="1" dirty="0">
                    <a:latin typeface="Times New Roman" panose="02020603050405020304" pitchFamily="18" charset="0"/>
                    <a:cs typeface="Times New Roman" panose="02020603050405020304" pitchFamily="18" charset="0"/>
                  </a:rPr>
                  <a:t>A</a:t>
                </a:r>
                <a:r>
                  <a:rPr lang="en-US" altLang="zh-CN" sz="1600" baseline="-25000" dirty="0">
                    <a:latin typeface="Times New Roman" panose="02020603050405020304" pitchFamily="18" charset="0"/>
                    <a:cs typeface="Times New Roman" panose="02020603050405020304" pitchFamily="18" charset="0"/>
                  </a:rPr>
                  <a:t>15</a:t>
                </a:r>
                <a:endParaRPr lang="en-US" altLang="zh-CN" sz="1600" baseline="-25000" dirty="0">
                  <a:latin typeface="Times New Roman" panose="02020603050405020304" pitchFamily="18" charset="0"/>
                  <a:cs typeface="Times New Roman" panose="02020603050405020304" pitchFamily="18" charset="0"/>
                </a:endParaRPr>
              </a:p>
              <a:p>
                <a:r>
                  <a:rPr lang="en-US" altLang="zh-CN" sz="1600" i="1" dirty="0">
                    <a:latin typeface="Times New Roman" panose="02020603050405020304" pitchFamily="18" charset="0"/>
                    <a:cs typeface="Times New Roman" panose="02020603050405020304" pitchFamily="18" charset="0"/>
                  </a:rPr>
                  <a:t>A</a:t>
                </a:r>
                <a:r>
                  <a:rPr lang="en-US" altLang="zh-CN" sz="1600" baseline="-25000" dirty="0">
                    <a:latin typeface="Times New Roman" panose="02020603050405020304" pitchFamily="18" charset="0"/>
                    <a:cs typeface="Times New Roman" panose="02020603050405020304" pitchFamily="18" charset="0"/>
                  </a:rPr>
                  <a:t>14</a:t>
                </a:r>
                <a:endParaRPr lang="en-US" altLang="zh-CN" sz="1600" baseline="-25000" dirty="0">
                  <a:latin typeface="Times New Roman" panose="02020603050405020304" pitchFamily="18" charset="0"/>
                  <a:cs typeface="Times New Roman" panose="02020603050405020304" pitchFamily="18" charset="0"/>
                </a:endParaRPr>
              </a:p>
              <a:p>
                <a:r>
                  <a:rPr lang="en-US" altLang="zh-CN" sz="1600" i="1" dirty="0">
                    <a:latin typeface="Times New Roman" panose="02020603050405020304" pitchFamily="18" charset="0"/>
                    <a:cs typeface="Times New Roman" panose="02020603050405020304" pitchFamily="18" charset="0"/>
                  </a:rPr>
                  <a:t>A</a:t>
                </a:r>
                <a:r>
                  <a:rPr lang="en-US" altLang="zh-CN" sz="1600" baseline="-25000" dirty="0">
                    <a:latin typeface="Times New Roman" panose="02020603050405020304" pitchFamily="18" charset="0"/>
                    <a:cs typeface="Times New Roman" panose="02020603050405020304" pitchFamily="18" charset="0"/>
                  </a:rPr>
                  <a:t>13</a:t>
                </a:r>
                <a:endParaRPr lang="en-US" altLang="zh-CN" sz="1600" baseline="-25000" dirty="0">
                  <a:latin typeface="Times New Roman" panose="02020603050405020304" pitchFamily="18" charset="0"/>
                  <a:cs typeface="Times New Roman" panose="02020603050405020304" pitchFamily="18" charset="0"/>
                </a:endParaRPr>
              </a:p>
              <a:p>
                <a:endParaRPr lang="en-US" altLang="zh-CN" sz="1600" dirty="0">
                  <a:latin typeface="Times New Roman" panose="02020603050405020304" pitchFamily="18" charset="0"/>
                  <a:cs typeface="Times New Roman" panose="02020603050405020304" pitchFamily="18" charset="0"/>
                </a:endParaRPr>
              </a:p>
              <a:p>
                <a:endParaRPr lang="en-US" altLang="zh-CN" sz="1600" dirty="0">
                  <a:latin typeface="Times New Roman" panose="02020603050405020304" pitchFamily="18" charset="0"/>
                  <a:cs typeface="Times New Roman" panose="02020603050405020304" pitchFamily="18" charset="0"/>
                </a:endParaRPr>
              </a:p>
              <a:p>
                <a:r>
                  <a:rPr lang="en-US" altLang="zh-CN" sz="1600" i="1" dirty="0">
                    <a:latin typeface="Times New Roman" panose="02020603050405020304" pitchFamily="18" charset="0"/>
                    <a:cs typeface="Times New Roman" panose="02020603050405020304" pitchFamily="18" charset="0"/>
                  </a:rPr>
                  <a:t>A</a:t>
                </a:r>
                <a:r>
                  <a:rPr lang="en-US" altLang="zh-CN" sz="1600" baseline="-25000" dirty="0">
                    <a:latin typeface="Times New Roman" panose="02020603050405020304" pitchFamily="18" charset="0"/>
                    <a:cs typeface="Times New Roman" panose="02020603050405020304" pitchFamily="18" charset="0"/>
                  </a:rPr>
                  <a:t>1</a:t>
                </a:r>
                <a:endParaRPr lang="en-US" altLang="zh-CN" sz="1600" baseline="-25000" dirty="0">
                  <a:latin typeface="Times New Roman" panose="02020603050405020304" pitchFamily="18" charset="0"/>
                  <a:cs typeface="Times New Roman" panose="02020603050405020304" pitchFamily="18" charset="0"/>
                </a:endParaRPr>
              </a:p>
              <a:p>
                <a:r>
                  <a:rPr lang="en-US" altLang="zh-CN" sz="1600" i="1" dirty="0">
                    <a:latin typeface="Times New Roman" panose="02020603050405020304" pitchFamily="18" charset="0"/>
                    <a:cs typeface="Times New Roman" panose="02020603050405020304" pitchFamily="18" charset="0"/>
                  </a:rPr>
                  <a:t>A</a:t>
                </a:r>
                <a:r>
                  <a:rPr lang="en-US" altLang="zh-CN" sz="1600" baseline="-25000" dirty="0">
                    <a:latin typeface="Times New Roman" panose="02020603050405020304" pitchFamily="18" charset="0"/>
                    <a:cs typeface="Times New Roman" panose="02020603050405020304" pitchFamily="18" charset="0"/>
                  </a:rPr>
                  <a:t>0</a:t>
                </a:r>
                <a:endParaRPr lang="en-US" altLang="zh-CN" sz="1600" baseline="-25000" dirty="0">
                  <a:latin typeface="Times New Roman" panose="02020603050405020304" pitchFamily="18" charset="0"/>
                  <a:cs typeface="Times New Roman" panose="02020603050405020304" pitchFamily="18" charset="0"/>
                </a:endParaRPr>
              </a:p>
              <a:p>
                <a:endParaRPr lang="en-US" altLang="zh-CN" sz="1600" dirty="0">
                  <a:latin typeface="Times New Roman" panose="02020603050405020304" pitchFamily="18" charset="0"/>
                  <a:cs typeface="Times New Roman" panose="02020603050405020304" pitchFamily="18" charset="0"/>
                </a:endParaRPr>
              </a:p>
            </p:txBody>
          </p:sp>
          <p:sp>
            <p:nvSpPr>
              <p:cNvPr id="30" name="TextBox 29"/>
              <p:cNvSpPr txBox="1"/>
              <p:nvPr/>
            </p:nvSpPr>
            <p:spPr>
              <a:xfrm>
                <a:off x="1094568" y="2839263"/>
                <a:ext cx="430887" cy="338554"/>
              </a:xfrm>
              <a:prstGeom prst="rect">
                <a:avLst/>
              </a:prstGeom>
              <a:noFill/>
            </p:spPr>
            <p:txBody>
              <a:bodyPr vert="eaVert" wrap="square" rtlCol="0">
                <a:spAutoFit/>
              </a:bodyPr>
              <a:lstStyle/>
              <a:p>
                <a:pPr algn="ctr"/>
                <a:r>
                  <a:rPr lang="en-US" altLang="zh-CN" sz="1600" b="1" dirty="0">
                    <a:latin typeface="Times New Roman" panose="02020603050405020304" pitchFamily="18" charset="0"/>
                    <a:cs typeface="Times New Roman" panose="02020603050405020304" pitchFamily="18" charset="0"/>
                  </a:rPr>
                  <a:t>…</a:t>
                </a:r>
                <a:endParaRPr lang="en-US" altLang="zh-CN" sz="1600" b="1" dirty="0">
                  <a:latin typeface="Times New Roman" panose="02020603050405020304" pitchFamily="18" charset="0"/>
                  <a:cs typeface="Times New Roman" panose="02020603050405020304" pitchFamily="18" charset="0"/>
                </a:endParaRPr>
              </a:p>
            </p:txBody>
          </p:sp>
          <p:sp>
            <p:nvSpPr>
              <p:cNvPr id="31" name="矩形 30"/>
              <p:cNvSpPr/>
              <p:nvPr/>
            </p:nvSpPr>
            <p:spPr>
              <a:xfrm>
                <a:off x="777500" y="2854652"/>
                <a:ext cx="461665" cy="323165"/>
              </a:xfrm>
              <a:prstGeom prst="rect">
                <a:avLst/>
              </a:prstGeom>
            </p:spPr>
            <p:txBody>
              <a:bodyPr vert="eaVert" wrap="none">
                <a:spAutoFit/>
              </a:bodyPr>
              <a:lstStyle/>
              <a:p>
                <a:r>
                  <a:rPr lang="en-US" altLang="zh-CN" b="1" dirty="0">
                    <a:latin typeface="Times New Roman" panose="02020603050405020304" pitchFamily="18" charset="0"/>
                    <a:cs typeface="Times New Roman" panose="02020603050405020304" pitchFamily="18" charset="0"/>
                  </a:rPr>
                  <a:t>…</a:t>
                </a:r>
                <a:endParaRPr lang="zh-CN" altLang="en-US" dirty="0"/>
              </a:p>
            </p:txBody>
          </p:sp>
          <p:sp>
            <p:nvSpPr>
              <p:cNvPr id="32" name="矩形 31"/>
              <p:cNvSpPr/>
              <p:nvPr/>
            </p:nvSpPr>
            <p:spPr>
              <a:xfrm>
                <a:off x="1044670" y="3860255"/>
                <a:ext cx="378630" cy="338554"/>
              </a:xfrm>
              <a:prstGeom prst="rect">
                <a:avLst/>
              </a:prstGeom>
            </p:spPr>
            <p:txBody>
              <a:bodyPr wrap="none">
                <a:spAutoFit/>
              </a:bodyPr>
              <a:lstStyle/>
              <a:p>
                <a:r>
                  <a:rPr lang="en-US" altLang="zh-CN" sz="1600" i="1" dirty="0">
                    <a:latin typeface="Times New Roman" panose="02020603050405020304" pitchFamily="18" charset="0"/>
                    <a:cs typeface="Times New Roman" panose="02020603050405020304" pitchFamily="18" charset="0"/>
                  </a:rPr>
                  <a:t>EI</a:t>
                </a:r>
                <a:endParaRPr lang="zh-CN" altLang="en-US" sz="1600" i="1" dirty="0">
                  <a:latin typeface="Times New Roman" panose="02020603050405020304" pitchFamily="18" charset="0"/>
                  <a:cs typeface="Times New Roman" panose="02020603050405020304" pitchFamily="18" charset="0"/>
                </a:endParaRPr>
              </a:p>
            </p:txBody>
          </p:sp>
          <p:sp>
            <p:nvSpPr>
              <p:cNvPr id="33" name="TextBox 32"/>
              <p:cNvSpPr txBox="1"/>
              <p:nvPr/>
            </p:nvSpPr>
            <p:spPr>
              <a:xfrm>
                <a:off x="2067876" y="3012624"/>
                <a:ext cx="447558" cy="1077218"/>
              </a:xfrm>
              <a:prstGeom prst="rect">
                <a:avLst/>
              </a:prstGeom>
              <a:noFill/>
            </p:spPr>
            <p:txBody>
              <a:bodyPr wrap="square" rtlCol="0">
                <a:spAutoFit/>
              </a:bodyPr>
              <a:lstStyle/>
              <a:p>
                <a:r>
                  <a:rPr lang="en-US" altLang="zh-CN" sz="1600" i="1" dirty="0">
                    <a:latin typeface="Times New Roman" panose="02020603050405020304" pitchFamily="18" charset="0"/>
                    <a:cs typeface="Times New Roman" panose="02020603050405020304" pitchFamily="18" charset="0"/>
                  </a:rPr>
                  <a:t>L</a:t>
                </a:r>
                <a:r>
                  <a:rPr lang="en-US" altLang="zh-CN" sz="1600" baseline="-25000" dirty="0">
                    <a:latin typeface="Times New Roman" panose="02020603050405020304" pitchFamily="18" charset="0"/>
                    <a:cs typeface="Times New Roman" panose="02020603050405020304" pitchFamily="18" charset="0"/>
                  </a:rPr>
                  <a:t>3</a:t>
                </a:r>
                <a:endParaRPr lang="en-US" altLang="zh-CN" sz="1600" baseline="-25000" dirty="0">
                  <a:latin typeface="Times New Roman" panose="02020603050405020304" pitchFamily="18" charset="0"/>
                  <a:cs typeface="Times New Roman" panose="02020603050405020304" pitchFamily="18" charset="0"/>
                </a:endParaRPr>
              </a:p>
              <a:p>
                <a:r>
                  <a:rPr lang="en-US" altLang="zh-CN" sz="1600" i="1" dirty="0">
                    <a:latin typeface="Times New Roman" panose="02020603050405020304" pitchFamily="18" charset="0"/>
                    <a:cs typeface="Times New Roman" panose="02020603050405020304" pitchFamily="18" charset="0"/>
                  </a:rPr>
                  <a:t>L</a:t>
                </a:r>
                <a:r>
                  <a:rPr lang="en-US" altLang="zh-CN" sz="1600" baseline="-25000" dirty="0">
                    <a:latin typeface="Times New Roman" panose="02020603050405020304" pitchFamily="18" charset="0"/>
                    <a:cs typeface="Times New Roman" panose="02020603050405020304" pitchFamily="18" charset="0"/>
                  </a:rPr>
                  <a:t>2</a:t>
                </a:r>
                <a:endParaRPr lang="en-US" altLang="zh-CN" sz="1600" baseline="-25000" dirty="0">
                  <a:latin typeface="Times New Roman" panose="02020603050405020304" pitchFamily="18" charset="0"/>
                  <a:cs typeface="Times New Roman" panose="02020603050405020304" pitchFamily="18" charset="0"/>
                </a:endParaRPr>
              </a:p>
              <a:p>
                <a:r>
                  <a:rPr lang="en-US" altLang="zh-CN" sz="1600" i="1" dirty="0">
                    <a:latin typeface="Times New Roman" panose="02020603050405020304" pitchFamily="18" charset="0"/>
                    <a:cs typeface="Times New Roman" panose="02020603050405020304" pitchFamily="18" charset="0"/>
                  </a:rPr>
                  <a:t>L</a:t>
                </a:r>
                <a:r>
                  <a:rPr lang="en-US" altLang="zh-CN" sz="1600" baseline="-25000" dirty="0">
                    <a:latin typeface="Times New Roman" panose="02020603050405020304" pitchFamily="18" charset="0"/>
                    <a:cs typeface="Times New Roman" panose="02020603050405020304" pitchFamily="18" charset="0"/>
                  </a:rPr>
                  <a:t>1</a:t>
                </a:r>
                <a:endParaRPr lang="en-US" altLang="zh-CN" sz="1600" baseline="-25000" dirty="0">
                  <a:latin typeface="Times New Roman" panose="02020603050405020304" pitchFamily="18" charset="0"/>
                  <a:cs typeface="Times New Roman" panose="02020603050405020304" pitchFamily="18" charset="0"/>
                </a:endParaRPr>
              </a:p>
              <a:p>
                <a:r>
                  <a:rPr lang="en-US" altLang="zh-CN" sz="1600" i="1" dirty="0">
                    <a:latin typeface="Times New Roman" panose="02020603050405020304" pitchFamily="18" charset="0"/>
                    <a:cs typeface="Times New Roman" panose="02020603050405020304" pitchFamily="18" charset="0"/>
                  </a:rPr>
                  <a:t>L</a:t>
                </a:r>
                <a:r>
                  <a:rPr lang="en-US" altLang="zh-CN" sz="1600" baseline="-25000" dirty="0">
                    <a:latin typeface="Times New Roman" panose="02020603050405020304" pitchFamily="18" charset="0"/>
                    <a:cs typeface="Times New Roman" panose="02020603050405020304" pitchFamily="18" charset="0"/>
                  </a:rPr>
                  <a:t>0</a:t>
                </a:r>
                <a:endParaRPr lang="en-US" altLang="zh-CN" sz="1600" dirty="0">
                  <a:latin typeface="Times New Roman" panose="02020603050405020304" pitchFamily="18" charset="0"/>
                  <a:cs typeface="Times New Roman" panose="02020603050405020304" pitchFamily="18" charset="0"/>
                </a:endParaRPr>
              </a:p>
            </p:txBody>
          </p:sp>
          <p:sp>
            <p:nvSpPr>
              <p:cNvPr id="34" name="矩形 33"/>
              <p:cNvSpPr/>
              <p:nvPr/>
            </p:nvSpPr>
            <p:spPr>
              <a:xfrm>
                <a:off x="2016126" y="2036511"/>
                <a:ext cx="457176" cy="338554"/>
              </a:xfrm>
              <a:prstGeom prst="rect">
                <a:avLst/>
              </a:prstGeom>
            </p:spPr>
            <p:txBody>
              <a:bodyPr wrap="none">
                <a:spAutoFit/>
              </a:bodyPr>
              <a:lstStyle/>
              <a:p>
                <a:r>
                  <a:rPr lang="en-US" altLang="zh-CN" sz="1600" i="1" dirty="0">
                    <a:latin typeface="Times New Roman" panose="02020603050405020304" pitchFamily="18" charset="0"/>
                    <a:cs typeface="Times New Roman" panose="02020603050405020304" pitchFamily="18" charset="0"/>
                  </a:rPr>
                  <a:t>EO</a:t>
                </a:r>
                <a:endParaRPr lang="zh-CN" altLang="en-US" sz="1600" i="1" dirty="0">
                  <a:latin typeface="Times New Roman" panose="02020603050405020304" pitchFamily="18" charset="0"/>
                  <a:cs typeface="Times New Roman" panose="02020603050405020304" pitchFamily="18" charset="0"/>
                </a:endParaRPr>
              </a:p>
            </p:txBody>
          </p:sp>
          <p:sp>
            <p:nvSpPr>
              <p:cNvPr id="35" name="矩形 34"/>
              <p:cNvSpPr/>
              <p:nvPr/>
            </p:nvSpPr>
            <p:spPr>
              <a:xfrm>
                <a:off x="2024803" y="2409203"/>
                <a:ext cx="434734" cy="338554"/>
              </a:xfrm>
              <a:prstGeom prst="rect">
                <a:avLst/>
              </a:prstGeom>
            </p:spPr>
            <p:txBody>
              <a:bodyPr wrap="none">
                <a:spAutoFit/>
              </a:bodyPr>
              <a:lstStyle/>
              <a:p>
                <a:r>
                  <a:rPr lang="en-US" altLang="zh-CN" sz="1600" i="1" dirty="0">
                    <a:latin typeface="Times New Roman" panose="02020603050405020304" pitchFamily="18" charset="0"/>
                    <a:cs typeface="Times New Roman" panose="02020603050405020304" pitchFamily="18" charset="0"/>
                  </a:rPr>
                  <a:t>GS</a:t>
                </a:r>
                <a:endParaRPr lang="en-US" altLang="zh-CN" sz="1600" i="1" dirty="0">
                  <a:latin typeface="Times New Roman" panose="02020603050405020304" pitchFamily="18" charset="0"/>
                  <a:cs typeface="Times New Roman" panose="02020603050405020304" pitchFamily="18" charset="0"/>
                </a:endParaRPr>
              </a:p>
            </p:txBody>
          </p:sp>
        </p:grpSp>
        <p:sp>
          <p:nvSpPr>
            <p:cNvPr id="14" name="矩形 13"/>
            <p:cNvSpPr/>
            <p:nvPr/>
          </p:nvSpPr>
          <p:spPr>
            <a:xfrm>
              <a:off x="1578364" y="2360815"/>
              <a:ext cx="400110" cy="1759456"/>
            </a:xfrm>
            <a:prstGeom prst="rect">
              <a:avLst/>
            </a:prstGeom>
          </p:spPr>
          <p:txBody>
            <a:bodyPr vert="eaVert" wrap="none">
              <a:spAutoFit/>
            </a:bodyPr>
            <a:lstStyle/>
            <a:p>
              <a:r>
                <a:rPr lang="en-US" altLang="zh-CN" sz="1400" b="1" dirty="0">
                  <a:solidFill>
                    <a:schemeClr val="accent1">
                      <a:lumMod val="75000"/>
                    </a:schemeClr>
                  </a:solidFill>
                  <a:latin typeface="微软雅黑" panose="020B0503020204020204" pitchFamily="34" charset="-122"/>
                  <a:ea typeface="微软雅黑" panose="020B0503020204020204" pitchFamily="34" charset="-122"/>
                </a:rPr>
                <a:t>16</a:t>
              </a:r>
              <a:r>
                <a:rPr lang="zh-CN" altLang="en-US" sz="1400" b="1" dirty="0">
                  <a:solidFill>
                    <a:schemeClr val="accent1">
                      <a:lumMod val="75000"/>
                    </a:schemeClr>
                  </a:solidFill>
                  <a:latin typeface="微软雅黑" panose="020B0503020204020204" pitchFamily="34" charset="-122"/>
                  <a:ea typeface="微软雅黑" panose="020B0503020204020204" pitchFamily="34" charset="-122"/>
                </a:rPr>
                <a:t>线</a:t>
              </a:r>
              <a:r>
                <a:rPr lang="en-US" altLang="zh-CN" sz="1400" b="1" dirty="0">
                  <a:solidFill>
                    <a:schemeClr val="accent1">
                      <a:lumMod val="75000"/>
                    </a:schemeClr>
                  </a:solidFill>
                  <a:latin typeface="微软雅黑" panose="020B0503020204020204" pitchFamily="34" charset="-122"/>
                  <a:ea typeface="微软雅黑" panose="020B0503020204020204" pitchFamily="34" charset="-122"/>
                </a:rPr>
                <a:t>-4</a:t>
              </a:r>
              <a:r>
                <a:rPr lang="zh-CN" altLang="en-US" sz="1400" b="1" dirty="0">
                  <a:solidFill>
                    <a:schemeClr val="accent1">
                      <a:lumMod val="75000"/>
                    </a:schemeClr>
                  </a:solidFill>
                  <a:latin typeface="微软雅黑" panose="020B0503020204020204" pitchFamily="34" charset="-122"/>
                  <a:ea typeface="微软雅黑" panose="020B0503020204020204" pitchFamily="34" charset="-122"/>
                </a:rPr>
                <a:t>线优先编码器</a:t>
              </a:r>
              <a:endParaRPr lang="zh-CN" altLang="en-US" sz="1400" b="1" dirty="0">
                <a:solidFill>
                  <a:schemeClr val="accent1">
                    <a:lumMod val="75000"/>
                  </a:schemeClr>
                </a:solidFill>
              </a:endParaRPr>
            </a:p>
          </p:txBody>
        </p:sp>
      </p:grpSp>
    </p:spTree>
  </p:cSld>
  <p:clrMapOvr>
    <a:masterClrMapping/>
  </p:clrMapOvr>
  <p:transition spd="slow">
    <p:push di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816410" y="1451187"/>
            <a:ext cx="7142680" cy="2871163"/>
            <a:chOff x="816410" y="1451187"/>
            <a:chExt cx="7142680" cy="2871163"/>
          </a:xfrm>
        </p:grpSpPr>
        <p:sp>
          <p:nvSpPr>
            <p:cNvPr id="33" name="文本框 6"/>
            <p:cNvSpPr txBox="1"/>
            <p:nvPr/>
          </p:nvSpPr>
          <p:spPr>
            <a:xfrm>
              <a:off x="1140259" y="1959049"/>
              <a:ext cx="6498792" cy="1823576"/>
            </a:xfrm>
            <a:prstGeom prst="rect">
              <a:avLst/>
            </a:prstGeom>
            <a:noFill/>
          </p:spPr>
          <p:txBody>
            <a:bodyPr wrap="square" rtlCol="0">
              <a:spAutoFit/>
            </a:bodyPr>
            <a:lstStyle/>
            <a:p>
              <a:pPr algn="ctr">
                <a:lnSpc>
                  <a:spcPct val="125000"/>
                </a:lnSpc>
              </a:pP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4</a:t>
              </a: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 组合逻辑电路</a:t>
              </a:r>
              <a:endPar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a:p>
              <a:pPr algn="ctr">
                <a:lnSpc>
                  <a:spcPct val="125000"/>
                </a:lnSpc>
              </a:pPr>
              <a:r>
                <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4.4 </a:t>
              </a:r>
              <a:r>
                <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典型组合逻辑集成电路</a:t>
              </a:r>
              <a:endPar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a:p>
              <a:pPr algn="ctr">
                <a:lnSpc>
                  <a:spcPct val="125000"/>
                </a:lnSpc>
                <a:spcBef>
                  <a:spcPts val="600"/>
                </a:spcBef>
              </a:pPr>
              <a:r>
                <a:rPr lang="en-US" altLang="zh-CN" sz="2400" dirty="0">
                  <a:ln w="0"/>
                  <a:solidFill>
                    <a:schemeClr val="accent1"/>
                  </a:solidFill>
                  <a:effectLst>
                    <a:outerShdw blurRad="38100" dist="25400" dir="5400000" algn="ctr" rotWithShape="0">
                      <a:srgbClr val="6E747A">
                        <a:alpha val="43000"/>
                      </a:srgbClr>
                    </a:outerShdw>
                  </a:effectLst>
                  <a:latin typeface="方正粗黑宋简体" panose="02000000000000000000" pitchFamily="2" charset="-122"/>
                  <a:ea typeface="方正粗黑宋简体" panose="02000000000000000000" pitchFamily="2" charset="-122"/>
                </a:rPr>
                <a:t>4.4.2  </a:t>
              </a:r>
              <a:r>
                <a:rPr lang="zh-CN" altLang="en-US" sz="2400" dirty="0">
                  <a:ln w="0"/>
                  <a:solidFill>
                    <a:schemeClr val="accent1"/>
                  </a:solidFill>
                  <a:effectLst>
                    <a:outerShdw blurRad="38100" dist="25400" dir="5400000" algn="ctr" rotWithShape="0">
                      <a:srgbClr val="6E747A">
                        <a:alpha val="43000"/>
                      </a:srgbClr>
                    </a:outerShdw>
                  </a:effectLst>
                  <a:latin typeface="方正粗黑宋简体" panose="02000000000000000000" pitchFamily="2" charset="-122"/>
                  <a:ea typeface="方正粗黑宋简体" panose="02000000000000000000" pitchFamily="2" charset="-122"/>
                </a:rPr>
                <a:t>译码器</a:t>
              </a:r>
              <a:endParaRPr lang="zh-CN" altLang="en-US" sz="2400" dirty="0">
                <a:ln w="0"/>
                <a:solidFill>
                  <a:schemeClr val="accent1"/>
                </a:solidFill>
                <a:effectLst>
                  <a:outerShdw blurRad="38100" dist="25400" dir="5400000" algn="ctr" rotWithShape="0">
                    <a:srgbClr val="6E747A">
                      <a:alpha val="43000"/>
                    </a:srgbClr>
                  </a:outerShdw>
                </a:effectLst>
                <a:latin typeface="方正粗黑宋简体" panose="02000000000000000000" pitchFamily="2" charset="-122"/>
                <a:ea typeface="方正粗黑宋简体" panose="02000000000000000000" pitchFamily="2" charset="-122"/>
              </a:endParaRPr>
            </a:p>
          </p:txBody>
        </p:sp>
        <p:grpSp>
          <p:nvGrpSpPr>
            <p:cNvPr id="39" name="组合 35"/>
            <p:cNvGrpSpPr/>
            <p:nvPr/>
          </p:nvGrpSpPr>
          <p:grpSpPr>
            <a:xfrm>
              <a:off x="816410" y="1599354"/>
              <a:ext cx="1371600" cy="110067"/>
              <a:chOff x="910590" y="1699260"/>
              <a:chExt cx="1371600" cy="99060"/>
            </a:xfrm>
          </p:grpSpPr>
          <p:cxnSp>
            <p:nvCxnSpPr>
              <p:cNvPr id="52" name="直接连接符 51"/>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53" name="直接连接符 52"/>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40" name="组合 36"/>
            <p:cNvGrpSpPr/>
            <p:nvPr/>
          </p:nvGrpSpPr>
          <p:grpSpPr>
            <a:xfrm rot="5400000">
              <a:off x="771885" y="1781657"/>
              <a:ext cx="760000" cy="99060"/>
              <a:chOff x="910590" y="1699260"/>
              <a:chExt cx="1371600" cy="99060"/>
            </a:xfrm>
          </p:grpSpPr>
          <p:cxnSp>
            <p:nvCxnSpPr>
              <p:cNvPr id="41" name="直接连接符 40"/>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51" name="直接连接符 50"/>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55" name="组合 35"/>
            <p:cNvGrpSpPr/>
            <p:nvPr/>
          </p:nvGrpSpPr>
          <p:grpSpPr>
            <a:xfrm rot="10800000">
              <a:off x="6587490" y="4057767"/>
              <a:ext cx="1371600" cy="110067"/>
              <a:chOff x="910590" y="1699260"/>
              <a:chExt cx="1371600" cy="99060"/>
            </a:xfrm>
          </p:grpSpPr>
          <p:cxnSp>
            <p:nvCxnSpPr>
              <p:cNvPr id="59" name="直接连接符 58"/>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60" name="直接连接符 5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56" name="组合 36"/>
            <p:cNvGrpSpPr/>
            <p:nvPr/>
          </p:nvGrpSpPr>
          <p:grpSpPr>
            <a:xfrm rot="16200000">
              <a:off x="7199165" y="3892820"/>
              <a:ext cx="760000" cy="99060"/>
              <a:chOff x="910590" y="1699260"/>
              <a:chExt cx="1371600" cy="99060"/>
            </a:xfrm>
          </p:grpSpPr>
          <p:cxnSp>
            <p:nvCxnSpPr>
              <p:cNvPr id="57" name="直接连接符 56"/>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58" name="直接连接符 57"/>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Tree>
  </p:cSld>
  <p:clrMapOvr>
    <a:masterClrMapping/>
  </p:clrMapOvr>
  <mc:AlternateContent xmlns:mc="http://schemas.openxmlformats.org/markup-compatibility/2006">
    <mc:Choice xmlns:p14="http://schemas.microsoft.com/office/powerpoint/2010/main" Requires="p14">
      <p:transition spd="slow">
        <p14:window dir="ver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Effect transition="in" filter="fade">
                                      <p:cBhvr>
                                        <p:cTn id="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17"/>
          <p:cNvGrpSpPr/>
          <p:nvPr/>
        </p:nvGrpSpPr>
        <p:grpSpPr>
          <a:xfrm>
            <a:off x="392432" y="769746"/>
            <a:ext cx="2857663" cy="420971"/>
            <a:chOff x="670560" y="892917"/>
            <a:chExt cx="2857663" cy="420971"/>
          </a:xfrm>
        </p:grpSpPr>
        <p:sp>
          <p:nvSpPr>
            <p:cNvPr id="34" name="矩形 33"/>
            <p:cNvSpPr/>
            <p:nvPr/>
          </p:nvSpPr>
          <p:spPr>
            <a:xfrm>
              <a:off x="1035233" y="913778"/>
              <a:ext cx="2492990" cy="400110"/>
            </a:xfrm>
            <a:prstGeom prst="rect">
              <a:avLst/>
            </a:prstGeom>
          </p:spPr>
          <p:txBody>
            <a:bodyPr wrap="none">
              <a:spAutoFit/>
            </a:bodyPr>
            <a:lstStyle/>
            <a:p>
              <a:r>
                <a:rPr lang="zh-CN" altLang="zh-CN" sz="2000" b="1" dirty="0">
                  <a:solidFill>
                    <a:srgbClr val="002060"/>
                  </a:solidFill>
                  <a:latin typeface="微软雅黑" panose="020B0503020204020204" pitchFamily="34" charset="-122"/>
                  <a:ea typeface="微软雅黑" panose="020B0503020204020204" pitchFamily="34" charset="-122"/>
                </a:rPr>
                <a:t>译码器的定义和功能</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35"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20" name="矩形 19"/>
          <p:cNvSpPr/>
          <p:nvPr/>
        </p:nvSpPr>
        <p:spPr>
          <a:xfrm>
            <a:off x="497645" y="1390271"/>
            <a:ext cx="8073585" cy="700576"/>
          </a:xfrm>
          <a:prstGeom prst="rect">
            <a:avLst/>
          </a:prstGeom>
        </p:spPr>
        <p:txBody>
          <a:bodyPr wrap="square">
            <a:spAutoFit/>
          </a:bodyPr>
          <a:lstStyle/>
          <a:p>
            <a:pPr marL="539750" indent="-539750">
              <a:lnSpc>
                <a:spcPct val="150000"/>
              </a:lnSpc>
              <a:spcBef>
                <a:spcPts val="600"/>
              </a:spcBef>
            </a:pPr>
            <a:r>
              <a:rPr lang="zh-CN" altLang="en-US" sz="1400" b="1" dirty="0">
                <a:solidFill>
                  <a:srgbClr val="CC00CC"/>
                </a:solidFill>
                <a:latin typeface="微软雅黑" panose="020B0503020204020204" pitchFamily="34" charset="-122"/>
                <a:ea typeface="微软雅黑" panose="020B0503020204020204" pitchFamily="34" charset="-122"/>
              </a:rPr>
              <a:t>译码：</a:t>
            </a:r>
            <a:r>
              <a:rPr lang="zh-CN" altLang="zh-CN" sz="1400" dirty="0">
                <a:latin typeface="微软雅黑" panose="020B0503020204020204" pitchFamily="34" charset="-122"/>
                <a:ea typeface="微软雅黑" panose="020B0503020204020204" pitchFamily="34" charset="-122"/>
              </a:rPr>
              <a:t>是编码的</a:t>
            </a:r>
            <a:r>
              <a:rPr lang="zh-CN" altLang="zh-CN" sz="1400" b="1" dirty="0">
                <a:solidFill>
                  <a:srgbClr val="6600FF"/>
                </a:solidFill>
                <a:latin typeface="微软雅黑" panose="020B0503020204020204" pitchFamily="34" charset="-122"/>
                <a:ea typeface="微软雅黑" panose="020B0503020204020204" pitchFamily="34" charset="-122"/>
              </a:rPr>
              <a:t>逆过程</a:t>
            </a:r>
            <a:r>
              <a:rPr lang="zh-CN" altLang="zh-CN" sz="1400" dirty="0">
                <a:latin typeface="微软雅黑" panose="020B0503020204020204" pitchFamily="34" charset="-122"/>
                <a:ea typeface="微软雅黑" panose="020B0503020204020204" pitchFamily="34" charset="-122"/>
              </a:rPr>
              <a:t>，它是将输入的二进制代码转换成与之一一对应的有效电平信号或另外一个代码的过程。</a:t>
            </a:r>
            <a:endParaRPr lang="zh-CN" altLang="en-US" sz="1400" dirty="0">
              <a:solidFill>
                <a:srgbClr val="6600FF"/>
              </a:solidFill>
              <a:latin typeface="微软雅黑" panose="020B0503020204020204" pitchFamily="34" charset="-122"/>
              <a:ea typeface="微软雅黑" panose="020B0503020204020204" pitchFamily="34" charset="-122"/>
            </a:endParaRPr>
          </a:p>
        </p:txBody>
      </p:sp>
      <p:sp>
        <p:nvSpPr>
          <p:cNvPr id="36" name="矩形 35"/>
          <p:cNvSpPr/>
          <p:nvPr/>
        </p:nvSpPr>
        <p:spPr>
          <a:xfrm>
            <a:off x="497645" y="3590978"/>
            <a:ext cx="6195255" cy="1061829"/>
          </a:xfrm>
          <a:prstGeom prst="rect">
            <a:avLst/>
          </a:prstGeom>
        </p:spPr>
        <p:txBody>
          <a:bodyPr wrap="square">
            <a:spAutoFit/>
          </a:bodyPr>
          <a:lstStyle/>
          <a:p>
            <a:pPr>
              <a:lnSpc>
                <a:spcPct val="150000"/>
              </a:lnSpc>
            </a:pPr>
            <a:r>
              <a:rPr lang="zh-CN" altLang="en-US" sz="1400" b="1" dirty="0">
                <a:solidFill>
                  <a:srgbClr val="CC00CC"/>
                </a:solidFill>
                <a:latin typeface="微软雅黑" panose="020B0503020204020204" pitchFamily="34" charset="-122"/>
                <a:ea typeface="微软雅黑" panose="020B0503020204020204" pitchFamily="34" charset="-122"/>
              </a:rPr>
              <a:t>常见的译码器：</a:t>
            </a:r>
            <a:r>
              <a:rPr lang="zh-CN" altLang="en-US" sz="1400" dirty="0">
                <a:solidFill>
                  <a:schemeClr val="accent1">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二进制译码器</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Binary Decoder</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a:solidFill>
                  <a:schemeClr val="accent1">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二－十进制译码器</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(Binary-Coded Decimal Decoder)</a:t>
            </a:r>
            <a:endPar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ct val="150000"/>
              </a:lnSpc>
            </a:pP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dirty="0">
                <a:solidFill>
                  <a:schemeClr val="accent1">
                    <a:lumMod val="75000"/>
                  </a:schemeClr>
                </a:solidFill>
                <a:latin typeface="Times New Roman" panose="02020603050405020304" pitchFamily="18" charset="0"/>
                <a:ea typeface="微软雅黑" panose="020B0503020204020204" pitchFamily="34" charset="-122"/>
                <a:cs typeface="Times New Roman" panose="02020603050405020304" pitchFamily="18" charset="0"/>
              </a:rPr>
              <a:t>显示译码器</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(Display Decoder)</a:t>
            </a:r>
            <a:endPar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4" name="矩形 13"/>
          <p:cNvSpPr/>
          <p:nvPr/>
        </p:nvSpPr>
        <p:spPr>
          <a:xfrm>
            <a:off x="497645" y="2216445"/>
            <a:ext cx="6336632" cy="361637"/>
          </a:xfrm>
          <a:prstGeom prst="rect">
            <a:avLst/>
          </a:prstGeom>
        </p:spPr>
        <p:txBody>
          <a:bodyPr wrap="square">
            <a:spAutoFit/>
          </a:bodyPr>
          <a:lstStyle/>
          <a:p>
            <a:pPr marL="812800" indent="-812800">
              <a:lnSpc>
                <a:spcPct val="125000"/>
              </a:lnSpc>
              <a:defRPr/>
            </a:pPr>
            <a:r>
              <a:rPr lang="zh-CN" altLang="en-US" sz="1400" b="1" dirty="0">
                <a:solidFill>
                  <a:srgbClr val="CC00CC"/>
                </a:solidFill>
                <a:latin typeface="微软雅黑" panose="020B0503020204020204" pitchFamily="34" charset="-122"/>
                <a:ea typeface="微软雅黑" panose="020B0503020204020204" pitchFamily="34" charset="-122"/>
              </a:rPr>
              <a:t>译码器：</a:t>
            </a:r>
            <a:r>
              <a:rPr lang="zh-CN" altLang="en-US" sz="1400" dirty="0">
                <a:solidFill>
                  <a:srgbClr val="000000"/>
                </a:solidFill>
                <a:latin typeface="微软雅黑" panose="020B0503020204020204" pitchFamily="34" charset="-122"/>
                <a:ea typeface="微软雅黑" panose="020B0503020204020204" pitchFamily="34" charset="-122"/>
              </a:rPr>
              <a:t>具有译码功能的逻辑电路称为译码器。</a:t>
            </a:r>
            <a:endParaRPr lang="zh-CN" altLang="en-US" sz="1400" dirty="0">
              <a:solidFill>
                <a:srgbClr val="000000"/>
              </a:solidFill>
              <a:latin typeface="微软雅黑" panose="020B0503020204020204" pitchFamily="34" charset="-122"/>
              <a:ea typeface="微软雅黑" panose="020B0503020204020204" pitchFamily="34" charset="-122"/>
            </a:endParaRPr>
          </a:p>
        </p:txBody>
      </p:sp>
      <p:sp>
        <p:nvSpPr>
          <p:cNvPr id="31745" name="Rectangle 1"/>
          <p:cNvSpPr>
            <a:spLocks noChangeArrowheads="1"/>
          </p:cNvSpPr>
          <p:nvPr/>
        </p:nvSpPr>
        <p:spPr bwMode="auto">
          <a:xfrm>
            <a:off x="1143000" y="2589397"/>
            <a:ext cx="6609502" cy="815608"/>
          </a:xfrm>
          <a:prstGeom prst="rect">
            <a:avLst/>
          </a:prstGeom>
          <a:noFill/>
          <a:ln w="9525">
            <a:noFill/>
            <a:miter lim="800000"/>
          </a:ln>
          <a:effectLst/>
        </p:spPr>
        <p:txBody>
          <a:bodyPr vert="horz" wrap="none" lIns="91440" tIns="45720" rIns="91440" bIns="45720" numCol="1" anchor="ctr" anchorCtr="0" compatLnSpc="1">
            <a:spAutoFit/>
          </a:bodyPr>
          <a:lstStyle/>
          <a:p>
            <a:pPr lvl="0" fontAlgn="base">
              <a:lnSpc>
                <a:spcPct val="150000"/>
              </a:lnSpc>
              <a:spcBef>
                <a:spcPts val="600"/>
              </a:spcBef>
              <a:spcAft>
                <a:spcPct val="0"/>
              </a:spcAft>
              <a:buFont typeface="Wingdings" panose="05000000000000000000" pitchFamily="2" charset="2"/>
              <a:buChar char="u"/>
            </a:pPr>
            <a:r>
              <a:rPr lang="zh-CN" altLang="zh-CN" sz="1400" b="1" dirty="0">
                <a:solidFill>
                  <a:srgbClr val="6600FF"/>
                </a:solidFill>
                <a:latin typeface="微软雅黑" panose="020B0503020204020204" pitchFamily="34" charset="-122"/>
                <a:ea typeface="微软雅黑" panose="020B0503020204020204" pitchFamily="34" charset="-122"/>
                <a:cs typeface="Times New Roman" panose="02020603050405020304" pitchFamily="18" charset="0"/>
              </a:rPr>
              <a:t>唯一地址译码器</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a:t>
            </a:r>
            <a:r>
              <a:rPr kumimoji="0" 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将二进制代码转换成与之一一对应的有效电平信号的译码器</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endParaRPr>
          </a:p>
          <a:p>
            <a:pPr lvl="0" fontAlgn="base">
              <a:lnSpc>
                <a:spcPct val="150000"/>
              </a:lnSpc>
              <a:spcBef>
                <a:spcPts val="600"/>
              </a:spcBef>
              <a:spcAft>
                <a:spcPct val="0"/>
              </a:spcAft>
              <a:buFont typeface="Wingdings" panose="05000000000000000000" pitchFamily="2" charset="2"/>
              <a:buChar char="u"/>
            </a:pPr>
            <a:r>
              <a:rPr lang="zh-CN" altLang="zh-CN" sz="1400" b="1" dirty="0">
                <a:solidFill>
                  <a:srgbClr val="6600FF"/>
                </a:solidFill>
                <a:latin typeface="微软雅黑" panose="020B0503020204020204" pitchFamily="34" charset="-122"/>
                <a:ea typeface="微软雅黑" panose="020B0503020204020204" pitchFamily="34" charset="-122"/>
                <a:cs typeface="Times New Roman" panose="02020603050405020304" pitchFamily="18" charset="0"/>
              </a:rPr>
              <a:t>代码变换器</a:t>
            </a:r>
            <a:r>
              <a:rPr lang="zh-CN" altLang="en-US" sz="1400" dirty="0">
                <a:latin typeface="微软雅黑" panose="020B0503020204020204" pitchFamily="34" charset="-122"/>
                <a:ea typeface="微软雅黑" panose="020B0503020204020204" pitchFamily="34" charset="-122"/>
                <a:cs typeface="Times New Roman" panose="02020603050405020304" pitchFamily="18" charset="0"/>
              </a:rPr>
              <a:t>：</a:t>
            </a:r>
            <a:r>
              <a:rPr kumimoji="0" 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将一种代码转换为另一种代码的译码器</a:t>
            </a:r>
            <a:r>
              <a:rPr kumimoji="0" lang="zh-CN" altLang="en-US"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Times New Roman" panose="02020603050405020304" pitchFamily="18" charset="0"/>
              </a:rPr>
              <a:t>。</a:t>
            </a:r>
            <a:endParaRPr kumimoji="0" lang="zh-CN" sz="1400" b="0" i="0" u="none" strike="noStrike" cap="none" normalizeH="0" baseline="0" dirty="0">
              <a:ln>
                <a:noFill/>
              </a:ln>
              <a:solidFill>
                <a:schemeClr val="tx1"/>
              </a:solidFill>
              <a:effectLst/>
              <a:latin typeface="微软雅黑" panose="020B0503020204020204" pitchFamily="34" charset="-122"/>
              <a:ea typeface="微软雅黑" panose="020B0503020204020204" pitchFamily="34" charset="-122"/>
              <a:cs typeface="宋体" panose="02010600030101010101" pitchFamily="2" charset="-122"/>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31745"/>
                                        </p:tgtEl>
                                        <p:attrNameLst>
                                          <p:attrName>style.visibility</p:attrName>
                                        </p:attrNameLst>
                                      </p:cBhvr>
                                      <p:to>
                                        <p:strVal val="visible"/>
                                      </p:to>
                                    </p:set>
                                    <p:animEffect transition="in" filter="slide(fromBottom)">
                                      <p:cBhvr>
                                        <p:cTn id="7" dur="1000"/>
                                        <p:tgtEl>
                                          <p:spTgt spid="3174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slide(fromBottom)">
                                      <p:cBhvr>
                                        <p:cTn id="12"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174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组合 17"/>
          <p:cNvGrpSpPr/>
          <p:nvPr/>
        </p:nvGrpSpPr>
        <p:grpSpPr>
          <a:xfrm>
            <a:off x="392434" y="769746"/>
            <a:ext cx="2088222" cy="420971"/>
            <a:chOff x="670560" y="892917"/>
            <a:chExt cx="2088222" cy="420971"/>
          </a:xfrm>
        </p:grpSpPr>
        <p:sp>
          <p:nvSpPr>
            <p:cNvPr id="19" name="矩形 18"/>
            <p:cNvSpPr/>
            <p:nvPr/>
          </p:nvSpPr>
          <p:spPr>
            <a:xfrm>
              <a:off x="1035233" y="913778"/>
              <a:ext cx="1723549"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二进制译码器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0"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aphicFrame>
        <p:nvGraphicFramePr>
          <p:cNvPr id="29699" name="Object 3"/>
          <p:cNvGraphicFramePr/>
          <p:nvPr/>
        </p:nvGraphicFramePr>
        <p:xfrm>
          <a:off x="1720850" y="1416050"/>
          <a:ext cx="4597400" cy="1682750"/>
        </p:xfrm>
        <a:graphic>
          <a:graphicData uri="http://schemas.openxmlformats.org/presentationml/2006/ole">
            <mc:AlternateContent xmlns:mc="http://schemas.openxmlformats.org/markup-compatibility/2006">
              <mc:Choice xmlns:v="urn:schemas-microsoft-com:vml" Requires="v">
                <p:oleObj spid="_x0000_s32780" name="Visio" r:id="rId2" imgW="3238500" imgH="1155700" progId="Visio.Drawing.11">
                  <p:embed/>
                </p:oleObj>
              </mc:Choice>
              <mc:Fallback>
                <p:oleObj name="Visio" r:id="rId2" imgW="3238500" imgH="1155700" progId="Visio.Drawing.11">
                  <p:embed/>
                  <p:pic>
                    <p:nvPicPr>
                      <p:cNvPr id="0" name="Object 3"/>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0850" y="1416050"/>
                        <a:ext cx="4597400" cy="168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700" name="Rectangle 4"/>
          <p:cNvSpPr>
            <a:spLocks noChangeArrowheads="1"/>
          </p:cNvSpPr>
          <p:nvPr/>
        </p:nvSpPr>
        <p:spPr bwMode="auto">
          <a:xfrm>
            <a:off x="730250" y="3255716"/>
            <a:ext cx="7689850" cy="1692771"/>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266700" algn="l" defTabSz="914400" rtl="0" eaLnBrk="1" fontAlgn="base" latinLnBrk="0" hangingPunct="1">
              <a:lnSpc>
                <a:spcPct val="150000"/>
              </a:lnSpc>
              <a:spcBef>
                <a:spcPts val="1200"/>
              </a:spcBef>
              <a:spcAft>
                <a:spcPct val="0"/>
              </a:spcAft>
              <a:buClrTx/>
              <a:buSzTx/>
              <a:buFont typeface="Wingdings" panose="05000000000000000000" pitchFamily="2" charset="2"/>
              <a:buChar char="Ø"/>
            </a:pPr>
            <a:r>
              <a:rPr kumimoji="0" lang="zh-CN" sz="14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有</a:t>
            </a:r>
            <a:r>
              <a:rPr kumimoji="0" lang="en-US" altLang="zh-CN" sz="1400" b="0" i="1"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n</a:t>
            </a:r>
            <a:r>
              <a:rPr kumimoji="0" lang="zh-CN" altLang="en-US" sz="14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个输入端、</a:t>
            </a:r>
            <a:r>
              <a:rPr kumimoji="0" lang="en-US" altLang="zh-CN" sz="14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2</a:t>
            </a:r>
            <a:r>
              <a:rPr kumimoji="0" lang="en-US" altLang="zh-CN" sz="1400" b="0" i="1" u="none" strike="noStrike" cap="none" normalizeH="0" baseline="3000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n</a:t>
            </a:r>
            <a:r>
              <a:rPr kumimoji="0" lang="zh-CN" altLang="en-US" sz="14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个输出端和</a:t>
            </a:r>
            <a:r>
              <a:rPr kumimoji="0" lang="en-US" altLang="zh-CN" sz="14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1</a:t>
            </a:r>
            <a:r>
              <a:rPr kumimoji="0" lang="zh-CN" altLang="en-US" sz="14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个输入使能端。</a:t>
            </a:r>
            <a:endParaRPr kumimoji="0" lang="en-US" altLang="zh-CN" sz="14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266700" marR="0" lvl="0" indent="-266700" algn="l" defTabSz="914400" rtl="0" eaLnBrk="1" fontAlgn="base" latinLnBrk="0" hangingPunct="1">
              <a:lnSpc>
                <a:spcPct val="150000"/>
              </a:lnSpc>
              <a:spcBef>
                <a:spcPts val="1200"/>
              </a:spcBef>
              <a:spcAft>
                <a:spcPct val="0"/>
              </a:spcAft>
              <a:buClrTx/>
              <a:buSzTx/>
              <a:buFont typeface="Wingdings" panose="05000000000000000000" pitchFamily="2" charset="2"/>
              <a:buChar char="Ø"/>
            </a:pPr>
            <a:r>
              <a:rPr kumimoji="0" lang="zh-CN" altLang="en-US" sz="14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当输入使能有效时，对应每一组输入代码（也称为地址），译码器只有一个对应的输出端为有效电平，其余输出端为无效电平。</a:t>
            </a:r>
            <a:endParaRPr kumimoji="0" lang="en-US" altLang="zh-CN" sz="14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a:p>
            <a:pPr marL="0" marR="0" lvl="0" indent="266700" algn="l" defTabSz="914400" rtl="0" eaLnBrk="1" fontAlgn="base" latinLnBrk="0" hangingPunct="1">
              <a:lnSpc>
                <a:spcPct val="150000"/>
              </a:lnSpc>
              <a:spcBef>
                <a:spcPts val="1200"/>
              </a:spcBef>
              <a:spcAft>
                <a:spcPct val="0"/>
              </a:spcAft>
              <a:buClrTx/>
              <a:buSzTx/>
              <a:buFont typeface="Wingdings" panose="05000000000000000000" pitchFamily="2" charset="2"/>
              <a:buChar char="Ø"/>
            </a:pPr>
            <a:r>
              <a:rPr kumimoji="0" lang="zh-CN" altLang="en-US" sz="14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rPr>
              <a:t>输出的有效电平可以是高电平，也可以是低电平。</a:t>
            </a:r>
            <a:endParaRPr kumimoji="0" lang="zh-CN" altLang="en-US" sz="1400" b="0" i="0" u="none" strike="noStrike" cap="none" normalizeH="0" baseline="0" dirty="0">
              <a:ln>
                <a:noFill/>
              </a:ln>
              <a:solidFill>
                <a:schemeClr val="tx1"/>
              </a:solidFill>
              <a:effectLst/>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p:random/>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65" name="Picture 17"/>
          <p:cNvPicPr>
            <a:picLocks noChangeAspect="1" noChangeArrowheads="1"/>
          </p:cNvPicPr>
          <p:nvPr/>
        </p:nvPicPr>
        <p:blipFill>
          <a:blip r:embed="rId1" cstate="print"/>
          <a:srcRect/>
          <a:stretch>
            <a:fillRect/>
          </a:stretch>
        </p:blipFill>
        <p:spPr bwMode="auto">
          <a:xfrm>
            <a:off x="531813" y="1374077"/>
            <a:ext cx="3405187" cy="1843785"/>
          </a:xfrm>
          <a:prstGeom prst="rect">
            <a:avLst/>
          </a:prstGeom>
          <a:noFill/>
          <a:ln w="9525">
            <a:noFill/>
            <a:miter lim="800000"/>
            <a:headEnd/>
            <a:tailEnd/>
          </a:ln>
        </p:spPr>
      </p:pic>
      <p:grpSp>
        <p:nvGrpSpPr>
          <p:cNvPr id="2" name="组合 17"/>
          <p:cNvGrpSpPr/>
          <p:nvPr/>
        </p:nvGrpSpPr>
        <p:grpSpPr>
          <a:xfrm>
            <a:off x="392434" y="769746"/>
            <a:ext cx="4011825" cy="420971"/>
            <a:chOff x="670560" y="892917"/>
            <a:chExt cx="4011825" cy="420971"/>
          </a:xfrm>
        </p:grpSpPr>
        <p:sp>
          <p:nvSpPr>
            <p:cNvPr id="19" name="矩形 18"/>
            <p:cNvSpPr/>
            <p:nvPr/>
          </p:nvSpPr>
          <p:spPr>
            <a:xfrm>
              <a:off x="1035233" y="913778"/>
              <a:ext cx="3647152"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二进制译码器</a:t>
              </a:r>
              <a:r>
                <a:rPr lang="en-US" altLang="zh-CN" sz="2000" dirty="0">
                  <a:solidFill>
                    <a:srgbClr val="FF00FF"/>
                  </a:solidFill>
                  <a:latin typeface="黑体" panose="02010609060101010101" pitchFamily="49" charset="-122"/>
                  <a:ea typeface="黑体" panose="02010609060101010101" pitchFamily="49" charset="-122"/>
                </a:rPr>
                <a:t>(2</a:t>
              </a:r>
              <a:r>
                <a:rPr lang="zh-CN" altLang="en-US" sz="2000" dirty="0">
                  <a:solidFill>
                    <a:srgbClr val="FF00FF"/>
                  </a:solidFill>
                  <a:latin typeface="黑体" panose="02010609060101010101" pitchFamily="49" charset="-122"/>
                  <a:ea typeface="黑体" panose="02010609060101010101" pitchFamily="49" charset="-122"/>
                </a:rPr>
                <a:t>线</a:t>
              </a:r>
              <a:r>
                <a:rPr lang="en-US" altLang="zh-CN" sz="2000" dirty="0">
                  <a:solidFill>
                    <a:srgbClr val="FF00FF"/>
                  </a:solidFill>
                  <a:latin typeface="黑体" panose="02010609060101010101" pitchFamily="49" charset="-122"/>
                  <a:ea typeface="黑体" panose="02010609060101010101" pitchFamily="49" charset="-122"/>
                </a:rPr>
                <a:t>-4</a:t>
              </a:r>
              <a:r>
                <a:rPr lang="zh-CN" altLang="en-US" sz="2000" dirty="0">
                  <a:solidFill>
                    <a:srgbClr val="FF00FF"/>
                  </a:solidFill>
                  <a:latin typeface="黑体" panose="02010609060101010101" pitchFamily="49" charset="-122"/>
                  <a:ea typeface="黑体" panose="02010609060101010101" pitchFamily="49" charset="-122"/>
                </a:rPr>
                <a:t>线译码器</a:t>
              </a:r>
              <a:r>
                <a:rPr lang="en-US" altLang="zh-CN" sz="2000" dirty="0">
                  <a:solidFill>
                    <a:srgbClr val="FF00FF"/>
                  </a:solidFill>
                  <a:latin typeface="黑体" panose="02010609060101010101" pitchFamily="49" charset="-122"/>
                  <a:ea typeface="黑体" panose="02010609060101010101" pitchFamily="49" charset="-122"/>
                </a:rPr>
                <a: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0" name="Picture 3"/>
            <p:cNvPicPr>
              <a:picLocks noChangeAspect="1" noChangeArrowheads="1"/>
            </p:cNvPicPr>
            <p:nvPr/>
          </p:nvPicPr>
          <p:blipFill>
            <a:blip r:embed="rId2"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30" name="组合 29"/>
          <p:cNvGrpSpPr/>
          <p:nvPr/>
        </p:nvGrpSpPr>
        <p:grpSpPr>
          <a:xfrm>
            <a:off x="541176" y="4117140"/>
            <a:ext cx="6314074" cy="870843"/>
            <a:chOff x="3996990" y="2735180"/>
            <a:chExt cx="6120609" cy="870843"/>
          </a:xfrm>
        </p:grpSpPr>
        <p:sp>
          <p:nvSpPr>
            <p:cNvPr id="38" name="圆角矩形 37"/>
            <p:cNvSpPr/>
            <p:nvPr/>
          </p:nvSpPr>
          <p:spPr>
            <a:xfrm>
              <a:off x="4203058" y="2855439"/>
              <a:ext cx="5914541" cy="750584"/>
            </a:xfrm>
            <a:prstGeom prst="roundRect">
              <a:avLst>
                <a:gd name="adj" fmla="val 4386"/>
              </a:avLst>
            </a:prstGeom>
            <a:solidFill>
              <a:schemeClr val="bg1"/>
            </a:solidFill>
            <a:ln w="28575">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8900"/>
              <a:r>
                <a:rPr lang="zh-CN" altLang="en-US" sz="1400" b="1" dirty="0">
                  <a:solidFill>
                    <a:schemeClr val="tx1"/>
                  </a:solidFill>
                  <a:latin typeface="微软雅黑" panose="020B0503020204020204" pitchFamily="34" charset="-122"/>
                  <a:ea typeface="微软雅黑" panose="020B0503020204020204" pitchFamily="34" charset="-122"/>
                </a:rPr>
                <a:t>二进制译码器又称为</a:t>
              </a:r>
              <a:r>
                <a:rPr lang="zh-CN" altLang="en-US" sz="1400" b="1" dirty="0">
                  <a:solidFill>
                    <a:srgbClr val="CC00CC"/>
                  </a:solidFill>
                  <a:latin typeface="微软雅黑" panose="020B0503020204020204" pitchFamily="34" charset="-122"/>
                  <a:ea typeface="微软雅黑" panose="020B0503020204020204" pitchFamily="34" charset="-122"/>
                </a:rPr>
                <a:t>最小项译码器</a:t>
              </a:r>
              <a:r>
                <a:rPr lang="zh-CN" altLang="en-US" sz="1400" b="1" dirty="0">
                  <a:solidFill>
                    <a:schemeClr val="tx1"/>
                  </a:solidFill>
                  <a:latin typeface="微软雅黑" panose="020B0503020204020204" pitchFamily="34" charset="-122"/>
                  <a:ea typeface="微软雅黑" panose="020B0503020204020204" pitchFamily="34" charset="-122"/>
                </a:rPr>
                <a:t>（</a:t>
              </a:r>
              <a:r>
                <a:rPr lang="zh-CN" altLang="en-US" sz="1400" b="1" dirty="0">
                  <a:solidFill>
                    <a:srgbClr val="CC00CC"/>
                  </a:solidFill>
                  <a:latin typeface="微软雅黑" panose="020B0503020204020204" pitchFamily="34" charset="-122"/>
                  <a:ea typeface="微软雅黑" panose="020B0503020204020204" pitchFamily="34" charset="-122"/>
                </a:rPr>
                <a:t>完全译码器</a:t>
              </a:r>
              <a:r>
                <a:rPr lang="zh-CN" altLang="en-US" sz="1400" b="1" dirty="0">
                  <a:solidFill>
                    <a:schemeClr val="tx1"/>
                  </a:solidFill>
                  <a:latin typeface="微软雅黑" panose="020B0503020204020204" pitchFamily="34" charset="-122"/>
                  <a:ea typeface="微软雅黑" panose="020B0503020204020204" pitchFamily="34" charset="-122"/>
                </a:rPr>
                <a:t>）。</a:t>
              </a:r>
              <a:endParaRPr lang="en-US" altLang="zh-CN" sz="1400" b="1" dirty="0">
                <a:solidFill>
                  <a:schemeClr val="tx1"/>
                </a:solidFill>
                <a:latin typeface="微软雅黑" panose="020B0503020204020204" pitchFamily="34" charset="-122"/>
                <a:ea typeface="微软雅黑" panose="020B0503020204020204" pitchFamily="34" charset="-122"/>
              </a:endParaRPr>
            </a:p>
            <a:p>
              <a:pPr marL="88900">
                <a:lnSpc>
                  <a:spcPct val="150000"/>
                </a:lnSpc>
              </a:pPr>
              <a:r>
                <a:rPr lang="zh-CN" altLang="en-US" sz="1400" b="1" dirty="0">
                  <a:solidFill>
                    <a:schemeClr val="tx1"/>
                  </a:solidFill>
                  <a:latin typeface="微软雅黑" panose="020B0503020204020204" pitchFamily="34" charset="-122"/>
                  <a:ea typeface="微软雅黑" panose="020B0503020204020204" pitchFamily="34" charset="-122"/>
                </a:rPr>
                <a:t>利用二进制译码器可以很</a:t>
              </a:r>
              <a:r>
                <a:rPr lang="zh-CN" altLang="en-US" sz="1400" b="1" dirty="0">
                  <a:solidFill>
                    <a:srgbClr val="CC00CC"/>
                  </a:solidFill>
                  <a:latin typeface="微软雅黑" panose="020B0503020204020204" pitchFamily="34" charset="-122"/>
                  <a:ea typeface="微软雅黑" panose="020B0503020204020204" pitchFamily="34" charset="-122"/>
                </a:rPr>
                <a:t>方便的实现一个组合逻辑函数</a:t>
              </a:r>
              <a:r>
                <a:rPr lang="zh-CN" altLang="en-US" sz="1400" b="1" dirty="0">
                  <a:solidFill>
                    <a:schemeClr val="tx1"/>
                  </a:solidFill>
                  <a:latin typeface="微软雅黑" panose="020B0503020204020204" pitchFamily="34" charset="-122"/>
                  <a:ea typeface="微软雅黑" panose="020B0503020204020204" pitchFamily="34" charset="-122"/>
                </a:rPr>
                <a:t>！</a:t>
              </a:r>
              <a:endParaRPr lang="zh-CN" altLang="en-US" sz="1400" b="1" dirty="0">
                <a:solidFill>
                  <a:schemeClr val="tx1"/>
                </a:solidFill>
                <a:latin typeface="微软雅黑" panose="020B0503020204020204" pitchFamily="34" charset="-122"/>
                <a:ea typeface="微软雅黑" panose="020B0503020204020204" pitchFamily="34" charset="-122"/>
              </a:endParaRPr>
            </a:p>
          </p:txBody>
        </p:sp>
        <p:pic>
          <p:nvPicPr>
            <p:cNvPr id="39" name="Picture 32"/>
            <p:cNvPicPr>
              <a:picLocks noChangeAspect="1" noChangeArrowheads="1"/>
            </p:cNvPicPr>
            <p:nvPr/>
          </p:nvPicPr>
          <p:blipFill>
            <a:blip r:embed="rId3" cstate="print"/>
            <a:srcRect/>
            <a:stretch>
              <a:fillRect/>
            </a:stretch>
          </p:blipFill>
          <p:spPr bwMode="auto">
            <a:xfrm>
              <a:off x="3996990" y="2735180"/>
              <a:ext cx="412063" cy="441909"/>
            </a:xfrm>
            <a:prstGeom prst="rect">
              <a:avLst/>
            </a:prstGeom>
            <a:noFill/>
            <a:ln w="9525">
              <a:noFill/>
              <a:miter lim="800000"/>
              <a:headEnd/>
              <a:tailEnd/>
            </a:ln>
          </p:spPr>
        </p:pic>
      </p:grpSp>
      <p:grpSp>
        <p:nvGrpSpPr>
          <p:cNvPr id="9" name="组合 8"/>
          <p:cNvGrpSpPr/>
          <p:nvPr/>
        </p:nvGrpSpPr>
        <p:grpSpPr>
          <a:xfrm>
            <a:off x="4988280" y="1725481"/>
            <a:ext cx="507468" cy="1707889"/>
            <a:chOff x="4988280" y="1725481"/>
            <a:chExt cx="507468" cy="1707889"/>
          </a:xfrm>
        </p:grpSpPr>
        <p:sp>
          <p:nvSpPr>
            <p:cNvPr id="69" name="圆角矩形 68"/>
            <p:cNvSpPr/>
            <p:nvPr/>
          </p:nvSpPr>
          <p:spPr>
            <a:xfrm>
              <a:off x="4988280" y="1725481"/>
              <a:ext cx="507468" cy="341286"/>
            </a:xfrm>
            <a:prstGeom prst="roundRect">
              <a:avLst/>
            </a:prstGeom>
            <a:solidFill>
              <a:srgbClr val="FF000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圆角矩形 69"/>
            <p:cNvSpPr/>
            <p:nvPr/>
          </p:nvSpPr>
          <p:spPr>
            <a:xfrm>
              <a:off x="4988280" y="2173132"/>
              <a:ext cx="507468" cy="341286"/>
            </a:xfrm>
            <a:prstGeom prst="roundRect">
              <a:avLst/>
            </a:prstGeom>
            <a:solidFill>
              <a:srgbClr val="FF000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圆角矩形 70"/>
            <p:cNvSpPr/>
            <p:nvPr/>
          </p:nvSpPr>
          <p:spPr>
            <a:xfrm>
              <a:off x="4988280" y="2644432"/>
              <a:ext cx="507468" cy="341286"/>
            </a:xfrm>
            <a:prstGeom prst="roundRect">
              <a:avLst/>
            </a:prstGeom>
            <a:solidFill>
              <a:srgbClr val="FF000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 71"/>
            <p:cNvSpPr/>
            <p:nvPr/>
          </p:nvSpPr>
          <p:spPr>
            <a:xfrm>
              <a:off x="4988280" y="3092084"/>
              <a:ext cx="507468" cy="341286"/>
            </a:xfrm>
            <a:prstGeom prst="roundRect">
              <a:avLst/>
            </a:prstGeom>
            <a:solidFill>
              <a:srgbClr val="FF000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5" name="组合 84"/>
          <p:cNvGrpSpPr/>
          <p:nvPr/>
        </p:nvGrpSpPr>
        <p:grpSpPr>
          <a:xfrm>
            <a:off x="749300" y="2269990"/>
            <a:ext cx="2892623" cy="847859"/>
            <a:chOff x="749300" y="2269990"/>
            <a:chExt cx="2892623" cy="847859"/>
          </a:xfrm>
        </p:grpSpPr>
        <p:sp>
          <p:nvSpPr>
            <p:cNvPr id="36" name="圆角矩形 35"/>
            <p:cNvSpPr/>
            <p:nvPr/>
          </p:nvSpPr>
          <p:spPr>
            <a:xfrm>
              <a:off x="1284800" y="2276341"/>
              <a:ext cx="684000" cy="180000"/>
            </a:xfrm>
            <a:prstGeom prst="roundRect">
              <a:avLst/>
            </a:prstGeom>
            <a:solidFill>
              <a:srgbClr val="66FF66">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a:off x="2356280" y="2276341"/>
              <a:ext cx="252000" cy="180000"/>
            </a:xfrm>
            <a:prstGeom prst="roundRect">
              <a:avLst/>
            </a:prstGeom>
            <a:solidFill>
              <a:srgbClr val="FF000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圆角矩形 25"/>
            <p:cNvSpPr/>
            <p:nvPr/>
          </p:nvSpPr>
          <p:spPr>
            <a:xfrm>
              <a:off x="1284800" y="2494920"/>
              <a:ext cx="684000" cy="180000"/>
            </a:xfrm>
            <a:prstGeom prst="roundRect">
              <a:avLst/>
            </a:prstGeom>
            <a:solidFill>
              <a:srgbClr val="66FF66">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26"/>
            <p:cNvSpPr/>
            <p:nvPr/>
          </p:nvSpPr>
          <p:spPr>
            <a:xfrm>
              <a:off x="2696419" y="2494920"/>
              <a:ext cx="252000" cy="180000"/>
            </a:xfrm>
            <a:prstGeom prst="roundRect">
              <a:avLst/>
            </a:prstGeom>
            <a:solidFill>
              <a:srgbClr val="FF000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圆角矩形 27"/>
            <p:cNvSpPr/>
            <p:nvPr/>
          </p:nvSpPr>
          <p:spPr>
            <a:xfrm>
              <a:off x="1284800" y="2712449"/>
              <a:ext cx="684000" cy="180000"/>
            </a:xfrm>
            <a:prstGeom prst="roundRect">
              <a:avLst/>
            </a:prstGeom>
            <a:solidFill>
              <a:srgbClr val="66FF66">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圆角矩形 31"/>
            <p:cNvSpPr/>
            <p:nvPr/>
          </p:nvSpPr>
          <p:spPr>
            <a:xfrm>
              <a:off x="3031258" y="2712449"/>
              <a:ext cx="252000" cy="180000"/>
            </a:xfrm>
            <a:prstGeom prst="roundRect">
              <a:avLst/>
            </a:prstGeom>
            <a:solidFill>
              <a:srgbClr val="FF000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a:off x="1284800" y="2933704"/>
              <a:ext cx="684000" cy="180000"/>
            </a:xfrm>
            <a:prstGeom prst="roundRect">
              <a:avLst/>
            </a:prstGeom>
            <a:solidFill>
              <a:srgbClr val="66FF66">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33"/>
            <p:cNvSpPr/>
            <p:nvPr/>
          </p:nvSpPr>
          <p:spPr>
            <a:xfrm>
              <a:off x="3389923" y="2933704"/>
              <a:ext cx="252000" cy="180000"/>
            </a:xfrm>
            <a:prstGeom prst="roundRect">
              <a:avLst/>
            </a:prstGeom>
            <a:solidFill>
              <a:srgbClr val="FF000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0" name="圆角矩形 79"/>
            <p:cNvSpPr/>
            <p:nvPr/>
          </p:nvSpPr>
          <p:spPr>
            <a:xfrm>
              <a:off x="749300" y="2269990"/>
              <a:ext cx="260350" cy="847859"/>
            </a:xfrm>
            <a:prstGeom prst="roundRect">
              <a:avLst/>
            </a:prstGeom>
            <a:solidFill>
              <a:srgbClr val="66FF66">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9" name="圆角矩形 78"/>
          <p:cNvSpPr/>
          <p:nvPr/>
        </p:nvSpPr>
        <p:spPr>
          <a:xfrm>
            <a:off x="742950" y="2049517"/>
            <a:ext cx="2922533" cy="181304"/>
          </a:xfrm>
          <a:prstGeom prst="roundRect">
            <a:avLst/>
          </a:prstGeom>
          <a:solidFill>
            <a:schemeClr val="accent2">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1" name="组合 90"/>
          <p:cNvGrpSpPr/>
          <p:nvPr/>
        </p:nvGrpSpPr>
        <p:grpSpPr>
          <a:xfrm>
            <a:off x="680455" y="882869"/>
            <a:ext cx="5460214" cy="1127234"/>
            <a:chOff x="680455" y="882869"/>
            <a:chExt cx="5460214" cy="1127234"/>
          </a:xfrm>
        </p:grpSpPr>
        <p:sp>
          <p:nvSpPr>
            <p:cNvPr id="86" name="圆角矩形 85"/>
            <p:cNvSpPr/>
            <p:nvPr/>
          </p:nvSpPr>
          <p:spPr>
            <a:xfrm>
              <a:off x="680455" y="1719293"/>
              <a:ext cx="399482" cy="29081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圆角矩形 86"/>
            <p:cNvSpPr/>
            <p:nvPr/>
          </p:nvSpPr>
          <p:spPr>
            <a:xfrm>
              <a:off x="2267516" y="1714038"/>
              <a:ext cx="1413731" cy="290810"/>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0" name="组合 89"/>
            <p:cNvGrpSpPr/>
            <p:nvPr/>
          </p:nvGrpSpPr>
          <p:grpSpPr>
            <a:xfrm>
              <a:off x="2933049" y="882869"/>
              <a:ext cx="3207620" cy="688716"/>
              <a:chOff x="2933049" y="882869"/>
              <a:chExt cx="3207620" cy="688716"/>
            </a:xfrm>
          </p:grpSpPr>
          <p:sp>
            <p:nvSpPr>
              <p:cNvPr id="89" name="圆角矩形标注 88"/>
              <p:cNvSpPr/>
              <p:nvPr/>
            </p:nvSpPr>
            <p:spPr>
              <a:xfrm>
                <a:off x="2951443" y="980089"/>
                <a:ext cx="1363055" cy="591496"/>
              </a:xfrm>
              <a:prstGeom prst="wedgeRoundRectCallout">
                <a:avLst>
                  <a:gd name="adj1" fmla="val -181989"/>
                  <a:gd name="adj2" fmla="val 79073"/>
                  <a:gd name="adj3" fmla="val 16667"/>
                </a:avLst>
              </a:prstGeom>
              <a:solidFill>
                <a:srgbClr val="66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圆角矩形标注 87"/>
              <p:cNvSpPr/>
              <p:nvPr/>
            </p:nvSpPr>
            <p:spPr>
              <a:xfrm>
                <a:off x="2933049" y="882869"/>
                <a:ext cx="3207620" cy="686089"/>
              </a:xfrm>
              <a:prstGeom prst="wedgeRoundRectCallout">
                <a:avLst>
                  <a:gd name="adj1" fmla="val -34683"/>
                  <a:gd name="adj2" fmla="val 72409"/>
                  <a:gd name="adj3" fmla="val 16667"/>
                </a:avLst>
              </a:prstGeom>
              <a:solidFill>
                <a:srgbClr val="66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zh-CN" sz="1200" dirty="0">
                    <a:solidFill>
                      <a:schemeClr val="tx1"/>
                    </a:solidFill>
                    <a:latin typeface="微软雅黑" panose="020B0503020204020204" pitchFamily="34" charset="-122"/>
                    <a:ea typeface="微软雅黑" panose="020B0503020204020204" pitchFamily="34" charset="-122"/>
                  </a:rPr>
                  <a:t>作为变量符号，表示对应输入和输出信号的名称，字母上面的“</a:t>
                </a:r>
                <a:r>
                  <a:rPr lang="en-US" altLang="zh-CN" sz="1200" dirty="0">
                    <a:solidFill>
                      <a:schemeClr val="tx1"/>
                    </a:solidFill>
                    <a:latin typeface="微软雅黑" panose="020B0503020204020204" pitchFamily="34" charset="-122"/>
                    <a:ea typeface="微软雅黑" panose="020B0503020204020204" pitchFamily="34" charset="-122"/>
                  </a:rPr>
                  <a:t>‒</a:t>
                </a:r>
                <a:r>
                  <a:rPr lang="zh-CN" altLang="zh-CN" sz="1200" dirty="0">
                    <a:solidFill>
                      <a:schemeClr val="tx1"/>
                    </a:solidFill>
                    <a:latin typeface="微软雅黑" panose="020B0503020204020204" pitchFamily="34" charset="-122"/>
                    <a:ea typeface="微软雅黑" panose="020B0503020204020204" pitchFamily="34" charset="-122"/>
                  </a:rPr>
                  <a:t>”号用于标识该输入或输出是低电平有效的</a:t>
                </a:r>
                <a:endParaRPr lang="zh-CN" altLang="en-US" sz="1200" dirty="0">
                  <a:solidFill>
                    <a:schemeClr val="tx1"/>
                  </a:solidFill>
                  <a:latin typeface="微软雅黑" panose="020B0503020204020204" pitchFamily="34" charset="-122"/>
                  <a:ea typeface="微软雅黑" panose="020B0503020204020204" pitchFamily="34" charset="-122"/>
                </a:endParaRPr>
              </a:p>
            </p:txBody>
          </p:sp>
        </p:grpSp>
      </p:grpSp>
      <p:sp>
        <p:nvSpPr>
          <p:cNvPr id="27667" name="Rectangle 19"/>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aphicFrame>
        <p:nvGraphicFramePr>
          <p:cNvPr id="27666" name="Object 18"/>
          <p:cNvGraphicFramePr>
            <a:graphicFrameLocks noChangeAspect="1"/>
          </p:cNvGraphicFramePr>
          <p:nvPr/>
        </p:nvGraphicFramePr>
        <p:xfrm>
          <a:off x="4185296" y="1634035"/>
          <a:ext cx="1347787" cy="1801812"/>
        </p:xfrm>
        <a:graphic>
          <a:graphicData uri="http://schemas.openxmlformats.org/presentationml/2006/ole">
            <mc:AlternateContent xmlns:mc="http://schemas.openxmlformats.org/markup-compatibility/2006">
              <mc:Choice xmlns:v="urn:schemas-microsoft-com:vml" Requires="v">
                <p:oleObj spid="_x0000_s33834" name="公式" r:id="rId4" imgW="18897600" imgH="25298400" progId="Equation.3">
                  <p:embed/>
                </p:oleObj>
              </mc:Choice>
              <mc:Fallback>
                <p:oleObj name="公式" r:id="rId4" imgW="18897600" imgH="25298400" progId="Equation.3">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85296" y="1634035"/>
                        <a:ext cx="1347787" cy="1801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 name="对象 2"/>
          <p:cNvGraphicFramePr>
            <a:graphicFrameLocks noChangeAspect="1"/>
          </p:cNvGraphicFramePr>
          <p:nvPr/>
        </p:nvGraphicFramePr>
        <p:xfrm>
          <a:off x="5612875" y="1654638"/>
          <a:ext cx="636671" cy="1760606"/>
        </p:xfrm>
        <a:graphic>
          <a:graphicData uri="http://schemas.openxmlformats.org/presentationml/2006/ole">
            <mc:AlternateContent xmlns:mc="http://schemas.openxmlformats.org/markup-compatibility/2006">
              <mc:Choice xmlns:v="urn:schemas-microsoft-com:vml" Requires="v">
                <p:oleObj spid="_x0000_s33835" name="Equation" r:id="rId6" imgW="7924800" imgH="21945600" progId="">
                  <p:embed/>
                </p:oleObj>
              </mc:Choice>
              <mc:Fallback>
                <p:oleObj name="Equation" r:id="rId6" imgW="7924800" imgH="21945600" progId="">
                  <p:embed/>
                  <p:pic>
                    <p:nvPicPr>
                      <p:cNvPr id="0" name="对象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12875" y="1654638"/>
                        <a:ext cx="636671" cy="176060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8" name="组合 7"/>
          <p:cNvGrpSpPr/>
          <p:nvPr/>
        </p:nvGrpSpPr>
        <p:grpSpPr>
          <a:xfrm>
            <a:off x="6524553" y="1413187"/>
            <a:ext cx="2248186" cy="2086307"/>
            <a:chOff x="6895814" y="1654638"/>
            <a:chExt cx="2248186" cy="2086307"/>
          </a:xfrm>
        </p:grpSpPr>
        <p:sp>
          <p:nvSpPr>
            <p:cNvPr id="116" name="圆角矩形 115"/>
            <p:cNvSpPr/>
            <p:nvPr/>
          </p:nvSpPr>
          <p:spPr>
            <a:xfrm>
              <a:off x="6895814" y="1654638"/>
              <a:ext cx="2248186" cy="2086307"/>
            </a:xfrm>
            <a:prstGeom prst="roundRect">
              <a:avLst>
                <a:gd name="adj" fmla="val 4849"/>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 name="对象 6"/>
            <p:cNvGraphicFramePr>
              <a:graphicFrameLocks noChangeAspect="1"/>
            </p:cNvGraphicFramePr>
            <p:nvPr/>
          </p:nvGraphicFramePr>
          <p:xfrm>
            <a:off x="6918063" y="1680024"/>
            <a:ext cx="2203687" cy="1953302"/>
          </p:xfrm>
          <a:graphic>
            <a:graphicData uri="http://schemas.openxmlformats.org/presentationml/2006/ole">
              <mc:AlternateContent xmlns:mc="http://schemas.openxmlformats.org/markup-compatibility/2006">
                <mc:Choice xmlns:v="urn:schemas-microsoft-com:vml" Requires="v">
                  <p:oleObj spid="_x0000_s33836" name="" r:id="rId8" imgW="1476375" imgH="1295400" progId="Visio.Drawing.11">
                    <p:embed/>
                  </p:oleObj>
                </mc:Choice>
                <mc:Fallback>
                  <p:oleObj name="" r:id="rId8" imgW="1476375" imgH="1295400" progId="Visio.Drawing.11">
                    <p:embed/>
                    <p:pic>
                      <p:nvPicPr>
                        <p:cNvPr id="0" name="对象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918063" y="1680024"/>
                          <a:ext cx="2203687" cy="195330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0" name="组合 9"/>
          <p:cNvGrpSpPr/>
          <p:nvPr/>
        </p:nvGrpSpPr>
        <p:grpSpPr>
          <a:xfrm>
            <a:off x="2580682" y="3496858"/>
            <a:ext cx="1204333" cy="522929"/>
            <a:chOff x="2580682" y="3496858"/>
            <a:chExt cx="1204333" cy="522929"/>
          </a:xfrm>
        </p:grpSpPr>
        <p:graphicFrame>
          <p:nvGraphicFramePr>
            <p:cNvPr id="4" name="对象 3"/>
            <p:cNvGraphicFramePr>
              <a:graphicFrameLocks noChangeAspect="1"/>
            </p:cNvGraphicFramePr>
            <p:nvPr/>
          </p:nvGraphicFramePr>
          <p:xfrm>
            <a:off x="2723096" y="3550423"/>
            <a:ext cx="868324" cy="469364"/>
          </p:xfrm>
          <a:graphic>
            <a:graphicData uri="http://schemas.openxmlformats.org/presentationml/2006/ole">
              <mc:AlternateContent xmlns:mc="http://schemas.openxmlformats.org/markup-compatibility/2006">
                <mc:Choice xmlns:v="urn:schemas-microsoft-com:vml" Requires="v">
                  <p:oleObj spid="_x0000_s33837" name="Equation" r:id="rId10" imgW="11277600" imgH="6096000" progId="">
                    <p:embed/>
                  </p:oleObj>
                </mc:Choice>
                <mc:Fallback>
                  <p:oleObj name="Equation" r:id="rId10" imgW="11277600" imgH="6096000" progId="">
                    <p:embed/>
                    <p:pic>
                      <p:nvPicPr>
                        <p:cNvPr id="0" name="对象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23096" y="3550423"/>
                          <a:ext cx="868324" cy="4693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4" name="圆角矩形 83"/>
            <p:cNvSpPr/>
            <p:nvPr/>
          </p:nvSpPr>
          <p:spPr>
            <a:xfrm>
              <a:off x="2580682" y="3496858"/>
              <a:ext cx="1204333" cy="522556"/>
            </a:xfrm>
            <a:prstGeom prst="roundRect">
              <a:avLst/>
            </a:prstGeom>
            <a:solidFill>
              <a:srgbClr val="FF000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wipe(left)">
                                      <p:cBhvr>
                                        <p:cTn id="7" dur="1000"/>
                                        <p:tgtEl>
                                          <p:spTgt spid="7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85"/>
                                        </p:tgtEl>
                                        <p:attrNameLst>
                                          <p:attrName>style.visibility</p:attrName>
                                        </p:attrNameLst>
                                      </p:cBhvr>
                                      <p:to>
                                        <p:strVal val="visible"/>
                                      </p:to>
                                    </p:set>
                                    <p:animEffect transition="in" filter="wipe(up)">
                                      <p:cBhvr>
                                        <p:cTn id="12" dur="1000"/>
                                        <p:tgtEl>
                                          <p:spTgt spid="8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1"/>
                                        </p:tgtEl>
                                        <p:attrNameLst>
                                          <p:attrName>style.visibility</p:attrName>
                                        </p:attrNameLst>
                                      </p:cBhvr>
                                      <p:to>
                                        <p:strVal val="visible"/>
                                      </p:to>
                                    </p:set>
                                    <p:animEffect transition="in" filter="wipe(left)">
                                      <p:cBhvr>
                                        <p:cTn id="17" dur="1000"/>
                                        <p:tgtEl>
                                          <p:spTgt spid="91"/>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8" fill="hold" nodeType="clickEffect">
                                  <p:stCondLst>
                                    <p:cond delay="0"/>
                                  </p:stCondLst>
                                  <p:childTnLst>
                                    <p:set>
                                      <p:cBhvr>
                                        <p:cTn id="21" dur="1" fill="hold">
                                          <p:stCondLst>
                                            <p:cond delay="0"/>
                                          </p:stCondLst>
                                        </p:cTn>
                                        <p:tgtEl>
                                          <p:spTgt spid="27666"/>
                                        </p:tgtEl>
                                        <p:attrNameLst>
                                          <p:attrName>style.visibility</p:attrName>
                                        </p:attrNameLst>
                                      </p:cBhvr>
                                      <p:to>
                                        <p:strVal val="visible"/>
                                      </p:to>
                                    </p:set>
                                    <p:anim calcmode="lin" valueType="num">
                                      <p:cBhvr additive="base">
                                        <p:cTn id="22" dur="1000"/>
                                        <p:tgtEl>
                                          <p:spTgt spid="27666"/>
                                        </p:tgtEl>
                                        <p:attrNameLst>
                                          <p:attrName>ppt_x</p:attrName>
                                        </p:attrNameLst>
                                      </p:cBhvr>
                                      <p:tavLst>
                                        <p:tav tm="0">
                                          <p:val>
                                            <p:strVal val="#ppt_x-#ppt_w*1.125000"/>
                                          </p:val>
                                        </p:tav>
                                        <p:tav tm="100000">
                                          <p:val>
                                            <p:strVal val="#ppt_x"/>
                                          </p:val>
                                        </p:tav>
                                      </p:tavLst>
                                    </p:anim>
                                    <p:animEffect transition="in" filter="wipe(right)">
                                      <p:cBhvr>
                                        <p:cTn id="23" dur="1000"/>
                                        <p:tgtEl>
                                          <p:spTgt spid="27666"/>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wipe(left)">
                                      <p:cBhvr>
                                        <p:cTn id="28" dur="10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nodeType="clickEffect">
                                  <p:stCondLst>
                                    <p:cond delay="0"/>
                                  </p:stCondLst>
                                  <p:childTnLst>
                                    <p:set>
                                      <p:cBhvr>
                                        <p:cTn id="32" dur="1" fill="hold">
                                          <p:stCondLst>
                                            <p:cond delay="0"/>
                                          </p:stCondLst>
                                        </p:cTn>
                                        <p:tgtEl>
                                          <p:spTgt spid="3"/>
                                        </p:tgtEl>
                                        <p:attrNameLst>
                                          <p:attrName>style.visibility</p:attrName>
                                        </p:attrNameLst>
                                      </p:cBhvr>
                                      <p:to>
                                        <p:strVal val="visible"/>
                                      </p:to>
                                    </p:set>
                                    <p:anim calcmode="lin" valueType="num">
                                      <p:cBhvr additive="base">
                                        <p:cTn id="33" dur="1000"/>
                                        <p:tgtEl>
                                          <p:spTgt spid="3"/>
                                        </p:tgtEl>
                                        <p:attrNameLst>
                                          <p:attrName>ppt_x</p:attrName>
                                        </p:attrNameLst>
                                      </p:cBhvr>
                                      <p:tavLst>
                                        <p:tav tm="0">
                                          <p:val>
                                            <p:strVal val="#ppt_x-#ppt_w*1.125000"/>
                                          </p:val>
                                        </p:tav>
                                        <p:tav tm="100000">
                                          <p:val>
                                            <p:strVal val="#ppt_x"/>
                                          </p:val>
                                        </p:tav>
                                      </p:tavLst>
                                    </p:anim>
                                    <p:animEffect transition="in" filter="wipe(right)">
                                      <p:cBhvr>
                                        <p:cTn id="34" dur="1000"/>
                                        <p:tgtEl>
                                          <p:spTgt spid="3"/>
                                        </p:tgtEl>
                                      </p:cBhvr>
                                    </p:animEffec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1000"/>
                                        <p:tgtEl>
                                          <p:spTgt spid="10"/>
                                        </p:tgtEl>
                                      </p:cBhvr>
                                    </p:animEffect>
                                    <p:anim calcmode="lin" valueType="num">
                                      <p:cBhvr>
                                        <p:cTn id="40" dur="1000" fill="hold"/>
                                        <p:tgtEl>
                                          <p:spTgt spid="10"/>
                                        </p:tgtEl>
                                        <p:attrNameLst>
                                          <p:attrName>ppt_x</p:attrName>
                                        </p:attrNameLst>
                                      </p:cBhvr>
                                      <p:tavLst>
                                        <p:tav tm="0">
                                          <p:val>
                                            <p:strVal val="#ppt_x"/>
                                          </p:val>
                                        </p:tav>
                                        <p:tav tm="100000">
                                          <p:val>
                                            <p:strVal val="#ppt_x"/>
                                          </p:val>
                                        </p:tav>
                                      </p:tavLst>
                                    </p:anim>
                                    <p:anim calcmode="lin" valueType="num">
                                      <p:cBhvr>
                                        <p:cTn id="4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30"/>
                                        </p:tgtEl>
                                        <p:attrNameLst>
                                          <p:attrName>style.visibility</p:attrName>
                                        </p:attrNameLst>
                                      </p:cBhvr>
                                      <p:to>
                                        <p:strVal val="visible"/>
                                      </p:to>
                                    </p:set>
                                    <p:animEffect transition="in" filter="fade">
                                      <p:cBhvr>
                                        <p:cTn id="46" dur="1000"/>
                                        <p:tgtEl>
                                          <p:spTgt spid="30"/>
                                        </p:tgtEl>
                                      </p:cBhvr>
                                    </p:animEffect>
                                    <p:anim calcmode="lin" valueType="num">
                                      <p:cBhvr>
                                        <p:cTn id="47" dur="1000" fill="hold"/>
                                        <p:tgtEl>
                                          <p:spTgt spid="30"/>
                                        </p:tgtEl>
                                        <p:attrNameLst>
                                          <p:attrName>ppt_x</p:attrName>
                                        </p:attrNameLst>
                                      </p:cBhvr>
                                      <p:tavLst>
                                        <p:tav tm="0">
                                          <p:val>
                                            <p:strVal val="#ppt_x"/>
                                          </p:val>
                                        </p:tav>
                                        <p:tav tm="100000">
                                          <p:val>
                                            <p:strVal val="#ppt_x"/>
                                          </p:val>
                                        </p:tav>
                                      </p:tavLst>
                                    </p:anim>
                                    <p:anim calcmode="lin" valueType="num">
                                      <p:cBhvr>
                                        <p:cTn id="48" dur="1000" fill="hold"/>
                                        <p:tgtEl>
                                          <p:spTgt spid="30"/>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42" presetClass="entr" presetSubtype="0" fill="hold" nodeType="clickEffect">
                                  <p:stCondLst>
                                    <p:cond delay="0"/>
                                  </p:stCondLst>
                                  <p:childTnLst>
                                    <p:set>
                                      <p:cBhvr>
                                        <p:cTn id="52" dur="1" fill="hold">
                                          <p:stCondLst>
                                            <p:cond delay="0"/>
                                          </p:stCondLst>
                                        </p:cTn>
                                        <p:tgtEl>
                                          <p:spTgt spid="8"/>
                                        </p:tgtEl>
                                        <p:attrNameLst>
                                          <p:attrName>style.visibility</p:attrName>
                                        </p:attrNameLst>
                                      </p:cBhvr>
                                      <p:to>
                                        <p:strVal val="visible"/>
                                      </p:to>
                                    </p:set>
                                    <p:animEffect transition="in" filter="fade">
                                      <p:cBhvr>
                                        <p:cTn id="53" dur="1000"/>
                                        <p:tgtEl>
                                          <p:spTgt spid="8"/>
                                        </p:tgtEl>
                                      </p:cBhvr>
                                    </p:animEffect>
                                    <p:anim calcmode="lin" valueType="num">
                                      <p:cBhvr>
                                        <p:cTn id="54" dur="1000" fill="hold"/>
                                        <p:tgtEl>
                                          <p:spTgt spid="8"/>
                                        </p:tgtEl>
                                        <p:attrNameLst>
                                          <p:attrName>ppt_x</p:attrName>
                                        </p:attrNameLst>
                                      </p:cBhvr>
                                      <p:tavLst>
                                        <p:tav tm="0">
                                          <p:val>
                                            <p:strVal val="#ppt_x"/>
                                          </p:val>
                                        </p:tav>
                                        <p:tav tm="100000">
                                          <p:val>
                                            <p:strVal val="#ppt_x"/>
                                          </p:val>
                                        </p:tav>
                                      </p:tavLst>
                                    </p:anim>
                                    <p:anim calcmode="lin" valueType="num">
                                      <p:cBhvr>
                                        <p:cTn id="55"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5" name="组合 17"/>
          <p:cNvGrpSpPr/>
          <p:nvPr/>
        </p:nvGrpSpPr>
        <p:grpSpPr>
          <a:xfrm>
            <a:off x="392434" y="769746"/>
            <a:ext cx="5643981" cy="420971"/>
            <a:chOff x="670560" y="892917"/>
            <a:chExt cx="5643981" cy="420971"/>
          </a:xfrm>
        </p:grpSpPr>
        <p:sp>
          <p:nvSpPr>
            <p:cNvPr id="146" name="矩形 145"/>
            <p:cNvSpPr/>
            <p:nvPr/>
          </p:nvSpPr>
          <p:spPr>
            <a:xfrm>
              <a:off x="1035233" y="913778"/>
              <a:ext cx="5279308"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非二进制译码器</a:t>
              </a:r>
              <a:r>
                <a:rPr lang="en-US" altLang="zh-CN" sz="2000" dirty="0">
                  <a:solidFill>
                    <a:srgbClr val="FF00FF"/>
                  </a:solidFill>
                  <a:latin typeface="黑体" panose="02010609060101010101" pitchFamily="49" charset="-122"/>
                  <a:ea typeface="黑体" panose="02010609060101010101" pitchFamily="49" charset="-122"/>
                </a:rPr>
                <a:t>(</a:t>
              </a:r>
              <a:r>
                <a:rPr lang="zh-CN" altLang="en-US" sz="2000" dirty="0">
                  <a:solidFill>
                    <a:srgbClr val="FF00FF"/>
                  </a:solidFill>
                  <a:latin typeface="黑体" panose="02010609060101010101" pitchFamily="49" charset="-122"/>
                  <a:ea typeface="黑体" panose="02010609060101010101" pitchFamily="49" charset="-122"/>
                </a:rPr>
                <a:t>二</a:t>
              </a:r>
              <a:r>
                <a:rPr lang="en-US" altLang="zh-CN" sz="2000" dirty="0">
                  <a:solidFill>
                    <a:srgbClr val="FF00FF"/>
                  </a:solidFill>
                  <a:latin typeface="黑体" panose="02010609060101010101" pitchFamily="49" charset="-122"/>
                  <a:ea typeface="黑体" panose="02010609060101010101" pitchFamily="49" charset="-122"/>
                </a:rPr>
                <a:t>-</a:t>
              </a:r>
              <a:r>
                <a:rPr lang="zh-CN" altLang="en-US" sz="2000" dirty="0">
                  <a:solidFill>
                    <a:srgbClr val="FF00FF"/>
                  </a:solidFill>
                  <a:latin typeface="黑体" panose="02010609060101010101" pitchFamily="49" charset="-122"/>
                  <a:ea typeface="黑体" panose="02010609060101010101" pitchFamily="49" charset="-122"/>
                </a:rPr>
                <a:t>十进制</a:t>
              </a:r>
              <a:r>
                <a:rPr lang="en-US" altLang="zh-CN" sz="2000" dirty="0">
                  <a:solidFill>
                    <a:srgbClr val="FF00FF"/>
                  </a:solidFill>
                  <a:latin typeface="黑体" panose="02010609060101010101" pitchFamily="49" charset="-122"/>
                  <a:ea typeface="黑体" panose="02010609060101010101" pitchFamily="49" charset="-122"/>
                </a:rPr>
                <a:t>(8421BCD)</a:t>
              </a:r>
              <a:r>
                <a:rPr lang="zh-CN" altLang="en-US" sz="2000" dirty="0">
                  <a:solidFill>
                    <a:srgbClr val="FF00FF"/>
                  </a:solidFill>
                  <a:latin typeface="黑体" panose="02010609060101010101" pitchFamily="49" charset="-122"/>
                  <a:ea typeface="黑体" panose="02010609060101010101" pitchFamily="49" charset="-122"/>
                </a:rPr>
                <a:t>译码器</a:t>
              </a:r>
              <a:r>
                <a:rPr lang="en-US" altLang="zh-CN" sz="2000" dirty="0">
                  <a:solidFill>
                    <a:srgbClr val="FF00FF"/>
                  </a:solidFill>
                  <a:latin typeface="黑体" panose="02010609060101010101" pitchFamily="49" charset="-122"/>
                  <a:ea typeface="黑体" panose="02010609060101010101" pitchFamily="49" charset="-122"/>
                </a:rPr>
                <a: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147"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167" name="组合 166"/>
          <p:cNvGrpSpPr/>
          <p:nvPr/>
        </p:nvGrpSpPr>
        <p:grpSpPr>
          <a:xfrm>
            <a:off x="368610" y="4232268"/>
            <a:ext cx="7895365" cy="870843"/>
            <a:chOff x="3996990" y="2735180"/>
            <a:chExt cx="7653449" cy="870843"/>
          </a:xfrm>
        </p:grpSpPr>
        <p:sp>
          <p:nvSpPr>
            <p:cNvPr id="168" name="圆角矩形 167"/>
            <p:cNvSpPr/>
            <p:nvPr/>
          </p:nvSpPr>
          <p:spPr>
            <a:xfrm>
              <a:off x="4203057" y="2855439"/>
              <a:ext cx="7447382" cy="750584"/>
            </a:xfrm>
            <a:prstGeom prst="roundRect">
              <a:avLst>
                <a:gd name="adj" fmla="val 4386"/>
              </a:avLst>
            </a:prstGeom>
            <a:solidFill>
              <a:schemeClr val="bg1"/>
            </a:solidFill>
            <a:ln w="28575">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8900"/>
              <a:r>
                <a:rPr lang="zh-CN" altLang="en-US"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对于其他</a:t>
              </a:r>
              <a:r>
                <a:rPr lang="en-US" altLang="zh-CN"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6</a:t>
              </a:r>
              <a:r>
                <a:rPr lang="zh-CN" altLang="en-US"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种非</a:t>
              </a:r>
              <a:r>
                <a:rPr lang="en-US" altLang="zh-CN"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8421BCD</a:t>
              </a:r>
              <a:r>
                <a:rPr lang="zh-CN" altLang="en-US"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码（</a:t>
              </a:r>
              <a:r>
                <a:rPr lang="en-US" altLang="zh-CN"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1010</a:t>
              </a:r>
              <a:r>
                <a:rPr lang="zh-CN" altLang="en-US"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r>
                <a:rPr lang="en-US" altLang="zh-CN"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1111</a:t>
              </a:r>
              <a:r>
                <a:rPr lang="zh-CN" altLang="en-US"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）输入组合</a:t>
              </a:r>
              <a:r>
                <a:rPr lang="en-US" altLang="zh-CN"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输出均为无效电平逻辑“</a:t>
              </a:r>
              <a:r>
                <a:rPr lang="en-US" altLang="zh-CN"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0</a:t>
              </a:r>
              <a:r>
                <a:rPr lang="zh-CN" altLang="en-US"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”。二</a:t>
              </a:r>
              <a:r>
                <a:rPr lang="en-US" altLang="zh-CN"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r>
                <a:rPr lang="zh-CN" altLang="en-US"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十进制译码器为</a:t>
              </a:r>
              <a:r>
                <a:rPr lang="zh-CN" altLang="en-US" b="1" dirty="0">
                  <a:solidFill>
                    <a:srgbClr val="FF00FF"/>
                  </a:solidFill>
                  <a:latin typeface="Times New Roman" panose="02020603050405020304" pitchFamily="18" charset="0"/>
                  <a:ea typeface="楷体" panose="02010609060101010101" pitchFamily="49" charset="-122"/>
                  <a:cs typeface="Times New Roman" panose="02020603050405020304" pitchFamily="18" charset="0"/>
                </a:rPr>
                <a:t>非完全译码器</a:t>
              </a:r>
              <a:r>
                <a:rPr lang="zh-CN" altLang="en-US"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rPr>
                <a:t>；</a:t>
              </a:r>
              <a:endParaRPr lang="zh-CN" altLang="en-US" b="1" dirty="0">
                <a:solidFill>
                  <a:srgbClr val="002060"/>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69" name="Picture 32"/>
            <p:cNvPicPr>
              <a:picLocks noChangeAspect="1" noChangeArrowheads="1"/>
            </p:cNvPicPr>
            <p:nvPr/>
          </p:nvPicPr>
          <p:blipFill>
            <a:blip r:embed="rId2" cstate="print"/>
            <a:srcRect/>
            <a:stretch>
              <a:fillRect/>
            </a:stretch>
          </p:blipFill>
          <p:spPr bwMode="auto">
            <a:xfrm>
              <a:off x="3996990" y="2735180"/>
              <a:ext cx="412063" cy="441909"/>
            </a:xfrm>
            <a:prstGeom prst="rect">
              <a:avLst/>
            </a:prstGeom>
            <a:noFill/>
            <a:ln w="9525">
              <a:noFill/>
              <a:miter lim="800000"/>
              <a:headEnd/>
              <a:tailEnd/>
            </a:ln>
          </p:spPr>
        </p:pic>
      </p:grpSp>
      <p:graphicFrame>
        <p:nvGraphicFramePr>
          <p:cNvPr id="213" name="Group 85"/>
          <p:cNvGraphicFramePr>
            <a:graphicFrameLocks noGrp="1"/>
          </p:cNvGraphicFramePr>
          <p:nvPr/>
        </p:nvGraphicFramePr>
        <p:xfrm>
          <a:off x="1022764" y="1296702"/>
          <a:ext cx="4730754" cy="2959032"/>
        </p:xfrm>
        <a:graphic>
          <a:graphicData uri="http://schemas.openxmlformats.org/drawingml/2006/table">
            <a:tbl>
              <a:tblPr/>
              <a:tblGrid>
                <a:gridCol w="337911"/>
                <a:gridCol w="337911"/>
                <a:gridCol w="337911"/>
                <a:gridCol w="337911"/>
                <a:gridCol w="337911"/>
                <a:gridCol w="337911"/>
                <a:gridCol w="337911"/>
                <a:gridCol w="337911"/>
                <a:gridCol w="337911"/>
                <a:gridCol w="337911"/>
                <a:gridCol w="337911"/>
                <a:gridCol w="337911"/>
                <a:gridCol w="337911"/>
                <a:gridCol w="337911"/>
              </a:tblGrid>
              <a:tr h="262124">
                <a:tc gridSpan="4">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输  入</a:t>
                      </a:r>
                      <a:endParaRPr kumimoji="0" lang="zh-CN" altLang="en-US"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hlink"/>
                      </a:solidFill>
                      <a:prstDash val="solid"/>
                      <a:round/>
                      <a:headEnd type="none" w="med" len="med"/>
                      <a:tailEnd type="none" w="med" len="med"/>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rgbClr val="FFFFFF"/>
                    </a:solidFill>
                  </a:tcPr>
                </a:tc>
                <a:tc hMerge="1">
                  <a:tcPr/>
                </a:tc>
                <a:tc hMerge="1">
                  <a:tcPr/>
                </a:tc>
                <a:tc hMerge="1">
                  <a:tcPr/>
                </a:tc>
                <a:tc gridSpan="10">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输        出</a:t>
                      </a:r>
                      <a:endParaRPr kumimoji="0" lang="zh-CN" altLang="en-US"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hlink"/>
                      </a:solidFill>
                      <a:prstDash val="solid"/>
                      <a:round/>
                      <a:headEnd type="none" w="med" len="med"/>
                      <a:tailEnd type="none" w="med" len="med"/>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rgbClr val="FFFFFF"/>
                    </a:solidFill>
                  </a:tcPr>
                </a:tc>
                <a:tc hMerge="1">
                  <a:tcPr/>
                </a:tc>
                <a:tc hMerge="1">
                  <a:tcPr/>
                </a:tc>
                <a:tc hMerge="1">
                  <a:tcPr/>
                </a:tc>
                <a:tc hMerge="1">
                  <a:tcPr/>
                </a:tc>
                <a:tc hMerge="1">
                  <a:tcPr/>
                </a:tc>
                <a:tc hMerge="1">
                  <a:tcPr/>
                </a:tc>
                <a:tc hMerge="1">
                  <a:tcPr/>
                </a:tc>
                <a:tc hMerge="1">
                  <a:tcPr/>
                </a:tc>
                <a:tc hMerge="1">
                  <a:tcPr/>
                </a:tc>
              </a:tr>
              <a:tr h="275008">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4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4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4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4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4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4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hlink"/>
                      </a:solidFill>
                      <a:prstDash val="solid"/>
                      <a:round/>
                      <a:headEnd type="none" w="med" len="med"/>
                      <a:tailEnd type="none" w="med" len="med"/>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Y</a:t>
                      </a:r>
                      <a:r>
                        <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hlink"/>
                      </a:solidFill>
                      <a:prstDash val="solid"/>
                      <a:round/>
                      <a:headEnd type="none" w="med" len="med"/>
                      <a:tailEnd type="none" w="med" len="med"/>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Y</a:t>
                      </a:r>
                      <a:r>
                        <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Y</a:t>
                      </a:r>
                      <a:r>
                        <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Y</a:t>
                      </a:r>
                      <a:r>
                        <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Y</a:t>
                      </a:r>
                      <a:r>
                        <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4</a:t>
                      </a:r>
                      <a:endPar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Y</a:t>
                      </a:r>
                      <a:r>
                        <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5</a:t>
                      </a:r>
                      <a:endPar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Y</a:t>
                      </a:r>
                      <a:r>
                        <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6</a:t>
                      </a:r>
                      <a:endPar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Y</a:t>
                      </a:r>
                      <a:r>
                        <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7</a:t>
                      </a:r>
                      <a:endPar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Y</a:t>
                      </a:r>
                      <a:r>
                        <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8</a:t>
                      </a:r>
                      <a:endPar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Y</a:t>
                      </a:r>
                      <a:r>
                        <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9</a:t>
                      </a:r>
                      <a:endPar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w="28575" cap="flat" cmpd="sng" algn="ctr">
                      <a:solidFill>
                        <a:schemeClr val="hlink"/>
                      </a:solidFill>
                      <a:prstDash val="solid"/>
                      <a:round/>
                      <a:headEnd type="none" w="med" len="med"/>
                      <a:tailEnd type="none" w="med" len="med"/>
                    </a:lnB>
                    <a:lnTlToBr>
                      <a:noFill/>
                    </a:lnTlToBr>
                    <a:lnBlToTr>
                      <a:noFill/>
                    </a:lnBlToTr>
                    <a:solidFill>
                      <a:srgbClr val="FFFFFF"/>
                    </a:solidFill>
                  </a:tcPr>
                </a:tc>
              </a:tr>
              <a:tr h="24219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hlink"/>
                      </a:solidFill>
                      <a:prstDash val="solid"/>
                      <a:round/>
                      <a:headEnd type="none" w="med" len="med"/>
                      <a:tailEnd type="none" w="med" len="med"/>
                    </a:lnR>
                    <a:lnT w="28575" cap="flat" cmpd="sng" algn="ctr">
                      <a:solidFill>
                        <a:schemeClr val="hlink"/>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hlink"/>
                      </a:solidFill>
                      <a:prstDash val="solid"/>
                      <a:round/>
                      <a:headEnd type="none" w="med" len="med"/>
                      <a:tailEnd type="none" w="med" len="med"/>
                    </a:lnL>
                    <a:lnR>
                      <a:noFill/>
                    </a:lnR>
                    <a:lnT w="28575" cap="flat" cmpd="sng" algn="ctr">
                      <a:solidFill>
                        <a:schemeClr val="hlink"/>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28575" cap="flat" cmpd="sng" algn="ctr">
                      <a:solidFill>
                        <a:schemeClr val="hlink"/>
                      </a:solidFill>
                      <a:prstDash val="solid"/>
                      <a:round/>
                      <a:headEnd type="none" w="med" len="med"/>
                      <a:tailEnd type="none" w="med" len="med"/>
                    </a:lnT>
                    <a:lnB>
                      <a:noFill/>
                    </a:lnB>
                    <a:lnTlToBr>
                      <a:noFill/>
                    </a:lnTlToBr>
                    <a:lnBlToTr>
                      <a:noFill/>
                    </a:lnBlToTr>
                    <a:noFill/>
                  </a:tcPr>
                </a:tc>
              </a:tr>
              <a:tr h="24219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r>
              <a:tr h="24219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kern="1200"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kern="1200"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r>
              <a:tr h="24219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kern="1200"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kern="1200"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r>
              <a:tr h="24219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r>
              <a:tr h="24219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r>
              <a:tr h="24219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r>
              <a:tr h="24219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r>
              <a:tr h="24219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hlink"/>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hlink"/>
                      </a:solidFill>
                      <a:prstDash val="solid"/>
                      <a:round/>
                      <a:headEnd type="none" w="med" len="med"/>
                      <a:tailEnd type="none" w="med" len="med"/>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r>
              <a:tr h="242190">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hlink"/>
                      </a:solidFill>
                      <a:prstDash val="solid"/>
                      <a:round/>
                      <a:headEnd type="none" w="med" len="med"/>
                      <a:tailEnd type="none" w="med" len="med"/>
                    </a:lnR>
                    <a:lnT>
                      <a:noFill/>
                    </a:lnT>
                    <a:lnB w="28575" cap="flat" cmpd="sng" algn="ctr">
                      <a:solidFill>
                        <a:schemeClr val="hlink"/>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hlink"/>
                      </a:solidFill>
                      <a:prstDash val="solid"/>
                      <a:round/>
                      <a:headEnd type="none" w="med" len="med"/>
                      <a:tailEnd type="none" w="med" len="med"/>
                    </a:lnL>
                    <a:lnR>
                      <a:noFill/>
                    </a:lnR>
                    <a:lnT>
                      <a:noFill/>
                    </a:lnT>
                    <a:lnB w="28575" cap="flat" cmpd="sng" algn="ctr">
                      <a:solidFill>
                        <a:schemeClr va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28575" cap="flat" cmpd="sng" algn="ctr">
                      <a:solidFill>
                        <a:schemeClr val="hlink"/>
                      </a:solidFill>
                      <a:prstDash val="solid"/>
                      <a:round/>
                      <a:headEnd type="none" w="med" len="med"/>
                      <a:tailEnd type="none" w="med" len="med"/>
                    </a:lnB>
                    <a:lnTlToBr>
                      <a:noFill/>
                    </a:lnTlToBr>
                    <a:lnBlToTr>
                      <a:noFill/>
                    </a:lnBlToTr>
                    <a:noFill/>
                  </a:tcPr>
                </a:tc>
              </a:tr>
            </a:tbl>
          </a:graphicData>
        </a:graphic>
      </p:graphicFrame>
      <p:sp>
        <p:nvSpPr>
          <p:cNvPr id="11" name="圆角矩形 10"/>
          <p:cNvSpPr/>
          <p:nvPr/>
        </p:nvSpPr>
        <p:spPr>
          <a:xfrm>
            <a:off x="1070252" y="1582955"/>
            <a:ext cx="1274203" cy="252663"/>
          </a:xfrm>
          <a:prstGeom prst="roundRect">
            <a:avLst/>
          </a:prstGeom>
          <a:solidFill>
            <a:srgbClr val="66FF66">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圆角矩形 11"/>
          <p:cNvSpPr/>
          <p:nvPr/>
        </p:nvSpPr>
        <p:spPr>
          <a:xfrm>
            <a:off x="2422946" y="1586965"/>
            <a:ext cx="3317852" cy="252663"/>
          </a:xfrm>
          <a:prstGeom prst="roundRect">
            <a:avLst/>
          </a:prstGeom>
          <a:solidFill>
            <a:schemeClr val="accent2">
              <a:lumMod val="40000"/>
              <a:lumOff val="60000"/>
              <a:alpha val="4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圆角矩形 12"/>
          <p:cNvSpPr/>
          <p:nvPr/>
        </p:nvSpPr>
        <p:spPr>
          <a:xfrm>
            <a:off x="1064523" y="1872859"/>
            <a:ext cx="1274203" cy="2355382"/>
          </a:xfrm>
          <a:prstGeom prst="roundRect">
            <a:avLst>
              <a:gd name="adj" fmla="val 3717"/>
            </a:avLst>
          </a:prstGeom>
          <a:solidFill>
            <a:srgbClr val="66FF66">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2441259" y="1853346"/>
            <a:ext cx="3264016" cy="2401250"/>
            <a:chOff x="2441259" y="1853346"/>
            <a:chExt cx="3264016" cy="2401250"/>
          </a:xfrm>
        </p:grpSpPr>
        <p:sp>
          <p:nvSpPr>
            <p:cNvPr id="15" name="圆角矩形 14"/>
            <p:cNvSpPr/>
            <p:nvPr/>
          </p:nvSpPr>
          <p:spPr>
            <a:xfrm>
              <a:off x="2441259" y="1853346"/>
              <a:ext cx="226329" cy="222962"/>
            </a:xfrm>
            <a:prstGeom prst="roundRect">
              <a:avLst/>
            </a:prstGeom>
            <a:solidFill>
              <a:srgbClr val="FF000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圆角矩形 16"/>
            <p:cNvSpPr/>
            <p:nvPr/>
          </p:nvSpPr>
          <p:spPr>
            <a:xfrm>
              <a:off x="2778780" y="2095378"/>
              <a:ext cx="226329" cy="222962"/>
            </a:xfrm>
            <a:prstGeom prst="roundRect">
              <a:avLst/>
            </a:prstGeom>
            <a:solidFill>
              <a:srgbClr val="FF000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圆角矩形 17"/>
            <p:cNvSpPr/>
            <p:nvPr/>
          </p:nvSpPr>
          <p:spPr>
            <a:xfrm>
              <a:off x="3116301" y="2337410"/>
              <a:ext cx="226329" cy="222962"/>
            </a:xfrm>
            <a:prstGeom prst="roundRect">
              <a:avLst/>
            </a:prstGeom>
            <a:solidFill>
              <a:srgbClr val="FF000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18"/>
            <p:cNvSpPr/>
            <p:nvPr/>
          </p:nvSpPr>
          <p:spPr>
            <a:xfrm>
              <a:off x="3453822" y="2579442"/>
              <a:ext cx="226329" cy="222962"/>
            </a:xfrm>
            <a:prstGeom prst="roundRect">
              <a:avLst/>
            </a:prstGeom>
            <a:solidFill>
              <a:srgbClr val="FF000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圆角矩形 19"/>
            <p:cNvSpPr/>
            <p:nvPr/>
          </p:nvSpPr>
          <p:spPr>
            <a:xfrm>
              <a:off x="3791343" y="2821474"/>
              <a:ext cx="226329" cy="222962"/>
            </a:xfrm>
            <a:prstGeom prst="roundRect">
              <a:avLst/>
            </a:prstGeom>
            <a:solidFill>
              <a:srgbClr val="FF000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圆角矩形 20"/>
            <p:cNvSpPr/>
            <p:nvPr/>
          </p:nvSpPr>
          <p:spPr>
            <a:xfrm>
              <a:off x="4128864" y="3063506"/>
              <a:ext cx="226329" cy="222962"/>
            </a:xfrm>
            <a:prstGeom prst="roundRect">
              <a:avLst/>
            </a:prstGeom>
            <a:solidFill>
              <a:srgbClr val="FF000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圆角矩形 21"/>
            <p:cNvSpPr/>
            <p:nvPr/>
          </p:nvSpPr>
          <p:spPr>
            <a:xfrm>
              <a:off x="4466385" y="3305538"/>
              <a:ext cx="226329" cy="222962"/>
            </a:xfrm>
            <a:prstGeom prst="roundRect">
              <a:avLst/>
            </a:prstGeom>
            <a:solidFill>
              <a:srgbClr val="FF000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圆角矩形 22"/>
            <p:cNvSpPr/>
            <p:nvPr/>
          </p:nvSpPr>
          <p:spPr>
            <a:xfrm>
              <a:off x="4803906" y="3547570"/>
              <a:ext cx="226329" cy="222962"/>
            </a:xfrm>
            <a:prstGeom prst="roundRect">
              <a:avLst/>
            </a:prstGeom>
            <a:solidFill>
              <a:srgbClr val="FF000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23"/>
            <p:cNvSpPr/>
            <p:nvPr/>
          </p:nvSpPr>
          <p:spPr>
            <a:xfrm>
              <a:off x="5141427" y="3789602"/>
              <a:ext cx="226329" cy="222962"/>
            </a:xfrm>
            <a:prstGeom prst="roundRect">
              <a:avLst/>
            </a:prstGeom>
            <a:solidFill>
              <a:srgbClr val="FF000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圆角矩形 24"/>
            <p:cNvSpPr/>
            <p:nvPr/>
          </p:nvSpPr>
          <p:spPr>
            <a:xfrm>
              <a:off x="5478946" y="4031634"/>
              <a:ext cx="226329" cy="222962"/>
            </a:xfrm>
            <a:prstGeom prst="roundRect">
              <a:avLst/>
            </a:prstGeom>
            <a:solidFill>
              <a:srgbClr val="FF0000">
                <a:alpha val="48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40962" name="Picture 2"/>
          <p:cNvPicPr>
            <a:picLocks noChangeAspect="1" noChangeArrowheads="1"/>
          </p:cNvPicPr>
          <p:nvPr/>
        </p:nvPicPr>
        <p:blipFill>
          <a:blip r:embed="rId3" cstate="print"/>
          <a:srcRect/>
          <a:stretch>
            <a:fillRect/>
          </a:stretch>
        </p:blipFill>
        <p:spPr bwMode="auto">
          <a:xfrm>
            <a:off x="6348414" y="1727200"/>
            <a:ext cx="1899446" cy="2513013"/>
          </a:xfrm>
          <a:prstGeom prst="rect">
            <a:avLst/>
          </a:prstGeom>
          <a:noFill/>
          <a:ln w="9525">
            <a:noFill/>
            <a:miter lim="800000"/>
            <a:headEnd/>
            <a:tailEnd/>
          </a:ln>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1000"/>
                                        <p:tgtEl>
                                          <p:spTgt spid="11"/>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up)">
                                      <p:cBhvr>
                                        <p:cTn id="11" dur="1000"/>
                                        <p:tgtEl>
                                          <p:spTgt spid="13"/>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4" fill="hold" nodeType="clickEffect">
                                  <p:stCondLst>
                                    <p:cond delay="0"/>
                                  </p:stCondLst>
                                  <p:childTnLst>
                                    <p:set>
                                      <p:cBhvr>
                                        <p:cTn id="15" dur="1" fill="hold">
                                          <p:stCondLst>
                                            <p:cond delay="0"/>
                                          </p:stCondLst>
                                        </p:cTn>
                                        <p:tgtEl>
                                          <p:spTgt spid="167"/>
                                        </p:tgtEl>
                                        <p:attrNameLst>
                                          <p:attrName>style.visibility</p:attrName>
                                        </p:attrNameLst>
                                      </p:cBhvr>
                                      <p:to>
                                        <p:strVal val="visible"/>
                                      </p:to>
                                    </p:set>
                                    <p:animEffect transition="in" filter="slide(fromBottom)">
                                      <p:cBhvr>
                                        <p:cTn id="16" dur="1000"/>
                                        <p:tgtEl>
                                          <p:spTgt spid="167"/>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10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40962"/>
                                        </p:tgtEl>
                                        <p:attrNameLst>
                                          <p:attrName>style.visibility</p:attrName>
                                        </p:attrNameLst>
                                      </p:cBhvr>
                                      <p:to>
                                        <p:strVal val="visible"/>
                                      </p:to>
                                    </p:set>
                                    <p:animEffect transition="in" filter="wipe(left)">
                                      <p:cBhvr>
                                        <p:cTn id="25" dur="1000"/>
                                        <p:tgtEl>
                                          <p:spTgt spid="40962"/>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left)">
                                      <p:cBhvr>
                                        <p:cTn id="29"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组合 17"/>
          <p:cNvGrpSpPr/>
          <p:nvPr/>
        </p:nvGrpSpPr>
        <p:grpSpPr>
          <a:xfrm>
            <a:off x="392432" y="769746"/>
            <a:ext cx="3114144" cy="420971"/>
            <a:chOff x="670560" y="892917"/>
            <a:chExt cx="3114144" cy="420971"/>
          </a:xfrm>
        </p:grpSpPr>
        <p:sp>
          <p:nvSpPr>
            <p:cNvPr id="16" name="矩形 15"/>
            <p:cNvSpPr/>
            <p:nvPr/>
          </p:nvSpPr>
          <p:spPr>
            <a:xfrm>
              <a:off x="1035233" y="913778"/>
              <a:ext cx="2749471"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典型集成二进制译码器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17"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19" name="圆角矩形 18"/>
          <p:cNvSpPr/>
          <p:nvPr/>
        </p:nvSpPr>
        <p:spPr>
          <a:xfrm>
            <a:off x="1276699" y="2952498"/>
            <a:ext cx="2664000" cy="1187479"/>
          </a:xfrm>
          <a:prstGeom prst="roundRect">
            <a:avLst>
              <a:gd name="adj" fmla="val 9001"/>
            </a:avLst>
          </a:prstGeom>
        </p:spPr>
        <p:style>
          <a:lnRef idx="2">
            <a:schemeClr val="accent1">
              <a:shade val="50000"/>
            </a:schemeClr>
          </a:lnRef>
          <a:fillRef idx="1">
            <a:schemeClr val="accent1"/>
          </a:fillRef>
          <a:effectRef idx="0">
            <a:schemeClr val="accent1"/>
          </a:effectRef>
          <a:fontRef idx="minor">
            <a:schemeClr val="lt1"/>
          </a:fontRef>
        </p:style>
        <p:txBody>
          <a:bodyPr lIns="72000" tIns="0" rIns="72000" bIns="36000" rtlCol="0" anchor="b" anchorCtr="0"/>
          <a:lstStyle/>
          <a:p>
            <a:pPr algn="ctr"/>
            <a:r>
              <a:rPr lang="zh-CN" altLang="en-US" dirty="0">
                <a:latin typeface="黑体" panose="02010609060101010101" pitchFamily="49" charset="-122"/>
                <a:ea typeface="黑体" panose="02010609060101010101" pitchFamily="49" charset="-122"/>
              </a:rPr>
              <a:t>双</a:t>
            </a:r>
            <a:r>
              <a:rPr lang="en-US" altLang="zh-CN" dirty="0">
                <a:latin typeface="黑体" panose="02010609060101010101" pitchFamily="49" charset="-122"/>
                <a:ea typeface="黑体" panose="02010609060101010101" pitchFamily="49" charset="-122"/>
              </a:rPr>
              <a:t>2</a:t>
            </a:r>
            <a:r>
              <a:rPr lang="zh-CN" altLang="en-US" dirty="0">
                <a:latin typeface="黑体" panose="02010609060101010101" pitchFamily="49" charset="-122"/>
                <a:ea typeface="黑体" panose="02010609060101010101" pitchFamily="49" charset="-122"/>
              </a:rPr>
              <a:t>线</a:t>
            </a:r>
            <a:r>
              <a:rPr lang="en-US" altLang="zh-CN" dirty="0">
                <a:latin typeface="黑体" panose="02010609060101010101" pitchFamily="49" charset="-122"/>
                <a:ea typeface="黑体" panose="02010609060101010101" pitchFamily="49" charset="-122"/>
              </a:rPr>
              <a:t>-4</a:t>
            </a:r>
            <a:r>
              <a:rPr lang="zh-CN" altLang="en-US" dirty="0">
                <a:latin typeface="黑体" panose="02010609060101010101" pitchFamily="49" charset="-122"/>
                <a:ea typeface="黑体" panose="02010609060101010101" pitchFamily="49" charset="-122"/>
              </a:rPr>
              <a:t>线译码器，每个译码器有</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个低有效使能端，且译码输出低有效。</a:t>
            </a:r>
            <a:endParaRPr lang="zh-CN" altLang="en-US" dirty="0">
              <a:latin typeface="黑体" panose="02010609060101010101" pitchFamily="49" charset="-122"/>
              <a:ea typeface="黑体" panose="02010609060101010101" pitchFamily="49" charset="-122"/>
            </a:endParaRPr>
          </a:p>
        </p:txBody>
      </p:sp>
      <p:grpSp>
        <p:nvGrpSpPr>
          <p:cNvPr id="20" name="组合 19"/>
          <p:cNvGrpSpPr/>
          <p:nvPr/>
        </p:nvGrpSpPr>
        <p:grpSpPr>
          <a:xfrm>
            <a:off x="1276597" y="1573346"/>
            <a:ext cx="2664000" cy="1616736"/>
            <a:chOff x="1276597" y="1573346"/>
            <a:chExt cx="2664000" cy="1616736"/>
          </a:xfrm>
        </p:grpSpPr>
        <p:grpSp>
          <p:nvGrpSpPr>
            <p:cNvPr id="21" name="组合 61"/>
            <p:cNvGrpSpPr/>
            <p:nvPr/>
          </p:nvGrpSpPr>
          <p:grpSpPr>
            <a:xfrm>
              <a:off x="1276597" y="1573346"/>
              <a:ext cx="2664000" cy="1616736"/>
              <a:chOff x="525366" y="1463349"/>
              <a:chExt cx="2664000" cy="1616736"/>
            </a:xfrm>
          </p:grpSpPr>
          <p:sp>
            <p:nvSpPr>
              <p:cNvPr id="22" name="圆角矩形 21"/>
              <p:cNvSpPr/>
              <p:nvPr/>
            </p:nvSpPr>
            <p:spPr>
              <a:xfrm>
                <a:off x="525366" y="1624264"/>
                <a:ext cx="2664000" cy="1455821"/>
              </a:xfrm>
              <a:prstGeom prst="roundRect">
                <a:avLst>
                  <a:gd name="adj" fmla="val 7852"/>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流程图: 可选过程 25"/>
              <p:cNvSpPr/>
              <p:nvPr/>
            </p:nvSpPr>
            <p:spPr>
              <a:xfrm>
                <a:off x="1098310" y="1463349"/>
                <a:ext cx="1501072" cy="303346"/>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t>74</a:t>
                </a:r>
                <a:r>
                  <a:rPr lang="en-US" altLang="zh-CN" sz="1600" dirty="0">
                    <a:latin typeface="黑体" panose="02010609060101010101" pitchFamily="49" charset="-122"/>
                    <a:ea typeface="黑体" panose="02010609060101010101" pitchFamily="49" charset="-122"/>
                  </a:rPr>
                  <a:t>×139</a:t>
                </a:r>
                <a:endParaRPr lang="zh-CN" altLang="en-US" sz="1600" dirty="0"/>
              </a:p>
            </p:txBody>
          </p:sp>
        </p:grpSp>
        <p:pic>
          <p:nvPicPr>
            <p:cNvPr id="31748" name="Picture 4" descr="https://timgsa.baidu.com/timg?image&amp;quality=80&amp;size=b9999_10000&amp;sec=1551694949773&amp;di=02511c83dd76521449cfe580a0705575&amp;imgtype=0&amp;src=http%3A%2F%2Ffile1.dzsc.com%2Fproduct%2F16%2F04%2F09%2F1106295_174702723.jpg"/>
            <p:cNvPicPr>
              <a:picLocks noChangeAspect="1" noChangeArrowheads="1"/>
            </p:cNvPicPr>
            <p:nvPr/>
          </p:nvPicPr>
          <p:blipFill>
            <a:blip r:embed="rId2" cstate="print"/>
            <a:srcRect l="13894" t="25108" r="15988" b="22303"/>
            <a:stretch>
              <a:fillRect/>
            </a:stretch>
          </p:blipFill>
          <p:spPr bwMode="auto">
            <a:xfrm>
              <a:off x="1952553" y="2064269"/>
              <a:ext cx="1244409" cy="933307"/>
            </a:xfrm>
            <a:prstGeom prst="rect">
              <a:avLst/>
            </a:prstGeom>
            <a:noFill/>
          </p:spPr>
        </p:pic>
      </p:grpSp>
      <p:sp>
        <p:nvSpPr>
          <p:cNvPr id="55" name="圆角矩形 54"/>
          <p:cNvSpPr/>
          <p:nvPr/>
        </p:nvSpPr>
        <p:spPr>
          <a:xfrm>
            <a:off x="4969820" y="2952498"/>
            <a:ext cx="2664000" cy="1187479"/>
          </a:xfrm>
          <a:prstGeom prst="roundRect">
            <a:avLst>
              <a:gd name="adj" fmla="val 9001"/>
            </a:avLst>
          </a:prstGeom>
        </p:spPr>
        <p:style>
          <a:lnRef idx="2">
            <a:schemeClr val="accent1">
              <a:shade val="50000"/>
            </a:schemeClr>
          </a:lnRef>
          <a:fillRef idx="1">
            <a:schemeClr val="accent1"/>
          </a:fillRef>
          <a:effectRef idx="0">
            <a:schemeClr val="accent1"/>
          </a:effectRef>
          <a:fontRef idx="minor">
            <a:schemeClr val="lt1"/>
          </a:fontRef>
        </p:style>
        <p:txBody>
          <a:bodyPr lIns="72000" tIns="0" rIns="72000" bIns="36000" rtlCol="0" anchor="b" anchorCtr="0"/>
          <a:lstStyle/>
          <a:p>
            <a:pPr algn="ctr"/>
            <a:r>
              <a:rPr lang="zh-CN" altLang="en-US" dirty="0">
                <a:latin typeface="黑体" panose="02010609060101010101" pitchFamily="49" charset="-122"/>
                <a:ea typeface="黑体" panose="02010609060101010101" pitchFamily="49" charset="-122"/>
              </a:rPr>
              <a:t>带</a:t>
            </a:r>
            <a:r>
              <a:rPr lang="en-US" altLang="zh-CN" dirty="0">
                <a:latin typeface="黑体" panose="02010609060101010101" pitchFamily="49" charset="-122"/>
                <a:ea typeface="黑体" panose="02010609060101010101" pitchFamily="49" charset="-122"/>
              </a:rPr>
              <a:t>1</a:t>
            </a:r>
            <a:r>
              <a:rPr lang="zh-CN" altLang="en-US" dirty="0">
                <a:latin typeface="黑体" panose="02010609060101010101" pitchFamily="49" charset="-122"/>
                <a:ea typeface="黑体" panose="02010609060101010101" pitchFamily="49" charset="-122"/>
              </a:rPr>
              <a:t>个高有效、</a:t>
            </a:r>
            <a:r>
              <a:rPr lang="en-US" altLang="zh-CN" dirty="0">
                <a:latin typeface="黑体" panose="02010609060101010101" pitchFamily="49" charset="-122"/>
                <a:ea typeface="黑体" panose="02010609060101010101" pitchFamily="49" charset="-122"/>
              </a:rPr>
              <a:t>2</a:t>
            </a:r>
            <a:r>
              <a:rPr lang="zh-CN" altLang="en-US" dirty="0">
                <a:latin typeface="黑体" panose="02010609060101010101" pitchFamily="49" charset="-122"/>
                <a:ea typeface="黑体" panose="02010609060101010101" pitchFamily="49" charset="-122"/>
              </a:rPr>
              <a:t>个低有效使能端的</a:t>
            </a:r>
            <a:r>
              <a:rPr lang="en-US" altLang="zh-CN" dirty="0">
                <a:latin typeface="黑体" panose="02010609060101010101" pitchFamily="49" charset="-122"/>
                <a:ea typeface="黑体" panose="02010609060101010101" pitchFamily="49" charset="-122"/>
              </a:rPr>
              <a:t>3</a:t>
            </a:r>
            <a:r>
              <a:rPr lang="zh-CN" altLang="en-US" dirty="0">
                <a:latin typeface="黑体" panose="02010609060101010101" pitchFamily="49" charset="-122"/>
                <a:ea typeface="黑体" panose="02010609060101010101" pitchFamily="49" charset="-122"/>
              </a:rPr>
              <a:t>线</a:t>
            </a:r>
            <a:r>
              <a:rPr lang="en-US" altLang="zh-CN" dirty="0">
                <a:latin typeface="黑体" panose="02010609060101010101" pitchFamily="49" charset="-122"/>
                <a:ea typeface="黑体" panose="02010609060101010101" pitchFamily="49" charset="-122"/>
              </a:rPr>
              <a:t>-8</a:t>
            </a:r>
            <a:r>
              <a:rPr lang="zh-CN" altLang="en-US" dirty="0">
                <a:latin typeface="黑体" panose="02010609060101010101" pitchFamily="49" charset="-122"/>
                <a:ea typeface="黑体" panose="02010609060101010101" pitchFamily="49" charset="-122"/>
              </a:rPr>
              <a:t>线译码器，译码输出低有效。</a:t>
            </a:r>
            <a:endParaRPr lang="zh-CN" altLang="en-US" dirty="0">
              <a:latin typeface="黑体" panose="02010609060101010101" pitchFamily="49" charset="-122"/>
              <a:ea typeface="黑体" panose="02010609060101010101" pitchFamily="49" charset="-122"/>
            </a:endParaRPr>
          </a:p>
        </p:txBody>
      </p:sp>
      <p:grpSp>
        <p:nvGrpSpPr>
          <p:cNvPr id="23" name="组合 22"/>
          <p:cNvGrpSpPr/>
          <p:nvPr/>
        </p:nvGrpSpPr>
        <p:grpSpPr>
          <a:xfrm>
            <a:off x="4969718" y="1573346"/>
            <a:ext cx="2664000" cy="1616736"/>
            <a:chOff x="4969718" y="1573346"/>
            <a:chExt cx="2664000" cy="1616736"/>
          </a:xfrm>
        </p:grpSpPr>
        <p:grpSp>
          <p:nvGrpSpPr>
            <p:cNvPr id="56" name="组合 61"/>
            <p:cNvGrpSpPr/>
            <p:nvPr/>
          </p:nvGrpSpPr>
          <p:grpSpPr>
            <a:xfrm>
              <a:off x="4969718" y="1573346"/>
              <a:ext cx="2664000" cy="1616736"/>
              <a:chOff x="525366" y="1463349"/>
              <a:chExt cx="2664000" cy="1616736"/>
            </a:xfrm>
          </p:grpSpPr>
          <p:sp>
            <p:nvSpPr>
              <p:cNvPr id="57" name="圆角矩形 56"/>
              <p:cNvSpPr/>
              <p:nvPr/>
            </p:nvSpPr>
            <p:spPr>
              <a:xfrm>
                <a:off x="525366" y="1624264"/>
                <a:ext cx="2664000" cy="1455821"/>
              </a:xfrm>
              <a:prstGeom prst="roundRect">
                <a:avLst>
                  <a:gd name="adj" fmla="val 7852"/>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流程图: 可选过程 57"/>
              <p:cNvSpPr/>
              <p:nvPr/>
            </p:nvSpPr>
            <p:spPr>
              <a:xfrm>
                <a:off x="1098310" y="1463349"/>
                <a:ext cx="1501072" cy="303346"/>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t>74</a:t>
                </a:r>
                <a:r>
                  <a:rPr lang="en-US" altLang="zh-CN" sz="1600" dirty="0">
                    <a:latin typeface="黑体" panose="02010609060101010101" pitchFamily="49" charset="-122"/>
                    <a:ea typeface="黑体" panose="02010609060101010101" pitchFamily="49" charset="-122"/>
                  </a:rPr>
                  <a:t>×138</a:t>
                </a:r>
                <a:endParaRPr lang="zh-CN" altLang="en-US" sz="1600" dirty="0"/>
              </a:p>
            </p:txBody>
          </p:sp>
        </p:grpSp>
        <p:pic>
          <p:nvPicPr>
            <p:cNvPr id="31750" name="Picture 6" descr="https://gd3.alicdn.com/imgextra/i3/3985789354/O1CN01IH87VT2IyBHmVyHJJ_!!3985789354.jpg"/>
            <p:cNvPicPr>
              <a:picLocks noChangeAspect="1" noChangeArrowheads="1"/>
            </p:cNvPicPr>
            <p:nvPr/>
          </p:nvPicPr>
          <p:blipFill>
            <a:blip r:embed="rId3" cstate="print"/>
            <a:srcRect l="7305" t="13550" r="8407" b="19159"/>
            <a:stretch>
              <a:fillRect/>
            </a:stretch>
          </p:blipFill>
          <p:spPr bwMode="auto">
            <a:xfrm>
              <a:off x="5706408" y="1996204"/>
              <a:ext cx="1313160" cy="1048351"/>
            </a:xfrm>
            <a:prstGeom prst="rect">
              <a:avLst/>
            </a:prstGeom>
            <a:noFill/>
          </p:spPr>
        </p:pic>
      </p:grpSp>
      <p:sp>
        <p:nvSpPr>
          <p:cNvPr id="65" name="圆角矩形 64"/>
          <p:cNvSpPr/>
          <p:nvPr/>
        </p:nvSpPr>
        <p:spPr>
          <a:xfrm>
            <a:off x="1251285" y="4257461"/>
            <a:ext cx="5892036" cy="43829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dirty="0">
                <a:solidFill>
                  <a:srgbClr val="FFFF00"/>
                </a:solidFill>
                <a:latin typeface="黑体" panose="02010609060101010101" pitchFamily="49" charset="-122"/>
                <a:ea typeface="黑体" panose="02010609060101010101" pitchFamily="49" charset="-122"/>
              </a:rPr>
              <a:t>×</a:t>
            </a:r>
            <a:r>
              <a:rPr lang="zh-CN" altLang="en-US" dirty="0">
                <a:solidFill>
                  <a:srgbClr val="FFFF00"/>
                </a:solidFill>
                <a:latin typeface="黑体" panose="02010609060101010101" pitchFamily="49" charset="-122"/>
                <a:ea typeface="黑体" panose="02010609060101010101" pitchFamily="49" charset="-122"/>
              </a:rPr>
              <a:t>：</a:t>
            </a:r>
            <a:r>
              <a:rPr lang="en-US" altLang="zh-CN"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LS—</a:t>
            </a:r>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低功耗肖特基</a:t>
            </a:r>
            <a:r>
              <a:rPr lang="en-US" altLang="zh-CN"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TTL</a:t>
            </a:r>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HC—</a:t>
            </a:r>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高速</a:t>
            </a:r>
            <a:r>
              <a:rPr lang="en-US" altLang="zh-CN"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CMOS</a:t>
            </a:r>
            <a:r>
              <a:rPr lang="zh-CN" altLang="en-US"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FFFF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solidFill>
                <a:srgbClr val="FFFF00"/>
              </a:solidFill>
            </a:endParaRPr>
          </a:p>
        </p:txBody>
      </p:sp>
    </p:spTree>
  </p:cSld>
  <p:clrMapOvr>
    <a:masterClrMapping/>
  </p:clrMapOvr>
  <p:transition>
    <p:random/>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1" cstate="print"/>
          <a:srcRect/>
          <a:stretch>
            <a:fillRect/>
          </a:stretch>
        </p:blipFill>
        <p:spPr bwMode="auto">
          <a:xfrm>
            <a:off x="2678620" y="1788464"/>
            <a:ext cx="2371725" cy="1600200"/>
          </a:xfrm>
          <a:prstGeom prst="rect">
            <a:avLst/>
          </a:prstGeom>
          <a:noFill/>
          <a:ln w="9525">
            <a:noFill/>
            <a:miter lim="800000"/>
            <a:headEnd/>
            <a:tailEnd/>
          </a:ln>
        </p:spPr>
      </p:pic>
      <p:pic>
        <p:nvPicPr>
          <p:cNvPr id="1026" name="Picture 2"/>
          <p:cNvPicPr>
            <a:picLocks noChangeAspect="1" noChangeArrowheads="1"/>
          </p:cNvPicPr>
          <p:nvPr/>
        </p:nvPicPr>
        <p:blipFill>
          <a:blip r:embed="rId2" cstate="print"/>
          <a:srcRect/>
          <a:stretch>
            <a:fillRect/>
          </a:stretch>
        </p:blipFill>
        <p:spPr bwMode="auto">
          <a:xfrm>
            <a:off x="5434060" y="1006781"/>
            <a:ext cx="3296936" cy="2390908"/>
          </a:xfrm>
          <a:prstGeom prst="rect">
            <a:avLst/>
          </a:prstGeom>
          <a:noFill/>
          <a:ln w="9525">
            <a:noFill/>
            <a:miter lim="800000"/>
            <a:headEnd/>
            <a:tailEnd/>
          </a:ln>
          <a:scene3d>
            <a:camera prst="orthographicFront"/>
            <a:lightRig rig="threePt" dir="t"/>
          </a:scene3d>
          <a:sp3d>
            <a:bevelT w="114300" prst="artDeco"/>
          </a:sp3d>
        </p:spPr>
      </p:pic>
      <p:grpSp>
        <p:nvGrpSpPr>
          <p:cNvPr id="4" name="组合 17"/>
          <p:cNvGrpSpPr/>
          <p:nvPr/>
        </p:nvGrpSpPr>
        <p:grpSpPr>
          <a:xfrm>
            <a:off x="392432" y="769746"/>
            <a:ext cx="4425400" cy="420971"/>
            <a:chOff x="670560" y="892917"/>
            <a:chExt cx="4425400" cy="420971"/>
          </a:xfrm>
        </p:grpSpPr>
        <p:sp>
          <p:nvSpPr>
            <p:cNvPr id="5" name="矩形 4"/>
            <p:cNvSpPr/>
            <p:nvPr/>
          </p:nvSpPr>
          <p:spPr>
            <a:xfrm>
              <a:off x="1035233" y="913778"/>
              <a:ext cx="4060727"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a:t>
              </a:r>
              <a:r>
                <a:rPr lang="en-US" altLang="zh-CN" sz="2000" b="1" dirty="0">
                  <a:solidFill>
                    <a:srgbClr val="002060"/>
                  </a:solidFill>
                  <a:latin typeface="微软雅黑" panose="020B0503020204020204" pitchFamily="34" charset="-122"/>
                  <a:ea typeface="微软雅黑" panose="020B0503020204020204" pitchFamily="34" charset="-122"/>
                </a:rPr>
                <a:t>2</a:t>
              </a:r>
              <a:r>
                <a:rPr lang="zh-CN" altLang="en-US" sz="2000" b="1" dirty="0">
                  <a:solidFill>
                    <a:srgbClr val="002060"/>
                  </a:solidFill>
                  <a:latin typeface="微软雅黑" panose="020B0503020204020204" pitchFamily="34" charset="-122"/>
                  <a:ea typeface="微软雅黑" panose="020B0503020204020204" pitchFamily="34" charset="-122"/>
                </a:rPr>
                <a:t>线</a:t>
              </a:r>
              <a:r>
                <a:rPr lang="en-US" altLang="zh-CN" sz="2000" b="1" dirty="0">
                  <a:solidFill>
                    <a:srgbClr val="002060"/>
                  </a:solidFill>
                  <a:latin typeface="微软雅黑" panose="020B0503020204020204" pitchFamily="34" charset="-122"/>
                  <a:ea typeface="微软雅黑" panose="020B0503020204020204" pitchFamily="34" charset="-122"/>
                </a:rPr>
                <a:t>—4</a:t>
              </a:r>
              <a:r>
                <a:rPr lang="zh-CN" altLang="en-US" sz="2000" b="1" dirty="0">
                  <a:solidFill>
                    <a:srgbClr val="002060"/>
                  </a:solidFill>
                  <a:latin typeface="微软雅黑" panose="020B0503020204020204" pitchFamily="34" charset="-122"/>
                  <a:ea typeface="微软雅黑" panose="020B0503020204020204" pitchFamily="34" charset="-122"/>
                </a:rPr>
                <a:t>线译码器（</a:t>
              </a:r>
              <a:r>
                <a:rPr lang="en-US" altLang="zh-CN" sz="2000" b="1" dirty="0">
                  <a:solidFill>
                    <a:srgbClr val="FF00FF"/>
                  </a:solidFill>
                  <a:latin typeface="微软雅黑" panose="020B0503020204020204" pitchFamily="34" charset="-122"/>
                  <a:ea typeface="微软雅黑" panose="020B0503020204020204" pitchFamily="34" charset="-122"/>
                </a:rPr>
                <a:t>74X139</a:t>
              </a:r>
              <a:r>
                <a:rPr lang="zh-CN" altLang="en-US" sz="2000" b="1" dirty="0">
                  <a:solidFill>
                    <a:srgbClr val="002060"/>
                  </a:solidFill>
                  <a:latin typeface="微软雅黑" panose="020B0503020204020204" pitchFamily="34" charset="-122"/>
                  <a:ea typeface="微软雅黑" panose="020B0503020204020204" pitchFamily="34" charset="-122"/>
                </a:rPr>
                <a: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6"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pic>
        <p:nvPicPr>
          <p:cNvPr id="1027" name="Picture 3"/>
          <p:cNvPicPr>
            <a:picLocks noChangeAspect="1" noChangeArrowheads="1"/>
          </p:cNvPicPr>
          <p:nvPr/>
        </p:nvPicPr>
        <p:blipFill>
          <a:blip r:embed="rId4" cstate="print"/>
          <a:srcRect/>
          <a:stretch>
            <a:fillRect/>
          </a:stretch>
        </p:blipFill>
        <p:spPr bwMode="auto">
          <a:xfrm>
            <a:off x="498727" y="1493658"/>
            <a:ext cx="1892780" cy="1936798"/>
          </a:xfrm>
          <a:prstGeom prst="rect">
            <a:avLst/>
          </a:prstGeom>
          <a:noFill/>
          <a:ln w="9525">
            <a:noFill/>
            <a:miter lim="800000"/>
            <a:headEnd/>
            <a:tailEnd/>
          </a:ln>
        </p:spPr>
      </p:pic>
      <p:sp>
        <p:nvSpPr>
          <p:cNvPr id="26" name="圆角矩形 25"/>
          <p:cNvSpPr/>
          <p:nvPr/>
        </p:nvSpPr>
        <p:spPr>
          <a:xfrm>
            <a:off x="648200" y="1529540"/>
            <a:ext cx="655130" cy="1590178"/>
          </a:xfrm>
          <a:prstGeom prst="roundRect">
            <a:avLst>
              <a:gd name="adj" fmla="val 10748"/>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26"/>
          <p:cNvSpPr/>
          <p:nvPr/>
        </p:nvSpPr>
        <p:spPr>
          <a:xfrm>
            <a:off x="1661212" y="1789516"/>
            <a:ext cx="655130" cy="1561905"/>
          </a:xfrm>
          <a:prstGeom prst="roundRect">
            <a:avLst>
              <a:gd name="adj" fmla="val 10748"/>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7" name="组合 76"/>
          <p:cNvGrpSpPr/>
          <p:nvPr/>
        </p:nvGrpSpPr>
        <p:grpSpPr>
          <a:xfrm>
            <a:off x="2896342" y="1261961"/>
            <a:ext cx="2027351" cy="847532"/>
            <a:chOff x="2896342" y="1261961"/>
            <a:chExt cx="2027351" cy="847532"/>
          </a:xfrm>
        </p:grpSpPr>
        <p:sp>
          <p:nvSpPr>
            <p:cNvPr id="30" name="圆角矩形 29"/>
            <p:cNvSpPr/>
            <p:nvPr/>
          </p:nvSpPr>
          <p:spPr>
            <a:xfrm>
              <a:off x="3057639" y="1261961"/>
              <a:ext cx="1866054" cy="364105"/>
            </a:xfrm>
            <a:prstGeom prst="roundRect">
              <a:avLst>
                <a:gd name="adj" fmla="val 13047"/>
              </a:avLst>
            </a:prstGeom>
            <a:solidFill>
              <a:srgbClr val="CC00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rgbClr val="FFFF00"/>
                  </a:solidFill>
                  <a:latin typeface="微软雅黑" panose="020B0503020204020204" pitchFamily="34" charset="-122"/>
                  <a:ea typeface="微软雅黑" panose="020B0503020204020204" pitchFamily="34" charset="-122"/>
                </a:rPr>
                <a:t>低电平为有效电平</a:t>
              </a:r>
              <a:endParaRPr lang="zh-CN" altLang="en-US" sz="1600" dirty="0">
                <a:solidFill>
                  <a:srgbClr val="FFFF00"/>
                </a:solidFill>
                <a:latin typeface="微软雅黑" panose="020B0503020204020204" pitchFamily="34" charset="-122"/>
                <a:ea typeface="微软雅黑" panose="020B0503020204020204" pitchFamily="34" charset="-122"/>
              </a:endParaRPr>
            </a:p>
          </p:txBody>
        </p:sp>
        <p:grpSp>
          <p:nvGrpSpPr>
            <p:cNvPr id="72" name="组合 71"/>
            <p:cNvGrpSpPr/>
            <p:nvPr/>
          </p:nvGrpSpPr>
          <p:grpSpPr>
            <a:xfrm>
              <a:off x="2896342" y="1613652"/>
              <a:ext cx="1861848" cy="495841"/>
              <a:chOff x="2896342" y="1613652"/>
              <a:chExt cx="1861848" cy="495841"/>
            </a:xfrm>
          </p:grpSpPr>
          <p:cxnSp>
            <p:nvCxnSpPr>
              <p:cNvPr id="33" name="直接连接符 32"/>
              <p:cNvCxnSpPr/>
              <p:nvPr/>
            </p:nvCxnSpPr>
            <p:spPr>
              <a:xfrm flipV="1">
                <a:off x="2896342" y="1613652"/>
                <a:ext cx="417841" cy="440962"/>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V="1">
                <a:off x="3282788" y="1642615"/>
                <a:ext cx="18982" cy="466878"/>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V="1">
                <a:off x="4360985" y="1634340"/>
                <a:ext cx="119989" cy="413756"/>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flipV="1">
                <a:off x="4489250" y="1646753"/>
                <a:ext cx="268940" cy="438581"/>
              </a:xfrm>
              <a:prstGeom prst="line">
                <a:avLst/>
              </a:prstGeom>
              <a:ln w="19050"/>
            </p:spPr>
            <p:style>
              <a:lnRef idx="1">
                <a:schemeClr val="accent1"/>
              </a:lnRef>
              <a:fillRef idx="0">
                <a:schemeClr val="accent1"/>
              </a:fillRef>
              <a:effectRef idx="0">
                <a:schemeClr val="accent1"/>
              </a:effectRef>
              <a:fontRef idx="minor">
                <a:schemeClr val="tx1"/>
              </a:fontRef>
            </p:style>
          </p:cxnSp>
        </p:grpSp>
      </p:grpSp>
      <p:grpSp>
        <p:nvGrpSpPr>
          <p:cNvPr id="75" name="组合 74"/>
          <p:cNvGrpSpPr/>
          <p:nvPr/>
        </p:nvGrpSpPr>
        <p:grpSpPr>
          <a:xfrm>
            <a:off x="3187700" y="2060532"/>
            <a:ext cx="1272569" cy="1179205"/>
            <a:chOff x="3187700" y="2060532"/>
            <a:chExt cx="1272569" cy="1179205"/>
          </a:xfrm>
        </p:grpSpPr>
        <p:sp>
          <p:nvSpPr>
            <p:cNvPr id="19" name="圆角矩形 18"/>
            <p:cNvSpPr/>
            <p:nvPr/>
          </p:nvSpPr>
          <p:spPr>
            <a:xfrm>
              <a:off x="4249255" y="2060532"/>
              <a:ext cx="211014" cy="1179205"/>
            </a:xfrm>
            <a:prstGeom prst="roundRect">
              <a:avLst>
                <a:gd name="adj" fmla="val 2843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圆角矩形 70"/>
            <p:cNvSpPr/>
            <p:nvPr/>
          </p:nvSpPr>
          <p:spPr>
            <a:xfrm>
              <a:off x="3187700" y="2117683"/>
              <a:ext cx="196850" cy="263567"/>
            </a:xfrm>
            <a:prstGeom prst="roundRect">
              <a:avLst>
                <a:gd name="adj" fmla="val 2843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6" name="组合 75"/>
          <p:cNvGrpSpPr/>
          <p:nvPr/>
        </p:nvGrpSpPr>
        <p:grpSpPr>
          <a:xfrm>
            <a:off x="2622550" y="2022433"/>
            <a:ext cx="2381376" cy="1240204"/>
            <a:chOff x="2622550" y="2022433"/>
            <a:chExt cx="2381376" cy="1240204"/>
          </a:xfrm>
        </p:grpSpPr>
        <p:sp>
          <p:nvSpPr>
            <p:cNvPr id="73" name="圆角矩形 72"/>
            <p:cNvSpPr/>
            <p:nvPr/>
          </p:nvSpPr>
          <p:spPr>
            <a:xfrm>
              <a:off x="4726021" y="2028954"/>
              <a:ext cx="277905" cy="1233683"/>
            </a:xfrm>
            <a:prstGeom prst="roundRect">
              <a:avLst>
                <a:gd name="adj" fmla="val 2843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4" name="圆角矩形 73"/>
            <p:cNvSpPr/>
            <p:nvPr/>
          </p:nvSpPr>
          <p:spPr>
            <a:xfrm>
              <a:off x="2622550" y="2022433"/>
              <a:ext cx="342900" cy="358817"/>
            </a:xfrm>
            <a:prstGeom prst="roundRect">
              <a:avLst>
                <a:gd name="adj" fmla="val 2843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451146" y="3644587"/>
            <a:ext cx="4714443" cy="1130460"/>
            <a:chOff x="451146" y="3644587"/>
            <a:chExt cx="4714443" cy="1130460"/>
          </a:xfrm>
        </p:grpSpPr>
        <p:sp>
          <p:nvSpPr>
            <p:cNvPr id="66" name="圆角矩形 65"/>
            <p:cNvSpPr/>
            <p:nvPr/>
          </p:nvSpPr>
          <p:spPr>
            <a:xfrm>
              <a:off x="451146" y="3644587"/>
              <a:ext cx="2666143" cy="1105120"/>
            </a:xfrm>
            <a:prstGeom prst="roundRect">
              <a:avLst>
                <a:gd name="adj" fmla="val 8242"/>
              </a:avLst>
            </a:prstGeom>
            <a:solidFill>
              <a:srgbClr val="FFFF00"/>
            </a:solidFill>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25017" name="Object 89"/>
            <p:cNvGraphicFramePr/>
            <p:nvPr/>
          </p:nvGraphicFramePr>
          <p:xfrm>
            <a:off x="580048" y="3710649"/>
            <a:ext cx="1123613" cy="416061"/>
          </p:xfrm>
          <a:graphic>
            <a:graphicData uri="http://schemas.openxmlformats.org/presentationml/2006/ole">
              <mc:AlternateContent xmlns:mc="http://schemas.openxmlformats.org/markup-compatibility/2006">
                <mc:Choice xmlns:v="urn:schemas-microsoft-com:vml" Requires="v">
                  <p:oleObj spid="_x0000_s34878" name="公式" r:id="rId5" imgW="850265" imgH="292100" progId="Equation.3">
                    <p:embed/>
                  </p:oleObj>
                </mc:Choice>
                <mc:Fallback>
                  <p:oleObj name="公式" r:id="rId5" imgW="850265" imgH="292100" progId="Equation.3">
                    <p:embed/>
                    <p:pic>
                      <p:nvPicPr>
                        <p:cNvPr id="0" name="Object 89"/>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0048" y="3710649"/>
                          <a:ext cx="1123613" cy="416061"/>
                        </a:xfrm>
                        <a:prstGeom prst="rect">
                          <a:avLst/>
                        </a:prstGeom>
                        <a:noFill/>
                        <a:extLst>
                          <a:ext uri="{909E8E84-426E-40DD-AFC4-6F175D3DCCD1}">
                            <a14:hiddenFill xmlns:a14="http://schemas.microsoft.com/office/drawing/2010/main">
                              <a:solidFill>
                                <a:srgbClr val="FF0000"/>
                              </a:solidFill>
                            </a14:hiddenFill>
                          </a:ext>
                        </a:extLst>
                      </p:spPr>
                    </p:pic>
                  </p:oleObj>
                </mc:Fallback>
              </mc:AlternateContent>
            </a:graphicData>
          </a:graphic>
        </p:graphicFrame>
        <p:graphicFrame>
          <p:nvGraphicFramePr>
            <p:cNvPr id="125022" name="Object 94"/>
            <p:cNvGraphicFramePr/>
            <p:nvPr/>
          </p:nvGraphicFramePr>
          <p:xfrm>
            <a:off x="1861371" y="3710649"/>
            <a:ext cx="1097994" cy="433929"/>
          </p:xfrm>
          <a:graphic>
            <a:graphicData uri="http://schemas.openxmlformats.org/presentationml/2006/ole">
              <mc:AlternateContent xmlns:mc="http://schemas.openxmlformats.org/markup-compatibility/2006">
                <mc:Choice xmlns:v="urn:schemas-microsoft-com:vml" Requires="v">
                  <p:oleObj spid="_x0000_s34879" name="Equation" r:id="rId7" imgW="812165" imgH="304800" progId="">
                    <p:embed/>
                  </p:oleObj>
                </mc:Choice>
                <mc:Fallback>
                  <p:oleObj name="Equation" r:id="rId7" imgW="812165" imgH="304800" progId="">
                    <p:embed/>
                    <p:pic>
                      <p:nvPicPr>
                        <p:cNvPr id="0" name="Object 9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61371" y="3710649"/>
                          <a:ext cx="1097994" cy="433929"/>
                        </a:xfrm>
                        <a:prstGeom prst="rect">
                          <a:avLst/>
                        </a:prstGeom>
                        <a:noFill/>
                        <a:extLst>
                          <a:ext uri="{909E8E84-426E-40DD-AFC4-6F175D3DCCD1}">
                            <a14:hiddenFill xmlns:a14="http://schemas.microsoft.com/office/drawing/2010/main">
                              <a:solidFill>
                                <a:srgbClr val="FF0000"/>
                              </a:solidFill>
                            </a14:hiddenFill>
                          </a:ext>
                        </a:extLst>
                      </p:spPr>
                    </p:pic>
                  </p:oleObj>
                </mc:Fallback>
              </mc:AlternateContent>
            </a:graphicData>
          </a:graphic>
        </p:graphicFrame>
        <p:graphicFrame>
          <p:nvGraphicFramePr>
            <p:cNvPr id="125024" name="Object 96"/>
            <p:cNvGraphicFramePr/>
            <p:nvPr/>
          </p:nvGraphicFramePr>
          <p:xfrm>
            <a:off x="580048" y="4213893"/>
            <a:ext cx="1106534" cy="433929"/>
          </p:xfrm>
          <a:graphic>
            <a:graphicData uri="http://schemas.openxmlformats.org/presentationml/2006/ole">
              <mc:AlternateContent xmlns:mc="http://schemas.openxmlformats.org/markup-compatibility/2006">
                <mc:Choice xmlns:v="urn:schemas-microsoft-com:vml" Requires="v">
                  <p:oleObj spid="_x0000_s34880" name="Equation" r:id="rId9" imgW="812165" imgH="304800" progId="">
                    <p:embed/>
                  </p:oleObj>
                </mc:Choice>
                <mc:Fallback>
                  <p:oleObj name="Equation" r:id="rId9" imgW="812165" imgH="304800" progId="">
                    <p:embed/>
                    <p:pic>
                      <p:nvPicPr>
                        <p:cNvPr id="0" name="Object 96"/>
                        <p:cNvPicPr>
                          <a:picLocks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80048" y="4213893"/>
                          <a:ext cx="1106534" cy="433929"/>
                        </a:xfrm>
                        <a:prstGeom prst="rect">
                          <a:avLst/>
                        </a:prstGeom>
                        <a:noFill/>
                        <a:extLst>
                          <a:ext uri="{909E8E84-426E-40DD-AFC4-6F175D3DCCD1}">
                            <a14:hiddenFill xmlns:a14="http://schemas.microsoft.com/office/drawing/2010/main">
                              <a:solidFill>
                                <a:srgbClr val="FF0000"/>
                              </a:solidFill>
                            </a14:hiddenFill>
                          </a:ext>
                        </a:extLst>
                      </p:spPr>
                    </p:pic>
                  </p:oleObj>
                </mc:Fallback>
              </mc:AlternateContent>
            </a:graphicData>
          </a:graphic>
        </p:graphicFrame>
        <p:graphicFrame>
          <p:nvGraphicFramePr>
            <p:cNvPr id="125025" name="Object 97"/>
            <p:cNvGraphicFramePr/>
            <p:nvPr/>
          </p:nvGraphicFramePr>
          <p:xfrm>
            <a:off x="1861371" y="4213893"/>
            <a:ext cx="1089454" cy="433929"/>
          </p:xfrm>
          <a:graphic>
            <a:graphicData uri="http://schemas.openxmlformats.org/presentationml/2006/ole">
              <mc:AlternateContent xmlns:mc="http://schemas.openxmlformats.org/markup-compatibility/2006">
                <mc:Choice xmlns:v="urn:schemas-microsoft-com:vml" Requires="v">
                  <p:oleObj spid="_x0000_s34881" name="Equation" r:id="rId11" imgW="799465" imgH="304800" progId="">
                    <p:embed/>
                  </p:oleObj>
                </mc:Choice>
                <mc:Fallback>
                  <p:oleObj name="Equation" r:id="rId11" imgW="799465" imgH="304800" progId="">
                    <p:embed/>
                    <p:pic>
                      <p:nvPicPr>
                        <p:cNvPr id="0" name="Object 97"/>
                        <p:cNvPicPr>
                          <a:picLocks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61371" y="4213893"/>
                          <a:ext cx="1089454" cy="433929"/>
                        </a:xfrm>
                        <a:prstGeom prst="rect">
                          <a:avLst/>
                        </a:prstGeom>
                        <a:noFill/>
                        <a:extLst>
                          <a:ext uri="{909E8E84-426E-40DD-AFC4-6F175D3DCCD1}">
                            <a14:hiddenFill xmlns:a14="http://schemas.microsoft.com/office/drawing/2010/main">
                              <a:solidFill>
                                <a:srgbClr val="FF0000"/>
                              </a:solidFill>
                            </a14:hiddenFill>
                          </a:ext>
                        </a:extLst>
                      </p:spPr>
                    </p:pic>
                  </p:oleObj>
                </mc:Fallback>
              </mc:AlternateContent>
            </a:graphicData>
          </a:graphic>
        </p:graphicFrame>
        <p:grpSp>
          <p:nvGrpSpPr>
            <p:cNvPr id="89" name="组合 88"/>
            <p:cNvGrpSpPr/>
            <p:nvPr/>
          </p:nvGrpSpPr>
          <p:grpSpPr>
            <a:xfrm>
              <a:off x="3152300" y="3775588"/>
              <a:ext cx="695108" cy="841995"/>
              <a:chOff x="3152300" y="3775588"/>
              <a:chExt cx="695108" cy="841995"/>
            </a:xfrm>
          </p:grpSpPr>
          <p:sp>
            <p:nvSpPr>
              <p:cNvPr id="67" name="右箭头 66"/>
              <p:cNvSpPr/>
              <p:nvPr/>
            </p:nvSpPr>
            <p:spPr>
              <a:xfrm>
                <a:off x="3152300" y="3775588"/>
                <a:ext cx="695108" cy="841995"/>
              </a:xfrm>
              <a:prstGeom prst="rightArrow">
                <a:avLst>
                  <a:gd name="adj1" fmla="val 62782"/>
                  <a:gd name="adj2" fmla="val 51598"/>
                </a:avLst>
              </a:prstGeom>
              <a:solidFill>
                <a:srgbClr val="66FF66"/>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033" name="Object 9"/>
              <p:cNvGraphicFramePr>
                <a:graphicFrameLocks noChangeAspect="1"/>
              </p:cNvGraphicFramePr>
              <p:nvPr/>
            </p:nvGraphicFramePr>
            <p:xfrm>
              <a:off x="3244042" y="4036951"/>
              <a:ext cx="419352" cy="288888"/>
            </p:xfrm>
            <a:graphic>
              <a:graphicData uri="http://schemas.openxmlformats.org/presentationml/2006/ole">
                <mc:AlternateContent xmlns:mc="http://schemas.openxmlformats.org/markup-compatibility/2006">
                  <mc:Choice xmlns:v="urn:schemas-microsoft-com:vml" Requires="v">
                    <p:oleObj spid="_x0000_s34882" name="Equation" r:id="rId13" imgW="317500" imgH="203200" progId="">
                      <p:embed/>
                    </p:oleObj>
                  </mc:Choice>
                  <mc:Fallback>
                    <p:oleObj name="Equation" r:id="rId13" imgW="317500" imgH="203200" progId="">
                      <p:embed/>
                      <p:pic>
                        <p:nvPicPr>
                          <p:cNvPr id="0" name="Object 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44042" y="4036951"/>
                            <a:ext cx="419352" cy="288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91" name="组合 90"/>
            <p:cNvGrpSpPr/>
            <p:nvPr/>
          </p:nvGrpSpPr>
          <p:grpSpPr>
            <a:xfrm>
              <a:off x="3889439" y="3669927"/>
              <a:ext cx="1276150" cy="1105120"/>
              <a:chOff x="7010600" y="3670081"/>
              <a:chExt cx="1276150" cy="1105120"/>
            </a:xfrm>
          </p:grpSpPr>
          <p:sp>
            <p:nvSpPr>
              <p:cNvPr id="64" name="圆角矩形 63"/>
              <p:cNvSpPr/>
              <p:nvPr/>
            </p:nvSpPr>
            <p:spPr>
              <a:xfrm>
                <a:off x="7010600" y="3670081"/>
                <a:ext cx="1276150" cy="1105120"/>
              </a:xfrm>
              <a:prstGeom prst="roundRect">
                <a:avLst>
                  <a:gd name="adj" fmla="val 8242"/>
                </a:avLst>
              </a:prstGeom>
              <a:solidFill>
                <a:srgbClr val="FFFF00"/>
              </a:solidFill>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 name="Object 14"/>
              <p:cNvGraphicFramePr/>
              <p:nvPr/>
            </p:nvGraphicFramePr>
            <p:xfrm>
              <a:off x="7186613" y="3914775"/>
              <a:ext cx="954087" cy="587375"/>
            </p:xfrm>
            <a:graphic>
              <a:graphicData uri="http://schemas.openxmlformats.org/presentationml/2006/ole">
                <mc:AlternateContent xmlns:mc="http://schemas.openxmlformats.org/markup-compatibility/2006">
                  <mc:Choice xmlns:v="urn:schemas-microsoft-com:vml" Requires="v">
                    <p:oleObj spid="_x0000_s34883" name="Equation" r:id="rId15" imgW="405765" imgH="254000" progId="">
                      <p:embed/>
                    </p:oleObj>
                  </mc:Choice>
                  <mc:Fallback>
                    <p:oleObj name="Equation" r:id="rId15" imgW="405765" imgH="254000" progId="">
                      <p:embed/>
                      <p:pic>
                        <p:nvPicPr>
                          <p:cNvPr id="0" name="Object 14"/>
                          <p:cNvPicPr>
                            <a:picLocks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186613" y="3914775"/>
                            <a:ext cx="954087" cy="587375"/>
                          </a:xfrm>
                          <a:prstGeom prst="rect">
                            <a:avLst/>
                          </a:prstGeom>
                          <a:noFill/>
                          <a:extLst>
                            <a:ext uri="{909E8E84-426E-40DD-AFC4-6F175D3DCCD1}">
                              <a14:hiddenFill xmlns:a14="http://schemas.microsoft.com/office/drawing/2010/main">
                                <a:solidFill>
                                  <a:srgbClr val="FF0000"/>
                                </a:solidFill>
                              </a14:hiddenFill>
                            </a:ext>
                          </a:extLst>
                        </p:spPr>
                      </p:pic>
                    </p:oleObj>
                  </mc:Fallback>
                </mc:AlternateContent>
              </a:graphicData>
            </a:graphic>
          </p:graphicFrame>
        </p:grpSp>
        <p:grpSp>
          <p:nvGrpSpPr>
            <p:cNvPr id="88" name="组合 87"/>
            <p:cNvGrpSpPr/>
            <p:nvPr/>
          </p:nvGrpSpPr>
          <p:grpSpPr>
            <a:xfrm>
              <a:off x="1231900" y="3784600"/>
              <a:ext cx="1720850" cy="863600"/>
              <a:chOff x="1231900" y="3784600"/>
              <a:chExt cx="1720850" cy="863600"/>
            </a:xfrm>
          </p:grpSpPr>
          <p:sp>
            <p:nvSpPr>
              <p:cNvPr id="84" name="圆角矩形 83"/>
              <p:cNvSpPr/>
              <p:nvPr/>
            </p:nvSpPr>
            <p:spPr>
              <a:xfrm>
                <a:off x="1231900" y="3784600"/>
                <a:ext cx="438150" cy="342900"/>
              </a:xfrm>
              <a:prstGeom prst="roundRect">
                <a:avLst>
                  <a:gd name="adj" fmla="val 19173"/>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圆角矩形 84"/>
              <p:cNvSpPr/>
              <p:nvPr/>
            </p:nvSpPr>
            <p:spPr>
              <a:xfrm>
                <a:off x="2495550" y="3784600"/>
                <a:ext cx="438150" cy="342900"/>
              </a:xfrm>
              <a:prstGeom prst="roundRect">
                <a:avLst>
                  <a:gd name="adj" fmla="val 19173"/>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圆角矩形 85"/>
              <p:cNvSpPr/>
              <p:nvPr/>
            </p:nvSpPr>
            <p:spPr>
              <a:xfrm>
                <a:off x="1250950" y="4305300"/>
                <a:ext cx="438150" cy="342900"/>
              </a:xfrm>
              <a:prstGeom prst="roundRect">
                <a:avLst>
                  <a:gd name="adj" fmla="val 19173"/>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圆角矩形 86"/>
              <p:cNvSpPr/>
              <p:nvPr/>
            </p:nvSpPr>
            <p:spPr>
              <a:xfrm>
                <a:off x="2514600" y="4305300"/>
                <a:ext cx="438150" cy="342900"/>
              </a:xfrm>
              <a:prstGeom prst="roundRect">
                <a:avLst>
                  <a:gd name="adj" fmla="val 19173"/>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68" name="下箭头 67"/>
          <p:cNvSpPr/>
          <p:nvPr/>
        </p:nvSpPr>
        <p:spPr>
          <a:xfrm>
            <a:off x="4129943" y="3667125"/>
            <a:ext cx="209550" cy="2349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下箭头 68"/>
          <p:cNvSpPr/>
          <p:nvPr/>
        </p:nvSpPr>
        <p:spPr>
          <a:xfrm>
            <a:off x="4714143" y="3768725"/>
            <a:ext cx="209550" cy="23495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up)">
                                      <p:cBhvr>
                                        <p:cTn id="7" dur="1000"/>
                                        <p:tgtEl>
                                          <p:spTgt spid="26"/>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wipe(up)">
                                      <p:cBhvr>
                                        <p:cTn id="11" dur="1000"/>
                                        <p:tgtEl>
                                          <p:spTgt spid="27"/>
                                        </p:tgtEl>
                                      </p:cBhvr>
                                    </p:animEffect>
                                  </p:childTnLst>
                                </p:cTn>
                              </p:par>
                            </p:childTnLst>
                          </p:cTn>
                        </p:par>
                        <p:par>
                          <p:cTn id="12" fill="hold">
                            <p:stCondLst>
                              <p:cond delay="2000"/>
                            </p:stCondLst>
                            <p:childTnLst>
                              <p:par>
                                <p:cTn id="13" presetID="12" presetClass="entr" presetSubtype="8" fill="hold" nodeType="afterEffect">
                                  <p:stCondLst>
                                    <p:cond delay="0"/>
                                  </p:stCondLst>
                                  <p:childTnLst>
                                    <p:set>
                                      <p:cBhvr>
                                        <p:cTn id="14" dur="1" fill="hold">
                                          <p:stCondLst>
                                            <p:cond delay="0"/>
                                          </p:stCondLst>
                                        </p:cTn>
                                        <p:tgtEl>
                                          <p:spTgt spid="1028"/>
                                        </p:tgtEl>
                                        <p:attrNameLst>
                                          <p:attrName>style.visibility</p:attrName>
                                        </p:attrNameLst>
                                      </p:cBhvr>
                                      <p:to>
                                        <p:strVal val="visible"/>
                                      </p:to>
                                    </p:set>
                                    <p:animEffect transition="in" filter="slide(fromLeft)">
                                      <p:cBhvr>
                                        <p:cTn id="15" dur="1000"/>
                                        <p:tgtEl>
                                          <p:spTgt spid="1028"/>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999"/>
                                          </p:stCondLst>
                                        </p:cTn>
                                        <p:tgtEl>
                                          <p:spTgt spid="75"/>
                                        </p:tgtEl>
                                        <p:attrNameLst>
                                          <p:attrName>style.visibility</p:attrName>
                                        </p:attrNameLst>
                                      </p:cBhvr>
                                      <p:to>
                                        <p:strVal val="visible"/>
                                      </p:to>
                                    </p:set>
                                  </p:childTnLst>
                                </p:cTn>
                              </p:par>
                            </p:childTnLst>
                          </p:cTn>
                        </p:par>
                        <p:par>
                          <p:cTn id="20" fill="hold">
                            <p:stCondLst>
                              <p:cond delay="1000"/>
                            </p:stCondLst>
                            <p:childTnLst>
                              <p:par>
                                <p:cTn id="21" presetID="1" presetClass="entr" presetSubtype="0" fill="hold" nodeType="afterEffect">
                                  <p:stCondLst>
                                    <p:cond delay="0"/>
                                  </p:stCondLst>
                                  <p:childTnLst>
                                    <p:set>
                                      <p:cBhvr>
                                        <p:cTn id="22" dur="1" fill="hold">
                                          <p:stCondLst>
                                            <p:cond delay="999"/>
                                          </p:stCondLst>
                                        </p:cTn>
                                        <p:tgtEl>
                                          <p:spTgt spid="76"/>
                                        </p:tgtEl>
                                        <p:attrNameLst>
                                          <p:attrName>style.visibility</p:attrName>
                                        </p:attrNameLst>
                                      </p:cBhvr>
                                      <p:to>
                                        <p:strVal val="visible"/>
                                      </p:to>
                                    </p:set>
                                  </p:childTnLst>
                                </p:cTn>
                              </p:par>
                            </p:childTnLst>
                          </p:cTn>
                        </p:par>
                        <p:par>
                          <p:cTn id="23" fill="hold">
                            <p:stCondLst>
                              <p:cond delay="2000"/>
                            </p:stCondLst>
                            <p:childTnLst>
                              <p:par>
                                <p:cTn id="24" presetID="22" presetClass="entr" presetSubtype="4" fill="hold" nodeType="afterEffect">
                                  <p:stCondLst>
                                    <p:cond delay="0"/>
                                  </p:stCondLst>
                                  <p:childTnLst>
                                    <p:set>
                                      <p:cBhvr>
                                        <p:cTn id="25" dur="1" fill="hold">
                                          <p:stCondLst>
                                            <p:cond delay="0"/>
                                          </p:stCondLst>
                                        </p:cTn>
                                        <p:tgtEl>
                                          <p:spTgt spid="77"/>
                                        </p:tgtEl>
                                        <p:attrNameLst>
                                          <p:attrName>style.visibility</p:attrName>
                                        </p:attrNameLst>
                                      </p:cBhvr>
                                      <p:to>
                                        <p:strVal val="visible"/>
                                      </p:to>
                                    </p:set>
                                    <p:animEffect transition="in" filter="wipe(down)">
                                      <p:cBhvr>
                                        <p:cTn id="26" dur="1000"/>
                                        <p:tgtEl>
                                          <p:spTgt spid="77"/>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1026"/>
                                        </p:tgtEl>
                                        <p:attrNameLst>
                                          <p:attrName>style.visibility</p:attrName>
                                        </p:attrNameLst>
                                      </p:cBhvr>
                                      <p:to>
                                        <p:strVal val="visible"/>
                                      </p:to>
                                    </p:set>
                                    <p:animEffect transition="in" filter="wipe(left)">
                                      <p:cBhvr>
                                        <p:cTn id="31" dur="1000"/>
                                        <p:tgtEl>
                                          <p:spTgt spid="1026"/>
                                        </p:tgtEl>
                                      </p:cBhvr>
                                    </p:animEffect>
                                  </p:childTnLst>
                                </p:cTn>
                              </p:par>
                            </p:childTnLst>
                          </p:cTn>
                        </p:par>
                        <p:par>
                          <p:cTn id="32" fill="hold">
                            <p:stCondLst>
                              <p:cond delay="1000"/>
                            </p:stCondLst>
                            <p:childTnLst>
                              <p:par>
                                <p:cTn id="33" presetID="22" presetClass="entr" presetSubtype="8" fill="hold" nodeType="after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wipe(left)">
                                      <p:cBhvr>
                                        <p:cTn id="35" dur="1000"/>
                                        <p:tgtEl>
                                          <p:spTgt spid="3"/>
                                        </p:tgtEl>
                                      </p:cBhvr>
                                    </p:animEffect>
                                  </p:childTnLst>
                                </p:cTn>
                              </p:par>
                            </p:childTnLst>
                          </p:cTn>
                        </p:par>
                      </p:childTnLst>
                    </p:cTn>
                  </p:par>
                  <p:par>
                    <p:cTn id="36" fill="hold">
                      <p:stCondLst>
                        <p:cond delay="indefinite"/>
                      </p:stCondLst>
                      <p:childTnLst>
                        <p:par>
                          <p:cTn id="37" fill="hold">
                            <p:stCondLst>
                              <p:cond delay="0"/>
                            </p:stCondLst>
                            <p:childTnLst>
                              <p:par>
                                <p:cTn id="38" presetID="12" presetClass="entr" presetSubtype="1" fill="hold" grpId="0" nodeType="clickEffect">
                                  <p:stCondLst>
                                    <p:cond delay="0"/>
                                  </p:stCondLst>
                                  <p:childTnLst>
                                    <p:set>
                                      <p:cBhvr>
                                        <p:cTn id="39" dur="1" fill="hold">
                                          <p:stCondLst>
                                            <p:cond delay="0"/>
                                          </p:stCondLst>
                                        </p:cTn>
                                        <p:tgtEl>
                                          <p:spTgt spid="68"/>
                                        </p:tgtEl>
                                        <p:attrNameLst>
                                          <p:attrName>style.visibility</p:attrName>
                                        </p:attrNameLst>
                                      </p:cBhvr>
                                      <p:to>
                                        <p:strVal val="visible"/>
                                      </p:to>
                                    </p:set>
                                    <p:animEffect transition="in" filter="slide(fromTop)">
                                      <p:cBhvr>
                                        <p:cTn id="40" dur="1000"/>
                                        <p:tgtEl>
                                          <p:spTgt spid="68"/>
                                        </p:tgtEl>
                                      </p:cBhvr>
                                    </p:animEffect>
                                  </p:childTnLst>
                                </p:cTn>
                              </p:par>
                              <p:par>
                                <p:cTn id="41" presetID="12" presetClass="entr" presetSubtype="1" fill="hold" grpId="0" nodeType="withEffect">
                                  <p:stCondLst>
                                    <p:cond delay="0"/>
                                  </p:stCondLst>
                                  <p:childTnLst>
                                    <p:set>
                                      <p:cBhvr>
                                        <p:cTn id="42" dur="1" fill="hold">
                                          <p:stCondLst>
                                            <p:cond delay="0"/>
                                          </p:stCondLst>
                                        </p:cTn>
                                        <p:tgtEl>
                                          <p:spTgt spid="69"/>
                                        </p:tgtEl>
                                        <p:attrNameLst>
                                          <p:attrName>style.visibility</p:attrName>
                                        </p:attrNameLst>
                                      </p:cBhvr>
                                      <p:to>
                                        <p:strVal val="visible"/>
                                      </p:to>
                                    </p:set>
                                    <p:animEffect transition="in" filter="slide(fromTop)">
                                      <p:cBhvr>
                                        <p:cTn id="43" dur="10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68" grpId="0" animBg="1"/>
      <p:bldP spid="69"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8" name="组合 37"/>
          <p:cNvGrpSpPr/>
          <p:nvPr/>
        </p:nvGrpSpPr>
        <p:grpSpPr>
          <a:xfrm>
            <a:off x="955642" y="1413951"/>
            <a:ext cx="3939483" cy="3536181"/>
            <a:chOff x="955642" y="1413951"/>
            <a:chExt cx="3939483" cy="3536181"/>
          </a:xfrm>
        </p:grpSpPr>
        <p:graphicFrame>
          <p:nvGraphicFramePr>
            <p:cNvPr id="6" name="Object 6"/>
            <p:cNvGraphicFramePr>
              <a:graphicFrameLocks noChangeAspect="1"/>
            </p:cNvGraphicFramePr>
            <p:nvPr/>
          </p:nvGraphicFramePr>
          <p:xfrm>
            <a:off x="1323308" y="1413951"/>
            <a:ext cx="3303677" cy="3319521"/>
          </p:xfrm>
          <a:graphic>
            <a:graphicData uri="http://schemas.openxmlformats.org/presentationml/2006/ole">
              <mc:AlternateContent xmlns:mc="http://schemas.openxmlformats.org/markup-compatibility/2006">
                <mc:Choice xmlns:v="urn:schemas-microsoft-com:vml" Requires="v">
                  <p:oleObj spid="_x0000_s35872" name="Visio" r:id="rId1" imgW="2519680" imgH="2402840" progId="Visio.Drawing.11">
                    <p:embed/>
                  </p:oleObj>
                </mc:Choice>
                <mc:Fallback>
                  <p:oleObj name="Visio" r:id="rId1" imgW="2519680" imgH="2402840" progId="Visio.Drawing.11">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3308" y="1413951"/>
                          <a:ext cx="3303677" cy="331952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sp>
          <p:nvSpPr>
            <p:cNvPr id="7" name="圆角矩形 6"/>
            <p:cNvSpPr/>
            <p:nvPr/>
          </p:nvSpPr>
          <p:spPr>
            <a:xfrm>
              <a:off x="955642" y="1423161"/>
              <a:ext cx="3939483" cy="3526971"/>
            </a:xfrm>
            <a:prstGeom prst="roundRect">
              <a:avLst>
                <a:gd name="adj" fmla="val 329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7"/>
          <p:cNvGrpSpPr/>
          <p:nvPr/>
        </p:nvGrpSpPr>
        <p:grpSpPr>
          <a:xfrm>
            <a:off x="392432" y="769746"/>
            <a:ext cx="4425400" cy="420971"/>
            <a:chOff x="670560" y="892917"/>
            <a:chExt cx="4425400" cy="420971"/>
          </a:xfrm>
        </p:grpSpPr>
        <p:sp>
          <p:nvSpPr>
            <p:cNvPr id="3" name="矩形 2"/>
            <p:cNvSpPr/>
            <p:nvPr/>
          </p:nvSpPr>
          <p:spPr>
            <a:xfrm>
              <a:off x="1035233" y="913778"/>
              <a:ext cx="4060727"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a:t>
              </a:r>
              <a:r>
                <a:rPr lang="en-US" altLang="zh-CN" sz="2000" b="1" dirty="0">
                  <a:solidFill>
                    <a:srgbClr val="002060"/>
                  </a:solidFill>
                  <a:latin typeface="微软雅黑" panose="020B0503020204020204" pitchFamily="34" charset="-122"/>
                  <a:ea typeface="微软雅黑" panose="020B0503020204020204" pitchFamily="34" charset="-122"/>
                </a:rPr>
                <a:t>3</a:t>
              </a:r>
              <a:r>
                <a:rPr lang="zh-CN" altLang="en-US" sz="2000" b="1" dirty="0">
                  <a:solidFill>
                    <a:srgbClr val="002060"/>
                  </a:solidFill>
                  <a:latin typeface="微软雅黑" panose="020B0503020204020204" pitchFamily="34" charset="-122"/>
                  <a:ea typeface="微软雅黑" panose="020B0503020204020204" pitchFamily="34" charset="-122"/>
                </a:rPr>
                <a:t>线</a:t>
              </a:r>
              <a:r>
                <a:rPr lang="en-US" altLang="zh-CN" sz="2000" b="1" dirty="0">
                  <a:solidFill>
                    <a:srgbClr val="002060"/>
                  </a:solidFill>
                  <a:latin typeface="微软雅黑" panose="020B0503020204020204" pitchFamily="34" charset="-122"/>
                  <a:ea typeface="微软雅黑" panose="020B0503020204020204" pitchFamily="34" charset="-122"/>
                </a:rPr>
                <a:t>—8</a:t>
              </a:r>
              <a:r>
                <a:rPr lang="zh-CN" altLang="en-US" sz="2000" b="1" dirty="0">
                  <a:solidFill>
                    <a:srgbClr val="002060"/>
                  </a:solidFill>
                  <a:latin typeface="微软雅黑" panose="020B0503020204020204" pitchFamily="34" charset="-122"/>
                  <a:ea typeface="微软雅黑" panose="020B0503020204020204" pitchFamily="34" charset="-122"/>
                </a:rPr>
                <a:t>线译码器（</a:t>
              </a:r>
              <a:r>
                <a:rPr lang="en-US" altLang="zh-CN" sz="2000" b="1" dirty="0">
                  <a:solidFill>
                    <a:srgbClr val="FF00FF"/>
                  </a:solidFill>
                  <a:latin typeface="微软雅黑" panose="020B0503020204020204" pitchFamily="34" charset="-122"/>
                  <a:ea typeface="微软雅黑" panose="020B0503020204020204" pitchFamily="34" charset="-122"/>
                </a:rPr>
                <a:t>74X138</a:t>
              </a:r>
              <a:r>
                <a:rPr lang="zh-CN" altLang="en-US" sz="2000" b="1" dirty="0">
                  <a:solidFill>
                    <a:srgbClr val="002060"/>
                  </a:solidFill>
                  <a:latin typeface="微软雅黑" panose="020B0503020204020204" pitchFamily="34" charset="-122"/>
                  <a:ea typeface="微软雅黑" panose="020B0503020204020204" pitchFamily="34" charset="-122"/>
                </a:rPr>
                <a: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39" name="组合 38"/>
          <p:cNvGrpSpPr/>
          <p:nvPr/>
        </p:nvGrpSpPr>
        <p:grpSpPr>
          <a:xfrm>
            <a:off x="1017519" y="1827923"/>
            <a:ext cx="590683" cy="1128409"/>
            <a:chOff x="1017519" y="1827923"/>
            <a:chExt cx="590683" cy="1128409"/>
          </a:xfrm>
        </p:grpSpPr>
        <p:sp>
          <p:nvSpPr>
            <p:cNvPr id="13" name="圆角矩形 12"/>
            <p:cNvSpPr/>
            <p:nvPr/>
          </p:nvSpPr>
          <p:spPr>
            <a:xfrm>
              <a:off x="1017519" y="1870053"/>
              <a:ext cx="323134" cy="996902"/>
            </a:xfrm>
            <a:prstGeom prst="roundRect">
              <a:avLst>
                <a:gd name="adj" fmla="val 11404"/>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200" b="1" dirty="0">
                  <a:latin typeface="微软雅黑" panose="020B0503020204020204" pitchFamily="34" charset="-122"/>
                  <a:ea typeface="微软雅黑" panose="020B0503020204020204" pitchFamily="34" charset="-122"/>
                </a:rPr>
                <a:t>代码输入端</a:t>
              </a:r>
              <a:endParaRPr lang="zh-CN" altLang="en-US" sz="1200" dirty="0"/>
            </a:p>
          </p:txBody>
        </p:sp>
        <p:sp>
          <p:nvSpPr>
            <p:cNvPr id="20" name="圆角矩形 19"/>
            <p:cNvSpPr/>
            <p:nvPr/>
          </p:nvSpPr>
          <p:spPr>
            <a:xfrm>
              <a:off x="1397188" y="1827923"/>
              <a:ext cx="211014" cy="1128409"/>
            </a:xfrm>
            <a:prstGeom prst="roundRect">
              <a:avLst>
                <a:gd name="adj" fmla="val 28432"/>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1" name="组合 40"/>
          <p:cNvGrpSpPr/>
          <p:nvPr/>
        </p:nvGrpSpPr>
        <p:grpSpPr>
          <a:xfrm>
            <a:off x="1017519" y="3629223"/>
            <a:ext cx="589538" cy="1019553"/>
            <a:chOff x="1017519" y="3629223"/>
            <a:chExt cx="589538" cy="1019553"/>
          </a:xfrm>
        </p:grpSpPr>
        <p:sp>
          <p:nvSpPr>
            <p:cNvPr id="15" name="圆角矩形 14"/>
            <p:cNvSpPr/>
            <p:nvPr/>
          </p:nvSpPr>
          <p:spPr>
            <a:xfrm>
              <a:off x="1017519" y="3651874"/>
              <a:ext cx="323134" cy="996902"/>
            </a:xfrm>
            <a:prstGeom prst="roundRect">
              <a:avLst>
                <a:gd name="adj" fmla="val 11404"/>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使能控制端</a:t>
              </a:r>
              <a:endParaRPr lang="zh-CN" altLang="en-US" sz="1200" dirty="0">
                <a:latin typeface="微软雅黑" panose="020B0503020204020204" pitchFamily="34" charset="-122"/>
                <a:ea typeface="微软雅黑" panose="020B0503020204020204" pitchFamily="34" charset="-122"/>
              </a:endParaRPr>
            </a:p>
          </p:txBody>
        </p:sp>
        <p:sp>
          <p:nvSpPr>
            <p:cNvPr id="19" name="圆角矩形 18"/>
            <p:cNvSpPr/>
            <p:nvPr/>
          </p:nvSpPr>
          <p:spPr>
            <a:xfrm>
              <a:off x="1396043" y="3916834"/>
              <a:ext cx="211014" cy="703294"/>
            </a:xfrm>
            <a:prstGeom prst="roundRect">
              <a:avLst>
                <a:gd name="adj" fmla="val 28432"/>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圆角矩形 20"/>
            <p:cNvSpPr/>
            <p:nvPr/>
          </p:nvSpPr>
          <p:spPr>
            <a:xfrm>
              <a:off x="1396043" y="3629223"/>
              <a:ext cx="211014" cy="241510"/>
            </a:xfrm>
            <a:prstGeom prst="roundRect">
              <a:avLst>
                <a:gd name="adj" fmla="val 28432"/>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0" name="组合 39"/>
          <p:cNvGrpSpPr/>
          <p:nvPr/>
        </p:nvGrpSpPr>
        <p:grpSpPr>
          <a:xfrm>
            <a:off x="4258412" y="1615938"/>
            <a:ext cx="584003" cy="2818560"/>
            <a:chOff x="4258412" y="1615938"/>
            <a:chExt cx="584003" cy="2818560"/>
          </a:xfrm>
        </p:grpSpPr>
        <p:sp>
          <p:nvSpPr>
            <p:cNvPr id="17" name="圆角矩形 16"/>
            <p:cNvSpPr/>
            <p:nvPr/>
          </p:nvSpPr>
          <p:spPr>
            <a:xfrm>
              <a:off x="4519281" y="2573617"/>
              <a:ext cx="323134" cy="996902"/>
            </a:xfrm>
            <a:prstGeom prst="roundRect">
              <a:avLst>
                <a:gd name="adj" fmla="val 11404"/>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译码输出端</a:t>
              </a:r>
              <a:endParaRPr lang="zh-CN" altLang="en-US" sz="1200" dirty="0">
                <a:latin typeface="微软雅黑" panose="020B0503020204020204" pitchFamily="34" charset="-122"/>
                <a:ea typeface="微软雅黑" panose="020B0503020204020204" pitchFamily="34" charset="-122"/>
              </a:endParaRPr>
            </a:p>
          </p:txBody>
        </p:sp>
        <p:sp>
          <p:nvSpPr>
            <p:cNvPr id="22" name="圆角矩形 21"/>
            <p:cNvSpPr/>
            <p:nvPr/>
          </p:nvSpPr>
          <p:spPr>
            <a:xfrm>
              <a:off x="4258412" y="1615938"/>
              <a:ext cx="211014" cy="2818560"/>
            </a:xfrm>
            <a:prstGeom prst="roundRect">
              <a:avLst>
                <a:gd name="adj" fmla="val 28432"/>
              </a:avLst>
            </a:prstGeom>
            <a:solidFill>
              <a:schemeClr val="accent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圆角矩形标注 22"/>
          <p:cNvSpPr/>
          <p:nvPr/>
        </p:nvSpPr>
        <p:spPr>
          <a:xfrm>
            <a:off x="1003768" y="3224464"/>
            <a:ext cx="1010653" cy="233756"/>
          </a:xfrm>
          <a:prstGeom prst="wedgeRoundRectCallout">
            <a:avLst>
              <a:gd name="adj1" fmla="val 6251"/>
              <a:gd name="adj2" fmla="val 116915"/>
              <a:gd name="adj3" fmla="val 16667"/>
            </a:avLst>
          </a:prstGeom>
          <a:ln w="12700">
            <a:solidFill>
              <a:srgbClr val="336699"/>
            </a:solidFill>
          </a:ln>
        </p:spPr>
        <p:style>
          <a:lnRef idx="1">
            <a:schemeClr val="accent2"/>
          </a:lnRef>
          <a:fillRef idx="3">
            <a:schemeClr val="accent2"/>
          </a:fillRef>
          <a:effectRef idx="2">
            <a:schemeClr val="accent2"/>
          </a:effectRef>
          <a:fontRef idx="minor">
            <a:schemeClr val="lt1"/>
          </a:fontRef>
        </p:style>
        <p:txBody>
          <a:bodyPr lIns="0" tIns="0" rIns="0" bIns="0" rtlCol="0" anchor="ctr"/>
          <a:lstStyle/>
          <a:p>
            <a:pPr algn="ctr"/>
            <a:r>
              <a:rPr lang="zh-CN" altLang="en-US" sz="1200" dirty="0">
                <a:latin typeface="微软雅黑" panose="020B0503020204020204" pitchFamily="34" charset="-122"/>
                <a:ea typeface="微软雅黑" panose="020B0503020204020204" pitchFamily="34" charset="-122"/>
              </a:rPr>
              <a:t>高电平有效</a:t>
            </a:r>
            <a:endParaRPr lang="zh-CN" altLang="en-US" sz="1200" dirty="0">
              <a:latin typeface="微软雅黑" panose="020B0503020204020204" pitchFamily="34" charset="-122"/>
              <a:ea typeface="微软雅黑" panose="020B0503020204020204" pitchFamily="34" charset="-122"/>
            </a:endParaRPr>
          </a:p>
        </p:txBody>
      </p:sp>
      <p:sp>
        <p:nvSpPr>
          <p:cNvPr id="16" name="圆角矩形标注 15"/>
          <p:cNvSpPr/>
          <p:nvPr/>
        </p:nvSpPr>
        <p:spPr>
          <a:xfrm>
            <a:off x="1108042" y="4683151"/>
            <a:ext cx="1010653" cy="233756"/>
          </a:xfrm>
          <a:prstGeom prst="wedgeRoundRectCallout">
            <a:avLst>
              <a:gd name="adj1" fmla="val -16198"/>
              <a:gd name="adj2" fmla="val -83086"/>
              <a:gd name="adj3" fmla="val 16667"/>
            </a:avLst>
          </a:prstGeom>
          <a:ln w="12700">
            <a:solidFill>
              <a:srgbClr val="336699"/>
            </a:solidFill>
          </a:ln>
        </p:spPr>
        <p:style>
          <a:lnRef idx="1">
            <a:schemeClr val="accent2"/>
          </a:lnRef>
          <a:fillRef idx="3">
            <a:schemeClr val="accent2"/>
          </a:fillRef>
          <a:effectRef idx="2">
            <a:schemeClr val="accent2"/>
          </a:effectRef>
          <a:fontRef idx="minor">
            <a:schemeClr val="lt1"/>
          </a:fontRef>
        </p:style>
        <p:txBody>
          <a:bodyPr lIns="0" tIns="0" rIns="0" bIns="0" rtlCol="0" anchor="ctr"/>
          <a:lstStyle/>
          <a:p>
            <a:pPr algn="ctr"/>
            <a:r>
              <a:rPr lang="zh-CN" altLang="en-US" sz="1200" dirty="0">
                <a:latin typeface="微软雅黑" panose="020B0503020204020204" pitchFamily="34" charset="-122"/>
                <a:ea typeface="微软雅黑" panose="020B0503020204020204" pitchFamily="34" charset="-122"/>
              </a:rPr>
              <a:t>低电平有效</a:t>
            </a:r>
            <a:endParaRPr lang="zh-CN" altLang="en-US" sz="1200" dirty="0">
              <a:latin typeface="微软雅黑" panose="020B0503020204020204" pitchFamily="34" charset="-122"/>
              <a:ea typeface="微软雅黑" panose="020B0503020204020204" pitchFamily="34" charset="-122"/>
            </a:endParaRPr>
          </a:p>
        </p:txBody>
      </p:sp>
      <p:sp>
        <p:nvSpPr>
          <p:cNvPr id="18" name="圆角矩形标注 17"/>
          <p:cNvSpPr/>
          <p:nvPr/>
        </p:nvSpPr>
        <p:spPr>
          <a:xfrm>
            <a:off x="3625507" y="4560542"/>
            <a:ext cx="1010653" cy="233756"/>
          </a:xfrm>
          <a:prstGeom prst="wedgeRoundRectCallout">
            <a:avLst>
              <a:gd name="adj1" fmla="val 19176"/>
              <a:gd name="adj2" fmla="val -97792"/>
              <a:gd name="adj3" fmla="val 16667"/>
            </a:avLst>
          </a:prstGeom>
          <a:ln w="12700">
            <a:solidFill>
              <a:srgbClr val="336699"/>
            </a:solidFill>
          </a:ln>
        </p:spPr>
        <p:style>
          <a:lnRef idx="1">
            <a:schemeClr val="accent2"/>
          </a:lnRef>
          <a:fillRef idx="3">
            <a:schemeClr val="accent2"/>
          </a:fillRef>
          <a:effectRef idx="2">
            <a:schemeClr val="accent2"/>
          </a:effectRef>
          <a:fontRef idx="minor">
            <a:schemeClr val="lt1"/>
          </a:fontRef>
        </p:style>
        <p:txBody>
          <a:bodyPr lIns="0" tIns="0" rIns="0" bIns="0" rtlCol="0" anchor="ctr"/>
          <a:lstStyle/>
          <a:p>
            <a:pPr algn="ctr"/>
            <a:r>
              <a:rPr lang="zh-CN" altLang="en-US" sz="1200" dirty="0">
                <a:latin typeface="微软雅黑" panose="020B0503020204020204" pitchFamily="34" charset="-122"/>
                <a:ea typeface="微软雅黑" panose="020B0503020204020204" pitchFamily="34" charset="-122"/>
              </a:rPr>
              <a:t>低电平有效</a:t>
            </a:r>
            <a:endParaRPr lang="zh-CN" altLang="en-US" sz="1200" dirty="0">
              <a:latin typeface="微软雅黑" panose="020B0503020204020204" pitchFamily="34" charset="-122"/>
              <a:ea typeface="微软雅黑" panose="020B0503020204020204" pitchFamily="34" charset="-122"/>
            </a:endParaRPr>
          </a:p>
        </p:txBody>
      </p:sp>
      <p:grpSp>
        <p:nvGrpSpPr>
          <p:cNvPr id="30" name="组合 29"/>
          <p:cNvGrpSpPr/>
          <p:nvPr/>
        </p:nvGrpSpPr>
        <p:grpSpPr>
          <a:xfrm>
            <a:off x="5610151" y="1410557"/>
            <a:ext cx="2138184" cy="3518952"/>
            <a:chOff x="5575776" y="1410557"/>
            <a:chExt cx="2138184" cy="3518952"/>
          </a:xfrm>
        </p:grpSpPr>
        <p:grpSp>
          <p:nvGrpSpPr>
            <p:cNvPr id="27" name="组合 26"/>
            <p:cNvGrpSpPr/>
            <p:nvPr/>
          </p:nvGrpSpPr>
          <p:grpSpPr>
            <a:xfrm>
              <a:off x="5575776" y="1410557"/>
              <a:ext cx="2138184" cy="3518952"/>
              <a:chOff x="5527651" y="1328057"/>
              <a:chExt cx="2138184" cy="3518952"/>
            </a:xfrm>
          </p:grpSpPr>
          <p:graphicFrame>
            <p:nvGraphicFramePr>
              <p:cNvPr id="24" name="Object 7"/>
              <p:cNvGraphicFramePr>
                <a:graphicFrameLocks noChangeAspect="1"/>
              </p:cNvGraphicFramePr>
              <p:nvPr/>
            </p:nvGraphicFramePr>
            <p:xfrm>
              <a:off x="5633668" y="1395664"/>
              <a:ext cx="1263473" cy="1470336"/>
            </p:xfrm>
            <a:graphic>
              <a:graphicData uri="http://schemas.openxmlformats.org/presentationml/2006/ole">
                <mc:AlternateContent xmlns:mc="http://schemas.openxmlformats.org/markup-compatibility/2006">
                  <mc:Choice xmlns:v="urn:schemas-microsoft-com:vml" Requires="v">
                    <p:oleObj spid="_x0000_s35873" name="位图图像" r:id="rId4" imgW="3086100" imgH="3590925" progId="PBrush">
                      <p:embed/>
                    </p:oleObj>
                  </mc:Choice>
                  <mc:Fallback>
                    <p:oleObj name="位图图像" r:id="rId4" imgW="3086100" imgH="3590925" progId="PBrush">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33668" y="1395664"/>
                            <a:ext cx="1263473" cy="1470336"/>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aphicFrame>
            <p:nvGraphicFramePr>
              <p:cNvPr id="25" name="Object 8"/>
              <p:cNvGraphicFramePr>
                <a:graphicFrameLocks noChangeAspect="1"/>
              </p:cNvGraphicFramePr>
              <p:nvPr/>
            </p:nvGraphicFramePr>
            <p:xfrm>
              <a:off x="6176809" y="3155711"/>
              <a:ext cx="1449749" cy="1608937"/>
            </p:xfrm>
            <a:graphic>
              <a:graphicData uri="http://schemas.openxmlformats.org/presentationml/2006/ole">
                <mc:AlternateContent xmlns:mc="http://schemas.openxmlformats.org/markup-compatibility/2006">
                  <mc:Choice xmlns:v="urn:schemas-microsoft-com:vml" Requires="v">
                    <p:oleObj spid="_x0000_s35874" name="位图图像" r:id="rId6" imgW="2781300" imgH="3086100" progId="PBrush">
                      <p:embed/>
                    </p:oleObj>
                  </mc:Choice>
                  <mc:Fallback>
                    <p:oleObj name="位图图像" r:id="rId6" imgW="2781300" imgH="3086100" progId="PBrush">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176809" y="3155711"/>
                            <a:ext cx="1449749" cy="1608937"/>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sp>
            <p:nvSpPr>
              <p:cNvPr id="26" name="圆角矩形 25"/>
              <p:cNvSpPr/>
              <p:nvPr/>
            </p:nvSpPr>
            <p:spPr>
              <a:xfrm>
                <a:off x="5527651" y="1328057"/>
                <a:ext cx="2138184" cy="3518952"/>
              </a:xfrm>
              <a:prstGeom prst="roundRect">
                <a:avLst>
                  <a:gd name="adj" fmla="val 329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圆角矩形 27"/>
            <p:cNvSpPr/>
            <p:nvPr/>
          </p:nvSpPr>
          <p:spPr>
            <a:xfrm>
              <a:off x="7116957" y="1692444"/>
              <a:ext cx="323134" cy="996902"/>
            </a:xfrm>
            <a:prstGeom prst="roundRect">
              <a:avLst>
                <a:gd name="adj" fmla="val 11404"/>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逻辑符号</a:t>
              </a:r>
              <a:endParaRPr lang="zh-CN" altLang="en-US" sz="1200" dirty="0">
                <a:latin typeface="微软雅黑" panose="020B0503020204020204" pitchFamily="34" charset="-122"/>
                <a:ea typeface="微软雅黑" panose="020B0503020204020204" pitchFamily="34" charset="-122"/>
              </a:endParaRPr>
            </a:p>
          </p:txBody>
        </p:sp>
        <p:sp>
          <p:nvSpPr>
            <p:cNvPr id="29" name="圆角矩形 28"/>
            <p:cNvSpPr/>
            <p:nvPr/>
          </p:nvSpPr>
          <p:spPr>
            <a:xfrm>
              <a:off x="5798066" y="3591143"/>
              <a:ext cx="323134" cy="996902"/>
            </a:xfrm>
            <a:prstGeom prst="roundRect">
              <a:avLst>
                <a:gd name="adj" fmla="val 11404"/>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引脚排列图</a:t>
              </a:r>
              <a:endParaRPr lang="zh-CN" altLang="en-US" sz="1200" dirty="0">
                <a:latin typeface="微软雅黑" panose="020B0503020204020204" pitchFamily="34" charset="-122"/>
                <a:ea typeface="微软雅黑" panose="020B0503020204020204" pitchFamily="34" charset="-122"/>
              </a:endParaRPr>
            </a:p>
          </p:txBody>
        </p:sp>
      </p:grpSp>
      <p:sp>
        <p:nvSpPr>
          <p:cNvPr id="32" name="圆角矩形 31"/>
          <p:cNvSpPr/>
          <p:nvPr/>
        </p:nvSpPr>
        <p:spPr>
          <a:xfrm>
            <a:off x="1371600" y="1803400"/>
            <a:ext cx="260350" cy="11938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ts val="1500"/>
              </a:lnSpc>
            </a:pPr>
            <a:r>
              <a:rPr lang="en-US" altLang="zh-CN" i="1" dirty="0"/>
              <a:t>A</a:t>
            </a:r>
            <a:endParaRPr lang="en-US" altLang="zh-CN" i="1" dirty="0"/>
          </a:p>
          <a:p>
            <a:pPr algn="ctr">
              <a:lnSpc>
                <a:spcPts val="1500"/>
              </a:lnSpc>
            </a:pPr>
            <a:endParaRPr lang="en-US" altLang="zh-CN" i="1" dirty="0"/>
          </a:p>
          <a:p>
            <a:pPr algn="ctr">
              <a:lnSpc>
                <a:spcPts val="1500"/>
              </a:lnSpc>
            </a:pPr>
            <a:r>
              <a:rPr lang="en-US" altLang="zh-CN" i="1" dirty="0"/>
              <a:t>B</a:t>
            </a:r>
            <a:endParaRPr lang="en-US" altLang="zh-CN" i="1" dirty="0"/>
          </a:p>
          <a:p>
            <a:pPr algn="ctr">
              <a:lnSpc>
                <a:spcPts val="1500"/>
              </a:lnSpc>
            </a:pPr>
            <a:endParaRPr lang="en-US" altLang="zh-CN" i="1" dirty="0"/>
          </a:p>
          <a:p>
            <a:pPr algn="ctr">
              <a:lnSpc>
                <a:spcPts val="1500"/>
              </a:lnSpc>
            </a:pPr>
            <a:r>
              <a:rPr lang="en-US" altLang="zh-CN" i="1" dirty="0"/>
              <a:t>C</a:t>
            </a:r>
            <a:endParaRPr lang="zh-CN" altLang="en-US" i="1" dirty="0"/>
          </a:p>
        </p:txBody>
      </p:sp>
      <p:grpSp>
        <p:nvGrpSpPr>
          <p:cNvPr id="37" name="组合 36"/>
          <p:cNvGrpSpPr/>
          <p:nvPr/>
        </p:nvGrpSpPr>
        <p:grpSpPr>
          <a:xfrm>
            <a:off x="1365250" y="3625850"/>
            <a:ext cx="336550" cy="1003300"/>
            <a:chOff x="1397000" y="3625850"/>
            <a:chExt cx="336550" cy="1003300"/>
          </a:xfrm>
        </p:grpSpPr>
        <p:sp>
          <p:nvSpPr>
            <p:cNvPr id="33" name="圆角矩形 32"/>
            <p:cNvSpPr/>
            <p:nvPr/>
          </p:nvSpPr>
          <p:spPr>
            <a:xfrm>
              <a:off x="1397000" y="3625850"/>
              <a:ext cx="336550" cy="10033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200"/>
                </a:lnSpc>
              </a:pPr>
              <a:r>
                <a:rPr lang="en-US" altLang="zh-CN" sz="1600" i="1" dirty="0"/>
                <a:t>G</a:t>
              </a:r>
              <a:r>
                <a:rPr lang="en-US" altLang="zh-CN" sz="1600" baseline="-25000" dirty="0"/>
                <a:t>1</a:t>
              </a:r>
              <a:endParaRPr lang="en-US" altLang="zh-CN" sz="1600" baseline="-25000" dirty="0"/>
            </a:p>
            <a:p>
              <a:pPr algn="ctr">
                <a:lnSpc>
                  <a:spcPts val="1200"/>
                </a:lnSpc>
              </a:pPr>
              <a:endParaRPr lang="en-US" altLang="zh-CN" sz="1600" baseline="-25000" dirty="0"/>
            </a:p>
            <a:p>
              <a:pPr algn="ctr">
                <a:lnSpc>
                  <a:spcPts val="1200"/>
                </a:lnSpc>
              </a:pPr>
              <a:r>
                <a:rPr lang="en-US" altLang="zh-CN" sz="1600" i="1" dirty="0"/>
                <a:t>G</a:t>
              </a:r>
              <a:r>
                <a:rPr lang="en-US" altLang="zh-CN" sz="1600" baseline="-25000" dirty="0"/>
                <a:t>2A</a:t>
              </a:r>
              <a:endParaRPr lang="en-US" altLang="zh-CN" sz="1600" baseline="-25000" dirty="0"/>
            </a:p>
            <a:p>
              <a:pPr algn="ctr">
                <a:lnSpc>
                  <a:spcPts val="1200"/>
                </a:lnSpc>
              </a:pPr>
              <a:endParaRPr lang="en-US" altLang="zh-CN" sz="1600" baseline="-25000" dirty="0"/>
            </a:p>
            <a:p>
              <a:pPr algn="ctr">
                <a:lnSpc>
                  <a:spcPts val="1200"/>
                </a:lnSpc>
              </a:pPr>
              <a:r>
                <a:rPr lang="en-US" altLang="zh-CN" sz="1600" i="1" dirty="0"/>
                <a:t>G</a:t>
              </a:r>
              <a:r>
                <a:rPr lang="en-US" altLang="zh-CN" sz="1600" baseline="-25000" dirty="0"/>
                <a:t>2B</a:t>
              </a:r>
              <a:endParaRPr lang="zh-CN" altLang="en-US" sz="1600" baseline="-25000" dirty="0"/>
            </a:p>
          </p:txBody>
        </p:sp>
        <p:cxnSp>
          <p:nvCxnSpPr>
            <p:cNvPr id="35" name="直接连接符 34"/>
            <p:cNvCxnSpPr/>
            <p:nvPr/>
          </p:nvCxnSpPr>
          <p:spPr>
            <a:xfrm>
              <a:off x="1454150" y="4298950"/>
              <a:ext cx="144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1466850" y="4000500"/>
              <a:ext cx="144000" cy="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up)">
                                      <p:cBhvr>
                                        <p:cTn id="7" dur="10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wipe(up)">
                                      <p:cBhvr>
                                        <p:cTn id="12" dur="1000"/>
                                        <p:tgtEl>
                                          <p:spTgt spid="40"/>
                                        </p:tgtEl>
                                      </p:cBhvr>
                                    </p:animEffect>
                                  </p:childTnLst>
                                </p:cTn>
                              </p:par>
                            </p:childTnLst>
                          </p:cTn>
                        </p:par>
                        <p:par>
                          <p:cTn id="13" fill="hold">
                            <p:stCondLst>
                              <p:cond delay="1000"/>
                            </p:stCondLst>
                            <p:childTnLst>
                              <p:par>
                                <p:cTn id="14" presetID="22" presetClass="entr" presetSubtype="1" fill="hold" grpId="0" nodeType="after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wipe(up)">
                                      <p:cBhvr>
                                        <p:cTn id="16" dur="1000"/>
                                        <p:tgtEl>
                                          <p:spTgt spid="18"/>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wipe(up)">
                                      <p:cBhvr>
                                        <p:cTn id="21" dur="1000"/>
                                        <p:tgtEl>
                                          <p:spTgt spid="41"/>
                                        </p:tgtEl>
                                      </p:cBhvr>
                                    </p:animEffect>
                                  </p:childTnLst>
                                </p:cTn>
                              </p:par>
                            </p:childTnLst>
                          </p:cTn>
                        </p:par>
                        <p:par>
                          <p:cTn id="22" fill="hold">
                            <p:stCondLst>
                              <p:cond delay="1000"/>
                            </p:stCondLst>
                            <p:childTnLst>
                              <p:par>
                                <p:cTn id="23" presetID="22" presetClass="entr" presetSubtype="4" fill="hold" grpId="0" nodeType="afterEffect">
                                  <p:stCondLst>
                                    <p:cond delay="0"/>
                                  </p:stCondLst>
                                  <p:childTnLst>
                                    <p:set>
                                      <p:cBhvr>
                                        <p:cTn id="24" dur="1" fill="hold">
                                          <p:stCondLst>
                                            <p:cond delay="0"/>
                                          </p:stCondLst>
                                        </p:cTn>
                                        <p:tgtEl>
                                          <p:spTgt spid="23"/>
                                        </p:tgtEl>
                                        <p:attrNameLst>
                                          <p:attrName>style.visibility</p:attrName>
                                        </p:attrNameLst>
                                      </p:cBhvr>
                                      <p:to>
                                        <p:strVal val="visible"/>
                                      </p:to>
                                    </p:set>
                                    <p:animEffect transition="in" filter="wipe(down)">
                                      <p:cBhvr>
                                        <p:cTn id="25" dur="1000"/>
                                        <p:tgtEl>
                                          <p:spTgt spid="23"/>
                                        </p:tgtEl>
                                      </p:cBhvr>
                                    </p:animEffect>
                                  </p:childTnLst>
                                </p:cTn>
                              </p:par>
                            </p:childTnLst>
                          </p:cTn>
                        </p:par>
                        <p:par>
                          <p:cTn id="26" fill="hold">
                            <p:stCondLst>
                              <p:cond delay="2000"/>
                            </p:stCondLst>
                            <p:childTnLst>
                              <p:par>
                                <p:cTn id="27" presetID="22" presetClass="entr" presetSubtype="1" fill="hold" grpId="0" nodeType="after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wipe(up)">
                                      <p:cBhvr>
                                        <p:cTn id="29" dur="1000"/>
                                        <p:tgtEl>
                                          <p:spTgt spid="16"/>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wipe(up)">
                                      <p:cBhvr>
                                        <p:cTn id="34" dur="1000"/>
                                        <p:tgtEl>
                                          <p:spTgt spid="32"/>
                                        </p:tgtEl>
                                      </p:cBhvr>
                                    </p:animEffect>
                                  </p:childTnLst>
                                </p:cTn>
                              </p:par>
                            </p:childTnLst>
                          </p:cTn>
                        </p:par>
                        <p:par>
                          <p:cTn id="35" fill="hold">
                            <p:stCondLst>
                              <p:cond delay="1000"/>
                            </p:stCondLst>
                            <p:childTnLst>
                              <p:par>
                                <p:cTn id="36" presetID="22" presetClass="entr" presetSubtype="1" fill="hold" nodeType="after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wipe(up)">
                                      <p:cBhvr>
                                        <p:cTn id="38" dur="1000"/>
                                        <p:tgtEl>
                                          <p:spTgt spid="3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nodeType="clickEffect">
                                  <p:stCondLst>
                                    <p:cond delay="0"/>
                                  </p:stCondLst>
                                  <p:childTnLst>
                                    <p:set>
                                      <p:cBhvr>
                                        <p:cTn id="42" dur="1" fill="hold">
                                          <p:stCondLst>
                                            <p:cond delay="0"/>
                                          </p:stCondLst>
                                        </p:cTn>
                                        <p:tgtEl>
                                          <p:spTgt spid="30"/>
                                        </p:tgtEl>
                                        <p:attrNameLst>
                                          <p:attrName>style.visibility</p:attrName>
                                        </p:attrNameLst>
                                      </p:cBhvr>
                                      <p:to>
                                        <p:strVal val="visible"/>
                                      </p:to>
                                    </p:set>
                                    <p:animEffect transition="in" filter="wipe(left)">
                                      <p:cBhvr>
                                        <p:cTn id="43" dur="10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16" grpId="0" animBg="1"/>
      <p:bldP spid="18" grpId="0" animBg="1"/>
      <p:bldP spid="32" grpId="0" animBg="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5041900" y="1758950"/>
            <a:ext cx="1619250" cy="3194050"/>
            <a:chOff x="5041900" y="1758950"/>
            <a:chExt cx="1619250" cy="3194050"/>
          </a:xfrm>
        </p:grpSpPr>
        <p:sp>
          <p:nvSpPr>
            <p:cNvPr id="73" name="圆角矩形 72"/>
            <p:cNvSpPr/>
            <p:nvPr/>
          </p:nvSpPr>
          <p:spPr>
            <a:xfrm>
              <a:off x="5041900" y="1758950"/>
              <a:ext cx="1619250" cy="3194050"/>
            </a:xfrm>
            <a:prstGeom prst="roundRect">
              <a:avLst>
                <a:gd name="adj" fmla="val 5000"/>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3332" name="Object 20"/>
            <p:cNvGraphicFramePr>
              <a:graphicFrameLocks noChangeAspect="1"/>
            </p:cNvGraphicFramePr>
            <p:nvPr/>
          </p:nvGraphicFramePr>
          <p:xfrm>
            <a:off x="5092696" y="2199135"/>
            <a:ext cx="1080000" cy="330000"/>
          </p:xfrm>
          <a:graphic>
            <a:graphicData uri="http://schemas.openxmlformats.org/presentationml/2006/ole">
              <mc:AlternateContent xmlns:mc="http://schemas.openxmlformats.org/markup-compatibility/2006">
                <mc:Choice xmlns:v="urn:schemas-microsoft-com:vml" Requires="v">
                  <p:oleObj spid="_x0000_s37056" name="Equation" r:id="rId1" imgW="914400" imgH="279400" progId="">
                    <p:embed/>
                  </p:oleObj>
                </mc:Choice>
                <mc:Fallback>
                  <p:oleObj name="Equation" r:id="rId1" imgW="914400" imgH="279400" progId="">
                    <p:embed/>
                    <p:pic>
                      <p:nvPicPr>
                        <p:cNvPr id="0" name="Object 2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92696" y="2199135"/>
                          <a:ext cx="1080000" cy="33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33" name="Object 21"/>
            <p:cNvGraphicFramePr>
              <a:graphicFrameLocks noChangeAspect="1"/>
            </p:cNvGraphicFramePr>
            <p:nvPr/>
          </p:nvGraphicFramePr>
          <p:xfrm>
            <a:off x="5092696" y="2581420"/>
            <a:ext cx="1080000" cy="325470"/>
          </p:xfrm>
          <a:graphic>
            <a:graphicData uri="http://schemas.openxmlformats.org/presentationml/2006/ole">
              <mc:AlternateContent xmlns:mc="http://schemas.openxmlformats.org/markup-compatibility/2006">
                <mc:Choice xmlns:v="urn:schemas-microsoft-com:vml" Requires="v">
                  <p:oleObj spid="_x0000_s37057" name="Equation" r:id="rId3" imgW="927100" imgH="279400" progId="">
                    <p:embed/>
                  </p:oleObj>
                </mc:Choice>
                <mc:Fallback>
                  <p:oleObj name="Equation" r:id="rId3" imgW="927100" imgH="279400" progId="">
                    <p:embed/>
                    <p:pic>
                      <p:nvPicPr>
                        <p:cNvPr id="0" name="Object 2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92696" y="2581420"/>
                          <a:ext cx="1080000" cy="325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34" name="Object 22"/>
            <p:cNvGraphicFramePr>
              <a:graphicFrameLocks noChangeAspect="1"/>
            </p:cNvGraphicFramePr>
            <p:nvPr/>
          </p:nvGraphicFramePr>
          <p:xfrm>
            <a:off x="5092696" y="2959175"/>
            <a:ext cx="1080000" cy="316800"/>
          </p:xfrm>
          <a:graphic>
            <a:graphicData uri="http://schemas.openxmlformats.org/presentationml/2006/ole">
              <mc:AlternateContent xmlns:mc="http://schemas.openxmlformats.org/markup-compatibility/2006">
                <mc:Choice xmlns:v="urn:schemas-microsoft-com:vml" Requires="v">
                  <p:oleObj spid="_x0000_s37058" name="Equation" r:id="rId5" imgW="951865" imgH="279400" progId="">
                    <p:embed/>
                  </p:oleObj>
                </mc:Choice>
                <mc:Fallback>
                  <p:oleObj name="Equation" r:id="rId5" imgW="951865" imgH="279400" progId="">
                    <p:embed/>
                    <p:pic>
                      <p:nvPicPr>
                        <p:cNvPr id="0" name="Object 2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92696" y="2959175"/>
                          <a:ext cx="1080000" cy="31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35" name="Object 23"/>
            <p:cNvGraphicFramePr>
              <a:graphicFrameLocks noChangeAspect="1"/>
            </p:cNvGraphicFramePr>
            <p:nvPr/>
          </p:nvGraphicFramePr>
          <p:xfrm>
            <a:off x="5092696" y="3328260"/>
            <a:ext cx="1080000" cy="325470"/>
          </p:xfrm>
          <a:graphic>
            <a:graphicData uri="http://schemas.openxmlformats.org/presentationml/2006/ole">
              <mc:AlternateContent xmlns:mc="http://schemas.openxmlformats.org/markup-compatibility/2006">
                <mc:Choice xmlns:v="urn:schemas-microsoft-com:vml" Requires="v">
                  <p:oleObj spid="_x0000_s37059" name="Equation" r:id="rId7" imgW="927100" imgH="279400" progId="">
                    <p:embed/>
                  </p:oleObj>
                </mc:Choice>
                <mc:Fallback>
                  <p:oleObj name="Equation" r:id="rId7" imgW="927100" imgH="279400" progId="">
                    <p:embed/>
                    <p:pic>
                      <p:nvPicPr>
                        <p:cNvPr id="0"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92696" y="3328260"/>
                          <a:ext cx="1080000" cy="3254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36" name="Object 24"/>
            <p:cNvGraphicFramePr>
              <a:graphicFrameLocks noChangeAspect="1"/>
            </p:cNvGraphicFramePr>
            <p:nvPr/>
          </p:nvGraphicFramePr>
          <p:xfrm>
            <a:off x="5092696" y="3706015"/>
            <a:ext cx="1080000" cy="339420"/>
          </p:xfrm>
          <a:graphic>
            <a:graphicData uri="http://schemas.openxmlformats.org/presentationml/2006/ole">
              <mc:AlternateContent xmlns:mc="http://schemas.openxmlformats.org/markup-compatibility/2006">
                <mc:Choice xmlns:v="urn:schemas-microsoft-com:vml" Requires="v">
                  <p:oleObj spid="_x0000_s37060" name="Equation" r:id="rId9" imgW="889000" imgH="279400" progId="">
                    <p:embed/>
                  </p:oleObj>
                </mc:Choice>
                <mc:Fallback>
                  <p:oleObj name="Equation" r:id="rId9" imgW="889000" imgH="279400" progId="">
                    <p:embed/>
                    <p:pic>
                      <p:nvPicPr>
                        <p:cNvPr id="0" name="Object 2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092696" y="3706015"/>
                          <a:ext cx="1080000" cy="339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37" name="Object 25"/>
            <p:cNvGraphicFramePr>
              <a:graphicFrameLocks noChangeAspect="1"/>
            </p:cNvGraphicFramePr>
            <p:nvPr/>
          </p:nvGraphicFramePr>
          <p:xfrm>
            <a:off x="5092696" y="4097720"/>
            <a:ext cx="1080000" cy="339420"/>
          </p:xfrm>
          <a:graphic>
            <a:graphicData uri="http://schemas.openxmlformats.org/presentationml/2006/ole">
              <mc:AlternateContent xmlns:mc="http://schemas.openxmlformats.org/markup-compatibility/2006">
                <mc:Choice xmlns:v="urn:schemas-microsoft-com:vml" Requires="v">
                  <p:oleObj spid="_x0000_s37061" name="Equation" r:id="rId11" imgW="889000" imgH="279400" progId="">
                    <p:embed/>
                  </p:oleObj>
                </mc:Choice>
                <mc:Fallback>
                  <p:oleObj name="Equation" r:id="rId11" imgW="889000" imgH="279400" progId="">
                    <p:embed/>
                    <p:pic>
                      <p:nvPicPr>
                        <p:cNvPr id="0" name="Object 2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92696" y="4097720"/>
                          <a:ext cx="1080000" cy="3394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38" name="Object 26"/>
            <p:cNvGraphicFramePr>
              <a:graphicFrameLocks noChangeAspect="1"/>
            </p:cNvGraphicFramePr>
            <p:nvPr/>
          </p:nvGraphicFramePr>
          <p:xfrm>
            <a:off x="5092696" y="4495772"/>
            <a:ext cx="1080000" cy="313050"/>
          </p:xfrm>
          <a:graphic>
            <a:graphicData uri="http://schemas.openxmlformats.org/presentationml/2006/ole">
              <mc:AlternateContent xmlns:mc="http://schemas.openxmlformats.org/markup-compatibility/2006">
                <mc:Choice xmlns:v="urn:schemas-microsoft-com:vml" Requires="v">
                  <p:oleObj spid="_x0000_s37062" name="Equation" r:id="rId13" imgW="875665" imgH="254000" progId="">
                    <p:embed/>
                  </p:oleObj>
                </mc:Choice>
                <mc:Fallback>
                  <p:oleObj name="Equation" r:id="rId13" imgW="875665" imgH="254000" progId="">
                    <p:embed/>
                    <p:pic>
                      <p:nvPicPr>
                        <p:cNvPr id="0" name="Object 2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092696" y="4495772"/>
                          <a:ext cx="1080000" cy="313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39" name="Object 27"/>
            <p:cNvGraphicFramePr>
              <a:graphicFrameLocks noChangeAspect="1"/>
            </p:cNvGraphicFramePr>
            <p:nvPr/>
          </p:nvGraphicFramePr>
          <p:xfrm>
            <a:off x="5092696" y="1860550"/>
            <a:ext cx="1080000" cy="286300"/>
          </p:xfrm>
          <a:graphic>
            <a:graphicData uri="http://schemas.openxmlformats.org/presentationml/2006/ole">
              <mc:AlternateContent xmlns:mc="http://schemas.openxmlformats.org/markup-compatibility/2006">
                <mc:Choice xmlns:v="urn:schemas-microsoft-com:vml" Requires="v">
                  <p:oleObj spid="_x0000_s37063" name="Equation" r:id="rId15" imgW="951865" imgH="241300" progId="">
                    <p:embed/>
                  </p:oleObj>
                </mc:Choice>
                <mc:Fallback>
                  <p:oleObj name="Equation" r:id="rId15" imgW="951865" imgH="241300" progId="">
                    <p:embed/>
                    <p:pic>
                      <p:nvPicPr>
                        <p:cNvPr id="0" name="Object 2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5092696" y="1860550"/>
                          <a:ext cx="1080000" cy="286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4" name="组合 73"/>
          <p:cNvGrpSpPr/>
          <p:nvPr/>
        </p:nvGrpSpPr>
        <p:grpSpPr>
          <a:xfrm>
            <a:off x="5449753" y="1956375"/>
            <a:ext cx="438150" cy="3257598"/>
            <a:chOff x="5435600" y="1930400"/>
            <a:chExt cx="438150" cy="3257598"/>
          </a:xfrm>
        </p:grpSpPr>
        <p:sp>
          <p:nvSpPr>
            <p:cNvPr id="71" name="圆角矩形 70"/>
            <p:cNvSpPr/>
            <p:nvPr/>
          </p:nvSpPr>
          <p:spPr>
            <a:xfrm>
              <a:off x="5435600" y="1930400"/>
              <a:ext cx="184150" cy="2838450"/>
            </a:xfrm>
            <a:prstGeom prst="roundRect">
              <a:avLst/>
            </a:prstGeom>
            <a:solidFill>
              <a:srgbClr val="FFFF00">
                <a:alpha val="33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圆角矩形标注 71"/>
            <p:cNvSpPr/>
            <p:nvPr/>
          </p:nvSpPr>
          <p:spPr>
            <a:xfrm>
              <a:off x="5486400" y="4954242"/>
              <a:ext cx="387350" cy="233756"/>
            </a:xfrm>
            <a:prstGeom prst="wedgeRoundRectCallout">
              <a:avLst>
                <a:gd name="adj1" fmla="val -41480"/>
                <a:gd name="adj2" fmla="val -122241"/>
                <a:gd name="adj3" fmla="val 16667"/>
              </a:avLst>
            </a:prstGeom>
            <a:ln w="12700">
              <a:solidFill>
                <a:srgbClr val="336699"/>
              </a:solidFill>
            </a:ln>
          </p:spPr>
          <p:style>
            <a:lnRef idx="1">
              <a:schemeClr val="accent2"/>
            </a:lnRef>
            <a:fillRef idx="3">
              <a:schemeClr val="accent2"/>
            </a:fillRef>
            <a:effectRef idx="2">
              <a:schemeClr val="accent2"/>
            </a:effectRef>
            <a:fontRef idx="minor">
              <a:schemeClr val="lt1"/>
            </a:fontRef>
          </p:style>
          <p:txBody>
            <a:bodyPr lIns="0" tIns="0" rIns="0" bIns="0" rtlCol="0" anchor="ctr"/>
            <a:lstStyle/>
            <a:p>
              <a:pPr algn="ctr"/>
              <a:r>
                <a:rPr lang="en-US" altLang="zh-CN" sz="1200" dirty="0">
                  <a:latin typeface="微软雅黑" panose="020B0503020204020204" pitchFamily="34" charset="-122"/>
                  <a:ea typeface="微软雅黑" panose="020B0503020204020204" pitchFamily="34" charset="-122"/>
                </a:rPr>
                <a:t>E=1</a:t>
              </a:r>
              <a:endParaRPr lang="zh-CN" altLang="en-US" sz="1200" dirty="0">
                <a:latin typeface="微软雅黑" panose="020B0503020204020204" pitchFamily="34" charset="-122"/>
                <a:ea typeface="微软雅黑" panose="020B0503020204020204" pitchFamily="34" charset="-122"/>
              </a:endParaRPr>
            </a:p>
          </p:txBody>
        </p:sp>
      </p:grpSp>
      <p:grpSp>
        <p:nvGrpSpPr>
          <p:cNvPr id="89" name="组合 88"/>
          <p:cNvGrpSpPr/>
          <p:nvPr/>
        </p:nvGrpSpPr>
        <p:grpSpPr>
          <a:xfrm>
            <a:off x="5607050" y="2152650"/>
            <a:ext cx="504000" cy="2660650"/>
            <a:chOff x="5607050" y="2152650"/>
            <a:chExt cx="504000" cy="2660650"/>
          </a:xfrm>
        </p:grpSpPr>
        <p:cxnSp>
          <p:nvCxnSpPr>
            <p:cNvPr id="80" name="直接连接符 79"/>
            <p:cNvCxnSpPr/>
            <p:nvPr/>
          </p:nvCxnSpPr>
          <p:spPr>
            <a:xfrm>
              <a:off x="5607050" y="2152650"/>
              <a:ext cx="504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a:off x="5607050" y="2514600"/>
              <a:ext cx="504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5607050" y="2870200"/>
              <a:ext cx="504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5607050" y="3263900"/>
              <a:ext cx="504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5607050" y="3638550"/>
              <a:ext cx="504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5607050" y="4032250"/>
              <a:ext cx="504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a:off x="5607050" y="4438650"/>
              <a:ext cx="504000"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5607050" y="4813300"/>
              <a:ext cx="504000" cy="0"/>
            </a:xfrm>
            <a:prstGeom prst="line">
              <a:avLst/>
            </a:prstGeom>
            <a:ln w="57150"/>
          </p:spPr>
          <p:style>
            <a:lnRef idx="1">
              <a:schemeClr val="accent1"/>
            </a:lnRef>
            <a:fillRef idx="0">
              <a:schemeClr val="accent1"/>
            </a:fillRef>
            <a:effectRef idx="0">
              <a:schemeClr val="accent1"/>
            </a:effectRef>
            <a:fontRef idx="minor">
              <a:schemeClr val="tx1"/>
            </a:fontRef>
          </p:style>
        </p:cxnSp>
      </p:grpSp>
      <p:grpSp>
        <p:nvGrpSpPr>
          <p:cNvPr id="2" name="组合 17"/>
          <p:cNvGrpSpPr/>
          <p:nvPr/>
        </p:nvGrpSpPr>
        <p:grpSpPr>
          <a:xfrm>
            <a:off x="392432" y="769746"/>
            <a:ext cx="4425400" cy="420971"/>
            <a:chOff x="670560" y="892917"/>
            <a:chExt cx="4425400" cy="420971"/>
          </a:xfrm>
        </p:grpSpPr>
        <p:sp>
          <p:nvSpPr>
            <p:cNvPr id="3" name="矩形 2"/>
            <p:cNvSpPr/>
            <p:nvPr/>
          </p:nvSpPr>
          <p:spPr>
            <a:xfrm>
              <a:off x="1035233" y="913778"/>
              <a:ext cx="4060727"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a:t>
              </a:r>
              <a:r>
                <a:rPr lang="en-US" altLang="zh-CN" sz="2000" b="1" dirty="0">
                  <a:solidFill>
                    <a:srgbClr val="002060"/>
                  </a:solidFill>
                  <a:latin typeface="微软雅黑" panose="020B0503020204020204" pitchFamily="34" charset="-122"/>
                  <a:ea typeface="微软雅黑" panose="020B0503020204020204" pitchFamily="34" charset="-122"/>
                </a:rPr>
                <a:t>3</a:t>
              </a:r>
              <a:r>
                <a:rPr lang="zh-CN" altLang="en-US" sz="2000" b="1" dirty="0">
                  <a:solidFill>
                    <a:srgbClr val="002060"/>
                  </a:solidFill>
                  <a:latin typeface="微软雅黑" panose="020B0503020204020204" pitchFamily="34" charset="-122"/>
                  <a:ea typeface="微软雅黑" panose="020B0503020204020204" pitchFamily="34" charset="-122"/>
                </a:rPr>
                <a:t>线</a:t>
              </a:r>
              <a:r>
                <a:rPr lang="en-US" altLang="zh-CN" sz="2000" b="1" dirty="0">
                  <a:solidFill>
                    <a:srgbClr val="002060"/>
                  </a:solidFill>
                  <a:latin typeface="微软雅黑" panose="020B0503020204020204" pitchFamily="34" charset="-122"/>
                  <a:ea typeface="微软雅黑" panose="020B0503020204020204" pitchFamily="34" charset="-122"/>
                </a:rPr>
                <a:t>—8</a:t>
              </a:r>
              <a:r>
                <a:rPr lang="zh-CN" altLang="en-US" sz="2000" b="1" dirty="0">
                  <a:solidFill>
                    <a:srgbClr val="002060"/>
                  </a:solidFill>
                  <a:latin typeface="微软雅黑" panose="020B0503020204020204" pitchFamily="34" charset="-122"/>
                  <a:ea typeface="微软雅黑" panose="020B0503020204020204" pitchFamily="34" charset="-122"/>
                </a:rPr>
                <a:t>线译码器（</a:t>
              </a:r>
              <a:r>
                <a:rPr lang="en-US" altLang="zh-CN" sz="2000" b="1" dirty="0">
                  <a:solidFill>
                    <a:srgbClr val="FF00FF"/>
                  </a:solidFill>
                  <a:latin typeface="微软雅黑" panose="020B0503020204020204" pitchFamily="34" charset="-122"/>
                  <a:ea typeface="微软雅黑" panose="020B0503020204020204" pitchFamily="34" charset="-122"/>
                </a:rPr>
                <a:t>74X138</a:t>
              </a:r>
              <a:r>
                <a:rPr lang="zh-CN" altLang="en-US" sz="2000" b="1" dirty="0">
                  <a:solidFill>
                    <a:srgbClr val="002060"/>
                  </a:solidFill>
                  <a:latin typeface="微软雅黑" panose="020B0503020204020204" pitchFamily="34" charset="-122"/>
                  <a:ea typeface="微软雅黑" panose="020B0503020204020204" pitchFamily="34" charset="-122"/>
                </a:rPr>
                <a: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7"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62" name="组合 61"/>
          <p:cNvGrpSpPr/>
          <p:nvPr/>
        </p:nvGrpSpPr>
        <p:grpSpPr>
          <a:xfrm>
            <a:off x="6902450" y="832707"/>
            <a:ext cx="1441450" cy="1637443"/>
            <a:chOff x="7556500" y="775557"/>
            <a:chExt cx="1441450" cy="1637443"/>
          </a:xfrm>
        </p:grpSpPr>
        <p:graphicFrame>
          <p:nvGraphicFramePr>
            <p:cNvPr id="24" name="Object 7"/>
            <p:cNvGraphicFramePr>
              <a:graphicFrameLocks noChangeAspect="1"/>
            </p:cNvGraphicFramePr>
            <p:nvPr/>
          </p:nvGraphicFramePr>
          <p:xfrm>
            <a:off x="7602118" y="855864"/>
            <a:ext cx="1263473" cy="1470336"/>
          </p:xfrm>
          <a:graphic>
            <a:graphicData uri="http://schemas.openxmlformats.org/presentationml/2006/ole">
              <mc:AlternateContent xmlns:mc="http://schemas.openxmlformats.org/markup-compatibility/2006">
                <mc:Choice xmlns:v="urn:schemas-microsoft-com:vml" Requires="v">
                  <p:oleObj spid="_x0000_s37064" name="位图图像" r:id="rId18" imgW="3086100" imgH="3590925" progId="PBrush">
                    <p:embed/>
                  </p:oleObj>
                </mc:Choice>
                <mc:Fallback>
                  <p:oleObj name="位图图像" r:id="rId18" imgW="3086100" imgH="3590925" progId="PBrush">
                    <p:embed/>
                    <p:pic>
                      <p:nvPicPr>
                        <p:cNvPr id="0" name="Object 7"/>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602118" y="855864"/>
                          <a:ext cx="1263473" cy="1470336"/>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sp>
          <p:nvSpPr>
            <p:cNvPr id="26" name="圆角矩形 25"/>
            <p:cNvSpPr/>
            <p:nvPr/>
          </p:nvSpPr>
          <p:spPr>
            <a:xfrm>
              <a:off x="7556500" y="775557"/>
              <a:ext cx="1441450" cy="1637443"/>
            </a:xfrm>
            <a:prstGeom prst="roundRect">
              <a:avLst>
                <a:gd name="adj" fmla="val 329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3319" name="Picture 7"/>
          <p:cNvPicPr>
            <a:picLocks noChangeAspect="1" noChangeArrowheads="1"/>
          </p:cNvPicPr>
          <p:nvPr/>
        </p:nvPicPr>
        <p:blipFill>
          <a:blip r:embed="rId20" cstate="print"/>
          <a:srcRect/>
          <a:stretch>
            <a:fillRect/>
          </a:stretch>
        </p:blipFill>
        <p:spPr bwMode="auto">
          <a:xfrm>
            <a:off x="660400" y="1276350"/>
            <a:ext cx="4301511" cy="3733799"/>
          </a:xfrm>
          <a:prstGeom prst="rect">
            <a:avLst/>
          </a:prstGeom>
          <a:noFill/>
          <a:ln w="9525">
            <a:noFill/>
            <a:miter lim="800000"/>
            <a:headEnd/>
            <a:tailEnd/>
          </a:ln>
        </p:spPr>
      </p:pic>
      <p:grpSp>
        <p:nvGrpSpPr>
          <p:cNvPr id="7" name="组合 6"/>
          <p:cNvGrpSpPr/>
          <p:nvPr/>
        </p:nvGrpSpPr>
        <p:grpSpPr>
          <a:xfrm>
            <a:off x="749300" y="2933700"/>
            <a:ext cx="4121250" cy="2000350"/>
            <a:chOff x="749300" y="2933700"/>
            <a:chExt cx="4121250" cy="2000350"/>
          </a:xfrm>
        </p:grpSpPr>
        <p:sp>
          <p:nvSpPr>
            <p:cNvPr id="44" name="圆角矩形 43"/>
            <p:cNvSpPr/>
            <p:nvPr/>
          </p:nvSpPr>
          <p:spPr>
            <a:xfrm>
              <a:off x="749300" y="2933700"/>
              <a:ext cx="819150" cy="1993900"/>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47"/>
            <p:cNvSpPr/>
            <p:nvPr/>
          </p:nvSpPr>
          <p:spPr>
            <a:xfrm>
              <a:off x="1644650" y="2933700"/>
              <a:ext cx="819150" cy="1993900"/>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1" name="组合 60"/>
            <p:cNvGrpSpPr/>
            <p:nvPr/>
          </p:nvGrpSpPr>
          <p:grpSpPr>
            <a:xfrm>
              <a:off x="2540000" y="2940050"/>
              <a:ext cx="2330550" cy="1994000"/>
              <a:chOff x="2540000" y="2940050"/>
              <a:chExt cx="2330550" cy="1994000"/>
            </a:xfrm>
          </p:grpSpPr>
          <p:sp>
            <p:nvSpPr>
              <p:cNvPr id="49" name="圆角矩形 48"/>
              <p:cNvSpPr/>
              <p:nvPr/>
            </p:nvSpPr>
            <p:spPr>
              <a:xfrm>
                <a:off x="2540000" y="2940050"/>
                <a:ext cx="216000" cy="216000"/>
              </a:xfrm>
              <a:prstGeom prst="roundRect">
                <a:avLst>
                  <a:gd name="adj" fmla="val 18783"/>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圆角矩形 49"/>
              <p:cNvSpPr/>
              <p:nvPr/>
            </p:nvSpPr>
            <p:spPr>
              <a:xfrm>
                <a:off x="2842079" y="3194050"/>
                <a:ext cx="216000" cy="216000"/>
              </a:xfrm>
              <a:prstGeom prst="roundRect">
                <a:avLst>
                  <a:gd name="adj" fmla="val 18783"/>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圆角矩形 50"/>
              <p:cNvSpPr/>
              <p:nvPr/>
            </p:nvSpPr>
            <p:spPr>
              <a:xfrm>
                <a:off x="3144158" y="3448050"/>
                <a:ext cx="216000" cy="216000"/>
              </a:xfrm>
              <a:prstGeom prst="roundRect">
                <a:avLst>
                  <a:gd name="adj" fmla="val 18783"/>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圆角矩形 51"/>
              <p:cNvSpPr/>
              <p:nvPr/>
            </p:nvSpPr>
            <p:spPr>
              <a:xfrm>
                <a:off x="3446237" y="3702050"/>
                <a:ext cx="216000" cy="216000"/>
              </a:xfrm>
              <a:prstGeom prst="roundRect">
                <a:avLst>
                  <a:gd name="adj" fmla="val 18783"/>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圆角矩形 52"/>
              <p:cNvSpPr/>
              <p:nvPr/>
            </p:nvSpPr>
            <p:spPr>
              <a:xfrm>
                <a:off x="3748316" y="3956050"/>
                <a:ext cx="216000" cy="216000"/>
              </a:xfrm>
              <a:prstGeom prst="roundRect">
                <a:avLst>
                  <a:gd name="adj" fmla="val 18783"/>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圆角矩形 53"/>
              <p:cNvSpPr/>
              <p:nvPr/>
            </p:nvSpPr>
            <p:spPr>
              <a:xfrm>
                <a:off x="4050395" y="4210050"/>
                <a:ext cx="216000" cy="216000"/>
              </a:xfrm>
              <a:prstGeom prst="roundRect">
                <a:avLst>
                  <a:gd name="adj" fmla="val 18783"/>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圆角矩形 54"/>
              <p:cNvSpPr/>
              <p:nvPr/>
            </p:nvSpPr>
            <p:spPr>
              <a:xfrm>
                <a:off x="4352474" y="4464050"/>
                <a:ext cx="216000" cy="216000"/>
              </a:xfrm>
              <a:prstGeom prst="roundRect">
                <a:avLst>
                  <a:gd name="adj" fmla="val 18783"/>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圆角矩形 56"/>
              <p:cNvSpPr/>
              <p:nvPr/>
            </p:nvSpPr>
            <p:spPr>
              <a:xfrm>
                <a:off x="4654550" y="4718050"/>
                <a:ext cx="216000" cy="216000"/>
              </a:xfrm>
              <a:prstGeom prst="roundRect">
                <a:avLst>
                  <a:gd name="adj" fmla="val 18783"/>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64" name="组合 63"/>
          <p:cNvGrpSpPr/>
          <p:nvPr/>
        </p:nvGrpSpPr>
        <p:grpSpPr>
          <a:xfrm>
            <a:off x="5035550" y="1308100"/>
            <a:ext cx="850900" cy="400050"/>
            <a:chOff x="5105400" y="1295400"/>
            <a:chExt cx="850900" cy="400050"/>
          </a:xfrm>
        </p:grpSpPr>
        <p:sp>
          <p:nvSpPr>
            <p:cNvPr id="63" name="圆角矩形 62"/>
            <p:cNvSpPr/>
            <p:nvPr/>
          </p:nvSpPr>
          <p:spPr>
            <a:xfrm>
              <a:off x="5105400" y="1295400"/>
              <a:ext cx="850900" cy="400050"/>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3321" name="Object 9"/>
            <p:cNvGraphicFramePr>
              <a:graphicFrameLocks noChangeAspect="1"/>
            </p:cNvGraphicFramePr>
            <p:nvPr/>
          </p:nvGraphicFramePr>
          <p:xfrm>
            <a:off x="5143500" y="1339850"/>
            <a:ext cx="774700" cy="323850"/>
          </p:xfrm>
          <a:graphic>
            <a:graphicData uri="http://schemas.openxmlformats.org/presentationml/2006/ole">
              <mc:AlternateContent xmlns:mc="http://schemas.openxmlformats.org/markup-compatibility/2006">
                <mc:Choice xmlns:v="urn:schemas-microsoft-com:vml" Requires="v">
                  <p:oleObj spid="_x0000_s37065" name="Equation" r:id="rId21" imgW="774065" imgH="279400" progId="Equation.DSMT4">
                    <p:embed/>
                  </p:oleObj>
                </mc:Choice>
                <mc:Fallback>
                  <p:oleObj name="Equation" r:id="rId21" imgW="774065" imgH="279400" progId="Equation.DSMT4">
                    <p:embed/>
                    <p:pic>
                      <p:nvPicPr>
                        <p:cNvPr id="0" name="Object 9"/>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143500" y="1339850"/>
                          <a:ext cx="774700" cy="323850"/>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8" name="组合 7"/>
          <p:cNvGrpSpPr/>
          <p:nvPr/>
        </p:nvGrpSpPr>
        <p:grpSpPr>
          <a:xfrm>
            <a:off x="6191250" y="1924050"/>
            <a:ext cx="350000" cy="2849150"/>
            <a:chOff x="6191250" y="1924050"/>
            <a:chExt cx="350000" cy="2849150"/>
          </a:xfrm>
        </p:grpSpPr>
        <p:graphicFrame>
          <p:nvGraphicFramePr>
            <p:cNvPr id="13330" name="Object 18"/>
            <p:cNvGraphicFramePr>
              <a:graphicFrameLocks noChangeAspect="1"/>
            </p:cNvGraphicFramePr>
            <p:nvPr/>
          </p:nvGraphicFramePr>
          <p:xfrm>
            <a:off x="6191250" y="1924050"/>
            <a:ext cx="350000" cy="252000"/>
          </p:xfrm>
          <a:graphic>
            <a:graphicData uri="http://schemas.openxmlformats.org/presentationml/2006/ole">
              <mc:AlternateContent xmlns:mc="http://schemas.openxmlformats.org/markup-compatibility/2006">
                <mc:Choice xmlns:v="urn:schemas-microsoft-com:vml" Requires="v">
                  <p:oleObj spid="_x0000_s37066" name="Equation" r:id="rId23" imgW="317500" imgH="228600" progId="">
                    <p:embed/>
                  </p:oleObj>
                </mc:Choice>
                <mc:Fallback>
                  <p:oleObj name="Equation" r:id="rId23" imgW="317500" imgH="228600" progId="">
                    <p:embed/>
                    <p:pic>
                      <p:nvPicPr>
                        <p:cNvPr id="0" name="Object 18"/>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6191250" y="1924050"/>
                          <a:ext cx="350000" cy="25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40" name="Object 28"/>
            <p:cNvGraphicFramePr>
              <a:graphicFrameLocks noChangeAspect="1"/>
            </p:cNvGraphicFramePr>
            <p:nvPr/>
          </p:nvGraphicFramePr>
          <p:xfrm>
            <a:off x="6191250" y="2295071"/>
            <a:ext cx="336000" cy="252000"/>
          </p:xfrm>
          <a:graphic>
            <a:graphicData uri="http://schemas.openxmlformats.org/presentationml/2006/ole">
              <mc:AlternateContent xmlns:mc="http://schemas.openxmlformats.org/markup-compatibility/2006">
                <mc:Choice xmlns:v="urn:schemas-microsoft-com:vml" Requires="v">
                  <p:oleObj spid="_x0000_s37067" name="Equation" r:id="rId25" imgW="304800" imgH="228600" progId="">
                    <p:embed/>
                  </p:oleObj>
                </mc:Choice>
                <mc:Fallback>
                  <p:oleObj name="Equation" r:id="rId25" imgW="304800" imgH="228600" progId="">
                    <p:embed/>
                    <p:pic>
                      <p:nvPicPr>
                        <p:cNvPr id="0" name="Object 28"/>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6191250" y="2295071"/>
                          <a:ext cx="336000" cy="25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41" name="Object 29"/>
            <p:cNvGraphicFramePr>
              <a:graphicFrameLocks noChangeAspect="1"/>
            </p:cNvGraphicFramePr>
            <p:nvPr/>
          </p:nvGraphicFramePr>
          <p:xfrm>
            <a:off x="6191250" y="2666092"/>
            <a:ext cx="350000" cy="252000"/>
          </p:xfrm>
          <a:graphic>
            <a:graphicData uri="http://schemas.openxmlformats.org/presentationml/2006/ole">
              <mc:AlternateContent xmlns:mc="http://schemas.openxmlformats.org/markup-compatibility/2006">
                <mc:Choice xmlns:v="urn:schemas-microsoft-com:vml" Requires="v">
                  <p:oleObj spid="_x0000_s37068" name="Equation" r:id="rId27" imgW="317500" imgH="228600" progId="">
                    <p:embed/>
                  </p:oleObj>
                </mc:Choice>
                <mc:Fallback>
                  <p:oleObj name="Equation" r:id="rId27" imgW="317500" imgH="228600" progId="">
                    <p:embed/>
                    <p:pic>
                      <p:nvPicPr>
                        <p:cNvPr id="0" name="Object 29"/>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6191250" y="2666092"/>
                          <a:ext cx="350000" cy="25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42" name="Object 30"/>
            <p:cNvGraphicFramePr>
              <a:graphicFrameLocks noChangeAspect="1"/>
            </p:cNvGraphicFramePr>
            <p:nvPr/>
          </p:nvGraphicFramePr>
          <p:xfrm>
            <a:off x="6191250" y="3037113"/>
            <a:ext cx="350000" cy="252000"/>
          </p:xfrm>
          <a:graphic>
            <a:graphicData uri="http://schemas.openxmlformats.org/presentationml/2006/ole">
              <mc:AlternateContent xmlns:mc="http://schemas.openxmlformats.org/markup-compatibility/2006">
                <mc:Choice xmlns:v="urn:schemas-microsoft-com:vml" Requires="v">
                  <p:oleObj spid="_x0000_s37069" name="Equation" r:id="rId29" imgW="317500" imgH="228600" progId="">
                    <p:embed/>
                  </p:oleObj>
                </mc:Choice>
                <mc:Fallback>
                  <p:oleObj name="Equation" r:id="rId29" imgW="317500" imgH="228600" progId="">
                    <p:embed/>
                    <p:pic>
                      <p:nvPicPr>
                        <p:cNvPr id="0" name="Object 30"/>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6191250" y="3037113"/>
                          <a:ext cx="350000" cy="25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43" name="Object 31"/>
            <p:cNvGraphicFramePr>
              <a:graphicFrameLocks noChangeAspect="1"/>
            </p:cNvGraphicFramePr>
            <p:nvPr/>
          </p:nvGraphicFramePr>
          <p:xfrm>
            <a:off x="6191250" y="3408134"/>
            <a:ext cx="350000" cy="252000"/>
          </p:xfrm>
          <a:graphic>
            <a:graphicData uri="http://schemas.openxmlformats.org/presentationml/2006/ole">
              <mc:AlternateContent xmlns:mc="http://schemas.openxmlformats.org/markup-compatibility/2006">
                <mc:Choice xmlns:v="urn:schemas-microsoft-com:vml" Requires="v">
                  <p:oleObj spid="_x0000_s37070" name="Equation" r:id="rId31" imgW="317500" imgH="228600" progId="">
                    <p:embed/>
                  </p:oleObj>
                </mc:Choice>
                <mc:Fallback>
                  <p:oleObj name="Equation" r:id="rId31" imgW="317500" imgH="228600" progId="">
                    <p:embed/>
                    <p:pic>
                      <p:nvPicPr>
                        <p:cNvPr id="0" name="Object 3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6191250" y="3408134"/>
                          <a:ext cx="350000" cy="25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44" name="Object 32"/>
            <p:cNvGraphicFramePr>
              <a:graphicFrameLocks noChangeAspect="1"/>
            </p:cNvGraphicFramePr>
            <p:nvPr/>
          </p:nvGraphicFramePr>
          <p:xfrm>
            <a:off x="6191250" y="3779155"/>
            <a:ext cx="350000" cy="252000"/>
          </p:xfrm>
          <a:graphic>
            <a:graphicData uri="http://schemas.openxmlformats.org/presentationml/2006/ole">
              <mc:AlternateContent xmlns:mc="http://schemas.openxmlformats.org/markup-compatibility/2006">
                <mc:Choice xmlns:v="urn:schemas-microsoft-com:vml" Requires="v">
                  <p:oleObj spid="_x0000_s37071" name="Equation" r:id="rId33" imgW="317500" imgH="228600" progId="">
                    <p:embed/>
                  </p:oleObj>
                </mc:Choice>
                <mc:Fallback>
                  <p:oleObj name="Equation" r:id="rId33" imgW="317500" imgH="228600" progId="">
                    <p:embed/>
                    <p:pic>
                      <p:nvPicPr>
                        <p:cNvPr id="0" name="Object 32"/>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6191250" y="3779155"/>
                          <a:ext cx="350000" cy="25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45" name="Object 33"/>
            <p:cNvGraphicFramePr>
              <a:graphicFrameLocks noChangeAspect="1"/>
            </p:cNvGraphicFramePr>
            <p:nvPr/>
          </p:nvGraphicFramePr>
          <p:xfrm>
            <a:off x="6191250" y="4150176"/>
            <a:ext cx="350000" cy="252000"/>
          </p:xfrm>
          <a:graphic>
            <a:graphicData uri="http://schemas.openxmlformats.org/presentationml/2006/ole">
              <mc:AlternateContent xmlns:mc="http://schemas.openxmlformats.org/markup-compatibility/2006">
                <mc:Choice xmlns:v="urn:schemas-microsoft-com:vml" Requires="v">
                  <p:oleObj spid="_x0000_s37072" name="Equation" r:id="rId35" imgW="317500" imgH="228600" progId="">
                    <p:embed/>
                  </p:oleObj>
                </mc:Choice>
                <mc:Fallback>
                  <p:oleObj name="Equation" r:id="rId35" imgW="317500" imgH="228600" progId="">
                    <p:embed/>
                    <p:pic>
                      <p:nvPicPr>
                        <p:cNvPr id="0" name="Object 33"/>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6191250" y="4150176"/>
                          <a:ext cx="350000" cy="25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3346" name="Object 34"/>
            <p:cNvGraphicFramePr>
              <a:graphicFrameLocks noChangeAspect="1"/>
            </p:cNvGraphicFramePr>
            <p:nvPr/>
          </p:nvGraphicFramePr>
          <p:xfrm>
            <a:off x="6191250" y="4521200"/>
            <a:ext cx="350000" cy="252000"/>
          </p:xfrm>
          <a:graphic>
            <a:graphicData uri="http://schemas.openxmlformats.org/presentationml/2006/ole">
              <mc:AlternateContent xmlns:mc="http://schemas.openxmlformats.org/markup-compatibility/2006">
                <mc:Choice xmlns:v="urn:schemas-microsoft-com:vml" Requires="v">
                  <p:oleObj spid="_x0000_s37073" name="Equation" r:id="rId37" imgW="317500" imgH="228600" progId="">
                    <p:embed/>
                  </p:oleObj>
                </mc:Choice>
                <mc:Fallback>
                  <p:oleObj name="Equation" r:id="rId37" imgW="317500" imgH="228600" progId="">
                    <p:embed/>
                    <p:pic>
                      <p:nvPicPr>
                        <p:cNvPr id="0" name="Object 34"/>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6191250" y="4521200"/>
                          <a:ext cx="350000" cy="25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03" name="组合 102"/>
          <p:cNvGrpSpPr/>
          <p:nvPr/>
        </p:nvGrpSpPr>
        <p:grpSpPr>
          <a:xfrm>
            <a:off x="7105647" y="2540000"/>
            <a:ext cx="965200" cy="431800"/>
            <a:chOff x="5222910" y="1370207"/>
            <a:chExt cx="615890" cy="294888"/>
          </a:xfrm>
        </p:grpSpPr>
        <p:sp>
          <p:nvSpPr>
            <p:cNvPr id="104" name="圆角矩形 103"/>
            <p:cNvSpPr/>
            <p:nvPr/>
          </p:nvSpPr>
          <p:spPr>
            <a:xfrm>
              <a:off x="5222910" y="1370207"/>
              <a:ext cx="615890" cy="294888"/>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05" name="Object 9"/>
            <p:cNvGraphicFramePr>
              <a:graphicFrameLocks noChangeAspect="1"/>
            </p:cNvGraphicFramePr>
            <p:nvPr/>
          </p:nvGraphicFramePr>
          <p:xfrm>
            <a:off x="5295840" y="1396226"/>
            <a:ext cx="470021" cy="254775"/>
          </p:xfrm>
          <a:graphic>
            <a:graphicData uri="http://schemas.openxmlformats.org/presentationml/2006/ole">
              <mc:AlternateContent xmlns:mc="http://schemas.openxmlformats.org/markup-compatibility/2006">
                <mc:Choice xmlns:v="urn:schemas-microsoft-com:vml" Requires="v">
                  <p:oleObj spid="_x0000_s37074" name="Equation" r:id="rId39" imgW="469900" imgH="254000" progId="">
                    <p:embed/>
                  </p:oleObj>
                </mc:Choice>
                <mc:Fallback>
                  <p:oleObj name="Equation" r:id="rId39" imgW="469900" imgH="254000" progId="">
                    <p:embed/>
                    <p:pic>
                      <p:nvPicPr>
                        <p:cNvPr id="0" name="Object 9"/>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5295840" y="1396226"/>
                          <a:ext cx="470021" cy="254775"/>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06" name="组合 105"/>
          <p:cNvGrpSpPr/>
          <p:nvPr/>
        </p:nvGrpSpPr>
        <p:grpSpPr>
          <a:xfrm>
            <a:off x="6689820" y="3150760"/>
            <a:ext cx="2193831" cy="1732390"/>
            <a:chOff x="3996990" y="2735180"/>
            <a:chExt cx="2126611" cy="1732390"/>
          </a:xfrm>
        </p:grpSpPr>
        <p:sp>
          <p:nvSpPr>
            <p:cNvPr id="107" name="圆角矩形 106"/>
            <p:cNvSpPr/>
            <p:nvPr/>
          </p:nvSpPr>
          <p:spPr>
            <a:xfrm>
              <a:off x="4203058" y="2855438"/>
              <a:ext cx="1920543" cy="1612132"/>
            </a:xfrm>
            <a:prstGeom prst="roundRect">
              <a:avLst>
                <a:gd name="adj" fmla="val 4386"/>
              </a:avLst>
            </a:prstGeom>
            <a:solidFill>
              <a:schemeClr val="bg1"/>
            </a:solidFill>
            <a:ln w="28575">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8900"/>
              <a:r>
                <a:rPr lang="zh-CN" altLang="en-US" b="1" dirty="0">
                  <a:solidFill>
                    <a:schemeClr val="tx1"/>
                  </a:solidFill>
                  <a:latin typeface="楷体" panose="02010609060101010101" pitchFamily="49" charset="-122"/>
                  <a:ea typeface="楷体" panose="02010609060101010101" pitchFamily="49" charset="-122"/>
                </a:rPr>
                <a:t>译码器的每个输出端等于代码输入变量</a:t>
              </a:r>
              <a:r>
                <a:rPr lang="en-US" altLang="zh-CN" b="1"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b="1"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2</a:t>
              </a:r>
              <a:r>
                <a:rPr lang="en-US" altLang="zh-CN" b="1"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b="1"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1</a:t>
              </a:r>
              <a:r>
                <a:rPr lang="en-US" altLang="zh-CN" b="1" i="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A</a:t>
              </a:r>
              <a:r>
                <a:rPr lang="en-US" altLang="zh-CN" b="1" baseline="-25000"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0</a:t>
              </a:r>
              <a:r>
                <a:rPr lang="zh-CN" altLang="en-US"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rPr>
                <a:t>构成对应最小项取非！</a:t>
              </a:r>
              <a:endParaRPr lang="zh-CN" altLang="en-US" b="1" dirty="0">
                <a:solidFill>
                  <a:schemeClr val="tx1"/>
                </a:solidFill>
                <a:latin typeface="Times New Roman" panose="02020603050405020304" pitchFamily="18" charset="0"/>
                <a:ea typeface="楷体" panose="02010609060101010101" pitchFamily="49" charset="-122"/>
                <a:cs typeface="Times New Roman" panose="02020603050405020304" pitchFamily="18" charset="0"/>
              </a:endParaRPr>
            </a:p>
          </p:txBody>
        </p:sp>
        <p:pic>
          <p:nvPicPr>
            <p:cNvPr id="108" name="Picture 32"/>
            <p:cNvPicPr>
              <a:picLocks noChangeAspect="1" noChangeArrowheads="1"/>
            </p:cNvPicPr>
            <p:nvPr/>
          </p:nvPicPr>
          <p:blipFill>
            <a:blip r:embed="rId41" cstate="print"/>
            <a:srcRect/>
            <a:stretch>
              <a:fillRect/>
            </a:stretch>
          </p:blipFill>
          <p:spPr bwMode="auto">
            <a:xfrm>
              <a:off x="3996990" y="2735180"/>
              <a:ext cx="412063" cy="441909"/>
            </a:xfrm>
            <a:prstGeom prst="rect">
              <a:avLst/>
            </a:prstGeom>
            <a:noFill/>
            <a:ln w="9525">
              <a:noFill/>
              <a:miter lim="800000"/>
              <a:headEnd/>
              <a:tailEnd/>
            </a:ln>
          </p:spPr>
        </p:pic>
      </p:grpSp>
      <p:grpSp>
        <p:nvGrpSpPr>
          <p:cNvPr id="6" name="组合 5"/>
          <p:cNvGrpSpPr/>
          <p:nvPr/>
        </p:nvGrpSpPr>
        <p:grpSpPr>
          <a:xfrm>
            <a:off x="742950" y="2159000"/>
            <a:ext cx="4121150" cy="756000"/>
            <a:chOff x="742950" y="2159000"/>
            <a:chExt cx="4121150" cy="756000"/>
          </a:xfrm>
        </p:grpSpPr>
        <p:sp>
          <p:nvSpPr>
            <p:cNvPr id="46" name="圆角矩形 45"/>
            <p:cNvSpPr/>
            <p:nvPr/>
          </p:nvSpPr>
          <p:spPr>
            <a:xfrm>
              <a:off x="1619250" y="2159000"/>
              <a:ext cx="864000" cy="756000"/>
            </a:xfrm>
            <a:prstGeom prst="roundRect">
              <a:avLst>
                <a:gd name="adj" fmla="val 7018"/>
              </a:avLst>
            </a:prstGeom>
            <a:solidFill>
              <a:srgbClr val="FFFF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a:off x="2501900" y="2159000"/>
              <a:ext cx="2362200" cy="756000"/>
            </a:xfrm>
            <a:prstGeom prst="roundRect">
              <a:avLst>
                <a:gd name="adj" fmla="val 7018"/>
              </a:avLst>
            </a:prstGeom>
            <a:solidFill>
              <a:srgbClr val="FFFF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圆角矩形 65"/>
            <p:cNvSpPr/>
            <p:nvPr/>
          </p:nvSpPr>
          <p:spPr>
            <a:xfrm>
              <a:off x="1035050" y="2413000"/>
              <a:ext cx="216000" cy="216000"/>
            </a:xfrm>
            <a:prstGeom prst="roundRect">
              <a:avLst>
                <a:gd name="adj" fmla="val 18783"/>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圆角矩形 66"/>
            <p:cNvSpPr/>
            <p:nvPr/>
          </p:nvSpPr>
          <p:spPr>
            <a:xfrm>
              <a:off x="1339850" y="2686050"/>
              <a:ext cx="216000" cy="216000"/>
            </a:xfrm>
            <a:prstGeom prst="roundRect">
              <a:avLst>
                <a:gd name="adj" fmla="val 18783"/>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9" name="圆角矩形 68"/>
            <p:cNvSpPr/>
            <p:nvPr/>
          </p:nvSpPr>
          <p:spPr>
            <a:xfrm>
              <a:off x="742950" y="2165350"/>
              <a:ext cx="216000" cy="216000"/>
            </a:xfrm>
            <a:prstGeom prst="roundRect">
              <a:avLst>
                <a:gd name="adj" fmla="val 18783"/>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10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10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64"/>
                                        </p:tgtEl>
                                        <p:attrNameLst>
                                          <p:attrName>style.visibility</p:attrName>
                                        </p:attrNameLst>
                                      </p:cBhvr>
                                      <p:to>
                                        <p:strVal val="visible"/>
                                      </p:to>
                                    </p:set>
                                    <p:animEffect transition="in" filter="slide(fromBottom)">
                                      <p:cBhvr>
                                        <p:cTn id="17" dur="1000"/>
                                        <p:tgtEl>
                                          <p:spTgt spid="64"/>
                                        </p:tgtEl>
                                      </p:cBhvr>
                                    </p:animEffect>
                                  </p:childTnLst>
                                </p:cTn>
                              </p:par>
                            </p:childTnLst>
                          </p:cTn>
                        </p:par>
                        <p:par>
                          <p:cTn id="18" fill="hold">
                            <p:stCondLst>
                              <p:cond delay="1000"/>
                            </p:stCondLst>
                            <p:childTnLst>
                              <p:par>
                                <p:cTn id="19" presetID="12" presetClass="entr" presetSubtype="8" fill="hold" nodeType="after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1000"/>
                                        <p:tgtEl>
                                          <p:spTgt spid="11"/>
                                        </p:tgtEl>
                                        <p:attrNameLst>
                                          <p:attrName>ppt_x</p:attrName>
                                        </p:attrNameLst>
                                      </p:cBhvr>
                                      <p:tavLst>
                                        <p:tav tm="0">
                                          <p:val>
                                            <p:strVal val="#ppt_x-#ppt_w*1.125000"/>
                                          </p:val>
                                        </p:tav>
                                        <p:tav tm="100000">
                                          <p:val>
                                            <p:strVal val="#ppt_x"/>
                                          </p:val>
                                        </p:tav>
                                      </p:tavLst>
                                    </p:anim>
                                    <p:animEffect transition="in" filter="wipe(right)">
                                      <p:cBhvr>
                                        <p:cTn id="22" dur="10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9"/>
                                        </p:tgtEl>
                                        <p:attrNameLst>
                                          <p:attrName>style.visibility</p:attrName>
                                        </p:attrNameLst>
                                      </p:cBhvr>
                                      <p:to>
                                        <p:strVal val="visible"/>
                                      </p:to>
                                    </p:set>
                                    <p:animEffect transition="in" filter="wipe(left)">
                                      <p:cBhvr>
                                        <p:cTn id="27" dur="1000"/>
                                        <p:tgtEl>
                                          <p:spTgt spid="8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74"/>
                                        </p:tgtEl>
                                        <p:attrNameLst>
                                          <p:attrName>style.visibility</p:attrName>
                                        </p:attrNameLst>
                                      </p:cBhvr>
                                      <p:to>
                                        <p:strVal val="visible"/>
                                      </p:to>
                                    </p:set>
                                    <p:animEffect transition="in" filter="wipe(left)">
                                      <p:cBhvr>
                                        <p:cTn id="32" dur="1000"/>
                                        <p:tgtEl>
                                          <p:spTgt spid="74"/>
                                        </p:tgtEl>
                                      </p:cBhvr>
                                    </p:animEffect>
                                  </p:childTnLst>
                                </p:cTn>
                              </p:par>
                            </p:childTnLst>
                          </p:cTn>
                        </p:par>
                        <p:par>
                          <p:cTn id="33" fill="hold">
                            <p:stCondLst>
                              <p:cond delay="1000"/>
                            </p:stCondLst>
                            <p:childTnLst>
                              <p:par>
                                <p:cTn id="34" presetID="12" presetClass="entr" presetSubtype="8" fill="hold" nodeType="after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1000"/>
                                        <p:tgtEl>
                                          <p:spTgt spid="8"/>
                                        </p:tgtEl>
                                        <p:attrNameLst>
                                          <p:attrName>ppt_x</p:attrName>
                                        </p:attrNameLst>
                                      </p:cBhvr>
                                      <p:tavLst>
                                        <p:tav tm="0">
                                          <p:val>
                                            <p:strVal val="#ppt_x-#ppt_w*1.125000"/>
                                          </p:val>
                                        </p:tav>
                                        <p:tav tm="100000">
                                          <p:val>
                                            <p:strVal val="#ppt_x"/>
                                          </p:val>
                                        </p:tav>
                                      </p:tavLst>
                                    </p:anim>
                                    <p:animEffect transition="in" filter="wipe(right)">
                                      <p:cBhvr>
                                        <p:cTn id="37" dur="10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4" fill="hold" nodeType="clickEffect">
                                  <p:stCondLst>
                                    <p:cond delay="0"/>
                                  </p:stCondLst>
                                  <p:childTnLst>
                                    <p:set>
                                      <p:cBhvr>
                                        <p:cTn id="41" dur="1" fill="hold">
                                          <p:stCondLst>
                                            <p:cond delay="0"/>
                                          </p:stCondLst>
                                        </p:cTn>
                                        <p:tgtEl>
                                          <p:spTgt spid="103"/>
                                        </p:tgtEl>
                                        <p:attrNameLst>
                                          <p:attrName>style.visibility</p:attrName>
                                        </p:attrNameLst>
                                      </p:cBhvr>
                                      <p:to>
                                        <p:strVal val="visible"/>
                                      </p:to>
                                    </p:set>
                                    <p:animEffect transition="in" filter="slide(fromBottom)">
                                      <p:cBhvr>
                                        <p:cTn id="42" dur="1000"/>
                                        <p:tgtEl>
                                          <p:spTgt spid="103"/>
                                        </p:tgtEl>
                                      </p:cBhvr>
                                    </p:animEffect>
                                  </p:childTnLst>
                                </p:cTn>
                              </p:par>
                            </p:childTnLst>
                          </p:cTn>
                        </p:par>
                        <p:par>
                          <p:cTn id="43" fill="hold">
                            <p:stCondLst>
                              <p:cond delay="1000"/>
                            </p:stCondLst>
                            <p:childTnLst>
                              <p:par>
                                <p:cTn id="44" presetID="12" presetClass="entr" presetSubtype="4" fill="hold" nodeType="afterEffect">
                                  <p:stCondLst>
                                    <p:cond delay="0"/>
                                  </p:stCondLst>
                                  <p:childTnLst>
                                    <p:set>
                                      <p:cBhvr>
                                        <p:cTn id="45" dur="1" fill="hold">
                                          <p:stCondLst>
                                            <p:cond delay="0"/>
                                          </p:stCondLst>
                                        </p:cTn>
                                        <p:tgtEl>
                                          <p:spTgt spid="106"/>
                                        </p:tgtEl>
                                        <p:attrNameLst>
                                          <p:attrName>style.visibility</p:attrName>
                                        </p:attrNameLst>
                                      </p:cBhvr>
                                      <p:to>
                                        <p:strVal val="visible"/>
                                      </p:to>
                                    </p:set>
                                    <p:animEffect transition="in" filter="slide(fromBottom)">
                                      <p:cBhvr>
                                        <p:cTn id="46" dur="10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4778916" y="827775"/>
            <a:ext cx="3073400" cy="651713"/>
            <a:chOff x="4778917" y="789020"/>
            <a:chExt cx="3073400" cy="651713"/>
          </a:xfrm>
        </p:grpSpPr>
        <p:sp>
          <p:nvSpPr>
            <p:cNvPr id="141" name="五边形 140"/>
            <p:cNvSpPr/>
            <p:nvPr/>
          </p:nvSpPr>
          <p:spPr>
            <a:xfrm>
              <a:off x="4778917" y="790607"/>
              <a:ext cx="966787" cy="432000"/>
            </a:xfrm>
            <a:prstGeom prst="homePlate">
              <a:avLst>
                <a:gd name="adj" fmla="val 31259"/>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线</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线</a:t>
              </a:r>
              <a:endParaRPr lang="zh-CN" altLang="en-US" sz="1600" dirty="0">
                <a:latin typeface="微软雅黑" panose="020B0503020204020204" pitchFamily="34" charset="-122"/>
                <a:ea typeface="微软雅黑" panose="020B0503020204020204" pitchFamily="34" charset="-122"/>
              </a:endParaRPr>
            </a:p>
          </p:txBody>
        </p:sp>
        <p:sp>
          <p:nvSpPr>
            <p:cNvPr id="142" name="燕尾形 141"/>
            <p:cNvSpPr/>
            <p:nvPr/>
          </p:nvSpPr>
          <p:spPr>
            <a:xfrm>
              <a:off x="5636164" y="790607"/>
              <a:ext cx="1087440" cy="432000"/>
            </a:xfrm>
            <a:prstGeom prst="chevron">
              <a:avLst>
                <a:gd name="adj" fmla="val 30155"/>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线</a:t>
              </a:r>
              <a:r>
                <a:rPr lang="en-US" altLang="zh-CN" sz="1600" dirty="0">
                  <a:latin typeface="微软雅黑" panose="020B0503020204020204" pitchFamily="34" charset="-122"/>
                  <a:ea typeface="微软雅黑" panose="020B0503020204020204" pitchFamily="34" charset="-122"/>
                </a:rPr>
                <a:t>-8</a:t>
              </a:r>
              <a:r>
                <a:rPr lang="zh-CN" altLang="en-US" sz="1600" dirty="0">
                  <a:latin typeface="微软雅黑" panose="020B0503020204020204" pitchFamily="34" charset="-122"/>
                  <a:ea typeface="微软雅黑" panose="020B0503020204020204" pitchFamily="34" charset="-122"/>
                </a:rPr>
                <a:t>线</a:t>
              </a:r>
              <a:endParaRPr lang="zh-CN" altLang="en-US" sz="1600" dirty="0">
                <a:latin typeface="微软雅黑" panose="020B0503020204020204" pitchFamily="34" charset="-122"/>
                <a:ea typeface="微软雅黑" panose="020B0503020204020204" pitchFamily="34" charset="-122"/>
              </a:endParaRPr>
            </a:p>
          </p:txBody>
        </p:sp>
        <p:sp>
          <p:nvSpPr>
            <p:cNvPr id="143" name="燕尾形 142"/>
            <p:cNvSpPr/>
            <p:nvPr/>
          </p:nvSpPr>
          <p:spPr>
            <a:xfrm>
              <a:off x="6628351" y="789020"/>
              <a:ext cx="1223966" cy="432000"/>
            </a:xfrm>
            <a:prstGeom prst="chevron">
              <a:avLst>
                <a:gd name="adj" fmla="val 30155"/>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线</a:t>
              </a:r>
              <a:r>
                <a:rPr lang="en-US" altLang="zh-CN" sz="1600" dirty="0">
                  <a:latin typeface="微软雅黑" panose="020B0503020204020204" pitchFamily="34" charset="-122"/>
                  <a:ea typeface="微软雅黑" panose="020B0503020204020204" pitchFamily="34" charset="-122"/>
                </a:rPr>
                <a:t>-16</a:t>
              </a:r>
              <a:r>
                <a:rPr lang="zh-CN" altLang="en-US" sz="1600" dirty="0">
                  <a:latin typeface="微软雅黑" panose="020B0503020204020204" pitchFamily="34" charset="-122"/>
                  <a:ea typeface="微软雅黑" panose="020B0503020204020204" pitchFamily="34" charset="-122"/>
                </a:rPr>
                <a:t>线</a:t>
              </a:r>
              <a:endParaRPr lang="zh-CN" altLang="en-US" sz="1600" dirty="0">
                <a:latin typeface="微软雅黑" panose="020B0503020204020204" pitchFamily="34" charset="-122"/>
                <a:ea typeface="微软雅黑" panose="020B0503020204020204" pitchFamily="34" charset="-122"/>
              </a:endParaRPr>
            </a:p>
          </p:txBody>
        </p:sp>
        <p:sp>
          <p:nvSpPr>
            <p:cNvPr id="150" name="下弧形箭头 149"/>
            <p:cNvSpPr/>
            <p:nvPr/>
          </p:nvSpPr>
          <p:spPr>
            <a:xfrm>
              <a:off x="5110966" y="1160754"/>
              <a:ext cx="1137788" cy="279979"/>
            </a:xfrm>
            <a:prstGeom prst="curved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1" name="下弧形箭头 150"/>
            <p:cNvSpPr/>
            <p:nvPr/>
          </p:nvSpPr>
          <p:spPr>
            <a:xfrm>
              <a:off x="6267121" y="1160754"/>
              <a:ext cx="1137788" cy="279979"/>
            </a:xfrm>
            <a:prstGeom prst="curved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grpSp>
        <p:nvGrpSpPr>
          <p:cNvPr id="65" name="组合 17"/>
          <p:cNvGrpSpPr/>
          <p:nvPr/>
        </p:nvGrpSpPr>
        <p:grpSpPr>
          <a:xfrm>
            <a:off x="392432" y="769746"/>
            <a:ext cx="3114144" cy="420971"/>
            <a:chOff x="670560" y="892917"/>
            <a:chExt cx="3114144" cy="420971"/>
          </a:xfrm>
        </p:grpSpPr>
        <p:sp>
          <p:nvSpPr>
            <p:cNvPr id="70" name="矩形 69"/>
            <p:cNvSpPr/>
            <p:nvPr/>
          </p:nvSpPr>
          <p:spPr>
            <a:xfrm>
              <a:off x="1035233" y="913778"/>
              <a:ext cx="2749471"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集成电路译码器的应用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7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17" name="Rectangle 27"/>
          <p:cNvSpPr>
            <a:spLocks noChangeArrowheads="1"/>
          </p:cNvSpPr>
          <p:nvPr/>
        </p:nvSpPr>
        <p:spPr bwMode="auto">
          <a:xfrm>
            <a:off x="577511" y="1237292"/>
            <a:ext cx="2033285" cy="369332"/>
          </a:xfrm>
          <a:prstGeom prst="rect">
            <a:avLst/>
          </a:prstGeom>
          <a:noFill/>
          <a:ln w="9525" algn="ctr">
            <a:noFill/>
            <a:miter lim="800000"/>
          </a:ln>
          <a:effectLst/>
        </p:spPr>
        <p:txBody>
          <a:bodyPr wrap="square" lIns="0" rIns="0">
            <a:spAutoFit/>
          </a:bodyPr>
          <a:lstStyle/>
          <a:p>
            <a:pPr>
              <a:defRPr/>
            </a:pPr>
            <a:r>
              <a:rPr lang="en-US" altLang="zh-CN" b="1" dirty="0">
                <a:solidFill>
                  <a:srgbClr val="6600FF"/>
                </a:solidFill>
                <a:latin typeface="黑体" panose="02010609060101010101" pitchFamily="49" charset="-122"/>
                <a:ea typeface="黑体" panose="02010609060101010101" pitchFamily="49" charset="-122"/>
              </a:rPr>
              <a:t>1</a:t>
            </a:r>
            <a:r>
              <a:rPr lang="zh-CN" altLang="en-US" b="1" dirty="0">
                <a:solidFill>
                  <a:srgbClr val="6600FF"/>
                </a:solidFill>
                <a:latin typeface="黑体" panose="02010609060101010101" pitchFamily="49" charset="-122"/>
                <a:ea typeface="黑体" panose="02010609060101010101" pitchFamily="49" charset="-122"/>
              </a:rPr>
              <a:t>、译码器的扩展</a:t>
            </a:r>
            <a:endParaRPr lang="zh-CN" altLang="en-US" b="1" dirty="0">
              <a:solidFill>
                <a:srgbClr val="6600FF"/>
              </a:solidFill>
              <a:latin typeface="黑体" panose="02010609060101010101" pitchFamily="49" charset="-122"/>
              <a:ea typeface="黑体" panose="02010609060101010101" pitchFamily="49" charset="-122"/>
            </a:endParaRPr>
          </a:p>
        </p:txBody>
      </p:sp>
      <p:graphicFrame>
        <p:nvGraphicFramePr>
          <p:cNvPr id="3" name="对象 2"/>
          <p:cNvGraphicFramePr>
            <a:graphicFrameLocks noChangeAspect="1"/>
          </p:cNvGraphicFramePr>
          <p:nvPr/>
        </p:nvGraphicFramePr>
        <p:xfrm>
          <a:off x="867463" y="1768259"/>
          <a:ext cx="4021812" cy="2178481"/>
        </p:xfrm>
        <a:graphic>
          <a:graphicData uri="http://schemas.openxmlformats.org/presentationml/2006/ole">
            <mc:AlternateContent xmlns:mc="http://schemas.openxmlformats.org/markup-compatibility/2006">
              <mc:Choice xmlns:v="urn:schemas-microsoft-com:vml" Requires="v">
                <p:oleObj spid="_x0000_s37900" name="" r:id="rId2" imgW="2334895" imgH="1274445" progId="Visio.Drawing.11">
                  <p:embed/>
                </p:oleObj>
              </mc:Choice>
              <mc:Fallback>
                <p:oleObj name="" r:id="rId2" imgW="2334895" imgH="1274445" progId="Visio.Drawing.11">
                  <p:embed/>
                  <p:pic>
                    <p:nvPicPr>
                      <p:cNvPr id="0"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7463" y="1768259"/>
                        <a:ext cx="4021812" cy="2178481"/>
                      </a:xfrm>
                      <a:prstGeom prst="rect">
                        <a:avLst/>
                      </a:prstGeom>
                      <a:noFill/>
                    </p:spPr>
                  </p:pic>
                </p:oleObj>
              </mc:Fallback>
            </mc:AlternateContent>
          </a:graphicData>
        </a:graphic>
      </p:graphicFrame>
      <p:grpSp>
        <p:nvGrpSpPr>
          <p:cNvPr id="6" name="组合 5"/>
          <p:cNvGrpSpPr/>
          <p:nvPr/>
        </p:nvGrpSpPr>
        <p:grpSpPr>
          <a:xfrm>
            <a:off x="2201316" y="2755900"/>
            <a:ext cx="2106293" cy="1190840"/>
            <a:chOff x="2201316" y="2755900"/>
            <a:chExt cx="2106293" cy="1190840"/>
          </a:xfrm>
        </p:grpSpPr>
        <p:grpSp>
          <p:nvGrpSpPr>
            <p:cNvPr id="4" name="组合 3"/>
            <p:cNvGrpSpPr/>
            <p:nvPr/>
          </p:nvGrpSpPr>
          <p:grpSpPr>
            <a:xfrm>
              <a:off x="2239416" y="2755900"/>
              <a:ext cx="2068193" cy="382013"/>
              <a:chOff x="2239416" y="2755900"/>
              <a:chExt cx="2068193" cy="382013"/>
            </a:xfrm>
          </p:grpSpPr>
          <p:sp>
            <p:nvSpPr>
              <p:cNvPr id="16" name="圆角矩形 56"/>
              <p:cNvSpPr/>
              <p:nvPr/>
            </p:nvSpPr>
            <p:spPr>
              <a:xfrm>
                <a:off x="2239416" y="2755900"/>
                <a:ext cx="237084" cy="382013"/>
              </a:xfrm>
              <a:prstGeom prst="roundRect">
                <a:avLst>
                  <a:gd name="adj" fmla="val 1428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圆角矩形 56"/>
              <p:cNvSpPr/>
              <p:nvPr/>
            </p:nvSpPr>
            <p:spPr>
              <a:xfrm>
                <a:off x="4070525" y="2755900"/>
                <a:ext cx="237084" cy="382013"/>
              </a:xfrm>
              <a:prstGeom prst="roundRect">
                <a:avLst>
                  <a:gd name="adj" fmla="val 1428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圆角矩形 56"/>
            <p:cNvSpPr/>
            <p:nvPr/>
          </p:nvSpPr>
          <p:spPr>
            <a:xfrm>
              <a:off x="2201316" y="3625850"/>
              <a:ext cx="237084" cy="320890"/>
            </a:xfrm>
            <a:prstGeom prst="roundRect">
              <a:avLst>
                <a:gd name="adj" fmla="val 1428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6"/>
          <p:cNvGrpSpPr/>
          <p:nvPr/>
        </p:nvGrpSpPr>
        <p:grpSpPr>
          <a:xfrm>
            <a:off x="1063858" y="2767870"/>
            <a:ext cx="2739968" cy="1178869"/>
            <a:chOff x="1063858" y="2767870"/>
            <a:chExt cx="2739968" cy="1178869"/>
          </a:xfrm>
        </p:grpSpPr>
        <p:grpSp>
          <p:nvGrpSpPr>
            <p:cNvPr id="21" name="组合 20"/>
            <p:cNvGrpSpPr/>
            <p:nvPr/>
          </p:nvGrpSpPr>
          <p:grpSpPr>
            <a:xfrm>
              <a:off x="1097743" y="2767870"/>
              <a:ext cx="2706083" cy="382013"/>
              <a:chOff x="2239416" y="2755900"/>
              <a:chExt cx="2454202" cy="382013"/>
            </a:xfrm>
          </p:grpSpPr>
          <p:sp>
            <p:nvSpPr>
              <p:cNvPr id="22" name="圆角矩形 56"/>
              <p:cNvSpPr/>
              <p:nvPr/>
            </p:nvSpPr>
            <p:spPr>
              <a:xfrm>
                <a:off x="2239416" y="2755900"/>
                <a:ext cx="590691" cy="382013"/>
              </a:xfrm>
              <a:prstGeom prst="roundRect">
                <a:avLst>
                  <a:gd name="adj" fmla="val 1428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圆角矩形 56"/>
              <p:cNvSpPr/>
              <p:nvPr/>
            </p:nvSpPr>
            <p:spPr>
              <a:xfrm>
                <a:off x="4070525" y="2755900"/>
                <a:ext cx="623093" cy="382013"/>
              </a:xfrm>
              <a:prstGeom prst="roundRect">
                <a:avLst>
                  <a:gd name="adj" fmla="val 1428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圆角矩形 56"/>
            <p:cNvSpPr/>
            <p:nvPr/>
          </p:nvSpPr>
          <p:spPr>
            <a:xfrm>
              <a:off x="1063858" y="3619334"/>
              <a:ext cx="685199" cy="327405"/>
            </a:xfrm>
            <a:prstGeom prst="roundRect">
              <a:avLst>
                <a:gd name="adj" fmla="val 1428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2463800" y="2757772"/>
            <a:ext cx="2315116" cy="1188968"/>
            <a:chOff x="2463800" y="2757772"/>
            <a:chExt cx="2315116" cy="1188968"/>
          </a:xfrm>
        </p:grpSpPr>
        <p:grpSp>
          <p:nvGrpSpPr>
            <p:cNvPr id="25" name="组合 24"/>
            <p:cNvGrpSpPr/>
            <p:nvPr/>
          </p:nvGrpSpPr>
          <p:grpSpPr>
            <a:xfrm>
              <a:off x="2466109" y="2757772"/>
              <a:ext cx="2312807" cy="382013"/>
              <a:chOff x="2239416" y="2755900"/>
              <a:chExt cx="2312807" cy="382013"/>
            </a:xfrm>
          </p:grpSpPr>
          <p:sp>
            <p:nvSpPr>
              <p:cNvPr id="26" name="圆角矩形 56"/>
              <p:cNvSpPr/>
              <p:nvPr/>
            </p:nvSpPr>
            <p:spPr>
              <a:xfrm>
                <a:off x="2239416" y="2755900"/>
                <a:ext cx="237084" cy="382013"/>
              </a:xfrm>
              <a:prstGeom prst="roundRect">
                <a:avLst>
                  <a:gd name="adj" fmla="val 1428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56"/>
              <p:cNvSpPr/>
              <p:nvPr/>
            </p:nvSpPr>
            <p:spPr>
              <a:xfrm>
                <a:off x="4070524" y="2755900"/>
                <a:ext cx="481699" cy="382013"/>
              </a:xfrm>
              <a:prstGeom prst="roundRect">
                <a:avLst>
                  <a:gd name="adj" fmla="val 1428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8" name="圆角矩形 56"/>
            <p:cNvSpPr/>
            <p:nvPr/>
          </p:nvSpPr>
          <p:spPr>
            <a:xfrm>
              <a:off x="2463800" y="3625850"/>
              <a:ext cx="237084" cy="320890"/>
            </a:xfrm>
            <a:prstGeom prst="roundRect">
              <a:avLst>
                <a:gd name="adj" fmla="val 1428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9" name="圆角矩形 56"/>
          <p:cNvSpPr/>
          <p:nvPr/>
        </p:nvSpPr>
        <p:spPr>
          <a:xfrm>
            <a:off x="1974851" y="2755900"/>
            <a:ext cx="237084" cy="482599"/>
          </a:xfrm>
          <a:prstGeom prst="roundRect">
            <a:avLst>
              <a:gd name="adj" fmla="val 1428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圆角矩形 56"/>
          <p:cNvSpPr/>
          <p:nvPr/>
        </p:nvSpPr>
        <p:spPr>
          <a:xfrm>
            <a:off x="945316" y="1730813"/>
            <a:ext cx="3833600" cy="345262"/>
          </a:xfrm>
          <a:prstGeom prst="roundRect">
            <a:avLst>
              <a:gd name="adj" fmla="val 3247"/>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7" presetClass="entr" presetSubtype="8"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ppt_x</p:attrName>
                                        </p:attrNameLst>
                                      </p:cBhvr>
                                      <p:tavLst>
                                        <p:tav tm="0">
                                          <p:val>
                                            <p:strVal val="#ppt_x-#ppt_w/2"/>
                                          </p:val>
                                        </p:tav>
                                        <p:tav tm="100000">
                                          <p:val>
                                            <p:strVal val="#ppt_x"/>
                                          </p:val>
                                        </p:tav>
                                      </p:tavLst>
                                    </p:anim>
                                    <p:anim calcmode="lin" valueType="num">
                                      <p:cBhvr>
                                        <p:cTn id="8" dur="1000" fill="hold"/>
                                        <p:tgtEl>
                                          <p:spTgt spid="5"/>
                                        </p:tgtEl>
                                        <p:attrNameLst>
                                          <p:attrName>ppt_y</p:attrName>
                                        </p:attrNameLst>
                                      </p:cBhvr>
                                      <p:tavLst>
                                        <p:tav tm="0">
                                          <p:val>
                                            <p:strVal val="#ppt_y"/>
                                          </p:val>
                                        </p:tav>
                                        <p:tav tm="100000">
                                          <p:val>
                                            <p:strVal val="#ppt_y"/>
                                          </p:val>
                                        </p:tav>
                                      </p:tavLst>
                                    </p:anim>
                                    <p:anim calcmode="lin" valueType="num">
                                      <p:cBhvr>
                                        <p:cTn id="9" dur="1000" fill="hold"/>
                                        <p:tgtEl>
                                          <p:spTgt spid="5"/>
                                        </p:tgtEl>
                                        <p:attrNameLst>
                                          <p:attrName>ppt_w</p:attrName>
                                        </p:attrNameLst>
                                      </p:cBhvr>
                                      <p:tavLst>
                                        <p:tav tm="0">
                                          <p:val>
                                            <p:fltVal val="0"/>
                                          </p:val>
                                        </p:tav>
                                        <p:tav tm="100000">
                                          <p:val>
                                            <p:strVal val="#ppt_w"/>
                                          </p:val>
                                        </p:tav>
                                      </p:tavLst>
                                    </p:anim>
                                    <p:anim calcmode="lin" valueType="num">
                                      <p:cBhvr>
                                        <p:cTn id="10" dur="1000" fill="hold"/>
                                        <p:tgtEl>
                                          <p:spTgt spid="5"/>
                                        </p:tgtEl>
                                        <p:attrNameLst>
                                          <p:attrName>ppt_h</p:attrName>
                                        </p:attrNameLst>
                                      </p:cBhvr>
                                      <p:tavLst>
                                        <p:tav tm="0">
                                          <p:val>
                                            <p:strVal val="#ppt_h"/>
                                          </p:val>
                                        </p:tav>
                                        <p:tav tm="100000">
                                          <p:val>
                                            <p:strVal val="#ppt_h"/>
                                          </p:val>
                                        </p:tav>
                                      </p:tavLst>
                                    </p:anim>
                                  </p:childTnLst>
                                </p:cTn>
                              </p:par>
                            </p:childTnLst>
                          </p:cTn>
                        </p:par>
                      </p:childTnLst>
                    </p:cTn>
                  </p:par>
                  <p:par>
                    <p:cTn id="11" fill="hold">
                      <p:stCondLst>
                        <p:cond delay="indefinite"/>
                      </p:stCondLst>
                      <p:childTnLst>
                        <p:par>
                          <p:cTn id="12" fill="hold">
                            <p:stCondLst>
                              <p:cond delay="0"/>
                            </p:stCondLst>
                            <p:childTnLst>
                              <p:par>
                                <p:cTn id="13" presetID="12" presetClass="entr" presetSubtype="4"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1000"/>
                                        <p:tgtEl>
                                          <p:spTgt spid="3"/>
                                        </p:tgtEl>
                                        <p:attrNameLst>
                                          <p:attrName>ppt_y</p:attrName>
                                        </p:attrNameLst>
                                      </p:cBhvr>
                                      <p:tavLst>
                                        <p:tav tm="0">
                                          <p:val>
                                            <p:strVal val="#ppt_y+#ppt_h*1.125000"/>
                                          </p:val>
                                        </p:tav>
                                        <p:tav tm="100000">
                                          <p:val>
                                            <p:strVal val="#ppt_y"/>
                                          </p:val>
                                        </p:tav>
                                      </p:tavLst>
                                    </p:anim>
                                    <p:animEffect transition="in" filter="wipe(up)">
                                      <p:cBhvr>
                                        <p:cTn id="16" dur="1000"/>
                                        <p:tgtEl>
                                          <p:spTgt spid="3"/>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up)">
                                      <p:cBhvr>
                                        <p:cTn id="21" dur="10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subTnLst>
                                </p:cTn>
                              </p:par>
                            </p:childTnLst>
                          </p:cTn>
                        </p:par>
                      </p:childTnLst>
                    </p:cTn>
                  </p:par>
                  <p:par>
                    <p:cTn id="22" fill="hold">
                      <p:stCondLst>
                        <p:cond delay="indefinite"/>
                      </p:stCondLst>
                      <p:childTnLst>
                        <p:par>
                          <p:cTn id="23" fill="hold">
                            <p:stCondLst>
                              <p:cond delay="0"/>
                            </p:stCondLst>
                            <p:childTnLst>
                              <p:par>
                                <p:cTn id="24" presetID="22" presetClass="entr" presetSubtype="1"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wipe(up)">
                                      <p:cBhvr>
                                        <p:cTn id="26" dur="1000"/>
                                        <p:tgtEl>
                                          <p:spTgt spid="7"/>
                                        </p:tgtEl>
                                      </p:cBhvr>
                                    </p:animEffect>
                                  </p:childTnLst>
                                  <p:subTnLst>
                                    <p:set>
                                      <p:cBhvr override="childStyle">
                                        <p:cTn dur="1" fill="hold" display="0" masterRel="nextClick" afterEffect="1"/>
                                        <p:tgtEl>
                                          <p:spTgt spid="7"/>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22" presetClass="entr" presetSubtype="1"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Effect transition="in" filter="wipe(up)">
                                      <p:cBhvr>
                                        <p:cTn id="31" dur="1000"/>
                                        <p:tgtEl>
                                          <p:spTgt spid="8"/>
                                        </p:tgtEl>
                                      </p:cBhvr>
                                    </p:animEffect>
                                  </p:childTnLst>
                                </p:cTn>
                              </p:par>
                            </p:childTnLst>
                          </p:cTn>
                        </p:par>
                        <p:par>
                          <p:cTn id="32" fill="hold">
                            <p:stCondLst>
                              <p:cond delay="1000"/>
                            </p:stCondLst>
                            <p:childTnLst>
                              <p:par>
                                <p:cTn id="33" presetID="22" presetClass="entr" presetSubtype="1" fill="hold" grpId="0" nodeType="afterEffect">
                                  <p:stCondLst>
                                    <p:cond delay="0"/>
                                  </p:stCondLst>
                                  <p:childTnLst>
                                    <p:set>
                                      <p:cBhvr>
                                        <p:cTn id="34" dur="1" fill="hold">
                                          <p:stCondLst>
                                            <p:cond delay="0"/>
                                          </p:stCondLst>
                                        </p:cTn>
                                        <p:tgtEl>
                                          <p:spTgt spid="29"/>
                                        </p:tgtEl>
                                        <p:attrNameLst>
                                          <p:attrName>style.visibility</p:attrName>
                                        </p:attrNameLst>
                                      </p:cBhvr>
                                      <p:to>
                                        <p:strVal val="visible"/>
                                      </p:to>
                                    </p:set>
                                    <p:animEffect transition="in" filter="wipe(up)">
                                      <p:cBhvr>
                                        <p:cTn id="35" dur="1000"/>
                                        <p:tgtEl>
                                          <p:spTgt spid="29"/>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1" fill="hold" grpId="0" nodeType="clickEffect">
                                  <p:stCondLst>
                                    <p:cond delay="0"/>
                                  </p:stCondLst>
                                  <p:childTnLst>
                                    <p:set>
                                      <p:cBhvr>
                                        <p:cTn id="39" dur="1" fill="hold">
                                          <p:stCondLst>
                                            <p:cond delay="0"/>
                                          </p:stCondLst>
                                        </p:cTn>
                                        <p:tgtEl>
                                          <p:spTgt spid="35"/>
                                        </p:tgtEl>
                                        <p:attrNameLst>
                                          <p:attrName>style.visibility</p:attrName>
                                        </p:attrNameLst>
                                      </p:cBhvr>
                                      <p:to>
                                        <p:strVal val="visible"/>
                                      </p:to>
                                    </p:set>
                                    <p:animEffect transition="in" filter="wipe(up)">
                                      <p:cBhvr>
                                        <p:cTn id="40" dur="1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3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组合 17"/>
          <p:cNvGrpSpPr/>
          <p:nvPr/>
        </p:nvGrpSpPr>
        <p:grpSpPr>
          <a:xfrm>
            <a:off x="392432" y="769746"/>
            <a:ext cx="3114144" cy="420971"/>
            <a:chOff x="670560" y="892917"/>
            <a:chExt cx="3114144" cy="420971"/>
          </a:xfrm>
        </p:grpSpPr>
        <p:sp>
          <p:nvSpPr>
            <p:cNvPr id="70" name="矩形 69"/>
            <p:cNvSpPr/>
            <p:nvPr/>
          </p:nvSpPr>
          <p:spPr>
            <a:xfrm>
              <a:off x="1035233" y="913778"/>
              <a:ext cx="2749471"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集成电路译码器的应用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7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17" name="Rectangle 27"/>
          <p:cNvSpPr>
            <a:spLocks noChangeArrowheads="1"/>
          </p:cNvSpPr>
          <p:nvPr/>
        </p:nvSpPr>
        <p:spPr bwMode="auto">
          <a:xfrm>
            <a:off x="577511" y="1237292"/>
            <a:ext cx="2033285" cy="369332"/>
          </a:xfrm>
          <a:prstGeom prst="rect">
            <a:avLst/>
          </a:prstGeom>
          <a:noFill/>
          <a:ln w="9525" algn="ctr">
            <a:noFill/>
            <a:miter lim="800000"/>
          </a:ln>
          <a:effectLst/>
        </p:spPr>
        <p:txBody>
          <a:bodyPr wrap="square" lIns="0" rIns="0">
            <a:spAutoFit/>
          </a:bodyPr>
          <a:lstStyle/>
          <a:p>
            <a:pPr>
              <a:defRPr/>
            </a:pPr>
            <a:r>
              <a:rPr lang="en-US" altLang="zh-CN" b="1" dirty="0">
                <a:solidFill>
                  <a:srgbClr val="6600FF"/>
                </a:solidFill>
                <a:latin typeface="黑体" panose="02010609060101010101" pitchFamily="49" charset="-122"/>
                <a:ea typeface="黑体" panose="02010609060101010101" pitchFamily="49" charset="-122"/>
              </a:rPr>
              <a:t>1</a:t>
            </a:r>
            <a:r>
              <a:rPr lang="zh-CN" altLang="en-US" b="1" dirty="0">
                <a:solidFill>
                  <a:srgbClr val="6600FF"/>
                </a:solidFill>
                <a:latin typeface="黑体" panose="02010609060101010101" pitchFamily="49" charset="-122"/>
                <a:ea typeface="黑体" panose="02010609060101010101" pitchFamily="49" charset="-122"/>
              </a:rPr>
              <a:t>、译码器的扩展</a:t>
            </a:r>
            <a:endParaRPr lang="zh-CN" altLang="en-US" b="1" dirty="0">
              <a:solidFill>
                <a:srgbClr val="6600FF"/>
              </a:solidFill>
              <a:latin typeface="黑体" panose="02010609060101010101" pitchFamily="49" charset="-122"/>
              <a:ea typeface="黑体" panose="02010609060101010101" pitchFamily="49" charset="-122"/>
            </a:endParaRPr>
          </a:p>
        </p:txBody>
      </p:sp>
      <p:graphicFrame>
        <p:nvGraphicFramePr>
          <p:cNvPr id="3" name="对象 2"/>
          <p:cNvGraphicFramePr>
            <a:graphicFrameLocks noChangeAspect="1"/>
          </p:cNvGraphicFramePr>
          <p:nvPr/>
        </p:nvGraphicFramePr>
        <p:xfrm>
          <a:off x="867463" y="1768259"/>
          <a:ext cx="4021812" cy="2178481"/>
        </p:xfrm>
        <a:graphic>
          <a:graphicData uri="http://schemas.openxmlformats.org/presentationml/2006/ole">
            <mc:AlternateContent xmlns:mc="http://schemas.openxmlformats.org/markup-compatibility/2006">
              <mc:Choice xmlns:v="urn:schemas-microsoft-com:vml" Requires="v">
                <p:oleObj spid="_x0000_s38964" name="Visio" r:id="rId2" imgW="2286000" imgH="1247775" progId="Visio.Drawing.11">
                  <p:embed/>
                </p:oleObj>
              </mc:Choice>
              <mc:Fallback>
                <p:oleObj name="Visio" r:id="rId2" imgW="2286000" imgH="1247775" progId="Visio.Drawing.11">
                  <p:embed/>
                  <p:pic>
                    <p:nvPicPr>
                      <p:cNvPr id="0" name="对象 2"/>
                      <p:cNvPicPr>
                        <a:picLocks noChangeAspect="1" noChangeArrowheads="1"/>
                      </p:cNvPicPr>
                      <p:nvPr/>
                    </p:nvPicPr>
                    <p:blipFill>
                      <a:blip r:embed="rId3"/>
                      <a:srcRect/>
                      <a:stretch>
                        <a:fillRect/>
                      </a:stretch>
                    </p:blipFill>
                    <p:spPr bwMode="auto">
                      <a:xfrm>
                        <a:off x="867463" y="1768259"/>
                        <a:ext cx="4021812" cy="2178481"/>
                      </a:xfrm>
                      <a:prstGeom prst="rect">
                        <a:avLst/>
                      </a:prstGeom>
                      <a:noFill/>
                    </p:spPr>
                  </p:pic>
                </p:oleObj>
              </mc:Fallback>
            </mc:AlternateContent>
          </a:graphicData>
        </a:graphic>
      </p:graphicFrame>
      <p:grpSp>
        <p:nvGrpSpPr>
          <p:cNvPr id="14" name="组合 13"/>
          <p:cNvGrpSpPr/>
          <p:nvPr/>
        </p:nvGrpSpPr>
        <p:grpSpPr>
          <a:xfrm>
            <a:off x="407672" y="4178099"/>
            <a:ext cx="7783828" cy="700576"/>
            <a:chOff x="407672" y="4010459"/>
            <a:chExt cx="7783828" cy="700576"/>
          </a:xfrm>
        </p:grpSpPr>
        <p:sp>
          <p:nvSpPr>
            <p:cNvPr id="39" name="文本框 38"/>
            <p:cNvSpPr txBox="1"/>
            <p:nvPr/>
          </p:nvSpPr>
          <p:spPr>
            <a:xfrm>
              <a:off x="407672" y="4010459"/>
              <a:ext cx="7783828" cy="700576"/>
            </a:xfrm>
            <a:prstGeom prst="rect">
              <a:avLst/>
            </a:prstGeom>
            <a:noFill/>
          </p:spPr>
          <p:txBody>
            <a:bodyPr wrap="square">
              <a:spAutoFit/>
            </a:bodyPr>
            <a:lstStyle/>
            <a:p>
              <a:pPr marL="449580" indent="-449580">
                <a:lnSpc>
                  <a:spcPct val="150000"/>
                </a:lnSpc>
              </a:pP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）当    </a:t>
              </a: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400" kern="100" dirty="0">
                  <a:effectLst/>
                  <a:latin typeface="微软雅黑" panose="020B0503020204020204" pitchFamily="34" charset="-122"/>
                  <a:ea typeface="微软雅黑" panose="020B0503020204020204" pitchFamily="34" charset="-122"/>
                  <a:cs typeface="Times New Roman" panose="02020603050405020304" pitchFamily="18" charset="0"/>
                </a:rPr>
                <a:t> </a:t>
              </a:r>
              <a:r>
                <a:rPr lang="zh-CN" altLang="zh-CN" sz="1400" kern="100" dirty="0">
                  <a:effectLst/>
                  <a:latin typeface="微软雅黑" panose="020B0503020204020204" pitchFamily="34" charset="-122"/>
                  <a:ea typeface="微软雅黑" panose="020B0503020204020204" pitchFamily="34" charset="-122"/>
                  <a:cs typeface="Times New Roman" panose="02020603050405020304" pitchFamily="18" charset="0"/>
                </a:rPr>
                <a:t>时，片</a:t>
              </a:r>
              <a:r>
                <a:rPr lang="en-US" altLang="zh-CN" sz="1400" kern="100" dirty="0">
                  <a:effectLst/>
                  <a:latin typeface="微软雅黑" panose="020B0503020204020204" pitchFamily="34" charset="-122"/>
                  <a:ea typeface="微软雅黑" panose="020B0503020204020204" pitchFamily="34" charset="-122"/>
                </a:rPr>
                <a:t>(0)</a:t>
              </a:r>
              <a:r>
                <a:rPr lang="zh-CN" altLang="zh-CN" sz="1400" kern="100" dirty="0">
                  <a:latin typeface="微软雅黑" panose="020B0503020204020204" pitchFamily="34" charset="-122"/>
                  <a:ea typeface="微软雅黑" panose="020B0503020204020204" pitchFamily="34" charset="-122"/>
                </a:rPr>
                <a:t>的使能端</a:t>
              </a:r>
              <a:r>
                <a:rPr lang="en-US" altLang="zh-CN" sz="1400" kern="100" dirty="0">
                  <a:latin typeface="微软雅黑" panose="020B0503020204020204" pitchFamily="34" charset="-122"/>
                  <a:ea typeface="微软雅黑" panose="020B0503020204020204" pitchFamily="34" charset="-122"/>
                </a:rPr>
                <a:t>    </a:t>
              </a:r>
              <a:r>
                <a:rPr lang="zh-CN" altLang="zh-CN" sz="1400" kern="100" dirty="0">
                  <a:latin typeface="微软雅黑" panose="020B0503020204020204" pitchFamily="34" charset="-122"/>
                  <a:ea typeface="微软雅黑" panose="020B0503020204020204" pitchFamily="34" charset="-122"/>
                </a:rPr>
                <a:t>和片</a:t>
              </a:r>
              <a:r>
                <a:rPr lang="en-US" altLang="zh-CN" sz="1400" kern="100" dirty="0">
                  <a:latin typeface="微软雅黑" panose="020B0503020204020204" pitchFamily="34" charset="-122"/>
                  <a:ea typeface="微软雅黑" panose="020B0503020204020204" pitchFamily="34" charset="-122"/>
                </a:rPr>
                <a:t>(1)</a:t>
              </a:r>
              <a:r>
                <a:rPr lang="zh-CN" altLang="zh-CN" sz="1400" kern="100" dirty="0">
                  <a:latin typeface="微软雅黑" panose="020B0503020204020204" pitchFamily="34" charset="-122"/>
                  <a:ea typeface="微软雅黑" panose="020B0503020204020204" pitchFamily="34" charset="-122"/>
                </a:rPr>
                <a:t>的使能端</a:t>
              </a:r>
              <a:r>
                <a:rPr lang="en-US" altLang="zh-CN" sz="1400" kern="100" dirty="0">
                  <a:latin typeface="微软雅黑" panose="020B0503020204020204" pitchFamily="34" charset="-122"/>
                  <a:ea typeface="微软雅黑" panose="020B0503020204020204" pitchFamily="34" charset="-122"/>
                </a:rPr>
                <a:t>    </a:t>
              </a:r>
              <a:r>
                <a:rPr lang="zh-CN" altLang="en-US" sz="1400" kern="100" dirty="0">
                  <a:latin typeface="微软雅黑" panose="020B0503020204020204" pitchFamily="34" charset="-122"/>
                  <a:ea typeface="微软雅黑" panose="020B0503020204020204" pitchFamily="34" charset="-122"/>
                </a:rPr>
                <a:t>、 均无效，片</a:t>
              </a:r>
              <a:r>
                <a:rPr lang="en-US" altLang="zh-CN" sz="1400" kern="100" dirty="0">
                  <a:latin typeface="微软雅黑" panose="020B0503020204020204" pitchFamily="34" charset="-122"/>
                  <a:ea typeface="微软雅黑" panose="020B0503020204020204" pitchFamily="34" charset="-122"/>
                </a:rPr>
                <a:t>(0)</a:t>
              </a:r>
              <a:r>
                <a:rPr lang="zh-CN" altLang="en-US" sz="1400" kern="100" dirty="0">
                  <a:latin typeface="微软雅黑" panose="020B0503020204020204" pitchFamily="34" charset="-122"/>
                  <a:ea typeface="微软雅黑" panose="020B0503020204020204" pitchFamily="34" charset="-122"/>
                </a:rPr>
                <a:t>、片</a:t>
              </a:r>
              <a:r>
                <a:rPr lang="en-US" altLang="zh-CN" sz="1400" kern="100" dirty="0">
                  <a:latin typeface="微软雅黑" panose="020B0503020204020204" pitchFamily="34" charset="-122"/>
                  <a:ea typeface="微软雅黑" panose="020B0503020204020204" pitchFamily="34" charset="-122"/>
                </a:rPr>
                <a:t>(1)</a:t>
              </a:r>
              <a:r>
                <a:rPr lang="zh-CN" altLang="en-US" sz="1400" kern="100" dirty="0">
                  <a:latin typeface="微软雅黑" panose="020B0503020204020204" pitchFamily="34" charset="-122"/>
                  <a:ea typeface="微软雅黑" panose="020B0503020204020204" pitchFamily="34" charset="-122"/>
                </a:rPr>
                <a:t>均禁止译码，译码输出均为无效高电平。</a:t>
              </a:r>
              <a:endParaRPr lang="zh-CN" altLang="en-US" sz="1400" kern="100" dirty="0">
                <a:latin typeface="微软雅黑" panose="020B0503020204020204" pitchFamily="34" charset="-122"/>
                <a:ea typeface="微软雅黑" panose="020B0503020204020204" pitchFamily="34" charset="-122"/>
              </a:endParaRPr>
            </a:p>
          </p:txBody>
        </p:sp>
        <p:graphicFrame>
          <p:nvGraphicFramePr>
            <p:cNvPr id="10" name="对象 9"/>
            <p:cNvGraphicFramePr>
              <a:graphicFrameLocks noChangeAspect="1"/>
            </p:cNvGraphicFramePr>
            <p:nvPr/>
          </p:nvGraphicFramePr>
          <p:xfrm>
            <a:off x="1145975" y="4079439"/>
            <a:ext cx="210923" cy="260551"/>
          </p:xfrm>
          <a:graphic>
            <a:graphicData uri="http://schemas.openxmlformats.org/presentationml/2006/ole">
              <mc:AlternateContent xmlns:mc="http://schemas.openxmlformats.org/markup-compatibility/2006">
                <mc:Choice xmlns:v="urn:schemas-microsoft-com:vml" Requires="v">
                  <p:oleObj spid="_x0000_s38965" name="公式" r:id="rId4" imgW="139700" imgH="190500" progId="Equation.3">
                    <p:embed/>
                  </p:oleObj>
                </mc:Choice>
                <mc:Fallback>
                  <p:oleObj name="公式" r:id="rId4" imgW="139700" imgH="190500" progId="Equation.3">
                    <p:embed/>
                    <p:pic>
                      <p:nvPicPr>
                        <p:cNvPr id="0" name="对象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5975" y="4079439"/>
                          <a:ext cx="210923" cy="260551"/>
                        </a:xfrm>
                        <a:prstGeom prst="rect">
                          <a:avLst/>
                        </a:prstGeom>
                        <a:noFill/>
                      </p:spPr>
                    </p:pic>
                  </p:oleObj>
                </mc:Fallback>
              </mc:AlternateContent>
            </a:graphicData>
          </a:graphic>
        </p:graphicFrame>
        <p:graphicFrame>
          <p:nvGraphicFramePr>
            <p:cNvPr id="30" name="对象 29"/>
            <p:cNvGraphicFramePr>
              <a:graphicFrameLocks noChangeAspect="1"/>
            </p:cNvGraphicFramePr>
            <p:nvPr/>
          </p:nvGraphicFramePr>
          <p:xfrm>
            <a:off x="3107998" y="4098481"/>
            <a:ext cx="210923" cy="260551"/>
          </p:xfrm>
          <a:graphic>
            <a:graphicData uri="http://schemas.openxmlformats.org/presentationml/2006/ole">
              <mc:AlternateContent xmlns:mc="http://schemas.openxmlformats.org/markup-compatibility/2006">
                <mc:Choice xmlns:v="urn:schemas-microsoft-com:vml" Requires="v">
                  <p:oleObj spid="_x0000_s38966" name="公式" r:id="rId6" imgW="165100" imgH="203200" progId="Equation.3">
                    <p:embed/>
                  </p:oleObj>
                </mc:Choice>
                <mc:Fallback>
                  <p:oleObj name="公式" r:id="rId6" imgW="165100" imgH="203200" progId="Equation.3">
                    <p:embed/>
                    <p:pic>
                      <p:nvPicPr>
                        <p:cNvPr id="0" name="对象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07998" y="4098481"/>
                          <a:ext cx="210923" cy="260551"/>
                        </a:xfrm>
                        <a:prstGeom prst="rect">
                          <a:avLst/>
                        </a:prstGeom>
                        <a:noFill/>
                      </p:spPr>
                    </p:pic>
                  </p:oleObj>
                </mc:Fallback>
              </mc:AlternateContent>
            </a:graphicData>
          </a:graphic>
        </p:graphicFrame>
        <p:graphicFrame>
          <p:nvGraphicFramePr>
            <p:cNvPr id="31" name="对象 30"/>
            <p:cNvGraphicFramePr>
              <a:graphicFrameLocks noChangeAspect="1"/>
            </p:cNvGraphicFramePr>
            <p:nvPr/>
          </p:nvGraphicFramePr>
          <p:xfrm>
            <a:off x="4611854" y="4114254"/>
            <a:ext cx="190004" cy="234711"/>
          </p:xfrm>
          <a:graphic>
            <a:graphicData uri="http://schemas.openxmlformats.org/presentationml/2006/ole">
              <mc:AlternateContent xmlns:mc="http://schemas.openxmlformats.org/markup-compatibility/2006">
                <mc:Choice xmlns:v="urn:schemas-microsoft-com:vml" Requires="v">
                  <p:oleObj spid="_x0000_s38967" name="公式" r:id="rId8" imgW="165100" imgH="203200" progId="Equation.3">
                    <p:embed/>
                  </p:oleObj>
                </mc:Choice>
                <mc:Fallback>
                  <p:oleObj name="公式" r:id="rId8" imgW="165100" imgH="203200" progId="Equation.3">
                    <p:embed/>
                    <p:pic>
                      <p:nvPicPr>
                        <p:cNvPr id="0" name="对象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611854" y="4114254"/>
                          <a:ext cx="190004" cy="234711"/>
                        </a:xfrm>
                        <a:prstGeom prst="rect">
                          <a:avLst/>
                        </a:prstGeom>
                        <a:noFill/>
                      </p:spPr>
                    </p:pic>
                  </p:oleObj>
                </mc:Fallback>
              </mc:AlternateContent>
            </a:graphicData>
          </a:graphic>
        </p:graphicFrame>
        <p:graphicFrame>
          <p:nvGraphicFramePr>
            <p:cNvPr id="32" name="对象 31"/>
            <p:cNvGraphicFramePr>
              <a:graphicFrameLocks noChangeAspect="1"/>
            </p:cNvGraphicFramePr>
            <p:nvPr/>
          </p:nvGraphicFramePr>
          <p:xfrm>
            <a:off x="4844161" y="4122844"/>
            <a:ext cx="212357" cy="234710"/>
          </p:xfrm>
          <a:graphic>
            <a:graphicData uri="http://schemas.openxmlformats.org/presentationml/2006/ole">
              <mc:AlternateContent xmlns:mc="http://schemas.openxmlformats.org/markup-compatibility/2006">
                <mc:Choice xmlns:v="urn:schemas-microsoft-com:vml" Requires="v">
                  <p:oleObj spid="_x0000_s38968" name="公式" r:id="rId10" imgW="177800" imgH="203200" progId="Equation.3">
                    <p:embed/>
                  </p:oleObj>
                </mc:Choice>
                <mc:Fallback>
                  <p:oleObj name="公式" r:id="rId10" imgW="177800" imgH="203200" progId="Equation.3">
                    <p:embed/>
                    <p:pic>
                      <p:nvPicPr>
                        <p:cNvPr id="0" name="对象 3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44161" y="4122844"/>
                          <a:ext cx="212357" cy="234710"/>
                        </a:xfrm>
                        <a:prstGeom prst="rect">
                          <a:avLst/>
                        </a:prstGeom>
                        <a:noFill/>
                      </p:spPr>
                    </p:pic>
                  </p:oleObj>
                </mc:Fallback>
              </mc:AlternateContent>
            </a:graphicData>
          </a:graphic>
        </p:graphicFrame>
      </p:grpSp>
      <p:sp>
        <p:nvSpPr>
          <p:cNvPr id="2" name="椭圆 1"/>
          <p:cNvSpPr/>
          <p:nvPr/>
        </p:nvSpPr>
        <p:spPr>
          <a:xfrm>
            <a:off x="2686996" y="3670752"/>
            <a:ext cx="273967" cy="29941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grpSp>
        <p:nvGrpSpPr>
          <p:cNvPr id="13" name="组合 12"/>
          <p:cNvGrpSpPr/>
          <p:nvPr/>
        </p:nvGrpSpPr>
        <p:grpSpPr>
          <a:xfrm>
            <a:off x="945316" y="1676078"/>
            <a:ext cx="5628588" cy="385027"/>
            <a:chOff x="945316" y="1676078"/>
            <a:chExt cx="5628588" cy="385027"/>
          </a:xfrm>
        </p:grpSpPr>
        <p:sp>
          <p:nvSpPr>
            <p:cNvPr id="42" name="圆角矩形 56"/>
            <p:cNvSpPr/>
            <p:nvPr/>
          </p:nvSpPr>
          <p:spPr>
            <a:xfrm>
              <a:off x="945316" y="1715843"/>
              <a:ext cx="3833600" cy="345262"/>
            </a:xfrm>
            <a:prstGeom prst="roundRect">
              <a:avLst>
                <a:gd name="adj" fmla="val 3247"/>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对话气泡: 圆角矩形 11"/>
            <p:cNvSpPr/>
            <p:nvPr/>
          </p:nvSpPr>
          <p:spPr>
            <a:xfrm>
              <a:off x="5056518" y="1676078"/>
              <a:ext cx="1517386" cy="363491"/>
            </a:xfrm>
            <a:prstGeom prst="wedgeRoundRectCallout">
              <a:avLst>
                <a:gd name="adj1" fmla="val -65936"/>
                <a:gd name="adj2" fmla="val 3332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输出无效高电平</a:t>
              </a:r>
              <a:endParaRPr lang="zh-CN" altLang="en-US" sz="1400" dirty="0">
                <a:latin typeface="微软雅黑" panose="020B0503020204020204" pitchFamily="34" charset="-122"/>
                <a:ea typeface="微软雅黑" panose="020B0503020204020204" pitchFamily="34" charset="-122"/>
              </a:endParaRPr>
            </a:p>
          </p:txBody>
        </p:sp>
      </p:grpSp>
      <p:sp>
        <p:nvSpPr>
          <p:cNvPr id="46" name="圆角矩形 56"/>
          <p:cNvSpPr/>
          <p:nvPr/>
        </p:nvSpPr>
        <p:spPr>
          <a:xfrm>
            <a:off x="2422414" y="3594552"/>
            <a:ext cx="237084" cy="345263"/>
          </a:xfrm>
          <a:prstGeom prst="roundRect">
            <a:avLst>
              <a:gd name="adj" fmla="val 1428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 name="组合 14"/>
          <p:cNvGrpSpPr/>
          <p:nvPr/>
        </p:nvGrpSpPr>
        <p:grpSpPr>
          <a:xfrm>
            <a:off x="2473822" y="2761167"/>
            <a:ext cx="2254559" cy="363244"/>
            <a:chOff x="2473822" y="2761167"/>
            <a:chExt cx="2254559" cy="363244"/>
          </a:xfrm>
        </p:grpSpPr>
        <p:sp>
          <p:nvSpPr>
            <p:cNvPr id="47" name="圆角矩形 56"/>
            <p:cNvSpPr/>
            <p:nvPr/>
          </p:nvSpPr>
          <p:spPr>
            <a:xfrm>
              <a:off x="2473822" y="2779148"/>
              <a:ext cx="237084" cy="345263"/>
            </a:xfrm>
            <a:prstGeom prst="roundRect">
              <a:avLst>
                <a:gd name="adj" fmla="val 1428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圆角矩形 56"/>
            <p:cNvSpPr/>
            <p:nvPr/>
          </p:nvSpPr>
          <p:spPr>
            <a:xfrm>
              <a:off x="4282041" y="2761167"/>
              <a:ext cx="446340" cy="345263"/>
            </a:xfrm>
            <a:prstGeom prst="roundRect">
              <a:avLst>
                <a:gd name="adj" fmla="val 1428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圆角矩形 154"/>
          <p:cNvSpPr/>
          <p:nvPr/>
        </p:nvSpPr>
        <p:spPr>
          <a:xfrm>
            <a:off x="3213459" y="2435029"/>
            <a:ext cx="1190725" cy="327847"/>
          </a:xfrm>
          <a:prstGeom prst="roundRect">
            <a:avLst/>
          </a:prstGeom>
          <a:solidFill>
            <a:srgbClr val="CC00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黑体" panose="02010609060101010101" pitchFamily="49" charset="-122"/>
                <a:ea typeface="黑体" panose="02010609060101010101" pitchFamily="49" charset="-122"/>
              </a:rPr>
              <a:t>禁止译码</a:t>
            </a:r>
            <a:endParaRPr lang="zh-CN" altLang="en-US" sz="1400" dirty="0">
              <a:latin typeface="黑体" panose="02010609060101010101" pitchFamily="49" charset="-122"/>
              <a:ea typeface="黑体" panose="02010609060101010101" pitchFamily="49" charset="-122"/>
            </a:endParaRPr>
          </a:p>
        </p:txBody>
      </p:sp>
      <p:sp>
        <p:nvSpPr>
          <p:cNvPr id="51" name="圆角矩形 155"/>
          <p:cNvSpPr/>
          <p:nvPr/>
        </p:nvSpPr>
        <p:spPr>
          <a:xfrm>
            <a:off x="1311575" y="2415172"/>
            <a:ext cx="1190725" cy="327847"/>
          </a:xfrm>
          <a:prstGeom prst="roundRect">
            <a:avLst/>
          </a:prstGeom>
          <a:solidFill>
            <a:srgbClr val="CC00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黑体" panose="02010609060101010101" pitchFamily="49" charset="-122"/>
                <a:ea typeface="黑体" panose="02010609060101010101" pitchFamily="49" charset="-122"/>
              </a:rPr>
              <a:t>禁止译码</a:t>
            </a:r>
            <a:endParaRPr lang="zh-CN" altLang="en-US" sz="1400" dirty="0">
              <a:latin typeface="黑体" panose="02010609060101010101" pitchFamily="49" charset="-122"/>
              <a:ea typeface="黑体" panose="02010609060101010101" pitchFamily="49" charset="-122"/>
            </a:endParaRPr>
          </a:p>
        </p:txBody>
      </p:sp>
    </p:spTree>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par>
                                <p:cTn id="10" presetID="12" presetClass="entr" presetSubtype="4" fill="hold" grpId="0" nodeType="withEffect">
                                  <p:stCondLst>
                                    <p:cond delay="0"/>
                                  </p:stCondLst>
                                  <p:childTnLst>
                                    <p:set>
                                      <p:cBhvr>
                                        <p:cTn id="11" dur="1" fill="hold">
                                          <p:stCondLst>
                                            <p:cond delay="0"/>
                                          </p:stCondLst>
                                        </p:cTn>
                                        <p:tgtEl>
                                          <p:spTgt spid="46"/>
                                        </p:tgtEl>
                                        <p:attrNameLst>
                                          <p:attrName>style.visibility</p:attrName>
                                        </p:attrNameLst>
                                      </p:cBhvr>
                                      <p:to>
                                        <p:strVal val="visible"/>
                                      </p:to>
                                    </p:set>
                                    <p:anim calcmode="lin" valueType="num">
                                      <p:cBhvr additive="base">
                                        <p:cTn id="12" dur="1000"/>
                                        <p:tgtEl>
                                          <p:spTgt spid="46"/>
                                        </p:tgtEl>
                                        <p:attrNameLst>
                                          <p:attrName>ppt_y</p:attrName>
                                        </p:attrNameLst>
                                      </p:cBhvr>
                                      <p:tavLst>
                                        <p:tav tm="0">
                                          <p:val>
                                            <p:strVal val="#ppt_y+#ppt_h*1.125000"/>
                                          </p:val>
                                        </p:tav>
                                        <p:tav tm="100000">
                                          <p:val>
                                            <p:strVal val="#ppt_y"/>
                                          </p:val>
                                        </p:tav>
                                      </p:tavLst>
                                    </p:anim>
                                    <p:animEffect transition="in" filter="wipe(up)">
                                      <p:cBhvr>
                                        <p:cTn id="13" dur="1000"/>
                                        <p:tgtEl>
                                          <p:spTgt spid="46"/>
                                        </p:tgtEl>
                                      </p:cBhvr>
                                    </p:animEffect>
                                  </p:childTnLst>
                                </p:cTn>
                              </p:par>
                              <p:par>
                                <p:cTn id="14" presetID="12" presetClass="entr" presetSubtype="4" fill="hold" grpId="0" nodeType="withEffect">
                                  <p:stCondLst>
                                    <p:cond delay="0"/>
                                  </p:stCondLst>
                                  <p:childTnLst>
                                    <p:set>
                                      <p:cBhvr>
                                        <p:cTn id="15" dur="1" fill="hold">
                                          <p:stCondLst>
                                            <p:cond delay="0"/>
                                          </p:stCondLst>
                                        </p:cTn>
                                        <p:tgtEl>
                                          <p:spTgt spid="2"/>
                                        </p:tgtEl>
                                        <p:attrNameLst>
                                          <p:attrName>style.visibility</p:attrName>
                                        </p:attrNameLst>
                                      </p:cBhvr>
                                      <p:to>
                                        <p:strVal val="visible"/>
                                      </p:to>
                                    </p:set>
                                    <p:anim calcmode="lin" valueType="num">
                                      <p:cBhvr additive="base">
                                        <p:cTn id="16" dur="1000"/>
                                        <p:tgtEl>
                                          <p:spTgt spid="2"/>
                                        </p:tgtEl>
                                        <p:attrNameLst>
                                          <p:attrName>ppt_y</p:attrName>
                                        </p:attrNameLst>
                                      </p:cBhvr>
                                      <p:tavLst>
                                        <p:tav tm="0">
                                          <p:val>
                                            <p:strVal val="#ppt_y+#ppt_h*1.125000"/>
                                          </p:val>
                                        </p:tav>
                                        <p:tav tm="100000">
                                          <p:val>
                                            <p:strVal val="#ppt_y"/>
                                          </p:val>
                                        </p:tav>
                                      </p:tavLst>
                                    </p:anim>
                                    <p:animEffect transition="in" filter="wipe(up)">
                                      <p:cBhvr>
                                        <p:cTn id="17" dur="1000"/>
                                        <p:tgtEl>
                                          <p:spTgt spid="2"/>
                                        </p:tgtEl>
                                      </p:cBhvr>
                                    </p:animEffect>
                                  </p:childTnLst>
                                </p:cTn>
                              </p:par>
                              <p:par>
                                <p:cTn id="18" presetID="12" presetClass="entr" presetSubtype="4" fill="hold" nodeType="withEffect">
                                  <p:stCondLst>
                                    <p:cond delay="0"/>
                                  </p:stCondLst>
                                  <p:childTnLst>
                                    <p:set>
                                      <p:cBhvr>
                                        <p:cTn id="19" dur="1" fill="hold">
                                          <p:stCondLst>
                                            <p:cond delay="0"/>
                                          </p:stCondLst>
                                        </p:cTn>
                                        <p:tgtEl>
                                          <p:spTgt spid="15"/>
                                        </p:tgtEl>
                                        <p:attrNameLst>
                                          <p:attrName>style.visibility</p:attrName>
                                        </p:attrNameLst>
                                      </p:cBhvr>
                                      <p:to>
                                        <p:strVal val="visible"/>
                                      </p:to>
                                    </p:set>
                                    <p:anim calcmode="lin" valueType="num">
                                      <p:cBhvr additive="base">
                                        <p:cTn id="20" dur="1000"/>
                                        <p:tgtEl>
                                          <p:spTgt spid="15"/>
                                        </p:tgtEl>
                                        <p:attrNameLst>
                                          <p:attrName>ppt_y</p:attrName>
                                        </p:attrNameLst>
                                      </p:cBhvr>
                                      <p:tavLst>
                                        <p:tav tm="0">
                                          <p:val>
                                            <p:strVal val="#ppt_y+#ppt_h*1.125000"/>
                                          </p:val>
                                        </p:tav>
                                        <p:tav tm="100000">
                                          <p:val>
                                            <p:strVal val="#ppt_y"/>
                                          </p:val>
                                        </p:tav>
                                      </p:tavLst>
                                    </p:anim>
                                    <p:animEffect transition="in" filter="wipe(up)">
                                      <p:cBhvr>
                                        <p:cTn id="21" dur="1000"/>
                                        <p:tgtEl>
                                          <p:spTgt spid="15"/>
                                        </p:tgtEl>
                                      </p:cBhvr>
                                    </p:animEffect>
                                  </p:childTnLst>
                                </p:cTn>
                              </p:par>
                            </p:childTnLst>
                          </p:cTn>
                        </p:par>
                        <p:par>
                          <p:cTn id="22" fill="hold">
                            <p:stCondLst>
                              <p:cond delay="1000"/>
                            </p:stCondLst>
                            <p:childTnLst>
                              <p:par>
                                <p:cTn id="23" presetID="12" presetClass="entr" presetSubtype="4" fill="hold" grpId="0" nodeType="afterEffect">
                                  <p:stCondLst>
                                    <p:cond delay="0"/>
                                  </p:stCondLst>
                                  <p:childTnLst>
                                    <p:set>
                                      <p:cBhvr>
                                        <p:cTn id="24" dur="1" fill="hold">
                                          <p:stCondLst>
                                            <p:cond delay="0"/>
                                          </p:stCondLst>
                                        </p:cTn>
                                        <p:tgtEl>
                                          <p:spTgt spid="51"/>
                                        </p:tgtEl>
                                        <p:attrNameLst>
                                          <p:attrName>style.visibility</p:attrName>
                                        </p:attrNameLst>
                                      </p:cBhvr>
                                      <p:to>
                                        <p:strVal val="visible"/>
                                      </p:to>
                                    </p:set>
                                    <p:anim calcmode="lin" valueType="num">
                                      <p:cBhvr additive="base">
                                        <p:cTn id="25" dur="1000"/>
                                        <p:tgtEl>
                                          <p:spTgt spid="51"/>
                                        </p:tgtEl>
                                        <p:attrNameLst>
                                          <p:attrName>ppt_y</p:attrName>
                                        </p:attrNameLst>
                                      </p:cBhvr>
                                      <p:tavLst>
                                        <p:tav tm="0">
                                          <p:val>
                                            <p:strVal val="#ppt_y+#ppt_h*1.125000"/>
                                          </p:val>
                                        </p:tav>
                                        <p:tav tm="100000">
                                          <p:val>
                                            <p:strVal val="#ppt_y"/>
                                          </p:val>
                                        </p:tav>
                                      </p:tavLst>
                                    </p:anim>
                                    <p:animEffect transition="in" filter="wipe(up)">
                                      <p:cBhvr>
                                        <p:cTn id="26" dur="1000"/>
                                        <p:tgtEl>
                                          <p:spTgt spid="51"/>
                                        </p:tgtEl>
                                      </p:cBhvr>
                                    </p:animEffect>
                                  </p:childTnLst>
                                </p:cTn>
                              </p:par>
                            </p:childTnLst>
                          </p:cTn>
                        </p:par>
                        <p:par>
                          <p:cTn id="27" fill="hold">
                            <p:stCondLst>
                              <p:cond delay="2000"/>
                            </p:stCondLst>
                            <p:childTnLst>
                              <p:par>
                                <p:cTn id="28" presetID="12" presetClass="entr" presetSubtype="4" fill="hold" grpId="0" nodeType="afterEffect">
                                  <p:stCondLst>
                                    <p:cond delay="0"/>
                                  </p:stCondLst>
                                  <p:childTnLst>
                                    <p:set>
                                      <p:cBhvr>
                                        <p:cTn id="29" dur="1" fill="hold">
                                          <p:stCondLst>
                                            <p:cond delay="0"/>
                                          </p:stCondLst>
                                        </p:cTn>
                                        <p:tgtEl>
                                          <p:spTgt spid="50"/>
                                        </p:tgtEl>
                                        <p:attrNameLst>
                                          <p:attrName>style.visibility</p:attrName>
                                        </p:attrNameLst>
                                      </p:cBhvr>
                                      <p:to>
                                        <p:strVal val="visible"/>
                                      </p:to>
                                    </p:set>
                                    <p:anim calcmode="lin" valueType="num">
                                      <p:cBhvr additive="base">
                                        <p:cTn id="30" dur="1000"/>
                                        <p:tgtEl>
                                          <p:spTgt spid="50"/>
                                        </p:tgtEl>
                                        <p:attrNameLst>
                                          <p:attrName>ppt_y</p:attrName>
                                        </p:attrNameLst>
                                      </p:cBhvr>
                                      <p:tavLst>
                                        <p:tav tm="0">
                                          <p:val>
                                            <p:strVal val="#ppt_y+#ppt_h*1.125000"/>
                                          </p:val>
                                        </p:tav>
                                        <p:tav tm="100000">
                                          <p:val>
                                            <p:strVal val="#ppt_y"/>
                                          </p:val>
                                        </p:tav>
                                      </p:tavLst>
                                    </p:anim>
                                    <p:animEffect transition="in" filter="wipe(up)">
                                      <p:cBhvr>
                                        <p:cTn id="31" dur="1000"/>
                                        <p:tgtEl>
                                          <p:spTgt spid="50"/>
                                        </p:tgtEl>
                                      </p:cBhvr>
                                    </p:animEffect>
                                  </p:childTnLst>
                                </p:cTn>
                              </p:par>
                            </p:childTnLst>
                          </p:cTn>
                        </p:par>
                        <p:par>
                          <p:cTn id="32" fill="hold">
                            <p:stCondLst>
                              <p:cond delay="3000"/>
                            </p:stCondLst>
                            <p:childTnLst>
                              <p:par>
                                <p:cTn id="33" presetID="22" presetClass="entr" presetSubtype="8" fill="hold" nodeType="after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wipe(left)">
                                      <p:cBhvr>
                                        <p:cTn id="35"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6" grpId="0" animBg="1"/>
      <p:bldP spid="50" grpId="0" animBg="1"/>
      <p:bldP spid="51"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组合 17"/>
          <p:cNvGrpSpPr/>
          <p:nvPr/>
        </p:nvGrpSpPr>
        <p:grpSpPr>
          <a:xfrm>
            <a:off x="392432" y="769746"/>
            <a:ext cx="3114144" cy="420971"/>
            <a:chOff x="670560" y="892917"/>
            <a:chExt cx="3114144" cy="420971"/>
          </a:xfrm>
        </p:grpSpPr>
        <p:sp>
          <p:nvSpPr>
            <p:cNvPr id="70" name="矩形 69"/>
            <p:cNvSpPr/>
            <p:nvPr/>
          </p:nvSpPr>
          <p:spPr>
            <a:xfrm>
              <a:off x="1035233" y="913778"/>
              <a:ext cx="2749471"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集成电路译码器的应用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7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17" name="Rectangle 27"/>
          <p:cNvSpPr>
            <a:spLocks noChangeArrowheads="1"/>
          </p:cNvSpPr>
          <p:nvPr/>
        </p:nvSpPr>
        <p:spPr bwMode="auto">
          <a:xfrm>
            <a:off x="577511" y="1237292"/>
            <a:ext cx="2033285" cy="369332"/>
          </a:xfrm>
          <a:prstGeom prst="rect">
            <a:avLst/>
          </a:prstGeom>
          <a:noFill/>
          <a:ln w="9525" algn="ctr">
            <a:noFill/>
            <a:miter lim="800000"/>
          </a:ln>
          <a:effectLst/>
        </p:spPr>
        <p:txBody>
          <a:bodyPr wrap="square" lIns="0" rIns="0">
            <a:spAutoFit/>
          </a:bodyPr>
          <a:lstStyle/>
          <a:p>
            <a:pPr>
              <a:defRPr/>
            </a:pPr>
            <a:r>
              <a:rPr lang="en-US" altLang="zh-CN" b="1" dirty="0">
                <a:solidFill>
                  <a:srgbClr val="6600FF"/>
                </a:solidFill>
                <a:latin typeface="黑体" panose="02010609060101010101" pitchFamily="49" charset="-122"/>
                <a:ea typeface="黑体" panose="02010609060101010101" pitchFamily="49" charset="-122"/>
              </a:rPr>
              <a:t>1</a:t>
            </a:r>
            <a:r>
              <a:rPr lang="zh-CN" altLang="en-US" b="1" dirty="0">
                <a:solidFill>
                  <a:srgbClr val="6600FF"/>
                </a:solidFill>
                <a:latin typeface="黑体" panose="02010609060101010101" pitchFamily="49" charset="-122"/>
                <a:ea typeface="黑体" panose="02010609060101010101" pitchFamily="49" charset="-122"/>
              </a:rPr>
              <a:t>、译码器的扩展</a:t>
            </a:r>
            <a:endParaRPr lang="zh-CN" altLang="en-US" b="1" dirty="0">
              <a:solidFill>
                <a:srgbClr val="6600FF"/>
              </a:solidFill>
              <a:latin typeface="黑体" panose="02010609060101010101" pitchFamily="49" charset="-122"/>
              <a:ea typeface="黑体" panose="02010609060101010101" pitchFamily="49" charset="-122"/>
            </a:endParaRPr>
          </a:p>
        </p:txBody>
      </p:sp>
      <p:graphicFrame>
        <p:nvGraphicFramePr>
          <p:cNvPr id="3" name="对象 2"/>
          <p:cNvGraphicFramePr>
            <a:graphicFrameLocks noChangeAspect="1"/>
          </p:cNvGraphicFramePr>
          <p:nvPr/>
        </p:nvGraphicFramePr>
        <p:xfrm>
          <a:off x="867463" y="1768259"/>
          <a:ext cx="4021812" cy="2178481"/>
        </p:xfrm>
        <a:graphic>
          <a:graphicData uri="http://schemas.openxmlformats.org/presentationml/2006/ole">
            <mc:AlternateContent xmlns:mc="http://schemas.openxmlformats.org/markup-compatibility/2006">
              <mc:Choice xmlns:v="urn:schemas-microsoft-com:vml" Requires="v">
                <p:oleObj spid="_x0000_s39988" name="Visio" r:id="rId2" imgW="2286000" imgH="1247775" progId="Visio.Drawing.11">
                  <p:embed/>
                </p:oleObj>
              </mc:Choice>
              <mc:Fallback>
                <p:oleObj name="Visio" r:id="rId2" imgW="2286000" imgH="1247775" progId="Visio.Drawing.11">
                  <p:embed/>
                  <p:pic>
                    <p:nvPicPr>
                      <p:cNvPr id="0" name="对象 2"/>
                      <p:cNvPicPr>
                        <a:picLocks noChangeAspect="1" noChangeArrowheads="1"/>
                      </p:cNvPicPr>
                      <p:nvPr/>
                    </p:nvPicPr>
                    <p:blipFill>
                      <a:blip r:embed="rId3"/>
                      <a:srcRect/>
                      <a:stretch>
                        <a:fillRect/>
                      </a:stretch>
                    </p:blipFill>
                    <p:spPr bwMode="auto">
                      <a:xfrm>
                        <a:off x="867463" y="1768259"/>
                        <a:ext cx="4021812" cy="2178481"/>
                      </a:xfrm>
                      <a:prstGeom prst="rect">
                        <a:avLst/>
                      </a:prstGeom>
                      <a:noFill/>
                    </p:spPr>
                  </p:pic>
                </p:oleObj>
              </mc:Fallback>
            </mc:AlternateContent>
          </a:graphicData>
        </a:graphic>
      </p:graphicFrame>
      <p:sp>
        <p:nvSpPr>
          <p:cNvPr id="2" name="椭圆 1"/>
          <p:cNvSpPr/>
          <p:nvPr/>
        </p:nvSpPr>
        <p:spPr>
          <a:xfrm>
            <a:off x="2686996" y="3670752"/>
            <a:ext cx="273967" cy="29941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sp>
        <p:nvSpPr>
          <p:cNvPr id="28" name="圆角矩形 56"/>
          <p:cNvSpPr/>
          <p:nvPr/>
        </p:nvSpPr>
        <p:spPr>
          <a:xfrm>
            <a:off x="2422414" y="3594552"/>
            <a:ext cx="237084" cy="345263"/>
          </a:xfrm>
          <a:prstGeom prst="roundRect">
            <a:avLst>
              <a:gd name="adj" fmla="val 1428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9" name="组合 28"/>
          <p:cNvGrpSpPr/>
          <p:nvPr/>
        </p:nvGrpSpPr>
        <p:grpSpPr>
          <a:xfrm>
            <a:off x="2473822" y="2761167"/>
            <a:ext cx="2254559" cy="363244"/>
            <a:chOff x="2473822" y="2761167"/>
            <a:chExt cx="2254559" cy="363244"/>
          </a:xfrm>
        </p:grpSpPr>
        <p:sp>
          <p:nvSpPr>
            <p:cNvPr id="33" name="圆角矩形 56"/>
            <p:cNvSpPr/>
            <p:nvPr/>
          </p:nvSpPr>
          <p:spPr>
            <a:xfrm>
              <a:off x="2473822" y="2779148"/>
              <a:ext cx="237084" cy="345263"/>
            </a:xfrm>
            <a:prstGeom prst="roundRect">
              <a:avLst>
                <a:gd name="adj" fmla="val 1428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圆角矩形 56"/>
            <p:cNvSpPr/>
            <p:nvPr/>
          </p:nvSpPr>
          <p:spPr>
            <a:xfrm>
              <a:off x="4282041" y="2761167"/>
              <a:ext cx="446340" cy="345263"/>
            </a:xfrm>
            <a:prstGeom prst="roundRect">
              <a:avLst>
                <a:gd name="adj" fmla="val 1428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5" name="圆角矩形 56"/>
          <p:cNvSpPr/>
          <p:nvPr/>
        </p:nvSpPr>
        <p:spPr>
          <a:xfrm>
            <a:off x="2013298" y="2779148"/>
            <a:ext cx="237084" cy="468877"/>
          </a:xfrm>
          <a:prstGeom prst="roundRect">
            <a:avLst>
              <a:gd name="adj" fmla="val 1428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56"/>
          <p:cNvSpPr/>
          <p:nvPr/>
        </p:nvSpPr>
        <p:spPr>
          <a:xfrm>
            <a:off x="2171581" y="3597530"/>
            <a:ext cx="237084" cy="345263"/>
          </a:xfrm>
          <a:prstGeom prst="roundRect">
            <a:avLst>
              <a:gd name="adj" fmla="val 1428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3" name="组合 42"/>
          <p:cNvGrpSpPr/>
          <p:nvPr/>
        </p:nvGrpSpPr>
        <p:grpSpPr>
          <a:xfrm>
            <a:off x="407672" y="4239059"/>
            <a:ext cx="8545828" cy="700576"/>
            <a:chOff x="407672" y="4010459"/>
            <a:chExt cx="8545828" cy="700576"/>
          </a:xfrm>
        </p:grpSpPr>
        <p:sp>
          <p:nvSpPr>
            <p:cNvPr id="44" name="文本框 43"/>
            <p:cNvSpPr txBox="1"/>
            <p:nvPr/>
          </p:nvSpPr>
          <p:spPr>
            <a:xfrm>
              <a:off x="407672" y="4010459"/>
              <a:ext cx="8545828" cy="700576"/>
            </a:xfrm>
            <a:prstGeom prst="rect">
              <a:avLst/>
            </a:prstGeom>
            <a:noFill/>
          </p:spPr>
          <p:txBody>
            <a:bodyPr wrap="square">
              <a:spAutoFit/>
            </a:bodyPr>
            <a:lstStyle/>
            <a:p>
              <a:pPr marL="449580" indent="-449580">
                <a:lnSpc>
                  <a:spcPct val="150000"/>
                </a:lnSpc>
              </a:pPr>
              <a:r>
                <a:rPr lang="zh-CN" altLang="en-US" sz="14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kern="100" dirty="0">
                  <a:effectLst/>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400" kern="100" dirty="0">
                  <a:effectLst/>
                  <a:latin typeface="Times New Roman" panose="02020603050405020304" pitchFamily="18" charset="0"/>
                  <a:ea typeface="微软雅黑" panose="020B0503020204020204" pitchFamily="34" charset="-122"/>
                  <a:cs typeface="Times New Roman" panose="02020603050405020304" pitchFamily="18" charset="0"/>
                </a:rPr>
                <a:t>）当    </a:t>
              </a:r>
              <a:r>
                <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400" kern="10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kern="100" dirty="0">
                  <a:effectLst/>
                  <a:latin typeface="Times New Roman" panose="02020603050405020304" pitchFamily="18" charset="0"/>
                  <a:ea typeface="微软雅黑" panose="020B0503020204020204" pitchFamily="34" charset="-122"/>
                  <a:cs typeface="Times New Roman" panose="02020603050405020304" pitchFamily="18" charset="0"/>
                </a:rPr>
                <a:t>时，片</a:t>
              </a:r>
              <a:r>
                <a:rPr lang="en-US" altLang="zh-CN" sz="1400" kern="100" dirty="0">
                  <a:effectLst/>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的使能端</a:t>
              </a:r>
              <a:r>
                <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和片</a:t>
              </a:r>
              <a:r>
                <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的使能端</a:t>
              </a:r>
              <a:r>
                <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kern="100" dirty="0">
                  <a:latin typeface="Times New Roman" panose="02020603050405020304" pitchFamily="18" charset="0"/>
                  <a:ea typeface="微软雅黑" panose="020B0503020204020204" pitchFamily="34" charset="-122"/>
                  <a:cs typeface="Times New Roman" panose="02020603050405020304" pitchFamily="18" charset="0"/>
                </a:rPr>
                <a:t>、 均有效，</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由于片</a:t>
              </a:r>
              <a:r>
                <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使能端</a:t>
              </a:r>
              <a:r>
                <a:rPr lang="en-US" altLang="zh-CN" sz="1400" i="1" kern="100" dirty="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1400" kern="10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400" kern="100" dirty="0">
                  <a:latin typeface="Times New Roman" panose="02020603050405020304" pitchFamily="18" charset="0"/>
                  <a:ea typeface="微软雅黑" panose="020B0503020204020204" pitchFamily="34" charset="-122"/>
                  <a:cs typeface="Times New Roman" panose="02020603050405020304" pitchFamily="18" charset="0"/>
                </a:rPr>
                <a:t>为高电平为有效，因此译码器是否译码取决于高位代码</a:t>
              </a:r>
              <a:r>
                <a:rPr lang="en-US" altLang="zh-CN" sz="1400" i="1" kern="100"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400" kern="10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400" kern="1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400" kern="100"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45" name="对象 44"/>
            <p:cNvGraphicFramePr>
              <a:graphicFrameLocks noChangeAspect="1"/>
            </p:cNvGraphicFramePr>
            <p:nvPr/>
          </p:nvGraphicFramePr>
          <p:xfrm>
            <a:off x="1145975" y="4079439"/>
            <a:ext cx="210923" cy="260551"/>
          </p:xfrm>
          <a:graphic>
            <a:graphicData uri="http://schemas.openxmlformats.org/presentationml/2006/ole">
              <mc:AlternateContent xmlns:mc="http://schemas.openxmlformats.org/markup-compatibility/2006">
                <mc:Choice xmlns:v="urn:schemas-microsoft-com:vml" Requires="v">
                  <p:oleObj spid="_x0000_s39989" name="公式" r:id="rId4" imgW="139700" imgH="190500" progId="Equation.3">
                    <p:embed/>
                  </p:oleObj>
                </mc:Choice>
                <mc:Fallback>
                  <p:oleObj name="公式" r:id="rId4" imgW="139700" imgH="190500" progId="Equation.3">
                    <p:embed/>
                    <p:pic>
                      <p:nvPicPr>
                        <p:cNvPr id="0" name="对象 4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5975" y="4079439"/>
                          <a:ext cx="210923" cy="260551"/>
                        </a:xfrm>
                        <a:prstGeom prst="rect">
                          <a:avLst/>
                        </a:prstGeom>
                        <a:noFill/>
                      </p:spPr>
                    </p:pic>
                  </p:oleObj>
                </mc:Fallback>
              </mc:AlternateContent>
            </a:graphicData>
          </a:graphic>
        </p:graphicFrame>
        <p:graphicFrame>
          <p:nvGraphicFramePr>
            <p:cNvPr id="47" name="对象 46"/>
            <p:cNvGraphicFramePr>
              <a:graphicFrameLocks noChangeAspect="1"/>
            </p:cNvGraphicFramePr>
            <p:nvPr/>
          </p:nvGraphicFramePr>
          <p:xfrm>
            <a:off x="2963218" y="4098481"/>
            <a:ext cx="210923" cy="260551"/>
          </p:xfrm>
          <a:graphic>
            <a:graphicData uri="http://schemas.openxmlformats.org/presentationml/2006/ole">
              <mc:AlternateContent xmlns:mc="http://schemas.openxmlformats.org/markup-compatibility/2006">
                <mc:Choice xmlns:v="urn:schemas-microsoft-com:vml" Requires="v">
                  <p:oleObj spid="_x0000_s39990" name="公式" r:id="rId6" imgW="165100" imgH="203200" progId="Equation.3">
                    <p:embed/>
                  </p:oleObj>
                </mc:Choice>
                <mc:Fallback>
                  <p:oleObj name="公式" r:id="rId6" imgW="165100" imgH="203200" progId="Equation.3">
                    <p:embed/>
                    <p:pic>
                      <p:nvPicPr>
                        <p:cNvPr id="0" name="对象 4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63218" y="4098481"/>
                          <a:ext cx="210923" cy="260551"/>
                        </a:xfrm>
                        <a:prstGeom prst="rect">
                          <a:avLst/>
                        </a:prstGeom>
                        <a:noFill/>
                      </p:spPr>
                    </p:pic>
                  </p:oleObj>
                </mc:Fallback>
              </mc:AlternateContent>
            </a:graphicData>
          </a:graphic>
        </p:graphicFrame>
        <p:graphicFrame>
          <p:nvGraphicFramePr>
            <p:cNvPr id="48" name="对象 47"/>
            <p:cNvGraphicFramePr>
              <a:graphicFrameLocks noChangeAspect="1"/>
            </p:cNvGraphicFramePr>
            <p:nvPr/>
          </p:nvGraphicFramePr>
          <p:xfrm>
            <a:off x="4413734" y="4114254"/>
            <a:ext cx="190004" cy="234711"/>
          </p:xfrm>
          <a:graphic>
            <a:graphicData uri="http://schemas.openxmlformats.org/presentationml/2006/ole">
              <mc:AlternateContent xmlns:mc="http://schemas.openxmlformats.org/markup-compatibility/2006">
                <mc:Choice xmlns:v="urn:schemas-microsoft-com:vml" Requires="v">
                  <p:oleObj spid="_x0000_s39991" name="公式" r:id="rId8" imgW="165100" imgH="203200" progId="Equation.3">
                    <p:embed/>
                  </p:oleObj>
                </mc:Choice>
                <mc:Fallback>
                  <p:oleObj name="公式" r:id="rId8" imgW="165100" imgH="203200" progId="Equation.3">
                    <p:embed/>
                    <p:pic>
                      <p:nvPicPr>
                        <p:cNvPr id="0" name="对象 4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13734" y="4114254"/>
                          <a:ext cx="190004" cy="234711"/>
                        </a:xfrm>
                        <a:prstGeom prst="rect">
                          <a:avLst/>
                        </a:prstGeom>
                        <a:noFill/>
                      </p:spPr>
                    </p:pic>
                  </p:oleObj>
                </mc:Fallback>
              </mc:AlternateContent>
            </a:graphicData>
          </a:graphic>
        </p:graphicFrame>
        <p:graphicFrame>
          <p:nvGraphicFramePr>
            <p:cNvPr id="49" name="对象 48"/>
            <p:cNvGraphicFramePr>
              <a:graphicFrameLocks noChangeAspect="1"/>
            </p:cNvGraphicFramePr>
            <p:nvPr/>
          </p:nvGraphicFramePr>
          <p:xfrm>
            <a:off x="4646041" y="4122844"/>
            <a:ext cx="212357" cy="234710"/>
          </p:xfrm>
          <a:graphic>
            <a:graphicData uri="http://schemas.openxmlformats.org/presentationml/2006/ole">
              <mc:AlternateContent xmlns:mc="http://schemas.openxmlformats.org/markup-compatibility/2006">
                <mc:Choice xmlns:v="urn:schemas-microsoft-com:vml" Requires="v">
                  <p:oleObj spid="_x0000_s39992" name="公式" r:id="rId10" imgW="177800" imgH="203200" progId="Equation.3">
                    <p:embed/>
                  </p:oleObj>
                </mc:Choice>
                <mc:Fallback>
                  <p:oleObj name="公式" r:id="rId10" imgW="177800" imgH="203200" progId="Equation.3">
                    <p:embed/>
                    <p:pic>
                      <p:nvPicPr>
                        <p:cNvPr id="0" name="对象 4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46041" y="4122844"/>
                          <a:ext cx="212357" cy="234710"/>
                        </a:xfrm>
                        <a:prstGeom prst="rect">
                          <a:avLst/>
                        </a:prstGeom>
                        <a:noFill/>
                      </p:spPr>
                    </p:pic>
                  </p:oleObj>
                </mc:Fallback>
              </mc:AlternateContent>
            </a:graphicData>
          </a:graphic>
        </p:graphicFrame>
      </p:gr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additive="base">
                                        <p:cTn id="7" dur="1000"/>
                                        <p:tgtEl>
                                          <p:spTgt spid="35"/>
                                        </p:tgtEl>
                                        <p:attrNameLst>
                                          <p:attrName>ppt_y</p:attrName>
                                        </p:attrNameLst>
                                      </p:cBhvr>
                                      <p:tavLst>
                                        <p:tav tm="0">
                                          <p:val>
                                            <p:strVal val="#ppt_y+#ppt_h*1.125000"/>
                                          </p:val>
                                        </p:tav>
                                        <p:tav tm="100000">
                                          <p:val>
                                            <p:strVal val="#ppt_y"/>
                                          </p:val>
                                        </p:tav>
                                      </p:tavLst>
                                    </p:anim>
                                    <p:animEffect transition="in" filter="wipe(up)">
                                      <p:cBhvr>
                                        <p:cTn id="8" dur="1000"/>
                                        <p:tgtEl>
                                          <p:spTgt spid="35"/>
                                        </p:tgtEl>
                                      </p:cBhvr>
                                    </p:animEffect>
                                  </p:childTnLst>
                                </p:cTn>
                              </p:par>
                              <p:par>
                                <p:cTn id="9" presetID="12" presetClass="entr" presetSubtype="4" fill="hold" nodeType="with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additive="base">
                                        <p:cTn id="11" dur="1000"/>
                                        <p:tgtEl>
                                          <p:spTgt spid="29"/>
                                        </p:tgtEl>
                                        <p:attrNameLst>
                                          <p:attrName>ppt_y</p:attrName>
                                        </p:attrNameLst>
                                      </p:cBhvr>
                                      <p:tavLst>
                                        <p:tav tm="0">
                                          <p:val>
                                            <p:strVal val="#ppt_y+#ppt_h*1.125000"/>
                                          </p:val>
                                        </p:tav>
                                        <p:tav tm="100000">
                                          <p:val>
                                            <p:strVal val="#ppt_y"/>
                                          </p:val>
                                        </p:tav>
                                      </p:tavLst>
                                    </p:anim>
                                    <p:animEffect transition="in" filter="wipe(up)">
                                      <p:cBhvr>
                                        <p:cTn id="12" dur="1000"/>
                                        <p:tgtEl>
                                          <p:spTgt spid="29"/>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anim calcmode="lin" valueType="num">
                                      <p:cBhvr additive="base">
                                        <p:cTn id="15" dur="1000"/>
                                        <p:tgtEl>
                                          <p:spTgt spid="28"/>
                                        </p:tgtEl>
                                        <p:attrNameLst>
                                          <p:attrName>ppt_y</p:attrName>
                                        </p:attrNameLst>
                                      </p:cBhvr>
                                      <p:tavLst>
                                        <p:tav tm="0">
                                          <p:val>
                                            <p:strVal val="#ppt_y+#ppt_h*1.125000"/>
                                          </p:val>
                                        </p:tav>
                                        <p:tav tm="100000">
                                          <p:val>
                                            <p:strVal val="#ppt_y"/>
                                          </p:val>
                                        </p:tav>
                                      </p:tavLst>
                                    </p:anim>
                                    <p:animEffect transition="in" filter="wipe(up)">
                                      <p:cBhvr>
                                        <p:cTn id="16" dur="1000"/>
                                        <p:tgtEl>
                                          <p:spTgt spid="28"/>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2"/>
                                        </p:tgtEl>
                                        <p:attrNameLst>
                                          <p:attrName>style.visibility</p:attrName>
                                        </p:attrNameLst>
                                      </p:cBhvr>
                                      <p:to>
                                        <p:strVal val="visible"/>
                                      </p:to>
                                    </p:set>
                                    <p:anim calcmode="lin" valueType="num">
                                      <p:cBhvr additive="base">
                                        <p:cTn id="19" dur="1000"/>
                                        <p:tgtEl>
                                          <p:spTgt spid="2"/>
                                        </p:tgtEl>
                                        <p:attrNameLst>
                                          <p:attrName>ppt_y</p:attrName>
                                        </p:attrNameLst>
                                      </p:cBhvr>
                                      <p:tavLst>
                                        <p:tav tm="0">
                                          <p:val>
                                            <p:strVal val="#ppt_y+#ppt_h*1.125000"/>
                                          </p:val>
                                        </p:tav>
                                        <p:tav tm="100000">
                                          <p:val>
                                            <p:strVal val="#ppt_y"/>
                                          </p:val>
                                        </p:tav>
                                      </p:tavLst>
                                    </p:anim>
                                    <p:animEffect transition="in" filter="wipe(up)">
                                      <p:cBhvr>
                                        <p:cTn id="20" dur="1000"/>
                                        <p:tgtEl>
                                          <p:spTgt spid="2"/>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38"/>
                                        </p:tgtEl>
                                        <p:attrNameLst>
                                          <p:attrName>style.visibility</p:attrName>
                                        </p:attrNameLst>
                                      </p:cBhvr>
                                      <p:to>
                                        <p:strVal val="visible"/>
                                      </p:to>
                                    </p:set>
                                    <p:anim calcmode="lin" valueType="num">
                                      <p:cBhvr additive="base">
                                        <p:cTn id="23" dur="1000"/>
                                        <p:tgtEl>
                                          <p:spTgt spid="38"/>
                                        </p:tgtEl>
                                        <p:attrNameLst>
                                          <p:attrName>ppt_y</p:attrName>
                                        </p:attrNameLst>
                                      </p:cBhvr>
                                      <p:tavLst>
                                        <p:tav tm="0">
                                          <p:val>
                                            <p:strVal val="#ppt_y+#ppt_h*1.125000"/>
                                          </p:val>
                                        </p:tav>
                                        <p:tav tm="100000">
                                          <p:val>
                                            <p:strVal val="#ppt_y"/>
                                          </p:val>
                                        </p:tav>
                                      </p:tavLst>
                                    </p:anim>
                                    <p:animEffect transition="in" filter="wipe(up)">
                                      <p:cBhvr>
                                        <p:cTn id="24" dur="1000"/>
                                        <p:tgtEl>
                                          <p:spTgt spid="38"/>
                                        </p:tgtEl>
                                      </p:cBhvr>
                                    </p:animEffect>
                                  </p:childTnLst>
                                </p:cTn>
                              </p:par>
                              <p:par>
                                <p:cTn id="25" presetID="12" presetClass="entr" presetSubtype="4" fill="hold" nodeType="withEffect">
                                  <p:stCondLst>
                                    <p:cond delay="0"/>
                                  </p:stCondLst>
                                  <p:childTnLst>
                                    <p:set>
                                      <p:cBhvr>
                                        <p:cTn id="26" dur="1" fill="hold">
                                          <p:stCondLst>
                                            <p:cond delay="0"/>
                                          </p:stCondLst>
                                        </p:cTn>
                                        <p:tgtEl>
                                          <p:spTgt spid="43"/>
                                        </p:tgtEl>
                                        <p:attrNameLst>
                                          <p:attrName>style.visibility</p:attrName>
                                        </p:attrNameLst>
                                      </p:cBhvr>
                                      <p:to>
                                        <p:strVal val="visible"/>
                                      </p:to>
                                    </p:set>
                                    <p:anim calcmode="lin" valueType="num">
                                      <p:cBhvr additive="base">
                                        <p:cTn id="27" dur="1000"/>
                                        <p:tgtEl>
                                          <p:spTgt spid="43"/>
                                        </p:tgtEl>
                                        <p:attrNameLst>
                                          <p:attrName>ppt_y</p:attrName>
                                        </p:attrNameLst>
                                      </p:cBhvr>
                                      <p:tavLst>
                                        <p:tav tm="0">
                                          <p:val>
                                            <p:strVal val="#ppt_y+#ppt_h*1.125000"/>
                                          </p:val>
                                        </p:tav>
                                        <p:tav tm="100000">
                                          <p:val>
                                            <p:strVal val="#ppt_y"/>
                                          </p:val>
                                        </p:tav>
                                      </p:tavLst>
                                    </p:anim>
                                    <p:animEffect transition="in" filter="wipe(up)">
                                      <p:cBhvr>
                                        <p:cTn id="28" dur="10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8" grpId="0" animBg="1"/>
      <p:bldP spid="35" grpId="0" animBg="1"/>
      <p:bldP spid="3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组合 17"/>
          <p:cNvGrpSpPr/>
          <p:nvPr/>
        </p:nvGrpSpPr>
        <p:grpSpPr>
          <a:xfrm>
            <a:off x="392432" y="769746"/>
            <a:ext cx="3114144" cy="420971"/>
            <a:chOff x="670560" y="892917"/>
            <a:chExt cx="3114144" cy="420971"/>
          </a:xfrm>
        </p:grpSpPr>
        <p:sp>
          <p:nvSpPr>
            <p:cNvPr id="70" name="矩形 69"/>
            <p:cNvSpPr/>
            <p:nvPr/>
          </p:nvSpPr>
          <p:spPr>
            <a:xfrm>
              <a:off x="1035233" y="913778"/>
              <a:ext cx="2749471"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集成电路译码器的应用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7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17" name="Rectangle 27"/>
          <p:cNvSpPr>
            <a:spLocks noChangeArrowheads="1"/>
          </p:cNvSpPr>
          <p:nvPr/>
        </p:nvSpPr>
        <p:spPr bwMode="auto">
          <a:xfrm>
            <a:off x="577511" y="1237292"/>
            <a:ext cx="2033285" cy="369332"/>
          </a:xfrm>
          <a:prstGeom prst="rect">
            <a:avLst/>
          </a:prstGeom>
          <a:noFill/>
          <a:ln w="9525" algn="ctr">
            <a:noFill/>
            <a:miter lim="800000"/>
          </a:ln>
          <a:effectLst/>
        </p:spPr>
        <p:txBody>
          <a:bodyPr wrap="square" lIns="0" rIns="0">
            <a:spAutoFit/>
          </a:bodyPr>
          <a:lstStyle/>
          <a:p>
            <a:pPr>
              <a:defRPr/>
            </a:pPr>
            <a:r>
              <a:rPr lang="en-US" altLang="zh-CN" b="1" dirty="0">
                <a:solidFill>
                  <a:srgbClr val="6600FF"/>
                </a:solidFill>
                <a:latin typeface="黑体" panose="02010609060101010101" pitchFamily="49" charset="-122"/>
                <a:ea typeface="黑体" panose="02010609060101010101" pitchFamily="49" charset="-122"/>
              </a:rPr>
              <a:t>1</a:t>
            </a:r>
            <a:r>
              <a:rPr lang="zh-CN" altLang="en-US" b="1" dirty="0">
                <a:solidFill>
                  <a:srgbClr val="6600FF"/>
                </a:solidFill>
                <a:latin typeface="黑体" panose="02010609060101010101" pitchFamily="49" charset="-122"/>
                <a:ea typeface="黑体" panose="02010609060101010101" pitchFamily="49" charset="-122"/>
              </a:rPr>
              <a:t>、译码器的扩展</a:t>
            </a:r>
            <a:endParaRPr lang="zh-CN" altLang="en-US" b="1" dirty="0">
              <a:solidFill>
                <a:srgbClr val="6600FF"/>
              </a:solidFill>
              <a:latin typeface="黑体" panose="02010609060101010101" pitchFamily="49" charset="-122"/>
              <a:ea typeface="黑体" panose="02010609060101010101" pitchFamily="49" charset="-122"/>
            </a:endParaRPr>
          </a:p>
        </p:txBody>
      </p:sp>
      <p:graphicFrame>
        <p:nvGraphicFramePr>
          <p:cNvPr id="3" name="对象 2"/>
          <p:cNvGraphicFramePr>
            <a:graphicFrameLocks noChangeAspect="1"/>
          </p:cNvGraphicFramePr>
          <p:nvPr/>
        </p:nvGraphicFramePr>
        <p:xfrm>
          <a:off x="867463" y="1768259"/>
          <a:ext cx="4021812" cy="2178481"/>
        </p:xfrm>
        <a:graphic>
          <a:graphicData uri="http://schemas.openxmlformats.org/presentationml/2006/ole">
            <mc:AlternateContent xmlns:mc="http://schemas.openxmlformats.org/markup-compatibility/2006">
              <mc:Choice xmlns:v="urn:schemas-microsoft-com:vml" Requires="v">
                <p:oleObj spid="_x0000_s41032" name="Visio" r:id="rId2" imgW="2286000" imgH="1247775" progId="Visio.Drawing.11">
                  <p:embed/>
                </p:oleObj>
              </mc:Choice>
              <mc:Fallback>
                <p:oleObj name="Visio" r:id="rId2" imgW="2286000" imgH="1247775" progId="Visio.Drawing.11">
                  <p:embed/>
                  <p:pic>
                    <p:nvPicPr>
                      <p:cNvPr id="0" name="对象 2"/>
                      <p:cNvPicPr>
                        <a:picLocks noChangeAspect="1" noChangeArrowheads="1"/>
                      </p:cNvPicPr>
                      <p:nvPr/>
                    </p:nvPicPr>
                    <p:blipFill>
                      <a:blip r:embed="rId3"/>
                      <a:srcRect/>
                      <a:stretch>
                        <a:fillRect/>
                      </a:stretch>
                    </p:blipFill>
                    <p:spPr bwMode="auto">
                      <a:xfrm>
                        <a:off x="867463" y="1768259"/>
                        <a:ext cx="4021812" cy="2178481"/>
                      </a:xfrm>
                      <a:prstGeom prst="rect">
                        <a:avLst/>
                      </a:prstGeom>
                      <a:noFill/>
                    </p:spPr>
                  </p:pic>
                </p:oleObj>
              </mc:Fallback>
            </mc:AlternateContent>
          </a:graphicData>
        </a:graphic>
      </p:graphicFrame>
      <p:sp>
        <p:nvSpPr>
          <p:cNvPr id="2" name="椭圆 1"/>
          <p:cNvSpPr/>
          <p:nvPr/>
        </p:nvSpPr>
        <p:spPr>
          <a:xfrm>
            <a:off x="2664136" y="3670752"/>
            <a:ext cx="273967" cy="29941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sp>
        <p:nvSpPr>
          <p:cNvPr id="35" name="圆角矩形 56"/>
          <p:cNvSpPr/>
          <p:nvPr/>
        </p:nvSpPr>
        <p:spPr>
          <a:xfrm>
            <a:off x="2214443" y="2779148"/>
            <a:ext cx="237084" cy="468877"/>
          </a:xfrm>
          <a:prstGeom prst="roundRect">
            <a:avLst>
              <a:gd name="adj" fmla="val 1428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56"/>
          <p:cNvSpPr/>
          <p:nvPr/>
        </p:nvSpPr>
        <p:spPr>
          <a:xfrm>
            <a:off x="4056147" y="2779147"/>
            <a:ext cx="237084" cy="468877"/>
          </a:xfrm>
          <a:prstGeom prst="roundRect">
            <a:avLst>
              <a:gd name="adj" fmla="val 1428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1" name="组合 20"/>
          <p:cNvGrpSpPr/>
          <p:nvPr/>
        </p:nvGrpSpPr>
        <p:grpSpPr>
          <a:xfrm>
            <a:off x="5003575" y="961726"/>
            <a:ext cx="4021812" cy="1341128"/>
            <a:chOff x="5003575" y="961726"/>
            <a:chExt cx="4021812" cy="1341128"/>
          </a:xfrm>
        </p:grpSpPr>
        <p:sp>
          <p:nvSpPr>
            <p:cNvPr id="47" name="圆角矩形 154"/>
            <p:cNvSpPr/>
            <p:nvPr/>
          </p:nvSpPr>
          <p:spPr>
            <a:xfrm>
              <a:off x="5003575" y="961726"/>
              <a:ext cx="4016831" cy="1341128"/>
            </a:xfrm>
            <a:prstGeom prst="roundRect">
              <a:avLst>
                <a:gd name="adj" fmla="val 5303"/>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黑体" panose="02010609060101010101" pitchFamily="49" charset="-122"/>
                <a:ea typeface="黑体" panose="02010609060101010101" pitchFamily="49" charset="-122"/>
              </a:endParaRPr>
            </a:p>
          </p:txBody>
        </p:sp>
        <p:grpSp>
          <p:nvGrpSpPr>
            <p:cNvPr id="19" name="组合 18"/>
            <p:cNvGrpSpPr/>
            <p:nvPr/>
          </p:nvGrpSpPr>
          <p:grpSpPr>
            <a:xfrm>
              <a:off x="5008556" y="990469"/>
              <a:ext cx="4016831" cy="1312385"/>
              <a:chOff x="4894256" y="990469"/>
              <a:chExt cx="4016831" cy="1312385"/>
            </a:xfrm>
            <a:noFill/>
          </p:grpSpPr>
          <p:graphicFrame>
            <p:nvGraphicFramePr>
              <p:cNvPr id="6" name="对象 5"/>
              <p:cNvGraphicFramePr>
                <a:graphicFrameLocks noChangeAspect="1"/>
              </p:cNvGraphicFramePr>
              <p:nvPr/>
            </p:nvGraphicFramePr>
            <p:xfrm>
              <a:off x="5274797" y="990469"/>
              <a:ext cx="2130111" cy="316056"/>
            </p:xfrm>
            <a:graphic>
              <a:graphicData uri="http://schemas.openxmlformats.org/presentationml/2006/ole">
                <mc:AlternateContent xmlns:mc="http://schemas.openxmlformats.org/markup-compatibility/2006">
                  <mc:Choice xmlns:v="urn:schemas-microsoft-com:vml" Requires="v">
                    <p:oleObj spid="_x0000_s41033" name="公式" r:id="rId4" imgW="1282700" imgH="190500" progId="Equation.3">
                      <p:embed/>
                    </p:oleObj>
                  </mc:Choice>
                  <mc:Fallback>
                    <p:oleObj name="公式" r:id="rId4" imgW="1282700" imgH="190500" progId="Equation.3">
                      <p:embed/>
                      <p:pic>
                        <p:nvPicPr>
                          <p:cNvPr id="0" name="对象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74797" y="990469"/>
                            <a:ext cx="2130111" cy="316056"/>
                          </a:xfrm>
                          <a:prstGeom prst="rect">
                            <a:avLst/>
                          </a:prstGeom>
                          <a:noFill/>
                        </p:spPr>
                      </p:pic>
                    </p:oleObj>
                  </mc:Fallback>
                </mc:AlternateContent>
              </a:graphicData>
            </a:graphic>
          </p:graphicFrame>
          <p:sp>
            <p:nvSpPr>
              <p:cNvPr id="37" name="文本框 36"/>
              <p:cNvSpPr txBox="1"/>
              <p:nvPr/>
            </p:nvSpPr>
            <p:spPr>
              <a:xfrm>
                <a:off x="4894256" y="1279240"/>
                <a:ext cx="4016831" cy="1023614"/>
              </a:xfrm>
              <a:prstGeom prst="rect">
                <a:avLst/>
              </a:prstGeom>
              <a:grpFill/>
            </p:spPr>
            <p:txBody>
              <a:bodyPr wrap="square">
                <a:spAutoFit/>
              </a:bodyPr>
              <a:lstStyle>
                <a:defPPr>
                  <a:defRPr lang="zh-CN"/>
                </a:defPPr>
                <a:lvl1pPr marL="449580" indent="-449580">
                  <a:lnSpc>
                    <a:spcPct val="150000"/>
                  </a:lnSpc>
                  <a:defRPr sz="1400" kern="100">
                    <a:effectLst/>
                    <a:latin typeface="Times New Roman" panose="02020603050405020304" pitchFamily="18" charset="0"/>
                    <a:ea typeface="微软雅黑" panose="020B0503020204020204" pitchFamily="34" charset="-122"/>
                    <a:cs typeface="Times New Roman" panose="02020603050405020304" pitchFamily="18" charset="0"/>
                  </a:defRPr>
                </a:lvl1pPr>
              </a:lstStyle>
              <a:p>
                <a:pPr marL="0" indent="358775"/>
                <a:r>
                  <a:rPr lang="zh-CN" altLang="zh-CN" dirty="0"/>
                  <a:t>片</a:t>
                </a:r>
                <a:r>
                  <a:rPr lang="en-US" altLang="zh-CN" dirty="0"/>
                  <a:t>(0)</a:t>
                </a:r>
                <a:r>
                  <a:rPr lang="zh-CN" altLang="zh-CN" dirty="0"/>
                  <a:t>允许译码</a:t>
                </a:r>
                <a:r>
                  <a:rPr lang="zh-CN" altLang="en-US" dirty="0"/>
                  <a:t>，</a:t>
                </a:r>
                <a:r>
                  <a:rPr lang="zh-CN" altLang="zh-CN" dirty="0"/>
                  <a:t>片</a:t>
                </a:r>
                <a:r>
                  <a:rPr lang="en-US" altLang="zh-CN" dirty="0"/>
                  <a:t>(1)</a:t>
                </a:r>
                <a:r>
                  <a:rPr lang="zh-CN" altLang="en-US" dirty="0"/>
                  <a:t>禁止</a:t>
                </a:r>
                <a:r>
                  <a:rPr lang="zh-CN" altLang="zh-CN" dirty="0"/>
                  <a:t>译码</a:t>
                </a:r>
                <a:r>
                  <a:rPr lang="zh-CN" altLang="en-US" dirty="0"/>
                  <a:t>。对应</a:t>
                </a:r>
                <a:r>
                  <a:rPr lang="en-US" altLang="zh-CN" i="1" dirty="0"/>
                  <a:t>A</a:t>
                </a:r>
                <a:r>
                  <a:rPr lang="en-US" altLang="zh-CN" baseline="-25000" dirty="0"/>
                  <a:t>2</a:t>
                </a:r>
                <a:r>
                  <a:rPr lang="en-US" altLang="zh-CN" i="1" dirty="0"/>
                  <a:t>A</a:t>
                </a:r>
                <a:r>
                  <a:rPr lang="en-US" altLang="zh-CN" baseline="-25000" dirty="0"/>
                  <a:t>1</a:t>
                </a:r>
                <a:r>
                  <a:rPr lang="en-US" altLang="zh-CN" i="1" dirty="0"/>
                  <a:t>A</a:t>
                </a:r>
                <a:r>
                  <a:rPr lang="en-US" altLang="zh-CN" baseline="-25000" dirty="0"/>
                  <a:t>0</a:t>
                </a:r>
                <a:r>
                  <a:rPr lang="zh-CN" altLang="en-US" dirty="0"/>
                  <a:t>从</a:t>
                </a:r>
                <a:r>
                  <a:rPr lang="en-US" altLang="zh-CN" dirty="0"/>
                  <a:t>000~111</a:t>
                </a:r>
                <a:r>
                  <a:rPr lang="zh-CN" altLang="en-US" dirty="0"/>
                  <a:t>，对应                输出译码结果，其余输出全部为无效电平。</a:t>
                </a:r>
                <a:endParaRPr lang="zh-CN" altLang="en-US" dirty="0"/>
              </a:p>
            </p:txBody>
          </p:sp>
          <p:graphicFrame>
            <p:nvGraphicFramePr>
              <p:cNvPr id="11" name="对象 10"/>
              <p:cNvGraphicFramePr>
                <a:graphicFrameLocks noChangeAspect="1"/>
              </p:cNvGraphicFramePr>
              <p:nvPr/>
            </p:nvGraphicFramePr>
            <p:xfrm>
              <a:off x="6359068" y="1667424"/>
              <a:ext cx="643711" cy="287616"/>
            </p:xfrm>
            <a:graphic>
              <a:graphicData uri="http://schemas.openxmlformats.org/presentationml/2006/ole">
                <mc:AlternateContent xmlns:mc="http://schemas.openxmlformats.org/markup-compatibility/2006">
                  <mc:Choice xmlns:v="urn:schemas-microsoft-com:vml" Requires="v">
                    <p:oleObj spid="_x0000_s41034" name="公式" r:id="rId6" imgW="444500" imgH="203200" progId="Equation.3">
                      <p:embed/>
                    </p:oleObj>
                  </mc:Choice>
                  <mc:Fallback>
                    <p:oleObj name="公式" r:id="rId6" imgW="444500" imgH="203200" progId="Equation.3">
                      <p:embed/>
                      <p:pic>
                        <p:nvPicPr>
                          <p:cNvPr id="0" name="对象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59068" y="1667424"/>
                            <a:ext cx="643711" cy="287616"/>
                          </a:xfrm>
                          <a:prstGeom prst="rect">
                            <a:avLst/>
                          </a:prstGeom>
                          <a:noFill/>
                        </p:spPr>
                      </p:pic>
                    </p:oleObj>
                  </mc:Fallback>
                </mc:AlternateContent>
              </a:graphicData>
            </a:graphic>
          </p:graphicFrame>
        </p:grpSp>
      </p:grpSp>
      <p:sp>
        <p:nvSpPr>
          <p:cNvPr id="42" name="椭圆 41"/>
          <p:cNvSpPr/>
          <p:nvPr/>
        </p:nvSpPr>
        <p:spPr>
          <a:xfrm>
            <a:off x="1940476" y="3647330"/>
            <a:ext cx="273967" cy="29941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sp>
        <p:nvSpPr>
          <p:cNvPr id="44" name="圆角矩形 154"/>
          <p:cNvSpPr/>
          <p:nvPr/>
        </p:nvSpPr>
        <p:spPr>
          <a:xfrm>
            <a:off x="3213459" y="2435029"/>
            <a:ext cx="1190725" cy="327847"/>
          </a:xfrm>
          <a:prstGeom prst="roundRect">
            <a:avLst/>
          </a:prstGeom>
          <a:solidFill>
            <a:srgbClr val="CC00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黑体" panose="02010609060101010101" pitchFamily="49" charset="-122"/>
                <a:ea typeface="黑体" panose="02010609060101010101" pitchFamily="49" charset="-122"/>
              </a:rPr>
              <a:t>禁止译码</a:t>
            </a:r>
            <a:endParaRPr lang="zh-CN" altLang="en-US" sz="1400" dirty="0">
              <a:latin typeface="黑体" panose="02010609060101010101" pitchFamily="49" charset="-122"/>
              <a:ea typeface="黑体" panose="02010609060101010101" pitchFamily="49" charset="-122"/>
            </a:endParaRPr>
          </a:p>
        </p:txBody>
      </p:sp>
      <p:sp>
        <p:nvSpPr>
          <p:cNvPr id="45" name="圆角矩形 155"/>
          <p:cNvSpPr/>
          <p:nvPr/>
        </p:nvSpPr>
        <p:spPr>
          <a:xfrm>
            <a:off x="1311575" y="2415172"/>
            <a:ext cx="1190725" cy="327847"/>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黑体" panose="02010609060101010101" pitchFamily="49" charset="-122"/>
                <a:ea typeface="黑体" panose="02010609060101010101" pitchFamily="49" charset="-122"/>
              </a:rPr>
              <a:t>允许译码</a:t>
            </a:r>
            <a:endParaRPr lang="zh-CN" altLang="en-US" sz="1400" dirty="0">
              <a:latin typeface="黑体" panose="02010609060101010101" pitchFamily="49" charset="-122"/>
              <a:ea typeface="黑体" panose="02010609060101010101" pitchFamily="49" charset="-122"/>
            </a:endParaRPr>
          </a:p>
        </p:txBody>
      </p:sp>
      <p:grpSp>
        <p:nvGrpSpPr>
          <p:cNvPr id="50" name="组合 49"/>
          <p:cNvGrpSpPr/>
          <p:nvPr/>
        </p:nvGrpSpPr>
        <p:grpSpPr>
          <a:xfrm>
            <a:off x="407672" y="4239059"/>
            <a:ext cx="8545828" cy="700576"/>
            <a:chOff x="407672" y="4010459"/>
            <a:chExt cx="8545828" cy="700576"/>
          </a:xfrm>
        </p:grpSpPr>
        <p:sp>
          <p:nvSpPr>
            <p:cNvPr id="51" name="文本框 50"/>
            <p:cNvSpPr txBox="1"/>
            <p:nvPr/>
          </p:nvSpPr>
          <p:spPr>
            <a:xfrm>
              <a:off x="407672" y="4010459"/>
              <a:ext cx="8545828" cy="700576"/>
            </a:xfrm>
            <a:prstGeom prst="rect">
              <a:avLst/>
            </a:prstGeom>
            <a:noFill/>
          </p:spPr>
          <p:txBody>
            <a:bodyPr wrap="square">
              <a:spAutoFit/>
            </a:bodyPr>
            <a:lstStyle/>
            <a:p>
              <a:pPr marL="449580" indent="-449580">
                <a:lnSpc>
                  <a:spcPct val="150000"/>
                </a:lnSpc>
              </a:pPr>
              <a:r>
                <a:rPr lang="zh-CN" altLang="en-US" sz="14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kern="100" dirty="0">
                  <a:effectLst/>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400" kern="100" dirty="0">
                  <a:effectLst/>
                  <a:latin typeface="Times New Roman" panose="02020603050405020304" pitchFamily="18" charset="0"/>
                  <a:ea typeface="微软雅黑" panose="020B0503020204020204" pitchFamily="34" charset="-122"/>
                  <a:cs typeface="Times New Roman" panose="02020603050405020304" pitchFamily="18" charset="0"/>
                </a:rPr>
                <a:t>）当    </a:t>
              </a:r>
              <a:r>
                <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400" kern="10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kern="100" dirty="0">
                  <a:effectLst/>
                  <a:latin typeface="Times New Roman" panose="02020603050405020304" pitchFamily="18" charset="0"/>
                  <a:ea typeface="微软雅黑" panose="020B0503020204020204" pitchFamily="34" charset="-122"/>
                  <a:cs typeface="Times New Roman" panose="02020603050405020304" pitchFamily="18" charset="0"/>
                </a:rPr>
                <a:t>时，片</a:t>
              </a:r>
              <a:r>
                <a:rPr lang="en-US" altLang="zh-CN" sz="1400" kern="100" dirty="0">
                  <a:effectLst/>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的使能端</a:t>
              </a:r>
              <a:r>
                <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和片</a:t>
              </a:r>
              <a:r>
                <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的使能端</a:t>
              </a:r>
              <a:r>
                <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kern="100" dirty="0">
                  <a:latin typeface="Times New Roman" panose="02020603050405020304" pitchFamily="18" charset="0"/>
                  <a:ea typeface="微软雅黑" panose="020B0503020204020204" pitchFamily="34" charset="-122"/>
                  <a:cs typeface="Times New Roman" panose="02020603050405020304" pitchFamily="18" charset="0"/>
                </a:rPr>
                <a:t>、 均有效，</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由于片</a:t>
              </a:r>
              <a:r>
                <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使能端</a:t>
              </a:r>
              <a:r>
                <a:rPr lang="en-US" altLang="zh-CN" sz="1400" i="1" kern="100" dirty="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1400" kern="10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400" kern="100" dirty="0">
                  <a:latin typeface="Times New Roman" panose="02020603050405020304" pitchFamily="18" charset="0"/>
                  <a:ea typeface="微软雅黑" panose="020B0503020204020204" pitchFamily="34" charset="-122"/>
                  <a:cs typeface="Times New Roman" panose="02020603050405020304" pitchFamily="18" charset="0"/>
                </a:rPr>
                <a:t>为高电平为有效，因此译码器是否译码取决于高位代码</a:t>
              </a:r>
              <a:r>
                <a:rPr lang="en-US" altLang="zh-CN" sz="1400" i="1" kern="100"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400" kern="10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400" kern="1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400" kern="100"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52" name="对象 51"/>
            <p:cNvGraphicFramePr>
              <a:graphicFrameLocks noChangeAspect="1"/>
            </p:cNvGraphicFramePr>
            <p:nvPr/>
          </p:nvGraphicFramePr>
          <p:xfrm>
            <a:off x="1145975" y="4079439"/>
            <a:ext cx="210923" cy="260551"/>
          </p:xfrm>
          <a:graphic>
            <a:graphicData uri="http://schemas.openxmlformats.org/presentationml/2006/ole">
              <mc:AlternateContent xmlns:mc="http://schemas.openxmlformats.org/markup-compatibility/2006">
                <mc:Choice xmlns:v="urn:schemas-microsoft-com:vml" Requires="v">
                  <p:oleObj spid="_x0000_s41035" name="公式" r:id="rId8" imgW="139700" imgH="190500" progId="Equation.3">
                    <p:embed/>
                  </p:oleObj>
                </mc:Choice>
                <mc:Fallback>
                  <p:oleObj name="公式" r:id="rId8" imgW="139700" imgH="190500" progId="Equation.3">
                    <p:embed/>
                    <p:pic>
                      <p:nvPicPr>
                        <p:cNvPr id="0" name="对象 5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45975" y="4079439"/>
                          <a:ext cx="210923" cy="260551"/>
                        </a:xfrm>
                        <a:prstGeom prst="rect">
                          <a:avLst/>
                        </a:prstGeom>
                        <a:noFill/>
                      </p:spPr>
                    </p:pic>
                  </p:oleObj>
                </mc:Fallback>
              </mc:AlternateContent>
            </a:graphicData>
          </a:graphic>
        </p:graphicFrame>
        <p:graphicFrame>
          <p:nvGraphicFramePr>
            <p:cNvPr id="53" name="对象 52"/>
            <p:cNvGraphicFramePr>
              <a:graphicFrameLocks noChangeAspect="1"/>
            </p:cNvGraphicFramePr>
            <p:nvPr/>
          </p:nvGraphicFramePr>
          <p:xfrm>
            <a:off x="2963218" y="4098481"/>
            <a:ext cx="210923" cy="260551"/>
          </p:xfrm>
          <a:graphic>
            <a:graphicData uri="http://schemas.openxmlformats.org/presentationml/2006/ole">
              <mc:AlternateContent xmlns:mc="http://schemas.openxmlformats.org/markup-compatibility/2006">
                <mc:Choice xmlns:v="urn:schemas-microsoft-com:vml" Requires="v">
                  <p:oleObj spid="_x0000_s41036" name="公式" r:id="rId10" imgW="165100" imgH="203200" progId="Equation.3">
                    <p:embed/>
                  </p:oleObj>
                </mc:Choice>
                <mc:Fallback>
                  <p:oleObj name="公式" r:id="rId10" imgW="165100" imgH="203200" progId="Equation.3">
                    <p:embed/>
                    <p:pic>
                      <p:nvPicPr>
                        <p:cNvPr id="0" name="对象 5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63218" y="4098481"/>
                          <a:ext cx="210923" cy="260551"/>
                        </a:xfrm>
                        <a:prstGeom prst="rect">
                          <a:avLst/>
                        </a:prstGeom>
                        <a:noFill/>
                      </p:spPr>
                    </p:pic>
                  </p:oleObj>
                </mc:Fallback>
              </mc:AlternateContent>
            </a:graphicData>
          </a:graphic>
        </p:graphicFrame>
        <p:graphicFrame>
          <p:nvGraphicFramePr>
            <p:cNvPr id="54" name="对象 53"/>
            <p:cNvGraphicFramePr>
              <a:graphicFrameLocks noChangeAspect="1"/>
            </p:cNvGraphicFramePr>
            <p:nvPr/>
          </p:nvGraphicFramePr>
          <p:xfrm>
            <a:off x="4413734" y="4114254"/>
            <a:ext cx="190004" cy="234711"/>
          </p:xfrm>
          <a:graphic>
            <a:graphicData uri="http://schemas.openxmlformats.org/presentationml/2006/ole">
              <mc:AlternateContent xmlns:mc="http://schemas.openxmlformats.org/markup-compatibility/2006">
                <mc:Choice xmlns:v="urn:schemas-microsoft-com:vml" Requires="v">
                  <p:oleObj spid="_x0000_s41037" name="公式" r:id="rId12" imgW="165100" imgH="203200" progId="Equation.3">
                    <p:embed/>
                  </p:oleObj>
                </mc:Choice>
                <mc:Fallback>
                  <p:oleObj name="公式" r:id="rId12" imgW="165100" imgH="203200" progId="Equation.3">
                    <p:embed/>
                    <p:pic>
                      <p:nvPicPr>
                        <p:cNvPr id="0" name="对象 53"/>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13734" y="4114254"/>
                          <a:ext cx="190004" cy="234711"/>
                        </a:xfrm>
                        <a:prstGeom prst="rect">
                          <a:avLst/>
                        </a:prstGeom>
                        <a:noFill/>
                      </p:spPr>
                    </p:pic>
                  </p:oleObj>
                </mc:Fallback>
              </mc:AlternateContent>
            </a:graphicData>
          </a:graphic>
        </p:graphicFrame>
        <p:graphicFrame>
          <p:nvGraphicFramePr>
            <p:cNvPr id="55" name="对象 54"/>
            <p:cNvGraphicFramePr>
              <a:graphicFrameLocks noChangeAspect="1"/>
            </p:cNvGraphicFramePr>
            <p:nvPr/>
          </p:nvGraphicFramePr>
          <p:xfrm>
            <a:off x="4646041" y="4122844"/>
            <a:ext cx="212357" cy="234710"/>
          </p:xfrm>
          <a:graphic>
            <a:graphicData uri="http://schemas.openxmlformats.org/presentationml/2006/ole">
              <mc:AlternateContent xmlns:mc="http://schemas.openxmlformats.org/markup-compatibility/2006">
                <mc:Choice xmlns:v="urn:schemas-microsoft-com:vml" Requires="v">
                  <p:oleObj spid="_x0000_s41038" name="公式" r:id="rId14" imgW="177800" imgH="203200" progId="Equation.3">
                    <p:embed/>
                  </p:oleObj>
                </mc:Choice>
                <mc:Fallback>
                  <p:oleObj name="公式" r:id="rId14" imgW="177800" imgH="203200" progId="Equation.3">
                    <p:embed/>
                    <p:pic>
                      <p:nvPicPr>
                        <p:cNvPr id="0" name="对象 5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646041" y="4122844"/>
                          <a:ext cx="212357" cy="234710"/>
                        </a:xfrm>
                        <a:prstGeom prst="rect">
                          <a:avLst/>
                        </a:prstGeom>
                        <a:noFill/>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 calcmode="lin" valueType="num">
                                      <p:cBhvr additive="base">
                                        <p:cTn id="7" dur="1000"/>
                                        <p:tgtEl>
                                          <p:spTgt spid="21"/>
                                        </p:tgtEl>
                                        <p:attrNameLst>
                                          <p:attrName>ppt_y</p:attrName>
                                        </p:attrNameLst>
                                      </p:cBhvr>
                                      <p:tavLst>
                                        <p:tav tm="0">
                                          <p:val>
                                            <p:strVal val="#ppt_y+#ppt_h*1.125000"/>
                                          </p:val>
                                        </p:tav>
                                        <p:tav tm="100000">
                                          <p:val>
                                            <p:strVal val="#ppt_y"/>
                                          </p:val>
                                        </p:tav>
                                      </p:tavLst>
                                    </p:anim>
                                    <p:animEffect transition="in" filter="wipe(up)">
                                      <p:cBhvr>
                                        <p:cTn id="8" dur="1000"/>
                                        <p:tgtEl>
                                          <p:spTgt spid="21"/>
                                        </p:tgtEl>
                                      </p:cBhvr>
                                    </p:animEffect>
                                  </p:childTnLst>
                                </p:cTn>
                              </p:par>
                            </p:childTnLst>
                          </p:cTn>
                        </p:par>
                        <p:par>
                          <p:cTn id="9" fill="hold">
                            <p:stCondLst>
                              <p:cond delay="1000"/>
                            </p:stCondLst>
                            <p:childTnLst>
                              <p:par>
                                <p:cTn id="10" presetID="42" presetClass="entr" presetSubtype="0" fill="hold" grpId="0" nodeType="afterEffect">
                                  <p:stCondLst>
                                    <p:cond delay="0"/>
                                  </p:stCondLst>
                                  <p:childTnLst>
                                    <p:set>
                                      <p:cBhvr>
                                        <p:cTn id="11" dur="1" fill="hold">
                                          <p:stCondLst>
                                            <p:cond delay="0"/>
                                          </p:stCondLst>
                                        </p:cTn>
                                        <p:tgtEl>
                                          <p:spTgt spid="42"/>
                                        </p:tgtEl>
                                        <p:attrNameLst>
                                          <p:attrName>style.visibility</p:attrName>
                                        </p:attrNameLst>
                                      </p:cBhvr>
                                      <p:to>
                                        <p:strVal val="visible"/>
                                      </p:to>
                                    </p:set>
                                    <p:animEffect transition="in" filter="fade">
                                      <p:cBhvr>
                                        <p:cTn id="12" dur="1000"/>
                                        <p:tgtEl>
                                          <p:spTgt spid="42"/>
                                        </p:tgtEl>
                                      </p:cBhvr>
                                    </p:animEffect>
                                    <p:anim calcmode="lin" valueType="num">
                                      <p:cBhvr>
                                        <p:cTn id="13" dur="1000" fill="hold"/>
                                        <p:tgtEl>
                                          <p:spTgt spid="42"/>
                                        </p:tgtEl>
                                        <p:attrNameLst>
                                          <p:attrName>ppt_x</p:attrName>
                                        </p:attrNameLst>
                                      </p:cBhvr>
                                      <p:tavLst>
                                        <p:tav tm="0">
                                          <p:val>
                                            <p:strVal val="#ppt_x"/>
                                          </p:val>
                                        </p:tav>
                                        <p:tav tm="100000">
                                          <p:val>
                                            <p:strVal val="#ppt_x"/>
                                          </p:val>
                                        </p:tav>
                                      </p:tavLst>
                                    </p:anim>
                                    <p:anim calcmode="lin" valueType="num">
                                      <p:cBhvr>
                                        <p:cTn id="14"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2" presetClass="entr" presetSubtype="4"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anim calcmode="lin" valueType="num">
                                      <p:cBhvr additive="base">
                                        <p:cTn id="19" dur="1000"/>
                                        <p:tgtEl>
                                          <p:spTgt spid="35"/>
                                        </p:tgtEl>
                                        <p:attrNameLst>
                                          <p:attrName>ppt_y</p:attrName>
                                        </p:attrNameLst>
                                      </p:cBhvr>
                                      <p:tavLst>
                                        <p:tav tm="0">
                                          <p:val>
                                            <p:strVal val="#ppt_y+#ppt_h*1.125000"/>
                                          </p:val>
                                        </p:tav>
                                        <p:tav tm="100000">
                                          <p:val>
                                            <p:strVal val="#ppt_y"/>
                                          </p:val>
                                        </p:tav>
                                      </p:tavLst>
                                    </p:anim>
                                    <p:animEffect transition="in" filter="wipe(up)">
                                      <p:cBhvr>
                                        <p:cTn id="20" dur="1000"/>
                                        <p:tgtEl>
                                          <p:spTgt spid="35"/>
                                        </p:tgtEl>
                                      </p:cBhvr>
                                    </p:animEffect>
                                  </p:childTnLst>
                                </p:cTn>
                              </p:par>
                            </p:childTnLst>
                          </p:cTn>
                        </p:par>
                        <p:par>
                          <p:cTn id="21" fill="hold">
                            <p:stCondLst>
                              <p:cond delay="1000"/>
                            </p:stCondLst>
                            <p:childTnLst>
                              <p:par>
                                <p:cTn id="22" presetID="53" presetClass="entr" presetSubtype="16" fill="hold" grpId="0" nodeType="afterEffect">
                                  <p:stCondLst>
                                    <p:cond delay="0"/>
                                  </p:stCondLst>
                                  <p:childTnLst>
                                    <p:set>
                                      <p:cBhvr>
                                        <p:cTn id="23" dur="1" fill="hold">
                                          <p:stCondLst>
                                            <p:cond delay="0"/>
                                          </p:stCondLst>
                                        </p:cTn>
                                        <p:tgtEl>
                                          <p:spTgt spid="45"/>
                                        </p:tgtEl>
                                        <p:attrNameLst>
                                          <p:attrName>style.visibility</p:attrName>
                                        </p:attrNameLst>
                                      </p:cBhvr>
                                      <p:to>
                                        <p:strVal val="visible"/>
                                      </p:to>
                                    </p:set>
                                    <p:anim calcmode="lin" valueType="num">
                                      <p:cBhvr>
                                        <p:cTn id="24" dur="1000" fill="hold"/>
                                        <p:tgtEl>
                                          <p:spTgt spid="45"/>
                                        </p:tgtEl>
                                        <p:attrNameLst>
                                          <p:attrName>ppt_w</p:attrName>
                                        </p:attrNameLst>
                                      </p:cBhvr>
                                      <p:tavLst>
                                        <p:tav tm="0">
                                          <p:val>
                                            <p:fltVal val="0"/>
                                          </p:val>
                                        </p:tav>
                                        <p:tav tm="100000">
                                          <p:val>
                                            <p:strVal val="#ppt_w"/>
                                          </p:val>
                                        </p:tav>
                                      </p:tavLst>
                                    </p:anim>
                                    <p:anim calcmode="lin" valueType="num">
                                      <p:cBhvr>
                                        <p:cTn id="25" dur="1000" fill="hold"/>
                                        <p:tgtEl>
                                          <p:spTgt spid="45"/>
                                        </p:tgtEl>
                                        <p:attrNameLst>
                                          <p:attrName>ppt_h</p:attrName>
                                        </p:attrNameLst>
                                      </p:cBhvr>
                                      <p:tavLst>
                                        <p:tav tm="0">
                                          <p:val>
                                            <p:fltVal val="0"/>
                                          </p:val>
                                        </p:tav>
                                        <p:tav tm="100000">
                                          <p:val>
                                            <p:strVal val="#ppt_h"/>
                                          </p:val>
                                        </p:tav>
                                      </p:tavLst>
                                    </p:anim>
                                    <p:animEffect transition="in" filter="fade">
                                      <p:cBhvr>
                                        <p:cTn id="26" dur="1000"/>
                                        <p:tgtEl>
                                          <p:spTgt spid="45"/>
                                        </p:tgtEl>
                                      </p:cBhvr>
                                    </p:animEffect>
                                  </p:childTnLst>
                                </p:cTn>
                              </p:par>
                              <p:par>
                                <p:cTn id="27" presetID="12" presetClass="entr" presetSubtype="4" fill="hold" grpId="0" nodeType="withEffect">
                                  <p:stCondLst>
                                    <p:cond delay="0"/>
                                  </p:stCondLst>
                                  <p:childTnLst>
                                    <p:set>
                                      <p:cBhvr>
                                        <p:cTn id="28" dur="1" fill="hold">
                                          <p:stCondLst>
                                            <p:cond delay="0"/>
                                          </p:stCondLst>
                                        </p:cTn>
                                        <p:tgtEl>
                                          <p:spTgt spid="27"/>
                                        </p:tgtEl>
                                        <p:attrNameLst>
                                          <p:attrName>style.visibility</p:attrName>
                                        </p:attrNameLst>
                                      </p:cBhvr>
                                      <p:to>
                                        <p:strVal val="visible"/>
                                      </p:to>
                                    </p:set>
                                    <p:anim calcmode="lin" valueType="num">
                                      <p:cBhvr additive="base">
                                        <p:cTn id="29" dur="1000"/>
                                        <p:tgtEl>
                                          <p:spTgt spid="27"/>
                                        </p:tgtEl>
                                        <p:attrNameLst>
                                          <p:attrName>ppt_y</p:attrName>
                                        </p:attrNameLst>
                                      </p:cBhvr>
                                      <p:tavLst>
                                        <p:tav tm="0">
                                          <p:val>
                                            <p:strVal val="#ppt_y+#ppt_h*1.125000"/>
                                          </p:val>
                                        </p:tav>
                                        <p:tav tm="100000">
                                          <p:val>
                                            <p:strVal val="#ppt_y"/>
                                          </p:val>
                                        </p:tav>
                                      </p:tavLst>
                                    </p:anim>
                                    <p:animEffect transition="in" filter="wipe(up)">
                                      <p:cBhvr>
                                        <p:cTn id="30" dur="1000"/>
                                        <p:tgtEl>
                                          <p:spTgt spid="27"/>
                                        </p:tgtEl>
                                      </p:cBhvr>
                                    </p:animEffect>
                                  </p:childTnLst>
                                </p:cTn>
                              </p:par>
                            </p:childTnLst>
                          </p:cTn>
                        </p:par>
                        <p:par>
                          <p:cTn id="31" fill="hold">
                            <p:stCondLst>
                              <p:cond delay="2000"/>
                            </p:stCondLst>
                            <p:childTnLst>
                              <p:par>
                                <p:cTn id="32" presetID="53" presetClass="entr" presetSubtype="16" fill="hold" grpId="0" nodeType="afterEffect">
                                  <p:stCondLst>
                                    <p:cond delay="0"/>
                                  </p:stCondLst>
                                  <p:childTnLst>
                                    <p:set>
                                      <p:cBhvr>
                                        <p:cTn id="33" dur="1" fill="hold">
                                          <p:stCondLst>
                                            <p:cond delay="0"/>
                                          </p:stCondLst>
                                        </p:cTn>
                                        <p:tgtEl>
                                          <p:spTgt spid="44"/>
                                        </p:tgtEl>
                                        <p:attrNameLst>
                                          <p:attrName>style.visibility</p:attrName>
                                        </p:attrNameLst>
                                      </p:cBhvr>
                                      <p:to>
                                        <p:strVal val="visible"/>
                                      </p:to>
                                    </p:set>
                                    <p:anim calcmode="lin" valueType="num">
                                      <p:cBhvr>
                                        <p:cTn id="34" dur="1000" fill="hold"/>
                                        <p:tgtEl>
                                          <p:spTgt spid="44"/>
                                        </p:tgtEl>
                                        <p:attrNameLst>
                                          <p:attrName>ppt_w</p:attrName>
                                        </p:attrNameLst>
                                      </p:cBhvr>
                                      <p:tavLst>
                                        <p:tav tm="0">
                                          <p:val>
                                            <p:fltVal val="0"/>
                                          </p:val>
                                        </p:tav>
                                        <p:tav tm="100000">
                                          <p:val>
                                            <p:strVal val="#ppt_w"/>
                                          </p:val>
                                        </p:tav>
                                      </p:tavLst>
                                    </p:anim>
                                    <p:anim calcmode="lin" valueType="num">
                                      <p:cBhvr>
                                        <p:cTn id="35" dur="1000" fill="hold"/>
                                        <p:tgtEl>
                                          <p:spTgt spid="44"/>
                                        </p:tgtEl>
                                        <p:attrNameLst>
                                          <p:attrName>ppt_h</p:attrName>
                                        </p:attrNameLst>
                                      </p:cBhvr>
                                      <p:tavLst>
                                        <p:tav tm="0">
                                          <p:val>
                                            <p:fltVal val="0"/>
                                          </p:val>
                                        </p:tav>
                                        <p:tav tm="100000">
                                          <p:val>
                                            <p:strVal val="#ppt_h"/>
                                          </p:val>
                                        </p:tav>
                                      </p:tavLst>
                                    </p:anim>
                                    <p:animEffect transition="in" filter="fade">
                                      <p:cBhvr>
                                        <p:cTn id="36" dur="10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27" grpId="0" animBg="1"/>
      <p:bldP spid="42" grpId="0" animBg="1"/>
      <p:bldP spid="44" grpId="0" animBg="1"/>
      <p:bldP spid="4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圆角矩形 154"/>
          <p:cNvSpPr/>
          <p:nvPr/>
        </p:nvSpPr>
        <p:spPr>
          <a:xfrm>
            <a:off x="5003575" y="961726"/>
            <a:ext cx="4016831" cy="1341128"/>
          </a:xfrm>
          <a:prstGeom prst="roundRect">
            <a:avLst>
              <a:gd name="adj" fmla="val 5303"/>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黑体" panose="02010609060101010101" pitchFamily="49" charset="-122"/>
              <a:ea typeface="黑体" panose="02010609060101010101" pitchFamily="49" charset="-122"/>
            </a:endParaRPr>
          </a:p>
        </p:txBody>
      </p:sp>
      <p:grpSp>
        <p:nvGrpSpPr>
          <p:cNvPr id="65" name="组合 17"/>
          <p:cNvGrpSpPr/>
          <p:nvPr/>
        </p:nvGrpSpPr>
        <p:grpSpPr>
          <a:xfrm>
            <a:off x="392432" y="769746"/>
            <a:ext cx="3114144" cy="420971"/>
            <a:chOff x="670560" y="892917"/>
            <a:chExt cx="3114144" cy="420971"/>
          </a:xfrm>
        </p:grpSpPr>
        <p:sp>
          <p:nvSpPr>
            <p:cNvPr id="70" name="矩形 69"/>
            <p:cNvSpPr/>
            <p:nvPr/>
          </p:nvSpPr>
          <p:spPr>
            <a:xfrm>
              <a:off x="1035233" y="913778"/>
              <a:ext cx="2749471"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集成电路译码器的应用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7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17" name="Rectangle 27"/>
          <p:cNvSpPr>
            <a:spLocks noChangeArrowheads="1"/>
          </p:cNvSpPr>
          <p:nvPr/>
        </p:nvSpPr>
        <p:spPr bwMode="auto">
          <a:xfrm>
            <a:off x="577511" y="1237292"/>
            <a:ext cx="2033285" cy="369332"/>
          </a:xfrm>
          <a:prstGeom prst="rect">
            <a:avLst/>
          </a:prstGeom>
          <a:noFill/>
          <a:ln w="9525" algn="ctr">
            <a:noFill/>
            <a:miter lim="800000"/>
          </a:ln>
          <a:effectLst/>
        </p:spPr>
        <p:txBody>
          <a:bodyPr wrap="square" lIns="0" rIns="0">
            <a:spAutoFit/>
          </a:bodyPr>
          <a:lstStyle/>
          <a:p>
            <a:pPr>
              <a:defRPr/>
            </a:pPr>
            <a:r>
              <a:rPr lang="en-US" altLang="zh-CN" b="1" dirty="0">
                <a:solidFill>
                  <a:srgbClr val="6600FF"/>
                </a:solidFill>
                <a:latin typeface="黑体" panose="02010609060101010101" pitchFamily="49" charset="-122"/>
                <a:ea typeface="黑体" panose="02010609060101010101" pitchFamily="49" charset="-122"/>
              </a:rPr>
              <a:t>1</a:t>
            </a:r>
            <a:r>
              <a:rPr lang="zh-CN" altLang="en-US" b="1" dirty="0">
                <a:solidFill>
                  <a:srgbClr val="6600FF"/>
                </a:solidFill>
                <a:latin typeface="黑体" panose="02010609060101010101" pitchFamily="49" charset="-122"/>
                <a:ea typeface="黑体" panose="02010609060101010101" pitchFamily="49" charset="-122"/>
              </a:rPr>
              <a:t>、译码器的扩展</a:t>
            </a:r>
            <a:endParaRPr lang="zh-CN" altLang="en-US" b="1" dirty="0">
              <a:solidFill>
                <a:srgbClr val="6600FF"/>
              </a:solidFill>
              <a:latin typeface="黑体" panose="02010609060101010101" pitchFamily="49" charset="-122"/>
              <a:ea typeface="黑体" panose="02010609060101010101" pitchFamily="49" charset="-122"/>
            </a:endParaRPr>
          </a:p>
        </p:txBody>
      </p:sp>
      <p:graphicFrame>
        <p:nvGraphicFramePr>
          <p:cNvPr id="3" name="对象 2"/>
          <p:cNvGraphicFramePr>
            <a:graphicFrameLocks noChangeAspect="1"/>
          </p:cNvGraphicFramePr>
          <p:nvPr/>
        </p:nvGraphicFramePr>
        <p:xfrm>
          <a:off x="867463" y="1768259"/>
          <a:ext cx="4021812" cy="2178481"/>
        </p:xfrm>
        <a:graphic>
          <a:graphicData uri="http://schemas.openxmlformats.org/presentationml/2006/ole">
            <mc:AlternateContent xmlns:mc="http://schemas.openxmlformats.org/markup-compatibility/2006">
              <mc:Choice xmlns:v="urn:schemas-microsoft-com:vml" Requires="v">
                <p:oleObj spid="_x0000_s42076" name="Visio" r:id="rId2" imgW="2286000" imgH="1247775" progId="Visio.Drawing.11">
                  <p:embed/>
                </p:oleObj>
              </mc:Choice>
              <mc:Fallback>
                <p:oleObj name="Visio" r:id="rId2" imgW="2286000" imgH="1247775" progId="Visio.Drawing.11">
                  <p:embed/>
                  <p:pic>
                    <p:nvPicPr>
                      <p:cNvPr id="0" name="对象 2"/>
                      <p:cNvPicPr>
                        <a:picLocks noChangeAspect="1" noChangeArrowheads="1"/>
                      </p:cNvPicPr>
                      <p:nvPr/>
                    </p:nvPicPr>
                    <p:blipFill>
                      <a:blip r:embed="rId3"/>
                      <a:srcRect/>
                      <a:stretch>
                        <a:fillRect/>
                      </a:stretch>
                    </p:blipFill>
                    <p:spPr bwMode="auto">
                      <a:xfrm>
                        <a:off x="867463" y="1768259"/>
                        <a:ext cx="4021812" cy="2178481"/>
                      </a:xfrm>
                      <a:prstGeom prst="rect">
                        <a:avLst/>
                      </a:prstGeom>
                      <a:noFill/>
                    </p:spPr>
                  </p:pic>
                </p:oleObj>
              </mc:Fallback>
            </mc:AlternateContent>
          </a:graphicData>
        </a:graphic>
      </p:graphicFrame>
      <p:grpSp>
        <p:nvGrpSpPr>
          <p:cNvPr id="14" name="组合 13"/>
          <p:cNvGrpSpPr/>
          <p:nvPr/>
        </p:nvGrpSpPr>
        <p:grpSpPr>
          <a:xfrm>
            <a:off x="407672" y="4239059"/>
            <a:ext cx="8545828" cy="700576"/>
            <a:chOff x="407672" y="4010459"/>
            <a:chExt cx="8545828" cy="700576"/>
          </a:xfrm>
        </p:grpSpPr>
        <p:sp>
          <p:nvSpPr>
            <p:cNvPr id="39" name="文本框 38"/>
            <p:cNvSpPr txBox="1"/>
            <p:nvPr/>
          </p:nvSpPr>
          <p:spPr>
            <a:xfrm>
              <a:off x="407672" y="4010459"/>
              <a:ext cx="8545828" cy="700576"/>
            </a:xfrm>
            <a:prstGeom prst="rect">
              <a:avLst/>
            </a:prstGeom>
            <a:noFill/>
          </p:spPr>
          <p:txBody>
            <a:bodyPr wrap="square">
              <a:spAutoFit/>
            </a:bodyPr>
            <a:lstStyle/>
            <a:p>
              <a:pPr marL="449580" indent="-449580">
                <a:lnSpc>
                  <a:spcPct val="150000"/>
                </a:lnSpc>
              </a:pPr>
              <a:r>
                <a:rPr lang="zh-CN" altLang="en-US" sz="1400" kern="100" dirty="0">
                  <a:effectLst/>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kern="100" dirty="0">
                  <a:effectLst/>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400" kern="100" dirty="0">
                  <a:effectLst/>
                  <a:latin typeface="Times New Roman" panose="02020603050405020304" pitchFamily="18" charset="0"/>
                  <a:ea typeface="微软雅黑" panose="020B0503020204020204" pitchFamily="34" charset="-122"/>
                  <a:cs typeface="Times New Roman" panose="02020603050405020304" pitchFamily="18" charset="0"/>
                </a:rPr>
                <a:t>）当    </a:t>
              </a:r>
              <a:r>
                <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400" kern="100" dirty="0">
                  <a:effectLst/>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kern="100" dirty="0">
                  <a:effectLst/>
                  <a:latin typeface="Times New Roman" panose="02020603050405020304" pitchFamily="18" charset="0"/>
                  <a:ea typeface="微软雅黑" panose="020B0503020204020204" pitchFamily="34" charset="-122"/>
                  <a:cs typeface="Times New Roman" panose="02020603050405020304" pitchFamily="18" charset="0"/>
                </a:rPr>
                <a:t>时，片</a:t>
              </a:r>
              <a:r>
                <a:rPr lang="en-US" altLang="zh-CN" sz="1400" kern="100" dirty="0">
                  <a:effectLst/>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的使能端</a:t>
              </a:r>
              <a:r>
                <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和片</a:t>
              </a:r>
              <a:r>
                <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rPr>
                <a:t>(1)</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的使能端</a:t>
              </a:r>
              <a:r>
                <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rPr>
                <a:t>    </a:t>
              </a:r>
              <a:r>
                <a:rPr lang="zh-CN" altLang="en-US" sz="1400" kern="100" dirty="0">
                  <a:latin typeface="Times New Roman" panose="02020603050405020304" pitchFamily="18" charset="0"/>
                  <a:ea typeface="微软雅黑" panose="020B0503020204020204" pitchFamily="34" charset="-122"/>
                  <a:cs typeface="Times New Roman" panose="02020603050405020304" pitchFamily="18" charset="0"/>
                </a:rPr>
                <a:t>、 均有效，</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由于片</a:t>
              </a:r>
              <a:r>
                <a:rPr lang="en-US" altLang="zh-CN" sz="1400" kern="1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zh-CN" sz="1400" kern="100" dirty="0">
                  <a:latin typeface="Times New Roman" panose="02020603050405020304" pitchFamily="18" charset="0"/>
                  <a:ea typeface="微软雅黑" panose="020B0503020204020204" pitchFamily="34" charset="-122"/>
                  <a:cs typeface="Times New Roman" panose="02020603050405020304" pitchFamily="18" charset="0"/>
                </a:rPr>
                <a:t>使能端</a:t>
              </a:r>
              <a:r>
                <a:rPr lang="en-US" altLang="zh-CN" sz="1400" i="1" kern="100" dirty="0">
                  <a:latin typeface="Times New Roman" panose="02020603050405020304" pitchFamily="18" charset="0"/>
                  <a:ea typeface="微软雅黑" panose="020B0503020204020204" pitchFamily="34" charset="-122"/>
                  <a:cs typeface="Times New Roman" panose="02020603050405020304" pitchFamily="18" charset="0"/>
                </a:rPr>
                <a:t>E</a:t>
              </a:r>
              <a:r>
                <a:rPr lang="en-US" altLang="zh-CN" sz="1400" kern="10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400" kern="100" dirty="0">
                  <a:latin typeface="Times New Roman" panose="02020603050405020304" pitchFamily="18" charset="0"/>
                  <a:ea typeface="微软雅黑" panose="020B0503020204020204" pitchFamily="34" charset="-122"/>
                  <a:cs typeface="Times New Roman" panose="02020603050405020304" pitchFamily="18" charset="0"/>
                </a:rPr>
                <a:t>为高电平为有效，因此译码器是否译码取决于高位代码</a:t>
              </a:r>
              <a:r>
                <a:rPr lang="en-US" altLang="zh-CN" sz="1400" i="1" kern="100"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400" kern="100" baseline="-25000" dirty="0">
                  <a:latin typeface="Times New Roman" panose="02020603050405020304" pitchFamily="18" charset="0"/>
                  <a:ea typeface="微软雅黑" panose="020B0503020204020204" pitchFamily="34" charset="-122"/>
                  <a:cs typeface="Times New Roman" panose="02020603050405020304" pitchFamily="18" charset="0"/>
                </a:rPr>
                <a:t>3</a:t>
              </a:r>
              <a:r>
                <a:rPr lang="zh-CN" altLang="en-US" sz="1400" kern="100" dirty="0">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sz="1400" kern="100" dirty="0">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10" name="对象 9"/>
            <p:cNvGraphicFramePr>
              <a:graphicFrameLocks noChangeAspect="1"/>
            </p:cNvGraphicFramePr>
            <p:nvPr/>
          </p:nvGraphicFramePr>
          <p:xfrm>
            <a:off x="1145975" y="4079439"/>
            <a:ext cx="210923" cy="260551"/>
          </p:xfrm>
          <a:graphic>
            <a:graphicData uri="http://schemas.openxmlformats.org/presentationml/2006/ole">
              <mc:AlternateContent xmlns:mc="http://schemas.openxmlformats.org/markup-compatibility/2006">
                <mc:Choice xmlns:v="urn:schemas-microsoft-com:vml" Requires="v">
                  <p:oleObj spid="_x0000_s42077" name="公式" r:id="rId4" imgW="139700" imgH="190500" progId="Equation.3">
                    <p:embed/>
                  </p:oleObj>
                </mc:Choice>
                <mc:Fallback>
                  <p:oleObj name="公式" r:id="rId4" imgW="139700" imgH="190500" progId="Equation.3">
                    <p:embed/>
                    <p:pic>
                      <p:nvPicPr>
                        <p:cNvPr id="0" name="对象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45975" y="4079439"/>
                          <a:ext cx="210923" cy="260551"/>
                        </a:xfrm>
                        <a:prstGeom prst="rect">
                          <a:avLst/>
                        </a:prstGeom>
                        <a:noFill/>
                      </p:spPr>
                    </p:pic>
                  </p:oleObj>
                </mc:Fallback>
              </mc:AlternateContent>
            </a:graphicData>
          </a:graphic>
        </p:graphicFrame>
        <p:graphicFrame>
          <p:nvGraphicFramePr>
            <p:cNvPr id="30" name="对象 29"/>
            <p:cNvGraphicFramePr>
              <a:graphicFrameLocks noChangeAspect="1"/>
            </p:cNvGraphicFramePr>
            <p:nvPr/>
          </p:nvGraphicFramePr>
          <p:xfrm>
            <a:off x="2963218" y="4098481"/>
            <a:ext cx="210923" cy="260551"/>
          </p:xfrm>
          <a:graphic>
            <a:graphicData uri="http://schemas.openxmlformats.org/presentationml/2006/ole">
              <mc:AlternateContent xmlns:mc="http://schemas.openxmlformats.org/markup-compatibility/2006">
                <mc:Choice xmlns:v="urn:schemas-microsoft-com:vml" Requires="v">
                  <p:oleObj spid="_x0000_s42078" name="公式" r:id="rId6" imgW="165100" imgH="203200" progId="Equation.3">
                    <p:embed/>
                  </p:oleObj>
                </mc:Choice>
                <mc:Fallback>
                  <p:oleObj name="公式" r:id="rId6" imgW="165100" imgH="203200" progId="Equation.3">
                    <p:embed/>
                    <p:pic>
                      <p:nvPicPr>
                        <p:cNvPr id="0" name="对象 2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63218" y="4098481"/>
                          <a:ext cx="210923" cy="260551"/>
                        </a:xfrm>
                        <a:prstGeom prst="rect">
                          <a:avLst/>
                        </a:prstGeom>
                        <a:noFill/>
                      </p:spPr>
                    </p:pic>
                  </p:oleObj>
                </mc:Fallback>
              </mc:AlternateContent>
            </a:graphicData>
          </a:graphic>
        </p:graphicFrame>
        <p:graphicFrame>
          <p:nvGraphicFramePr>
            <p:cNvPr id="31" name="对象 30"/>
            <p:cNvGraphicFramePr>
              <a:graphicFrameLocks noChangeAspect="1"/>
            </p:cNvGraphicFramePr>
            <p:nvPr/>
          </p:nvGraphicFramePr>
          <p:xfrm>
            <a:off x="4413734" y="4114254"/>
            <a:ext cx="190004" cy="234711"/>
          </p:xfrm>
          <a:graphic>
            <a:graphicData uri="http://schemas.openxmlformats.org/presentationml/2006/ole">
              <mc:AlternateContent xmlns:mc="http://schemas.openxmlformats.org/markup-compatibility/2006">
                <mc:Choice xmlns:v="urn:schemas-microsoft-com:vml" Requires="v">
                  <p:oleObj spid="_x0000_s42079" name="公式" r:id="rId8" imgW="165100" imgH="203200" progId="Equation.3">
                    <p:embed/>
                  </p:oleObj>
                </mc:Choice>
                <mc:Fallback>
                  <p:oleObj name="公式" r:id="rId8" imgW="165100" imgH="203200" progId="Equation.3">
                    <p:embed/>
                    <p:pic>
                      <p:nvPicPr>
                        <p:cNvPr id="0" name="对象 3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13734" y="4114254"/>
                          <a:ext cx="190004" cy="234711"/>
                        </a:xfrm>
                        <a:prstGeom prst="rect">
                          <a:avLst/>
                        </a:prstGeom>
                        <a:noFill/>
                      </p:spPr>
                    </p:pic>
                  </p:oleObj>
                </mc:Fallback>
              </mc:AlternateContent>
            </a:graphicData>
          </a:graphic>
        </p:graphicFrame>
        <p:graphicFrame>
          <p:nvGraphicFramePr>
            <p:cNvPr id="32" name="对象 31"/>
            <p:cNvGraphicFramePr>
              <a:graphicFrameLocks noChangeAspect="1"/>
            </p:cNvGraphicFramePr>
            <p:nvPr/>
          </p:nvGraphicFramePr>
          <p:xfrm>
            <a:off x="4646041" y="4122844"/>
            <a:ext cx="212357" cy="234710"/>
          </p:xfrm>
          <a:graphic>
            <a:graphicData uri="http://schemas.openxmlformats.org/presentationml/2006/ole">
              <mc:AlternateContent xmlns:mc="http://schemas.openxmlformats.org/markup-compatibility/2006">
                <mc:Choice xmlns:v="urn:schemas-microsoft-com:vml" Requires="v">
                  <p:oleObj spid="_x0000_s42080" name="公式" r:id="rId10" imgW="177800" imgH="203200" progId="Equation.3">
                    <p:embed/>
                  </p:oleObj>
                </mc:Choice>
                <mc:Fallback>
                  <p:oleObj name="公式" r:id="rId10" imgW="177800" imgH="203200" progId="Equation.3">
                    <p:embed/>
                    <p:pic>
                      <p:nvPicPr>
                        <p:cNvPr id="0" name="对象 3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46041" y="4122844"/>
                          <a:ext cx="212357" cy="234710"/>
                        </a:xfrm>
                        <a:prstGeom prst="rect">
                          <a:avLst/>
                        </a:prstGeom>
                        <a:noFill/>
                      </p:spPr>
                    </p:pic>
                  </p:oleObj>
                </mc:Fallback>
              </mc:AlternateContent>
            </a:graphicData>
          </a:graphic>
        </p:graphicFrame>
      </p:grpSp>
      <p:sp>
        <p:nvSpPr>
          <p:cNvPr id="2" name="椭圆 1"/>
          <p:cNvSpPr/>
          <p:nvPr/>
        </p:nvSpPr>
        <p:spPr>
          <a:xfrm>
            <a:off x="2664136" y="3670752"/>
            <a:ext cx="273967" cy="29941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0</a:t>
            </a:r>
            <a:endParaRPr lang="zh-CN" altLang="en-US" dirty="0">
              <a:latin typeface="微软雅黑" panose="020B0503020204020204" pitchFamily="34" charset="-122"/>
              <a:ea typeface="微软雅黑" panose="020B0503020204020204" pitchFamily="34" charset="-122"/>
            </a:endParaRPr>
          </a:p>
        </p:txBody>
      </p:sp>
      <p:sp>
        <p:nvSpPr>
          <p:cNvPr id="35" name="圆角矩形 56"/>
          <p:cNvSpPr/>
          <p:nvPr/>
        </p:nvSpPr>
        <p:spPr>
          <a:xfrm>
            <a:off x="2214443" y="2779148"/>
            <a:ext cx="237084" cy="468877"/>
          </a:xfrm>
          <a:prstGeom prst="roundRect">
            <a:avLst>
              <a:gd name="adj" fmla="val 1428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圆角矩形 56"/>
          <p:cNvSpPr/>
          <p:nvPr/>
        </p:nvSpPr>
        <p:spPr>
          <a:xfrm>
            <a:off x="4056147" y="2779147"/>
            <a:ext cx="237084" cy="468877"/>
          </a:xfrm>
          <a:prstGeom prst="roundRect">
            <a:avLst>
              <a:gd name="adj" fmla="val 14282"/>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8"/>
          <p:cNvGrpSpPr/>
          <p:nvPr/>
        </p:nvGrpSpPr>
        <p:grpSpPr>
          <a:xfrm>
            <a:off x="5008556" y="990469"/>
            <a:ext cx="4016831" cy="1312385"/>
            <a:chOff x="4894256" y="990469"/>
            <a:chExt cx="4016831" cy="1312385"/>
          </a:xfrm>
          <a:noFill/>
        </p:grpSpPr>
        <p:graphicFrame>
          <p:nvGraphicFramePr>
            <p:cNvPr id="6" name="对象 5"/>
            <p:cNvGraphicFramePr>
              <a:graphicFrameLocks noChangeAspect="1"/>
            </p:cNvGraphicFramePr>
            <p:nvPr/>
          </p:nvGraphicFramePr>
          <p:xfrm>
            <a:off x="5274797" y="990469"/>
            <a:ext cx="2130111" cy="316056"/>
          </p:xfrm>
          <a:graphic>
            <a:graphicData uri="http://schemas.openxmlformats.org/presentationml/2006/ole">
              <mc:AlternateContent xmlns:mc="http://schemas.openxmlformats.org/markup-compatibility/2006">
                <mc:Choice xmlns:v="urn:schemas-microsoft-com:vml" Requires="v">
                  <p:oleObj spid="_x0000_s42081" name="公式" r:id="rId12" imgW="1282700" imgH="190500" progId="Equation.3">
                    <p:embed/>
                  </p:oleObj>
                </mc:Choice>
                <mc:Fallback>
                  <p:oleObj name="公式" r:id="rId12" imgW="1282700" imgH="190500" progId="Equation.3">
                    <p:embed/>
                    <p:pic>
                      <p:nvPicPr>
                        <p:cNvPr id="0" name="对象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274797" y="990469"/>
                          <a:ext cx="2130111" cy="316056"/>
                        </a:xfrm>
                        <a:prstGeom prst="rect">
                          <a:avLst/>
                        </a:prstGeom>
                        <a:noFill/>
                      </p:spPr>
                    </p:pic>
                  </p:oleObj>
                </mc:Fallback>
              </mc:AlternateContent>
            </a:graphicData>
          </a:graphic>
        </p:graphicFrame>
        <p:sp>
          <p:nvSpPr>
            <p:cNvPr id="37" name="文本框 36"/>
            <p:cNvSpPr txBox="1"/>
            <p:nvPr/>
          </p:nvSpPr>
          <p:spPr>
            <a:xfrm>
              <a:off x="4894256" y="1279240"/>
              <a:ext cx="4016831" cy="1023614"/>
            </a:xfrm>
            <a:prstGeom prst="rect">
              <a:avLst/>
            </a:prstGeom>
            <a:grpFill/>
          </p:spPr>
          <p:txBody>
            <a:bodyPr wrap="square">
              <a:spAutoFit/>
            </a:bodyPr>
            <a:lstStyle>
              <a:defPPr>
                <a:defRPr lang="zh-CN"/>
              </a:defPPr>
              <a:lvl1pPr marL="449580" indent="-449580">
                <a:lnSpc>
                  <a:spcPct val="150000"/>
                </a:lnSpc>
                <a:defRPr sz="1400" kern="100">
                  <a:effectLst/>
                  <a:latin typeface="Times New Roman" panose="02020603050405020304" pitchFamily="18" charset="0"/>
                  <a:ea typeface="微软雅黑" panose="020B0503020204020204" pitchFamily="34" charset="-122"/>
                  <a:cs typeface="Times New Roman" panose="02020603050405020304" pitchFamily="18" charset="0"/>
                </a:defRPr>
              </a:lvl1pPr>
            </a:lstStyle>
            <a:p>
              <a:pPr marL="0" indent="358775"/>
              <a:r>
                <a:rPr lang="zh-CN" altLang="zh-CN" dirty="0"/>
                <a:t>片</a:t>
              </a:r>
              <a:r>
                <a:rPr lang="en-US" altLang="zh-CN" dirty="0"/>
                <a:t>(0)</a:t>
              </a:r>
              <a:r>
                <a:rPr lang="zh-CN" altLang="zh-CN" dirty="0"/>
                <a:t>允许译码</a:t>
              </a:r>
              <a:r>
                <a:rPr lang="zh-CN" altLang="en-US" dirty="0"/>
                <a:t>，</a:t>
              </a:r>
              <a:r>
                <a:rPr lang="zh-CN" altLang="zh-CN" dirty="0"/>
                <a:t>片</a:t>
              </a:r>
              <a:r>
                <a:rPr lang="en-US" altLang="zh-CN" dirty="0"/>
                <a:t>(1)</a:t>
              </a:r>
              <a:r>
                <a:rPr lang="zh-CN" altLang="en-US" dirty="0"/>
                <a:t>禁止</a:t>
              </a:r>
              <a:r>
                <a:rPr lang="zh-CN" altLang="zh-CN" dirty="0"/>
                <a:t>译码</a:t>
              </a:r>
              <a:r>
                <a:rPr lang="zh-CN" altLang="en-US" dirty="0"/>
                <a:t>。对应</a:t>
              </a:r>
              <a:r>
                <a:rPr lang="en-US" altLang="zh-CN" i="1" dirty="0"/>
                <a:t>A</a:t>
              </a:r>
              <a:r>
                <a:rPr lang="en-US" altLang="zh-CN" baseline="-25000" dirty="0"/>
                <a:t>2</a:t>
              </a:r>
              <a:r>
                <a:rPr lang="en-US" altLang="zh-CN" i="1" dirty="0"/>
                <a:t>A</a:t>
              </a:r>
              <a:r>
                <a:rPr lang="en-US" altLang="zh-CN" baseline="-25000" dirty="0"/>
                <a:t>1</a:t>
              </a:r>
              <a:r>
                <a:rPr lang="en-US" altLang="zh-CN" i="1" dirty="0"/>
                <a:t>A</a:t>
              </a:r>
              <a:r>
                <a:rPr lang="en-US" altLang="zh-CN" baseline="-25000" dirty="0"/>
                <a:t>0</a:t>
              </a:r>
              <a:r>
                <a:rPr lang="zh-CN" altLang="en-US" dirty="0"/>
                <a:t>从</a:t>
              </a:r>
              <a:r>
                <a:rPr lang="en-US" altLang="zh-CN" dirty="0"/>
                <a:t>000~111</a:t>
              </a:r>
              <a:r>
                <a:rPr lang="zh-CN" altLang="en-US" dirty="0"/>
                <a:t>，对应                输出译码结果，其余输出全部为无效电平。</a:t>
              </a:r>
              <a:endParaRPr lang="zh-CN" altLang="en-US" dirty="0"/>
            </a:p>
          </p:txBody>
        </p:sp>
        <p:graphicFrame>
          <p:nvGraphicFramePr>
            <p:cNvPr id="11" name="对象 10"/>
            <p:cNvGraphicFramePr>
              <a:graphicFrameLocks noChangeAspect="1"/>
            </p:cNvGraphicFramePr>
            <p:nvPr/>
          </p:nvGraphicFramePr>
          <p:xfrm>
            <a:off x="6366688" y="1667424"/>
            <a:ext cx="643711" cy="287616"/>
          </p:xfrm>
          <a:graphic>
            <a:graphicData uri="http://schemas.openxmlformats.org/presentationml/2006/ole">
              <mc:AlternateContent xmlns:mc="http://schemas.openxmlformats.org/markup-compatibility/2006">
                <mc:Choice xmlns:v="urn:schemas-microsoft-com:vml" Requires="v">
                  <p:oleObj spid="_x0000_s42082" name="公式" r:id="rId14" imgW="444500" imgH="203200" progId="Equation.3">
                    <p:embed/>
                  </p:oleObj>
                </mc:Choice>
                <mc:Fallback>
                  <p:oleObj name="公式" r:id="rId14" imgW="444500" imgH="203200" progId="Equation.3">
                    <p:embed/>
                    <p:pic>
                      <p:nvPicPr>
                        <p:cNvPr id="0" name="对象 1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6366688" y="1667424"/>
                          <a:ext cx="643711" cy="287616"/>
                        </a:xfrm>
                        <a:prstGeom prst="rect">
                          <a:avLst/>
                        </a:prstGeom>
                        <a:noFill/>
                      </p:spPr>
                    </p:pic>
                  </p:oleObj>
                </mc:Fallback>
              </mc:AlternateContent>
            </a:graphicData>
          </a:graphic>
        </p:graphicFrame>
      </p:grpSp>
      <p:grpSp>
        <p:nvGrpSpPr>
          <p:cNvPr id="20" name="组合 19"/>
          <p:cNvGrpSpPr/>
          <p:nvPr/>
        </p:nvGrpSpPr>
        <p:grpSpPr>
          <a:xfrm>
            <a:off x="4978076" y="2477573"/>
            <a:ext cx="4053277" cy="1341128"/>
            <a:chOff x="4932356" y="2553773"/>
            <a:chExt cx="4053277" cy="1341128"/>
          </a:xfrm>
        </p:grpSpPr>
        <p:sp>
          <p:nvSpPr>
            <p:cNvPr id="48" name="圆角矩形 154"/>
            <p:cNvSpPr/>
            <p:nvPr/>
          </p:nvSpPr>
          <p:spPr>
            <a:xfrm>
              <a:off x="4968802" y="2553773"/>
              <a:ext cx="4016831" cy="1341128"/>
            </a:xfrm>
            <a:prstGeom prst="roundRect">
              <a:avLst>
                <a:gd name="adj" fmla="val 5303"/>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黑体" panose="02010609060101010101" pitchFamily="49" charset="-122"/>
                <a:ea typeface="黑体" panose="02010609060101010101" pitchFamily="49" charset="-122"/>
              </a:endParaRPr>
            </a:p>
          </p:txBody>
        </p:sp>
        <p:graphicFrame>
          <p:nvGraphicFramePr>
            <p:cNvPr id="13" name="对象 12"/>
            <p:cNvGraphicFramePr>
              <a:graphicFrameLocks noChangeAspect="1"/>
            </p:cNvGraphicFramePr>
            <p:nvPr/>
          </p:nvGraphicFramePr>
          <p:xfrm>
            <a:off x="5312897" y="2559779"/>
            <a:ext cx="2115973" cy="320602"/>
          </p:xfrm>
          <a:graphic>
            <a:graphicData uri="http://schemas.openxmlformats.org/presentationml/2006/ole">
              <mc:AlternateContent xmlns:mc="http://schemas.openxmlformats.org/markup-compatibility/2006">
                <mc:Choice xmlns:v="urn:schemas-microsoft-com:vml" Requires="v">
                  <p:oleObj spid="_x0000_s42083" name="公式" r:id="rId16" imgW="1257300" imgH="190500" progId="Equation.3">
                    <p:embed/>
                  </p:oleObj>
                </mc:Choice>
                <mc:Fallback>
                  <p:oleObj name="公式" r:id="rId16" imgW="1257300" imgH="190500" progId="Equation.3">
                    <p:embed/>
                    <p:pic>
                      <p:nvPicPr>
                        <p:cNvPr id="0" name="对象 1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312897" y="2559779"/>
                          <a:ext cx="2115973" cy="320602"/>
                        </a:xfrm>
                        <a:prstGeom prst="rect">
                          <a:avLst/>
                        </a:prstGeom>
                        <a:noFill/>
                      </p:spPr>
                    </p:pic>
                  </p:oleObj>
                </mc:Fallback>
              </mc:AlternateContent>
            </a:graphicData>
          </a:graphic>
        </p:graphicFrame>
        <p:sp>
          <p:nvSpPr>
            <p:cNvPr id="40" name="文本框 39"/>
            <p:cNvSpPr txBox="1"/>
            <p:nvPr/>
          </p:nvSpPr>
          <p:spPr>
            <a:xfrm>
              <a:off x="4932356" y="2847000"/>
              <a:ext cx="4016831" cy="1023614"/>
            </a:xfrm>
            <a:prstGeom prst="rect">
              <a:avLst/>
            </a:prstGeom>
            <a:noFill/>
          </p:spPr>
          <p:txBody>
            <a:bodyPr wrap="square">
              <a:spAutoFit/>
            </a:bodyPr>
            <a:lstStyle>
              <a:defPPr>
                <a:defRPr lang="zh-CN"/>
              </a:defPPr>
              <a:lvl1pPr marL="449580" indent="-449580">
                <a:lnSpc>
                  <a:spcPct val="150000"/>
                </a:lnSpc>
                <a:defRPr sz="1400" kern="100">
                  <a:effectLst/>
                  <a:latin typeface="Times New Roman" panose="02020603050405020304" pitchFamily="18" charset="0"/>
                  <a:ea typeface="微软雅黑" panose="020B0503020204020204" pitchFamily="34" charset="-122"/>
                  <a:cs typeface="Times New Roman" panose="02020603050405020304" pitchFamily="18" charset="0"/>
                </a:defRPr>
              </a:lvl1pPr>
            </a:lstStyle>
            <a:p>
              <a:pPr marL="0" indent="358775"/>
              <a:r>
                <a:rPr lang="zh-CN" altLang="zh-CN" dirty="0"/>
                <a:t>片</a:t>
              </a:r>
              <a:r>
                <a:rPr lang="en-US" altLang="zh-CN" dirty="0"/>
                <a:t>(1)</a:t>
              </a:r>
              <a:r>
                <a:rPr lang="zh-CN" altLang="zh-CN" dirty="0"/>
                <a:t>允许译码</a:t>
              </a:r>
              <a:r>
                <a:rPr lang="zh-CN" altLang="en-US" dirty="0"/>
                <a:t>，</a:t>
              </a:r>
              <a:r>
                <a:rPr lang="zh-CN" altLang="zh-CN" dirty="0"/>
                <a:t>片</a:t>
              </a:r>
              <a:r>
                <a:rPr lang="en-US" altLang="zh-CN" dirty="0"/>
                <a:t>(0)</a:t>
              </a:r>
              <a:r>
                <a:rPr lang="zh-CN" altLang="en-US" dirty="0"/>
                <a:t>禁止</a:t>
              </a:r>
              <a:r>
                <a:rPr lang="zh-CN" altLang="zh-CN" dirty="0"/>
                <a:t>译码</a:t>
              </a:r>
              <a:r>
                <a:rPr lang="zh-CN" altLang="en-US" dirty="0"/>
                <a:t>。对应</a:t>
              </a:r>
              <a:r>
                <a:rPr lang="en-US" altLang="zh-CN" i="1" dirty="0"/>
                <a:t>A</a:t>
              </a:r>
              <a:r>
                <a:rPr lang="en-US" altLang="zh-CN" baseline="-25000" dirty="0"/>
                <a:t>2</a:t>
              </a:r>
              <a:r>
                <a:rPr lang="en-US" altLang="zh-CN" i="1" dirty="0"/>
                <a:t>A</a:t>
              </a:r>
              <a:r>
                <a:rPr lang="en-US" altLang="zh-CN" baseline="-25000" dirty="0"/>
                <a:t>1</a:t>
              </a:r>
              <a:r>
                <a:rPr lang="en-US" altLang="zh-CN" i="1" dirty="0"/>
                <a:t>A</a:t>
              </a:r>
              <a:r>
                <a:rPr lang="en-US" altLang="zh-CN" baseline="-25000" dirty="0"/>
                <a:t>0</a:t>
              </a:r>
              <a:r>
                <a:rPr lang="zh-CN" altLang="en-US" dirty="0"/>
                <a:t>从</a:t>
              </a:r>
              <a:r>
                <a:rPr lang="en-US" altLang="zh-CN" dirty="0"/>
                <a:t>000~111</a:t>
              </a:r>
              <a:r>
                <a:rPr lang="zh-CN" altLang="en-US" dirty="0"/>
                <a:t>，对应                输出译码结果，其余输出全部为无效电平。</a:t>
              </a:r>
              <a:endParaRPr lang="zh-CN" altLang="en-US" dirty="0"/>
            </a:p>
          </p:txBody>
        </p:sp>
        <p:graphicFrame>
          <p:nvGraphicFramePr>
            <p:cNvPr id="16" name="对象 15"/>
            <p:cNvGraphicFramePr>
              <a:graphicFrameLocks noChangeAspect="1"/>
            </p:cNvGraphicFramePr>
            <p:nvPr/>
          </p:nvGraphicFramePr>
          <p:xfrm>
            <a:off x="6374308" y="3251174"/>
            <a:ext cx="643711" cy="275876"/>
          </p:xfrm>
          <a:graphic>
            <a:graphicData uri="http://schemas.openxmlformats.org/presentationml/2006/ole">
              <mc:AlternateContent xmlns:mc="http://schemas.openxmlformats.org/markup-compatibility/2006">
                <mc:Choice xmlns:v="urn:schemas-microsoft-com:vml" Requires="v">
                  <p:oleObj spid="_x0000_s42084" name="公式" r:id="rId18" imgW="469900" imgH="203200" progId="Equation.3">
                    <p:embed/>
                  </p:oleObj>
                </mc:Choice>
                <mc:Fallback>
                  <p:oleObj name="公式" r:id="rId18" imgW="469900" imgH="203200" progId="Equation.3">
                    <p:embed/>
                    <p:pic>
                      <p:nvPicPr>
                        <p:cNvPr id="0" name="对象 1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374308" y="3251174"/>
                          <a:ext cx="643711" cy="275876"/>
                        </a:xfrm>
                        <a:prstGeom prst="rect">
                          <a:avLst/>
                        </a:prstGeom>
                        <a:noFill/>
                      </p:spPr>
                    </p:pic>
                  </p:oleObj>
                </mc:Fallback>
              </mc:AlternateContent>
            </a:graphicData>
          </a:graphic>
        </p:graphicFrame>
      </p:grpSp>
      <p:sp>
        <p:nvSpPr>
          <p:cNvPr id="42" name="椭圆 41"/>
          <p:cNvSpPr/>
          <p:nvPr/>
        </p:nvSpPr>
        <p:spPr>
          <a:xfrm>
            <a:off x="1940476" y="3654604"/>
            <a:ext cx="273967" cy="299410"/>
          </a:xfrm>
          <a:prstGeom prst="ellipse">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sp>
        <p:nvSpPr>
          <p:cNvPr id="44" name="圆角矩形 154"/>
          <p:cNvSpPr/>
          <p:nvPr/>
        </p:nvSpPr>
        <p:spPr>
          <a:xfrm>
            <a:off x="1209218" y="2416811"/>
            <a:ext cx="1190725" cy="327847"/>
          </a:xfrm>
          <a:prstGeom prst="roundRect">
            <a:avLst/>
          </a:prstGeom>
          <a:solidFill>
            <a:srgbClr val="CC00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黑体" panose="02010609060101010101" pitchFamily="49" charset="-122"/>
                <a:ea typeface="黑体" panose="02010609060101010101" pitchFamily="49" charset="-122"/>
              </a:rPr>
              <a:t>禁止译码</a:t>
            </a:r>
            <a:endParaRPr lang="zh-CN" altLang="en-US" sz="1400" dirty="0">
              <a:latin typeface="黑体" panose="02010609060101010101" pitchFamily="49" charset="-122"/>
              <a:ea typeface="黑体" panose="02010609060101010101" pitchFamily="49" charset="-122"/>
            </a:endParaRPr>
          </a:p>
        </p:txBody>
      </p:sp>
      <p:sp>
        <p:nvSpPr>
          <p:cNvPr id="45" name="圆角矩形 155"/>
          <p:cNvSpPr/>
          <p:nvPr/>
        </p:nvSpPr>
        <p:spPr>
          <a:xfrm>
            <a:off x="3318011" y="2399402"/>
            <a:ext cx="1190725" cy="327847"/>
          </a:xfrm>
          <a:prstGeom prst="roundRect">
            <a:avLst/>
          </a:prstGeom>
          <a:solidFill>
            <a:srgbClr val="0070C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黑体" panose="02010609060101010101" pitchFamily="49" charset="-122"/>
                <a:ea typeface="黑体" panose="02010609060101010101" pitchFamily="49" charset="-122"/>
              </a:rPr>
              <a:t>允许译码</a:t>
            </a:r>
            <a:endParaRPr lang="zh-CN" altLang="en-US" sz="1400" dirty="0">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1000"/>
                                        <p:tgtEl>
                                          <p:spTgt spid="20"/>
                                        </p:tgtEl>
                                        <p:attrNameLst>
                                          <p:attrName>ppt_y</p:attrName>
                                        </p:attrNameLst>
                                      </p:cBhvr>
                                      <p:tavLst>
                                        <p:tav tm="0">
                                          <p:val>
                                            <p:strVal val="#ppt_y+#ppt_h*1.125000"/>
                                          </p:val>
                                        </p:tav>
                                        <p:tav tm="100000">
                                          <p:val>
                                            <p:strVal val="#ppt_y"/>
                                          </p:val>
                                        </p:tav>
                                      </p:tavLst>
                                    </p:anim>
                                    <p:animEffect transition="in" filter="wipe(up)">
                                      <p:cBhvr>
                                        <p:cTn id="8" dur="1000"/>
                                        <p:tgtEl>
                                          <p:spTgt spid="20"/>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42"/>
                                        </p:tgtEl>
                                        <p:attrNameLst>
                                          <p:attrName>style.visibility</p:attrName>
                                        </p:attrNameLst>
                                      </p:cBhvr>
                                      <p:to>
                                        <p:strVal val="visible"/>
                                      </p:to>
                                    </p:set>
                                    <p:anim calcmode="lin" valueType="num">
                                      <p:cBhvr additive="base">
                                        <p:cTn id="11" dur="1000"/>
                                        <p:tgtEl>
                                          <p:spTgt spid="42"/>
                                        </p:tgtEl>
                                        <p:attrNameLst>
                                          <p:attrName>ppt_y</p:attrName>
                                        </p:attrNameLst>
                                      </p:cBhvr>
                                      <p:tavLst>
                                        <p:tav tm="0">
                                          <p:val>
                                            <p:strVal val="#ppt_y+#ppt_h*1.125000"/>
                                          </p:val>
                                        </p:tav>
                                        <p:tav tm="100000">
                                          <p:val>
                                            <p:strVal val="#ppt_y"/>
                                          </p:val>
                                        </p:tav>
                                      </p:tavLst>
                                    </p:anim>
                                    <p:animEffect transition="in" filter="wipe(up)">
                                      <p:cBhvr>
                                        <p:cTn id="12" dur="1000"/>
                                        <p:tgtEl>
                                          <p:spTgt spid="42"/>
                                        </p:tgtEl>
                                      </p:cBhvr>
                                    </p:animEffect>
                                  </p:childTnLst>
                                </p:cTn>
                              </p:par>
                            </p:childTnLst>
                          </p:cTn>
                        </p:par>
                        <p:par>
                          <p:cTn id="13" fill="hold">
                            <p:stCondLst>
                              <p:cond delay="1000"/>
                            </p:stCondLst>
                            <p:childTnLst>
                              <p:par>
                                <p:cTn id="14" presetID="12" presetClass="entr" presetSubtype="4" fill="hold" grpId="0" nodeType="afterEffect">
                                  <p:stCondLst>
                                    <p:cond delay="0"/>
                                  </p:stCondLst>
                                  <p:childTnLst>
                                    <p:set>
                                      <p:cBhvr>
                                        <p:cTn id="15" dur="1" fill="hold">
                                          <p:stCondLst>
                                            <p:cond delay="0"/>
                                          </p:stCondLst>
                                        </p:cTn>
                                        <p:tgtEl>
                                          <p:spTgt spid="35"/>
                                        </p:tgtEl>
                                        <p:attrNameLst>
                                          <p:attrName>style.visibility</p:attrName>
                                        </p:attrNameLst>
                                      </p:cBhvr>
                                      <p:to>
                                        <p:strVal val="visible"/>
                                      </p:to>
                                    </p:set>
                                    <p:anim calcmode="lin" valueType="num">
                                      <p:cBhvr additive="base">
                                        <p:cTn id="16" dur="1000"/>
                                        <p:tgtEl>
                                          <p:spTgt spid="35"/>
                                        </p:tgtEl>
                                        <p:attrNameLst>
                                          <p:attrName>ppt_y</p:attrName>
                                        </p:attrNameLst>
                                      </p:cBhvr>
                                      <p:tavLst>
                                        <p:tav tm="0">
                                          <p:val>
                                            <p:strVal val="#ppt_y+#ppt_h*1.125000"/>
                                          </p:val>
                                        </p:tav>
                                        <p:tav tm="100000">
                                          <p:val>
                                            <p:strVal val="#ppt_y"/>
                                          </p:val>
                                        </p:tav>
                                      </p:tavLst>
                                    </p:anim>
                                    <p:animEffect transition="in" filter="wipe(up)">
                                      <p:cBhvr>
                                        <p:cTn id="17" dur="1000"/>
                                        <p:tgtEl>
                                          <p:spTgt spid="35"/>
                                        </p:tgtEl>
                                      </p:cBhvr>
                                    </p:animEffect>
                                  </p:childTnLst>
                                </p:cTn>
                              </p:par>
                              <p:par>
                                <p:cTn id="18" presetID="12" presetClass="entr" presetSubtype="4" fill="hold" grpId="0" nodeType="withEffect">
                                  <p:stCondLst>
                                    <p:cond delay="0"/>
                                  </p:stCondLst>
                                  <p:childTnLst>
                                    <p:set>
                                      <p:cBhvr>
                                        <p:cTn id="19" dur="1" fill="hold">
                                          <p:stCondLst>
                                            <p:cond delay="0"/>
                                          </p:stCondLst>
                                        </p:cTn>
                                        <p:tgtEl>
                                          <p:spTgt spid="27"/>
                                        </p:tgtEl>
                                        <p:attrNameLst>
                                          <p:attrName>style.visibility</p:attrName>
                                        </p:attrNameLst>
                                      </p:cBhvr>
                                      <p:to>
                                        <p:strVal val="visible"/>
                                      </p:to>
                                    </p:set>
                                    <p:anim calcmode="lin" valueType="num">
                                      <p:cBhvr additive="base">
                                        <p:cTn id="20" dur="1000"/>
                                        <p:tgtEl>
                                          <p:spTgt spid="27"/>
                                        </p:tgtEl>
                                        <p:attrNameLst>
                                          <p:attrName>ppt_y</p:attrName>
                                        </p:attrNameLst>
                                      </p:cBhvr>
                                      <p:tavLst>
                                        <p:tav tm="0">
                                          <p:val>
                                            <p:strVal val="#ppt_y+#ppt_h*1.125000"/>
                                          </p:val>
                                        </p:tav>
                                        <p:tav tm="100000">
                                          <p:val>
                                            <p:strVal val="#ppt_y"/>
                                          </p:val>
                                        </p:tav>
                                      </p:tavLst>
                                    </p:anim>
                                    <p:animEffect transition="in" filter="wipe(up)">
                                      <p:cBhvr>
                                        <p:cTn id="21" dur="1000"/>
                                        <p:tgtEl>
                                          <p:spTgt spid="27"/>
                                        </p:tgtEl>
                                      </p:cBhvr>
                                    </p:animEffect>
                                  </p:childTnLst>
                                </p:cTn>
                              </p:par>
                            </p:childTnLst>
                          </p:cTn>
                        </p:par>
                        <p:par>
                          <p:cTn id="22" fill="hold">
                            <p:stCondLst>
                              <p:cond delay="2000"/>
                            </p:stCondLst>
                            <p:childTnLst>
                              <p:par>
                                <p:cTn id="23" presetID="53" presetClass="entr" presetSubtype="16" fill="hold" grpId="0" nodeType="afterEffect">
                                  <p:stCondLst>
                                    <p:cond delay="0"/>
                                  </p:stCondLst>
                                  <p:childTnLst>
                                    <p:set>
                                      <p:cBhvr>
                                        <p:cTn id="24" dur="1" fill="hold">
                                          <p:stCondLst>
                                            <p:cond delay="0"/>
                                          </p:stCondLst>
                                        </p:cTn>
                                        <p:tgtEl>
                                          <p:spTgt spid="44"/>
                                        </p:tgtEl>
                                        <p:attrNameLst>
                                          <p:attrName>style.visibility</p:attrName>
                                        </p:attrNameLst>
                                      </p:cBhvr>
                                      <p:to>
                                        <p:strVal val="visible"/>
                                      </p:to>
                                    </p:set>
                                    <p:anim calcmode="lin" valueType="num">
                                      <p:cBhvr>
                                        <p:cTn id="25" dur="1000" fill="hold"/>
                                        <p:tgtEl>
                                          <p:spTgt spid="44"/>
                                        </p:tgtEl>
                                        <p:attrNameLst>
                                          <p:attrName>ppt_w</p:attrName>
                                        </p:attrNameLst>
                                      </p:cBhvr>
                                      <p:tavLst>
                                        <p:tav tm="0">
                                          <p:val>
                                            <p:fltVal val="0"/>
                                          </p:val>
                                        </p:tav>
                                        <p:tav tm="100000">
                                          <p:val>
                                            <p:strVal val="#ppt_w"/>
                                          </p:val>
                                        </p:tav>
                                      </p:tavLst>
                                    </p:anim>
                                    <p:anim calcmode="lin" valueType="num">
                                      <p:cBhvr>
                                        <p:cTn id="26" dur="1000" fill="hold"/>
                                        <p:tgtEl>
                                          <p:spTgt spid="44"/>
                                        </p:tgtEl>
                                        <p:attrNameLst>
                                          <p:attrName>ppt_h</p:attrName>
                                        </p:attrNameLst>
                                      </p:cBhvr>
                                      <p:tavLst>
                                        <p:tav tm="0">
                                          <p:val>
                                            <p:fltVal val="0"/>
                                          </p:val>
                                        </p:tav>
                                        <p:tav tm="100000">
                                          <p:val>
                                            <p:strVal val="#ppt_h"/>
                                          </p:val>
                                        </p:tav>
                                      </p:tavLst>
                                    </p:anim>
                                    <p:animEffect transition="in" filter="fade">
                                      <p:cBhvr>
                                        <p:cTn id="27" dur="1000"/>
                                        <p:tgtEl>
                                          <p:spTgt spid="44"/>
                                        </p:tgtEl>
                                      </p:cBhvr>
                                    </p:animEffect>
                                  </p:childTnLst>
                                </p:cTn>
                              </p:par>
                              <p:par>
                                <p:cTn id="28" presetID="53" presetClass="entr" presetSubtype="16" fill="hold" grpId="0" nodeType="withEffect">
                                  <p:stCondLst>
                                    <p:cond delay="0"/>
                                  </p:stCondLst>
                                  <p:childTnLst>
                                    <p:set>
                                      <p:cBhvr>
                                        <p:cTn id="29" dur="1" fill="hold">
                                          <p:stCondLst>
                                            <p:cond delay="0"/>
                                          </p:stCondLst>
                                        </p:cTn>
                                        <p:tgtEl>
                                          <p:spTgt spid="45"/>
                                        </p:tgtEl>
                                        <p:attrNameLst>
                                          <p:attrName>style.visibility</p:attrName>
                                        </p:attrNameLst>
                                      </p:cBhvr>
                                      <p:to>
                                        <p:strVal val="visible"/>
                                      </p:to>
                                    </p:set>
                                    <p:anim calcmode="lin" valueType="num">
                                      <p:cBhvr>
                                        <p:cTn id="30" dur="1000" fill="hold"/>
                                        <p:tgtEl>
                                          <p:spTgt spid="45"/>
                                        </p:tgtEl>
                                        <p:attrNameLst>
                                          <p:attrName>ppt_w</p:attrName>
                                        </p:attrNameLst>
                                      </p:cBhvr>
                                      <p:tavLst>
                                        <p:tav tm="0">
                                          <p:val>
                                            <p:fltVal val="0"/>
                                          </p:val>
                                        </p:tav>
                                        <p:tav tm="100000">
                                          <p:val>
                                            <p:strVal val="#ppt_w"/>
                                          </p:val>
                                        </p:tav>
                                      </p:tavLst>
                                    </p:anim>
                                    <p:anim calcmode="lin" valueType="num">
                                      <p:cBhvr>
                                        <p:cTn id="31" dur="1000" fill="hold"/>
                                        <p:tgtEl>
                                          <p:spTgt spid="45"/>
                                        </p:tgtEl>
                                        <p:attrNameLst>
                                          <p:attrName>ppt_h</p:attrName>
                                        </p:attrNameLst>
                                      </p:cBhvr>
                                      <p:tavLst>
                                        <p:tav tm="0">
                                          <p:val>
                                            <p:fltVal val="0"/>
                                          </p:val>
                                        </p:tav>
                                        <p:tav tm="100000">
                                          <p:val>
                                            <p:strVal val="#ppt_h"/>
                                          </p:val>
                                        </p:tav>
                                      </p:tavLst>
                                    </p:anim>
                                    <p:animEffect transition="in" filter="fade">
                                      <p:cBhvr>
                                        <p:cTn id="32" dur="10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27" grpId="0" animBg="1"/>
      <p:bldP spid="42" grpId="0" animBg="1"/>
      <p:bldP spid="44" grpId="0" animBg="1"/>
      <p:bldP spid="4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7"/>
          <p:cNvGrpSpPr/>
          <p:nvPr/>
        </p:nvGrpSpPr>
        <p:grpSpPr>
          <a:xfrm>
            <a:off x="392432" y="769746"/>
            <a:ext cx="3114144" cy="420971"/>
            <a:chOff x="670560" y="892917"/>
            <a:chExt cx="3114144" cy="420971"/>
          </a:xfrm>
        </p:grpSpPr>
        <p:sp>
          <p:nvSpPr>
            <p:cNvPr id="3" name="矩形 2"/>
            <p:cNvSpPr/>
            <p:nvPr/>
          </p:nvSpPr>
          <p:spPr>
            <a:xfrm>
              <a:off x="1035233" y="913778"/>
              <a:ext cx="2749471"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集成电路译码器的应用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 name="Rectangle 27"/>
          <p:cNvSpPr>
            <a:spLocks noChangeArrowheads="1"/>
          </p:cNvSpPr>
          <p:nvPr/>
        </p:nvSpPr>
        <p:spPr bwMode="auto">
          <a:xfrm>
            <a:off x="577511" y="1237292"/>
            <a:ext cx="2551637" cy="369332"/>
          </a:xfrm>
          <a:prstGeom prst="rect">
            <a:avLst/>
          </a:prstGeom>
          <a:noFill/>
          <a:ln w="9525" algn="ctr">
            <a:noFill/>
            <a:miter lim="800000"/>
          </a:ln>
          <a:effectLst/>
        </p:spPr>
        <p:txBody>
          <a:bodyPr wrap="square" lIns="0" rIns="0">
            <a:spAutoFit/>
          </a:bodyPr>
          <a:lstStyle/>
          <a:p>
            <a:pPr>
              <a:defRPr/>
            </a:pPr>
            <a:r>
              <a:rPr lang="en-US" altLang="zh-CN" b="1" dirty="0">
                <a:solidFill>
                  <a:srgbClr val="6600FF"/>
                </a:solidFill>
                <a:latin typeface="黑体" panose="02010609060101010101" pitchFamily="49" charset="-122"/>
                <a:ea typeface="黑体" panose="02010609060101010101" pitchFamily="49" charset="-122"/>
              </a:rPr>
              <a:t>2</a:t>
            </a:r>
            <a:r>
              <a:rPr lang="zh-CN" altLang="en-US" b="1" dirty="0">
                <a:solidFill>
                  <a:srgbClr val="6600FF"/>
                </a:solidFill>
                <a:latin typeface="黑体" panose="02010609060101010101" pitchFamily="49" charset="-122"/>
                <a:ea typeface="黑体" panose="02010609060101010101" pitchFamily="49" charset="-122"/>
              </a:rPr>
              <a:t>、实现组合逻辑函数</a:t>
            </a:r>
            <a:endParaRPr lang="zh-CN" altLang="en-US" b="1" dirty="0">
              <a:solidFill>
                <a:srgbClr val="6600FF"/>
              </a:solidFill>
              <a:latin typeface="黑体" panose="02010609060101010101" pitchFamily="49" charset="-122"/>
              <a:ea typeface="黑体" panose="02010609060101010101" pitchFamily="49" charset="-122"/>
            </a:endParaRPr>
          </a:p>
        </p:txBody>
      </p:sp>
      <p:sp>
        <p:nvSpPr>
          <p:cNvPr id="15" name="圆角矩形 14"/>
          <p:cNvSpPr/>
          <p:nvPr/>
        </p:nvSpPr>
        <p:spPr>
          <a:xfrm>
            <a:off x="926276" y="1935685"/>
            <a:ext cx="862940" cy="1195448"/>
          </a:xfrm>
          <a:prstGeom prst="roundRect">
            <a:avLst/>
          </a:prstGeom>
          <a:solidFill>
            <a:srgbClr val="00B0F0"/>
          </a:solidFill>
          <a:scene3d>
            <a:camera prst="orthographicFront"/>
            <a:lightRig rig="threePt" dir="t"/>
          </a:scene3d>
          <a:sp3d z="12700">
            <a:bevelT w="4445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组合逻辑函数</a:t>
            </a:r>
            <a:endParaRPr lang="zh-CN" altLang="en-US" dirty="0">
              <a:latin typeface="微软雅黑" panose="020B0503020204020204" pitchFamily="34" charset="-122"/>
              <a:ea typeface="微软雅黑" panose="020B0503020204020204" pitchFamily="34" charset="-122"/>
            </a:endParaRPr>
          </a:p>
        </p:txBody>
      </p:sp>
      <p:sp>
        <p:nvSpPr>
          <p:cNvPr id="16" name="下箭头 15"/>
          <p:cNvSpPr/>
          <p:nvPr/>
        </p:nvSpPr>
        <p:spPr>
          <a:xfrm rot="16200000">
            <a:off x="1829428" y="2096030"/>
            <a:ext cx="783174" cy="771240"/>
          </a:xfrm>
          <a:prstGeom prst="downArrow">
            <a:avLst/>
          </a:prstGeom>
          <a:solidFill>
            <a:srgbClr val="FF66FF"/>
          </a:solidFill>
          <a:scene3d>
            <a:camera prst="orthographicFront"/>
            <a:lightRig rig="threePt" dir="t"/>
          </a:scene3d>
          <a:sp3d z="12700">
            <a:bevelT w="4445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pitchFamily="34" charset="-122"/>
              <a:ea typeface="微软雅黑" panose="020B0503020204020204" pitchFamily="34" charset="-122"/>
            </a:endParaRPr>
          </a:p>
        </p:txBody>
      </p:sp>
      <p:sp>
        <p:nvSpPr>
          <p:cNvPr id="17" name="圆角矩形 16"/>
          <p:cNvSpPr/>
          <p:nvPr/>
        </p:nvSpPr>
        <p:spPr>
          <a:xfrm>
            <a:off x="2634343" y="1880267"/>
            <a:ext cx="862940" cy="1195448"/>
          </a:xfrm>
          <a:prstGeom prst="roundRect">
            <a:avLst/>
          </a:prstGeom>
          <a:solidFill>
            <a:srgbClr val="336699"/>
          </a:solidFill>
          <a:scene3d>
            <a:camera prst="orthographicFront"/>
            <a:lightRig rig="threePt" dir="t"/>
          </a:scene3d>
          <a:sp3d z="12700">
            <a:bevelT w="4445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最小项表达式</a:t>
            </a:r>
            <a:endParaRPr lang="zh-CN" altLang="en-US" dirty="0">
              <a:latin typeface="微软雅黑" panose="020B0503020204020204" pitchFamily="34" charset="-122"/>
              <a:ea typeface="微软雅黑" panose="020B0503020204020204" pitchFamily="34" charset="-122"/>
            </a:endParaRPr>
          </a:p>
        </p:txBody>
      </p:sp>
      <p:grpSp>
        <p:nvGrpSpPr>
          <p:cNvPr id="23" name="组合 22"/>
          <p:cNvGrpSpPr/>
          <p:nvPr/>
        </p:nvGrpSpPr>
        <p:grpSpPr>
          <a:xfrm>
            <a:off x="3586348" y="1664539"/>
            <a:ext cx="1670431" cy="1523669"/>
            <a:chOff x="3586348" y="1664539"/>
            <a:chExt cx="1670431" cy="1523669"/>
          </a:xfrm>
        </p:grpSpPr>
        <p:sp>
          <p:nvSpPr>
            <p:cNvPr id="19" name="圆角矩形 18"/>
            <p:cNvSpPr/>
            <p:nvPr/>
          </p:nvSpPr>
          <p:spPr>
            <a:xfrm>
              <a:off x="3924779" y="1664539"/>
              <a:ext cx="1332000" cy="540000"/>
            </a:xfrm>
            <a:prstGeom prst="roundRect">
              <a:avLst/>
            </a:prstGeom>
            <a:scene3d>
              <a:camera prst="orthographicFront"/>
              <a:lightRig rig="threePt" dir="t"/>
            </a:scene3d>
            <a:sp3d z="12700">
              <a:bevelT w="4445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集成电路</a:t>
              </a:r>
              <a:endParaRPr lang="en-US" altLang="zh-CN" sz="1600" dirty="0">
                <a:latin typeface="微软雅黑" panose="020B0503020204020204" pitchFamily="34" charset="-122"/>
                <a:ea typeface="微软雅黑" panose="020B0503020204020204" pitchFamily="34" charset="-122"/>
              </a:endParaRPr>
            </a:p>
            <a:p>
              <a:pPr algn="ctr"/>
              <a:r>
                <a:rPr lang="zh-CN" altLang="en-US" sz="1600" dirty="0">
                  <a:latin typeface="微软雅黑" panose="020B0503020204020204" pitchFamily="34" charset="-122"/>
                  <a:ea typeface="微软雅黑" panose="020B0503020204020204" pitchFamily="34" charset="-122"/>
                </a:rPr>
                <a:t>译码器</a:t>
              </a:r>
              <a:endParaRPr lang="zh-CN" altLang="en-US" sz="1600" dirty="0">
                <a:latin typeface="微软雅黑" panose="020B0503020204020204" pitchFamily="34" charset="-122"/>
                <a:ea typeface="微软雅黑" panose="020B0503020204020204" pitchFamily="34" charset="-122"/>
              </a:endParaRPr>
            </a:p>
          </p:txBody>
        </p:sp>
        <p:sp>
          <p:nvSpPr>
            <p:cNvPr id="20" name="圆角矩形 19"/>
            <p:cNvSpPr/>
            <p:nvPr/>
          </p:nvSpPr>
          <p:spPr>
            <a:xfrm>
              <a:off x="3924779" y="2648208"/>
              <a:ext cx="1332000" cy="540000"/>
            </a:xfrm>
            <a:prstGeom prst="roundRect">
              <a:avLst/>
            </a:prstGeom>
            <a:scene3d>
              <a:camera prst="orthographicFront"/>
              <a:lightRig rig="threePt" dir="t"/>
            </a:scene3d>
            <a:sp3d z="12700">
              <a:bevelT w="4445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组合电路</a:t>
              </a:r>
              <a:endParaRPr lang="en-US" altLang="zh-CN" sz="1600" dirty="0">
                <a:latin typeface="微软雅黑" panose="020B0503020204020204" pitchFamily="34" charset="-122"/>
                <a:ea typeface="微软雅黑" panose="020B0503020204020204" pitchFamily="34" charset="-122"/>
              </a:endParaRPr>
            </a:p>
            <a:p>
              <a:pPr algn="ct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门电路</a:t>
              </a:r>
              <a:r>
                <a:rPr lang="en-US" altLang="zh-CN" sz="1600" dirty="0">
                  <a:latin typeface="微软雅黑" panose="020B0503020204020204" pitchFamily="34" charset="-122"/>
                  <a:ea typeface="微软雅黑" panose="020B0503020204020204" pitchFamily="34" charset="-122"/>
                </a:rPr>
                <a:t>)</a:t>
              </a:r>
              <a:endParaRPr lang="zh-CN" altLang="en-US" sz="1600" dirty="0">
                <a:latin typeface="微软雅黑" panose="020B0503020204020204" pitchFamily="34" charset="-122"/>
                <a:ea typeface="微软雅黑" panose="020B0503020204020204" pitchFamily="34" charset="-122"/>
              </a:endParaRPr>
            </a:p>
          </p:txBody>
        </p:sp>
        <p:sp>
          <p:nvSpPr>
            <p:cNvPr id="21" name="左大括号 20"/>
            <p:cNvSpPr/>
            <p:nvPr/>
          </p:nvSpPr>
          <p:spPr>
            <a:xfrm>
              <a:off x="3586348" y="1905996"/>
              <a:ext cx="308759" cy="1128156"/>
            </a:xfrm>
            <a:prstGeom prst="leftBrace">
              <a:avLst>
                <a:gd name="adj1" fmla="val 32277"/>
                <a:gd name="adj2" fmla="val 50526"/>
              </a:avLst>
            </a:prstGeom>
            <a:ln w="19050"/>
            <a:scene3d>
              <a:camera prst="orthographicFront"/>
              <a:lightRig rig="threePt" dir="t"/>
            </a:scene3d>
            <a:sp3d>
              <a:bevelT/>
            </a:sp3d>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2" name="加号 21"/>
            <p:cNvSpPr/>
            <p:nvPr/>
          </p:nvSpPr>
          <p:spPr>
            <a:xfrm>
              <a:off x="4338428" y="2185066"/>
              <a:ext cx="504702" cy="492826"/>
            </a:xfrm>
            <a:prstGeom prst="mathPlus">
              <a:avLst>
                <a:gd name="adj1" fmla="val 13211"/>
              </a:avLst>
            </a:prstGeom>
            <a:solidFill>
              <a:srgbClr val="FF00FF"/>
            </a:solidFill>
            <a:ln>
              <a:solidFill>
                <a:srgbClr val="336699"/>
              </a:solidFill>
            </a:ln>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nvGrpSpPr>
        <p:grpSpPr>
          <a:xfrm>
            <a:off x="870858" y="3446813"/>
            <a:ext cx="6867743" cy="1763690"/>
            <a:chOff x="621476" y="3571504"/>
            <a:chExt cx="6432467" cy="1333006"/>
          </a:xfrm>
        </p:grpSpPr>
        <p:sp>
          <p:nvSpPr>
            <p:cNvPr id="25" name="矩形 24"/>
            <p:cNvSpPr/>
            <p:nvPr/>
          </p:nvSpPr>
          <p:spPr>
            <a:xfrm>
              <a:off x="628279" y="3629910"/>
              <a:ext cx="485775" cy="461665"/>
            </a:xfrm>
            <a:prstGeom prst="rect">
              <a:avLst/>
            </a:prstGeom>
            <a:ln>
              <a:noFill/>
            </a:ln>
          </p:spPr>
          <p:style>
            <a:lnRef idx="2">
              <a:schemeClr val="accent1"/>
            </a:lnRef>
            <a:fillRef idx="1">
              <a:schemeClr val="lt1"/>
            </a:fillRef>
            <a:effectRef idx="0">
              <a:schemeClr val="accent1"/>
            </a:effectRef>
            <a:fontRef idx="minor">
              <a:schemeClr val="dk1"/>
            </a:fontRef>
          </p:style>
          <p:txBody>
            <a:bodyPr vert="horz" wrap="squar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endParaRPr lang="zh-CN" altLang="en-US" sz="2400" b="1" cap="all" dirty="0">
                <a:ln w="0"/>
                <a:solidFill>
                  <a:schemeClr val="tx1"/>
                </a:solidFill>
                <a:effectLst>
                  <a:reflection blurRad="12700" stA="50000" endPos="50000" dist="5000" dir="5400000" sy="-100000" rotWithShape="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 name="圆角矩形 29"/>
            <p:cNvSpPr/>
            <p:nvPr/>
          </p:nvSpPr>
          <p:spPr>
            <a:xfrm>
              <a:off x="621476" y="3586348"/>
              <a:ext cx="524494" cy="1318161"/>
            </a:xfrm>
            <a:prstGeom prst="roundRect">
              <a:avLst/>
            </a:prstGeom>
            <a:solidFill>
              <a:srgbClr val="00B0F0"/>
            </a:solidFill>
            <a:scene3d>
              <a:camera prst="orthographicFront"/>
              <a:lightRig rig="threePt" dir="t"/>
            </a:scene3d>
            <a:sp3d z="12700">
              <a:bevelT w="4445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cap="all" dirty="0">
                  <a:ln w="0"/>
                  <a:solidFill>
                    <a:schemeClr val="tx1"/>
                  </a:solidFill>
                  <a:effectLst>
                    <a:reflection blurRad="12700" stA="50000" endPos="50000" dist="5000" dir="5400000" sy="-100000" rotWithShape="0"/>
                  </a:effectLst>
                  <a:latin typeface="微软雅黑" panose="020B0503020204020204" pitchFamily="34" charset="-122"/>
                  <a:ea typeface="微软雅黑" panose="020B0503020204020204" pitchFamily="34" charset="-122"/>
                  <a:cs typeface="Times New Roman" panose="02020603050405020304" pitchFamily="18" charset="0"/>
                </a:rPr>
                <a:t>方</a:t>
              </a:r>
              <a:endParaRPr lang="en-US" altLang="zh-CN" b="1" cap="all" dirty="0">
                <a:ln w="0"/>
                <a:solidFill>
                  <a:schemeClr val="tx1"/>
                </a:solidFill>
                <a:effectLst>
                  <a:reflection blurRad="12700" stA="50000" endPos="50000" dist="5000" dir="5400000" sy="-100000" rotWithShape="0"/>
                </a:effectLst>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b="1" cap="all" dirty="0">
                <a:ln w="0"/>
                <a:solidFill>
                  <a:schemeClr val="tx1"/>
                </a:solidFill>
                <a:effectLst>
                  <a:reflection blurRad="12700" stA="50000" endPos="50000" dist="5000" dir="5400000" sy="-100000" rotWithShape="0"/>
                </a:effectLst>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b="1" cap="all" dirty="0">
                  <a:ln w="0"/>
                  <a:solidFill>
                    <a:schemeClr val="tx1"/>
                  </a:solidFill>
                  <a:effectLst>
                    <a:reflection blurRad="12700" stA="50000" endPos="50000" dist="5000" dir="5400000" sy="-100000" rotWithShape="0"/>
                  </a:effectLst>
                  <a:latin typeface="微软雅黑" panose="020B0503020204020204" pitchFamily="34" charset="-122"/>
                  <a:ea typeface="微软雅黑" panose="020B0503020204020204" pitchFamily="34" charset="-122"/>
                  <a:cs typeface="Times New Roman" panose="02020603050405020304" pitchFamily="18" charset="0"/>
                </a:rPr>
                <a:t>法</a:t>
              </a:r>
              <a:endParaRPr lang="zh-CN" altLang="en-US" b="1" cap="all" dirty="0">
                <a:ln w="0"/>
                <a:solidFill>
                  <a:schemeClr val="tx1"/>
                </a:solidFill>
                <a:effectLst>
                  <a:reflection blurRad="12700" stA="50000" endPos="50000" dist="5000" dir="5400000" sy="-100000" rotWithShape="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3" name="圆角矩形 32"/>
            <p:cNvSpPr/>
            <p:nvPr/>
          </p:nvSpPr>
          <p:spPr>
            <a:xfrm>
              <a:off x="1151905" y="3571504"/>
              <a:ext cx="5902038" cy="1333006"/>
            </a:xfrm>
            <a:prstGeom prst="roundRect">
              <a:avLst>
                <a:gd name="adj" fmla="val 5977"/>
              </a:avLst>
            </a:prstGeom>
            <a:effectLst>
              <a:outerShdw blurRad="63500" sx="102000" sy="102000" algn="ctr" rotWithShape="0">
                <a:prstClr val="black">
                  <a:alpha val="40000"/>
                </a:prstClr>
              </a:outerShdw>
              <a:softEdge rad="12700"/>
            </a:effectLst>
          </p:spPr>
          <p:style>
            <a:lnRef idx="0">
              <a:schemeClr val="accent5"/>
            </a:lnRef>
            <a:fillRef idx="3">
              <a:schemeClr val="accent5"/>
            </a:fillRef>
            <a:effectRef idx="3">
              <a:schemeClr val="accent5"/>
            </a:effectRef>
            <a:fontRef idx="minor">
              <a:schemeClr val="lt1"/>
            </a:fontRef>
          </p:style>
          <p:txBody>
            <a:bodyPr rtlCol="0" anchor="ctr"/>
            <a:lstStyle/>
            <a:p>
              <a:pPr marL="268605" indent="-268605">
                <a:lnSpc>
                  <a:spcPts val="1500"/>
                </a:lnSpc>
                <a:spcBef>
                  <a:spcPts val="300"/>
                </a:spcBef>
              </a:pPr>
              <a:r>
                <a:rPr lang="x-none" altLang="zh-CN" sz="1400" kern="100" dirty="0">
                  <a:effectLst/>
                  <a:latin typeface="楷体" panose="02010609060101010101" pitchFamily="49" charset="-122"/>
                  <a:ea typeface="楷体" panose="02010609060101010101" pitchFamily="49" charset="-122"/>
                </a:rPr>
                <a:t>① 将逻辑函数变换为最小项表达式；</a:t>
              </a:r>
              <a:endParaRPr lang="zh-CN" altLang="zh-CN" sz="1400" kern="100" dirty="0">
                <a:effectLst/>
                <a:latin typeface="楷体" panose="02010609060101010101" pitchFamily="49" charset="-122"/>
                <a:ea typeface="楷体" panose="02010609060101010101" pitchFamily="49" charset="-122"/>
              </a:endParaRPr>
            </a:p>
            <a:p>
              <a:pPr marL="268605" indent="-268605">
                <a:lnSpc>
                  <a:spcPts val="1500"/>
                </a:lnSpc>
                <a:spcBef>
                  <a:spcPts val="300"/>
                </a:spcBef>
              </a:pPr>
              <a:r>
                <a:rPr lang="x-none" altLang="zh-CN" sz="1400" kern="100" dirty="0">
                  <a:effectLst/>
                  <a:latin typeface="楷体" panose="02010609060101010101" pitchFamily="49" charset="-122"/>
                  <a:ea typeface="楷体" panose="02010609060101010101" pitchFamily="49" charset="-122"/>
                </a:rPr>
                <a:t>② 将逻辑函数的变量与译码器代码输入变量依次对应，从而</a:t>
              </a:r>
              <a:r>
                <a:rPr lang="zh-CN" altLang="zh-CN" sz="1400" kern="100" dirty="0">
                  <a:effectLst/>
                  <a:latin typeface="楷体" panose="02010609060101010101" pitchFamily="49" charset="-122"/>
                  <a:ea typeface="楷体" panose="02010609060101010101" pitchFamily="49" charset="-122"/>
                </a:rPr>
                <a:t>使</a:t>
              </a:r>
              <a:r>
                <a:rPr lang="x-none" altLang="zh-CN" sz="1400" kern="100" dirty="0">
                  <a:effectLst/>
                  <a:latin typeface="楷体" panose="02010609060101010101" pitchFamily="49" charset="-122"/>
                  <a:ea typeface="楷体" panose="02010609060101010101" pitchFamily="49" charset="-122"/>
                </a:rPr>
                <a:t>逻辑函数变量与译码器代码输入变量对应的最小项</a:t>
              </a:r>
              <a:r>
                <a:rPr lang="zh-CN" altLang="zh-CN" sz="1400" kern="100" dirty="0">
                  <a:effectLst/>
                  <a:latin typeface="楷体" panose="02010609060101010101" pitchFamily="49" charset="-122"/>
                  <a:ea typeface="楷体" panose="02010609060101010101" pitchFamily="49" charset="-122"/>
                </a:rPr>
                <a:t>保持一致</a:t>
              </a:r>
              <a:r>
                <a:rPr lang="x-none" altLang="zh-CN" sz="1400" kern="100" dirty="0">
                  <a:effectLst/>
                  <a:latin typeface="楷体" panose="02010609060101010101" pitchFamily="49" charset="-122"/>
                  <a:ea typeface="楷体" panose="02010609060101010101" pitchFamily="49" charset="-122"/>
                </a:rPr>
                <a:t>；</a:t>
              </a:r>
              <a:endParaRPr lang="zh-CN" altLang="zh-CN" sz="1400" kern="100" dirty="0">
                <a:effectLst/>
                <a:latin typeface="楷体" panose="02010609060101010101" pitchFamily="49" charset="-122"/>
                <a:ea typeface="楷体" panose="02010609060101010101" pitchFamily="49" charset="-122"/>
              </a:endParaRPr>
            </a:p>
            <a:p>
              <a:pPr marL="268605" indent="-268605">
                <a:lnSpc>
                  <a:spcPts val="1500"/>
                </a:lnSpc>
                <a:spcBef>
                  <a:spcPts val="300"/>
                </a:spcBef>
              </a:pPr>
              <a:r>
                <a:rPr lang="x-none" altLang="zh-CN" sz="1400" kern="100" dirty="0">
                  <a:effectLst/>
                  <a:latin typeface="楷体" panose="02010609060101010101" pitchFamily="49" charset="-122"/>
                  <a:ea typeface="楷体" panose="02010609060101010101" pitchFamily="49" charset="-122"/>
                </a:rPr>
                <a:t>③ 将逻辑函数最小项表达式中的最小项用译码器输出变量符号进行替代，并对表达式进行适当的变换；</a:t>
              </a:r>
              <a:endParaRPr lang="zh-CN" altLang="zh-CN" sz="1400" kern="100" dirty="0">
                <a:effectLst/>
                <a:latin typeface="楷体" panose="02010609060101010101" pitchFamily="49" charset="-122"/>
                <a:ea typeface="楷体" panose="02010609060101010101" pitchFamily="49" charset="-122"/>
              </a:endParaRPr>
            </a:p>
            <a:p>
              <a:pPr marL="268605" indent="-268605">
                <a:lnSpc>
                  <a:spcPts val="1500"/>
                </a:lnSpc>
                <a:spcBef>
                  <a:spcPts val="300"/>
                </a:spcBef>
              </a:pPr>
              <a:r>
                <a:rPr lang="x-none" altLang="zh-CN" sz="1400" kern="100" dirty="0">
                  <a:effectLst/>
                  <a:latin typeface="楷体" panose="02010609060101010101" pitchFamily="49" charset="-122"/>
                  <a:ea typeface="楷体" panose="02010609060101010101" pitchFamily="49" charset="-122"/>
                </a:rPr>
                <a:t>④ 将译码器的使能端按允许译码处理（置有效电平）并按变换后的表达式连接电路。</a:t>
              </a:r>
              <a:endParaRPr lang="zh-CN" altLang="zh-CN" sz="1400" kern="100" dirty="0">
                <a:effectLst/>
                <a:latin typeface="楷体" panose="02010609060101010101" pitchFamily="49" charset="-122"/>
                <a:ea typeface="楷体" panose="02010609060101010101" pitchFamily="49" charset="-122"/>
              </a:endParaRPr>
            </a:p>
          </p:txBody>
        </p:sp>
      </p:grpSp>
      <p:grpSp>
        <p:nvGrpSpPr>
          <p:cNvPr id="46" name="组合 37"/>
          <p:cNvGrpSpPr/>
          <p:nvPr/>
        </p:nvGrpSpPr>
        <p:grpSpPr>
          <a:xfrm>
            <a:off x="7334897" y="753540"/>
            <a:ext cx="1465696" cy="2256855"/>
            <a:chOff x="689675" y="1715440"/>
            <a:chExt cx="1608200" cy="2417173"/>
          </a:xfrm>
        </p:grpSpPr>
        <p:sp>
          <p:nvSpPr>
            <p:cNvPr id="47" name="圆角矩形 46"/>
            <p:cNvSpPr/>
            <p:nvPr/>
          </p:nvSpPr>
          <p:spPr>
            <a:xfrm>
              <a:off x="689675" y="1715440"/>
              <a:ext cx="1608200" cy="2417173"/>
            </a:xfrm>
            <a:prstGeom prst="roundRect">
              <a:avLst>
                <a:gd name="adj" fmla="val 3293"/>
              </a:avLst>
            </a:prstGeom>
            <a:solidFill>
              <a:schemeClr val="accent1">
                <a:lumMod val="20000"/>
                <a:lumOff val="80000"/>
              </a:schemeClr>
            </a:solidFill>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8" name="组合 6"/>
            <p:cNvGrpSpPr/>
            <p:nvPr/>
          </p:nvGrpSpPr>
          <p:grpSpPr>
            <a:xfrm>
              <a:off x="774782" y="1806484"/>
              <a:ext cx="1441450" cy="1637443"/>
              <a:chOff x="7556500" y="775557"/>
              <a:chExt cx="1441450" cy="1637443"/>
            </a:xfrm>
            <a:solidFill>
              <a:schemeClr val="bg1"/>
            </a:solidFill>
          </p:grpSpPr>
          <p:sp>
            <p:nvSpPr>
              <p:cNvPr id="49" name="圆角矩形 48"/>
              <p:cNvSpPr/>
              <p:nvPr/>
            </p:nvSpPr>
            <p:spPr>
              <a:xfrm>
                <a:off x="7556500" y="775557"/>
                <a:ext cx="1441450" cy="1637443"/>
              </a:xfrm>
              <a:prstGeom prst="roundRect">
                <a:avLst>
                  <a:gd name="adj" fmla="val 3293"/>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0" name="Object 7"/>
              <p:cNvGraphicFramePr>
                <a:graphicFrameLocks noChangeAspect="1"/>
              </p:cNvGraphicFramePr>
              <p:nvPr/>
            </p:nvGraphicFramePr>
            <p:xfrm>
              <a:off x="7602118" y="855864"/>
              <a:ext cx="1263473" cy="1470336"/>
            </p:xfrm>
            <a:graphic>
              <a:graphicData uri="http://schemas.openxmlformats.org/presentationml/2006/ole">
                <mc:AlternateContent xmlns:mc="http://schemas.openxmlformats.org/markup-compatibility/2006">
                  <mc:Choice xmlns:v="urn:schemas-microsoft-com:vml" Requires="v">
                    <p:oleObj spid="_x0000_s43030" name="位图图像" r:id="rId2" imgW="3086100" imgH="3590925" progId="PBrush">
                      <p:embed/>
                    </p:oleObj>
                  </mc:Choice>
                  <mc:Fallback>
                    <p:oleObj name="位图图像" r:id="rId2" imgW="3086100" imgH="3590925" progId="PBrush">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02118" y="855864"/>
                            <a:ext cx="1263473" cy="1470336"/>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grpSp>
      <p:grpSp>
        <p:nvGrpSpPr>
          <p:cNvPr id="51" name="组合 42"/>
          <p:cNvGrpSpPr/>
          <p:nvPr/>
        </p:nvGrpSpPr>
        <p:grpSpPr>
          <a:xfrm>
            <a:off x="7641016" y="2423228"/>
            <a:ext cx="824100" cy="396172"/>
            <a:chOff x="5222910" y="1370207"/>
            <a:chExt cx="615890" cy="294888"/>
          </a:xfrm>
        </p:grpSpPr>
        <p:sp>
          <p:nvSpPr>
            <p:cNvPr id="52" name="圆角矩形 51"/>
            <p:cNvSpPr/>
            <p:nvPr/>
          </p:nvSpPr>
          <p:spPr>
            <a:xfrm>
              <a:off x="5222910" y="1370207"/>
              <a:ext cx="615890" cy="294888"/>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3" name="Object 9"/>
            <p:cNvGraphicFramePr>
              <a:graphicFrameLocks noChangeAspect="1"/>
            </p:cNvGraphicFramePr>
            <p:nvPr/>
          </p:nvGraphicFramePr>
          <p:xfrm>
            <a:off x="5295840" y="1396226"/>
            <a:ext cx="470021" cy="254775"/>
          </p:xfrm>
          <a:graphic>
            <a:graphicData uri="http://schemas.openxmlformats.org/presentationml/2006/ole">
              <mc:AlternateContent xmlns:mc="http://schemas.openxmlformats.org/markup-compatibility/2006">
                <mc:Choice xmlns:v="urn:schemas-microsoft-com:vml" Requires="v">
                  <p:oleObj spid="_x0000_s43031" name="Equation" r:id="rId4" imgW="469900" imgH="254000" progId="Equation.DSMT4">
                    <p:embed/>
                  </p:oleObj>
                </mc:Choice>
                <mc:Fallback>
                  <p:oleObj name="Equation" r:id="rId4" imgW="469900" imgH="254000" progId="Equation.DSMT4">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5840" y="1396226"/>
                          <a:ext cx="470021" cy="254775"/>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2"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slide(fromRight)">
                                      <p:cBhvr>
                                        <p:cTn id="7" dur="1000"/>
                                        <p:tgtEl>
                                          <p:spTgt spid="46"/>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51"/>
                                        </p:tgtEl>
                                        <p:attrNameLst>
                                          <p:attrName>style.visibility</p:attrName>
                                        </p:attrNameLst>
                                      </p:cBhvr>
                                      <p:to>
                                        <p:strVal val="visible"/>
                                      </p:to>
                                    </p:set>
                                    <p:animEffect transition="in" filter="slide(fromBottom)">
                                      <p:cBhvr>
                                        <p:cTn id="11" dur="1000"/>
                                        <p:tgtEl>
                                          <p:spTgt spid="51"/>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8" fill="hold" grpId="0" nodeType="clickEffect">
                                  <p:stCondLst>
                                    <p:cond delay="0"/>
                                  </p:stCondLst>
                                  <p:childTnLst>
                                    <p:set>
                                      <p:cBhvr>
                                        <p:cTn id="15" dur="1" fill="hold">
                                          <p:stCondLst>
                                            <p:cond delay="0"/>
                                          </p:stCondLst>
                                        </p:cTn>
                                        <p:tgtEl>
                                          <p:spTgt spid="15"/>
                                        </p:tgtEl>
                                        <p:attrNameLst>
                                          <p:attrName>style.visibility</p:attrName>
                                        </p:attrNameLst>
                                      </p:cBhvr>
                                      <p:to>
                                        <p:strVal val="visible"/>
                                      </p:to>
                                    </p:set>
                                    <p:anim calcmode="lin" valueType="num">
                                      <p:cBhvr additive="base">
                                        <p:cTn id="16" dur="1000"/>
                                        <p:tgtEl>
                                          <p:spTgt spid="15"/>
                                        </p:tgtEl>
                                        <p:attrNameLst>
                                          <p:attrName>ppt_x</p:attrName>
                                        </p:attrNameLst>
                                      </p:cBhvr>
                                      <p:tavLst>
                                        <p:tav tm="0">
                                          <p:val>
                                            <p:strVal val="#ppt_x-#ppt_w*1.125000"/>
                                          </p:val>
                                        </p:tav>
                                        <p:tav tm="100000">
                                          <p:val>
                                            <p:strVal val="#ppt_x"/>
                                          </p:val>
                                        </p:tav>
                                      </p:tavLst>
                                    </p:anim>
                                    <p:animEffect transition="in" filter="wipe(right)">
                                      <p:cBhvr>
                                        <p:cTn id="17" dur="1000"/>
                                        <p:tgtEl>
                                          <p:spTgt spid="15"/>
                                        </p:tgtEl>
                                      </p:cBhvr>
                                    </p:animEffect>
                                  </p:childTnLst>
                                </p:cTn>
                              </p:par>
                            </p:childTnLst>
                          </p:cTn>
                        </p:par>
                        <p:par>
                          <p:cTn id="18" fill="hold">
                            <p:stCondLst>
                              <p:cond delay="1000"/>
                            </p:stCondLst>
                            <p:childTnLst>
                              <p:par>
                                <p:cTn id="19" presetID="12" presetClass="entr" presetSubtype="8" fill="hold" grpId="0" nodeType="afterEffect">
                                  <p:stCondLst>
                                    <p:cond delay="0"/>
                                  </p:stCondLst>
                                  <p:childTnLst>
                                    <p:set>
                                      <p:cBhvr>
                                        <p:cTn id="20" dur="1" fill="hold">
                                          <p:stCondLst>
                                            <p:cond delay="0"/>
                                          </p:stCondLst>
                                        </p:cTn>
                                        <p:tgtEl>
                                          <p:spTgt spid="16"/>
                                        </p:tgtEl>
                                        <p:attrNameLst>
                                          <p:attrName>style.visibility</p:attrName>
                                        </p:attrNameLst>
                                      </p:cBhvr>
                                      <p:to>
                                        <p:strVal val="visible"/>
                                      </p:to>
                                    </p:set>
                                    <p:anim calcmode="lin" valueType="num">
                                      <p:cBhvr additive="base">
                                        <p:cTn id="21" dur="1000"/>
                                        <p:tgtEl>
                                          <p:spTgt spid="16"/>
                                        </p:tgtEl>
                                        <p:attrNameLst>
                                          <p:attrName>ppt_x</p:attrName>
                                        </p:attrNameLst>
                                      </p:cBhvr>
                                      <p:tavLst>
                                        <p:tav tm="0">
                                          <p:val>
                                            <p:strVal val="#ppt_x-#ppt_w*1.125000"/>
                                          </p:val>
                                        </p:tav>
                                        <p:tav tm="100000">
                                          <p:val>
                                            <p:strVal val="#ppt_x"/>
                                          </p:val>
                                        </p:tav>
                                      </p:tavLst>
                                    </p:anim>
                                    <p:animEffect transition="in" filter="wipe(right)">
                                      <p:cBhvr>
                                        <p:cTn id="22" dur="1000"/>
                                        <p:tgtEl>
                                          <p:spTgt spid="16"/>
                                        </p:tgtEl>
                                      </p:cBhvr>
                                    </p:animEffect>
                                  </p:childTnLst>
                                </p:cTn>
                              </p:par>
                            </p:childTnLst>
                          </p:cTn>
                        </p:par>
                        <p:par>
                          <p:cTn id="23" fill="hold">
                            <p:stCondLst>
                              <p:cond delay="2000"/>
                            </p:stCondLst>
                            <p:childTnLst>
                              <p:par>
                                <p:cTn id="24" presetID="12" presetClass="entr" presetSubtype="8" fill="hold" grpId="0" nodeType="afterEffect">
                                  <p:stCondLst>
                                    <p:cond delay="0"/>
                                  </p:stCondLst>
                                  <p:childTnLst>
                                    <p:set>
                                      <p:cBhvr>
                                        <p:cTn id="25" dur="1" fill="hold">
                                          <p:stCondLst>
                                            <p:cond delay="0"/>
                                          </p:stCondLst>
                                        </p:cTn>
                                        <p:tgtEl>
                                          <p:spTgt spid="17"/>
                                        </p:tgtEl>
                                        <p:attrNameLst>
                                          <p:attrName>style.visibility</p:attrName>
                                        </p:attrNameLst>
                                      </p:cBhvr>
                                      <p:to>
                                        <p:strVal val="visible"/>
                                      </p:to>
                                    </p:set>
                                    <p:anim calcmode="lin" valueType="num">
                                      <p:cBhvr additive="base">
                                        <p:cTn id="26" dur="1000"/>
                                        <p:tgtEl>
                                          <p:spTgt spid="17"/>
                                        </p:tgtEl>
                                        <p:attrNameLst>
                                          <p:attrName>ppt_x</p:attrName>
                                        </p:attrNameLst>
                                      </p:cBhvr>
                                      <p:tavLst>
                                        <p:tav tm="0">
                                          <p:val>
                                            <p:strVal val="#ppt_x-#ppt_w*1.125000"/>
                                          </p:val>
                                        </p:tav>
                                        <p:tav tm="100000">
                                          <p:val>
                                            <p:strVal val="#ppt_x"/>
                                          </p:val>
                                        </p:tav>
                                      </p:tavLst>
                                    </p:anim>
                                    <p:animEffect transition="in" filter="wipe(right)">
                                      <p:cBhvr>
                                        <p:cTn id="27" dur="100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8" fill="hold" nodeType="clickEffect">
                                  <p:stCondLst>
                                    <p:cond delay="0"/>
                                  </p:stCondLst>
                                  <p:childTnLst>
                                    <p:set>
                                      <p:cBhvr>
                                        <p:cTn id="31" dur="1" fill="hold">
                                          <p:stCondLst>
                                            <p:cond delay="0"/>
                                          </p:stCondLst>
                                        </p:cTn>
                                        <p:tgtEl>
                                          <p:spTgt spid="23"/>
                                        </p:tgtEl>
                                        <p:attrNameLst>
                                          <p:attrName>style.visibility</p:attrName>
                                        </p:attrNameLst>
                                      </p:cBhvr>
                                      <p:to>
                                        <p:strVal val="visible"/>
                                      </p:to>
                                    </p:set>
                                    <p:anim calcmode="lin" valueType="num">
                                      <p:cBhvr additive="base">
                                        <p:cTn id="32" dur="1000"/>
                                        <p:tgtEl>
                                          <p:spTgt spid="23"/>
                                        </p:tgtEl>
                                        <p:attrNameLst>
                                          <p:attrName>ppt_x</p:attrName>
                                        </p:attrNameLst>
                                      </p:cBhvr>
                                      <p:tavLst>
                                        <p:tav tm="0">
                                          <p:val>
                                            <p:strVal val="#ppt_x-#ppt_w*1.125000"/>
                                          </p:val>
                                        </p:tav>
                                        <p:tav tm="100000">
                                          <p:val>
                                            <p:strVal val="#ppt_x"/>
                                          </p:val>
                                        </p:tav>
                                      </p:tavLst>
                                    </p:anim>
                                    <p:animEffect transition="in" filter="wipe(right)">
                                      <p:cBhvr>
                                        <p:cTn id="33" dur="10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7" presetClass="entr" presetSubtype="8" fill="hold" nodeType="clickEffect">
                                  <p:stCondLst>
                                    <p:cond delay="0"/>
                                  </p:stCondLst>
                                  <p:childTnLst>
                                    <p:set>
                                      <p:cBhvr>
                                        <p:cTn id="37" dur="1" fill="hold">
                                          <p:stCondLst>
                                            <p:cond delay="0"/>
                                          </p:stCondLst>
                                        </p:cTn>
                                        <p:tgtEl>
                                          <p:spTgt spid="34"/>
                                        </p:tgtEl>
                                        <p:attrNameLst>
                                          <p:attrName>style.visibility</p:attrName>
                                        </p:attrNameLst>
                                      </p:cBhvr>
                                      <p:to>
                                        <p:strVal val="visible"/>
                                      </p:to>
                                    </p:set>
                                    <p:anim calcmode="lin" valueType="num">
                                      <p:cBhvr>
                                        <p:cTn id="38" dur="1000" fill="hold"/>
                                        <p:tgtEl>
                                          <p:spTgt spid="34"/>
                                        </p:tgtEl>
                                        <p:attrNameLst>
                                          <p:attrName>ppt_x</p:attrName>
                                        </p:attrNameLst>
                                      </p:cBhvr>
                                      <p:tavLst>
                                        <p:tav tm="0">
                                          <p:val>
                                            <p:strVal val="#ppt_x-#ppt_w/2"/>
                                          </p:val>
                                        </p:tav>
                                        <p:tav tm="100000">
                                          <p:val>
                                            <p:strVal val="#ppt_x"/>
                                          </p:val>
                                        </p:tav>
                                      </p:tavLst>
                                    </p:anim>
                                    <p:anim calcmode="lin" valueType="num">
                                      <p:cBhvr>
                                        <p:cTn id="39" dur="1000" fill="hold"/>
                                        <p:tgtEl>
                                          <p:spTgt spid="34"/>
                                        </p:tgtEl>
                                        <p:attrNameLst>
                                          <p:attrName>ppt_y</p:attrName>
                                        </p:attrNameLst>
                                      </p:cBhvr>
                                      <p:tavLst>
                                        <p:tav tm="0">
                                          <p:val>
                                            <p:strVal val="#ppt_y"/>
                                          </p:val>
                                        </p:tav>
                                        <p:tav tm="100000">
                                          <p:val>
                                            <p:strVal val="#ppt_y"/>
                                          </p:val>
                                        </p:tav>
                                      </p:tavLst>
                                    </p:anim>
                                    <p:anim calcmode="lin" valueType="num">
                                      <p:cBhvr>
                                        <p:cTn id="40" dur="1000" fill="hold"/>
                                        <p:tgtEl>
                                          <p:spTgt spid="34"/>
                                        </p:tgtEl>
                                        <p:attrNameLst>
                                          <p:attrName>ppt_w</p:attrName>
                                        </p:attrNameLst>
                                      </p:cBhvr>
                                      <p:tavLst>
                                        <p:tav tm="0">
                                          <p:val>
                                            <p:fltVal val="0"/>
                                          </p:val>
                                        </p:tav>
                                        <p:tav tm="100000">
                                          <p:val>
                                            <p:strVal val="#ppt_w"/>
                                          </p:val>
                                        </p:tav>
                                      </p:tavLst>
                                    </p:anim>
                                    <p:anim calcmode="lin" valueType="num">
                                      <p:cBhvr>
                                        <p:cTn id="41" dur="1000" fill="hold"/>
                                        <p:tgtEl>
                                          <p:spTgt spid="34"/>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P spid="1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7"/>
          <p:cNvGrpSpPr/>
          <p:nvPr/>
        </p:nvGrpSpPr>
        <p:grpSpPr>
          <a:xfrm>
            <a:off x="392432" y="769746"/>
            <a:ext cx="3114144" cy="420971"/>
            <a:chOff x="670560" y="892917"/>
            <a:chExt cx="3114144" cy="420971"/>
          </a:xfrm>
        </p:grpSpPr>
        <p:sp>
          <p:nvSpPr>
            <p:cNvPr id="3" name="矩形 2"/>
            <p:cNvSpPr/>
            <p:nvPr/>
          </p:nvSpPr>
          <p:spPr>
            <a:xfrm>
              <a:off x="1035233" y="913778"/>
              <a:ext cx="2749471"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集成电路译码器的应用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 name="Rectangle 27"/>
          <p:cNvSpPr>
            <a:spLocks noChangeArrowheads="1"/>
          </p:cNvSpPr>
          <p:nvPr/>
        </p:nvSpPr>
        <p:spPr bwMode="auto">
          <a:xfrm>
            <a:off x="577511" y="1237292"/>
            <a:ext cx="2551637" cy="369332"/>
          </a:xfrm>
          <a:prstGeom prst="rect">
            <a:avLst/>
          </a:prstGeom>
          <a:noFill/>
          <a:ln w="9525" algn="ctr">
            <a:noFill/>
            <a:miter lim="800000"/>
          </a:ln>
          <a:effectLst/>
        </p:spPr>
        <p:txBody>
          <a:bodyPr wrap="square" lIns="0" rIns="0">
            <a:spAutoFit/>
          </a:bodyPr>
          <a:lstStyle/>
          <a:p>
            <a:pPr>
              <a:defRPr/>
            </a:pPr>
            <a:r>
              <a:rPr lang="en-US" altLang="zh-CN" b="1" dirty="0">
                <a:solidFill>
                  <a:srgbClr val="6600FF"/>
                </a:solidFill>
                <a:latin typeface="黑体" panose="02010609060101010101" pitchFamily="49" charset="-122"/>
                <a:ea typeface="黑体" panose="02010609060101010101" pitchFamily="49" charset="-122"/>
              </a:rPr>
              <a:t>2</a:t>
            </a:r>
            <a:r>
              <a:rPr lang="zh-CN" altLang="en-US" b="1" dirty="0">
                <a:solidFill>
                  <a:srgbClr val="6600FF"/>
                </a:solidFill>
                <a:latin typeface="黑体" panose="02010609060101010101" pitchFamily="49" charset="-122"/>
                <a:ea typeface="黑体" panose="02010609060101010101" pitchFamily="49" charset="-122"/>
              </a:rPr>
              <a:t>、实现组合逻辑函数</a:t>
            </a:r>
            <a:endParaRPr lang="zh-CN" altLang="en-US" b="1" dirty="0">
              <a:solidFill>
                <a:srgbClr val="6600FF"/>
              </a:solidFill>
              <a:latin typeface="黑体" panose="02010609060101010101" pitchFamily="49" charset="-122"/>
              <a:ea typeface="黑体" panose="02010609060101010101" pitchFamily="49" charset="-122"/>
            </a:endParaRPr>
          </a:p>
        </p:txBody>
      </p:sp>
      <p:grpSp>
        <p:nvGrpSpPr>
          <p:cNvPr id="31" name="组合 30"/>
          <p:cNvGrpSpPr/>
          <p:nvPr/>
        </p:nvGrpSpPr>
        <p:grpSpPr>
          <a:xfrm>
            <a:off x="464780" y="1699411"/>
            <a:ext cx="5339593" cy="374630"/>
            <a:chOff x="369777" y="1347760"/>
            <a:chExt cx="5339593" cy="374630"/>
          </a:xfrm>
        </p:grpSpPr>
        <p:sp>
          <p:nvSpPr>
            <p:cNvPr id="32" name="TextBox 31"/>
            <p:cNvSpPr txBox="1"/>
            <p:nvPr/>
          </p:nvSpPr>
          <p:spPr>
            <a:xfrm>
              <a:off x="723710" y="1350409"/>
              <a:ext cx="4985660" cy="338554"/>
            </a:xfrm>
            <a:prstGeom prst="rect">
              <a:avLst/>
            </a:prstGeom>
            <a:noFill/>
          </p:spPr>
          <p:txBody>
            <a:bodyPr wrap="none" rtlCol="0">
              <a:spAutoFit/>
            </a:bodyPr>
            <a:lstStyle/>
            <a:p>
              <a:r>
                <a:rPr lang="zh-CN" altLang="en-US" sz="1600"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sz="1600"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1600"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用一片</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74HC138</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和必要的门电路实现逻辑函数</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a:t>
              </a:r>
              <a:endParaRPr lang="zh-CN" altLang="en-US" sz="1600"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4" name="Picture 4"/>
            <p:cNvPicPr>
              <a:picLocks noChangeAspect="1" noChangeArrowheads="1"/>
            </p:cNvPicPr>
            <p:nvPr/>
          </p:nvPicPr>
          <p:blipFill>
            <a:blip r:embed="rId2"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35" name="组合 34"/>
          <p:cNvGrpSpPr/>
          <p:nvPr/>
        </p:nvGrpSpPr>
        <p:grpSpPr>
          <a:xfrm>
            <a:off x="547553" y="2525334"/>
            <a:ext cx="798318" cy="354680"/>
            <a:chOff x="4330854" y="1354964"/>
            <a:chExt cx="798318" cy="354680"/>
          </a:xfrm>
        </p:grpSpPr>
        <p:sp>
          <p:nvSpPr>
            <p:cNvPr id="36" name="矩形 35"/>
            <p:cNvSpPr/>
            <p:nvPr/>
          </p:nvSpPr>
          <p:spPr>
            <a:xfrm>
              <a:off x="4633523" y="1354964"/>
              <a:ext cx="495649" cy="338554"/>
            </a:xfrm>
            <a:prstGeom prst="rect">
              <a:avLst/>
            </a:prstGeom>
          </p:spPr>
          <p:txBody>
            <a:bodyPr wrap="none">
              <a:spAutoFit/>
            </a:bodyPr>
            <a:lstStyle/>
            <a:p>
              <a:r>
                <a:rPr lang="zh-CN" altLang="en-US" sz="1600" b="1" dirty="0">
                  <a:solidFill>
                    <a:srgbClr val="CC00CC"/>
                  </a:solidFill>
                  <a:latin typeface="黑体" panose="02010609060101010101" pitchFamily="49" charset="-122"/>
                  <a:ea typeface="黑体" panose="02010609060101010101" pitchFamily="49" charset="-122"/>
                </a:rPr>
                <a:t>解</a:t>
              </a:r>
              <a:r>
                <a:rPr lang="en-US" altLang="zh-CN" sz="1600" b="1" dirty="0">
                  <a:solidFill>
                    <a:srgbClr val="CC00CC"/>
                  </a:solidFill>
                  <a:latin typeface="黑体" panose="02010609060101010101" pitchFamily="49" charset="-122"/>
                  <a:ea typeface="黑体" panose="02010609060101010101" pitchFamily="49" charset="-122"/>
                  <a:sym typeface="Wingdings" panose="05000000000000000000" pitchFamily="2" charset="2"/>
                </a:rPr>
                <a:t>:</a:t>
              </a:r>
              <a:endParaRPr lang="zh-CN" altLang="en-US" sz="1600" b="1" dirty="0">
                <a:solidFill>
                  <a:srgbClr val="CC00CC"/>
                </a:solidFill>
                <a:latin typeface="黑体" panose="02010609060101010101" pitchFamily="49" charset="-122"/>
                <a:ea typeface="黑体" panose="02010609060101010101" pitchFamily="49" charset="-122"/>
              </a:endParaRPr>
            </a:p>
          </p:txBody>
        </p:sp>
        <p:pic>
          <p:nvPicPr>
            <p:cNvPr id="37" name="Picture 5"/>
            <p:cNvPicPr>
              <a:picLocks noChangeAspect="1" noChangeArrowheads="1"/>
            </p:cNvPicPr>
            <p:nvPr/>
          </p:nvPicPr>
          <p:blipFill>
            <a:blip r:embed="rId3" cstate="print"/>
            <a:srcRect/>
            <a:stretch>
              <a:fillRect/>
            </a:stretch>
          </p:blipFill>
          <p:spPr bwMode="auto">
            <a:xfrm>
              <a:off x="4330854" y="1369617"/>
              <a:ext cx="348489" cy="340027"/>
            </a:xfrm>
            <a:prstGeom prst="rect">
              <a:avLst/>
            </a:prstGeom>
            <a:noFill/>
            <a:ln w="9525">
              <a:noFill/>
              <a:miter lim="800000"/>
              <a:headEnd/>
              <a:tailEnd/>
            </a:ln>
          </p:spPr>
        </p:pic>
      </p:grpSp>
      <p:graphicFrame>
        <p:nvGraphicFramePr>
          <p:cNvPr id="28677" name="Object 5"/>
          <p:cNvGraphicFramePr>
            <a:graphicFrameLocks noChangeAspect="1"/>
          </p:cNvGraphicFramePr>
          <p:nvPr/>
        </p:nvGraphicFramePr>
        <p:xfrm>
          <a:off x="1412875" y="2536825"/>
          <a:ext cx="3184525" cy="336550"/>
        </p:xfrm>
        <a:graphic>
          <a:graphicData uri="http://schemas.openxmlformats.org/presentationml/2006/ole">
            <mc:AlternateContent xmlns:mc="http://schemas.openxmlformats.org/markup-compatibility/2006">
              <mc:Choice xmlns:v="urn:schemas-microsoft-com:vml" Requires="v">
                <p:oleObj spid="_x0000_s70698" name="Equation" r:id="rId4" imgW="57607200" imgH="6096000" progId="Equation.DSMT4">
                  <p:embed/>
                </p:oleObj>
              </mc:Choice>
              <mc:Fallback>
                <p:oleObj name="Equation" r:id="rId4" imgW="57607200" imgH="6096000" progId="Equation.DSMT4">
                  <p:embed/>
                  <p:pic>
                    <p:nvPicPr>
                      <p:cNvPr id="0" name="Object 5"/>
                      <p:cNvPicPr>
                        <a:picLocks noChangeAspect="1" noChangeArrowheads="1"/>
                      </p:cNvPicPr>
                      <p:nvPr/>
                    </p:nvPicPr>
                    <p:blipFill>
                      <a:blip r:embed="rId5"/>
                      <a:srcRect/>
                      <a:stretch>
                        <a:fillRect/>
                      </a:stretch>
                    </p:blipFill>
                    <p:spPr bwMode="auto">
                      <a:xfrm>
                        <a:off x="1412875" y="2536825"/>
                        <a:ext cx="31845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82" name="组合 81"/>
          <p:cNvGrpSpPr/>
          <p:nvPr/>
        </p:nvGrpSpPr>
        <p:grpSpPr>
          <a:xfrm>
            <a:off x="1434180" y="3023147"/>
            <a:ext cx="2677552" cy="348526"/>
            <a:chOff x="1434180" y="2581711"/>
            <a:chExt cx="2677552" cy="348526"/>
          </a:xfrm>
        </p:grpSpPr>
        <p:sp>
          <p:nvSpPr>
            <p:cNvPr id="81" name="圆角矩形 80"/>
            <p:cNvSpPr/>
            <p:nvPr/>
          </p:nvSpPr>
          <p:spPr>
            <a:xfrm>
              <a:off x="1434180" y="2618509"/>
              <a:ext cx="2341183" cy="311728"/>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p:cNvSpPr/>
            <p:nvPr/>
          </p:nvSpPr>
          <p:spPr>
            <a:xfrm>
              <a:off x="1560759" y="2581711"/>
              <a:ext cx="2550973" cy="338554"/>
            </a:xfrm>
            <a:prstGeom prst="rect">
              <a:avLst/>
            </a:prstGeom>
          </p:spPr>
          <p:txBody>
            <a:bodyPr wrap="square">
              <a:spAutoFit/>
            </a:bodyPr>
            <a:lstStyle/>
            <a:p>
              <a:r>
                <a:rPr lang="en-US" altLang="zh-CN" sz="1600" i="1" dirty="0">
                  <a:solidFill>
                    <a:srgbClr val="000000"/>
                  </a:solidFill>
                  <a:latin typeface="Times New Roman" panose="02020603050405020304" pitchFamily="18" charset="0"/>
                  <a:cs typeface="Times New Roman" panose="02020603050405020304" pitchFamily="18" charset="0"/>
                </a:rPr>
                <a:t>X</a:t>
              </a:r>
              <a:r>
                <a:rPr lang="en-US" altLang="zh-CN" sz="1600" dirty="0">
                  <a:solidFill>
                    <a:srgbClr val="000000"/>
                  </a:solidFill>
                  <a:latin typeface="Times New Roman" panose="02020603050405020304" pitchFamily="18" charset="0"/>
                  <a:cs typeface="Times New Roman" panose="02020603050405020304" pitchFamily="18" charset="0"/>
                </a:rPr>
                <a:t> =</a:t>
              </a:r>
              <a:r>
                <a:rPr lang="en-US" altLang="zh-CN" sz="1600" i="1" dirty="0">
                  <a:solidFill>
                    <a:srgbClr val="000000"/>
                  </a:solidFill>
                  <a:latin typeface="Times New Roman" panose="02020603050405020304" pitchFamily="18" charset="0"/>
                  <a:cs typeface="Times New Roman" panose="02020603050405020304" pitchFamily="18" charset="0"/>
                </a:rPr>
                <a:t>A</a:t>
              </a:r>
              <a:r>
                <a:rPr lang="en-US" altLang="zh-CN" sz="1600" baseline="-25000" dirty="0">
                  <a:solidFill>
                    <a:srgbClr val="000000"/>
                  </a:solidFill>
                  <a:latin typeface="Times New Roman" panose="02020603050405020304" pitchFamily="18" charset="0"/>
                  <a:cs typeface="Times New Roman" panose="02020603050405020304" pitchFamily="18" charset="0"/>
                </a:rPr>
                <a:t>2</a:t>
              </a:r>
              <a:r>
                <a:rPr lang="en-US" altLang="zh-CN" sz="1600" dirty="0">
                  <a:solidFill>
                    <a:srgbClr val="000000"/>
                  </a:solidFill>
                  <a:latin typeface="Times New Roman" panose="02020603050405020304" pitchFamily="18" charset="0"/>
                  <a:cs typeface="Times New Roman" panose="02020603050405020304" pitchFamily="18" charset="0"/>
                </a:rPr>
                <a:t> </a:t>
              </a:r>
              <a:r>
                <a:rPr lang="zh-CN" altLang="en-US" sz="1600" dirty="0">
                  <a:solidFill>
                    <a:srgbClr val="000000"/>
                  </a:solidFill>
                  <a:latin typeface="Times New Roman" panose="02020603050405020304" pitchFamily="18" charset="0"/>
                  <a:cs typeface="Times New Roman" panose="02020603050405020304" pitchFamily="18" charset="0"/>
                </a:rPr>
                <a:t>、</a:t>
              </a:r>
              <a:r>
                <a:rPr lang="en-US" altLang="zh-CN" sz="1600" i="1" dirty="0">
                  <a:solidFill>
                    <a:srgbClr val="000000"/>
                  </a:solidFill>
                  <a:latin typeface="Times New Roman" panose="02020603050405020304" pitchFamily="18" charset="0"/>
                  <a:cs typeface="Times New Roman" panose="02020603050405020304" pitchFamily="18" charset="0"/>
                </a:rPr>
                <a:t>Y</a:t>
              </a:r>
              <a:r>
                <a:rPr lang="en-US" altLang="zh-CN" sz="1600" dirty="0">
                  <a:solidFill>
                    <a:srgbClr val="000000"/>
                  </a:solidFill>
                  <a:latin typeface="Times New Roman" panose="02020603050405020304" pitchFamily="18" charset="0"/>
                  <a:cs typeface="Times New Roman" panose="02020603050405020304" pitchFamily="18" charset="0"/>
                </a:rPr>
                <a:t> =</a:t>
              </a:r>
              <a:r>
                <a:rPr lang="en-US" altLang="zh-CN" sz="1600" i="1" dirty="0">
                  <a:solidFill>
                    <a:srgbClr val="000000"/>
                  </a:solidFill>
                  <a:latin typeface="Times New Roman" panose="02020603050405020304" pitchFamily="18" charset="0"/>
                  <a:cs typeface="Times New Roman" panose="02020603050405020304" pitchFamily="18" charset="0"/>
                </a:rPr>
                <a:t>A</a:t>
              </a:r>
              <a:r>
                <a:rPr lang="en-US" altLang="zh-CN" sz="1600" baseline="-25000" dirty="0">
                  <a:solidFill>
                    <a:srgbClr val="000000"/>
                  </a:solidFill>
                  <a:latin typeface="Times New Roman" panose="02020603050405020304" pitchFamily="18" charset="0"/>
                  <a:cs typeface="Times New Roman" panose="02020603050405020304" pitchFamily="18" charset="0"/>
                </a:rPr>
                <a:t>1</a:t>
              </a:r>
              <a:r>
                <a:rPr lang="en-US" altLang="zh-CN" sz="1600" dirty="0">
                  <a:solidFill>
                    <a:srgbClr val="000000"/>
                  </a:solidFill>
                  <a:latin typeface="Times New Roman" panose="02020603050405020304" pitchFamily="18" charset="0"/>
                  <a:cs typeface="Times New Roman" panose="02020603050405020304" pitchFamily="18" charset="0"/>
                </a:rPr>
                <a:t> </a:t>
              </a:r>
              <a:r>
                <a:rPr lang="zh-CN" altLang="en-US" sz="1600" dirty="0">
                  <a:solidFill>
                    <a:srgbClr val="000000"/>
                  </a:solidFill>
                  <a:latin typeface="Times New Roman" panose="02020603050405020304" pitchFamily="18" charset="0"/>
                  <a:cs typeface="Times New Roman" panose="02020603050405020304" pitchFamily="18" charset="0"/>
                </a:rPr>
                <a:t>、</a:t>
              </a:r>
              <a:r>
                <a:rPr lang="en-US" altLang="zh-CN" sz="1600" i="1" dirty="0">
                  <a:solidFill>
                    <a:srgbClr val="000000"/>
                  </a:solidFill>
                  <a:latin typeface="Times New Roman" panose="02020603050405020304" pitchFamily="18" charset="0"/>
                  <a:cs typeface="Times New Roman" panose="02020603050405020304" pitchFamily="18" charset="0"/>
                </a:rPr>
                <a:t>Z</a:t>
              </a:r>
              <a:r>
                <a:rPr lang="en-US" altLang="zh-CN" sz="1600" dirty="0">
                  <a:solidFill>
                    <a:srgbClr val="000000"/>
                  </a:solidFill>
                  <a:latin typeface="Times New Roman" panose="02020603050405020304" pitchFamily="18" charset="0"/>
                  <a:cs typeface="Times New Roman" panose="02020603050405020304" pitchFamily="18" charset="0"/>
                </a:rPr>
                <a:t> =</a:t>
              </a:r>
              <a:r>
                <a:rPr lang="en-US" altLang="zh-CN" sz="1600" i="1" dirty="0">
                  <a:solidFill>
                    <a:srgbClr val="000000"/>
                  </a:solidFill>
                  <a:latin typeface="Times New Roman" panose="02020603050405020304" pitchFamily="18" charset="0"/>
                  <a:cs typeface="Times New Roman" panose="02020603050405020304" pitchFamily="18" charset="0"/>
                </a:rPr>
                <a:t>A</a:t>
              </a:r>
              <a:r>
                <a:rPr lang="en-US" altLang="zh-CN" sz="1600" baseline="-25000" dirty="0">
                  <a:solidFill>
                    <a:srgbClr val="000000"/>
                  </a:solidFill>
                  <a:latin typeface="Times New Roman" panose="02020603050405020304" pitchFamily="18" charset="0"/>
                  <a:cs typeface="Times New Roman" panose="02020603050405020304" pitchFamily="18" charset="0"/>
                </a:rPr>
                <a:t>0</a:t>
              </a:r>
              <a:endParaRPr lang="zh-CN" altLang="en-US" sz="1600" dirty="0">
                <a:latin typeface="Times New Roman" panose="02020603050405020304" pitchFamily="18" charset="0"/>
                <a:cs typeface="Times New Roman" panose="02020603050405020304" pitchFamily="18" charset="0"/>
              </a:endParaRPr>
            </a:p>
          </p:txBody>
        </p:sp>
      </p:grpSp>
      <p:graphicFrame>
        <p:nvGraphicFramePr>
          <p:cNvPr id="28682" name="Object 10"/>
          <p:cNvGraphicFramePr>
            <a:graphicFrameLocks noChangeAspect="1"/>
          </p:cNvGraphicFramePr>
          <p:nvPr/>
        </p:nvGraphicFramePr>
        <p:xfrm>
          <a:off x="1473200" y="3492500"/>
          <a:ext cx="3168650" cy="325438"/>
        </p:xfrm>
        <a:graphic>
          <a:graphicData uri="http://schemas.openxmlformats.org/presentationml/2006/ole">
            <mc:AlternateContent xmlns:mc="http://schemas.openxmlformats.org/markup-compatibility/2006">
              <mc:Choice xmlns:v="urn:schemas-microsoft-com:vml" Requires="v">
                <p:oleObj spid="_x0000_s70699" name="Equation" r:id="rId6" imgW="59436000" imgH="6096000" progId="Equation.DSMT4">
                  <p:embed/>
                </p:oleObj>
              </mc:Choice>
              <mc:Fallback>
                <p:oleObj name="Equation" r:id="rId6" imgW="59436000" imgH="6096000" progId="Equation.DSMT4">
                  <p:embed/>
                  <p:pic>
                    <p:nvPicPr>
                      <p:cNvPr id="0" name="Object 10"/>
                      <p:cNvPicPr>
                        <a:picLocks noChangeAspect="1" noChangeArrowheads="1"/>
                      </p:cNvPicPr>
                      <p:nvPr/>
                    </p:nvPicPr>
                    <p:blipFill>
                      <a:blip r:embed="rId7"/>
                      <a:srcRect/>
                      <a:stretch>
                        <a:fillRect/>
                      </a:stretch>
                    </p:blipFill>
                    <p:spPr bwMode="auto">
                      <a:xfrm>
                        <a:off x="1473200" y="3492500"/>
                        <a:ext cx="3168650" cy="325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83" name="Object 11"/>
          <p:cNvGraphicFramePr>
            <a:graphicFrameLocks noChangeAspect="1"/>
          </p:cNvGraphicFramePr>
          <p:nvPr/>
        </p:nvGraphicFramePr>
        <p:xfrm>
          <a:off x="1528763" y="3849688"/>
          <a:ext cx="1531937" cy="287337"/>
        </p:xfrm>
        <a:graphic>
          <a:graphicData uri="http://schemas.openxmlformats.org/presentationml/2006/ole">
            <mc:AlternateContent xmlns:mc="http://schemas.openxmlformats.org/markup-compatibility/2006">
              <mc:Choice xmlns:v="urn:schemas-microsoft-com:vml" Requires="v">
                <p:oleObj spid="_x0000_s70700" name="Equation" r:id="rId8" imgW="29260800" imgH="5486400" progId="Equation.DSMT4">
                  <p:embed/>
                </p:oleObj>
              </mc:Choice>
              <mc:Fallback>
                <p:oleObj name="Equation" r:id="rId8" imgW="29260800" imgH="5486400" progId="Equation.DSMT4">
                  <p:embed/>
                  <p:pic>
                    <p:nvPicPr>
                      <p:cNvPr id="0" name="Object 11"/>
                      <p:cNvPicPr>
                        <a:picLocks noChangeAspect="1" noChangeArrowheads="1"/>
                      </p:cNvPicPr>
                      <p:nvPr/>
                    </p:nvPicPr>
                    <p:blipFill>
                      <a:blip r:embed="rId9"/>
                      <a:srcRect/>
                      <a:stretch>
                        <a:fillRect/>
                      </a:stretch>
                    </p:blipFill>
                    <p:spPr bwMode="auto">
                      <a:xfrm>
                        <a:off x="1528763" y="3849688"/>
                        <a:ext cx="1531937" cy="287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85" name="Object 13"/>
          <p:cNvGraphicFramePr>
            <a:graphicFrameLocks noChangeAspect="1"/>
          </p:cNvGraphicFramePr>
          <p:nvPr/>
        </p:nvGraphicFramePr>
        <p:xfrm>
          <a:off x="2873375" y="4219575"/>
          <a:ext cx="1087438" cy="325438"/>
        </p:xfrm>
        <a:graphic>
          <a:graphicData uri="http://schemas.openxmlformats.org/presentationml/2006/ole">
            <mc:AlternateContent xmlns:mc="http://schemas.openxmlformats.org/markup-compatibility/2006">
              <mc:Choice xmlns:v="urn:schemas-microsoft-com:vml" Requires="v">
                <p:oleObj spid="_x0000_s70701" name="Equation" r:id="rId10" imgW="21336000" imgH="6400800" progId="Equation.DSMT4">
                  <p:embed/>
                </p:oleObj>
              </mc:Choice>
              <mc:Fallback>
                <p:oleObj name="Equation" r:id="rId10" imgW="21336000" imgH="6400800" progId="Equation.DSMT4">
                  <p:embed/>
                  <p:pic>
                    <p:nvPicPr>
                      <p:cNvPr id="0" name="Object 13"/>
                      <p:cNvPicPr>
                        <a:picLocks noChangeAspect="1" noChangeArrowheads="1"/>
                      </p:cNvPicPr>
                      <p:nvPr/>
                    </p:nvPicPr>
                    <p:blipFill>
                      <a:blip r:embed="rId11"/>
                      <a:srcRect/>
                      <a:stretch>
                        <a:fillRect/>
                      </a:stretch>
                    </p:blipFill>
                    <p:spPr bwMode="auto">
                      <a:xfrm>
                        <a:off x="2873375" y="4219575"/>
                        <a:ext cx="1087438" cy="325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 name="组合 6"/>
          <p:cNvGrpSpPr/>
          <p:nvPr/>
        </p:nvGrpSpPr>
        <p:grpSpPr>
          <a:xfrm>
            <a:off x="4904509" y="2800466"/>
            <a:ext cx="2604654" cy="2050473"/>
            <a:chOff x="4904509" y="2687782"/>
            <a:chExt cx="2604654" cy="2050473"/>
          </a:xfrm>
        </p:grpSpPr>
        <p:grpSp>
          <p:nvGrpSpPr>
            <p:cNvPr id="54" name="组合 53"/>
            <p:cNvGrpSpPr/>
            <p:nvPr/>
          </p:nvGrpSpPr>
          <p:grpSpPr>
            <a:xfrm>
              <a:off x="4904509" y="3082637"/>
              <a:ext cx="2604654" cy="1655618"/>
              <a:chOff x="5306291" y="3269673"/>
              <a:chExt cx="2604654" cy="1655618"/>
            </a:xfrm>
          </p:grpSpPr>
          <p:sp>
            <p:nvSpPr>
              <p:cNvPr id="53" name="圆角矩形 52"/>
              <p:cNvSpPr/>
              <p:nvPr/>
            </p:nvSpPr>
            <p:spPr>
              <a:xfrm>
                <a:off x="5306291" y="3269673"/>
                <a:ext cx="2604654" cy="1655618"/>
              </a:xfrm>
              <a:prstGeom prst="roundRect">
                <a:avLst>
                  <a:gd name="adj" fmla="val 7462"/>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31076" name="Object 4"/>
              <p:cNvGraphicFramePr>
                <a:graphicFrameLocks noChangeAspect="1"/>
              </p:cNvGraphicFramePr>
              <p:nvPr/>
            </p:nvGraphicFramePr>
            <p:xfrm>
              <a:off x="5418900" y="3312895"/>
              <a:ext cx="2401001" cy="1552071"/>
            </p:xfrm>
            <a:graphic>
              <a:graphicData uri="http://schemas.openxmlformats.org/presentationml/2006/ole">
                <mc:AlternateContent xmlns:mc="http://schemas.openxmlformats.org/markup-compatibility/2006">
                  <mc:Choice xmlns:v="urn:schemas-microsoft-com:vml" Requires="v">
                    <p:oleObj spid="_x0000_s70702" name="Visio" r:id="rId12" imgW="1895475" imgH="1047750" progId="Visio.Drawing.11">
                      <p:embed/>
                    </p:oleObj>
                  </mc:Choice>
                  <mc:Fallback>
                    <p:oleObj name="Visio" r:id="rId12" imgW="1895475" imgH="1047750" progId="Visio.Drawing.11">
                      <p:embed/>
                      <p:pic>
                        <p:nvPicPr>
                          <p:cNvPr id="0" name="Object 4"/>
                          <p:cNvPicPr>
                            <a:picLocks noChangeAspect="1" noChangeArrowheads="1"/>
                          </p:cNvPicPr>
                          <p:nvPr/>
                        </p:nvPicPr>
                        <p:blipFill>
                          <a:blip r:embed="rId13"/>
                          <a:srcRect r="5499"/>
                          <a:stretch>
                            <a:fillRect/>
                          </a:stretch>
                        </p:blipFill>
                        <p:spPr bwMode="auto">
                          <a:xfrm>
                            <a:off x="5418900" y="3312895"/>
                            <a:ext cx="2401001" cy="1552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sp>
          <p:nvSpPr>
            <p:cNvPr id="55" name="圆角矩形 54"/>
            <p:cNvSpPr/>
            <p:nvPr/>
          </p:nvSpPr>
          <p:spPr>
            <a:xfrm>
              <a:off x="5064991" y="3903519"/>
              <a:ext cx="819150" cy="689263"/>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圆角矩形 55"/>
            <p:cNvSpPr/>
            <p:nvPr/>
          </p:nvSpPr>
          <p:spPr>
            <a:xfrm>
              <a:off x="6692900" y="3453247"/>
              <a:ext cx="760845" cy="689263"/>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圆角矩形 56"/>
            <p:cNvSpPr/>
            <p:nvPr/>
          </p:nvSpPr>
          <p:spPr>
            <a:xfrm>
              <a:off x="5064991" y="3155375"/>
              <a:ext cx="819150" cy="689263"/>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4" name="组合 83"/>
            <p:cNvGrpSpPr/>
            <p:nvPr/>
          </p:nvGrpSpPr>
          <p:grpSpPr>
            <a:xfrm>
              <a:off x="4980944" y="2687782"/>
              <a:ext cx="1399074" cy="318798"/>
              <a:chOff x="4980944" y="2687782"/>
              <a:chExt cx="1399074" cy="318798"/>
            </a:xfrm>
          </p:grpSpPr>
          <p:sp>
            <p:nvSpPr>
              <p:cNvPr id="83" name="圆角矩形 82"/>
              <p:cNvSpPr/>
              <p:nvPr/>
            </p:nvSpPr>
            <p:spPr>
              <a:xfrm>
                <a:off x="4980944" y="2687782"/>
                <a:ext cx="1399074" cy="311727"/>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30060" name="Object 12"/>
              <p:cNvGraphicFramePr>
                <a:graphicFrameLocks noChangeAspect="1"/>
              </p:cNvGraphicFramePr>
              <p:nvPr/>
            </p:nvGraphicFramePr>
            <p:xfrm>
              <a:off x="5027325" y="2710651"/>
              <a:ext cx="1262638" cy="295929"/>
            </p:xfrm>
            <a:graphic>
              <a:graphicData uri="http://schemas.openxmlformats.org/presentationml/2006/ole">
                <mc:AlternateContent xmlns:mc="http://schemas.openxmlformats.org/markup-compatibility/2006">
                  <mc:Choice xmlns:v="urn:schemas-microsoft-com:vml" Requires="v">
                    <p:oleObj spid="_x0000_s70703" name="公式" r:id="rId14" imgW="1345565" imgH="254000" progId="Equation.3">
                      <p:embed/>
                    </p:oleObj>
                  </mc:Choice>
                  <mc:Fallback>
                    <p:oleObj name="公式" r:id="rId14" imgW="1345565" imgH="254000" progId="Equation.3">
                      <p:embed/>
                      <p:pic>
                        <p:nvPicPr>
                          <p:cNvPr id="0" name="Object 12"/>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27325" y="2710651"/>
                            <a:ext cx="1262638" cy="29592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grpSp>
        <p:nvGrpSpPr>
          <p:cNvPr id="50" name="组合 37"/>
          <p:cNvGrpSpPr/>
          <p:nvPr/>
        </p:nvGrpSpPr>
        <p:grpSpPr>
          <a:xfrm>
            <a:off x="7334897" y="753540"/>
            <a:ext cx="1465696" cy="2256855"/>
            <a:chOff x="689675" y="1715440"/>
            <a:chExt cx="1608200" cy="2417173"/>
          </a:xfrm>
        </p:grpSpPr>
        <p:sp>
          <p:nvSpPr>
            <p:cNvPr id="51" name="圆角矩形 46"/>
            <p:cNvSpPr/>
            <p:nvPr/>
          </p:nvSpPr>
          <p:spPr>
            <a:xfrm>
              <a:off x="689675" y="1715440"/>
              <a:ext cx="1608200" cy="2417173"/>
            </a:xfrm>
            <a:prstGeom prst="roundRect">
              <a:avLst>
                <a:gd name="adj" fmla="val 3293"/>
              </a:avLst>
            </a:prstGeom>
            <a:solidFill>
              <a:schemeClr val="accent1">
                <a:lumMod val="20000"/>
                <a:lumOff val="80000"/>
              </a:schemeClr>
            </a:solidFill>
            <a:scene3d>
              <a:camera prst="orthographicFront"/>
              <a:lightRig rig="threePt" dir="t"/>
            </a:scene3d>
            <a:sp3d>
              <a:bevelT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2" name="组合 6"/>
            <p:cNvGrpSpPr/>
            <p:nvPr/>
          </p:nvGrpSpPr>
          <p:grpSpPr>
            <a:xfrm>
              <a:off x="774782" y="1806484"/>
              <a:ext cx="1441450" cy="1637443"/>
              <a:chOff x="7556500" y="775557"/>
              <a:chExt cx="1441450" cy="1637443"/>
            </a:xfrm>
            <a:solidFill>
              <a:schemeClr val="bg1"/>
            </a:solidFill>
          </p:grpSpPr>
          <p:sp>
            <p:nvSpPr>
              <p:cNvPr id="58" name="圆角矩形 48"/>
              <p:cNvSpPr/>
              <p:nvPr/>
            </p:nvSpPr>
            <p:spPr>
              <a:xfrm>
                <a:off x="7556500" y="775557"/>
                <a:ext cx="1441450" cy="1637443"/>
              </a:xfrm>
              <a:prstGeom prst="roundRect">
                <a:avLst>
                  <a:gd name="adj" fmla="val 3293"/>
                </a:avLst>
              </a:prstGeom>
              <a:gr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9" name="Object 7"/>
              <p:cNvGraphicFramePr>
                <a:graphicFrameLocks noChangeAspect="1"/>
              </p:cNvGraphicFramePr>
              <p:nvPr/>
            </p:nvGraphicFramePr>
            <p:xfrm>
              <a:off x="7602118" y="855864"/>
              <a:ext cx="1263473" cy="1470336"/>
            </p:xfrm>
            <a:graphic>
              <a:graphicData uri="http://schemas.openxmlformats.org/presentationml/2006/ole">
                <mc:AlternateContent xmlns:mc="http://schemas.openxmlformats.org/markup-compatibility/2006">
                  <mc:Choice xmlns:v="urn:schemas-microsoft-com:vml" Requires="v">
                    <p:oleObj spid="_x0000_s70704" name="位图图像" r:id="rId16" imgW="3086100" imgH="3590925" progId="PBrush">
                      <p:embed/>
                    </p:oleObj>
                  </mc:Choice>
                  <mc:Fallback>
                    <p:oleObj name="位图图像" r:id="rId16" imgW="3086100" imgH="3590925" progId="PBrush">
                      <p:embed/>
                      <p:pic>
                        <p:nvPicPr>
                          <p:cNvPr id="0" name="Object 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7602118" y="855864"/>
                            <a:ext cx="1263473" cy="1470336"/>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grpSp>
      <p:grpSp>
        <p:nvGrpSpPr>
          <p:cNvPr id="60" name="组合 42"/>
          <p:cNvGrpSpPr/>
          <p:nvPr/>
        </p:nvGrpSpPr>
        <p:grpSpPr>
          <a:xfrm>
            <a:off x="7641016" y="2423228"/>
            <a:ext cx="824100" cy="396172"/>
            <a:chOff x="5222910" y="1370207"/>
            <a:chExt cx="615890" cy="294888"/>
          </a:xfrm>
        </p:grpSpPr>
        <p:sp>
          <p:nvSpPr>
            <p:cNvPr id="61" name="圆角矩形 51"/>
            <p:cNvSpPr/>
            <p:nvPr/>
          </p:nvSpPr>
          <p:spPr>
            <a:xfrm>
              <a:off x="5222910" y="1370207"/>
              <a:ext cx="615890" cy="294888"/>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2" name="Object 9"/>
            <p:cNvGraphicFramePr>
              <a:graphicFrameLocks noChangeAspect="1"/>
            </p:cNvGraphicFramePr>
            <p:nvPr/>
          </p:nvGraphicFramePr>
          <p:xfrm>
            <a:off x="5295840" y="1396226"/>
            <a:ext cx="470021" cy="254775"/>
          </p:xfrm>
          <a:graphic>
            <a:graphicData uri="http://schemas.openxmlformats.org/presentationml/2006/ole">
              <mc:AlternateContent xmlns:mc="http://schemas.openxmlformats.org/markup-compatibility/2006">
                <mc:Choice xmlns:v="urn:schemas-microsoft-com:vml" Requires="v">
                  <p:oleObj spid="_x0000_s70705" name="Equation" r:id="rId18" imgW="469900" imgH="254000" progId="Equation.DSMT4">
                    <p:embed/>
                  </p:oleObj>
                </mc:Choice>
                <mc:Fallback>
                  <p:oleObj name="Equation" r:id="rId18" imgW="469900" imgH="254000" progId="Equation.DSMT4">
                    <p:embed/>
                    <p:pic>
                      <p:nvPicPr>
                        <p:cNvPr id="0" name="Object 9"/>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295840" y="1396226"/>
                          <a:ext cx="470021" cy="254775"/>
                        </a:xfrm>
                        <a:prstGeom prst="rect">
                          <a:avLst/>
                        </a:prstGeom>
                        <a:solidFill>
                          <a:srgbClr val="FFFF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8" name="对象 7"/>
          <p:cNvGraphicFramePr>
            <a:graphicFrameLocks noChangeAspect="1"/>
          </p:cNvGraphicFramePr>
          <p:nvPr/>
        </p:nvGraphicFramePr>
        <p:xfrm>
          <a:off x="2284742" y="2124392"/>
          <a:ext cx="1448207" cy="266337"/>
        </p:xfrm>
        <a:graphic>
          <a:graphicData uri="http://schemas.openxmlformats.org/presentationml/2006/ole">
            <mc:AlternateContent xmlns:mc="http://schemas.openxmlformats.org/markup-compatibility/2006">
              <mc:Choice xmlns:v="urn:schemas-microsoft-com:vml" Requires="v">
                <p:oleObj spid="_x0000_s70706" name="公式" r:id="rId20" imgW="825500" imgH="152400" progId="Equation.3">
                  <p:embed/>
                </p:oleObj>
              </mc:Choice>
              <mc:Fallback>
                <p:oleObj name="公式" r:id="rId20" imgW="825500" imgH="152400" progId="Equation.3">
                  <p:embed/>
                  <p:pic>
                    <p:nvPicPr>
                      <p:cNvPr id="0" name="对象 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2284742" y="2124392"/>
                        <a:ext cx="1448207" cy="266337"/>
                      </a:xfrm>
                      <a:prstGeom prst="rect">
                        <a:avLst/>
                      </a:prstGeom>
                      <a:noFill/>
                    </p:spPr>
                  </p:pic>
                </p:oleObj>
              </mc:Fallback>
            </mc:AlternateContent>
          </a:graphicData>
        </a:graphic>
      </p:graphicFrame>
      <p:graphicFrame>
        <p:nvGraphicFramePr>
          <p:cNvPr id="41" name="Object 13"/>
          <p:cNvGraphicFramePr>
            <a:graphicFrameLocks noChangeAspect="1"/>
          </p:cNvGraphicFramePr>
          <p:nvPr/>
        </p:nvGraphicFramePr>
        <p:xfrm>
          <a:off x="1536700" y="4205288"/>
          <a:ext cx="1243013" cy="327025"/>
        </p:xfrm>
        <a:graphic>
          <a:graphicData uri="http://schemas.openxmlformats.org/presentationml/2006/ole">
            <mc:AlternateContent xmlns:mc="http://schemas.openxmlformats.org/markup-compatibility/2006">
              <mc:Choice xmlns:v="urn:schemas-microsoft-com:vml" Requires="v">
                <p:oleObj spid="_x0000_s70707" name="Equation" r:id="rId22" imgW="24384000" imgH="6400800" progId="Equation.DSMT4">
                  <p:embed/>
                </p:oleObj>
              </mc:Choice>
              <mc:Fallback>
                <p:oleObj name="Equation" r:id="rId22" imgW="24384000" imgH="6400800" progId="Equation.DSMT4">
                  <p:embed/>
                  <p:pic>
                    <p:nvPicPr>
                      <p:cNvPr id="0" name="Object 13"/>
                      <p:cNvPicPr>
                        <a:picLocks noChangeAspect="1" noChangeArrowheads="1"/>
                      </p:cNvPicPr>
                      <p:nvPr/>
                    </p:nvPicPr>
                    <p:blipFill>
                      <a:blip r:embed="rId23"/>
                      <a:srcRect/>
                      <a:stretch>
                        <a:fillRect/>
                      </a:stretch>
                    </p:blipFill>
                    <p:spPr bwMode="auto">
                      <a:xfrm>
                        <a:off x="1536700" y="4205288"/>
                        <a:ext cx="1243013"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8677"/>
                                        </p:tgtEl>
                                        <p:attrNameLst>
                                          <p:attrName>style.visibility</p:attrName>
                                        </p:attrNameLst>
                                      </p:cBhvr>
                                      <p:to>
                                        <p:strVal val="visible"/>
                                      </p:to>
                                    </p:set>
                                    <p:animEffect transition="in" filter="fade">
                                      <p:cBhvr>
                                        <p:cTn id="7" dur="1000"/>
                                        <p:tgtEl>
                                          <p:spTgt spid="28677"/>
                                        </p:tgtEl>
                                      </p:cBhvr>
                                    </p:animEffect>
                                    <p:anim calcmode="lin" valueType="num">
                                      <p:cBhvr>
                                        <p:cTn id="8" dur="1000" fill="hold"/>
                                        <p:tgtEl>
                                          <p:spTgt spid="28677"/>
                                        </p:tgtEl>
                                        <p:attrNameLst>
                                          <p:attrName>ppt_x</p:attrName>
                                        </p:attrNameLst>
                                      </p:cBhvr>
                                      <p:tavLst>
                                        <p:tav tm="0">
                                          <p:val>
                                            <p:strVal val="#ppt_x"/>
                                          </p:val>
                                        </p:tav>
                                        <p:tav tm="100000">
                                          <p:val>
                                            <p:strVal val="#ppt_x"/>
                                          </p:val>
                                        </p:tav>
                                      </p:tavLst>
                                    </p:anim>
                                    <p:anim calcmode="lin" valueType="num">
                                      <p:cBhvr>
                                        <p:cTn id="9" dur="1000" fill="hold"/>
                                        <p:tgtEl>
                                          <p:spTgt spid="2867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nodeType="clickEffect">
                                  <p:stCondLst>
                                    <p:cond delay="0"/>
                                  </p:stCondLst>
                                  <p:childTnLst>
                                    <p:set>
                                      <p:cBhvr>
                                        <p:cTn id="13" dur="1" fill="hold">
                                          <p:stCondLst>
                                            <p:cond delay="0"/>
                                          </p:stCondLst>
                                        </p:cTn>
                                        <p:tgtEl>
                                          <p:spTgt spid="82"/>
                                        </p:tgtEl>
                                        <p:attrNameLst>
                                          <p:attrName>style.visibility</p:attrName>
                                        </p:attrNameLst>
                                      </p:cBhvr>
                                      <p:to>
                                        <p:strVal val="visible"/>
                                      </p:to>
                                    </p:set>
                                    <p:anim calcmode="lin" valueType="num">
                                      <p:cBhvr additive="base">
                                        <p:cTn id="14" dur="1000"/>
                                        <p:tgtEl>
                                          <p:spTgt spid="82"/>
                                        </p:tgtEl>
                                        <p:attrNameLst>
                                          <p:attrName>ppt_y</p:attrName>
                                        </p:attrNameLst>
                                      </p:cBhvr>
                                      <p:tavLst>
                                        <p:tav tm="0">
                                          <p:val>
                                            <p:strVal val="#ppt_y+#ppt_h*1.125000"/>
                                          </p:val>
                                        </p:tav>
                                        <p:tav tm="100000">
                                          <p:val>
                                            <p:strVal val="#ppt_y"/>
                                          </p:val>
                                        </p:tav>
                                      </p:tavLst>
                                    </p:anim>
                                    <p:animEffect transition="in" filter="wipe(up)">
                                      <p:cBhvr>
                                        <p:cTn id="15" dur="1000"/>
                                        <p:tgtEl>
                                          <p:spTgt spid="82"/>
                                        </p:tgtEl>
                                      </p:cBhvr>
                                    </p:animEffect>
                                  </p:childTnLst>
                                </p:cTn>
                              </p:par>
                            </p:childTnLst>
                          </p:cTn>
                        </p:par>
                        <p:par>
                          <p:cTn id="16" fill="hold">
                            <p:stCondLst>
                              <p:cond delay="1000"/>
                            </p:stCondLst>
                            <p:childTnLst>
                              <p:par>
                                <p:cTn id="17" presetID="12" presetClass="entr" presetSubtype="4" fill="hold" nodeType="afterEffect">
                                  <p:stCondLst>
                                    <p:cond delay="0"/>
                                  </p:stCondLst>
                                  <p:childTnLst>
                                    <p:set>
                                      <p:cBhvr>
                                        <p:cTn id="18" dur="1" fill="hold">
                                          <p:stCondLst>
                                            <p:cond delay="0"/>
                                          </p:stCondLst>
                                        </p:cTn>
                                        <p:tgtEl>
                                          <p:spTgt spid="28682"/>
                                        </p:tgtEl>
                                        <p:attrNameLst>
                                          <p:attrName>style.visibility</p:attrName>
                                        </p:attrNameLst>
                                      </p:cBhvr>
                                      <p:to>
                                        <p:strVal val="visible"/>
                                      </p:to>
                                    </p:set>
                                    <p:anim calcmode="lin" valueType="num">
                                      <p:cBhvr additive="base">
                                        <p:cTn id="19" dur="1000"/>
                                        <p:tgtEl>
                                          <p:spTgt spid="28682"/>
                                        </p:tgtEl>
                                        <p:attrNameLst>
                                          <p:attrName>ppt_y</p:attrName>
                                        </p:attrNameLst>
                                      </p:cBhvr>
                                      <p:tavLst>
                                        <p:tav tm="0">
                                          <p:val>
                                            <p:strVal val="#ppt_y+#ppt_h*1.125000"/>
                                          </p:val>
                                        </p:tav>
                                        <p:tav tm="100000">
                                          <p:val>
                                            <p:strVal val="#ppt_y"/>
                                          </p:val>
                                        </p:tav>
                                      </p:tavLst>
                                    </p:anim>
                                    <p:animEffect transition="in" filter="wipe(up)">
                                      <p:cBhvr>
                                        <p:cTn id="20" dur="1000"/>
                                        <p:tgtEl>
                                          <p:spTgt spid="28682"/>
                                        </p:tgtEl>
                                      </p:cBhvr>
                                    </p:animEffect>
                                  </p:childTnLst>
                                </p:cTn>
                              </p:par>
                            </p:childTnLst>
                          </p:cTn>
                        </p:par>
                        <p:par>
                          <p:cTn id="21" fill="hold">
                            <p:stCondLst>
                              <p:cond delay="2000"/>
                            </p:stCondLst>
                            <p:childTnLst>
                              <p:par>
                                <p:cTn id="22" presetID="12" presetClass="entr" presetSubtype="4" fill="hold" nodeType="afterEffect">
                                  <p:stCondLst>
                                    <p:cond delay="0"/>
                                  </p:stCondLst>
                                  <p:childTnLst>
                                    <p:set>
                                      <p:cBhvr>
                                        <p:cTn id="23" dur="1" fill="hold">
                                          <p:stCondLst>
                                            <p:cond delay="0"/>
                                          </p:stCondLst>
                                        </p:cTn>
                                        <p:tgtEl>
                                          <p:spTgt spid="28683"/>
                                        </p:tgtEl>
                                        <p:attrNameLst>
                                          <p:attrName>style.visibility</p:attrName>
                                        </p:attrNameLst>
                                      </p:cBhvr>
                                      <p:to>
                                        <p:strVal val="visible"/>
                                      </p:to>
                                    </p:set>
                                    <p:anim calcmode="lin" valueType="num">
                                      <p:cBhvr additive="base">
                                        <p:cTn id="24" dur="1000"/>
                                        <p:tgtEl>
                                          <p:spTgt spid="28683"/>
                                        </p:tgtEl>
                                        <p:attrNameLst>
                                          <p:attrName>ppt_y</p:attrName>
                                        </p:attrNameLst>
                                      </p:cBhvr>
                                      <p:tavLst>
                                        <p:tav tm="0">
                                          <p:val>
                                            <p:strVal val="#ppt_y+#ppt_h*1.125000"/>
                                          </p:val>
                                        </p:tav>
                                        <p:tav tm="100000">
                                          <p:val>
                                            <p:strVal val="#ppt_y"/>
                                          </p:val>
                                        </p:tav>
                                      </p:tavLst>
                                    </p:anim>
                                    <p:animEffect transition="in" filter="wipe(up)">
                                      <p:cBhvr>
                                        <p:cTn id="25" dur="1000"/>
                                        <p:tgtEl>
                                          <p:spTgt spid="28683"/>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nodeType="clickEffect">
                                  <p:stCondLst>
                                    <p:cond delay="0"/>
                                  </p:stCondLst>
                                  <p:childTnLst>
                                    <p:set>
                                      <p:cBhvr>
                                        <p:cTn id="29" dur="1" fill="hold">
                                          <p:stCondLst>
                                            <p:cond delay="0"/>
                                          </p:stCondLst>
                                        </p:cTn>
                                        <p:tgtEl>
                                          <p:spTgt spid="60"/>
                                        </p:tgtEl>
                                        <p:attrNameLst>
                                          <p:attrName>style.visibility</p:attrName>
                                        </p:attrNameLst>
                                      </p:cBhvr>
                                      <p:to>
                                        <p:strVal val="visible"/>
                                      </p:to>
                                    </p:set>
                                    <p:animEffect transition="in" filter="slide(fromBottom)">
                                      <p:cBhvr>
                                        <p:cTn id="30" dur="1000"/>
                                        <p:tgtEl>
                                          <p:spTgt spid="60"/>
                                        </p:tgtEl>
                                      </p:cBhvr>
                                    </p:animEffect>
                                  </p:childTnLst>
                                </p:cTn>
                              </p:par>
                            </p:childTnLst>
                          </p:cTn>
                        </p:par>
                        <p:par>
                          <p:cTn id="31" fill="hold">
                            <p:stCondLst>
                              <p:cond delay="1000"/>
                            </p:stCondLst>
                            <p:childTnLst>
                              <p:par>
                                <p:cTn id="32" presetID="12" presetClass="entr" presetSubtype="4" fill="hold" nodeType="afterEffect">
                                  <p:stCondLst>
                                    <p:cond delay="0"/>
                                  </p:stCondLst>
                                  <p:childTnLst>
                                    <p:set>
                                      <p:cBhvr>
                                        <p:cTn id="33" dur="1" fill="hold">
                                          <p:stCondLst>
                                            <p:cond delay="0"/>
                                          </p:stCondLst>
                                        </p:cTn>
                                        <p:tgtEl>
                                          <p:spTgt spid="41"/>
                                        </p:tgtEl>
                                        <p:attrNameLst>
                                          <p:attrName>style.visibility</p:attrName>
                                        </p:attrNameLst>
                                      </p:cBhvr>
                                      <p:to>
                                        <p:strVal val="visible"/>
                                      </p:to>
                                    </p:set>
                                    <p:anim calcmode="lin" valueType="num">
                                      <p:cBhvr additive="base">
                                        <p:cTn id="34" dur="1000"/>
                                        <p:tgtEl>
                                          <p:spTgt spid="41"/>
                                        </p:tgtEl>
                                        <p:attrNameLst>
                                          <p:attrName>ppt_y</p:attrName>
                                        </p:attrNameLst>
                                      </p:cBhvr>
                                      <p:tavLst>
                                        <p:tav tm="0">
                                          <p:val>
                                            <p:strVal val="#ppt_y+#ppt_h*1.125000"/>
                                          </p:val>
                                        </p:tav>
                                        <p:tav tm="100000">
                                          <p:val>
                                            <p:strVal val="#ppt_y"/>
                                          </p:val>
                                        </p:tav>
                                      </p:tavLst>
                                    </p:anim>
                                    <p:animEffect transition="in" filter="wipe(up)">
                                      <p:cBhvr>
                                        <p:cTn id="35" dur="1000"/>
                                        <p:tgtEl>
                                          <p:spTgt spid="41"/>
                                        </p:tgtEl>
                                      </p:cBhvr>
                                    </p:animEffect>
                                  </p:childTnLst>
                                </p:cTn>
                              </p:par>
                            </p:childTnLst>
                          </p:cTn>
                        </p:par>
                        <p:par>
                          <p:cTn id="36" fill="hold">
                            <p:stCondLst>
                              <p:cond delay="2000"/>
                            </p:stCondLst>
                            <p:childTnLst>
                              <p:par>
                                <p:cTn id="37" presetID="12" presetClass="entr" presetSubtype="4" fill="hold" nodeType="afterEffect">
                                  <p:stCondLst>
                                    <p:cond delay="0"/>
                                  </p:stCondLst>
                                  <p:childTnLst>
                                    <p:set>
                                      <p:cBhvr>
                                        <p:cTn id="38" dur="1" fill="hold">
                                          <p:stCondLst>
                                            <p:cond delay="0"/>
                                          </p:stCondLst>
                                        </p:cTn>
                                        <p:tgtEl>
                                          <p:spTgt spid="28685"/>
                                        </p:tgtEl>
                                        <p:attrNameLst>
                                          <p:attrName>style.visibility</p:attrName>
                                        </p:attrNameLst>
                                      </p:cBhvr>
                                      <p:to>
                                        <p:strVal val="visible"/>
                                      </p:to>
                                    </p:set>
                                    <p:anim calcmode="lin" valueType="num">
                                      <p:cBhvr additive="base">
                                        <p:cTn id="39" dur="1000"/>
                                        <p:tgtEl>
                                          <p:spTgt spid="28685"/>
                                        </p:tgtEl>
                                        <p:attrNameLst>
                                          <p:attrName>ppt_y</p:attrName>
                                        </p:attrNameLst>
                                      </p:cBhvr>
                                      <p:tavLst>
                                        <p:tav tm="0">
                                          <p:val>
                                            <p:strVal val="#ppt_y+#ppt_h*1.125000"/>
                                          </p:val>
                                        </p:tav>
                                        <p:tav tm="100000">
                                          <p:val>
                                            <p:strVal val="#ppt_y"/>
                                          </p:val>
                                        </p:tav>
                                      </p:tavLst>
                                    </p:anim>
                                    <p:animEffect transition="in" filter="wipe(up)">
                                      <p:cBhvr>
                                        <p:cTn id="40" dur="1000"/>
                                        <p:tgtEl>
                                          <p:spTgt spid="28685"/>
                                        </p:tgtEl>
                                      </p:cBhvr>
                                    </p:animEffect>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7"/>
                                        </p:tgtEl>
                                        <p:attrNameLst>
                                          <p:attrName>style.visibility</p:attrName>
                                        </p:attrNameLst>
                                      </p:cBhvr>
                                      <p:to>
                                        <p:strVal val="visible"/>
                                      </p:to>
                                    </p:set>
                                    <p:animEffect transition="in" filter="fade">
                                      <p:cBhvr>
                                        <p:cTn id="45" dur="1000"/>
                                        <p:tgtEl>
                                          <p:spTgt spid="7"/>
                                        </p:tgtEl>
                                      </p:cBhvr>
                                    </p:animEffect>
                                    <p:anim calcmode="lin" valueType="num">
                                      <p:cBhvr>
                                        <p:cTn id="46" dur="1000" fill="hold"/>
                                        <p:tgtEl>
                                          <p:spTgt spid="7"/>
                                        </p:tgtEl>
                                        <p:attrNameLst>
                                          <p:attrName>ppt_x</p:attrName>
                                        </p:attrNameLst>
                                      </p:cBhvr>
                                      <p:tavLst>
                                        <p:tav tm="0">
                                          <p:val>
                                            <p:strVal val="#ppt_x"/>
                                          </p:val>
                                        </p:tav>
                                        <p:tav tm="100000">
                                          <p:val>
                                            <p:strVal val="#ppt_x"/>
                                          </p:val>
                                        </p:tav>
                                      </p:tavLst>
                                    </p:anim>
                                    <p:anim calcmode="lin" valueType="num">
                                      <p:cBhvr>
                                        <p:cTn id="47"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图片 11"/>
          <p:cNvPicPr>
            <a:picLocks noChangeAspect="1"/>
          </p:cNvPicPr>
          <p:nvPr/>
        </p:nvPicPr>
        <p:blipFill>
          <a:blip r:embed="rId1"/>
          <a:stretch>
            <a:fillRect/>
          </a:stretch>
        </p:blipFill>
        <p:spPr>
          <a:xfrm>
            <a:off x="3567847" y="2163918"/>
            <a:ext cx="3198495" cy="1994880"/>
          </a:xfrm>
          <a:prstGeom prst="rect">
            <a:avLst/>
          </a:prstGeom>
        </p:spPr>
      </p:pic>
      <p:grpSp>
        <p:nvGrpSpPr>
          <p:cNvPr id="2" name="组合 17"/>
          <p:cNvGrpSpPr/>
          <p:nvPr/>
        </p:nvGrpSpPr>
        <p:grpSpPr>
          <a:xfrm>
            <a:off x="392432" y="769746"/>
            <a:ext cx="3114144" cy="420971"/>
            <a:chOff x="670560" y="892917"/>
            <a:chExt cx="3114144" cy="420971"/>
          </a:xfrm>
        </p:grpSpPr>
        <p:sp>
          <p:nvSpPr>
            <p:cNvPr id="3" name="矩形 2"/>
            <p:cNvSpPr/>
            <p:nvPr/>
          </p:nvSpPr>
          <p:spPr>
            <a:xfrm>
              <a:off x="1035233" y="913778"/>
              <a:ext cx="2749471"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集成电路译码器的应用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 name="Picture 3"/>
            <p:cNvPicPr>
              <a:picLocks noChangeAspect="1" noChangeArrowheads="1"/>
            </p:cNvPicPr>
            <p:nvPr/>
          </p:nvPicPr>
          <p:blipFill>
            <a:blip r:embed="rId2"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 name="Rectangle 27"/>
          <p:cNvSpPr>
            <a:spLocks noChangeArrowheads="1"/>
          </p:cNvSpPr>
          <p:nvPr/>
        </p:nvSpPr>
        <p:spPr bwMode="auto">
          <a:xfrm>
            <a:off x="577511" y="1237292"/>
            <a:ext cx="2551637" cy="369332"/>
          </a:xfrm>
          <a:prstGeom prst="rect">
            <a:avLst/>
          </a:prstGeom>
          <a:noFill/>
          <a:ln w="9525" algn="ctr">
            <a:noFill/>
            <a:miter lim="800000"/>
          </a:ln>
          <a:effectLst/>
        </p:spPr>
        <p:txBody>
          <a:bodyPr wrap="square" lIns="0" rIns="0">
            <a:spAutoFit/>
          </a:bodyPr>
          <a:lstStyle/>
          <a:p>
            <a:pPr>
              <a:defRPr/>
            </a:pPr>
            <a:r>
              <a:rPr lang="en-US" altLang="zh-CN" b="1" dirty="0">
                <a:solidFill>
                  <a:srgbClr val="6600FF"/>
                </a:solidFill>
                <a:latin typeface="黑体" panose="02010609060101010101" pitchFamily="49" charset="-122"/>
                <a:ea typeface="黑体" panose="02010609060101010101" pitchFamily="49" charset="-122"/>
              </a:rPr>
              <a:t>2</a:t>
            </a:r>
            <a:r>
              <a:rPr lang="zh-CN" altLang="en-US" b="1" dirty="0">
                <a:solidFill>
                  <a:srgbClr val="6600FF"/>
                </a:solidFill>
                <a:latin typeface="黑体" panose="02010609060101010101" pitchFamily="49" charset="-122"/>
                <a:ea typeface="黑体" panose="02010609060101010101" pitchFamily="49" charset="-122"/>
              </a:rPr>
              <a:t>、实现组合逻辑函数</a:t>
            </a:r>
            <a:endParaRPr lang="zh-CN" altLang="en-US" b="1" dirty="0">
              <a:solidFill>
                <a:srgbClr val="6600FF"/>
              </a:solidFill>
              <a:latin typeface="黑体" panose="02010609060101010101" pitchFamily="49" charset="-122"/>
              <a:ea typeface="黑体" panose="02010609060101010101" pitchFamily="49" charset="-122"/>
            </a:endParaRPr>
          </a:p>
        </p:txBody>
      </p:sp>
      <p:grpSp>
        <p:nvGrpSpPr>
          <p:cNvPr id="7" name="组合 30"/>
          <p:cNvGrpSpPr/>
          <p:nvPr/>
        </p:nvGrpSpPr>
        <p:grpSpPr>
          <a:xfrm>
            <a:off x="464780" y="1653691"/>
            <a:ext cx="5783625" cy="374630"/>
            <a:chOff x="369777" y="1347760"/>
            <a:chExt cx="5783625" cy="374630"/>
          </a:xfrm>
        </p:grpSpPr>
        <p:sp>
          <p:nvSpPr>
            <p:cNvPr id="32" name="TextBox 31"/>
            <p:cNvSpPr txBox="1"/>
            <p:nvPr/>
          </p:nvSpPr>
          <p:spPr>
            <a:xfrm>
              <a:off x="723710" y="1350409"/>
              <a:ext cx="5429692" cy="338554"/>
            </a:xfrm>
            <a:prstGeom prst="rect">
              <a:avLst/>
            </a:prstGeom>
            <a:noFill/>
          </p:spPr>
          <p:txBody>
            <a:bodyPr wrap="none" rtlCol="0">
              <a:spAutoFit/>
            </a:bodyPr>
            <a:lstStyle/>
            <a:p>
              <a:r>
                <a:rPr lang="zh-CN" altLang="en-US" sz="1600"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例</a:t>
              </a:r>
              <a:r>
                <a:rPr lang="en-US" altLang="zh-CN" sz="1600"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2</a:t>
              </a:r>
              <a:r>
                <a:rPr lang="zh-CN" altLang="en-US" sz="1600" b="1" dirty="0">
                  <a:solidFill>
                    <a:srgbClr val="CC00CC"/>
                  </a:solidFill>
                  <a:latin typeface="Times New Roman" panose="02020603050405020304" pitchFamily="18" charset="0"/>
                  <a:ea typeface="黑体" panose="02010609060101010101" pitchFamily="49" charset="-122"/>
                  <a:cs typeface="Times New Roman" panose="02020603050405020304" pitchFamily="18" charset="0"/>
                </a:rPr>
                <a:t>：</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试用一片</a:t>
              </a:r>
              <a:r>
                <a:rPr lang="en-US" altLang="zh-CN" sz="1600" dirty="0">
                  <a:latin typeface="Times New Roman" panose="02020603050405020304" pitchFamily="18" charset="0"/>
                  <a:ea typeface="黑体" panose="02010609060101010101" pitchFamily="49" charset="-122"/>
                  <a:cs typeface="Times New Roman" panose="02020603050405020304" pitchFamily="18" charset="0"/>
                </a:rPr>
                <a:t>74HC138</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实现真值表</a:t>
              </a:r>
              <a:r>
                <a:rPr lang="zh-CN" altLang="en-US" sz="1600" dirty="0">
                  <a:latin typeface="Times New Roman" panose="02020603050405020304" pitchFamily="18" charset="0"/>
                  <a:ea typeface="黑体" panose="02010609060101010101" pitchFamily="49" charset="-122"/>
                  <a:cs typeface="Times New Roman" panose="02020603050405020304" pitchFamily="18" charset="0"/>
                </a:rPr>
                <a:t>所示的</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逻辑函数</a:t>
              </a:r>
              <a:r>
                <a:rPr lang="en-US" altLang="zh-CN" sz="1600" i="1" dirty="0">
                  <a:latin typeface="Times New Roman" panose="02020603050405020304" pitchFamily="18" charset="0"/>
                  <a:ea typeface="黑体" panose="02010609060101010101" pitchFamily="49" charset="-122"/>
                  <a:cs typeface="Times New Roman" panose="02020603050405020304" pitchFamily="18" charset="0"/>
                </a:rPr>
                <a:t>X</a:t>
              </a:r>
              <a:r>
                <a:rPr lang="zh-CN" altLang="zh-CN" sz="1600"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i="1" dirty="0">
                  <a:latin typeface="Times New Roman" panose="02020603050405020304" pitchFamily="18" charset="0"/>
                  <a:ea typeface="黑体" panose="02010609060101010101" pitchFamily="49" charset="-122"/>
                  <a:cs typeface="Times New Roman" panose="02020603050405020304" pitchFamily="18" charset="0"/>
                </a:rPr>
                <a:t>Y</a:t>
              </a:r>
              <a:r>
                <a:rPr lang="zh-CN" altLang="zh-CN" sz="1600" kern="1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en-US" sz="1600" dirty="0">
                <a:solidFill>
                  <a:srgbClr val="6600FF"/>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34" name="Picture 4"/>
            <p:cNvPicPr>
              <a:picLocks noChangeAspect="1" noChangeArrowheads="1"/>
            </p:cNvPicPr>
            <p:nvPr/>
          </p:nvPicPr>
          <p:blipFill>
            <a:blip r:embed="rId3" cstate="print"/>
            <a:srcRect/>
            <a:stretch>
              <a:fillRect/>
            </a:stretch>
          </p:blipFill>
          <p:spPr bwMode="auto">
            <a:xfrm>
              <a:off x="369777" y="1347760"/>
              <a:ext cx="373669" cy="374630"/>
            </a:xfrm>
            <a:prstGeom prst="rect">
              <a:avLst/>
            </a:prstGeom>
            <a:noFill/>
            <a:ln w="9525">
              <a:noFill/>
              <a:miter lim="800000"/>
              <a:headEnd/>
              <a:tailEnd/>
            </a:ln>
          </p:spPr>
        </p:pic>
      </p:grpSp>
      <p:grpSp>
        <p:nvGrpSpPr>
          <p:cNvPr id="8" name="组合 34"/>
          <p:cNvGrpSpPr/>
          <p:nvPr/>
        </p:nvGrpSpPr>
        <p:grpSpPr>
          <a:xfrm>
            <a:off x="519845" y="2114392"/>
            <a:ext cx="798318" cy="354680"/>
            <a:chOff x="4330854" y="1354964"/>
            <a:chExt cx="798318" cy="354680"/>
          </a:xfrm>
        </p:grpSpPr>
        <p:sp>
          <p:nvSpPr>
            <p:cNvPr id="36" name="矩形 35"/>
            <p:cNvSpPr/>
            <p:nvPr/>
          </p:nvSpPr>
          <p:spPr>
            <a:xfrm>
              <a:off x="4633523" y="1354964"/>
              <a:ext cx="495649" cy="338554"/>
            </a:xfrm>
            <a:prstGeom prst="rect">
              <a:avLst/>
            </a:prstGeom>
          </p:spPr>
          <p:txBody>
            <a:bodyPr wrap="none">
              <a:spAutoFit/>
            </a:bodyPr>
            <a:lstStyle/>
            <a:p>
              <a:r>
                <a:rPr lang="zh-CN" altLang="en-US" sz="1600" b="1" dirty="0">
                  <a:solidFill>
                    <a:srgbClr val="CC00CC"/>
                  </a:solidFill>
                  <a:latin typeface="黑体" panose="02010609060101010101" pitchFamily="49" charset="-122"/>
                  <a:ea typeface="黑体" panose="02010609060101010101" pitchFamily="49" charset="-122"/>
                </a:rPr>
                <a:t>解</a:t>
              </a:r>
              <a:r>
                <a:rPr lang="en-US" altLang="zh-CN" sz="1600" b="1" dirty="0">
                  <a:solidFill>
                    <a:srgbClr val="CC00CC"/>
                  </a:solidFill>
                  <a:latin typeface="黑体" panose="02010609060101010101" pitchFamily="49" charset="-122"/>
                  <a:ea typeface="黑体" panose="02010609060101010101" pitchFamily="49" charset="-122"/>
                  <a:sym typeface="Wingdings" panose="05000000000000000000" pitchFamily="2" charset="2"/>
                </a:rPr>
                <a:t>:</a:t>
              </a:r>
              <a:endParaRPr lang="zh-CN" altLang="en-US" sz="1600" b="1" dirty="0">
                <a:solidFill>
                  <a:srgbClr val="CC00CC"/>
                </a:solidFill>
                <a:latin typeface="黑体" panose="02010609060101010101" pitchFamily="49" charset="-122"/>
                <a:ea typeface="黑体" panose="02010609060101010101" pitchFamily="49" charset="-122"/>
              </a:endParaRPr>
            </a:p>
          </p:txBody>
        </p:sp>
        <p:pic>
          <p:nvPicPr>
            <p:cNvPr id="37" name="Picture 5"/>
            <p:cNvPicPr>
              <a:picLocks noChangeAspect="1" noChangeArrowheads="1"/>
            </p:cNvPicPr>
            <p:nvPr/>
          </p:nvPicPr>
          <p:blipFill>
            <a:blip r:embed="rId4" cstate="print"/>
            <a:srcRect/>
            <a:stretch>
              <a:fillRect/>
            </a:stretch>
          </p:blipFill>
          <p:spPr bwMode="auto">
            <a:xfrm>
              <a:off x="4330854" y="1369617"/>
              <a:ext cx="348489" cy="340027"/>
            </a:xfrm>
            <a:prstGeom prst="rect">
              <a:avLst/>
            </a:prstGeom>
            <a:noFill/>
            <a:ln w="9525">
              <a:noFill/>
              <a:miter lim="800000"/>
              <a:headEnd/>
              <a:tailEnd/>
            </a:ln>
          </p:spPr>
        </p:pic>
      </p:grpSp>
      <p:grpSp>
        <p:nvGrpSpPr>
          <p:cNvPr id="75" name="组合 74"/>
          <p:cNvGrpSpPr/>
          <p:nvPr/>
        </p:nvGrpSpPr>
        <p:grpSpPr>
          <a:xfrm>
            <a:off x="1479503" y="2201545"/>
            <a:ext cx="1842551" cy="967616"/>
            <a:chOff x="3080084" y="2133094"/>
            <a:chExt cx="1842551" cy="967616"/>
          </a:xfrm>
        </p:grpSpPr>
        <p:sp>
          <p:nvSpPr>
            <p:cNvPr id="73" name="圆角矩形 72"/>
            <p:cNvSpPr/>
            <p:nvPr/>
          </p:nvSpPr>
          <p:spPr>
            <a:xfrm>
              <a:off x="3080084" y="2138182"/>
              <a:ext cx="1842551" cy="962528"/>
            </a:xfrm>
            <a:prstGeom prst="roundRect">
              <a:avLst>
                <a:gd name="adj" fmla="val 10329"/>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8681" name="Object 9"/>
            <p:cNvGraphicFramePr>
              <a:graphicFrameLocks noChangeAspect="1"/>
            </p:cNvGraphicFramePr>
            <p:nvPr/>
          </p:nvGraphicFramePr>
          <p:xfrm>
            <a:off x="3081084" y="2133094"/>
            <a:ext cx="1804987" cy="298450"/>
          </p:xfrm>
          <a:graphic>
            <a:graphicData uri="http://schemas.openxmlformats.org/presentationml/2006/ole">
              <mc:AlternateContent xmlns:mc="http://schemas.openxmlformats.org/markup-compatibility/2006">
                <mc:Choice xmlns:v="urn:schemas-microsoft-com:vml" Requires="v">
                  <p:oleObj spid="_x0000_s45118" name="Equation" r:id="rId5" imgW="33223200" imgH="5486400" progId="Equation.DSMT4">
                    <p:embed/>
                  </p:oleObj>
                </mc:Choice>
                <mc:Fallback>
                  <p:oleObj name="Equation" r:id="rId5" imgW="33223200" imgH="5486400" progId="Equation.DSMT4">
                    <p:embed/>
                    <p:pic>
                      <p:nvPicPr>
                        <p:cNvPr id="0" name="Object 9"/>
                        <p:cNvPicPr>
                          <a:picLocks noChangeAspect="1" noChangeArrowheads="1"/>
                        </p:cNvPicPr>
                        <p:nvPr/>
                      </p:nvPicPr>
                      <p:blipFill>
                        <a:blip r:embed="rId6"/>
                        <a:srcRect/>
                        <a:stretch>
                          <a:fillRect/>
                        </a:stretch>
                      </p:blipFill>
                      <p:spPr bwMode="auto">
                        <a:xfrm>
                          <a:off x="3081084" y="2133094"/>
                          <a:ext cx="1804987"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8684" name="Object 12"/>
          <p:cNvGraphicFramePr>
            <a:graphicFrameLocks noChangeAspect="1"/>
          </p:cNvGraphicFramePr>
          <p:nvPr/>
        </p:nvGraphicFramePr>
        <p:xfrm>
          <a:off x="1704251" y="2462861"/>
          <a:ext cx="1367971" cy="341627"/>
        </p:xfrm>
        <a:graphic>
          <a:graphicData uri="http://schemas.openxmlformats.org/presentationml/2006/ole">
            <mc:AlternateContent xmlns:mc="http://schemas.openxmlformats.org/markup-compatibility/2006">
              <mc:Choice xmlns:v="urn:schemas-microsoft-com:vml" Requires="v">
                <p:oleObj spid="_x0000_s45119" name="Equation" r:id="rId7" imgW="1015365" imgH="254000" progId="Equation.DSMT4">
                  <p:embed/>
                </p:oleObj>
              </mc:Choice>
              <mc:Fallback>
                <p:oleObj name="Equation" r:id="rId7" imgW="1015365" imgH="254000" progId="Equation.DSMT4">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04251" y="2462861"/>
                        <a:ext cx="1367971" cy="341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8685" name="Object 13"/>
          <p:cNvGraphicFramePr>
            <a:graphicFrameLocks noChangeAspect="1"/>
          </p:cNvGraphicFramePr>
          <p:nvPr/>
        </p:nvGraphicFramePr>
        <p:xfrm>
          <a:off x="1704251" y="2835349"/>
          <a:ext cx="1087438" cy="327025"/>
        </p:xfrm>
        <a:graphic>
          <a:graphicData uri="http://schemas.openxmlformats.org/presentationml/2006/ole">
            <mc:AlternateContent xmlns:mc="http://schemas.openxmlformats.org/markup-compatibility/2006">
              <mc:Choice xmlns:v="urn:schemas-microsoft-com:vml" Requires="v">
                <p:oleObj spid="_x0000_s45120" name="Equation" r:id="rId9" imgW="888365" imgH="266700" progId="Equation.DSMT4">
                  <p:embed/>
                </p:oleObj>
              </mc:Choice>
              <mc:Fallback>
                <p:oleObj name="Equation" r:id="rId9" imgW="888365" imgH="266700" progId="Equation.DSMT4">
                  <p:embed/>
                  <p:pic>
                    <p:nvPicPr>
                      <p:cNvPr id="0" name="Object 1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04251" y="2835349"/>
                        <a:ext cx="1087438"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6" name="组合 75"/>
          <p:cNvGrpSpPr/>
          <p:nvPr/>
        </p:nvGrpSpPr>
        <p:grpSpPr>
          <a:xfrm>
            <a:off x="1473774" y="3214688"/>
            <a:ext cx="1842551" cy="930749"/>
            <a:chOff x="3074355" y="3146237"/>
            <a:chExt cx="1842551" cy="930749"/>
          </a:xfrm>
        </p:grpSpPr>
        <p:sp>
          <p:nvSpPr>
            <p:cNvPr id="74" name="圆角矩形 73"/>
            <p:cNvSpPr/>
            <p:nvPr/>
          </p:nvSpPr>
          <p:spPr>
            <a:xfrm>
              <a:off x="3074355" y="3184356"/>
              <a:ext cx="1842551" cy="892630"/>
            </a:xfrm>
            <a:prstGeom prst="roundRect">
              <a:avLst>
                <a:gd name="adj" fmla="val 10329"/>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9713" name="Object 9"/>
            <p:cNvGraphicFramePr>
              <a:graphicFrameLocks noChangeAspect="1"/>
            </p:cNvGraphicFramePr>
            <p:nvPr/>
          </p:nvGraphicFramePr>
          <p:xfrm>
            <a:off x="3122359" y="3146237"/>
            <a:ext cx="1754187" cy="298450"/>
          </p:xfrm>
          <a:graphic>
            <a:graphicData uri="http://schemas.openxmlformats.org/presentationml/2006/ole">
              <mc:AlternateContent xmlns:mc="http://schemas.openxmlformats.org/markup-compatibility/2006">
                <mc:Choice xmlns:v="urn:schemas-microsoft-com:vml" Requires="v">
                  <p:oleObj spid="_x0000_s45121" name="Equation" r:id="rId11" imgW="32308800" imgH="5486400" progId="Equation.DSMT4">
                    <p:embed/>
                  </p:oleObj>
                </mc:Choice>
                <mc:Fallback>
                  <p:oleObj name="Equation" r:id="rId11" imgW="32308800" imgH="5486400" progId="Equation.DSMT4">
                    <p:embed/>
                    <p:pic>
                      <p:nvPicPr>
                        <p:cNvPr id="0" name="Object 9"/>
                        <p:cNvPicPr>
                          <a:picLocks noChangeAspect="1" noChangeArrowheads="1"/>
                        </p:cNvPicPr>
                        <p:nvPr/>
                      </p:nvPicPr>
                      <p:blipFill>
                        <a:blip r:embed="rId12"/>
                        <a:srcRect/>
                        <a:stretch>
                          <a:fillRect/>
                        </a:stretch>
                      </p:blipFill>
                      <p:spPr bwMode="auto">
                        <a:xfrm>
                          <a:off x="3122359" y="3146237"/>
                          <a:ext cx="1754187" cy="29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9714" name="Object 12"/>
          <p:cNvGraphicFramePr>
            <a:graphicFrameLocks noChangeAspect="1"/>
          </p:cNvGraphicFramePr>
          <p:nvPr/>
        </p:nvGraphicFramePr>
        <p:xfrm>
          <a:off x="1704251" y="3498682"/>
          <a:ext cx="1385490" cy="341627"/>
        </p:xfrm>
        <a:graphic>
          <a:graphicData uri="http://schemas.openxmlformats.org/presentationml/2006/ole">
            <mc:AlternateContent xmlns:mc="http://schemas.openxmlformats.org/markup-compatibility/2006">
              <mc:Choice xmlns:v="urn:schemas-microsoft-com:vml" Requires="v">
                <p:oleObj spid="_x0000_s45122" name="Equation" r:id="rId13" imgW="1028065" imgH="254000" progId="Equation.DSMT4">
                  <p:embed/>
                </p:oleObj>
              </mc:Choice>
              <mc:Fallback>
                <p:oleObj name="Equation" r:id="rId13" imgW="1028065" imgH="254000" progId="Equation.DSMT4">
                  <p:embed/>
                  <p:pic>
                    <p:nvPicPr>
                      <p:cNvPr id="0" name="Object 1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04251" y="3498682"/>
                        <a:ext cx="1385490" cy="341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9715" name="Object 13"/>
          <p:cNvGraphicFramePr>
            <a:graphicFrameLocks noChangeAspect="1"/>
          </p:cNvGraphicFramePr>
          <p:nvPr/>
        </p:nvGraphicFramePr>
        <p:xfrm>
          <a:off x="1704251" y="3825553"/>
          <a:ext cx="1087438" cy="327025"/>
        </p:xfrm>
        <a:graphic>
          <a:graphicData uri="http://schemas.openxmlformats.org/presentationml/2006/ole">
            <mc:AlternateContent xmlns:mc="http://schemas.openxmlformats.org/markup-compatibility/2006">
              <mc:Choice xmlns:v="urn:schemas-microsoft-com:vml" Requires="v">
                <p:oleObj spid="_x0000_s45123" name="Equation" r:id="rId15" imgW="888365" imgH="266700" progId="Equation.DSMT4">
                  <p:embed/>
                </p:oleObj>
              </mc:Choice>
              <mc:Fallback>
                <p:oleObj name="Equation" r:id="rId15" imgW="888365" imgH="266700" progId="Equation.DSMT4">
                  <p:embed/>
                  <p:pic>
                    <p:nvPicPr>
                      <p:cNvPr id="0" name="Object 13"/>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04251" y="3825553"/>
                        <a:ext cx="1087438" cy="327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 name="圆角矩形 37"/>
          <p:cNvSpPr/>
          <p:nvPr/>
        </p:nvSpPr>
        <p:spPr>
          <a:xfrm>
            <a:off x="3774144" y="3248744"/>
            <a:ext cx="755551" cy="766996"/>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a:off x="5889128" y="2499996"/>
            <a:ext cx="868149" cy="698426"/>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圆角矩形 42"/>
          <p:cNvSpPr/>
          <p:nvPr/>
        </p:nvSpPr>
        <p:spPr>
          <a:xfrm>
            <a:off x="3774144" y="2409374"/>
            <a:ext cx="755551" cy="689263"/>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圆角矩形 45"/>
          <p:cNvSpPr/>
          <p:nvPr/>
        </p:nvSpPr>
        <p:spPr>
          <a:xfrm>
            <a:off x="5889128" y="3389092"/>
            <a:ext cx="868149" cy="626647"/>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1" name="组合 50"/>
          <p:cNvGrpSpPr/>
          <p:nvPr/>
        </p:nvGrpSpPr>
        <p:grpSpPr>
          <a:xfrm>
            <a:off x="509024" y="4241477"/>
            <a:ext cx="7933703" cy="440011"/>
            <a:chOff x="4036977" y="2760806"/>
            <a:chExt cx="7690613" cy="440011"/>
          </a:xfrm>
        </p:grpSpPr>
        <p:sp>
          <p:nvSpPr>
            <p:cNvPr id="52" name="圆角矩形 51"/>
            <p:cNvSpPr/>
            <p:nvPr/>
          </p:nvSpPr>
          <p:spPr>
            <a:xfrm>
              <a:off x="4203058" y="2855438"/>
              <a:ext cx="7524532" cy="345379"/>
            </a:xfrm>
            <a:prstGeom prst="roundRect">
              <a:avLst>
                <a:gd name="adj" fmla="val 4386"/>
              </a:avLst>
            </a:prstGeom>
            <a:solidFill>
              <a:schemeClr val="bg1"/>
            </a:solidFill>
            <a:ln w="28575">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8900"/>
              <a:r>
                <a:rPr lang="zh-CN" altLang="en-US" sz="1600" dirty="0">
                  <a:solidFill>
                    <a:schemeClr val="tx1"/>
                  </a:solidFill>
                  <a:latin typeface="微软雅黑" panose="020B0503020204020204" pitchFamily="34" charset="-122"/>
                  <a:ea typeface="微软雅黑" panose="020B0503020204020204" pitchFamily="34" charset="-122"/>
                </a:rPr>
                <a:t> 利用集成电路译码器可以方便地实现一个多输入、多输出的组合逻辑电路。</a:t>
              </a:r>
              <a:endParaRPr lang="zh-CN" altLang="en-US" sz="1600" dirty="0">
                <a:solidFill>
                  <a:schemeClr val="tx1"/>
                </a:solidFill>
                <a:latin typeface="微软雅黑" panose="020B0503020204020204" pitchFamily="34" charset="-122"/>
                <a:ea typeface="微软雅黑" panose="020B0503020204020204" pitchFamily="34" charset="-122"/>
              </a:endParaRPr>
            </a:p>
          </p:txBody>
        </p:sp>
        <p:pic>
          <p:nvPicPr>
            <p:cNvPr id="53" name="Picture 32"/>
            <p:cNvPicPr>
              <a:picLocks noChangeAspect="1" noChangeArrowheads="1"/>
            </p:cNvPicPr>
            <p:nvPr/>
          </p:nvPicPr>
          <p:blipFill>
            <a:blip r:embed="rId17" cstate="print"/>
            <a:srcRect/>
            <a:stretch>
              <a:fillRect/>
            </a:stretch>
          </p:blipFill>
          <p:spPr bwMode="auto">
            <a:xfrm>
              <a:off x="4036977" y="2760806"/>
              <a:ext cx="330472" cy="354408"/>
            </a:xfrm>
            <a:prstGeom prst="rect">
              <a:avLst/>
            </a:prstGeom>
            <a:noFill/>
            <a:ln w="9525">
              <a:noFill/>
              <a:miter lim="800000"/>
              <a:headEnd/>
              <a:tailEnd/>
            </a:ln>
          </p:spPr>
        </p:pic>
      </p:grpSp>
      <p:grpSp>
        <p:nvGrpSpPr>
          <p:cNvPr id="60" name="组合 59"/>
          <p:cNvGrpSpPr/>
          <p:nvPr/>
        </p:nvGrpSpPr>
        <p:grpSpPr>
          <a:xfrm>
            <a:off x="547252" y="4832929"/>
            <a:ext cx="8076529" cy="400110"/>
            <a:chOff x="333376" y="753478"/>
            <a:chExt cx="8076529" cy="400110"/>
          </a:xfrm>
        </p:grpSpPr>
        <p:sp>
          <p:nvSpPr>
            <p:cNvPr id="61" name="矩形 60"/>
            <p:cNvSpPr/>
            <p:nvPr/>
          </p:nvSpPr>
          <p:spPr>
            <a:xfrm>
              <a:off x="684713" y="753478"/>
              <a:ext cx="7725192" cy="400110"/>
            </a:xfrm>
            <a:prstGeom prst="rect">
              <a:avLst/>
            </a:prstGeom>
          </p:spPr>
          <p:txBody>
            <a:bodyPr wrap="none">
              <a:spAutoFit/>
            </a:bodyPr>
            <a:lstStyle/>
            <a:p>
              <a:r>
                <a:rPr lang="zh-CN" altLang="en-US" sz="2000" b="1" dirty="0">
                  <a:solidFill>
                    <a:srgbClr val="FF00FF"/>
                  </a:solidFill>
                  <a:latin typeface="微软雅黑" panose="020B0503020204020204" pitchFamily="34" charset="-122"/>
                  <a:ea typeface="微软雅黑" panose="020B0503020204020204" pitchFamily="34" charset="-122"/>
                </a:rPr>
                <a:t>问题：</a:t>
              </a:r>
              <a:r>
                <a:rPr lang="zh-CN" altLang="en-US" sz="1600" b="1" dirty="0">
                  <a:solidFill>
                    <a:srgbClr val="002060"/>
                  </a:solidFill>
                  <a:latin typeface="微软雅黑" panose="020B0503020204020204" pitchFamily="34" charset="-122"/>
                  <a:ea typeface="微软雅黑" panose="020B0503020204020204" pitchFamily="34" charset="-122"/>
                </a:rPr>
                <a:t>如何用译码器实现一个变量数少于或超过译码器地址数的组合逻辑函数？</a:t>
              </a:r>
              <a:endParaRPr lang="zh-CN" altLang="en-US" sz="1600" b="1" dirty="0">
                <a:solidFill>
                  <a:srgbClr val="002060"/>
                </a:solidFill>
                <a:latin typeface="微软雅黑" panose="020B0503020204020204" pitchFamily="34" charset="-122"/>
                <a:ea typeface="微软雅黑" panose="020B0503020204020204" pitchFamily="34" charset="-122"/>
              </a:endParaRPr>
            </a:p>
          </p:txBody>
        </p:sp>
        <p:pic>
          <p:nvPicPr>
            <p:cNvPr id="62" name="Picture 6" descr="http://img2.imgtn.bdimg.com/it/u=2409490321,577685329&amp;fm=200&amp;gp=0.jpg"/>
            <p:cNvPicPr>
              <a:picLocks noChangeAspect="1" noChangeArrowheads="1"/>
            </p:cNvPicPr>
            <p:nvPr/>
          </p:nvPicPr>
          <p:blipFill>
            <a:blip r:embed="rId18" cstate="print"/>
            <a:srcRect l="11058" t="9628" r="11439" b="12583"/>
            <a:stretch>
              <a:fillRect/>
            </a:stretch>
          </p:blipFill>
          <p:spPr bwMode="auto">
            <a:xfrm>
              <a:off x="333376" y="770119"/>
              <a:ext cx="381000" cy="382406"/>
            </a:xfrm>
            <a:prstGeom prst="rect">
              <a:avLst/>
            </a:prstGeom>
            <a:noFill/>
          </p:spPr>
        </p:pic>
      </p:grpSp>
      <p:pic>
        <p:nvPicPr>
          <p:cNvPr id="10" name="图片 9"/>
          <p:cNvPicPr>
            <a:picLocks noChangeAspect="1"/>
          </p:cNvPicPr>
          <p:nvPr/>
        </p:nvPicPr>
        <p:blipFill>
          <a:blip r:embed="rId19"/>
          <a:stretch>
            <a:fillRect/>
          </a:stretch>
        </p:blipFill>
        <p:spPr>
          <a:xfrm>
            <a:off x="6602338" y="675893"/>
            <a:ext cx="2269671" cy="1755976"/>
          </a:xfrm>
          <a:prstGeom prst="rect">
            <a:avLst/>
          </a:prstGeom>
        </p:spPr>
      </p:pic>
    </p:spTree>
  </p:cSld>
  <p:clrMapOvr>
    <a:masterClrMapping/>
  </p:clrMapOvr>
  <p:transition spd="slow">
    <p:push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5"/>
                                        </p:tgtEl>
                                        <p:attrNameLst>
                                          <p:attrName>style.visibility</p:attrName>
                                        </p:attrNameLst>
                                      </p:cBhvr>
                                      <p:to>
                                        <p:strVal val="visible"/>
                                      </p:to>
                                    </p:set>
                                    <p:animEffect transition="in" filter="fade">
                                      <p:cBhvr>
                                        <p:cTn id="7" dur="1000"/>
                                        <p:tgtEl>
                                          <p:spTgt spid="75"/>
                                        </p:tgtEl>
                                      </p:cBhvr>
                                    </p:animEffect>
                                    <p:anim calcmode="lin" valueType="num">
                                      <p:cBhvr>
                                        <p:cTn id="8" dur="1000" fill="hold"/>
                                        <p:tgtEl>
                                          <p:spTgt spid="75"/>
                                        </p:tgtEl>
                                        <p:attrNameLst>
                                          <p:attrName>ppt_x</p:attrName>
                                        </p:attrNameLst>
                                      </p:cBhvr>
                                      <p:tavLst>
                                        <p:tav tm="0">
                                          <p:val>
                                            <p:strVal val="#ppt_x"/>
                                          </p:val>
                                        </p:tav>
                                        <p:tav tm="100000">
                                          <p:val>
                                            <p:strVal val="#ppt_x"/>
                                          </p:val>
                                        </p:tav>
                                      </p:tavLst>
                                    </p:anim>
                                    <p:anim calcmode="lin" valueType="num">
                                      <p:cBhvr>
                                        <p:cTn id="9" dur="1000" fill="hold"/>
                                        <p:tgtEl>
                                          <p:spTgt spid="7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76"/>
                                        </p:tgtEl>
                                        <p:attrNameLst>
                                          <p:attrName>style.visibility</p:attrName>
                                        </p:attrNameLst>
                                      </p:cBhvr>
                                      <p:to>
                                        <p:strVal val="visible"/>
                                      </p:to>
                                    </p:set>
                                    <p:animEffect transition="in" filter="fade">
                                      <p:cBhvr>
                                        <p:cTn id="13" dur="1000"/>
                                        <p:tgtEl>
                                          <p:spTgt spid="76"/>
                                        </p:tgtEl>
                                      </p:cBhvr>
                                    </p:animEffect>
                                    <p:anim calcmode="lin" valueType="num">
                                      <p:cBhvr>
                                        <p:cTn id="14" dur="1000" fill="hold"/>
                                        <p:tgtEl>
                                          <p:spTgt spid="76"/>
                                        </p:tgtEl>
                                        <p:attrNameLst>
                                          <p:attrName>ppt_x</p:attrName>
                                        </p:attrNameLst>
                                      </p:cBhvr>
                                      <p:tavLst>
                                        <p:tav tm="0">
                                          <p:val>
                                            <p:strVal val="#ppt_x"/>
                                          </p:val>
                                        </p:tav>
                                        <p:tav tm="100000">
                                          <p:val>
                                            <p:strVal val="#ppt_x"/>
                                          </p:val>
                                        </p:tav>
                                      </p:tavLst>
                                    </p:anim>
                                    <p:anim calcmode="lin" valueType="num">
                                      <p:cBhvr>
                                        <p:cTn id="15" dur="1000" fill="hold"/>
                                        <p:tgtEl>
                                          <p:spTgt spid="76"/>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28684"/>
                                        </p:tgtEl>
                                        <p:attrNameLst>
                                          <p:attrName>style.visibility</p:attrName>
                                        </p:attrNameLst>
                                      </p:cBhvr>
                                      <p:to>
                                        <p:strVal val="visible"/>
                                      </p:to>
                                    </p:set>
                                    <p:animEffect transition="in" filter="fade">
                                      <p:cBhvr>
                                        <p:cTn id="20" dur="1000"/>
                                        <p:tgtEl>
                                          <p:spTgt spid="28684"/>
                                        </p:tgtEl>
                                      </p:cBhvr>
                                    </p:animEffect>
                                    <p:anim calcmode="lin" valueType="num">
                                      <p:cBhvr>
                                        <p:cTn id="21" dur="1000" fill="hold"/>
                                        <p:tgtEl>
                                          <p:spTgt spid="28684"/>
                                        </p:tgtEl>
                                        <p:attrNameLst>
                                          <p:attrName>ppt_x</p:attrName>
                                        </p:attrNameLst>
                                      </p:cBhvr>
                                      <p:tavLst>
                                        <p:tav tm="0">
                                          <p:val>
                                            <p:strVal val="#ppt_x"/>
                                          </p:val>
                                        </p:tav>
                                        <p:tav tm="100000">
                                          <p:val>
                                            <p:strVal val="#ppt_x"/>
                                          </p:val>
                                        </p:tav>
                                      </p:tavLst>
                                    </p:anim>
                                    <p:anim calcmode="lin" valueType="num">
                                      <p:cBhvr>
                                        <p:cTn id="22" dur="1000" fill="hold"/>
                                        <p:tgtEl>
                                          <p:spTgt spid="28684"/>
                                        </p:tgtEl>
                                        <p:attrNameLst>
                                          <p:attrName>ppt_y</p:attrName>
                                        </p:attrNameLst>
                                      </p:cBhvr>
                                      <p:tavLst>
                                        <p:tav tm="0">
                                          <p:val>
                                            <p:strVal val="#ppt_y+.1"/>
                                          </p:val>
                                        </p:tav>
                                        <p:tav tm="100000">
                                          <p:val>
                                            <p:strVal val="#ppt_y"/>
                                          </p:val>
                                        </p:tav>
                                      </p:tavLst>
                                    </p:anim>
                                  </p:childTnLst>
                                </p:cTn>
                              </p:par>
                            </p:childTnLst>
                          </p:cTn>
                        </p:par>
                        <p:par>
                          <p:cTn id="23" fill="hold">
                            <p:stCondLst>
                              <p:cond delay="1000"/>
                            </p:stCondLst>
                            <p:childTnLst>
                              <p:par>
                                <p:cTn id="24" presetID="42" presetClass="entr" presetSubtype="0" fill="hold" nodeType="afterEffect">
                                  <p:stCondLst>
                                    <p:cond delay="0"/>
                                  </p:stCondLst>
                                  <p:childTnLst>
                                    <p:set>
                                      <p:cBhvr>
                                        <p:cTn id="25" dur="1" fill="hold">
                                          <p:stCondLst>
                                            <p:cond delay="0"/>
                                          </p:stCondLst>
                                        </p:cTn>
                                        <p:tgtEl>
                                          <p:spTgt spid="28685"/>
                                        </p:tgtEl>
                                        <p:attrNameLst>
                                          <p:attrName>style.visibility</p:attrName>
                                        </p:attrNameLst>
                                      </p:cBhvr>
                                      <p:to>
                                        <p:strVal val="visible"/>
                                      </p:to>
                                    </p:set>
                                    <p:animEffect transition="in" filter="fade">
                                      <p:cBhvr>
                                        <p:cTn id="26" dur="1000"/>
                                        <p:tgtEl>
                                          <p:spTgt spid="28685"/>
                                        </p:tgtEl>
                                      </p:cBhvr>
                                    </p:animEffect>
                                    <p:anim calcmode="lin" valueType="num">
                                      <p:cBhvr>
                                        <p:cTn id="27" dur="1000" fill="hold"/>
                                        <p:tgtEl>
                                          <p:spTgt spid="28685"/>
                                        </p:tgtEl>
                                        <p:attrNameLst>
                                          <p:attrName>ppt_x</p:attrName>
                                        </p:attrNameLst>
                                      </p:cBhvr>
                                      <p:tavLst>
                                        <p:tav tm="0">
                                          <p:val>
                                            <p:strVal val="#ppt_x"/>
                                          </p:val>
                                        </p:tav>
                                        <p:tav tm="100000">
                                          <p:val>
                                            <p:strVal val="#ppt_x"/>
                                          </p:val>
                                        </p:tav>
                                      </p:tavLst>
                                    </p:anim>
                                    <p:anim calcmode="lin" valueType="num">
                                      <p:cBhvr>
                                        <p:cTn id="28" dur="1000" fill="hold"/>
                                        <p:tgtEl>
                                          <p:spTgt spid="2868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29714"/>
                                        </p:tgtEl>
                                        <p:attrNameLst>
                                          <p:attrName>style.visibility</p:attrName>
                                        </p:attrNameLst>
                                      </p:cBhvr>
                                      <p:to>
                                        <p:strVal val="visible"/>
                                      </p:to>
                                    </p:set>
                                    <p:animEffect transition="in" filter="fade">
                                      <p:cBhvr>
                                        <p:cTn id="33" dur="1000"/>
                                        <p:tgtEl>
                                          <p:spTgt spid="29714"/>
                                        </p:tgtEl>
                                      </p:cBhvr>
                                    </p:animEffect>
                                    <p:anim calcmode="lin" valueType="num">
                                      <p:cBhvr>
                                        <p:cTn id="34" dur="1000" fill="hold"/>
                                        <p:tgtEl>
                                          <p:spTgt spid="29714"/>
                                        </p:tgtEl>
                                        <p:attrNameLst>
                                          <p:attrName>ppt_x</p:attrName>
                                        </p:attrNameLst>
                                      </p:cBhvr>
                                      <p:tavLst>
                                        <p:tav tm="0">
                                          <p:val>
                                            <p:strVal val="#ppt_x"/>
                                          </p:val>
                                        </p:tav>
                                        <p:tav tm="100000">
                                          <p:val>
                                            <p:strVal val="#ppt_x"/>
                                          </p:val>
                                        </p:tav>
                                      </p:tavLst>
                                    </p:anim>
                                    <p:anim calcmode="lin" valueType="num">
                                      <p:cBhvr>
                                        <p:cTn id="35" dur="1000" fill="hold"/>
                                        <p:tgtEl>
                                          <p:spTgt spid="29714"/>
                                        </p:tgtEl>
                                        <p:attrNameLst>
                                          <p:attrName>ppt_y</p:attrName>
                                        </p:attrNameLst>
                                      </p:cBhvr>
                                      <p:tavLst>
                                        <p:tav tm="0">
                                          <p:val>
                                            <p:strVal val="#ppt_y+.1"/>
                                          </p:val>
                                        </p:tav>
                                        <p:tav tm="100000">
                                          <p:val>
                                            <p:strVal val="#ppt_y"/>
                                          </p:val>
                                        </p:tav>
                                      </p:tavLst>
                                    </p:anim>
                                  </p:childTnLst>
                                </p:cTn>
                              </p:par>
                            </p:childTnLst>
                          </p:cTn>
                        </p:par>
                        <p:par>
                          <p:cTn id="36" fill="hold">
                            <p:stCondLst>
                              <p:cond delay="1000"/>
                            </p:stCondLst>
                            <p:childTnLst>
                              <p:par>
                                <p:cTn id="37" presetID="42" presetClass="entr" presetSubtype="0" fill="hold" nodeType="afterEffect">
                                  <p:stCondLst>
                                    <p:cond delay="0"/>
                                  </p:stCondLst>
                                  <p:childTnLst>
                                    <p:set>
                                      <p:cBhvr>
                                        <p:cTn id="38" dur="1" fill="hold">
                                          <p:stCondLst>
                                            <p:cond delay="0"/>
                                          </p:stCondLst>
                                        </p:cTn>
                                        <p:tgtEl>
                                          <p:spTgt spid="29715"/>
                                        </p:tgtEl>
                                        <p:attrNameLst>
                                          <p:attrName>style.visibility</p:attrName>
                                        </p:attrNameLst>
                                      </p:cBhvr>
                                      <p:to>
                                        <p:strVal val="visible"/>
                                      </p:to>
                                    </p:set>
                                    <p:animEffect transition="in" filter="fade">
                                      <p:cBhvr>
                                        <p:cTn id="39" dur="1000"/>
                                        <p:tgtEl>
                                          <p:spTgt spid="29715"/>
                                        </p:tgtEl>
                                      </p:cBhvr>
                                    </p:animEffect>
                                    <p:anim calcmode="lin" valueType="num">
                                      <p:cBhvr>
                                        <p:cTn id="40" dur="1000" fill="hold"/>
                                        <p:tgtEl>
                                          <p:spTgt spid="29715"/>
                                        </p:tgtEl>
                                        <p:attrNameLst>
                                          <p:attrName>ppt_x</p:attrName>
                                        </p:attrNameLst>
                                      </p:cBhvr>
                                      <p:tavLst>
                                        <p:tav tm="0">
                                          <p:val>
                                            <p:strVal val="#ppt_x"/>
                                          </p:val>
                                        </p:tav>
                                        <p:tav tm="100000">
                                          <p:val>
                                            <p:strVal val="#ppt_x"/>
                                          </p:val>
                                        </p:tav>
                                      </p:tavLst>
                                    </p:anim>
                                    <p:anim calcmode="lin" valueType="num">
                                      <p:cBhvr>
                                        <p:cTn id="41" dur="1000" fill="hold"/>
                                        <p:tgtEl>
                                          <p:spTgt spid="29715"/>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1000"/>
                                        <p:tgtEl>
                                          <p:spTgt spid="12"/>
                                        </p:tgtEl>
                                      </p:cBhvr>
                                    </p:animEffect>
                                    <p:anim calcmode="lin" valueType="num">
                                      <p:cBhvr>
                                        <p:cTn id="47" dur="1000" fill="hold"/>
                                        <p:tgtEl>
                                          <p:spTgt spid="12"/>
                                        </p:tgtEl>
                                        <p:attrNameLst>
                                          <p:attrName>ppt_x</p:attrName>
                                        </p:attrNameLst>
                                      </p:cBhvr>
                                      <p:tavLst>
                                        <p:tav tm="0">
                                          <p:val>
                                            <p:strVal val="#ppt_x"/>
                                          </p:val>
                                        </p:tav>
                                        <p:tav tm="100000">
                                          <p:val>
                                            <p:strVal val="#ppt_x"/>
                                          </p:val>
                                        </p:tav>
                                      </p:tavLst>
                                    </p:anim>
                                    <p:anim calcmode="lin" valueType="num">
                                      <p:cBhvr>
                                        <p:cTn id="48"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43"/>
                                        </p:tgtEl>
                                        <p:attrNameLst>
                                          <p:attrName>style.visibility</p:attrName>
                                        </p:attrNameLst>
                                      </p:cBhvr>
                                      <p:to>
                                        <p:strVal val="visible"/>
                                      </p:to>
                                    </p:set>
                                    <p:animEffect transition="in" filter="wipe(left)">
                                      <p:cBhvr>
                                        <p:cTn id="53" dur="1000"/>
                                        <p:tgtEl>
                                          <p:spTgt spid="43"/>
                                        </p:tgtEl>
                                      </p:cBhvr>
                                    </p:animEffect>
                                  </p:childTnLst>
                                </p:cTn>
                              </p:par>
                            </p:childTnLst>
                          </p:cTn>
                        </p:par>
                        <p:par>
                          <p:cTn id="54" fill="hold">
                            <p:stCondLst>
                              <p:cond delay="1000"/>
                            </p:stCondLst>
                            <p:childTnLst>
                              <p:par>
                                <p:cTn id="55" presetID="22" presetClass="entr" presetSubtype="8" fill="hold" grpId="0" nodeType="after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wipe(left)">
                                      <p:cBhvr>
                                        <p:cTn id="57" dur="1000"/>
                                        <p:tgtEl>
                                          <p:spTgt spid="40"/>
                                        </p:tgtEl>
                                      </p:cBhvr>
                                    </p:animEffect>
                                  </p:childTnLst>
                                </p:cTn>
                              </p:par>
                            </p:childTnLst>
                          </p:cTn>
                        </p:par>
                        <p:par>
                          <p:cTn id="58" fill="hold">
                            <p:stCondLst>
                              <p:cond delay="2000"/>
                            </p:stCondLst>
                            <p:childTnLst>
                              <p:par>
                                <p:cTn id="59" presetID="22" presetClass="entr" presetSubtype="8" fill="hold" grpId="0" nodeType="afterEffect">
                                  <p:stCondLst>
                                    <p:cond delay="0"/>
                                  </p:stCondLst>
                                  <p:childTnLst>
                                    <p:set>
                                      <p:cBhvr>
                                        <p:cTn id="60" dur="1" fill="hold">
                                          <p:stCondLst>
                                            <p:cond delay="0"/>
                                          </p:stCondLst>
                                        </p:cTn>
                                        <p:tgtEl>
                                          <p:spTgt spid="46"/>
                                        </p:tgtEl>
                                        <p:attrNameLst>
                                          <p:attrName>style.visibility</p:attrName>
                                        </p:attrNameLst>
                                      </p:cBhvr>
                                      <p:to>
                                        <p:strVal val="visible"/>
                                      </p:to>
                                    </p:set>
                                    <p:animEffect transition="in" filter="wipe(left)">
                                      <p:cBhvr>
                                        <p:cTn id="61" dur="1000"/>
                                        <p:tgtEl>
                                          <p:spTgt spid="46"/>
                                        </p:tgtEl>
                                      </p:cBhvr>
                                    </p:animEffect>
                                  </p:childTnLst>
                                </p:cTn>
                              </p:par>
                            </p:childTnLst>
                          </p:cTn>
                        </p:par>
                        <p:par>
                          <p:cTn id="62" fill="hold">
                            <p:stCondLst>
                              <p:cond delay="3000"/>
                            </p:stCondLst>
                            <p:childTnLst>
                              <p:par>
                                <p:cTn id="63" presetID="22" presetClass="entr" presetSubtype="2" fill="hold" grpId="0" nodeType="afterEffect">
                                  <p:stCondLst>
                                    <p:cond delay="0"/>
                                  </p:stCondLst>
                                  <p:childTnLst>
                                    <p:set>
                                      <p:cBhvr>
                                        <p:cTn id="64" dur="1" fill="hold">
                                          <p:stCondLst>
                                            <p:cond delay="0"/>
                                          </p:stCondLst>
                                        </p:cTn>
                                        <p:tgtEl>
                                          <p:spTgt spid="38"/>
                                        </p:tgtEl>
                                        <p:attrNameLst>
                                          <p:attrName>style.visibility</p:attrName>
                                        </p:attrNameLst>
                                      </p:cBhvr>
                                      <p:to>
                                        <p:strVal val="visible"/>
                                      </p:to>
                                    </p:set>
                                    <p:animEffect transition="in" filter="wipe(right)">
                                      <p:cBhvr>
                                        <p:cTn id="65" dur="1000"/>
                                        <p:tgtEl>
                                          <p:spTgt spid="38"/>
                                        </p:tgtEl>
                                      </p:cBhvr>
                                    </p:animEffect>
                                  </p:childTnLst>
                                </p:cTn>
                              </p:par>
                            </p:childTnLst>
                          </p:cTn>
                        </p:par>
                      </p:childTnLst>
                    </p:cTn>
                  </p:par>
                  <p:par>
                    <p:cTn id="66" fill="hold">
                      <p:stCondLst>
                        <p:cond delay="indefinite"/>
                      </p:stCondLst>
                      <p:childTnLst>
                        <p:par>
                          <p:cTn id="67" fill="hold">
                            <p:stCondLst>
                              <p:cond delay="0"/>
                            </p:stCondLst>
                            <p:childTnLst>
                              <p:par>
                                <p:cTn id="68" presetID="12" presetClass="entr" presetSubtype="4" fill="hold" nodeType="clickEffect">
                                  <p:stCondLst>
                                    <p:cond delay="0"/>
                                  </p:stCondLst>
                                  <p:childTnLst>
                                    <p:set>
                                      <p:cBhvr>
                                        <p:cTn id="69" dur="1" fill="hold">
                                          <p:stCondLst>
                                            <p:cond delay="0"/>
                                          </p:stCondLst>
                                        </p:cTn>
                                        <p:tgtEl>
                                          <p:spTgt spid="51"/>
                                        </p:tgtEl>
                                        <p:attrNameLst>
                                          <p:attrName>style.visibility</p:attrName>
                                        </p:attrNameLst>
                                      </p:cBhvr>
                                      <p:to>
                                        <p:strVal val="visible"/>
                                      </p:to>
                                    </p:set>
                                    <p:animEffect transition="in" filter="slide(fromBottom)">
                                      <p:cBhvr>
                                        <p:cTn id="70" dur="1000"/>
                                        <p:tgtEl>
                                          <p:spTgt spid="51"/>
                                        </p:tgtEl>
                                      </p:cBhvr>
                                    </p:animEffect>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60"/>
                                        </p:tgtEl>
                                        <p:attrNameLst>
                                          <p:attrName>style.visibility</p:attrName>
                                        </p:attrNameLst>
                                      </p:cBhvr>
                                      <p:to>
                                        <p:strVal val="visible"/>
                                      </p:to>
                                    </p:set>
                                    <p:animEffect transition="in" filter="fade">
                                      <p:cBhvr>
                                        <p:cTn id="75" dur="1000"/>
                                        <p:tgtEl>
                                          <p:spTgt spid="60"/>
                                        </p:tgtEl>
                                      </p:cBhvr>
                                    </p:animEffect>
                                    <p:anim calcmode="lin" valueType="num">
                                      <p:cBhvr>
                                        <p:cTn id="76" dur="1000" fill="hold"/>
                                        <p:tgtEl>
                                          <p:spTgt spid="60"/>
                                        </p:tgtEl>
                                        <p:attrNameLst>
                                          <p:attrName>ppt_x</p:attrName>
                                        </p:attrNameLst>
                                      </p:cBhvr>
                                      <p:tavLst>
                                        <p:tav tm="0">
                                          <p:val>
                                            <p:strVal val="#ppt_x"/>
                                          </p:val>
                                        </p:tav>
                                        <p:tav tm="100000">
                                          <p:val>
                                            <p:strVal val="#ppt_x"/>
                                          </p:val>
                                        </p:tav>
                                      </p:tavLst>
                                    </p:anim>
                                    <p:anim calcmode="lin" valueType="num">
                                      <p:cBhvr>
                                        <p:cTn id="77" dur="1000" fill="hold"/>
                                        <p:tgtEl>
                                          <p:spTgt spid="6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40" grpId="0" animBg="1"/>
      <p:bldP spid="43" grpId="0" animBg="1"/>
      <p:bldP spid="46"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组合 17"/>
          <p:cNvGrpSpPr/>
          <p:nvPr/>
        </p:nvGrpSpPr>
        <p:grpSpPr>
          <a:xfrm>
            <a:off x="392432" y="769746"/>
            <a:ext cx="4140066" cy="420971"/>
            <a:chOff x="670560" y="892917"/>
            <a:chExt cx="4140066" cy="420971"/>
          </a:xfrm>
        </p:grpSpPr>
        <p:sp>
          <p:nvSpPr>
            <p:cNvPr id="70" name="矩形 69"/>
            <p:cNvSpPr/>
            <p:nvPr/>
          </p:nvSpPr>
          <p:spPr>
            <a:xfrm>
              <a:off x="1035233" y="913778"/>
              <a:ext cx="3775393"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显示译码器（七段显示译码器）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7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aphicFrame>
        <p:nvGraphicFramePr>
          <p:cNvPr id="3" name="对象 2"/>
          <p:cNvGraphicFramePr>
            <a:graphicFrameLocks noChangeAspect="1"/>
          </p:cNvGraphicFramePr>
          <p:nvPr/>
        </p:nvGraphicFramePr>
        <p:xfrm>
          <a:off x="1924234" y="1660470"/>
          <a:ext cx="5061776" cy="1092045"/>
        </p:xfrm>
        <a:graphic>
          <a:graphicData uri="http://schemas.openxmlformats.org/presentationml/2006/ole">
            <mc:AlternateContent xmlns:mc="http://schemas.openxmlformats.org/markup-compatibility/2006">
              <mc:Choice xmlns:v="urn:schemas-microsoft-com:vml" Requires="v">
                <p:oleObj spid="_x0000_s46092" name="" r:id="rId2" imgW="2762250" imgH="600075" progId="Visio.Drawing.11">
                  <p:embed/>
                </p:oleObj>
              </mc:Choice>
              <mc:Fallback>
                <p:oleObj name="" r:id="rId2" imgW="2762250" imgH="600075" progId="Visio.Drawing.11">
                  <p:embed/>
                  <p:pic>
                    <p:nvPicPr>
                      <p:cNvPr id="0" name="对象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4234" y="1660470"/>
                        <a:ext cx="5061776" cy="1092045"/>
                      </a:xfrm>
                      <a:prstGeom prst="rect">
                        <a:avLst/>
                      </a:prstGeom>
                      <a:noFill/>
                    </p:spPr>
                  </p:pic>
                </p:oleObj>
              </mc:Fallback>
            </mc:AlternateContent>
          </a:graphicData>
        </a:graphic>
      </p:graphicFrame>
      <p:pic>
        <p:nvPicPr>
          <p:cNvPr id="1030" name="Picture 6" descr="https://gimg2.baidu.com/image_search/src=http%3A%2F%2Fimage-swws.258.com%2F1%2F2016%2F1017%2F09%2F58042aea1ad7d.jpg&amp;refer=http%3A%2F%2Fimage-swws.258.com&amp;app=2002&amp;size=f9999,10000&amp;q=a80&amp;n=0&amp;g=0n&amp;fmt=jpeg?sec=1642637109&amp;t=eb96b3fa1712a93280c8e61f9b350aa4"/>
          <p:cNvPicPr>
            <a:picLocks noChangeAspect="1" noChangeArrowheads="1"/>
          </p:cNvPicPr>
          <p:nvPr/>
        </p:nvPicPr>
        <p:blipFill rotWithShape="1">
          <a:blip r:embed="rId4">
            <a:extLst>
              <a:ext uri="{28A0092B-C50C-407E-A947-70E740481C1C}">
                <a14:useLocalDpi xmlns:a14="http://schemas.microsoft.com/office/drawing/2010/main" val="0"/>
              </a:ext>
            </a:extLst>
          </a:blip>
          <a:srcRect l="9057" t="25184" r="6673" b="26936"/>
          <a:stretch>
            <a:fillRect/>
          </a:stretch>
        </p:blipFill>
        <p:spPr bwMode="auto">
          <a:xfrm>
            <a:off x="1244409" y="3589648"/>
            <a:ext cx="3210713" cy="136816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ttps://gimg2.baidu.com/image_search/src=http%3A%2F%2Fimg007.hc360.cn%2Fk3%2FM09%2F83%2F77%2FwKhQv1op8niEJjHgAAAAANw-kvA262.jpg&amp;refer=http%3A%2F%2Fimg007.hc360.cn&amp;app=2002&amp;size=f9999,10000&amp;q=a80&amp;n=0&amp;g=0n&amp;fmt=jpeg?sec=1642637229&amp;t=688969d9bce9e8c70869dced1a4f246a"/>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50756" y="3436909"/>
            <a:ext cx="3347280" cy="1673640"/>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27"/>
          <p:cNvSpPr>
            <a:spLocks noChangeArrowheads="1"/>
          </p:cNvSpPr>
          <p:nvPr/>
        </p:nvSpPr>
        <p:spPr bwMode="auto">
          <a:xfrm>
            <a:off x="577511" y="1237292"/>
            <a:ext cx="2551637" cy="369332"/>
          </a:xfrm>
          <a:prstGeom prst="rect">
            <a:avLst/>
          </a:prstGeom>
          <a:noFill/>
          <a:ln w="9525" algn="ctr">
            <a:noFill/>
            <a:miter lim="800000"/>
          </a:ln>
          <a:effectLst/>
        </p:spPr>
        <p:txBody>
          <a:bodyPr wrap="square" lIns="0" rIns="0">
            <a:spAutoFit/>
          </a:bodyPr>
          <a:lstStyle/>
          <a:p>
            <a:pPr>
              <a:defRPr/>
            </a:pPr>
            <a:r>
              <a:rPr lang="en-US" altLang="zh-CN" b="1" dirty="0">
                <a:solidFill>
                  <a:srgbClr val="6600FF"/>
                </a:solidFill>
                <a:latin typeface="黑体" panose="02010609060101010101" pitchFamily="49" charset="-122"/>
                <a:ea typeface="黑体" panose="02010609060101010101" pitchFamily="49" charset="-122"/>
              </a:rPr>
              <a:t>1</a:t>
            </a:r>
            <a:r>
              <a:rPr lang="zh-CN" altLang="en-US" b="1" dirty="0">
                <a:solidFill>
                  <a:srgbClr val="6600FF"/>
                </a:solidFill>
                <a:latin typeface="黑体" panose="02010609060101010101" pitchFamily="49" charset="-122"/>
                <a:ea typeface="黑体" panose="02010609060101010101" pitchFamily="49" charset="-122"/>
              </a:rPr>
              <a:t>、数字显示系统的构成</a:t>
            </a:r>
            <a:endParaRPr lang="zh-CN" altLang="en-US" b="1" dirty="0">
              <a:solidFill>
                <a:srgbClr val="6600FF"/>
              </a:solidFill>
              <a:latin typeface="黑体" panose="02010609060101010101" pitchFamily="49" charset="-122"/>
              <a:ea typeface="黑体" panose="02010609060101010101" pitchFamily="49" charset="-122"/>
            </a:endParaRPr>
          </a:p>
        </p:txBody>
      </p:sp>
      <p:sp>
        <p:nvSpPr>
          <p:cNvPr id="12" name="Rectangle 27"/>
          <p:cNvSpPr>
            <a:spLocks noChangeArrowheads="1"/>
          </p:cNvSpPr>
          <p:nvPr/>
        </p:nvSpPr>
        <p:spPr bwMode="auto">
          <a:xfrm>
            <a:off x="648415" y="2857500"/>
            <a:ext cx="2551637" cy="369332"/>
          </a:xfrm>
          <a:prstGeom prst="rect">
            <a:avLst/>
          </a:prstGeom>
          <a:noFill/>
          <a:ln w="9525" algn="ctr">
            <a:noFill/>
            <a:miter lim="800000"/>
          </a:ln>
          <a:effectLst/>
        </p:spPr>
        <p:txBody>
          <a:bodyPr wrap="square" lIns="0" rIns="0">
            <a:spAutoFit/>
          </a:bodyPr>
          <a:lstStyle/>
          <a:p>
            <a:pPr>
              <a:defRPr/>
            </a:pPr>
            <a:r>
              <a:rPr lang="en-US" altLang="zh-CN" b="1" dirty="0">
                <a:solidFill>
                  <a:srgbClr val="6600FF"/>
                </a:solidFill>
                <a:latin typeface="黑体" panose="02010609060101010101" pitchFamily="49" charset="-122"/>
                <a:ea typeface="黑体" panose="02010609060101010101" pitchFamily="49" charset="-122"/>
              </a:rPr>
              <a:t>2</a:t>
            </a:r>
            <a:r>
              <a:rPr lang="zh-CN" altLang="en-US" b="1" dirty="0">
                <a:solidFill>
                  <a:srgbClr val="6600FF"/>
                </a:solidFill>
                <a:latin typeface="黑体" panose="02010609060101010101" pitchFamily="49" charset="-122"/>
                <a:ea typeface="黑体" panose="02010609060101010101" pitchFamily="49" charset="-122"/>
              </a:rPr>
              <a:t>、常见的数字显示器</a:t>
            </a:r>
            <a:endParaRPr lang="zh-CN" altLang="en-US" b="1" dirty="0">
              <a:solidFill>
                <a:srgbClr val="6600FF"/>
              </a:solidFill>
              <a:latin typeface="黑体" panose="02010609060101010101" pitchFamily="49" charset="-122"/>
              <a:ea typeface="黑体" panose="02010609060101010101" pitchFamily="49" charset="-122"/>
            </a:endParaRPr>
          </a:p>
        </p:txBody>
      </p:sp>
    </p:spTree>
  </p:cSld>
  <p:clrMapOvr>
    <a:masterClrMapping/>
  </p:clrMapOvr>
  <mc:AlternateContent xmlns:mc="http://schemas.openxmlformats.org/markup-compatibility/2006">
    <mc:Choice xmlns:p14="http://schemas.microsoft.com/office/powerpoint/2010/main" Requires="p14">
      <p:transition spd="slow" p14:dur="1600">
        <p14:prism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1030"/>
                                        </p:tgtEl>
                                        <p:attrNameLst>
                                          <p:attrName>style.visibility</p:attrName>
                                        </p:attrNameLst>
                                      </p:cBhvr>
                                      <p:to>
                                        <p:strVal val="visible"/>
                                      </p:to>
                                    </p:set>
                                    <p:animEffect transition="in" filter="fade">
                                      <p:cBhvr>
                                        <p:cTn id="7" dur="1000"/>
                                        <p:tgtEl>
                                          <p:spTgt spid="1030"/>
                                        </p:tgtEl>
                                      </p:cBhvr>
                                    </p:animEffect>
                                    <p:anim calcmode="lin" valueType="num">
                                      <p:cBhvr>
                                        <p:cTn id="8" dur="1000" fill="hold"/>
                                        <p:tgtEl>
                                          <p:spTgt spid="1030"/>
                                        </p:tgtEl>
                                        <p:attrNameLst>
                                          <p:attrName>ppt_x</p:attrName>
                                        </p:attrNameLst>
                                      </p:cBhvr>
                                      <p:tavLst>
                                        <p:tav tm="0">
                                          <p:val>
                                            <p:strVal val="#ppt_x"/>
                                          </p:val>
                                        </p:tav>
                                        <p:tav tm="100000">
                                          <p:val>
                                            <p:strVal val="#ppt_x"/>
                                          </p:val>
                                        </p:tav>
                                      </p:tavLst>
                                    </p:anim>
                                    <p:anim calcmode="lin" valueType="num">
                                      <p:cBhvr>
                                        <p:cTn id="9" dur="1000" fill="hold"/>
                                        <p:tgtEl>
                                          <p:spTgt spid="1030"/>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032"/>
                                        </p:tgtEl>
                                        <p:attrNameLst>
                                          <p:attrName>style.visibility</p:attrName>
                                        </p:attrNameLst>
                                      </p:cBhvr>
                                      <p:to>
                                        <p:strVal val="visible"/>
                                      </p:to>
                                    </p:set>
                                    <p:animEffect transition="in" filter="fade">
                                      <p:cBhvr>
                                        <p:cTn id="12" dur="1000"/>
                                        <p:tgtEl>
                                          <p:spTgt spid="1032"/>
                                        </p:tgtEl>
                                      </p:cBhvr>
                                    </p:animEffect>
                                    <p:anim calcmode="lin" valueType="num">
                                      <p:cBhvr>
                                        <p:cTn id="13" dur="1000" fill="hold"/>
                                        <p:tgtEl>
                                          <p:spTgt spid="1032"/>
                                        </p:tgtEl>
                                        <p:attrNameLst>
                                          <p:attrName>ppt_x</p:attrName>
                                        </p:attrNameLst>
                                      </p:cBhvr>
                                      <p:tavLst>
                                        <p:tav tm="0">
                                          <p:val>
                                            <p:strVal val="#ppt_x"/>
                                          </p:val>
                                        </p:tav>
                                        <p:tav tm="100000">
                                          <p:val>
                                            <p:strVal val="#ppt_x"/>
                                          </p:val>
                                        </p:tav>
                                      </p:tavLst>
                                    </p:anim>
                                    <p:anim calcmode="lin" valueType="num">
                                      <p:cBhvr>
                                        <p:cTn id="14" dur="1000" fill="hold"/>
                                        <p:tgtEl>
                                          <p:spTgt spid="103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矩形 83"/>
          <p:cNvSpPr/>
          <p:nvPr/>
        </p:nvSpPr>
        <p:spPr>
          <a:xfrm>
            <a:off x="475590" y="1807967"/>
            <a:ext cx="7806776" cy="523220"/>
          </a:xfrm>
          <a:prstGeom prst="rect">
            <a:avLst/>
          </a:prstGeom>
        </p:spPr>
        <p:txBody>
          <a:bodyPr wrap="square">
            <a:spAutoFit/>
          </a:bodyPr>
          <a:lstStyle/>
          <a:p>
            <a:pPr marL="1259205" indent="-1259205">
              <a:spcBef>
                <a:spcPct val="50000"/>
              </a:spcBef>
            </a:pPr>
            <a:r>
              <a:rPr lang="zh-CN" altLang="en-US" sz="1400" dirty="0">
                <a:solidFill>
                  <a:srgbClr val="FF00FF"/>
                </a:solidFill>
                <a:latin typeface="微软雅黑" panose="020B0503020204020204" pitchFamily="34" charset="-122"/>
                <a:ea typeface="微软雅黑" panose="020B0503020204020204" pitchFamily="34" charset="-122"/>
              </a:rPr>
              <a:t>七段数码显示：</a:t>
            </a:r>
            <a:r>
              <a:rPr lang="zh-CN" altLang="en-US" sz="1400" dirty="0">
                <a:latin typeface="微软雅黑" panose="020B0503020204020204" pitchFamily="34" charset="-122"/>
                <a:ea typeface="微软雅黑" panose="020B0503020204020204" pitchFamily="34" charset="-122"/>
              </a:rPr>
              <a:t>将十进制数码分为七段，每段对应一个发光二极管并按数码字形进行排列，选择不同字段发光，显示不同数字。</a:t>
            </a:r>
            <a:endParaRPr lang="zh-CN" altLang="en-US" sz="1400" dirty="0">
              <a:latin typeface="微软雅黑" panose="020B0503020204020204" pitchFamily="34" charset="-122"/>
              <a:ea typeface="微软雅黑" panose="020B0503020204020204" pitchFamily="34" charset="-122"/>
            </a:endParaRPr>
          </a:p>
        </p:txBody>
      </p:sp>
      <p:graphicFrame>
        <p:nvGraphicFramePr>
          <p:cNvPr id="4" name="对象 3"/>
          <p:cNvGraphicFramePr>
            <a:graphicFrameLocks noChangeAspect="1"/>
          </p:cNvGraphicFramePr>
          <p:nvPr/>
        </p:nvGraphicFramePr>
        <p:xfrm>
          <a:off x="4294798" y="2899376"/>
          <a:ext cx="3922457" cy="1801300"/>
        </p:xfrm>
        <a:graphic>
          <a:graphicData uri="http://schemas.openxmlformats.org/presentationml/2006/ole">
            <mc:AlternateContent xmlns:mc="http://schemas.openxmlformats.org/markup-compatibility/2006">
              <mc:Choice xmlns:v="urn:schemas-microsoft-com:vml" Requires="v">
                <p:oleObj spid="_x0000_s47126" name="" r:id="rId1" imgW="2228850" imgH="1028700" progId="Visio.Drawing.11">
                  <p:embed/>
                </p:oleObj>
              </mc:Choice>
              <mc:Fallback>
                <p:oleObj name="" r:id="rId1" imgW="2228850" imgH="1028700" progId="Visio.Drawing.11">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4798" y="2899376"/>
                        <a:ext cx="3922457" cy="1801300"/>
                      </a:xfrm>
                      <a:prstGeom prst="rect">
                        <a:avLst/>
                      </a:prstGeom>
                      <a:noFill/>
                    </p:spPr>
                  </p:pic>
                </p:oleObj>
              </mc:Fallback>
            </mc:AlternateContent>
          </a:graphicData>
        </a:graphic>
      </p:graphicFrame>
      <p:sp>
        <p:nvSpPr>
          <p:cNvPr id="50" name="圆角矩形 49"/>
          <p:cNvSpPr/>
          <p:nvPr/>
        </p:nvSpPr>
        <p:spPr>
          <a:xfrm>
            <a:off x="5823176" y="3043970"/>
            <a:ext cx="419100" cy="756056"/>
          </a:xfrm>
          <a:prstGeom prst="roundRect">
            <a:avLst>
              <a:gd name="adj" fmla="val 9849"/>
            </a:avLst>
          </a:prstGeom>
          <a:solidFill>
            <a:srgbClr val="66FF66">
              <a:alpha val="19000"/>
            </a:srgbClr>
          </a:solid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圆角矩形 50"/>
          <p:cNvSpPr/>
          <p:nvPr/>
        </p:nvSpPr>
        <p:spPr>
          <a:xfrm>
            <a:off x="6319335" y="3045114"/>
            <a:ext cx="419100" cy="756056"/>
          </a:xfrm>
          <a:prstGeom prst="roundRect">
            <a:avLst>
              <a:gd name="adj" fmla="val 9849"/>
            </a:avLst>
          </a:prstGeom>
          <a:solidFill>
            <a:srgbClr val="66FF66">
              <a:alpha val="19000"/>
            </a:srgbClr>
          </a:solid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7"/>
          <p:cNvGrpSpPr/>
          <p:nvPr/>
        </p:nvGrpSpPr>
        <p:grpSpPr>
          <a:xfrm>
            <a:off x="1088562" y="2695839"/>
            <a:ext cx="2770702" cy="2551625"/>
            <a:chOff x="1228262" y="2170059"/>
            <a:chExt cx="2770702" cy="2551625"/>
          </a:xfrm>
        </p:grpSpPr>
        <p:graphicFrame>
          <p:nvGraphicFramePr>
            <p:cNvPr id="6" name="对象 5"/>
            <p:cNvGraphicFramePr>
              <a:graphicFrameLocks noChangeAspect="1"/>
            </p:cNvGraphicFramePr>
            <p:nvPr/>
          </p:nvGraphicFramePr>
          <p:xfrm>
            <a:off x="1228262" y="2170059"/>
            <a:ext cx="2770702" cy="2084623"/>
          </p:xfrm>
          <a:graphic>
            <a:graphicData uri="http://schemas.openxmlformats.org/presentationml/2006/ole">
              <mc:AlternateContent xmlns:mc="http://schemas.openxmlformats.org/markup-compatibility/2006">
                <mc:Choice xmlns:v="urn:schemas-microsoft-com:vml" Requires="v">
                  <p:oleObj spid="_x0000_s47127" name="" r:id="rId3" imgW="1857375" imgH="1400175" progId="Visio.Drawing.11">
                    <p:embed/>
                  </p:oleObj>
                </mc:Choice>
                <mc:Fallback>
                  <p:oleObj name="" r:id="rId3" imgW="1857375" imgH="1400175" progId="Visio.Drawing.11">
                    <p:embed/>
                    <p:pic>
                      <p:nvPicPr>
                        <p:cNvPr id="0"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28262" y="2170059"/>
                          <a:ext cx="2770702" cy="2084623"/>
                        </a:xfrm>
                        <a:prstGeom prst="rect">
                          <a:avLst/>
                        </a:prstGeom>
                        <a:noFill/>
                      </p:spPr>
                    </p:pic>
                  </p:oleObj>
                </mc:Fallback>
              </mc:AlternateContent>
            </a:graphicData>
          </a:graphic>
        </p:graphicFrame>
        <p:sp>
          <p:nvSpPr>
            <p:cNvPr id="7" name="文本框 6"/>
            <p:cNvSpPr txBox="1"/>
            <p:nvPr/>
          </p:nvSpPr>
          <p:spPr>
            <a:xfrm>
              <a:off x="1401582" y="4352352"/>
              <a:ext cx="2424062" cy="369332"/>
            </a:xfrm>
            <a:prstGeom prst="rect">
              <a:avLst/>
            </a:prstGeom>
            <a:noFill/>
          </p:spPr>
          <p:txBody>
            <a:bodyPr wrap="none" rtlCol="0">
              <a:spAutoFit/>
            </a:bodyPr>
            <a:lstStyle/>
            <a:p>
              <a:r>
                <a:rPr lang="zh-CN" altLang="en-US" dirty="0">
                  <a:solidFill>
                    <a:srgbClr val="FF00FF"/>
                  </a:solidFill>
                  <a:latin typeface="方正粗黑宋简体" panose="02000000000000000000" pitchFamily="2" charset="-122"/>
                  <a:ea typeface="方正粗黑宋简体" panose="02000000000000000000" pitchFamily="2" charset="-122"/>
                </a:rPr>
                <a:t>共阴极             共阳极</a:t>
              </a:r>
              <a:endParaRPr lang="zh-CN" altLang="en-US" dirty="0">
                <a:solidFill>
                  <a:srgbClr val="FF00FF"/>
                </a:solidFill>
                <a:latin typeface="方正粗黑宋简体" panose="02000000000000000000" pitchFamily="2" charset="-122"/>
                <a:ea typeface="方正粗黑宋简体" panose="02000000000000000000" pitchFamily="2" charset="-122"/>
              </a:endParaRPr>
            </a:p>
          </p:txBody>
        </p:sp>
      </p:grpSp>
      <p:grpSp>
        <p:nvGrpSpPr>
          <p:cNvPr id="15" name="组合 14"/>
          <p:cNvGrpSpPr/>
          <p:nvPr/>
        </p:nvGrpSpPr>
        <p:grpSpPr>
          <a:xfrm>
            <a:off x="4544939" y="3154186"/>
            <a:ext cx="658460" cy="1312400"/>
            <a:chOff x="4684639" y="2628406"/>
            <a:chExt cx="658460" cy="1312400"/>
          </a:xfrm>
        </p:grpSpPr>
        <p:grpSp>
          <p:nvGrpSpPr>
            <p:cNvPr id="14" name="组合 13"/>
            <p:cNvGrpSpPr/>
            <p:nvPr/>
          </p:nvGrpSpPr>
          <p:grpSpPr>
            <a:xfrm>
              <a:off x="4933449" y="2628406"/>
              <a:ext cx="180000" cy="144000"/>
              <a:chOff x="4487466" y="1921175"/>
              <a:chExt cx="180000" cy="144000"/>
            </a:xfrm>
            <a:solidFill>
              <a:srgbClr val="FF0000"/>
            </a:solidFill>
          </p:grpSpPr>
          <p:sp>
            <p:nvSpPr>
              <p:cNvPr id="9" name="等腰三角形 8"/>
              <p:cNvSpPr/>
              <p:nvPr/>
            </p:nvSpPr>
            <p:spPr>
              <a:xfrm rot="5400000">
                <a:off x="4524862" y="1957175"/>
                <a:ext cx="108000" cy="72000"/>
              </a:xfrm>
              <a:prstGeom prst="triangle">
                <a:avLst/>
              </a:prstGeom>
              <a:grp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p:nvPr/>
            </p:nvCxnSpPr>
            <p:spPr>
              <a:xfrm flipH="1">
                <a:off x="4622006" y="1921175"/>
                <a:ext cx="0" cy="144000"/>
              </a:xfrm>
              <a:prstGeom prst="line">
                <a:avLst/>
              </a:prstGeom>
              <a:grpFill/>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4487466" y="1992860"/>
                <a:ext cx="180000" cy="631"/>
              </a:xfrm>
              <a:prstGeom prst="line">
                <a:avLst/>
              </a:prstGeom>
              <a:grpFill/>
              <a:ln w="127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61" name="组合 60"/>
            <p:cNvGrpSpPr/>
            <p:nvPr/>
          </p:nvGrpSpPr>
          <p:grpSpPr>
            <a:xfrm rot="5400000">
              <a:off x="5181099" y="2949081"/>
              <a:ext cx="180000" cy="144000"/>
              <a:chOff x="4487466" y="1921175"/>
              <a:chExt cx="180000" cy="144000"/>
            </a:xfrm>
            <a:solidFill>
              <a:srgbClr val="FF0000"/>
            </a:solidFill>
          </p:grpSpPr>
          <p:sp>
            <p:nvSpPr>
              <p:cNvPr id="62" name="等腰三角形 61"/>
              <p:cNvSpPr/>
              <p:nvPr/>
            </p:nvSpPr>
            <p:spPr>
              <a:xfrm rot="5400000">
                <a:off x="4524862" y="1957175"/>
                <a:ext cx="108000" cy="72000"/>
              </a:xfrm>
              <a:prstGeom prst="triangle">
                <a:avLst/>
              </a:prstGeom>
              <a:grp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3" name="直接连接符 62"/>
              <p:cNvCxnSpPr/>
              <p:nvPr/>
            </p:nvCxnSpPr>
            <p:spPr>
              <a:xfrm flipH="1">
                <a:off x="4622006" y="1921175"/>
                <a:ext cx="0" cy="144000"/>
              </a:xfrm>
              <a:prstGeom prst="line">
                <a:avLst/>
              </a:prstGeom>
              <a:grpFill/>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487466" y="1992860"/>
                <a:ext cx="180000" cy="631"/>
              </a:xfrm>
              <a:prstGeom prst="line">
                <a:avLst/>
              </a:prstGeom>
              <a:grpFill/>
              <a:ln w="127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65" name="组合 64"/>
            <p:cNvGrpSpPr/>
            <p:nvPr/>
          </p:nvGrpSpPr>
          <p:grpSpPr>
            <a:xfrm rot="5400000">
              <a:off x="5141794" y="3513446"/>
              <a:ext cx="180000" cy="144000"/>
              <a:chOff x="4487466" y="1921175"/>
              <a:chExt cx="180000" cy="144000"/>
            </a:xfrm>
            <a:solidFill>
              <a:srgbClr val="FF0000"/>
            </a:solidFill>
          </p:grpSpPr>
          <p:sp>
            <p:nvSpPr>
              <p:cNvPr id="66" name="等腰三角形 65"/>
              <p:cNvSpPr/>
              <p:nvPr/>
            </p:nvSpPr>
            <p:spPr>
              <a:xfrm rot="5400000">
                <a:off x="4524862" y="1957175"/>
                <a:ext cx="108000" cy="72000"/>
              </a:xfrm>
              <a:prstGeom prst="triangle">
                <a:avLst/>
              </a:prstGeom>
              <a:grp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7" name="直接连接符 66"/>
              <p:cNvCxnSpPr/>
              <p:nvPr/>
            </p:nvCxnSpPr>
            <p:spPr>
              <a:xfrm flipH="1">
                <a:off x="4622006" y="1921175"/>
                <a:ext cx="0" cy="144000"/>
              </a:xfrm>
              <a:prstGeom prst="line">
                <a:avLst/>
              </a:prstGeom>
              <a:grpFill/>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487466" y="1992860"/>
                <a:ext cx="180000" cy="631"/>
              </a:xfrm>
              <a:prstGeom prst="line">
                <a:avLst/>
              </a:prstGeom>
              <a:grpFill/>
              <a:ln w="127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69" name="组合 68"/>
            <p:cNvGrpSpPr/>
            <p:nvPr/>
          </p:nvGrpSpPr>
          <p:grpSpPr>
            <a:xfrm>
              <a:off x="4880845" y="3796806"/>
              <a:ext cx="180000" cy="144000"/>
              <a:chOff x="4487466" y="1921175"/>
              <a:chExt cx="180000" cy="144000"/>
            </a:xfrm>
            <a:solidFill>
              <a:srgbClr val="FF0000"/>
            </a:solidFill>
          </p:grpSpPr>
          <p:sp>
            <p:nvSpPr>
              <p:cNvPr id="72" name="等腰三角形 71"/>
              <p:cNvSpPr/>
              <p:nvPr/>
            </p:nvSpPr>
            <p:spPr>
              <a:xfrm rot="5400000">
                <a:off x="4524862" y="1957175"/>
                <a:ext cx="108000" cy="72000"/>
              </a:xfrm>
              <a:prstGeom prst="triangle">
                <a:avLst/>
              </a:prstGeom>
              <a:grp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3" name="直接连接符 72"/>
              <p:cNvCxnSpPr/>
              <p:nvPr/>
            </p:nvCxnSpPr>
            <p:spPr>
              <a:xfrm flipH="1">
                <a:off x="4622006" y="1921175"/>
                <a:ext cx="0" cy="144000"/>
              </a:xfrm>
              <a:prstGeom prst="line">
                <a:avLst/>
              </a:prstGeom>
              <a:grpFill/>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4487466" y="1992860"/>
                <a:ext cx="180000" cy="631"/>
              </a:xfrm>
              <a:prstGeom prst="line">
                <a:avLst/>
              </a:prstGeom>
              <a:grpFill/>
              <a:ln w="127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75" name="组合 74"/>
            <p:cNvGrpSpPr/>
            <p:nvPr/>
          </p:nvGrpSpPr>
          <p:grpSpPr>
            <a:xfrm>
              <a:off x="4918241" y="3203606"/>
              <a:ext cx="180000" cy="144000"/>
              <a:chOff x="4487466" y="1921175"/>
              <a:chExt cx="180000" cy="144000"/>
            </a:xfrm>
            <a:solidFill>
              <a:srgbClr val="FF0000"/>
            </a:solidFill>
          </p:grpSpPr>
          <p:sp>
            <p:nvSpPr>
              <p:cNvPr id="76" name="等腰三角形 75"/>
              <p:cNvSpPr/>
              <p:nvPr/>
            </p:nvSpPr>
            <p:spPr>
              <a:xfrm rot="5400000">
                <a:off x="4524862" y="1957175"/>
                <a:ext cx="108000" cy="72000"/>
              </a:xfrm>
              <a:prstGeom prst="triangle">
                <a:avLst/>
              </a:prstGeom>
              <a:grp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7" name="直接连接符 76"/>
              <p:cNvCxnSpPr/>
              <p:nvPr/>
            </p:nvCxnSpPr>
            <p:spPr>
              <a:xfrm flipH="1">
                <a:off x="4622006" y="1921175"/>
                <a:ext cx="0" cy="144000"/>
              </a:xfrm>
              <a:prstGeom prst="line">
                <a:avLst/>
              </a:prstGeom>
              <a:grpFill/>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4487466" y="1992860"/>
                <a:ext cx="180000" cy="631"/>
              </a:xfrm>
              <a:prstGeom prst="line">
                <a:avLst/>
              </a:prstGeom>
              <a:grpFill/>
              <a:ln w="127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83" name="组合 82"/>
            <p:cNvGrpSpPr/>
            <p:nvPr/>
          </p:nvGrpSpPr>
          <p:grpSpPr>
            <a:xfrm rot="5400000">
              <a:off x="4705944" y="2949081"/>
              <a:ext cx="180000" cy="144000"/>
              <a:chOff x="4487466" y="1921175"/>
              <a:chExt cx="180000" cy="144000"/>
            </a:xfrm>
            <a:solidFill>
              <a:srgbClr val="FF0000"/>
            </a:solidFill>
          </p:grpSpPr>
          <p:sp>
            <p:nvSpPr>
              <p:cNvPr id="85" name="等腰三角形 84"/>
              <p:cNvSpPr/>
              <p:nvPr/>
            </p:nvSpPr>
            <p:spPr>
              <a:xfrm rot="5400000">
                <a:off x="4524862" y="1957175"/>
                <a:ext cx="108000" cy="72000"/>
              </a:xfrm>
              <a:prstGeom prst="triangle">
                <a:avLst/>
              </a:prstGeom>
              <a:grp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6" name="直接连接符 85"/>
              <p:cNvCxnSpPr/>
              <p:nvPr/>
            </p:nvCxnSpPr>
            <p:spPr>
              <a:xfrm flipH="1">
                <a:off x="4622006" y="1921175"/>
                <a:ext cx="0" cy="144000"/>
              </a:xfrm>
              <a:prstGeom prst="line">
                <a:avLst/>
              </a:prstGeom>
              <a:grpFill/>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4487466" y="1992860"/>
                <a:ext cx="180000" cy="631"/>
              </a:xfrm>
              <a:prstGeom prst="line">
                <a:avLst/>
              </a:prstGeom>
              <a:grpFill/>
              <a:ln w="12700">
                <a:solidFill>
                  <a:srgbClr val="C00000"/>
                </a:solidFill>
              </a:ln>
            </p:spPr>
            <p:style>
              <a:lnRef idx="1">
                <a:schemeClr val="accent1"/>
              </a:lnRef>
              <a:fillRef idx="0">
                <a:schemeClr val="accent1"/>
              </a:fillRef>
              <a:effectRef idx="0">
                <a:schemeClr val="accent1"/>
              </a:effectRef>
              <a:fontRef idx="minor">
                <a:schemeClr val="tx1"/>
              </a:fontRef>
            </p:style>
          </p:cxnSp>
        </p:grpSp>
        <p:grpSp>
          <p:nvGrpSpPr>
            <p:cNvPr id="88" name="组合 87"/>
            <p:cNvGrpSpPr/>
            <p:nvPr/>
          </p:nvGrpSpPr>
          <p:grpSpPr>
            <a:xfrm rot="5400000">
              <a:off x="4666639" y="3513446"/>
              <a:ext cx="180000" cy="144000"/>
              <a:chOff x="4487466" y="1921175"/>
              <a:chExt cx="180000" cy="144000"/>
            </a:xfrm>
            <a:solidFill>
              <a:srgbClr val="FF0000"/>
            </a:solidFill>
          </p:grpSpPr>
          <p:sp>
            <p:nvSpPr>
              <p:cNvPr id="89" name="等腰三角形 88"/>
              <p:cNvSpPr/>
              <p:nvPr/>
            </p:nvSpPr>
            <p:spPr>
              <a:xfrm rot="5400000">
                <a:off x="4524862" y="1957175"/>
                <a:ext cx="108000" cy="72000"/>
              </a:xfrm>
              <a:prstGeom prst="triangle">
                <a:avLst/>
              </a:prstGeom>
              <a:grpFill/>
              <a:ln w="127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0" name="直接连接符 89"/>
              <p:cNvCxnSpPr/>
              <p:nvPr/>
            </p:nvCxnSpPr>
            <p:spPr>
              <a:xfrm flipH="1">
                <a:off x="4622006" y="1921175"/>
                <a:ext cx="0" cy="144000"/>
              </a:xfrm>
              <a:prstGeom prst="line">
                <a:avLst/>
              </a:prstGeom>
              <a:grpFill/>
              <a:ln w="127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4487466" y="1992860"/>
                <a:ext cx="180000" cy="631"/>
              </a:xfrm>
              <a:prstGeom prst="line">
                <a:avLst/>
              </a:prstGeom>
              <a:grpFill/>
              <a:ln w="12700">
                <a:solidFill>
                  <a:srgbClr val="C00000"/>
                </a:solidFill>
              </a:ln>
            </p:spPr>
            <p:style>
              <a:lnRef idx="1">
                <a:schemeClr val="accent1"/>
              </a:lnRef>
              <a:fillRef idx="0">
                <a:schemeClr val="accent1"/>
              </a:fillRef>
              <a:effectRef idx="0">
                <a:schemeClr val="accent1"/>
              </a:effectRef>
              <a:fontRef idx="minor">
                <a:schemeClr val="tx1"/>
              </a:fontRef>
            </p:style>
          </p:cxnSp>
        </p:grpSp>
      </p:grpSp>
      <p:sp>
        <p:nvSpPr>
          <p:cNvPr id="44" name="Rectangle 27"/>
          <p:cNvSpPr>
            <a:spLocks noChangeArrowheads="1"/>
          </p:cNvSpPr>
          <p:nvPr/>
        </p:nvSpPr>
        <p:spPr bwMode="auto">
          <a:xfrm>
            <a:off x="577511" y="1237292"/>
            <a:ext cx="4163634" cy="369332"/>
          </a:xfrm>
          <a:prstGeom prst="rect">
            <a:avLst/>
          </a:prstGeom>
          <a:noFill/>
          <a:ln w="9525" algn="ctr">
            <a:noFill/>
            <a:miter lim="800000"/>
          </a:ln>
          <a:effectLst/>
        </p:spPr>
        <p:txBody>
          <a:bodyPr wrap="square" lIns="0" rIns="0">
            <a:spAutoFit/>
          </a:bodyPr>
          <a:lstStyle/>
          <a:p>
            <a:pPr>
              <a:defRPr/>
            </a:pPr>
            <a:r>
              <a:rPr lang="en-US" altLang="zh-CN" b="1" dirty="0">
                <a:solidFill>
                  <a:srgbClr val="6600FF"/>
                </a:solidFill>
                <a:latin typeface="黑体" panose="02010609060101010101" pitchFamily="49" charset="-122"/>
                <a:ea typeface="黑体" panose="02010609060101010101" pitchFamily="49" charset="-122"/>
              </a:rPr>
              <a:t>3</a:t>
            </a:r>
            <a:r>
              <a:rPr lang="zh-CN" altLang="en-US" b="1" dirty="0">
                <a:solidFill>
                  <a:srgbClr val="6600FF"/>
                </a:solidFill>
                <a:latin typeface="黑体" panose="02010609060101010101" pitchFamily="49" charset="-122"/>
                <a:ea typeface="黑体" panose="02010609060101010101" pitchFamily="49" charset="-122"/>
              </a:rPr>
              <a:t>、七段数码显示器的结构和工作原理</a:t>
            </a:r>
            <a:endParaRPr lang="zh-CN" altLang="en-US" b="1" dirty="0">
              <a:solidFill>
                <a:srgbClr val="6600FF"/>
              </a:solidFill>
              <a:latin typeface="黑体" panose="02010609060101010101" pitchFamily="49" charset="-122"/>
              <a:ea typeface="黑体" panose="02010609060101010101" pitchFamily="49" charset="-122"/>
            </a:endParaRPr>
          </a:p>
        </p:txBody>
      </p:sp>
      <p:grpSp>
        <p:nvGrpSpPr>
          <p:cNvPr id="45" name="组合 17"/>
          <p:cNvGrpSpPr/>
          <p:nvPr/>
        </p:nvGrpSpPr>
        <p:grpSpPr>
          <a:xfrm>
            <a:off x="392432" y="769746"/>
            <a:ext cx="4140066" cy="420971"/>
            <a:chOff x="670560" y="892917"/>
            <a:chExt cx="4140066" cy="420971"/>
          </a:xfrm>
        </p:grpSpPr>
        <p:sp>
          <p:nvSpPr>
            <p:cNvPr id="46" name="矩形 45"/>
            <p:cNvSpPr/>
            <p:nvPr/>
          </p:nvSpPr>
          <p:spPr>
            <a:xfrm>
              <a:off x="1035233" y="913778"/>
              <a:ext cx="3775393"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显示译码器（七段显示译码器）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7" name="Picture 3"/>
            <p:cNvPicPr>
              <a:picLocks noChangeAspect="1" noChangeArrowheads="1"/>
            </p:cNvPicPr>
            <p:nvPr/>
          </p:nvPicPr>
          <p:blipFill>
            <a:blip r:embed="rId5" cstate="print"/>
            <a:srcRect/>
            <a:stretch>
              <a:fillRect/>
            </a:stretch>
          </p:blipFill>
          <p:spPr bwMode="auto">
            <a:xfrm flipH="1">
              <a:off x="670560" y="892917"/>
              <a:ext cx="342900" cy="411055"/>
            </a:xfrm>
            <a:prstGeom prst="rect">
              <a:avLst/>
            </a:prstGeom>
            <a:noFill/>
            <a:ln w="9525">
              <a:noFill/>
              <a:miter lim="800000"/>
              <a:headEnd/>
              <a:tailEnd/>
            </a:ln>
          </p:spPr>
        </p:pic>
      </p:grpSp>
    </p:spTree>
  </p:cSld>
  <p:clrMapOvr>
    <a:masterClrMapping/>
  </p:clrMapOvr>
  <mc:AlternateContent xmlns:mc="http://schemas.openxmlformats.org/markup-compatibility/2006">
    <mc:Choice xmlns:p14="http://schemas.microsoft.com/office/powerpoint/2010/main" Requires="p14">
      <p:transition spd="slow" p14:dur="1600">
        <p14:prism dir="u"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fade">
                                      <p:cBhvr>
                                        <p:cTn id="7" dur="1000"/>
                                        <p:tgtEl>
                                          <p:spTgt spid="84"/>
                                        </p:tgtEl>
                                      </p:cBhvr>
                                    </p:animEffect>
                                    <p:anim calcmode="lin" valueType="num">
                                      <p:cBhvr>
                                        <p:cTn id="8" dur="1000" fill="hold"/>
                                        <p:tgtEl>
                                          <p:spTgt spid="84"/>
                                        </p:tgtEl>
                                        <p:attrNameLst>
                                          <p:attrName>ppt_x</p:attrName>
                                        </p:attrNameLst>
                                      </p:cBhvr>
                                      <p:tavLst>
                                        <p:tav tm="0">
                                          <p:val>
                                            <p:strVal val="#ppt_x"/>
                                          </p:val>
                                        </p:tav>
                                        <p:tav tm="100000">
                                          <p:val>
                                            <p:strVal val="#ppt_x"/>
                                          </p:val>
                                        </p:tav>
                                      </p:tavLst>
                                    </p:anim>
                                    <p:anim calcmode="lin" valueType="num">
                                      <p:cBhvr>
                                        <p:cTn id="9" dur="1000" fill="hold"/>
                                        <p:tgtEl>
                                          <p:spTgt spid="8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53" presetClass="entr" presetSubtype="16" fill="hold" grpId="0" nodeType="clickEffect">
                                  <p:stCondLst>
                                    <p:cond delay="0"/>
                                  </p:stCondLst>
                                  <p:childTnLst>
                                    <p:set>
                                      <p:cBhvr>
                                        <p:cTn id="19" dur="1" fill="hold">
                                          <p:stCondLst>
                                            <p:cond delay="0"/>
                                          </p:stCondLst>
                                        </p:cTn>
                                        <p:tgtEl>
                                          <p:spTgt spid="50"/>
                                        </p:tgtEl>
                                        <p:attrNameLst>
                                          <p:attrName>style.visibility</p:attrName>
                                        </p:attrNameLst>
                                      </p:cBhvr>
                                      <p:to>
                                        <p:strVal val="visible"/>
                                      </p:to>
                                    </p:set>
                                    <p:anim calcmode="lin" valueType="num">
                                      <p:cBhvr>
                                        <p:cTn id="20" dur="1000" fill="hold"/>
                                        <p:tgtEl>
                                          <p:spTgt spid="50"/>
                                        </p:tgtEl>
                                        <p:attrNameLst>
                                          <p:attrName>ppt_w</p:attrName>
                                        </p:attrNameLst>
                                      </p:cBhvr>
                                      <p:tavLst>
                                        <p:tav tm="0">
                                          <p:val>
                                            <p:fltVal val="0"/>
                                          </p:val>
                                        </p:tav>
                                        <p:tav tm="100000">
                                          <p:val>
                                            <p:strVal val="#ppt_w"/>
                                          </p:val>
                                        </p:tav>
                                      </p:tavLst>
                                    </p:anim>
                                    <p:anim calcmode="lin" valueType="num">
                                      <p:cBhvr>
                                        <p:cTn id="21" dur="1000" fill="hold"/>
                                        <p:tgtEl>
                                          <p:spTgt spid="50"/>
                                        </p:tgtEl>
                                        <p:attrNameLst>
                                          <p:attrName>ppt_h</p:attrName>
                                        </p:attrNameLst>
                                      </p:cBhvr>
                                      <p:tavLst>
                                        <p:tav tm="0">
                                          <p:val>
                                            <p:fltVal val="0"/>
                                          </p:val>
                                        </p:tav>
                                        <p:tav tm="100000">
                                          <p:val>
                                            <p:strVal val="#ppt_h"/>
                                          </p:val>
                                        </p:tav>
                                      </p:tavLst>
                                    </p:anim>
                                    <p:animEffect transition="in" filter="fade">
                                      <p:cBhvr>
                                        <p:cTn id="22" dur="1000"/>
                                        <p:tgtEl>
                                          <p:spTgt spid="50"/>
                                        </p:tgtEl>
                                      </p:cBhvr>
                                    </p:animEffect>
                                  </p:childTnLst>
                                </p:cTn>
                              </p:par>
                            </p:childTnLst>
                          </p:cTn>
                        </p:par>
                        <p:par>
                          <p:cTn id="23" fill="hold">
                            <p:stCondLst>
                              <p:cond delay="1000"/>
                            </p:stCondLst>
                            <p:childTnLst>
                              <p:par>
                                <p:cTn id="24" presetID="53" presetClass="entr" presetSubtype="16" fill="hold" grpId="0" nodeType="afterEffect">
                                  <p:stCondLst>
                                    <p:cond delay="0"/>
                                  </p:stCondLst>
                                  <p:childTnLst>
                                    <p:set>
                                      <p:cBhvr>
                                        <p:cTn id="25" dur="1" fill="hold">
                                          <p:stCondLst>
                                            <p:cond delay="0"/>
                                          </p:stCondLst>
                                        </p:cTn>
                                        <p:tgtEl>
                                          <p:spTgt spid="51"/>
                                        </p:tgtEl>
                                        <p:attrNameLst>
                                          <p:attrName>style.visibility</p:attrName>
                                        </p:attrNameLst>
                                      </p:cBhvr>
                                      <p:to>
                                        <p:strVal val="visible"/>
                                      </p:to>
                                    </p:set>
                                    <p:anim calcmode="lin" valueType="num">
                                      <p:cBhvr>
                                        <p:cTn id="26" dur="1000" fill="hold"/>
                                        <p:tgtEl>
                                          <p:spTgt spid="51"/>
                                        </p:tgtEl>
                                        <p:attrNameLst>
                                          <p:attrName>ppt_w</p:attrName>
                                        </p:attrNameLst>
                                      </p:cBhvr>
                                      <p:tavLst>
                                        <p:tav tm="0">
                                          <p:val>
                                            <p:fltVal val="0"/>
                                          </p:val>
                                        </p:tav>
                                        <p:tav tm="100000">
                                          <p:val>
                                            <p:strVal val="#ppt_w"/>
                                          </p:val>
                                        </p:tav>
                                      </p:tavLst>
                                    </p:anim>
                                    <p:anim calcmode="lin" valueType="num">
                                      <p:cBhvr>
                                        <p:cTn id="27" dur="1000" fill="hold"/>
                                        <p:tgtEl>
                                          <p:spTgt spid="51"/>
                                        </p:tgtEl>
                                        <p:attrNameLst>
                                          <p:attrName>ppt_h</p:attrName>
                                        </p:attrNameLst>
                                      </p:cBhvr>
                                      <p:tavLst>
                                        <p:tav tm="0">
                                          <p:val>
                                            <p:fltVal val="0"/>
                                          </p:val>
                                        </p:tav>
                                        <p:tav tm="100000">
                                          <p:val>
                                            <p:strVal val="#ppt_h"/>
                                          </p:val>
                                        </p:tav>
                                      </p:tavLst>
                                    </p:anim>
                                    <p:animEffect transition="in" filter="fade">
                                      <p:cBhvr>
                                        <p:cTn id="28" dur="1000"/>
                                        <p:tgtEl>
                                          <p:spTgt spid="51"/>
                                        </p:tgtEl>
                                      </p:cBhvr>
                                    </p:animEffect>
                                  </p:childTnLst>
                                </p:cTn>
                              </p:par>
                            </p:childTnLst>
                          </p:cTn>
                        </p:par>
                      </p:childTnLst>
                    </p:cTn>
                  </p:par>
                  <p:par>
                    <p:cTn id="29" fill="hold">
                      <p:stCondLst>
                        <p:cond delay="indefinite"/>
                      </p:stCondLst>
                      <p:childTnLst>
                        <p:par>
                          <p:cTn id="30" fill="hold">
                            <p:stCondLst>
                              <p:cond delay="0"/>
                            </p:stCondLst>
                            <p:childTnLst>
                              <p:par>
                                <p:cTn id="31" presetID="53" presetClass="entr" presetSubtype="16"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anim calcmode="lin" valueType="num">
                                      <p:cBhvr>
                                        <p:cTn id="33" dur="1000" fill="hold"/>
                                        <p:tgtEl>
                                          <p:spTgt spid="15"/>
                                        </p:tgtEl>
                                        <p:attrNameLst>
                                          <p:attrName>ppt_w</p:attrName>
                                        </p:attrNameLst>
                                      </p:cBhvr>
                                      <p:tavLst>
                                        <p:tav tm="0">
                                          <p:val>
                                            <p:fltVal val="0"/>
                                          </p:val>
                                        </p:tav>
                                        <p:tav tm="100000">
                                          <p:val>
                                            <p:strVal val="#ppt_w"/>
                                          </p:val>
                                        </p:tav>
                                      </p:tavLst>
                                    </p:anim>
                                    <p:anim calcmode="lin" valueType="num">
                                      <p:cBhvr>
                                        <p:cTn id="34" dur="1000" fill="hold"/>
                                        <p:tgtEl>
                                          <p:spTgt spid="15"/>
                                        </p:tgtEl>
                                        <p:attrNameLst>
                                          <p:attrName>ppt_h</p:attrName>
                                        </p:attrNameLst>
                                      </p:cBhvr>
                                      <p:tavLst>
                                        <p:tav tm="0">
                                          <p:val>
                                            <p:fltVal val="0"/>
                                          </p:val>
                                        </p:tav>
                                        <p:tav tm="100000">
                                          <p:val>
                                            <p:strVal val="#ppt_h"/>
                                          </p:val>
                                        </p:tav>
                                      </p:tavLst>
                                    </p:anim>
                                    <p:animEffect transition="in" filter="fade">
                                      <p:cBhvr>
                                        <p:cTn id="35" dur="10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1000"/>
                                        <p:tgtEl>
                                          <p:spTgt spid="8"/>
                                        </p:tgtEl>
                                      </p:cBhvr>
                                    </p:animEffect>
                                    <p:anim calcmode="lin" valueType="num">
                                      <p:cBhvr>
                                        <p:cTn id="41" dur="1000" fill="hold"/>
                                        <p:tgtEl>
                                          <p:spTgt spid="8"/>
                                        </p:tgtEl>
                                        <p:attrNameLst>
                                          <p:attrName>ppt_x</p:attrName>
                                        </p:attrNameLst>
                                      </p:cBhvr>
                                      <p:tavLst>
                                        <p:tav tm="0">
                                          <p:val>
                                            <p:strVal val="#ppt_x"/>
                                          </p:val>
                                        </p:tav>
                                        <p:tav tm="100000">
                                          <p:val>
                                            <p:strVal val="#ppt_x"/>
                                          </p:val>
                                        </p:tav>
                                      </p:tavLst>
                                    </p:anim>
                                    <p:anim calcmode="lin" valueType="num">
                                      <p:cBhvr>
                                        <p:cTn id="4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P spid="50" grpId="0" animBg="1"/>
      <p:bldP spid="51"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3" name="组合 92"/>
          <p:cNvGrpSpPr/>
          <p:nvPr/>
        </p:nvGrpSpPr>
        <p:grpSpPr>
          <a:xfrm>
            <a:off x="2565400" y="1390650"/>
            <a:ext cx="635000" cy="1169551"/>
            <a:chOff x="3492500" y="1638300"/>
            <a:chExt cx="635000" cy="1169551"/>
          </a:xfrm>
        </p:grpSpPr>
        <p:grpSp>
          <p:nvGrpSpPr>
            <p:cNvPr id="89" name="组合 88"/>
            <p:cNvGrpSpPr/>
            <p:nvPr/>
          </p:nvGrpSpPr>
          <p:grpSpPr>
            <a:xfrm>
              <a:off x="3492500" y="1800225"/>
              <a:ext cx="635000" cy="946150"/>
              <a:chOff x="3492500" y="1800225"/>
              <a:chExt cx="635000" cy="946150"/>
            </a:xfrm>
          </p:grpSpPr>
          <p:cxnSp>
            <p:nvCxnSpPr>
              <p:cNvPr id="80" name="直接箭头连接符 79"/>
              <p:cNvCxnSpPr/>
              <p:nvPr/>
            </p:nvCxnSpPr>
            <p:spPr>
              <a:xfrm>
                <a:off x="3492500" y="1800225"/>
                <a:ext cx="63500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1" name="直接箭头连接符 80"/>
              <p:cNvCxnSpPr/>
              <p:nvPr/>
            </p:nvCxnSpPr>
            <p:spPr>
              <a:xfrm>
                <a:off x="3492500" y="1957917"/>
                <a:ext cx="63500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2" name="直接箭头连接符 81"/>
              <p:cNvCxnSpPr/>
              <p:nvPr/>
            </p:nvCxnSpPr>
            <p:spPr>
              <a:xfrm>
                <a:off x="3492500" y="2273301"/>
                <a:ext cx="63500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3" name="直接箭头连接符 82"/>
              <p:cNvCxnSpPr/>
              <p:nvPr/>
            </p:nvCxnSpPr>
            <p:spPr>
              <a:xfrm>
                <a:off x="3492500" y="2430993"/>
                <a:ext cx="63500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5" name="直接箭头连接符 84"/>
              <p:cNvCxnSpPr/>
              <p:nvPr/>
            </p:nvCxnSpPr>
            <p:spPr>
              <a:xfrm>
                <a:off x="3492500" y="2115609"/>
                <a:ext cx="63500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p:nvPr/>
            </p:nvCxnSpPr>
            <p:spPr>
              <a:xfrm>
                <a:off x="3492500" y="2588685"/>
                <a:ext cx="63500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8" name="直接箭头连接符 87"/>
              <p:cNvCxnSpPr/>
              <p:nvPr/>
            </p:nvCxnSpPr>
            <p:spPr>
              <a:xfrm>
                <a:off x="3492500" y="2746375"/>
                <a:ext cx="63500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92" name="TextBox 91"/>
            <p:cNvSpPr txBox="1"/>
            <p:nvPr/>
          </p:nvSpPr>
          <p:spPr>
            <a:xfrm>
              <a:off x="3597344" y="1638300"/>
              <a:ext cx="269626" cy="1169551"/>
            </a:xfrm>
            <a:prstGeom prst="rect">
              <a:avLst/>
            </a:prstGeom>
            <a:noFill/>
          </p:spPr>
          <p:txBody>
            <a:bodyPr wrap="none" rtlCol="0">
              <a:spAutoFit/>
            </a:bodyPr>
            <a:lstStyle/>
            <a:p>
              <a:pPr algn="ctr">
                <a:lnSpc>
                  <a:spcPts val="1200"/>
                </a:lnSpc>
              </a:pP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a</a:t>
              </a:r>
              <a:endPar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ts val="1200"/>
                </a:lnSpc>
              </a:pP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b</a:t>
              </a:r>
              <a:endPar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ts val="1200"/>
                </a:lnSpc>
              </a:pP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c</a:t>
              </a:r>
              <a:endPar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ts val="1200"/>
                </a:lnSpc>
              </a:pP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d</a:t>
              </a:r>
              <a:endPar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ts val="1200"/>
                </a:lnSpc>
              </a:pP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e</a:t>
              </a:r>
              <a:endPar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ts val="1200"/>
                </a:lnSpc>
              </a:pP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f</a:t>
              </a:r>
              <a:endPar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ts val="1200"/>
                </a:lnSpc>
              </a:pPr>
              <a:r>
                <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rPr>
                <a:t>g</a:t>
              </a:r>
              <a:endParaRPr lang="en-US" altLang="zh-CN" sz="1200" b="1" dirty="0">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59" name="组合 58"/>
          <p:cNvGrpSpPr/>
          <p:nvPr/>
        </p:nvGrpSpPr>
        <p:grpSpPr>
          <a:xfrm>
            <a:off x="3206750" y="1419225"/>
            <a:ext cx="768350" cy="1212850"/>
            <a:chOff x="2324100" y="2235200"/>
            <a:chExt cx="1111250" cy="2032000"/>
          </a:xfrm>
        </p:grpSpPr>
        <p:pic>
          <p:nvPicPr>
            <p:cNvPr id="60" name="Picture 27"/>
            <p:cNvPicPr>
              <a:picLocks noChangeAspect="1" noChangeArrowheads="1"/>
            </p:cNvPicPr>
            <p:nvPr/>
          </p:nvPicPr>
          <p:blipFill>
            <a:blip r:embed="rId1" cstate="print"/>
            <a:srcRect r="5367" b="3704"/>
            <a:stretch>
              <a:fillRect/>
            </a:stretch>
          </p:blipFill>
          <p:spPr bwMode="auto">
            <a:xfrm>
              <a:off x="2352675" y="2266950"/>
              <a:ext cx="1063625" cy="1981200"/>
            </a:xfrm>
            <a:prstGeom prst="rect">
              <a:avLst/>
            </a:prstGeom>
            <a:noFill/>
            <a:ln w="9525">
              <a:noFill/>
              <a:miter lim="800000"/>
              <a:headEnd/>
              <a:tailEnd/>
            </a:ln>
          </p:spPr>
        </p:pic>
        <p:sp>
          <p:nvSpPr>
            <p:cNvPr id="62" name="圆角矩形 61"/>
            <p:cNvSpPr/>
            <p:nvPr/>
          </p:nvSpPr>
          <p:spPr>
            <a:xfrm>
              <a:off x="2324100" y="2235200"/>
              <a:ext cx="1111250" cy="2032000"/>
            </a:xfrm>
            <a:prstGeom prst="roundRect">
              <a:avLst>
                <a:gd name="adj" fmla="val 74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0" name="圆角矩形 69"/>
          <p:cNvSpPr/>
          <p:nvPr/>
        </p:nvSpPr>
        <p:spPr>
          <a:xfrm>
            <a:off x="1835150" y="1384300"/>
            <a:ext cx="844550" cy="1282700"/>
          </a:xfrm>
          <a:prstGeom prst="roundRect">
            <a:avLst/>
          </a:prstGeom>
          <a:solidFill>
            <a:schemeClr val="accent1">
              <a:lumMod val="75000"/>
            </a:schemeClr>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七段显示译码器</a:t>
            </a:r>
            <a:endParaRPr lang="zh-CN" altLang="en-US" dirty="0">
              <a:latin typeface="微软雅黑" panose="020B0503020204020204" pitchFamily="34" charset="-122"/>
              <a:ea typeface="微软雅黑" panose="020B0503020204020204" pitchFamily="34" charset="-122"/>
            </a:endParaRPr>
          </a:p>
        </p:txBody>
      </p:sp>
      <p:grpSp>
        <p:nvGrpSpPr>
          <p:cNvPr id="91" name="组合 90"/>
          <p:cNvGrpSpPr/>
          <p:nvPr/>
        </p:nvGrpSpPr>
        <p:grpSpPr>
          <a:xfrm>
            <a:off x="1162050" y="1409700"/>
            <a:ext cx="635000" cy="1015663"/>
            <a:chOff x="1968500" y="1657350"/>
            <a:chExt cx="635000" cy="1015663"/>
          </a:xfrm>
        </p:grpSpPr>
        <p:grpSp>
          <p:nvGrpSpPr>
            <p:cNvPr id="77" name="组合 76"/>
            <p:cNvGrpSpPr/>
            <p:nvPr/>
          </p:nvGrpSpPr>
          <p:grpSpPr>
            <a:xfrm>
              <a:off x="1968500" y="1927225"/>
              <a:ext cx="635000" cy="692150"/>
              <a:chOff x="1727200" y="1885950"/>
              <a:chExt cx="889000" cy="692150"/>
            </a:xfrm>
          </p:grpSpPr>
          <p:cxnSp>
            <p:nvCxnSpPr>
              <p:cNvPr id="72" name="直接箭头连接符 71"/>
              <p:cNvCxnSpPr/>
              <p:nvPr/>
            </p:nvCxnSpPr>
            <p:spPr>
              <a:xfrm>
                <a:off x="1727200" y="1885950"/>
                <a:ext cx="88900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4" name="直接箭头连接符 73"/>
              <p:cNvCxnSpPr/>
              <p:nvPr/>
            </p:nvCxnSpPr>
            <p:spPr>
              <a:xfrm>
                <a:off x="1727200" y="2116667"/>
                <a:ext cx="88900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5" name="直接箭头连接符 74"/>
              <p:cNvCxnSpPr/>
              <p:nvPr/>
            </p:nvCxnSpPr>
            <p:spPr>
              <a:xfrm>
                <a:off x="1727200" y="2347384"/>
                <a:ext cx="88900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6" name="直接箭头连接符 75"/>
              <p:cNvCxnSpPr/>
              <p:nvPr/>
            </p:nvCxnSpPr>
            <p:spPr>
              <a:xfrm>
                <a:off x="1727200" y="2578100"/>
                <a:ext cx="889000" cy="0"/>
              </a:xfrm>
              <a:prstGeom prst="straightConnector1">
                <a:avLst/>
              </a:prstGeom>
              <a:ln w="19050">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90" name="TextBox 89"/>
            <p:cNvSpPr txBox="1"/>
            <p:nvPr/>
          </p:nvSpPr>
          <p:spPr>
            <a:xfrm>
              <a:off x="2114550" y="1657350"/>
              <a:ext cx="373820" cy="1015663"/>
            </a:xfrm>
            <a:prstGeom prst="rect">
              <a:avLst/>
            </a:prstGeom>
            <a:noFill/>
          </p:spPr>
          <p:txBody>
            <a:bodyPr wrap="none" rtlCol="0">
              <a:spAutoFit/>
            </a:bodyPr>
            <a:lstStyle/>
            <a:p>
              <a:pPr>
                <a:lnSpc>
                  <a:spcPts val="1800"/>
                </a:lnSpc>
              </a:pP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400" baseline="-25000"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400" baseline="-25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400" baseline="-25000" dirty="0">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400" baseline="-25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400" baseline="-2500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400" baseline="-25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400"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400" baseline="-25000" dirty="0">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400" baseline="-250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78" name="圆角矩形 77"/>
          <p:cNvSpPr/>
          <p:nvPr/>
        </p:nvSpPr>
        <p:spPr>
          <a:xfrm>
            <a:off x="488950" y="1524000"/>
            <a:ext cx="806450" cy="1003300"/>
          </a:xfrm>
          <a:prstGeom prst="roundRect">
            <a:avLst>
              <a:gd name="adj" fmla="val 8793"/>
            </a:avLst>
          </a:prstGeom>
          <a:ln w="19050">
            <a:solidFill>
              <a:schemeClr val="accent1">
                <a:lumMod val="50000"/>
              </a:schemeClr>
            </a:solidFill>
          </a:ln>
        </p:spPr>
        <p:style>
          <a:lnRef idx="0">
            <a:schemeClr val="accent2"/>
          </a:lnRef>
          <a:fillRef idx="3">
            <a:schemeClr val="accent2"/>
          </a:fillRef>
          <a:effectRef idx="3">
            <a:schemeClr val="accent2"/>
          </a:effectRef>
          <a:fontRef idx="minor">
            <a:schemeClr val="lt1"/>
          </a:fontRef>
        </p:style>
        <p:txBody>
          <a:bodyPr lIns="0" tIns="0" rIns="0" bIns="0" rtlCol="0" anchor="ctr"/>
          <a:lstStyle/>
          <a:p>
            <a:pPr algn="ctr"/>
            <a:r>
              <a:rPr lang="en-US" altLang="zh-CN" dirty="0">
                <a:latin typeface="微软雅黑" panose="020B0503020204020204" pitchFamily="34" charset="-122"/>
                <a:ea typeface="微软雅黑" panose="020B0503020204020204" pitchFamily="34" charset="-122"/>
              </a:rPr>
              <a:t>BCD</a:t>
            </a:r>
            <a:r>
              <a:rPr lang="zh-CN" altLang="en-US" dirty="0">
                <a:latin typeface="微软雅黑" panose="020B0503020204020204" pitchFamily="34" charset="-122"/>
                <a:ea typeface="微软雅黑" panose="020B0503020204020204" pitchFamily="34" charset="-122"/>
              </a:rPr>
              <a:t>码</a:t>
            </a:r>
            <a:endParaRPr lang="zh-CN" altLang="en-US" dirty="0">
              <a:latin typeface="微软雅黑" panose="020B0503020204020204" pitchFamily="34" charset="-122"/>
              <a:ea typeface="微软雅黑" panose="020B0503020204020204" pitchFamily="34" charset="-122"/>
            </a:endParaRPr>
          </a:p>
        </p:txBody>
      </p:sp>
      <p:pic>
        <p:nvPicPr>
          <p:cNvPr id="31750" name="Picture 6"/>
          <p:cNvPicPr>
            <a:picLocks noChangeAspect="1" noChangeArrowheads="1"/>
          </p:cNvPicPr>
          <p:nvPr/>
        </p:nvPicPr>
        <p:blipFill>
          <a:blip r:embed="rId2" cstate="print"/>
          <a:srcRect/>
          <a:stretch>
            <a:fillRect/>
          </a:stretch>
        </p:blipFill>
        <p:spPr bwMode="auto">
          <a:xfrm>
            <a:off x="4445000" y="729072"/>
            <a:ext cx="4362450" cy="4391341"/>
          </a:xfrm>
          <a:prstGeom prst="rect">
            <a:avLst/>
          </a:prstGeom>
          <a:noFill/>
          <a:ln w="9525">
            <a:noFill/>
            <a:miter lim="800000"/>
            <a:headEnd/>
            <a:tailEnd/>
          </a:ln>
        </p:spPr>
      </p:pic>
      <p:sp>
        <p:nvSpPr>
          <p:cNvPr id="147" name="圆角矩形 146"/>
          <p:cNvSpPr/>
          <p:nvPr/>
        </p:nvSpPr>
        <p:spPr>
          <a:xfrm>
            <a:off x="4495800" y="1314450"/>
            <a:ext cx="4267200" cy="2355850"/>
          </a:xfrm>
          <a:prstGeom prst="roundRect">
            <a:avLst>
              <a:gd name="adj" fmla="val 2096"/>
            </a:avLst>
          </a:prstGeom>
          <a:solidFill>
            <a:srgbClr val="66FF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8" name="圆角矩形 147"/>
          <p:cNvSpPr/>
          <p:nvPr/>
        </p:nvSpPr>
        <p:spPr>
          <a:xfrm>
            <a:off x="4495800" y="3689350"/>
            <a:ext cx="4267200" cy="654050"/>
          </a:xfrm>
          <a:prstGeom prst="roundRect">
            <a:avLst>
              <a:gd name="adj" fmla="val 3444"/>
            </a:avLst>
          </a:prstGeom>
          <a:solidFill>
            <a:srgbClr val="FF00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9" name="圆角矩形 148"/>
          <p:cNvSpPr/>
          <p:nvPr/>
        </p:nvSpPr>
        <p:spPr>
          <a:xfrm>
            <a:off x="4489450" y="4362450"/>
            <a:ext cx="4267200" cy="241300"/>
          </a:xfrm>
          <a:prstGeom prst="roundRect">
            <a:avLst>
              <a:gd name="adj" fmla="val 3444"/>
            </a:avLst>
          </a:prstGeom>
          <a:solidFill>
            <a:srgbClr val="00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0" name="圆角矩形 149"/>
          <p:cNvSpPr/>
          <p:nvPr/>
        </p:nvSpPr>
        <p:spPr>
          <a:xfrm>
            <a:off x="4489450" y="4603750"/>
            <a:ext cx="4267200" cy="241300"/>
          </a:xfrm>
          <a:prstGeom prst="roundRect">
            <a:avLst>
              <a:gd name="adj" fmla="val 3444"/>
            </a:avLst>
          </a:prstGeom>
          <a:solidFill>
            <a:srgbClr val="FFFF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圆角矩形 150"/>
          <p:cNvSpPr/>
          <p:nvPr/>
        </p:nvSpPr>
        <p:spPr>
          <a:xfrm>
            <a:off x="4489450" y="4845050"/>
            <a:ext cx="4267200" cy="241300"/>
          </a:xfrm>
          <a:prstGeom prst="roundRect">
            <a:avLst>
              <a:gd name="adj" fmla="val 3444"/>
            </a:avLst>
          </a:prstGeom>
          <a:solidFill>
            <a:srgbClr val="66FF66">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8" name="组合 67"/>
          <p:cNvGrpSpPr/>
          <p:nvPr/>
        </p:nvGrpSpPr>
        <p:grpSpPr>
          <a:xfrm>
            <a:off x="976277" y="2788980"/>
            <a:ext cx="2257940" cy="2297370"/>
            <a:chOff x="976277" y="2788980"/>
            <a:chExt cx="2257940" cy="2297370"/>
          </a:xfrm>
        </p:grpSpPr>
        <p:grpSp>
          <p:nvGrpSpPr>
            <p:cNvPr id="61" name="组合 60"/>
            <p:cNvGrpSpPr/>
            <p:nvPr/>
          </p:nvGrpSpPr>
          <p:grpSpPr>
            <a:xfrm>
              <a:off x="976277" y="2788980"/>
              <a:ext cx="2257940" cy="2297370"/>
              <a:chOff x="1347752" y="2855655"/>
              <a:chExt cx="2257940" cy="2297370"/>
            </a:xfrm>
          </p:grpSpPr>
          <p:sp>
            <p:nvSpPr>
              <p:cNvPr id="144" name="圆角矩形 143"/>
              <p:cNvSpPr/>
              <p:nvPr/>
            </p:nvSpPr>
            <p:spPr>
              <a:xfrm>
                <a:off x="1347752" y="2855655"/>
                <a:ext cx="2257940" cy="2297370"/>
              </a:xfrm>
              <a:prstGeom prst="roundRect">
                <a:avLst>
                  <a:gd name="adj" fmla="val 372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6" name="组合 125"/>
              <p:cNvGrpSpPr/>
              <p:nvPr/>
            </p:nvGrpSpPr>
            <p:grpSpPr>
              <a:xfrm>
                <a:off x="1723072" y="3039159"/>
                <a:ext cx="1603058" cy="1810988"/>
                <a:chOff x="6394450" y="2638425"/>
                <a:chExt cx="1257300" cy="1361489"/>
              </a:xfrm>
            </p:grpSpPr>
            <p:grpSp>
              <p:nvGrpSpPr>
                <p:cNvPr id="118" name="组合 117"/>
                <p:cNvGrpSpPr/>
                <p:nvPr/>
              </p:nvGrpSpPr>
              <p:grpSpPr>
                <a:xfrm>
                  <a:off x="7414108" y="2766065"/>
                  <a:ext cx="237642" cy="1092028"/>
                  <a:chOff x="2235200" y="1530350"/>
                  <a:chExt cx="252000" cy="977900"/>
                </a:xfrm>
              </p:grpSpPr>
              <p:cxnSp>
                <p:nvCxnSpPr>
                  <p:cNvPr id="98" name="直接连接符 97"/>
                  <p:cNvCxnSpPr/>
                  <p:nvPr/>
                </p:nvCxnSpPr>
                <p:spPr>
                  <a:xfrm>
                    <a:off x="2235200" y="1530350"/>
                    <a:ext cx="25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a:off x="2235200" y="1693333"/>
                    <a:ext cx="25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a:off x="2235200" y="1856316"/>
                    <a:ext cx="25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2235200" y="2019299"/>
                    <a:ext cx="25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a:off x="2235200" y="2182282"/>
                    <a:ext cx="25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2235200" y="2345265"/>
                    <a:ext cx="25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2235200" y="2508250"/>
                    <a:ext cx="25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9" name="组合 118"/>
                <p:cNvGrpSpPr/>
                <p:nvPr/>
              </p:nvGrpSpPr>
              <p:grpSpPr>
                <a:xfrm>
                  <a:off x="6394450" y="3354624"/>
                  <a:ext cx="220177" cy="546015"/>
                  <a:chOff x="1155700" y="2057399"/>
                  <a:chExt cx="252000" cy="488951"/>
                </a:xfrm>
              </p:grpSpPr>
              <p:cxnSp>
                <p:nvCxnSpPr>
                  <p:cNvPr id="107" name="直接连接符 106"/>
                  <p:cNvCxnSpPr/>
                  <p:nvPr/>
                </p:nvCxnSpPr>
                <p:spPr>
                  <a:xfrm>
                    <a:off x="1155700" y="2057399"/>
                    <a:ext cx="25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a:off x="1155700" y="2220382"/>
                    <a:ext cx="25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a:off x="1155700" y="2383365"/>
                    <a:ext cx="25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1155700" y="2546350"/>
                    <a:ext cx="25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13" name="直接连接符 112"/>
                <p:cNvCxnSpPr/>
                <p:nvPr/>
              </p:nvCxnSpPr>
              <p:spPr>
                <a:xfrm>
                  <a:off x="6394450" y="3081617"/>
                  <a:ext cx="2993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a:off x="6394450" y="2751881"/>
                  <a:ext cx="2993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4" name="椭圆 113"/>
                <p:cNvSpPr/>
                <p:nvPr/>
              </p:nvSpPr>
              <p:spPr>
                <a:xfrm>
                  <a:off x="6545334" y="3046162"/>
                  <a:ext cx="64155" cy="60302"/>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w="6350">
                      <a:solidFill>
                        <a:schemeClr val="tx1"/>
                      </a:solidFill>
                    </a:ln>
                  </a:endParaRPr>
                </a:p>
              </p:txBody>
            </p:sp>
            <p:cxnSp>
              <p:nvCxnSpPr>
                <p:cNvPr id="112" name="直接连接符 111"/>
                <p:cNvCxnSpPr/>
                <p:nvPr/>
              </p:nvCxnSpPr>
              <p:spPr>
                <a:xfrm>
                  <a:off x="6394450" y="2913204"/>
                  <a:ext cx="299391"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5" name="椭圆 114"/>
                <p:cNvSpPr/>
                <p:nvPr/>
              </p:nvSpPr>
              <p:spPr>
                <a:xfrm>
                  <a:off x="6549106" y="2875975"/>
                  <a:ext cx="64155" cy="60302"/>
                </a:xfrm>
                <a:prstGeom prst="ellipse">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w="6350">
                      <a:solidFill>
                        <a:schemeClr val="tx1"/>
                      </a:solidFill>
                    </a:ln>
                  </a:endParaRPr>
                </a:p>
              </p:txBody>
            </p:sp>
            <p:sp>
              <p:nvSpPr>
                <p:cNvPr id="95" name="矩形 94"/>
                <p:cNvSpPr/>
                <p:nvPr/>
              </p:nvSpPr>
              <p:spPr>
                <a:xfrm>
                  <a:off x="6613231" y="2638425"/>
                  <a:ext cx="799683" cy="1361489"/>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en-US" altLang="zh-CN" sz="1400" b="1" dirty="0">
                      <a:solidFill>
                        <a:schemeClr val="tx1"/>
                      </a:solidFill>
                      <a:latin typeface="Times New Roman" panose="02020603050405020304" pitchFamily="18" charset="0"/>
                      <a:cs typeface="Times New Roman" panose="02020603050405020304" pitchFamily="18" charset="0"/>
                    </a:rPr>
                    <a:t>74HC4511</a:t>
                  </a:r>
                  <a:endParaRPr lang="zh-CN" altLang="en-US" sz="1400" b="1" dirty="0">
                    <a:solidFill>
                      <a:schemeClr val="tx1"/>
                    </a:solidFill>
                    <a:latin typeface="Times New Roman" panose="02020603050405020304" pitchFamily="18" charset="0"/>
                    <a:cs typeface="Times New Roman" panose="02020603050405020304" pitchFamily="18" charset="0"/>
                  </a:endParaRPr>
                </a:p>
              </p:txBody>
            </p:sp>
            <p:sp>
              <p:nvSpPr>
                <p:cNvPr id="121" name="TextBox 120"/>
                <p:cNvSpPr txBox="1"/>
                <p:nvPr/>
              </p:nvSpPr>
              <p:spPr>
                <a:xfrm>
                  <a:off x="6554451" y="3248100"/>
                  <a:ext cx="251703" cy="742792"/>
                </a:xfrm>
                <a:prstGeom prst="rect">
                  <a:avLst/>
                </a:prstGeom>
                <a:noFill/>
              </p:spPr>
              <p:txBody>
                <a:bodyPr wrap="none" rtlCol="0">
                  <a:spAutoFit/>
                </a:bodyPr>
                <a:lstStyle/>
                <a:p>
                  <a:pPr>
                    <a:lnSpc>
                      <a:spcPts val="1800"/>
                    </a:lnSpc>
                  </a:pP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000" baseline="-25000"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000" baseline="-25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000" baseline="-25000" dirty="0">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000" baseline="-25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000" baseline="-2500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000" baseline="-25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000" baseline="-25000" dirty="0">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000" baseline="-25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2" name="TextBox 121"/>
                <p:cNvSpPr txBox="1"/>
                <p:nvPr/>
              </p:nvSpPr>
              <p:spPr>
                <a:xfrm>
                  <a:off x="6661264" y="2678007"/>
                  <a:ext cx="128240" cy="473326"/>
                </a:xfrm>
                <a:prstGeom prst="rect">
                  <a:avLst/>
                </a:prstGeom>
                <a:noFill/>
              </p:spPr>
              <p:txBody>
                <a:bodyPr wrap="none" lIns="0" tIns="0" rIns="0" bIns="0" rtlCol="0">
                  <a:spAutoFit/>
                </a:bodyPr>
                <a:lstStyle/>
                <a:p>
                  <a:pPr>
                    <a:lnSpc>
                      <a:spcPts val="1700"/>
                    </a:lnSpc>
                  </a:pP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LE</a:t>
                  </a:r>
                  <a:endParaRPr lang="en-US" altLang="zh-CN" sz="1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700"/>
                    </a:lnSpc>
                  </a:pP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BL</a:t>
                  </a:r>
                  <a:endParaRPr lang="en-US" altLang="zh-CN" sz="1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700"/>
                    </a:lnSpc>
                  </a:pP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LT</a:t>
                  </a:r>
                  <a:endParaRPr lang="en-US" altLang="zh-CN" sz="1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24" name="TextBox 123"/>
                <p:cNvSpPr txBox="1"/>
                <p:nvPr/>
              </p:nvSpPr>
              <p:spPr>
                <a:xfrm>
                  <a:off x="7289629" y="2696015"/>
                  <a:ext cx="60348" cy="1214768"/>
                </a:xfrm>
                <a:prstGeom prst="rect">
                  <a:avLst/>
                </a:prstGeom>
                <a:noFill/>
              </p:spPr>
              <p:txBody>
                <a:bodyPr wrap="none" lIns="0" tIns="0" rIns="0" bIns="0" rtlCol="0">
                  <a:spAutoFit/>
                </a:bodyPr>
                <a:lstStyle/>
                <a:p>
                  <a:pPr>
                    <a:lnSpc>
                      <a:spcPts val="1800"/>
                    </a:lnSpc>
                  </a:pP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a</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b</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c</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d</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f</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g</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grpSp>
        <p:sp>
          <p:nvSpPr>
            <p:cNvPr id="63" name="TextBox 62"/>
            <p:cNvSpPr txBox="1"/>
            <p:nvPr/>
          </p:nvSpPr>
          <p:spPr>
            <a:xfrm>
              <a:off x="2997776" y="3039562"/>
              <a:ext cx="76944" cy="1615827"/>
            </a:xfrm>
            <a:prstGeom prst="rect">
              <a:avLst/>
            </a:prstGeom>
            <a:noFill/>
          </p:spPr>
          <p:txBody>
            <a:bodyPr wrap="none" lIns="0" tIns="0" rIns="0" bIns="0" rtlCol="0">
              <a:spAutoFit/>
            </a:bodyPr>
            <a:lstStyle/>
            <a:p>
              <a:pPr>
                <a:lnSpc>
                  <a:spcPts val="1800"/>
                </a:lnSpc>
              </a:pP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a</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b</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c</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d</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e</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f</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200" dirty="0">
                  <a:latin typeface="Times New Roman" panose="02020603050405020304" pitchFamily="18" charset="0"/>
                  <a:ea typeface="微软雅黑" panose="020B0503020204020204" pitchFamily="34" charset="-122"/>
                  <a:cs typeface="Times New Roman" panose="02020603050405020304" pitchFamily="18" charset="0"/>
                </a:rPr>
                <a:t>g</a:t>
              </a:r>
              <a:endParaRPr lang="en-US" altLang="zh-CN" sz="12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4" name="TextBox 63"/>
            <p:cNvSpPr txBox="1"/>
            <p:nvPr/>
          </p:nvSpPr>
          <p:spPr>
            <a:xfrm>
              <a:off x="1088873" y="3754870"/>
              <a:ext cx="320921" cy="988027"/>
            </a:xfrm>
            <a:prstGeom prst="rect">
              <a:avLst/>
            </a:prstGeom>
            <a:noFill/>
          </p:spPr>
          <p:txBody>
            <a:bodyPr wrap="none" rtlCol="0">
              <a:spAutoFit/>
            </a:bodyPr>
            <a:lstStyle/>
            <a:p>
              <a:pPr>
                <a:lnSpc>
                  <a:spcPts val="1800"/>
                </a:lnSpc>
              </a:pP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000" baseline="-25000" dirty="0">
                  <a:latin typeface="Times New Roman" panose="02020603050405020304" pitchFamily="18" charset="0"/>
                  <a:ea typeface="微软雅黑" panose="020B0503020204020204" pitchFamily="34" charset="-122"/>
                  <a:cs typeface="Times New Roman" panose="02020603050405020304" pitchFamily="18" charset="0"/>
                </a:rPr>
                <a:t>3</a:t>
              </a:r>
              <a:endParaRPr lang="en-US" altLang="zh-CN" sz="1000" baseline="-25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000" baseline="-25000" dirty="0">
                  <a:latin typeface="Times New Roman" panose="02020603050405020304" pitchFamily="18" charset="0"/>
                  <a:ea typeface="微软雅黑" panose="020B0503020204020204" pitchFamily="34" charset="-122"/>
                  <a:cs typeface="Times New Roman" panose="02020603050405020304" pitchFamily="18" charset="0"/>
                </a:rPr>
                <a:t>2</a:t>
              </a:r>
              <a:endParaRPr lang="en-US" altLang="zh-CN" sz="1000" baseline="-25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000" baseline="-25000" dirty="0">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000" baseline="-25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000" baseline="-25000" dirty="0">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000" baseline="-25000"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5" name="TextBox 64"/>
            <p:cNvSpPr txBox="1"/>
            <p:nvPr/>
          </p:nvSpPr>
          <p:spPr>
            <a:xfrm>
              <a:off x="1158385" y="3006084"/>
              <a:ext cx="163506" cy="629596"/>
            </a:xfrm>
            <a:prstGeom prst="rect">
              <a:avLst/>
            </a:prstGeom>
            <a:noFill/>
          </p:spPr>
          <p:txBody>
            <a:bodyPr wrap="none" lIns="0" tIns="0" rIns="0" bIns="0" rtlCol="0">
              <a:spAutoFit/>
            </a:bodyPr>
            <a:lstStyle/>
            <a:p>
              <a:pPr>
                <a:lnSpc>
                  <a:spcPts val="1700"/>
                </a:lnSpc>
              </a:pP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LE</a:t>
              </a:r>
              <a:endParaRPr lang="en-US" altLang="zh-CN" sz="1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700"/>
                </a:lnSpc>
              </a:pP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BL</a:t>
              </a:r>
              <a:endParaRPr lang="en-US" altLang="zh-CN" sz="1000" dirty="0">
                <a:latin typeface="Times New Roman" panose="02020603050405020304" pitchFamily="18" charset="0"/>
                <a:ea typeface="微软雅黑" panose="020B0503020204020204" pitchFamily="34" charset="-122"/>
                <a:cs typeface="Times New Roman" panose="02020603050405020304" pitchFamily="18" charset="0"/>
              </a:endParaRPr>
            </a:p>
            <a:p>
              <a:pPr>
                <a:lnSpc>
                  <a:spcPts val="1700"/>
                </a:lnSpc>
              </a:pPr>
              <a:r>
                <a:rPr lang="en-US" altLang="zh-CN" sz="1000" dirty="0">
                  <a:latin typeface="Times New Roman" panose="02020603050405020304" pitchFamily="18" charset="0"/>
                  <a:ea typeface="微软雅黑" panose="020B0503020204020204" pitchFamily="34" charset="-122"/>
                  <a:cs typeface="Times New Roman" panose="02020603050405020304" pitchFamily="18" charset="0"/>
                </a:rPr>
                <a:t>LT</a:t>
              </a:r>
              <a:endParaRPr lang="en-US" altLang="zh-CN" sz="1000" dirty="0">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66" name="直接连接符 65"/>
            <p:cNvCxnSpPr/>
            <p:nvPr/>
          </p:nvCxnSpPr>
          <p:spPr>
            <a:xfrm>
              <a:off x="1148397" y="3263098"/>
              <a:ext cx="14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1148397" y="3485348"/>
              <a:ext cx="144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69" name="TextBox 89"/>
          <p:cNvSpPr txBox="1"/>
          <p:nvPr/>
        </p:nvSpPr>
        <p:spPr>
          <a:xfrm>
            <a:off x="1536023" y="1417822"/>
            <a:ext cx="274434" cy="1015663"/>
          </a:xfrm>
          <a:prstGeom prst="rect">
            <a:avLst/>
          </a:prstGeom>
          <a:noFill/>
        </p:spPr>
        <p:txBody>
          <a:bodyPr wrap="none" rtlCol="0">
            <a:spAutoFit/>
          </a:bodyPr>
          <a:lstStyle/>
          <a:p>
            <a:pPr>
              <a:lnSpc>
                <a:spcPts val="1800"/>
              </a:lnSpc>
            </a:pPr>
            <a:r>
              <a:rPr lang="en-US" altLang="zh-CN" sz="1400"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400" b="1" baseline="-25000"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400"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400" b="1" baseline="-25000"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400"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400" b="1" baseline="-25000"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endParaRPr>
          </a:p>
          <a:p>
            <a:pPr>
              <a:lnSpc>
                <a:spcPts val="1800"/>
              </a:lnSpc>
            </a:pPr>
            <a:r>
              <a:rPr lang="en-US" altLang="zh-CN" sz="1400"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400" b="1" baseline="-25000"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71" name="Picture 34"/>
          <p:cNvPicPr>
            <a:picLocks noChangeAspect="1" noChangeArrowheads="1"/>
          </p:cNvPicPr>
          <p:nvPr/>
        </p:nvPicPr>
        <p:blipFill>
          <a:blip r:embed="rId3" cstate="print"/>
          <a:srcRect/>
          <a:stretch>
            <a:fillRect/>
          </a:stretch>
        </p:blipFill>
        <p:spPr bwMode="auto">
          <a:xfrm>
            <a:off x="3234217" y="1445918"/>
            <a:ext cx="727712" cy="1174787"/>
          </a:xfrm>
          <a:prstGeom prst="rect">
            <a:avLst/>
          </a:prstGeom>
          <a:noFill/>
          <a:ln w="9525">
            <a:noFill/>
            <a:miter lim="800000"/>
            <a:headEnd/>
            <a:tailEnd/>
          </a:ln>
        </p:spPr>
      </p:pic>
      <p:sp>
        <p:nvSpPr>
          <p:cNvPr id="79" name="TextBox 91"/>
          <p:cNvSpPr txBox="1"/>
          <p:nvPr/>
        </p:nvSpPr>
        <p:spPr>
          <a:xfrm>
            <a:off x="2877570" y="1460000"/>
            <a:ext cx="274435" cy="1169551"/>
          </a:xfrm>
          <a:prstGeom prst="rect">
            <a:avLst/>
          </a:prstGeom>
          <a:noFill/>
        </p:spPr>
        <p:txBody>
          <a:bodyPr wrap="none" rtlCol="0">
            <a:spAutoFit/>
          </a:bodyPr>
          <a:lstStyle/>
          <a:p>
            <a:pPr algn="ctr">
              <a:lnSpc>
                <a:spcPts val="1200"/>
              </a:lnSpc>
            </a:pPr>
            <a:r>
              <a:rPr lang="en-US" altLang="zh-CN" sz="1400"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400"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ts val="1200"/>
              </a:lnSpc>
            </a:pPr>
            <a:r>
              <a:rPr lang="en-US" altLang="zh-CN" sz="1400"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400"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ts val="1200"/>
              </a:lnSpc>
            </a:pPr>
            <a:r>
              <a:rPr lang="en-US" altLang="zh-CN" sz="1400"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400"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ts val="1200"/>
              </a:lnSpc>
            </a:pPr>
            <a:r>
              <a:rPr lang="en-US" altLang="zh-CN" sz="1400"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400"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ts val="1200"/>
              </a:lnSpc>
            </a:pPr>
            <a:r>
              <a:rPr lang="en-US" altLang="zh-CN" sz="1400"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rPr>
              <a:t>0</a:t>
            </a:r>
            <a:endParaRPr lang="en-US" altLang="zh-CN" sz="1400"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ts val="1200"/>
              </a:lnSpc>
            </a:pPr>
            <a:r>
              <a:rPr lang="en-US" altLang="zh-CN" sz="1400"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400"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endParaRPr>
          </a:p>
          <a:p>
            <a:pPr algn="ctr">
              <a:lnSpc>
                <a:spcPts val="1200"/>
              </a:lnSpc>
            </a:pPr>
            <a:r>
              <a:rPr lang="en-US" altLang="zh-CN" sz="1400"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rPr>
              <a:t>1</a:t>
            </a:r>
            <a:endParaRPr lang="en-US" altLang="zh-CN" sz="1400"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84" name="圆角矩形 83"/>
          <p:cNvSpPr/>
          <p:nvPr/>
        </p:nvSpPr>
        <p:spPr>
          <a:xfrm>
            <a:off x="1087350" y="3836684"/>
            <a:ext cx="789167" cy="934788"/>
          </a:xfrm>
          <a:prstGeom prst="roundRect">
            <a:avLst>
              <a:gd name="adj" fmla="val 6285"/>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圆角矩形 85"/>
          <p:cNvSpPr/>
          <p:nvPr/>
        </p:nvSpPr>
        <p:spPr>
          <a:xfrm>
            <a:off x="2428065" y="3006083"/>
            <a:ext cx="660890" cy="1736813"/>
          </a:xfrm>
          <a:prstGeom prst="roundRect">
            <a:avLst>
              <a:gd name="adj" fmla="val 6285"/>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4" name="圆角矩形 93"/>
          <p:cNvSpPr/>
          <p:nvPr/>
        </p:nvSpPr>
        <p:spPr>
          <a:xfrm>
            <a:off x="1088873" y="2928101"/>
            <a:ext cx="787645" cy="826769"/>
          </a:xfrm>
          <a:prstGeom prst="roundRect">
            <a:avLst>
              <a:gd name="adj" fmla="val 6285"/>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48085" y="2682875"/>
            <a:ext cx="4464265" cy="2838694"/>
            <a:chOff x="-12915" y="2682875"/>
            <a:chExt cx="4464265" cy="2838694"/>
          </a:xfrm>
        </p:grpSpPr>
        <p:graphicFrame>
          <p:nvGraphicFramePr>
            <p:cNvPr id="96" name="对象 95"/>
            <p:cNvGraphicFramePr>
              <a:graphicFrameLocks noChangeAspect="1"/>
            </p:cNvGraphicFramePr>
            <p:nvPr/>
          </p:nvGraphicFramePr>
          <p:xfrm>
            <a:off x="-12915" y="2765619"/>
            <a:ext cx="4396291" cy="2630712"/>
          </p:xfrm>
          <a:graphic>
            <a:graphicData uri="http://schemas.openxmlformats.org/presentationml/2006/ole">
              <mc:AlternateContent xmlns:mc="http://schemas.openxmlformats.org/markup-compatibility/2006">
                <mc:Choice xmlns:v="urn:schemas-microsoft-com:vml" Requires="v">
                  <p:oleObj spid="_x0000_s48140" name="" r:id="rId4" imgW="2381250" imgH="1428750" progId="Visio.Drawing.11">
                    <p:embed/>
                  </p:oleObj>
                </mc:Choice>
                <mc:Fallback>
                  <p:oleObj name="" r:id="rId4" imgW="2381250" imgH="1428750" progId="Visio.Drawing.11">
                    <p:embed/>
                    <p:pic>
                      <p:nvPicPr>
                        <p:cNvPr id="0" name="对象 9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15" y="2765619"/>
                          <a:ext cx="4396291" cy="2630712"/>
                        </a:xfrm>
                        <a:prstGeom prst="rect">
                          <a:avLst/>
                        </a:prstGeom>
                        <a:solidFill>
                          <a:schemeClr val="bg1"/>
                        </a:solidFill>
                      </p:spPr>
                    </p:pic>
                  </p:oleObj>
                </mc:Fallback>
              </mc:AlternateContent>
            </a:graphicData>
          </a:graphic>
        </p:graphicFrame>
        <p:sp>
          <p:nvSpPr>
            <p:cNvPr id="97" name="圆角矩形 96"/>
            <p:cNvSpPr/>
            <p:nvPr/>
          </p:nvSpPr>
          <p:spPr>
            <a:xfrm>
              <a:off x="203982" y="2682875"/>
              <a:ext cx="4247368" cy="2838694"/>
            </a:xfrm>
            <a:prstGeom prst="roundRect">
              <a:avLst>
                <a:gd name="adj" fmla="val 3728"/>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16" name="组合 17"/>
          <p:cNvGrpSpPr/>
          <p:nvPr/>
        </p:nvGrpSpPr>
        <p:grpSpPr>
          <a:xfrm>
            <a:off x="392432" y="769746"/>
            <a:ext cx="4140066" cy="420971"/>
            <a:chOff x="670560" y="892917"/>
            <a:chExt cx="4140066" cy="420971"/>
          </a:xfrm>
        </p:grpSpPr>
        <p:sp>
          <p:nvSpPr>
            <p:cNvPr id="117" name="矩形 116"/>
            <p:cNvSpPr/>
            <p:nvPr/>
          </p:nvSpPr>
          <p:spPr>
            <a:xfrm>
              <a:off x="1035233" y="913778"/>
              <a:ext cx="3775393"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显示译码器（七段显示译码器）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120" name="Picture 3"/>
            <p:cNvPicPr>
              <a:picLocks noChangeAspect="1" noChangeArrowheads="1"/>
            </p:cNvPicPr>
            <p:nvPr/>
          </p:nvPicPr>
          <p:blipFill>
            <a:blip r:embed="rId6" cstate="print"/>
            <a:srcRect/>
            <a:stretch>
              <a:fillRect/>
            </a:stretch>
          </p:blipFill>
          <p:spPr bwMode="auto">
            <a:xfrm flipH="1">
              <a:off x="670560" y="892917"/>
              <a:ext cx="342900" cy="411055"/>
            </a:xfrm>
            <a:prstGeom prst="rect">
              <a:avLst/>
            </a:prstGeom>
            <a:noFill/>
            <a:ln w="9525">
              <a:noFill/>
              <a:miter lim="800000"/>
              <a:headEnd/>
              <a:tailEnd/>
            </a:ln>
          </p:spPr>
        </p:pic>
      </p:grpSp>
    </p:spTree>
  </p:cSld>
  <p:clrMapOvr>
    <a:masterClrMapping/>
  </p:clrMapOvr>
  <mc:AlternateContent xmlns:mc="http://schemas.openxmlformats.org/markup-compatibility/2006">
    <mc:Choice xmlns:p14="http://schemas.microsoft.com/office/powerpoint/2010/main" Requires="p14">
      <p:transition spd="slow" p14:dur="1600">
        <p14:prism dir="r" isInverted="1"/>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anim calcmode="lin" valueType="num">
                                      <p:cBhvr additive="base">
                                        <p:cTn id="7" dur="1000"/>
                                        <p:tgtEl>
                                          <p:spTgt spid="69"/>
                                        </p:tgtEl>
                                        <p:attrNameLst>
                                          <p:attrName>ppt_x</p:attrName>
                                        </p:attrNameLst>
                                      </p:cBhvr>
                                      <p:tavLst>
                                        <p:tav tm="0">
                                          <p:val>
                                            <p:strVal val="#ppt_x-#ppt_w*1.125000"/>
                                          </p:val>
                                        </p:tav>
                                        <p:tav tm="100000">
                                          <p:val>
                                            <p:strVal val="#ppt_x"/>
                                          </p:val>
                                        </p:tav>
                                      </p:tavLst>
                                    </p:anim>
                                    <p:animEffect transition="in" filter="wipe(right)">
                                      <p:cBhvr>
                                        <p:cTn id="8" dur="1000"/>
                                        <p:tgtEl>
                                          <p:spTgt spid="69"/>
                                        </p:tgtEl>
                                      </p:cBhvr>
                                    </p:animEffect>
                                  </p:childTnLst>
                                </p:cTn>
                              </p:par>
                            </p:childTnLst>
                          </p:cTn>
                        </p:par>
                        <p:par>
                          <p:cTn id="9" fill="hold">
                            <p:stCondLst>
                              <p:cond delay="1000"/>
                            </p:stCondLst>
                            <p:childTnLst>
                              <p:par>
                                <p:cTn id="10" presetID="12" presetClass="entr" presetSubtype="8" fill="hold" grpId="0" nodeType="afterEffect">
                                  <p:stCondLst>
                                    <p:cond delay="0"/>
                                  </p:stCondLst>
                                  <p:childTnLst>
                                    <p:set>
                                      <p:cBhvr>
                                        <p:cTn id="11" dur="1" fill="hold">
                                          <p:stCondLst>
                                            <p:cond delay="0"/>
                                          </p:stCondLst>
                                        </p:cTn>
                                        <p:tgtEl>
                                          <p:spTgt spid="79"/>
                                        </p:tgtEl>
                                        <p:attrNameLst>
                                          <p:attrName>style.visibility</p:attrName>
                                        </p:attrNameLst>
                                      </p:cBhvr>
                                      <p:to>
                                        <p:strVal val="visible"/>
                                      </p:to>
                                    </p:set>
                                    <p:anim calcmode="lin" valueType="num">
                                      <p:cBhvr additive="base">
                                        <p:cTn id="12" dur="1000"/>
                                        <p:tgtEl>
                                          <p:spTgt spid="79"/>
                                        </p:tgtEl>
                                        <p:attrNameLst>
                                          <p:attrName>ppt_x</p:attrName>
                                        </p:attrNameLst>
                                      </p:cBhvr>
                                      <p:tavLst>
                                        <p:tav tm="0">
                                          <p:val>
                                            <p:strVal val="#ppt_x-#ppt_w*1.125000"/>
                                          </p:val>
                                        </p:tav>
                                        <p:tav tm="100000">
                                          <p:val>
                                            <p:strVal val="#ppt_x"/>
                                          </p:val>
                                        </p:tav>
                                      </p:tavLst>
                                    </p:anim>
                                    <p:animEffect transition="in" filter="wipe(right)">
                                      <p:cBhvr>
                                        <p:cTn id="13" dur="1000"/>
                                        <p:tgtEl>
                                          <p:spTgt spid="79"/>
                                        </p:tgtEl>
                                      </p:cBhvr>
                                    </p:animEffect>
                                  </p:childTnLst>
                                </p:cTn>
                              </p:par>
                            </p:childTnLst>
                          </p:cTn>
                        </p:par>
                        <p:par>
                          <p:cTn id="14" fill="hold">
                            <p:stCondLst>
                              <p:cond delay="2000"/>
                            </p:stCondLst>
                            <p:childTnLst>
                              <p:par>
                                <p:cTn id="15" presetID="12" presetClass="entr" presetSubtype="8" fill="hold" nodeType="afterEffect">
                                  <p:stCondLst>
                                    <p:cond delay="0"/>
                                  </p:stCondLst>
                                  <p:childTnLst>
                                    <p:set>
                                      <p:cBhvr>
                                        <p:cTn id="16" dur="1" fill="hold">
                                          <p:stCondLst>
                                            <p:cond delay="0"/>
                                          </p:stCondLst>
                                        </p:cTn>
                                        <p:tgtEl>
                                          <p:spTgt spid="71"/>
                                        </p:tgtEl>
                                        <p:attrNameLst>
                                          <p:attrName>style.visibility</p:attrName>
                                        </p:attrNameLst>
                                      </p:cBhvr>
                                      <p:to>
                                        <p:strVal val="visible"/>
                                      </p:to>
                                    </p:set>
                                    <p:anim calcmode="lin" valueType="num">
                                      <p:cBhvr additive="base">
                                        <p:cTn id="17" dur="1000"/>
                                        <p:tgtEl>
                                          <p:spTgt spid="71"/>
                                        </p:tgtEl>
                                        <p:attrNameLst>
                                          <p:attrName>ppt_x</p:attrName>
                                        </p:attrNameLst>
                                      </p:cBhvr>
                                      <p:tavLst>
                                        <p:tav tm="0">
                                          <p:val>
                                            <p:strVal val="#ppt_x-#ppt_w*1.125000"/>
                                          </p:val>
                                        </p:tav>
                                        <p:tav tm="100000">
                                          <p:val>
                                            <p:strVal val="#ppt_x"/>
                                          </p:val>
                                        </p:tav>
                                      </p:tavLst>
                                    </p:anim>
                                    <p:animEffect transition="in" filter="wipe(right)">
                                      <p:cBhvr>
                                        <p:cTn id="18" dur="1000"/>
                                        <p:tgtEl>
                                          <p:spTgt spid="71"/>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68"/>
                                        </p:tgtEl>
                                        <p:attrNameLst>
                                          <p:attrName>style.visibility</p:attrName>
                                        </p:attrNameLst>
                                      </p:cBhvr>
                                      <p:to>
                                        <p:strVal val="visible"/>
                                      </p:to>
                                    </p:set>
                                    <p:animEffect transition="in" filter="fade">
                                      <p:cBhvr>
                                        <p:cTn id="23" dur="1000"/>
                                        <p:tgtEl>
                                          <p:spTgt spid="68"/>
                                        </p:tgtEl>
                                      </p:cBhvr>
                                    </p:animEffect>
                                    <p:anim calcmode="lin" valueType="num">
                                      <p:cBhvr>
                                        <p:cTn id="24" dur="1000" fill="hold"/>
                                        <p:tgtEl>
                                          <p:spTgt spid="68"/>
                                        </p:tgtEl>
                                        <p:attrNameLst>
                                          <p:attrName>ppt_x</p:attrName>
                                        </p:attrNameLst>
                                      </p:cBhvr>
                                      <p:tavLst>
                                        <p:tav tm="0">
                                          <p:val>
                                            <p:strVal val="#ppt_x"/>
                                          </p:val>
                                        </p:tav>
                                        <p:tav tm="100000">
                                          <p:val>
                                            <p:strVal val="#ppt_x"/>
                                          </p:val>
                                        </p:tav>
                                      </p:tavLst>
                                    </p:anim>
                                    <p:anim calcmode="lin" valueType="num">
                                      <p:cBhvr>
                                        <p:cTn id="25" dur="1000" fill="hold"/>
                                        <p:tgtEl>
                                          <p:spTgt spid="68"/>
                                        </p:tgtEl>
                                        <p:attrNameLst>
                                          <p:attrName>ppt_y</p:attrName>
                                        </p:attrNameLst>
                                      </p:cBhvr>
                                      <p:tavLst>
                                        <p:tav tm="0">
                                          <p:val>
                                            <p:strVal val="#ppt_y+.1"/>
                                          </p:val>
                                        </p:tav>
                                        <p:tav tm="100000">
                                          <p:val>
                                            <p:strVal val="#ppt_y"/>
                                          </p:val>
                                        </p:tav>
                                      </p:tavLst>
                                    </p:anim>
                                  </p:childTnLst>
                                </p:cTn>
                              </p:par>
                            </p:childTnLst>
                          </p:cTn>
                        </p:par>
                        <p:par>
                          <p:cTn id="26" fill="hold">
                            <p:stCondLst>
                              <p:cond delay="1000"/>
                            </p:stCondLst>
                            <p:childTnLst>
                              <p:par>
                                <p:cTn id="27" presetID="42" presetClass="entr" presetSubtype="0" fill="hold" nodeType="afterEffect">
                                  <p:stCondLst>
                                    <p:cond delay="0"/>
                                  </p:stCondLst>
                                  <p:childTnLst>
                                    <p:set>
                                      <p:cBhvr>
                                        <p:cTn id="28" dur="1" fill="hold">
                                          <p:stCondLst>
                                            <p:cond delay="0"/>
                                          </p:stCondLst>
                                        </p:cTn>
                                        <p:tgtEl>
                                          <p:spTgt spid="31750"/>
                                        </p:tgtEl>
                                        <p:attrNameLst>
                                          <p:attrName>style.visibility</p:attrName>
                                        </p:attrNameLst>
                                      </p:cBhvr>
                                      <p:to>
                                        <p:strVal val="visible"/>
                                      </p:to>
                                    </p:set>
                                    <p:animEffect transition="in" filter="fade">
                                      <p:cBhvr>
                                        <p:cTn id="29" dur="1000"/>
                                        <p:tgtEl>
                                          <p:spTgt spid="31750"/>
                                        </p:tgtEl>
                                      </p:cBhvr>
                                    </p:animEffect>
                                    <p:anim calcmode="lin" valueType="num">
                                      <p:cBhvr>
                                        <p:cTn id="30" dur="1000" fill="hold"/>
                                        <p:tgtEl>
                                          <p:spTgt spid="31750"/>
                                        </p:tgtEl>
                                        <p:attrNameLst>
                                          <p:attrName>ppt_x</p:attrName>
                                        </p:attrNameLst>
                                      </p:cBhvr>
                                      <p:tavLst>
                                        <p:tav tm="0">
                                          <p:val>
                                            <p:strVal val="#ppt_x"/>
                                          </p:val>
                                        </p:tav>
                                        <p:tav tm="100000">
                                          <p:val>
                                            <p:strVal val="#ppt_x"/>
                                          </p:val>
                                        </p:tav>
                                      </p:tavLst>
                                    </p:anim>
                                    <p:anim calcmode="lin" valueType="num">
                                      <p:cBhvr>
                                        <p:cTn id="31" dur="1000" fill="hold"/>
                                        <p:tgtEl>
                                          <p:spTgt spid="31750"/>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2" fill="hold" grpId="0" nodeType="clickEffect">
                                  <p:stCondLst>
                                    <p:cond delay="0"/>
                                  </p:stCondLst>
                                  <p:childTnLst>
                                    <p:set>
                                      <p:cBhvr>
                                        <p:cTn id="35" dur="1" fill="hold">
                                          <p:stCondLst>
                                            <p:cond delay="0"/>
                                          </p:stCondLst>
                                        </p:cTn>
                                        <p:tgtEl>
                                          <p:spTgt spid="84"/>
                                        </p:tgtEl>
                                        <p:attrNameLst>
                                          <p:attrName>style.visibility</p:attrName>
                                        </p:attrNameLst>
                                      </p:cBhvr>
                                      <p:to>
                                        <p:strVal val="visible"/>
                                      </p:to>
                                    </p:set>
                                    <p:animEffect transition="in" filter="wipe(right)">
                                      <p:cBhvr>
                                        <p:cTn id="36" dur="1000"/>
                                        <p:tgtEl>
                                          <p:spTgt spid="84"/>
                                        </p:tgtEl>
                                      </p:cBhvr>
                                    </p:animEffect>
                                  </p:childTnLst>
                                </p:cTn>
                              </p:par>
                            </p:childTnLst>
                          </p:cTn>
                        </p:par>
                        <p:par>
                          <p:cTn id="37" fill="hold">
                            <p:stCondLst>
                              <p:cond delay="1000"/>
                            </p:stCondLst>
                            <p:childTnLst>
                              <p:par>
                                <p:cTn id="38" presetID="22" presetClass="entr" presetSubtype="8" fill="hold" grpId="0" nodeType="afterEffect">
                                  <p:stCondLst>
                                    <p:cond delay="0"/>
                                  </p:stCondLst>
                                  <p:childTnLst>
                                    <p:set>
                                      <p:cBhvr>
                                        <p:cTn id="39" dur="1" fill="hold">
                                          <p:stCondLst>
                                            <p:cond delay="0"/>
                                          </p:stCondLst>
                                        </p:cTn>
                                        <p:tgtEl>
                                          <p:spTgt spid="86"/>
                                        </p:tgtEl>
                                        <p:attrNameLst>
                                          <p:attrName>style.visibility</p:attrName>
                                        </p:attrNameLst>
                                      </p:cBhvr>
                                      <p:to>
                                        <p:strVal val="visible"/>
                                      </p:to>
                                    </p:set>
                                    <p:animEffect transition="in" filter="wipe(left)">
                                      <p:cBhvr>
                                        <p:cTn id="40" dur="1000"/>
                                        <p:tgtEl>
                                          <p:spTgt spid="86"/>
                                        </p:tgtEl>
                                      </p:cBhvr>
                                    </p:animEffect>
                                  </p:childTnLst>
                                </p:cTn>
                              </p:par>
                            </p:childTnLst>
                          </p:cTn>
                        </p:par>
                        <p:par>
                          <p:cTn id="41" fill="hold">
                            <p:stCondLst>
                              <p:cond delay="2000"/>
                            </p:stCondLst>
                            <p:childTnLst>
                              <p:par>
                                <p:cTn id="42" presetID="22" presetClass="entr" presetSubtype="2" fill="hold" grpId="0" nodeType="afterEffect">
                                  <p:stCondLst>
                                    <p:cond delay="0"/>
                                  </p:stCondLst>
                                  <p:childTnLst>
                                    <p:set>
                                      <p:cBhvr>
                                        <p:cTn id="43" dur="1" fill="hold">
                                          <p:stCondLst>
                                            <p:cond delay="0"/>
                                          </p:stCondLst>
                                        </p:cTn>
                                        <p:tgtEl>
                                          <p:spTgt spid="94"/>
                                        </p:tgtEl>
                                        <p:attrNameLst>
                                          <p:attrName>style.visibility</p:attrName>
                                        </p:attrNameLst>
                                      </p:cBhvr>
                                      <p:to>
                                        <p:strVal val="visible"/>
                                      </p:to>
                                    </p:set>
                                    <p:animEffect transition="in" filter="wipe(right)">
                                      <p:cBhvr>
                                        <p:cTn id="44" dur="1000"/>
                                        <p:tgtEl>
                                          <p:spTgt spid="94"/>
                                        </p:tgtEl>
                                      </p:cBhvr>
                                    </p:animEffect>
                                  </p:childTnLst>
                                </p:cTn>
                              </p:par>
                            </p:childTnLst>
                          </p:cTn>
                        </p:par>
                      </p:childTnLst>
                    </p:cTn>
                  </p:par>
                  <p:par>
                    <p:cTn id="45" fill="hold">
                      <p:stCondLst>
                        <p:cond delay="indefinite"/>
                      </p:stCondLst>
                      <p:childTnLst>
                        <p:par>
                          <p:cTn id="46" fill="hold">
                            <p:stCondLst>
                              <p:cond delay="0"/>
                            </p:stCondLst>
                            <p:childTnLst>
                              <p:par>
                                <p:cTn id="47" presetID="17" presetClass="entr" presetSubtype="8" fill="hold" grpId="0" nodeType="clickEffect">
                                  <p:stCondLst>
                                    <p:cond delay="0"/>
                                  </p:stCondLst>
                                  <p:childTnLst>
                                    <p:set>
                                      <p:cBhvr>
                                        <p:cTn id="48" dur="1" fill="hold">
                                          <p:stCondLst>
                                            <p:cond delay="0"/>
                                          </p:stCondLst>
                                        </p:cTn>
                                        <p:tgtEl>
                                          <p:spTgt spid="147"/>
                                        </p:tgtEl>
                                        <p:attrNameLst>
                                          <p:attrName>style.visibility</p:attrName>
                                        </p:attrNameLst>
                                      </p:cBhvr>
                                      <p:to>
                                        <p:strVal val="visible"/>
                                      </p:to>
                                    </p:set>
                                    <p:anim calcmode="lin" valueType="num">
                                      <p:cBhvr>
                                        <p:cTn id="49" dur="1000" fill="hold"/>
                                        <p:tgtEl>
                                          <p:spTgt spid="147"/>
                                        </p:tgtEl>
                                        <p:attrNameLst>
                                          <p:attrName>ppt_x</p:attrName>
                                        </p:attrNameLst>
                                      </p:cBhvr>
                                      <p:tavLst>
                                        <p:tav tm="0">
                                          <p:val>
                                            <p:strVal val="#ppt_x-#ppt_w/2"/>
                                          </p:val>
                                        </p:tav>
                                        <p:tav tm="100000">
                                          <p:val>
                                            <p:strVal val="#ppt_x"/>
                                          </p:val>
                                        </p:tav>
                                      </p:tavLst>
                                    </p:anim>
                                    <p:anim calcmode="lin" valueType="num">
                                      <p:cBhvr>
                                        <p:cTn id="50" dur="1000" fill="hold"/>
                                        <p:tgtEl>
                                          <p:spTgt spid="147"/>
                                        </p:tgtEl>
                                        <p:attrNameLst>
                                          <p:attrName>ppt_y</p:attrName>
                                        </p:attrNameLst>
                                      </p:cBhvr>
                                      <p:tavLst>
                                        <p:tav tm="0">
                                          <p:val>
                                            <p:strVal val="#ppt_y"/>
                                          </p:val>
                                        </p:tav>
                                        <p:tav tm="100000">
                                          <p:val>
                                            <p:strVal val="#ppt_y"/>
                                          </p:val>
                                        </p:tav>
                                      </p:tavLst>
                                    </p:anim>
                                    <p:anim calcmode="lin" valueType="num">
                                      <p:cBhvr>
                                        <p:cTn id="51" dur="1000" fill="hold"/>
                                        <p:tgtEl>
                                          <p:spTgt spid="147"/>
                                        </p:tgtEl>
                                        <p:attrNameLst>
                                          <p:attrName>ppt_w</p:attrName>
                                        </p:attrNameLst>
                                      </p:cBhvr>
                                      <p:tavLst>
                                        <p:tav tm="0">
                                          <p:val>
                                            <p:fltVal val="0"/>
                                          </p:val>
                                        </p:tav>
                                        <p:tav tm="100000">
                                          <p:val>
                                            <p:strVal val="#ppt_w"/>
                                          </p:val>
                                        </p:tav>
                                      </p:tavLst>
                                    </p:anim>
                                    <p:anim calcmode="lin" valueType="num">
                                      <p:cBhvr>
                                        <p:cTn id="52" dur="1000" fill="hold"/>
                                        <p:tgtEl>
                                          <p:spTgt spid="147"/>
                                        </p:tgtEl>
                                        <p:attrNameLst>
                                          <p:attrName>ppt_h</p:attrName>
                                        </p:attrNameLst>
                                      </p:cBhvr>
                                      <p:tavLst>
                                        <p:tav tm="0">
                                          <p:val>
                                            <p:strVal val="#ppt_h"/>
                                          </p:val>
                                        </p:tav>
                                        <p:tav tm="100000">
                                          <p:val>
                                            <p:strVal val="#ppt_h"/>
                                          </p:val>
                                        </p:tav>
                                      </p:tavLst>
                                    </p:anim>
                                  </p:childTnLst>
                                </p:cTn>
                              </p:par>
                            </p:childTnLst>
                          </p:cTn>
                        </p:par>
                      </p:childTnLst>
                    </p:cTn>
                  </p:par>
                  <p:par>
                    <p:cTn id="53" fill="hold">
                      <p:stCondLst>
                        <p:cond delay="indefinite"/>
                      </p:stCondLst>
                      <p:childTnLst>
                        <p:par>
                          <p:cTn id="54" fill="hold">
                            <p:stCondLst>
                              <p:cond delay="0"/>
                            </p:stCondLst>
                            <p:childTnLst>
                              <p:par>
                                <p:cTn id="55" presetID="17" presetClass="entr" presetSubtype="8" fill="hold" grpId="0" nodeType="clickEffect">
                                  <p:stCondLst>
                                    <p:cond delay="0"/>
                                  </p:stCondLst>
                                  <p:childTnLst>
                                    <p:set>
                                      <p:cBhvr>
                                        <p:cTn id="56" dur="1" fill="hold">
                                          <p:stCondLst>
                                            <p:cond delay="0"/>
                                          </p:stCondLst>
                                        </p:cTn>
                                        <p:tgtEl>
                                          <p:spTgt spid="148"/>
                                        </p:tgtEl>
                                        <p:attrNameLst>
                                          <p:attrName>style.visibility</p:attrName>
                                        </p:attrNameLst>
                                      </p:cBhvr>
                                      <p:to>
                                        <p:strVal val="visible"/>
                                      </p:to>
                                    </p:set>
                                    <p:anim calcmode="lin" valueType="num">
                                      <p:cBhvr>
                                        <p:cTn id="57" dur="1000" fill="hold"/>
                                        <p:tgtEl>
                                          <p:spTgt spid="148"/>
                                        </p:tgtEl>
                                        <p:attrNameLst>
                                          <p:attrName>ppt_x</p:attrName>
                                        </p:attrNameLst>
                                      </p:cBhvr>
                                      <p:tavLst>
                                        <p:tav tm="0">
                                          <p:val>
                                            <p:strVal val="#ppt_x-#ppt_w/2"/>
                                          </p:val>
                                        </p:tav>
                                        <p:tav tm="100000">
                                          <p:val>
                                            <p:strVal val="#ppt_x"/>
                                          </p:val>
                                        </p:tav>
                                      </p:tavLst>
                                    </p:anim>
                                    <p:anim calcmode="lin" valueType="num">
                                      <p:cBhvr>
                                        <p:cTn id="58" dur="1000" fill="hold"/>
                                        <p:tgtEl>
                                          <p:spTgt spid="148"/>
                                        </p:tgtEl>
                                        <p:attrNameLst>
                                          <p:attrName>ppt_y</p:attrName>
                                        </p:attrNameLst>
                                      </p:cBhvr>
                                      <p:tavLst>
                                        <p:tav tm="0">
                                          <p:val>
                                            <p:strVal val="#ppt_y"/>
                                          </p:val>
                                        </p:tav>
                                        <p:tav tm="100000">
                                          <p:val>
                                            <p:strVal val="#ppt_y"/>
                                          </p:val>
                                        </p:tav>
                                      </p:tavLst>
                                    </p:anim>
                                    <p:anim calcmode="lin" valueType="num">
                                      <p:cBhvr>
                                        <p:cTn id="59" dur="1000" fill="hold"/>
                                        <p:tgtEl>
                                          <p:spTgt spid="148"/>
                                        </p:tgtEl>
                                        <p:attrNameLst>
                                          <p:attrName>ppt_w</p:attrName>
                                        </p:attrNameLst>
                                      </p:cBhvr>
                                      <p:tavLst>
                                        <p:tav tm="0">
                                          <p:val>
                                            <p:fltVal val="0"/>
                                          </p:val>
                                        </p:tav>
                                        <p:tav tm="100000">
                                          <p:val>
                                            <p:strVal val="#ppt_w"/>
                                          </p:val>
                                        </p:tav>
                                      </p:tavLst>
                                    </p:anim>
                                    <p:anim calcmode="lin" valueType="num">
                                      <p:cBhvr>
                                        <p:cTn id="60" dur="1000" fill="hold"/>
                                        <p:tgtEl>
                                          <p:spTgt spid="148"/>
                                        </p:tgtEl>
                                        <p:attrNameLst>
                                          <p:attrName>ppt_h</p:attrName>
                                        </p:attrNameLst>
                                      </p:cBhvr>
                                      <p:tavLst>
                                        <p:tav tm="0">
                                          <p:val>
                                            <p:strVal val="#ppt_h"/>
                                          </p:val>
                                        </p:tav>
                                        <p:tav tm="100000">
                                          <p:val>
                                            <p:strVal val="#ppt_h"/>
                                          </p:val>
                                        </p:tav>
                                      </p:tavLst>
                                    </p:anim>
                                  </p:childTnLst>
                                </p:cTn>
                              </p:par>
                            </p:childTnLst>
                          </p:cTn>
                        </p:par>
                      </p:childTnLst>
                    </p:cTn>
                  </p:par>
                  <p:par>
                    <p:cTn id="61" fill="hold">
                      <p:stCondLst>
                        <p:cond delay="indefinite"/>
                      </p:stCondLst>
                      <p:childTnLst>
                        <p:par>
                          <p:cTn id="62" fill="hold">
                            <p:stCondLst>
                              <p:cond delay="0"/>
                            </p:stCondLst>
                            <p:childTnLst>
                              <p:par>
                                <p:cTn id="63" presetID="17" presetClass="entr" presetSubtype="8" fill="hold" grpId="0" nodeType="clickEffect">
                                  <p:stCondLst>
                                    <p:cond delay="0"/>
                                  </p:stCondLst>
                                  <p:childTnLst>
                                    <p:set>
                                      <p:cBhvr>
                                        <p:cTn id="64" dur="1" fill="hold">
                                          <p:stCondLst>
                                            <p:cond delay="0"/>
                                          </p:stCondLst>
                                        </p:cTn>
                                        <p:tgtEl>
                                          <p:spTgt spid="149"/>
                                        </p:tgtEl>
                                        <p:attrNameLst>
                                          <p:attrName>style.visibility</p:attrName>
                                        </p:attrNameLst>
                                      </p:cBhvr>
                                      <p:to>
                                        <p:strVal val="visible"/>
                                      </p:to>
                                    </p:set>
                                    <p:anim calcmode="lin" valueType="num">
                                      <p:cBhvr>
                                        <p:cTn id="65" dur="1000" fill="hold"/>
                                        <p:tgtEl>
                                          <p:spTgt spid="149"/>
                                        </p:tgtEl>
                                        <p:attrNameLst>
                                          <p:attrName>ppt_x</p:attrName>
                                        </p:attrNameLst>
                                      </p:cBhvr>
                                      <p:tavLst>
                                        <p:tav tm="0">
                                          <p:val>
                                            <p:strVal val="#ppt_x-#ppt_w/2"/>
                                          </p:val>
                                        </p:tav>
                                        <p:tav tm="100000">
                                          <p:val>
                                            <p:strVal val="#ppt_x"/>
                                          </p:val>
                                        </p:tav>
                                      </p:tavLst>
                                    </p:anim>
                                    <p:anim calcmode="lin" valueType="num">
                                      <p:cBhvr>
                                        <p:cTn id="66" dur="1000" fill="hold"/>
                                        <p:tgtEl>
                                          <p:spTgt spid="149"/>
                                        </p:tgtEl>
                                        <p:attrNameLst>
                                          <p:attrName>ppt_y</p:attrName>
                                        </p:attrNameLst>
                                      </p:cBhvr>
                                      <p:tavLst>
                                        <p:tav tm="0">
                                          <p:val>
                                            <p:strVal val="#ppt_y"/>
                                          </p:val>
                                        </p:tav>
                                        <p:tav tm="100000">
                                          <p:val>
                                            <p:strVal val="#ppt_y"/>
                                          </p:val>
                                        </p:tav>
                                      </p:tavLst>
                                    </p:anim>
                                    <p:anim calcmode="lin" valueType="num">
                                      <p:cBhvr>
                                        <p:cTn id="67" dur="1000" fill="hold"/>
                                        <p:tgtEl>
                                          <p:spTgt spid="149"/>
                                        </p:tgtEl>
                                        <p:attrNameLst>
                                          <p:attrName>ppt_w</p:attrName>
                                        </p:attrNameLst>
                                      </p:cBhvr>
                                      <p:tavLst>
                                        <p:tav tm="0">
                                          <p:val>
                                            <p:fltVal val="0"/>
                                          </p:val>
                                        </p:tav>
                                        <p:tav tm="100000">
                                          <p:val>
                                            <p:strVal val="#ppt_w"/>
                                          </p:val>
                                        </p:tav>
                                      </p:tavLst>
                                    </p:anim>
                                    <p:anim calcmode="lin" valueType="num">
                                      <p:cBhvr>
                                        <p:cTn id="68" dur="1000" fill="hold"/>
                                        <p:tgtEl>
                                          <p:spTgt spid="149"/>
                                        </p:tgtEl>
                                        <p:attrNameLst>
                                          <p:attrName>ppt_h</p:attrName>
                                        </p:attrNameLst>
                                      </p:cBhvr>
                                      <p:tavLst>
                                        <p:tav tm="0">
                                          <p:val>
                                            <p:strVal val="#ppt_h"/>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17" presetClass="entr" presetSubtype="8" fill="hold" grpId="0" nodeType="clickEffect">
                                  <p:stCondLst>
                                    <p:cond delay="0"/>
                                  </p:stCondLst>
                                  <p:childTnLst>
                                    <p:set>
                                      <p:cBhvr>
                                        <p:cTn id="72" dur="1" fill="hold">
                                          <p:stCondLst>
                                            <p:cond delay="0"/>
                                          </p:stCondLst>
                                        </p:cTn>
                                        <p:tgtEl>
                                          <p:spTgt spid="150"/>
                                        </p:tgtEl>
                                        <p:attrNameLst>
                                          <p:attrName>style.visibility</p:attrName>
                                        </p:attrNameLst>
                                      </p:cBhvr>
                                      <p:to>
                                        <p:strVal val="visible"/>
                                      </p:to>
                                    </p:set>
                                    <p:anim calcmode="lin" valueType="num">
                                      <p:cBhvr>
                                        <p:cTn id="73" dur="1000" fill="hold"/>
                                        <p:tgtEl>
                                          <p:spTgt spid="150"/>
                                        </p:tgtEl>
                                        <p:attrNameLst>
                                          <p:attrName>ppt_x</p:attrName>
                                        </p:attrNameLst>
                                      </p:cBhvr>
                                      <p:tavLst>
                                        <p:tav tm="0">
                                          <p:val>
                                            <p:strVal val="#ppt_x-#ppt_w/2"/>
                                          </p:val>
                                        </p:tav>
                                        <p:tav tm="100000">
                                          <p:val>
                                            <p:strVal val="#ppt_x"/>
                                          </p:val>
                                        </p:tav>
                                      </p:tavLst>
                                    </p:anim>
                                    <p:anim calcmode="lin" valueType="num">
                                      <p:cBhvr>
                                        <p:cTn id="74" dur="1000" fill="hold"/>
                                        <p:tgtEl>
                                          <p:spTgt spid="150"/>
                                        </p:tgtEl>
                                        <p:attrNameLst>
                                          <p:attrName>ppt_y</p:attrName>
                                        </p:attrNameLst>
                                      </p:cBhvr>
                                      <p:tavLst>
                                        <p:tav tm="0">
                                          <p:val>
                                            <p:strVal val="#ppt_y"/>
                                          </p:val>
                                        </p:tav>
                                        <p:tav tm="100000">
                                          <p:val>
                                            <p:strVal val="#ppt_y"/>
                                          </p:val>
                                        </p:tav>
                                      </p:tavLst>
                                    </p:anim>
                                    <p:anim calcmode="lin" valueType="num">
                                      <p:cBhvr>
                                        <p:cTn id="75" dur="1000" fill="hold"/>
                                        <p:tgtEl>
                                          <p:spTgt spid="150"/>
                                        </p:tgtEl>
                                        <p:attrNameLst>
                                          <p:attrName>ppt_w</p:attrName>
                                        </p:attrNameLst>
                                      </p:cBhvr>
                                      <p:tavLst>
                                        <p:tav tm="0">
                                          <p:val>
                                            <p:fltVal val="0"/>
                                          </p:val>
                                        </p:tav>
                                        <p:tav tm="100000">
                                          <p:val>
                                            <p:strVal val="#ppt_w"/>
                                          </p:val>
                                        </p:tav>
                                      </p:tavLst>
                                    </p:anim>
                                    <p:anim calcmode="lin" valueType="num">
                                      <p:cBhvr>
                                        <p:cTn id="76" dur="1000" fill="hold"/>
                                        <p:tgtEl>
                                          <p:spTgt spid="150"/>
                                        </p:tgtEl>
                                        <p:attrNameLst>
                                          <p:attrName>ppt_h</p:attrName>
                                        </p:attrNameLst>
                                      </p:cBhvr>
                                      <p:tavLst>
                                        <p:tav tm="0">
                                          <p:val>
                                            <p:strVal val="#ppt_h"/>
                                          </p:val>
                                        </p:tav>
                                        <p:tav tm="100000">
                                          <p:val>
                                            <p:strVal val="#ppt_h"/>
                                          </p:val>
                                        </p:tav>
                                      </p:tavLst>
                                    </p:anim>
                                  </p:childTnLst>
                                </p:cTn>
                              </p:par>
                            </p:childTnLst>
                          </p:cTn>
                        </p:par>
                      </p:childTnLst>
                    </p:cTn>
                  </p:par>
                  <p:par>
                    <p:cTn id="77" fill="hold">
                      <p:stCondLst>
                        <p:cond delay="indefinite"/>
                      </p:stCondLst>
                      <p:childTnLst>
                        <p:par>
                          <p:cTn id="78" fill="hold">
                            <p:stCondLst>
                              <p:cond delay="0"/>
                            </p:stCondLst>
                            <p:childTnLst>
                              <p:par>
                                <p:cTn id="79" presetID="17" presetClass="entr" presetSubtype="8" fill="hold" grpId="0" nodeType="clickEffect">
                                  <p:stCondLst>
                                    <p:cond delay="0"/>
                                  </p:stCondLst>
                                  <p:childTnLst>
                                    <p:set>
                                      <p:cBhvr>
                                        <p:cTn id="80" dur="1" fill="hold">
                                          <p:stCondLst>
                                            <p:cond delay="0"/>
                                          </p:stCondLst>
                                        </p:cTn>
                                        <p:tgtEl>
                                          <p:spTgt spid="151"/>
                                        </p:tgtEl>
                                        <p:attrNameLst>
                                          <p:attrName>style.visibility</p:attrName>
                                        </p:attrNameLst>
                                      </p:cBhvr>
                                      <p:to>
                                        <p:strVal val="visible"/>
                                      </p:to>
                                    </p:set>
                                    <p:anim calcmode="lin" valueType="num">
                                      <p:cBhvr>
                                        <p:cTn id="81" dur="1000" fill="hold"/>
                                        <p:tgtEl>
                                          <p:spTgt spid="151"/>
                                        </p:tgtEl>
                                        <p:attrNameLst>
                                          <p:attrName>ppt_x</p:attrName>
                                        </p:attrNameLst>
                                      </p:cBhvr>
                                      <p:tavLst>
                                        <p:tav tm="0">
                                          <p:val>
                                            <p:strVal val="#ppt_x-#ppt_w/2"/>
                                          </p:val>
                                        </p:tav>
                                        <p:tav tm="100000">
                                          <p:val>
                                            <p:strVal val="#ppt_x"/>
                                          </p:val>
                                        </p:tav>
                                      </p:tavLst>
                                    </p:anim>
                                    <p:anim calcmode="lin" valueType="num">
                                      <p:cBhvr>
                                        <p:cTn id="82" dur="1000" fill="hold"/>
                                        <p:tgtEl>
                                          <p:spTgt spid="151"/>
                                        </p:tgtEl>
                                        <p:attrNameLst>
                                          <p:attrName>ppt_y</p:attrName>
                                        </p:attrNameLst>
                                      </p:cBhvr>
                                      <p:tavLst>
                                        <p:tav tm="0">
                                          <p:val>
                                            <p:strVal val="#ppt_y"/>
                                          </p:val>
                                        </p:tav>
                                        <p:tav tm="100000">
                                          <p:val>
                                            <p:strVal val="#ppt_y"/>
                                          </p:val>
                                        </p:tav>
                                      </p:tavLst>
                                    </p:anim>
                                    <p:anim calcmode="lin" valueType="num">
                                      <p:cBhvr>
                                        <p:cTn id="83" dur="1000" fill="hold"/>
                                        <p:tgtEl>
                                          <p:spTgt spid="151"/>
                                        </p:tgtEl>
                                        <p:attrNameLst>
                                          <p:attrName>ppt_w</p:attrName>
                                        </p:attrNameLst>
                                      </p:cBhvr>
                                      <p:tavLst>
                                        <p:tav tm="0">
                                          <p:val>
                                            <p:fltVal val="0"/>
                                          </p:val>
                                        </p:tav>
                                        <p:tav tm="100000">
                                          <p:val>
                                            <p:strVal val="#ppt_w"/>
                                          </p:val>
                                        </p:tav>
                                      </p:tavLst>
                                    </p:anim>
                                    <p:anim calcmode="lin" valueType="num">
                                      <p:cBhvr>
                                        <p:cTn id="84" dur="1000" fill="hold"/>
                                        <p:tgtEl>
                                          <p:spTgt spid="151"/>
                                        </p:tgtEl>
                                        <p:attrNameLst>
                                          <p:attrName>ppt_h</p:attrName>
                                        </p:attrNameLst>
                                      </p:cBhvr>
                                      <p:tavLst>
                                        <p:tav tm="0">
                                          <p:val>
                                            <p:strVal val="#ppt_h"/>
                                          </p:val>
                                        </p:tav>
                                        <p:tav tm="100000">
                                          <p:val>
                                            <p:strVal val="#ppt_h"/>
                                          </p:val>
                                        </p:tav>
                                      </p:tavLst>
                                    </p:anim>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nodeType="clickEffect">
                                  <p:stCondLst>
                                    <p:cond delay="0"/>
                                  </p:stCondLst>
                                  <p:childTnLst>
                                    <p:set>
                                      <p:cBhvr>
                                        <p:cTn id="88" dur="1" fill="hold">
                                          <p:stCondLst>
                                            <p:cond delay="0"/>
                                          </p:stCondLst>
                                        </p:cTn>
                                        <p:tgtEl>
                                          <p:spTgt spid="2"/>
                                        </p:tgtEl>
                                        <p:attrNameLst>
                                          <p:attrName>style.visibility</p:attrName>
                                        </p:attrNameLst>
                                      </p:cBhvr>
                                      <p:to>
                                        <p:strVal val="visible"/>
                                      </p:to>
                                    </p:set>
                                    <p:animEffect transition="in" filter="fade">
                                      <p:cBhvr>
                                        <p:cTn id="89" dur="1000"/>
                                        <p:tgtEl>
                                          <p:spTgt spid="2"/>
                                        </p:tgtEl>
                                      </p:cBhvr>
                                    </p:animEffect>
                                    <p:anim calcmode="lin" valueType="num">
                                      <p:cBhvr>
                                        <p:cTn id="90" dur="1000" fill="hold"/>
                                        <p:tgtEl>
                                          <p:spTgt spid="2"/>
                                        </p:tgtEl>
                                        <p:attrNameLst>
                                          <p:attrName>ppt_x</p:attrName>
                                        </p:attrNameLst>
                                      </p:cBhvr>
                                      <p:tavLst>
                                        <p:tav tm="0">
                                          <p:val>
                                            <p:strVal val="#ppt_x"/>
                                          </p:val>
                                        </p:tav>
                                        <p:tav tm="100000">
                                          <p:val>
                                            <p:strVal val="#ppt_x"/>
                                          </p:val>
                                        </p:tav>
                                      </p:tavLst>
                                    </p:anim>
                                    <p:anim calcmode="lin" valueType="num">
                                      <p:cBhvr>
                                        <p:cTn id="9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 grpId="0" animBg="1"/>
      <p:bldP spid="148" grpId="0" animBg="1"/>
      <p:bldP spid="149" grpId="0" animBg="1"/>
      <p:bldP spid="150" grpId="0" animBg="1"/>
      <p:bldP spid="151" grpId="0" animBg="1"/>
      <p:bldP spid="69" grpId="0"/>
      <p:bldP spid="79" grpId="0"/>
      <p:bldP spid="84" grpId="0" animBg="1"/>
      <p:bldP spid="86" grpId="0" animBg="1"/>
      <p:bldP spid="94"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816410" y="1451187"/>
            <a:ext cx="7142680" cy="2871163"/>
            <a:chOff x="816410" y="1451187"/>
            <a:chExt cx="7142680" cy="2871163"/>
          </a:xfrm>
        </p:grpSpPr>
        <p:sp>
          <p:nvSpPr>
            <p:cNvPr id="17" name="文本框 6"/>
            <p:cNvSpPr txBox="1"/>
            <p:nvPr/>
          </p:nvSpPr>
          <p:spPr>
            <a:xfrm>
              <a:off x="1140259" y="1959049"/>
              <a:ext cx="6498792" cy="1823576"/>
            </a:xfrm>
            <a:prstGeom prst="rect">
              <a:avLst/>
            </a:prstGeom>
            <a:noFill/>
          </p:spPr>
          <p:txBody>
            <a:bodyPr wrap="square" rtlCol="0">
              <a:spAutoFit/>
            </a:bodyPr>
            <a:lstStyle/>
            <a:p>
              <a:pPr algn="ctr">
                <a:lnSpc>
                  <a:spcPct val="125000"/>
                </a:lnSpc>
              </a:pP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4</a:t>
              </a: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 组合逻辑电路</a:t>
              </a:r>
              <a:endPar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a:p>
              <a:pPr algn="ctr">
                <a:lnSpc>
                  <a:spcPct val="125000"/>
                </a:lnSpc>
              </a:pPr>
              <a:r>
                <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4.4 </a:t>
              </a:r>
              <a:r>
                <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典型组合逻辑集成电路</a:t>
              </a:r>
              <a:endPar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a:p>
              <a:pPr algn="ctr">
                <a:lnSpc>
                  <a:spcPct val="125000"/>
                </a:lnSpc>
                <a:spcBef>
                  <a:spcPts val="600"/>
                </a:spcBef>
              </a:pPr>
              <a:r>
                <a:rPr lang="en-US" altLang="zh-CN" sz="2400" dirty="0">
                  <a:ln w="0"/>
                  <a:solidFill>
                    <a:schemeClr val="accent1"/>
                  </a:solidFill>
                  <a:effectLst>
                    <a:outerShdw blurRad="38100" dist="25400" dir="5400000" algn="ctr" rotWithShape="0">
                      <a:srgbClr val="6E747A">
                        <a:alpha val="43000"/>
                      </a:srgbClr>
                    </a:outerShdw>
                  </a:effectLst>
                  <a:latin typeface="方正粗黑宋简体" panose="02000000000000000000" pitchFamily="2" charset="-122"/>
                  <a:ea typeface="方正粗黑宋简体" panose="02000000000000000000" pitchFamily="2" charset="-122"/>
                </a:rPr>
                <a:t>4.4.3  </a:t>
              </a:r>
              <a:r>
                <a:rPr lang="zh-CN" altLang="en-US" sz="2400" dirty="0">
                  <a:ln w="0"/>
                  <a:solidFill>
                    <a:schemeClr val="accent1"/>
                  </a:solidFill>
                  <a:effectLst>
                    <a:outerShdw blurRad="38100" dist="25400" dir="5400000" algn="ctr" rotWithShape="0">
                      <a:srgbClr val="6E747A">
                        <a:alpha val="43000"/>
                      </a:srgbClr>
                    </a:outerShdw>
                  </a:effectLst>
                  <a:latin typeface="方正粗黑宋简体" panose="02000000000000000000" pitchFamily="2" charset="-122"/>
                  <a:ea typeface="方正粗黑宋简体" panose="02000000000000000000" pitchFamily="2" charset="-122"/>
                </a:rPr>
                <a:t>数据分配器和数据选择器</a:t>
              </a:r>
              <a:endParaRPr lang="zh-CN" altLang="en-US" sz="2400" dirty="0">
                <a:ln w="0"/>
                <a:solidFill>
                  <a:schemeClr val="accent1"/>
                </a:solidFill>
                <a:effectLst>
                  <a:outerShdw blurRad="38100" dist="25400" dir="5400000" algn="ctr" rotWithShape="0">
                    <a:srgbClr val="6E747A">
                      <a:alpha val="43000"/>
                    </a:srgbClr>
                  </a:outerShdw>
                </a:effectLst>
                <a:latin typeface="方正粗黑宋简体" panose="02000000000000000000" pitchFamily="2" charset="-122"/>
                <a:ea typeface="方正粗黑宋简体" panose="02000000000000000000" pitchFamily="2" charset="-122"/>
              </a:endParaRPr>
            </a:p>
          </p:txBody>
        </p:sp>
        <p:grpSp>
          <p:nvGrpSpPr>
            <p:cNvPr id="18" name="组合 35"/>
            <p:cNvGrpSpPr/>
            <p:nvPr/>
          </p:nvGrpSpPr>
          <p:grpSpPr>
            <a:xfrm>
              <a:off x="816410" y="1599354"/>
              <a:ext cx="1371600" cy="110067"/>
              <a:chOff x="910590" y="1699260"/>
              <a:chExt cx="1371600" cy="99060"/>
            </a:xfrm>
          </p:grpSpPr>
          <p:cxnSp>
            <p:nvCxnSpPr>
              <p:cNvPr id="19" name="直接连接符 18"/>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0" name="直接连接符 1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21" name="组合 36"/>
            <p:cNvGrpSpPr/>
            <p:nvPr/>
          </p:nvGrpSpPr>
          <p:grpSpPr>
            <a:xfrm rot="5400000">
              <a:off x="771885" y="1781657"/>
              <a:ext cx="760000" cy="99060"/>
              <a:chOff x="910590" y="1699260"/>
              <a:chExt cx="1371600" cy="99060"/>
            </a:xfrm>
          </p:grpSpPr>
          <p:cxnSp>
            <p:nvCxnSpPr>
              <p:cNvPr id="22" name="直接连接符 21"/>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3" name="直接连接符 22"/>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24" name="组合 35"/>
            <p:cNvGrpSpPr/>
            <p:nvPr/>
          </p:nvGrpSpPr>
          <p:grpSpPr>
            <a:xfrm rot="10800000">
              <a:off x="6587490" y="4057767"/>
              <a:ext cx="1371600" cy="110067"/>
              <a:chOff x="910590" y="1699260"/>
              <a:chExt cx="1371600" cy="99060"/>
            </a:xfrm>
          </p:grpSpPr>
          <p:cxnSp>
            <p:nvCxnSpPr>
              <p:cNvPr id="26" name="直接连接符 25"/>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7" name="直接连接符 26"/>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28" name="组合 36"/>
            <p:cNvGrpSpPr/>
            <p:nvPr/>
          </p:nvGrpSpPr>
          <p:grpSpPr>
            <a:xfrm rot="16200000">
              <a:off x="7199165" y="3892820"/>
              <a:ext cx="760000" cy="99060"/>
              <a:chOff x="910590" y="1699260"/>
              <a:chExt cx="1371600" cy="99060"/>
            </a:xfrm>
          </p:grpSpPr>
          <p:cxnSp>
            <p:nvCxnSpPr>
              <p:cNvPr id="30" name="直接连接符 29"/>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1" name="直接连接符 30"/>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7"/>
          <p:cNvGrpSpPr/>
          <p:nvPr/>
        </p:nvGrpSpPr>
        <p:grpSpPr>
          <a:xfrm>
            <a:off x="392432" y="769746"/>
            <a:ext cx="2601183" cy="420971"/>
            <a:chOff x="670560" y="892917"/>
            <a:chExt cx="2601183" cy="420971"/>
          </a:xfrm>
        </p:grpSpPr>
        <p:sp>
          <p:nvSpPr>
            <p:cNvPr id="70" name="矩形 69"/>
            <p:cNvSpPr/>
            <p:nvPr/>
          </p:nvSpPr>
          <p:spPr>
            <a:xfrm>
              <a:off x="1035233" y="913778"/>
              <a:ext cx="2236510"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数据分配器的功能</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7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153" name="矩形 152"/>
          <p:cNvSpPr/>
          <p:nvPr/>
        </p:nvSpPr>
        <p:spPr>
          <a:xfrm>
            <a:off x="757105" y="1319426"/>
            <a:ext cx="7999281" cy="438582"/>
          </a:xfrm>
          <a:prstGeom prst="rect">
            <a:avLst/>
          </a:prstGeom>
        </p:spPr>
        <p:txBody>
          <a:bodyPr wrap="square">
            <a:spAutoFit/>
          </a:bodyPr>
          <a:lstStyle/>
          <a:p>
            <a:pPr marL="1348105" indent="-1348105">
              <a:lnSpc>
                <a:spcPct val="125000"/>
              </a:lnSpc>
            </a:pPr>
            <a:r>
              <a:rPr lang="zh-CN" altLang="en-US" dirty="0">
                <a:solidFill>
                  <a:srgbClr val="FF0000"/>
                </a:solidFill>
                <a:latin typeface="微软雅黑" panose="020B0503020204020204" pitchFamily="34" charset="-122"/>
                <a:ea typeface="微软雅黑" panose="020B0503020204020204" pitchFamily="34" charset="-122"/>
              </a:rPr>
              <a:t>数据分配器：</a:t>
            </a:r>
            <a:r>
              <a:rPr lang="zh-CN" altLang="en-US" sz="1600" dirty="0">
                <a:solidFill>
                  <a:srgbClr val="000000"/>
                </a:solidFill>
                <a:latin typeface="微软雅黑" panose="020B0503020204020204" pitchFamily="34" charset="-122"/>
                <a:ea typeface="微软雅黑" panose="020B0503020204020204" pitchFamily="34" charset="-122"/>
              </a:rPr>
              <a:t>将一路输入数据根据地址选择码分配给多路数据输出中的某一路输出。</a:t>
            </a:r>
            <a:r>
              <a:rPr lang="zh-CN" altLang="en-US" dirty="0">
                <a:solidFill>
                  <a:srgbClr val="000000"/>
                </a:solidFill>
                <a:latin typeface="微软雅黑" panose="020B0503020204020204" pitchFamily="34" charset="-122"/>
                <a:ea typeface="微软雅黑" panose="020B0503020204020204" pitchFamily="34" charset="-122"/>
              </a:rPr>
              <a:t>                    </a:t>
            </a:r>
            <a:endParaRPr lang="zh-CN" altLang="en-US" dirty="0">
              <a:solidFill>
                <a:srgbClr val="000000"/>
              </a:solidFill>
              <a:latin typeface="微软雅黑" panose="020B0503020204020204" pitchFamily="34" charset="-122"/>
              <a:ea typeface="微软雅黑" panose="020B0503020204020204" pitchFamily="34" charset="-122"/>
            </a:endParaRPr>
          </a:p>
        </p:txBody>
      </p:sp>
      <p:grpSp>
        <p:nvGrpSpPr>
          <p:cNvPr id="3" name="组合 170"/>
          <p:cNvGrpSpPr/>
          <p:nvPr/>
        </p:nvGrpSpPr>
        <p:grpSpPr>
          <a:xfrm>
            <a:off x="2072313" y="2081408"/>
            <a:ext cx="4393245" cy="1656921"/>
            <a:chOff x="1725672" y="2186309"/>
            <a:chExt cx="4393245" cy="1656921"/>
          </a:xfrm>
        </p:grpSpPr>
        <p:sp>
          <p:nvSpPr>
            <p:cNvPr id="170" name="圆角矩形 169"/>
            <p:cNvSpPr/>
            <p:nvPr/>
          </p:nvSpPr>
          <p:spPr>
            <a:xfrm>
              <a:off x="1725672" y="2186309"/>
              <a:ext cx="4393245" cy="1656921"/>
            </a:xfrm>
            <a:prstGeom prst="roundRect">
              <a:avLst>
                <a:gd name="adj" fmla="val 9783"/>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404" name="Picture 44"/>
            <p:cNvPicPr>
              <a:picLocks noChangeAspect="1" noChangeArrowheads="1"/>
            </p:cNvPicPr>
            <p:nvPr/>
          </p:nvPicPr>
          <p:blipFill>
            <a:blip r:embed="rId2" cstate="print"/>
            <a:srcRect/>
            <a:stretch>
              <a:fillRect/>
            </a:stretch>
          </p:blipFill>
          <p:spPr bwMode="auto">
            <a:xfrm>
              <a:off x="2765294" y="2378815"/>
              <a:ext cx="2012961" cy="1161907"/>
            </a:xfrm>
            <a:prstGeom prst="rect">
              <a:avLst/>
            </a:prstGeom>
            <a:noFill/>
            <a:ln w="9525">
              <a:noFill/>
              <a:miter lim="800000"/>
              <a:headEnd/>
              <a:tailEnd/>
            </a:ln>
          </p:spPr>
        </p:pic>
        <p:sp>
          <p:nvSpPr>
            <p:cNvPr id="165" name="TextBox 164"/>
            <p:cNvSpPr txBox="1"/>
            <p:nvPr/>
          </p:nvSpPr>
          <p:spPr>
            <a:xfrm>
              <a:off x="1739423" y="2839453"/>
              <a:ext cx="1091966"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数据输入 </a:t>
              </a:r>
              <a:r>
                <a:rPr lang="en-US" altLang="zh-CN" sz="1400" i="1" dirty="0">
                  <a:latin typeface="Times New Roman" panose="02020603050405020304" pitchFamily="18" charset="0"/>
                  <a:ea typeface="微软雅黑" panose="020B0503020204020204" pitchFamily="34" charset="-122"/>
                  <a:cs typeface="Times New Roman" panose="02020603050405020304" pitchFamily="18" charset="0"/>
                </a:rPr>
                <a:t>D</a:t>
              </a:r>
              <a:endParaRPr lang="zh-CN" altLang="en-US" sz="1400" i="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66" name="TextBox 165"/>
            <p:cNvSpPr txBox="1"/>
            <p:nvPr/>
          </p:nvSpPr>
          <p:spPr>
            <a:xfrm>
              <a:off x="5198788" y="2778722"/>
              <a:ext cx="902811" cy="307777"/>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数据输出</a:t>
              </a:r>
              <a:endParaRPr lang="zh-CN" altLang="en-US" sz="1400" dirty="0">
                <a:latin typeface="微软雅黑" panose="020B0503020204020204" pitchFamily="34" charset="-122"/>
                <a:ea typeface="微软雅黑" panose="020B0503020204020204" pitchFamily="34" charset="-122"/>
              </a:endParaRPr>
            </a:p>
          </p:txBody>
        </p:sp>
        <p:graphicFrame>
          <p:nvGraphicFramePr>
            <p:cNvPr id="167" name="对象 166"/>
            <p:cNvGraphicFramePr>
              <a:graphicFrameLocks noChangeAspect="1"/>
            </p:cNvGraphicFramePr>
            <p:nvPr/>
          </p:nvGraphicFramePr>
          <p:xfrm>
            <a:off x="4745408" y="2365065"/>
            <a:ext cx="203200" cy="228600"/>
          </p:xfrm>
          <a:graphic>
            <a:graphicData uri="http://schemas.openxmlformats.org/presentationml/2006/ole">
              <mc:AlternateContent xmlns:mc="http://schemas.openxmlformats.org/markup-compatibility/2006">
                <mc:Choice xmlns:v="urn:schemas-microsoft-com:vml" Requires="v">
                  <p:oleObj spid="_x0000_s49181" name="Equation" r:id="rId3" imgW="203200" imgH="228600" progId="Equation.DSMT4">
                    <p:embed/>
                  </p:oleObj>
                </mc:Choice>
                <mc:Fallback>
                  <p:oleObj name="Equation" r:id="rId3" imgW="203200" imgH="228600" progId="Equation.DSMT4">
                    <p:embed/>
                    <p:pic>
                      <p:nvPicPr>
                        <p:cNvPr id="0" name="对象 16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5408" y="2365065"/>
                          <a:ext cx="2032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406" name="Object 46"/>
            <p:cNvGraphicFramePr>
              <a:graphicFrameLocks noChangeAspect="1"/>
            </p:cNvGraphicFramePr>
            <p:nvPr/>
          </p:nvGraphicFramePr>
          <p:xfrm>
            <a:off x="4760913" y="2698750"/>
            <a:ext cx="190500" cy="228600"/>
          </p:xfrm>
          <a:graphic>
            <a:graphicData uri="http://schemas.openxmlformats.org/presentationml/2006/ole">
              <mc:AlternateContent xmlns:mc="http://schemas.openxmlformats.org/markup-compatibility/2006">
                <mc:Choice xmlns:v="urn:schemas-microsoft-com:vml" Requires="v">
                  <p:oleObj spid="_x0000_s49182" name="Equation" r:id="rId5" imgW="190500" imgH="228600" progId="Equation.DSMT4">
                    <p:embed/>
                  </p:oleObj>
                </mc:Choice>
                <mc:Fallback>
                  <p:oleObj name="Equation" r:id="rId5" imgW="190500" imgH="228600" progId="Equation.DSMT4">
                    <p:embed/>
                    <p:pic>
                      <p:nvPicPr>
                        <p:cNvPr id="0" name="Object 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60913" y="2698750"/>
                          <a:ext cx="1905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407" name="Object 47"/>
            <p:cNvGraphicFramePr>
              <a:graphicFrameLocks noChangeAspect="1"/>
            </p:cNvGraphicFramePr>
            <p:nvPr/>
          </p:nvGraphicFramePr>
          <p:xfrm>
            <a:off x="4734439" y="3252263"/>
            <a:ext cx="317500" cy="241300"/>
          </p:xfrm>
          <a:graphic>
            <a:graphicData uri="http://schemas.openxmlformats.org/presentationml/2006/ole">
              <mc:AlternateContent xmlns:mc="http://schemas.openxmlformats.org/markup-compatibility/2006">
                <mc:Choice xmlns:v="urn:schemas-microsoft-com:vml" Requires="v">
                  <p:oleObj spid="_x0000_s49183" name="Equation" r:id="rId7" imgW="317500" imgH="241300" progId="Equation.DSMT4">
                    <p:embed/>
                  </p:oleObj>
                </mc:Choice>
                <mc:Fallback>
                  <p:oleObj name="Equation" r:id="rId7" imgW="317500" imgH="241300" progId="Equation.DSMT4">
                    <p:embed/>
                    <p:pic>
                      <p:nvPicPr>
                        <p:cNvPr id="0" name="Object 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34439" y="3252263"/>
                          <a:ext cx="317500" cy="241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8" name="右大括号 167"/>
            <p:cNvSpPr/>
            <p:nvPr/>
          </p:nvSpPr>
          <p:spPr>
            <a:xfrm>
              <a:off x="5046389" y="2468193"/>
              <a:ext cx="144378" cy="928150"/>
            </a:xfrm>
            <a:prstGeom prst="rightBrace">
              <a:avLst>
                <a:gd name="adj1" fmla="val 40248"/>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69" name="TextBox 168"/>
            <p:cNvSpPr txBox="1"/>
            <p:nvPr/>
          </p:nvSpPr>
          <p:spPr>
            <a:xfrm>
              <a:off x="3295506" y="3494888"/>
              <a:ext cx="857927" cy="307777"/>
            </a:xfrm>
            <a:prstGeom prst="rect">
              <a:avLst/>
            </a:prstGeom>
            <a:noFill/>
          </p:spPr>
          <p:txBody>
            <a:bodyPr wrap="none" rtlCol="0">
              <a:spAutoFit/>
            </a:bodyPr>
            <a:lstStyle/>
            <a:p>
              <a:r>
                <a:rPr lang="en-US" altLang="zh-CN" sz="1400" i="1" dirty="0">
                  <a:latin typeface="Times New Roman" panose="02020603050405020304" pitchFamily="18" charset="0"/>
                  <a:ea typeface="微软雅黑" panose="020B0503020204020204" pitchFamily="34" charset="-122"/>
                  <a:cs typeface="Times New Roman" panose="02020603050405020304" pitchFamily="18" charset="0"/>
                </a:rPr>
                <a:t>n </a:t>
              </a:r>
              <a:r>
                <a:rPr lang="zh-CN" altLang="en-US" sz="1400" dirty="0">
                  <a:latin typeface="微软雅黑" panose="020B0503020204020204" pitchFamily="34" charset="-122"/>
                  <a:ea typeface="微软雅黑" panose="020B0503020204020204" pitchFamily="34" charset="-122"/>
                </a:rPr>
                <a:t>位地址</a:t>
              </a:r>
              <a:endParaRPr lang="zh-CN" altLang="en-US" sz="1400" dirty="0">
                <a:latin typeface="微软雅黑" panose="020B0503020204020204" pitchFamily="34" charset="-122"/>
                <a:ea typeface="微软雅黑" panose="020B0503020204020204" pitchFamily="34" charset="-122"/>
              </a:endParaRPr>
            </a:p>
          </p:txBody>
        </p:sp>
      </p:grpSp>
      <p:sp>
        <p:nvSpPr>
          <p:cNvPr id="174" name="椭圆 173"/>
          <p:cNvSpPr/>
          <p:nvPr/>
        </p:nvSpPr>
        <p:spPr>
          <a:xfrm>
            <a:off x="3437593" y="3348216"/>
            <a:ext cx="1106905" cy="316258"/>
          </a:xfrm>
          <a:prstGeom prst="ellipse">
            <a:avLst/>
          </a:prstGeom>
          <a:solidFill>
            <a:schemeClr val="accent1">
              <a:alpha val="1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椭圆 176"/>
          <p:cNvSpPr/>
          <p:nvPr/>
        </p:nvSpPr>
        <p:spPr>
          <a:xfrm>
            <a:off x="4870156" y="2151934"/>
            <a:ext cx="753748" cy="1395663"/>
          </a:xfrm>
          <a:prstGeom prst="ellipse">
            <a:avLst/>
          </a:prstGeom>
          <a:solidFill>
            <a:schemeClr val="accent1">
              <a:alpha val="1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2070577" y="2723720"/>
            <a:ext cx="1106905" cy="316258"/>
          </a:xfrm>
          <a:prstGeom prst="ellipse">
            <a:avLst/>
          </a:prstGeom>
          <a:solidFill>
            <a:schemeClr val="accent1">
              <a:alpha val="18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ipe(left)">
                                      <p:cBhvr>
                                        <p:cTn id="7" dur="1000"/>
                                        <p:tgtEl>
                                          <p:spTgt spid="19"/>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74"/>
                                        </p:tgtEl>
                                        <p:attrNameLst>
                                          <p:attrName>style.visibility</p:attrName>
                                        </p:attrNameLst>
                                      </p:cBhvr>
                                      <p:to>
                                        <p:strVal val="visible"/>
                                      </p:to>
                                    </p:set>
                                    <p:animEffect transition="in" filter="wipe(left)">
                                      <p:cBhvr>
                                        <p:cTn id="11" dur="1000"/>
                                        <p:tgtEl>
                                          <p:spTgt spid="174"/>
                                        </p:tgtEl>
                                      </p:cBhvr>
                                    </p:animEffect>
                                  </p:childTnLst>
                                </p:cTn>
                              </p:par>
                            </p:childTnLst>
                          </p:cTn>
                        </p:par>
                        <p:par>
                          <p:cTn id="12" fill="hold">
                            <p:stCondLst>
                              <p:cond delay="2000"/>
                            </p:stCondLst>
                            <p:childTnLst>
                              <p:par>
                                <p:cTn id="13" presetID="22" presetClass="entr" presetSubtype="8" fill="hold" grpId="0" nodeType="afterEffect">
                                  <p:stCondLst>
                                    <p:cond delay="0"/>
                                  </p:stCondLst>
                                  <p:childTnLst>
                                    <p:set>
                                      <p:cBhvr>
                                        <p:cTn id="14" dur="1" fill="hold">
                                          <p:stCondLst>
                                            <p:cond delay="0"/>
                                          </p:stCondLst>
                                        </p:cTn>
                                        <p:tgtEl>
                                          <p:spTgt spid="177"/>
                                        </p:tgtEl>
                                        <p:attrNameLst>
                                          <p:attrName>style.visibility</p:attrName>
                                        </p:attrNameLst>
                                      </p:cBhvr>
                                      <p:to>
                                        <p:strVal val="visible"/>
                                      </p:to>
                                    </p:set>
                                    <p:animEffect transition="in" filter="wipe(left)">
                                      <p:cBhvr>
                                        <p:cTn id="15" dur="1000"/>
                                        <p:tgtEl>
                                          <p:spTgt spid="1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 grpId="0" animBg="1"/>
      <p:bldP spid="177" grpId="0" animBg="1"/>
      <p:bldP spid="1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7"/>
          <p:cNvGrpSpPr/>
          <p:nvPr/>
        </p:nvGrpSpPr>
        <p:grpSpPr>
          <a:xfrm>
            <a:off x="392432" y="769746"/>
            <a:ext cx="4677072" cy="420971"/>
            <a:chOff x="670560" y="892917"/>
            <a:chExt cx="4677072" cy="420971"/>
          </a:xfrm>
        </p:grpSpPr>
        <p:sp>
          <p:nvSpPr>
            <p:cNvPr id="70" name="矩形 69"/>
            <p:cNvSpPr/>
            <p:nvPr/>
          </p:nvSpPr>
          <p:spPr>
            <a:xfrm>
              <a:off x="1035233" y="913778"/>
              <a:ext cx="4312399"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74138</a:t>
              </a:r>
              <a:r>
                <a:rPr lang="zh-CN" altLang="en-US" sz="2000" b="1" dirty="0">
                  <a:solidFill>
                    <a:srgbClr val="002060"/>
                  </a:solidFill>
                  <a:latin typeface="微软雅黑" panose="020B0503020204020204" pitchFamily="34" charset="-122"/>
                  <a:ea typeface="微软雅黑" panose="020B0503020204020204" pitchFamily="34" charset="-122"/>
                </a:rPr>
                <a:t>构成的数据分配器的工作原理</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7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3" name="组合 21"/>
          <p:cNvGrpSpPr/>
          <p:nvPr/>
        </p:nvGrpSpPr>
        <p:grpSpPr>
          <a:xfrm>
            <a:off x="797522" y="1672707"/>
            <a:ext cx="2935705" cy="1990403"/>
            <a:chOff x="797522" y="2186310"/>
            <a:chExt cx="2935705" cy="1990403"/>
          </a:xfrm>
        </p:grpSpPr>
        <p:sp>
          <p:nvSpPr>
            <p:cNvPr id="21" name="圆角矩形 20"/>
            <p:cNvSpPr/>
            <p:nvPr/>
          </p:nvSpPr>
          <p:spPr>
            <a:xfrm>
              <a:off x="797522" y="2186310"/>
              <a:ext cx="2935705" cy="1931928"/>
            </a:xfrm>
            <a:prstGeom prst="roundRect">
              <a:avLst>
                <a:gd name="adj" fmla="val 754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34149" name="Object 5"/>
            <p:cNvGraphicFramePr>
              <a:graphicFrameLocks noChangeAspect="1"/>
            </p:cNvGraphicFramePr>
            <p:nvPr/>
          </p:nvGraphicFramePr>
          <p:xfrm>
            <a:off x="1110738" y="2241311"/>
            <a:ext cx="2374900" cy="1935402"/>
          </p:xfrm>
          <a:graphic>
            <a:graphicData uri="http://schemas.openxmlformats.org/presentationml/2006/ole">
              <mc:AlternateContent xmlns:mc="http://schemas.openxmlformats.org/markup-compatibility/2006">
                <mc:Choice xmlns:v="urn:schemas-microsoft-com:vml" Requires="v">
                  <p:oleObj spid="_x0000_s50232" name="Visio" r:id="rId2" imgW="1624330" imgH="1157605" progId="Visio.Drawing.11">
                    <p:embed/>
                  </p:oleObj>
                </mc:Choice>
                <mc:Fallback>
                  <p:oleObj name="Visio" r:id="rId2" imgW="1624330" imgH="1157605" progId="Visio.Drawing.11">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l="2617"/>
                        <a:stretch>
                          <a:fillRect/>
                        </a:stretch>
                      </p:blipFill>
                      <p:spPr bwMode="auto">
                        <a:xfrm>
                          <a:off x="1110738" y="2241311"/>
                          <a:ext cx="2374900" cy="193540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grpSp>
        <p:nvGrpSpPr>
          <p:cNvPr id="4" name="组合 28"/>
          <p:cNvGrpSpPr/>
          <p:nvPr/>
        </p:nvGrpSpPr>
        <p:grpSpPr>
          <a:xfrm>
            <a:off x="3272590" y="1948863"/>
            <a:ext cx="433137" cy="1332638"/>
            <a:chOff x="3272590" y="2462466"/>
            <a:chExt cx="433137" cy="1332638"/>
          </a:xfrm>
        </p:grpSpPr>
        <p:sp>
          <p:nvSpPr>
            <p:cNvPr id="23" name="TextBox 22"/>
            <p:cNvSpPr txBox="1"/>
            <p:nvPr/>
          </p:nvSpPr>
          <p:spPr>
            <a:xfrm>
              <a:off x="3364259" y="2724866"/>
              <a:ext cx="341468" cy="830997"/>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数</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据</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输</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出</a:t>
              </a:r>
              <a:endParaRPr lang="zh-CN" altLang="en-US" sz="1200" dirty="0">
                <a:latin typeface="微软雅黑" panose="020B0503020204020204" pitchFamily="34" charset="-122"/>
                <a:ea typeface="微软雅黑" panose="020B0503020204020204" pitchFamily="34" charset="-122"/>
              </a:endParaRPr>
            </a:p>
          </p:txBody>
        </p:sp>
        <p:sp>
          <p:nvSpPr>
            <p:cNvPr id="24" name="右大括号 23"/>
            <p:cNvSpPr/>
            <p:nvPr/>
          </p:nvSpPr>
          <p:spPr>
            <a:xfrm>
              <a:off x="3272590" y="2462466"/>
              <a:ext cx="123754" cy="1332638"/>
            </a:xfrm>
            <a:prstGeom prst="rightBrace">
              <a:avLst>
                <a:gd name="adj1" fmla="val 40248"/>
                <a:gd name="adj2" fmla="val 50000"/>
              </a:avLst>
            </a:prstGeom>
            <a:ln w="1270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5" name="组合 27"/>
          <p:cNvGrpSpPr/>
          <p:nvPr/>
        </p:nvGrpSpPr>
        <p:grpSpPr>
          <a:xfrm>
            <a:off x="980861" y="1759793"/>
            <a:ext cx="490428" cy="830997"/>
            <a:chOff x="980861" y="2273396"/>
            <a:chExt cx="490428" cy="830997"/>
          </a:xfrm>
        </p:grpSpPr>
        <p:sp>
          <p:nvSpPr>
            <p:cNvPr id="26" name="右大括号 25"/>
            <p:cNvSpPr/>
            <p:nvPr/>
          </p:nvSpPr>
          <p:spPr>
            <a:xfrm flipH="1">
              <a:off x="1336078" y="2470487"/>
              <a:ext cx="135211" cy="485844"/>
            </a:xfrm>
            <a:prstGeom prst="rightBrace">
              <a:avLst>
                <a:gd name="adj1" fmla="val 40248"/>
                <a:gd name="adj2" fmla="val 50000"/>
              </a:avLst>
            </a:prstGeom>
            <a:ln w="1270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7" name="TextBox 26"/>
            <p:cNvSpPr txBox="1"/>
            <p:nvPr/>
          </p:nvSpPr>
          <p:spPr>
            <a:xfrm>
              <a:off x="980861" y="2273396"/>
              <a:ext cx="341468" cy="830997"/>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地址选择</a:t>
              </a:r>
              <a:endParaRPr lang="zh-CN" altLang="en-US" sz="1200" dirty="0">
                <a:latin typeface="微软雅黑" panose="020B0503020204020204" pitchFamily="34" charset="-122"/>
                <a:ea typeface="微软雅黑" panose="020B0503020204020204" pitchFamily="34" charset="-122"/>
              </a:endParaRPr>
            </a:p>
          </p:txBody>
        </p:sp>
      </p:grpSp>
      <p:grpSp>
        <p:nvGrpSpPr>
          <p:cNvPr id="8" name="组合 49"/>
          <p:cNvGrpSpPr/>
          <p:nvPr/>
        </p:nvGrpSpPr>
        <p:grpSpPr>
          <a:xfrm>
            <a:off x="4257688" y="1602428"/>
            <a:ext cx="1879742" cy="636433"/>
            <a:chOff x="5263578" y="2079265"/>
            <a:chExt cx="1879742" cy="636433"/>
          </a:xfrm>
        </p:grpSpPr>
        <p:sp>
          <p:nvSpPr>
            <p:cNvPr id="49" name="圆角矩形 48"/>
            <p:cNvSpPr/>
            <p:nvPr/>
          </p:nvSpPr>
          <p:spPr>
            <a:xfrm>
              <a:off x="5263578" y="2079265"/>
              <a:ext cx="1879742" cy="636433"/>
            </a:xfrm>
            <a:prstGeom prst="roundRect">
              <a:avLst/>
            </a:prstGeom>
            <a:solidFill>
              <a:srgbClr val="FFFF00"/>
            </a:solidFill>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7" name="Object 27"/>
            <p:cNvGraphicFramePr>
              <a:graphicFrameLocks noChangeAspect="1"/>
            </p:cNvGraphicFramePr>
            <p:nvPr/>
          </p:nvGraphicFramePr>
          <p:xfrm>
            <a:off x="5295422" y="2121974"/>
            <a:ext cx="1810772" cy="538723"/>
          </p:xfrm>
          <a:graphic>
            <a:graphicData uri="http://schemas.openxmlformats.org/presentationml/2006/ole">
              <mc:AlternateContent xmlns:mc="http://schemas.openxmlformats.org/markup-compatibility/2006">
                <mc:Choice xmlns:v="urn:schemas-microsoft-com:vml" Requires="v">
                  <p:oleObj spid="_x0000_s50233" name="Equation" r:id="rId4" imgW="1002665" imgH="304800" progId="Equation.DSMT4">
                    <p:embed/>
                  </p:oleObj>
                </mc:Choice>
                <mc:Fallback>
                  <p:oleObj name="Equation" r:id="rId4" imgW="1002665" imgH="304800" progId="Equation.DSMT4">
                    <p:embed/>
                    <p:pic>
                      <p:nvPicPr>
                        <p:cNvPr id="0" name="Object 2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95422" y="2121974"/>
                          <a:ext cx="1810772" cy="5387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48" name="圆角矩形标注 47"/>
          <p:cNvSpPr/>
          <p:nvPr/>
        </p:nvSpPr>
        <p:spPr>
          <a:xfrm>
            <a:off x="6274934" y="1592594"/>
            <a:ext cx="1100033" cy="453762"/>
          </a:xfrm>
          <a:prstGeom prst="wedgeRoundRectCallout">
            <a:avLst>
              <a:gd name="adj1" fmla="val -64434"/>
              <a:gd name="adj2" fmla="val 4530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400" baseline="-25000" dirty="0">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4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400" baseline="-25000" dirty="0">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400" i="1" dirty="0">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400" baseline="-25000" dirty="0">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的第</a:t>
            </a:r>
            <a:r>
              <a:rPr lang="en-US" altLang="zh-CN" sz="1400" dirty="0" err="1">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400" dirty="0">
                <a:latin typeface="Times New Roman" panose="02020603050405020304" pitchFamily="18" charset="0"/>
                <a:ea typeface="微软雅黑" panose="020B0503020204020204" pitchFamily="34" charset="-122"/>
                <a:cs typeface="Times New Roman" panose="02020603050405020304" pitchFamily="18" charset="0"/>
              </a:rPr>
              <a:t>个最小项</a:t>
            </a:r>
            <a:endParaRPr lang="zh-CN" altLang="en-US" sz="1400" dirty="0">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9" name="组合 50"/>
          <p:cNvGrpSpPr/>
          <p:nvPr/>
        </p:nvGrpSpPr>
        <p:grpSpPr>
          <a:xfrm>
            <a:off x="4714267" y="3123733"/>
            <a:ext cx="1127533" cy="421415"/>
            <a:chOff x="5430254" y="2079266"/>
            <a:chExt cx="1267019" cy="470283"/>
          </a:xfrm>
        </p:grpSpPr>
        <p:sp>
          <p:nvSpPr>
            <p:cNvPr id="52" name="圆角矩形 51"/>
            <p:cNvSpPr/>
            <p:nvPr/>
          </p:nvSpPr>
          <p:spPr>
            <a:xfrm>
              <a:off x="5430254" y="2079266"/>
              <a:ext cx="1267019" cy="470283"/>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3" name="Object 27"/>
            <p:cNvGraphicFramePr>
              <a:graphicFrameLocks noChangeAspect="1"/>
            </p:cNvGraphicFramePr>
            <p:nvPr/>
          </p:nvGraphicFramePr>
          <p:xfrm>
            <a:off x="5455152" y="2079350"/>
            <a:ext cx="1168400" cy="468312"/>
          </p:xfrm>
          <a:graphic>
            <a:graphicData uri="http://schemas.openxmlformats.org/presentationml/2006/ole">
              <mc:AlternateContent xmlns:mc="http://schemas.openxmlformats.org/markup-compatibility/2006">
                <mc:Choice xmlns:v="urn:schemas-microsoft-com:vml" Requires="v">
                  <p:oleObj spid="_x0000_s50234" name="Equation" r:id="rId6" imgW="647700" imgH="266700" progId="Equation.DSMT4">
                    <p:embed/>
                  </p:oleObj>
                </mc:Choice>
                <mc:Fallback>
                  <p:oleObj name="Equation" r:id="rId6" imgW="647700" imgH="266700" progId="Equation.DSMT4">
                    <p:embed/>
                    <p:pic>
                      <p:nvPicPr>
                        <p:cNvPr id="0" name="Object 2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55152" y="2079350"/>
                          <a:ext cx="1168400" cy="46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0" name="组合 72"/>
          <p:cNvGrpSpPr/>
          <p:nvPr/>
        </p:nvGrpSpPr>
        <p:grpSpPr>
          <a:xfrm>
            <a:off x="4398009" y="2238863"/>
            <a:ext cx="1766922" cy="845647"/>
            <a:chOff x="5520774" y="2483972"/>
            <a:chExt cx="1766922" cy="845647"/>
          </a:xfrm>
        </p:grpSpPr>
        <p:sp>
          <p:nvSpPr>
            <p:cNvPr id="55" name="下箭头 54"/>
            <p:cNvSpPr/>
            <p:nvPr/>
          </p:nvSpPr>
          <p:spPr>
            <a:xfrm>
              <a:off x="5520774" y="2483972"/>
              <a:ext cx="1766922" cy="845647"/>
            </a:xfrm>
            <a:prstGeom prst="downArrow">
              <a:avLst>
                <a:gd name="adj1" fmla="val 71714"/>
                <a:gd name="adj2" fmla="val 35243"/>
              </a:avLst>
            </a:prstGeom>
            <a:solidFill>
              <a:srgbClr val="92D050"/>
            </a:solidFill>
            <a:ln w="19050"/>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6" name="Object 9"/>
            <p:cNvGraphicFramePr>
              <a:graphicFrameLocks noChangeAspect="1"/>
            </p:cNvGraphicFramePr>
            <p:nvPr/>
          </p:nvGraphicFramePr>
          <p:xfrm>
            <a:off x="5842917" y="2557558"/>
            <a:ext cx="1142271" cy="655183"/>
          </p:xfrm>
          <a:graphic>
            <a:graphicData uri="http://schemas.openxmlformats.org/presentationml/2006/ole">
              <mc:AlternateContent xmlns:mc="http://schemas.openxmlformats.org/markup-compatibility/2006">
                <mc:Choice xmlns:v="urn:schemas-microsoft-com:vml" Requires="v">
                  <p:oleObj spid="_x0000_s50235" name="Equation" r:id="rId8" imgW="876300" imgH="482600" progId="Equation.DSMT4">
                    <p:embed/>
                  </p:oleObj>
                </mc:Choice>
                <mc:Fallback>
                  <p:oleObj name="Equation" r:id="rId8" imgW="876300" imgH="48260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42917" y="2557558"/>
                          <a:ext cx="1142271" cy="655183"/>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7" name="五边形 56"/>
          <p:cNvSpPr/>
          <p:nvPr/>
        </p:nvSpPr>
        <p:spPr>
          <a:xfrm>
            <a:off x="880023" y="3911988"/>
            <a:ext cx="1347538" cy="484632"/>
          </a:xfrm>
          <a:prstGeom prst="homePlat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i="1" dirty="0">
                <a:latin typeface="Times New Roman" panose="02020603050405020304" pitchFamily="18" charset="0"/>
                <a:cs typeface="Times New Roman" panose="02020603050405020304" pitchFamily="18" charset="0"/>
              </a:rPr>
              <a:t>A</a:t>
            </a:r>
            <a:r>
              <a:rPr lang="en-US" altLang="zh-CN" sz="1600" baseline="-25000" dirty="0">
                <a:latin typeface="Times New Roman" panose="02020603050405020304" pitchFamily="18" charset="0"/>
                <a:cs typeface="Times New Roman" panose="02020603050405020304" pitchFamily="18" charset="0"/>
              </a:rPr>
              <a:t>2</a:t>
            </a:r>
            <a:r>
              <a:rPr lang="en-US" altLang="zh-CN" sz="1600" i="1" dirty="0">
                <a:latin typeface="Times New Roman" panose="02020603050405020304" pitchFamily="18" charset="0"/>
                <a:cs typeface="Times New Roman" panose="02020603050405020304" pitchFamily="18" charset="0"/>
              </a:rPr>
              <a:t>A</a:t>
            </a:r>
            <a:r>
              <a:rPr lang="en-US" altLang="zh-CN" sz="1600" baseline="-25000" dirty="0">
                <a:latin typeface="Times New Roman" panose="02020603050405020304" pitchFamily="18" charset="0"/>
                <a:cs typeface="Times New Roman" panose="02020603050405020304" pitchFamily="18" charset="0"/>
              </a:rPr>
              <a:t>1</a:t>
            </a:r>
            <a:r>
              <a:rPr lang="en-US" altLang="zh-CN" sz="1600" i="1" dirty="0">
                <a:latin typeface="Times New Roman" panose="02020603050405020304" pitchFamily="18" charset="0"/>
                <a:cs typeface="Times New Roman" panose="02020603050405020304" pitchFamily="18" charset="0"/>
              </a:rPr>
              <a:t>A</a:t>
            </a:r>
            <a:r>
              <a:rPr lang="en-US" altLang="zh-CN" sz="1600" baseline="-25000" dirty="0">
                <a:latin typeface="Times New Roman" panose="02020603050405020304" pitchFamily="18" charset="0"/>
                <a:cs typeface="Times New Roman" panose="02020603050405020304" pitchFamily="18" charset="0"/>
              </a:rPr>
              <a:t>0</a:t>
            </a:r>
            <a:r>
              <a:rPr lang="en-US" altLang="zh-CN" sz="1600" dirty="0">
                <a:latin typeface="Times New Roman" panose="02020603050405020304" pitchFamily="18" charset="0"/>
                <a:cs typeface="Times New Roman" panose="02020603050405020304" pitchFamily="18" charset="0"/>
              </a:rPr>
              <a:t>=010</a:t>
            </a:r>
            <a:endParaRPr lang="zh-CN" altLang="en-US" sz="1600" dirty="0">
              <a:latin typeface="Times New Roman" panose="02020603050405020304" pitchFamily="18" charset="0"/>
              <a:cs typeface="Times New Roman" panose="02020603050405020304" pitchFamily="18" charset="0"/>
            </a:endParaRPr>
          </a:p>
        </p:txBody>
      </p:sp>
      <p:sp>
        <p:nvSpPr>
          <p:cNvPr id="58" name="燕尾形 57"/>
          <p:cNvSpPr/>
          <p:nvPr/>
        </p:nvSpPr>
        <p:spPr>
          <a:xfrm>
            <a:off x="2028180" y="3911988"/>
            <a:ext cx="2172561" cy="484632"/>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i="1" dirty="0">
                <a:solidFill>
                  <a:schemeClr val="bg1"/>
                </a:solidFill>
                <a:latin typeface="Times New Roman" panose="02020603050405020304" pitchFamily="18" charset="0"/>
                <a:cs typeface="Times New Roman" panose="02020603050405020304" pitchFamily="18" charset="0"/>
              </a:rPr>
              <a:t>m</a:t>
            </a:r>
            <a:r>
              <a:rPr lang="en-US" altLang="zh-CN" sz="1600" baseline="-25000" dirty="0">
                <a:solidFill>
                  <a:schemeClr val="bg1"/>
                </a:solidFill>
                <a:latin typeface="Times New Roman" panose="02020603050405020304" pitchFamily="18" charset="0"/>
                <a:cs typeface="Times New Roman" panose="02020603050405020304" pitchFamily="18" charset="0"/>
              </a:rPr>
              <a:t>2</a:t>
            </a:r>
            <a:r>
              <a:rPr lang="en-US" altLang="zh-CN" sz="1600" dirty="0">
                <a:solidFill>
                  <a:schemeClr val="bg1"/>
                </a:solidFill>
                <a:latin typeface="Times New Roman" panose="02020603050405020304" pitchFamily="18" charset="0"/>
                <a:cs typeface="Times New Roman" panose="02020603050405020304" pitchFamily="18" charset="0"/>
              </a:rPr>
              <a:t>=1</a:t>
            </a:r>
            <a:r>
              <a:rPr lang="zh-CN" altLang="en-US" sz="1600" dirty="0">
                <a:solidFill>
                  <a:schemeClr val="bg1"/>
                </a:solidFill>
                <a:latin typeface="Times New Roman" panose="02020603050405020304" pitchFamily="18" charset="0"/>
                <a:cs typeface="Times New Roman" panose="02020603050405020304" pitchFamily="18" charset="0"/>
              </a:rPr>
              <a:t>，</a:t>
            </a:r>
            <a:r>
              <a:rPr lang="en-US" altLang="zh-CN" sz="1600" i="1" dirty="0">
                <a:solidFill>
                  <a:schemeClr val="bg1"/>
                </a:solidFill>
                <a:latin typeface="Times New Roman" panose="02020603050405020304" pitchFamily="18" charset="0"/>
                <a:cs typeface="Times New Roman" panose="02020603050405020304" pitchFamily="18" charset="0"/>
              </a:rPr>
              <a:t>m</a:t>
            </a:r>
            <a:r>
              <a:rPr lang="en-US" altLang="zh-CN" sz="1600" baseline="-25000" dirty="0">
                <a:solidFill>
                  <a:schemeClr val="bg1"/>
                </a:solidFill>
                <a:latin typeface="Times New Roman" panose="02020603050405020304" pitchFamily="18" charset="0"/>
                <a:cs typeface="Times New Roman" panose="02020603050405020304" pitchFamily="18" charset="0"/>
              </a:rPr>
              <a:t>i</a:t>
            </a:r>
            <a:r>
              <a:rPr lang="en-US" altLang="zh-CN" sz="1600" dirty="0">
                <a:solidFill>
                  <a:schemeClr val="bg1"/>
                </a:solidFill>
                <a:latin typeface="Times New Roman" panose="02020603050405020304" pitchFamily="18" charset="0"/>
                <a:cs typeface="Times New Roman" panose="02020603050405020304" pitchFamily="18" charset="0"/>
              </a:rPr>
              <a:t>=0 (</a:t>
            </a:r>
            <a:r>
              <a:rPr lang="en-US" altLang="zh-CN" sz="1200" dirty="0" err="1">
                <a:solidFill>
                  <a:schemeClr val="bg1"/>
                </a:solidFill>
                <a:latin typeface="Times New Roman" panose="02020603050405020304" pitchFamily="18" charset="0"/>
                <a:cs typeface="Times New Roman" panose="02020603050405020304" pitchFamily="18" charset="0"/>
              </a:rPr>
              <a:t>i</a:t>
            </a:r>
            <a:r>
              <a:rPr lang="zh-CN" altLang="en-US" sz="1200" dirty="0">
                <a:solidFill>
                  <a:schemeClr val="bg1"/>
                </a:solidFill>
                <a:latin typeface="Times New Roman" panose="02020603050405020304" pitchFamily="18" charset="0"/>
                <a:cs typeface="Times New Roman" panose="02020603050405020304" pitchFamily="18" charset="0"/>
              </a:rPr>
              <a:t>≠</a:t>
            </a:r>
            <a:r>
              <a:rPr lang="en-US" altLang="zh-CN" sz="1200" dirty="0">
                <a:solidFill>
                  <a:schemeClr val="bg1"/>
                </a:solidFill>
                <a:latin typeface="Times New Roman" panose="02020603050405020304" pitchFamily="18" charset="0"/>
                <a:cs typeface="Times New Roman" panose="02020603050405020304" pitchFamily="18" charset="0"/>
              </a:rPr>
              <a:t>2</a:t>
            </a:r>
            <a:r>
              <a:rPr lang="en-US" altLang="zh-CN" sz="1600" dirty="0">
                <a:solidFill>
                  <a:schemeClr val="bg1"/>
                </a:solidFill>
                <a:latin typeface="Times New Roman" panose="02020603050405020304" pitchFamily="18" charset="0"/>
                <a:cs typeface="Times New Roman" panose="02020603050405020304" pitchFamily="18" charset="0"/>
              </a:rPr>
              <a:t>)</a:t>
            </a:r>
            <a:endParaRPr lang="zh-CN" altLang="en-US" sz="1600" dirty="0">
              <a:solidFill>
                <a:schemeClr val="bg1"/>
              </a:solidFill>
              <a:latin typeface="Times New Roman" panose="02020603050405020304" pitchFamily="18" charset="0"/>
              <a:cs typeface="Times New Roman" panose="02020603050405020304" pitchFamily="18" charset="0"/>
            </a:endParaRPr>
          </a:p>
        </p:txBody>
      </p:sp>
      <p:grpSp>
        <p:nvGrpSpPr>
          <p:cNvPr id="11" name="组合 63"/>
          <p:cNvGrpSpPr/>
          <p:nvPr/>
        </p:nvGrpSpPr>
        <p:grpSpPr>
          <a:xfrm>
            <a:off x="3995631" y="3913134"/>
            <a:ext cx="2082036" cy="484632"/>
            <a:chOff x="3995631" y="4126259"/>
            <a:chExt cx="2082036" cy="484632"/>
          </a:xfrm>
        </p:grpSpPr>
        <p:sp>
          <p:nvSpPr>
            <p:cNvPr id="59" name="燕尾形 58"/>
            <p:cNvSpPr/>
            <p:nvPr/>
          </p:nvSpPr>
          <p:spPr>
            <a:xfrm>
              <a:off x="3995631" y="4126259"/>
              <a:ext cx="2082036" cy="484632"/>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i="1" dirty="0">
                  <a:solidFill>
                    <a:schemeClr val="bg1"/>
                  </a:solidFill>
                  <a:latin typeface="Times New Roman" panose="02020603050405020304" pitchFamily="18" charset="0"/>
                  <a:cs typeface="Times New Roman" panose="02020603050405020304" pitchFamily="18" charset="0"/>
                </a:rPr>
                <a:t>Y</a:t>
              </a:r>
              <a:r>
                <a:rPr lang="en-US" altLang="zh-CN" sz="1600" baseline="-25000" dirty="0">
                  <a:solidFill>
                    <a:schemeClr val="bg1"/>
                  </a:solidFill>
                  <a:latin typeface="Times New Roman" panose="02020603050405020304" pitchFamily="18" charset="0"/>
                  <a:cs typeface="Times New Roman" panose="02020603050405020304" pitchFamily="18" charset="0"/>
                </a:rPr>
                <a:t>2</a:t>
              </a:r>
              <a:r>
                <a:rPr lang="en-US" altLang="zh-CN" sz="1600" dirty="0">
                  <a:solidFill>
                    <a:schemeClr val="bg1"/>
                  </a:solidFill>
                  <a:latin typeface="Times New Roman" panose="02020603050405020304" pitchFamily="18" charset="0"/>
                  <a:cs typeface="Times New Roman" panose="02020603050405020304" pitchFamily="18" charset="0"/>
                </a:rPr>
                <a:t>=</a:t>
              </a:r>
              <a:r>
                <a:rPr lang="en-US" altLang="zh-CN" sz="1600" i="1" dirty="0">
                  <a:solidFill>
                    <a:schemeClr val="bg1"/>
                  </a:solidFill>
                  <a:latin typeface="Times New Roman" panose="02020603050405020304" pitchFamily="18" charset="0"/>
                  <a:cs typeface="Times New Roman" panose="02020603050405020304" pitchFamily="18" charset="0"/>
                </a:rPr>
                <a:t>D</a:t>
              </a:r>
              <a:r>
                <a:rPr lang="zh-CN" altLang="en-US" sz="1600" dirty="0">
                  <a:solidFill>
                    <a:schemeClr val="bg1"/>
                  </a:solidFill>
                  <a:latin typeface="Times New Roman" panose="02020603050405020304" pitchFamily="18" charset="0"/>
                  <a:cs typeface="Times New Roman" panose="02020603050405020304" pitchFamily="18" charset="0"/>
                </a:rPr>
                <a:t>，</a:t>
              </a:r>
              <a:r>
                <a:rPr lang="en-US" altLang="zh-CN" sz="1600" i="1" dirty="0">
                  <a:solidFill>
                    <a:schemeClr val="bg1"/>
                  </a:solidFill>
                  <a:latin typeface="Times New Roman" panose="02020603050405020304" pitchFamily="18" charset="0"/>
                  <a:cs typeface="Times New Roman" panose="02020603050405020304" pitchFamily="18" charset="0"/>
                </a:rPr>
                <a:t>Y</a:t>
              </a:r>
              <a:r>
                <a:rPr lang="en-US" altLang="zh-CN" sz="1600" baseline="-25000" dirty="0">
                  <a:solidFill>
                    <a:schemeClr val="bg1"/>
                  </a:solidFill>
                  <a:latin typeface="Times New Roman" panose="02020603050405020304" pitchFamily="18" charset="0"/>
                  <a:cs typeface="Times New Roman" panose="02020603050405020304" pitchFamily="18" charset="0"/>
                </a:rPr>
                <a:t>i</a:t>
              </a:r>
              <a:r>
                <a:rPr lang="en-US" altLang="zh-CN" sz="1600" dirty="0">
                  <a:solidFill>
                    <a:schemeClr val="bg1"/>
                  </a:solidFill>
                  <a:latin typeface="Times New Roman" panose="02020603050405020304" pitchFamily="18" charset="0"/>
                  <a:cs typeface="Times New Roman" panose="02020603050405020304" pitchFamily="18" charset="0"/>
                </a:rPr>
                <a:t>=1 (</a:t>
              </a:r>
              <a:r>
                <a:rPr lang="en-US" altLang="zh-CN" sz="1200" dirty="0" err="1">
                  <a:solidFill>
                    <a:schemeClr val="bg1"/>
                  </a:solidFill>
                  <a:latin typeface="Times New Roman" panose="02020603050405020304" pitchFamily="18" charset="0"/>
                  <a:cs typeface="Times New Roman" panose="02020603050405020304" pitchFamily="18" charset="0"/>
                </a:rPr>
                <a:t>i</a:t>
              </a:r>
              <a:r>
                <a:rPr lang="zh-CN" altLang="en-US" sz="1200" dirty="0">
                  <a:solidFill>
                    <a:schemeClr val="bg1"/>
                  </a:solidFill>
                  <a:latin typeface="Times New Roman" panose="02020603050405020304" pitchFamily="18" charset="0"/>
                  <a:cs typeface="Times New Roman" panose="02020603050405020304" pitchFamily="18" charset="0"/>
                </a:rPr>
                <a:t>≠</a:t>
              </a:r>
              <a:r>
                <a:rPr lang="en-US" altLang="zh-CN" sz="1200" dirty="0">
                  <a:solidFill>
                    <a:schemeClr val="bg1"/>
                  </a:solidFill>
                  <a:latin typeface="Times New Roman" panose="02020603050405020304" pitchFamily="18" charset="0"/>
                  <a:cs typeface="Times New Roman" panose="02020603050405020304" pitchFamily="18" charset="0"/>
                </a:rPr>
                <a:t>2</a:t>
              </a:r>
              <a:r>
                <a:rPr lang="en-US" altLang="zh-CN" sz="1600" dirty="0">
                  <a:solidFill>
                    <a:schemeClr val="bg1"/>
                  </a:solidFill>
                  <a:latin typeface="Times New Roman" panose="02020603050405020304" pitchFamily="18" charset="0"/>
                  <a:cs typeface="Times New Roman" panose="02020603050405020304" pitchFamily="18" charset="0"/>
                </a:rPr>
                <a:t>)</a:t>
              </a:r>
              <a:endParaRPr lang="zh-CN" altLang="en-US" sz="1600" dirty="0">
                <a:solidFill>
                  <a:schemeClr val="bg1"/>
                </a:solidFill>
                <a:latin typeface="Times New Roman" panose="02020603050405020304" pitchFamily="18" charset="0"/>
                <a:cs typeface="Times New Roman" panose="02020603050405020304" pitchFamily="18" charset="0"/>
              </a:endParaRPr>
            </a:p>
          </p:txBody>
        </p:sp>
        <p:cxnSp>
          <p:nvCxnSpPr>
            <p:cNvPr id="61" name="直接连接符 60"/>
            <p:cNvCxnSpPr/>
            <p:nvPr/>
          </p:nvCxnSpPr>
          <p:spPr>
            <a:xfrm>
              <a:off x="4351993" y="4276367"/>
              <a:ext cx="108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5006281" y="4284388"/>
              <a:ext cx="10800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2" name="组合 77"/>
          <p:cNvGrpSpPr/>
          <p:nvPr/>
        </p:nvGrpSpPr>
        <p:grpSpPr>
          <a:xfrm>
            <a:off x="1120657" y="2820861"/>
            <a:ext cx="453762" cy="181146"/>
            <a:chOff x="4640752" y="4771380"/>
            <a:chExt cx="790176" cy="181146"/>
          </a:xfrm>
        </p:grpSpPr>
        <p:cxnSp>
          <p:nvCxnSpPr>
            <p:cNvPr id="69" name="肘形连接符 68"/>
            <p:cNvCxnSpPr/>
            <p:nvPr/>
          </p:nvCxnSpPr>
          <p:spPr>
            <a:xfrm flipV="1">
              <a:off x="4640752" y="4771380"/>
              <a:ext cx="165004" cy="180000"/>
            </a:xfrm>
            <a:prstGeom prst="bentConnector3">
              <a:avLst>
                <a:gd name="adj1" fmla="val 50000"/>
              </a:avLst>
            </a:prstGeom>
            <a:ln w="19050">
              <a:solidFill>
                <a:srgbClr val="CC00CC"/>
              </a:solidFill>
            </a:ln>
          </p:spPr>
          <p:style>
            <a:lnRef idx="1">
              <a:schemeClr val="accent1"/>
            </a:lnRef>
            <a:fillRef idx="0">
              <a:schemeClr val="accent1"/>
            </a:fillRef>
            <a:effectRef idx="0">
              <a:schemeClr val="accent1"/>
            </a:effectRef>
            <a:fontRef idx="minor">
              <a:schemeClr val="tx1"/>
            </a:fontRef>
          </p:style>
        </p:cxnSp>
        <p:cxnSp>
          <p:nvCxnSpPr>
            <p:cNvPr id="72" name="肘形连接符 71"/>
            <p:cNvCxnSpPr/>
            <p:nvPr/>
          </p:nvCxnSpPr>
          <p:spPr>
            <a:xfrm>
              <a:off x="4772525" y="4771380"/>
              <a:ext cx="246362" cy="180000"/>
            </a:xfrm>
            <a:prstGeom prst="bentConnector3">
              <a:avLst>
                <a:gd name="adj1" fmla="val 50000"/>
              </a:avLst>
            </a:prstGeom>
            <a:ln w="19050">
              <a:solidFill>
                <a:srgbClr val="CC00CC"/>
              </a:solidFill>
            </a:ln>
          </p:spPr>
          <p:style>
            <a:lnRef idx="1">
              <a:schemeClr val="accent1"/>
            </a:lnRef>
            <a:fillRef idx="0">
              <a:schemeClr val="accent1"/>
            </a:fillRef>
            <a:effectRef idx="0">
              <a:schemeClr val="accent1"/>
            </a:effectRef>
            <a:fontRef idx="minor">
              <a:schemeClr val="tx1"/>
            </a:fontRef>
          </p:style>
        </p:cxnSp>
        <p:cxnSp>
          <p:nvCxnSpPr>
            <p:cNvPr id="75" name="肘形连接符 74"/>
            <p:cNvCxnSpPr/>
            <p:nvPr/>
          </p:nvCxnSpPr>
          <p:spPr>
            <a:xfrm flipV="1">
              <a:off x="4923786" y="4771380"/>
              <a:ext cx="165004" cy="180000"/>
            </a:xfrm>
            <a:prstGeom prst="bentConnector3">
              <a:avLst>
                <a:gd name="adj1" fmla="val 50000"/>
              </a:avLst>
            </a:prstGeom>
            <a:ln w="19050">
              <a:solidFill>
                <a:srgbClr val="CC00CC"/>
              </a:solidFill>
            </a:ln>
          </p:spPr>
          <p:style>
            <a:lnRef idx="1">
              <a:schemeClr val="accent1"/>
            </a:lnRef>
            <a:fillRef idx="0">
              <a:schemeClr val="accent1"/>
            </a:fillRef>
            <a:effectRef idx="0">
              <a:schemeClr val="accent1"/>
            </a:effectRef>
            <a:fontRef idx="minor">
              <a:schemeClr val="tx1"/>
            </a:fontRef>
          </p:style>
        </p:cxnSp>
        <p:cxnSp>
          <p:nvCxnSpPr>
            <p:cNvPr id="77" name="肘形连接符 76"/>
            <p:cNvCxnSpPr/>
            <p:nvPr/>
          </p:nvCxnSpPr>
          <p:spPr>
            <a:xfrm>
              <a:off x="5034928" y="4772526"/>
              <a:ext cx="396000" cy="180000"/>
            </a:xfrm>
            <a:prstGeom prst="bentConnector3">
              <a:avLst>
                <a:gd name="adj1" fmla="val 50000"/>
              </a:avLst>
            </a:prstGeom>
            <a:ln w="19050">
              <a:solidFill>
                <a:srgbClr val="CC00CC"/>
              </a:solidFill>
            </a:ln>
          </p:spPr>
          <p:style>
            <a:lnRef idx="1">
              <a:schemeClr val="accent1"/>
            </a:lnRef>
            <a:fillRef idx="0">
              <a:schemeClr val="accent1"/>
            </a:fillRef>
            <a:effectRef idx="0">
              <a:schemeClr val="accent1"/>
            </a:effectRef>
            <a:fontRef idx="minor">
              <a:schemeClr val="tx1"/>
            </a:fontRef>
          </p:style>
        </p:cxnSp>
      </p:grpSp>
      <p:grpSp>
        <p:nvGrpSpPr>
          <p:cNvPr id="20" name="组合 19"/>
          <p:cNvGrpSpPr/>
          <p:nvPr/>
        </p:nvGrpSpPr>
        <p:grpSpPr>
          <a:xfrm>
            <a:off x="2997583" y="2079486"/>
            <a:ext cx="844200" cy="246361"/>
            <a:chOff x="2997583" y="2079486"/>
            <a:chExt cx="844200" cy="246361"/>
          </a:xfrm>
        </p:grpSpPr>
        <p:grpSp>
          <p:nvGrpSpPr>
            <p:cNvPr id="13" name="组合 78"/>
            <p:cNvGrpSpPr/>
            <p:nvPr/>
          </p:nvGrpSpPr>
          <p:grpSpPr>
            <a:xfrm>
              <a:off x="3388021" y="2079486"/>
              <a:ext cx="453762" cy="181146"/>
              <a:chOff x="4640752" y="4771380"/>
              <a:chExt cx="790176" cy="181146"/>
            </a:xfrm>
          </p:grpSpPr>
          <p:cxnSp>
            <p:nvCxnSpPr>
              <p:cNvPr id="80" name="肘形连接符 79"/>
              <p:cNvCxnSpPr/>
              <p:nvPr/>
            </p:nvCxnSpPr>
            <p:spPr>
              <a:xfrm flipV="1">
                <a:off x="4640752" y="4771380"/>
                <a:ext cx="165004" cy="180000"/>
              </a:xfrm>
              <a:prstGeom prst="bentConnector3">
                <a:avLst>
                  <a:gd name="adj1" fmla="val 50000"/>
                </a:avLst>
              </a:prstGeom>
              <a:ln w="19050">
                <a:solidFill>
                  <a:srgbClr val="CC00CC"/>
                </a:solidFill>
              </a:ln>
            </p:spPr>
            <p:style>
              <a:lnRef idx="1">
                <a:schemeClr val="accent1"/>
              </a:lnRef>
              <a:fillRef idx="0">
                <a:schemeClr val="accent1"/>
              </a:fillRef>
              <a:effectRef idx="0">
                <a:schemeClr val="accent1"/>
              </a:effectRef>
              <a:fontRef idx="minor">
                <a:schemeClr val="tx1"/>
              </a:fontRef>
            </p:style>
          </p:cxnSp>
          <p:cxnSp>
            <p:nvCxnSpPr>
              <p:cNvPr id="81" name="肘形连接符 80"/>
              <p:cNvCxnSpPr/>
              <p:nvPr/>
            </p:nvCxnSpPr>
            <p:spPr>
              <a:xfrm>
                <a:off x="4772525" y="4771380"/>
                <a:ext cx="246362" cy="180000"/>
              </a:xfrm>
              <a:prstGeom prst="bentConnector3">
                <a:avLst>
                  <a:gd name="adj1" fmla="val 50000"/>
                </a:avLst>
              </a:prstGeom>
              <a:ln w="19050">
                <a:solidFill>
                  <a:srgbClr val="CC00CC"/>
                </a:solidFill>
              </a:ln>
            </p:spPr>
            <p:style>
              <a:lnRef idx="1">
                <a:schemeClr val="accent1"/>
              </a:lnRef>
              <a:fillRef idx="0">
                <a:schemeClr val="accent1"/>
              </a:fillRef>
              <a:effectRef idx="0">
                <a:schemeClr val="accent1"/>
              </a:effectRef>
              <a:fontRef idx="minor">
                <a:schemeClr val="tx1"/>
              </a:fontRef>
            </p:style>
          </p:cxnSp>
          <p:cxnSp>
            <p:nvCxnSpPr>
              <p:cNvPr id="82" name="肘形连接符 81"/>
              <p:cNvCxnSpPr/>
              <p:nvPr/>
            </p:nvCxnSpPr>
            <p:spPr>
              <a:xfrm flipV="1">
                <a:off x="4923786" y="4771380"/>
                <a:ext cx="165004" cy="180000"/>
              </a:xfrm>
              <a:prstGeom prst="bentConnector3">
                <a:avLst>
                  <a:gd name="adj1" fmla="val 50000"/>
                </a:avLst>
              </a:prstGeom>
              <a:ln w="19050">
                <a:solidFill>
                  <a:srgbClr val="CC00CC"/>
                </a:solidFill>
              </a:ln>
            </p:spPr>
            <p:style>
              <a:lnRef idx="1">
                <a:schemeClr val="accent1"/>
              </a:lnRef>
              <a:fillRef idx="0">
                <a:schemeClr val="accent1"/>
              </a:fillRef>
              <a:effectRef idx="0">
                <a:schemeClr val="accent1"/>
              </a:effectRef>
              <a:fontRef idx="minor">
                <a:schemeClr val="tx1"/>
              </a:fontRef>
            </p:style>
          </p:cxnSp>
          <p:cxnSp>
            <p:nvCxnSpPr>
              <p:cNvPr id="83" name="肘形连接符 82"/>
              <p:cNvCxnSpPr/>
              <p:nvPr/>
            </p:nvCxnSpPr>
            <p:spPr>
              <a:xfrm>
                <a:off x="5034928" y="4772526"/>
                <a:ext cx="396000" cy="180000"/>
              </a:xfrm>
              <a:prstGeom prst="bentConnector3">
                <a:avLst>
                  <a:gd name="adj1" fmla="val 50000"/>
                </a:avLst>
              </a:prstGeom>
              <a:ln w="19050">
                <a:solidFill>
                  <a:srgbClr val="CC00CC"/>
                </a:solidFill>
              </a:ln>
            </p:spPr>
            <p:style>
              <a:lnRef idx="1">
                <a:schemeClr val="accent1"/>
              </a:lnRef>
              <a:fillRef idx="0">
                <a:schemeClr val="accent1"/>
              </a:fillRef>
              <a:effectRef idx="0">
                <a:schemeClr val="accent1"/>
              </a:effectRef>
              <a:fontRef idx="minor">
                <a:schemeClr val="tx1"/>
              </a:fontRef>
            </p:style>
          </p:cxnSp>
        </p:grpSp>
        <p:cxnSp>
          <p:nvCxnSpPr>
            <p:cNvPr id="85" name="直接连接符 84"/>
            <p:cNvCxnSpPr/>
            <p:nvPr/>
          </p:nvCxnSpPr>
          <p:spPr>
            <a:xfrm flipV="1">
              <a:off x="2997583" y="2325847"/>
              <a:ext cx="666893"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grpSp>
      <p:sp>
        <p:nvSpPr>
          <p:cNvPr id="87" name="矩形 86"/>
          <p:cNvSpPr/>
          <p:nvPr/>
        </p:nvSpPr>
        <p:spPr>
          <a:xfrm>
            <a:off x="1583968" y="1746718"/>
            <a:ext cx="274434" cy="738664"/>
          </a:xfrm>
          <a:prstGeom prst="rect">
            <a:avLst/>
          </a:prstGeom>
        </p:spPr>
        <p:txBody>
          <a:bodyPr wrap="none">
            <a:spAutoFit/>
          </a:bodyPr>
          <a:lstStyle/>
          <a:p>
            <a:r>
              <a:rPr lang="en-US" altLang="zh-CN" sz="1400" dirty="0">
                <a:solidFill>
                  <a:srgbClr val="CC00CC"/>
                </a:solidFill>
                <a:latin typeface="Times New Roman" panose="02020603050405020304" pitchFamily="18" charset="0"/>
                <a:cs typeface="Times New Roman" panose="02020603050405020304" pitchFamily="18" charset="0"/>
              </a:rPr>
              <a:t>0</a:t>
            </a:r>
            <a:endParaRPr lang="en-US" altLang="zh-CN" sz="1400" dirty="0">
              <a:solidFill>
                <a:srgbClr val="CC00CC"/>
              </a:solidFill>
              <a:latin typeface="Times New Roman" panose="02020603050405020304" pitchFamily="18" charset="0"/>
              <a:cs typeface="Times New Roman" panose="02020603050405020304" pitchFamily="18" charset="0"/>
            </a:endParaRPr>
          </a:p>
          <a:p>
            <a:r>
              <a:rPr lang="en-US" altLang="zh-CN" sz="1400" dirty="0">
                <a:solidFill>
                  <a:srgbClr val="CC00CC"/>
                </a:solidFill>
                <a:latin typeface="Times New Roman" panose="02020603050405020304" pitchFamily="18" charset="0"/>
                <a:cs typeface="Times New Roman" panose="02020603050405020304" pitchFamily="18" charset="0"/>
              </a:rPr>
              <a:t>1</a:t>
            </a:r>
            <a:endParaRPr lang="en-US" altLang="zh-CN" sz="1400" dirty="0">
              <a:solidFill>
                <a:srgbClr val="CC00CC"/>
              </a:solidFill>
              <a:latin typeface="Times New Roman" panose="02020603050405020304" pitchFamily="18" charset="0"/>
              <a:cs typeface="Times New Roman" panose="02020603050405020304" pitchFamily="18" charset="0"/>
            </a:endParaRPr>
          </a:p>
          <a:p>
            <a:r>
              <a:rPr lang="en-US" altLang="zh-CN" sz="1400" dirty="0">
                <a:solidFill>
                  <a:srgbClr val="CC00CC"/>
                </a:solidFill>
                <a:latin typeface="Times New Roman" panose="02020603050405020304" pitchFamily="18" charset="0"/>
                <a:cs typeface="Times New Roman" panose="02020603050405020304" pitchFamily="18" charset="0"/>
              </a:rPr>
              <a:t>0</a:t>
            </a:r>
            <a:endParaRPr lang="zh-CN" altLang="en-US" sz="1400" dirty="0">
              <a:solidFill>
                <a:srgbClr val="CC00CC"/>
              </a:solidFill>
            </a:endParaRPr>
          </a:p>
        </p:txBody>
      </p:sp>
      <p:sp>
        <p:nvSpPr>
          <p:cNvPr id="94" name="燕尾形 93"/>
          <p:cNvSpPr/>
          <p:nvPr/>
        </p:nvSpPr>
        <p:spPr>
          <a:xfrm>
            <a:off x="5879431" y="3913134"/>
            <a:ext cx="2666428" cy="484632"/>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rPr>
              <a:t>在地址的控制下实现数据的分配功能</a:t>
            </a:r>
            <a:endParaRPr lang="zh-CN" altLang="en-US" sz="1600" dirty="0">
              <a:solidFill>
                <a:schemeClr val="bg1"/>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8" name="组合 17"/>
          <p:cNvGrpSpPr/>
          <p:nvPr/>
        </p:nvGrpSpPr>
        <p:grpSpPr>
          <a:xfrm>
            <a:off x="835336" y="2679922"/>
            <a:ext cx="1077222" cy="830997"/>
            <a:chOff x="835336" y="2679922"/>
            <a:chExt cx="1077222" cy="830997"/>
          </a:xfrm>
        </p:grpSpPr>
        <p:sp>
          <p:nvSpPr>
            <p:cNvPr id="25" name="TextBox 24"/>
            <p:cNvSpPr txBox="1"/>
            <p:nvPr/>
          </p:nvSpPr>
          <p:spPr>
            <a:xfrm>
              <a:off x="835336" y="2679922"/>
              <a:ext cx="341468" cy="830997"/>
            </a:xfrm>
            <a:prstGeom prst="rect">
              <a:avLst/>
            </a:prstGeom>
            <a:noFill/>
          </p:spPr>
          <p:txBody>
            <a:bodyPr wrap="square" rtlCol="0">
              <a:spAutoFit/>
            </a:bodyPr>
            <a:lstStyle/>
            <a:p>
              <a:r>
                <a:rPr lang="zh-CN" altLang="en-US" sz="1200" dirty="0">
                  <a:latin typeface="微软雅黑" panose="020B0503020204020204" pitchFamily="34" charset="-122"/>
                  <a:ea typeface="微软雅黑" panose="020B0503020204020204" pitchFamily="34" charset="-122"/>
                </a:rPr>
                <a:t>数</a:t>
              </a:r>
              <a:endParaRPr lang="en-US" altLang="zh-CN" sz="1200" dirty="0">
                <a:latin typeface="微软雅黑" panose="020B0503020204020204" pitchFamily="34" charset="-122"/>
                <a:ea typeface="微软雅黑" panose="020B0503020204020204" pitchFamily="34" charset="-122"/>
              </a:endParaRPr>
            </a:p>
            <a:p>
              <a:r>
                <a:rPr lang="zh-CN" altLang="en-US" sz="1200" dirty="0">
                  <a:latin typeface="微软雅黑" panose="020B0503020204020204" pitchFamily="34" charset="-122"/>
                  <a:ea typeface="微软雅黑" panose="020B0503020204020204" pitchFamily="34" charset="-122"/>
                </a:rPr>
                <a:t>据输入</a:t>
              </a:r>
              <a:endParaRPr lang="zh-CN" altLang="en-US" sz="1200" dirty="0">
                <a:latin typeface="微软雅黑" panose="020B0503020204020204" pitchFamily="34" charset="-122"/>
                <a:ea typeface="微软雅黑" panose="020B0503020204020204" pitchFamily="34" charset="-122"/>
              </a:endParaRPr>
            </a:p>
          </p:txBody>
        </p:sp>
        <p:cxnSp>
          <p:nvCxnSpPr>
            <p:cNvPr id="60" name="直接连接符 59"/>
            <p:cNvCxnSpPr/>
            <p:nvPr/>
          </p:nvCxnSpPr>
          <p:spPr>
            <a:xfrm flipV="1">
              <a:off x="1300558" y="3110764"/>
              <a:ext cx="612000"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grpSp>
      <p:grpSp>
        <p:nvGrpSpPr>
          <p:cNvPr id="14" name="组合 73"/>
          <p:cNvGrpSpPr/>
          <p:nvPr/>
        </p:nvGrpSpPr>
        <p:grpSpPr>
          <a:xfrm>
            <a:off x="5951804" y="2959875"/>
            <a:ext cx="1457654" cy="734499"/>
            <a:chOff x="7074569" y="3204984"/>
            <a:chExt cx="1457654" cy="734499"/>
          </a:xfrm>
        </p:grpSpPr>
        <p:sp>
          <p:nvSpPr>
            <p:cNvPr id="62" name="左大括号 61"/>
            <p:cNvSpPr/>
            <p:nvPr/>
          </p:nvSpPr>
          <p:spPr>
            <a:xfrm>
              <a:off x="7074569" y="3251964"/>
              <a:ext cx="178755" cy="687519"/>
            </a:xfrm>
            <a:prstGeom prst="leftBrace">
              <a:avLst>
                <a:gd name="adj1" fmla="val 35606"/>
                <a:gd name="adj2" fmla="val 50000"/>
              </a:avLst>
            </a:prstGeom>
            <a:ln w="19050">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15" name="组合 66"/>
            <p:cNvGrpSpPr/>
            <p:nvPr/>
          </p:nvGrpSpPr>
          <p:grpSpPr>
            <a:xfrm>
              <a:off x="7303281" y="3204984"/>
              <a:ext cx="1228942" cy="356364"/>
              <a:chOff x="7303281" y="3225609"/>
              <a:chExt cx="1228942" cy="356364"/>
            </a:xfrm>
          </p:grpSpPr>
          <p:sp>
            <p:nvSpPr>
              <p:cNvPr id="65" name="圆角矩形 64"/>
              <p:cNvSpPr/>
              <p:nvPr/>
            </p:nvSpPr>
            <p:spPr>
              <a:xfrm>
                <a:off x="7303281" y="3225609"/>
                <a:ext cx="1228942" cy="356364"/>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0741" name="Object 21"/>
              <p:cNvGraphicFramePr>
                <a:graphicFrameLocks noChangeAspect="1"/>
              </p:cNvGraphicFramePr>
              <p:nvPr/>
            </p:nvGraphicFramePr>
            <p:xfrm>
              <a:off x="7317089" y="3247775"/>
              <a:ext cx="1201327" cy="312033"/>
            </p:xfrm>
            <a:graphic>
              <a:graphicData uri="http://schemas.openxmlformats.org/presentationml/2006/ole">
                <mc:AlternateContent xmlns:mc="http://schemas.openxmlformats.org/markup-compatibility/2006">
                  <mc:Choice xmlns:v="urn:schemas-microsoft-com:vml" Requires="v">
                    <p:oleObj spid="_x0000_s50236" name="Equation" r:id="rId10" imgW="977265" imgH="254000" progId="Equation.DSMT4">
                      <p:embed/>
                    </p:oleObj>
                  </mc:Choice>
                  <mc:Fallback>
                    <p:oleObj name="Equation" r:id="rId10" imgW="977265" imgH="254000" progId="Equation.DSMT4">
                      <p:embed/>
                      <p:pic>
                        <p:nvPicPr>
                          <p:cNvPr id="0" name="Object 2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17089" y="3247775"/>
                            <a:ext cx="1201327" cy="312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16" name="组合 67"/>
          <p:cNvGrpSpPr/>
          <p:nvPr/>
        </p:nvGrpSpPr>
        <p:grpSpPr>
          <a:xfrm>
            <a:off x="6180516" y="3386709"/>
            <a:ext cx="1228942" cy="356364"/>
            <a:chOff x="7303281" y="3604318"/>
            <a:chExt cx="1228942" cy="356364"/>
          </a:xfrm>
        </p:grpSpPr>
        <p:sp>
          <p:nvSpPr>
            <p:cNvPr id="66" name="圆角矩形 65"/>
            <p:cNvSpPr/>
            <p:nvPr/>
          </p:nvSpPr>
          <p:spPr>
            <a:xfrm>
              <a:off x="7303281" y="3604318"/>
              <a:ext cx="1228942" cy="356364"/>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0742" name="Object 22"/>
            <p:cNvGraphicFramePr>
              <a:graphicFrameLocks noChangeAspect="1"/>
            </p:cNvGraphicFramePr>
            <p:nvPr/>
          </p:nvGraphicFramePr>
          <p:xfrm>
            <a:off x="7356093" y="3626484"/>
            <a:ext cx="1123319" cy="312033"/>
          </p:xfrm>
          <a:graphic>
            <a:graphicData uri="http://schemas.openxmlformats.org/presentationml/2006/ole">
              <mc:AlternateContent xmlns:mc="http://schemas.openxmlformats.org/markup-compatibility/2006">
                <mc:Choice xmlns:v="urn:schemas-microsoft-com:vml" Requires="v">
                  <p:oleObj spid="_x0000_s50237" name="Equation" r:id="rId12" imgW="914400" imgH="254000" progId="Equation.DSMT4">
                    <p:embed/>
                  </p:oleObj>
                </mc:Choice>
                <mc:Fallback>
                  <p:oleObj name="Equation" r:id="rId12" imgW="914400" imgH="254000" progId="Equation.DSMT4">
                    <p:embed/>
                    <p:pic>
                      <p:nvPicPr>
                        <p:cNvPr id="0" name="Object 2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356093" y="3626484"/>
                          <a:ext cx="1123319" cy="3120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1200">
        <p14:prism dir="u"/>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 calcmode="lin" valueType="num">
                                      <p:cBhvr additive="base">
                                        <p:cTn id="7" dur="1000"/>
                                        <p:tgtEl>
                                          <p:spTgt spid="18"/>
                                        </p:tgtEl>
                                        <p:attrNameLst>
                                          <p:attrName>ppt_x</p:attrName>
                                        </p:attrNameLst>
                                      </p:cBhvr>
                                      <p:tavLst>
                                        <p:tav tm="0">
                                          <p:val>
                                            <p:strVal val="#ppt_x-#ppt_w*1.125000"/>
                                          </p:val>
                                        </p:tav>
                                        <p:tav tm="100000">
                                          <p:val>
                                            <p:strVal val="#ppt_x"/>
                                          </p:val>
                                        </p:tav>
                                      </p:tavLst>
                                    </p:anim>
                                    <p:animEffect transition="in" filter="wipe(right)">
                                      <p:cBhvr>
                                        <p:cTn id="8" dur="1000"/>
                                        <p:tgtEl>
                                          <p:spTgt spid="18"/>
                                        </p:tgtEl>
                                      </p:cBhvr>
                                    </p:animEffect>
                                  </p:childTnLst>
                                </p:cTn>
                              </p:par>
                            </p:childTnLst>
                          </p:cTn>
                        </p:par>
                        <p:par>
                          <p:cTn id="9" fill="hold">
                            <p:stCondLst>
                              <p:cond delay="1000"/>
                            </p:stCondLst>
                            <p:childTnLst>
                              <p:par>
                                <p:cTn id="10" presetID="22" presetClass="entr" presetSubtype="8"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1000"/>
                                        <p:tgtEl>
                                          <p:spTgt spid="4"/>
                                        </p:tgtEl>
                                      </p:cBhvr>
                                    </p:animEffect>
                                  </p:childTnLst>
                                </p:cTn>
                              </p:par>
                            </p:childTnLst>
                          </p:cTn>
                        </p:par>
                        <p:par>
                          <p:cTn id="13" fill="hold">
                            <p:stCondLst>
                              <p:cond delay="2000"/>
                            </p:stCondLst>
                            <p:childTnLst>
                              <p:par>
                                <p:cTn id="14" presetID="22" presetClass="entr" presetSubtype="2" fill="hold" nodeType="after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right)">
                                      <p:cBhvr>
                                        <p:cTn id="16" dur="10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slide(fromBottom)">
                                      <p:cBhvr>
                                        <p:cTn id="21" dur="1000"/>
                                        <p:tgtEl>
                                          <p:spTgt spid="8"/>
                                        </p:tgtEl>
                                      </p:cBhvr>
                                    </p:animEffect>
                                  </p:childTnLst>
                                </p:cTn>
                              </p:par>
                            </p:childTnLst>
                          </p:cTn>
                        </p:par>
                        <p:par>
                          <p:cTn id="22" fill="hold">
                            <p:stCondLst>
                              <p:cond delay="1000"/>
                            </p:stCondLst>
                            <p:childTnLst>
                              <p:par>
                                <p:cTn id="23" presetID="22" presetClass="entr" presetSubtype="8" fill="hold" grpId="0" nodeType="afterEffect">
                                  <p:stCondLst>
                                    <p:cond delay="0"/>
                                  </p:stCondLst>
                                  <p:childTnLst>
                                    <p:set>
                                      <p:cBhvr>
                                        <p:cTn id="24" dur="1" fill="hold">
                                          <p:stCondLst>
                                            <p:cond delay="0"/>
                                          </p:stCondLst>
                                        </p:cTn>
                                        <p:tgtEl>
                                          <p:spTgt spid="48"/>
                                        </p:tgtEl>
                                        <p:attrNameLst>
                                          <p:attrName>style.visibility</p:attrName>
                                        </p:attrNameLst>
                                      </p:cBhvr>
                                      <p:to>
                                        <p:strVal val="visible"/>
                                      </p:to>
                                    </p:set>
                                    <p:animEffect transition="in" filter="wipe(left)">
                                      <p:cBhvr>
                                        <p:cTn id="25" dur="1000"/>
                                        <p:tgtEl>
                                          <p:spTgt spid="48"/>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1" fill="hold" nodeType="click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wipe(up)">
                                      <p:cBhvr>
                                        <p:cTn id="30" dur="1000"/>
                                        <p:tgtEl>
                                          <p:spTgt spid="10"/>
                                        </p:tgtEl>
                                      </p:cBhvr>
                                    </p:animEffect>
                                  </p:childTnLst>
                                </p:cTn>
                              </p:par>
                            </p:childTnLst>
                          </p:cTn>
                        </p:par>
                        <p:par>
                          <p:cTn id="31" fill="hold">
                            <p:stCondLst>
                              <p:cond delay="1000"/>
                            </p:stCondLst>
                            <p:childTnLst>
                              <p:par>
                                <p:cTn id="32" presetID="12" presetClass="entr" presetSubtype="4"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slide(fromBottom)">
                                      <p:cBhvr>
                                        <p:cTn id="34" dur="10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10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wipe(left)">
                                      <p:cBhvr>
                                        <p:cTn id="44" dur="1000"/>
                                        <p:tgtEl>
                                          <p:spTgt spid="16"/>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8" fill="hold" grpId="0" nodeType="clickEffect">
                                  <p:stCondLst>
                                    <p:cond delay="0"/>
                                  </p:stCondLst>
                                  <p:childTnLst>
                                    <p:set>
                                      <p:cBhvr>
                                        <p:cTn id="48" dur="1" fill="hold">
                                          <p:stCondLst>
                                            <p:cond delay="0"/>
                                          </p:stCondLst>
                                        </p:cTn>
                                        <p:tgtEl>
                                          <p:spTgt spid="87"/>
                                        </p:tgtEl>
                                        <p:attrNameLst>
                                          <p:attrName>style.visibility</p:attrName>
                                        </p:attrNameLst>
                                      </p:cBhvr>
                                      <p:to>
                                        <p:strVal val="visible"/>
                                      </p:to>
                                    </p:set>
                                    <p:anim calcmode="lin" valueType="num">
                                      <p:cBhvr additive="base">
                                        <p:cTn id="49" dur="500"/>
                                        <p:tgtEl>
                                          <p:spTgt spid="87"/>
                                        </p:tgtEl>
                                        <p:attrNameLst>
                                          <p:attrName>ppt_x</p:attrName>
                                        </p:attrNameLst>
                                      </p:cBhvr>
                                      <p:tavLst>
                                        <p:tav tm="0">
                                          <p:val>
                                            <p:strVal val="#ppt_x-#ppt_w*1.125000"/>
                                          </p:val>
                                        </p:tav>
                                        <p:tav tm="100000">
                                          <p:val>
                                            <p:strVal val="#ppt_x"/>
                                          </p:val>
                                        </p:tav>
                                      </p:tavLst>
                                    </p:anim>
                                    <p:animEffect transition="in" filter="wipe(right)">
                                      <p:cBhvr>
                                        <p:cTn id="50" dur="500"/>
                                        <p:tgtEl>
                                          <p:spTgt spid="87"/>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57"/>
                                        </p:tgtEl>
                                        <p:attrNameLst>
                                          <p:attrName>style.visibility</p:attrName>
                                        </p:attrNameLst>
                                      </p:cBhvr>
                                      <p:to>
                                        <p:strVal val="visible"/>
                                      </p:to>
                                    </p:set>
                                    <p:animEffect transition="in" filter="wipe(left)">
                                      <p:cBhvr>
                                        <p:cTn id="54" dur="1000"/>
                                        <p:tgtEl>
                                          <p:spTgt spid="57"/>
                                        </p:tgtEl>
                                      </p:cBhvr>
                                    </p:animEffect>
                                  </p:childTnLst>
                                </p:cTn>
                              </p:par>
                            </p:childTnLst>
                          </p:cTn>
                        </p:par>
                        <p:par>
                          <p:cTn id="55" fill="hold">
                            <p:stCondLst>
                              <p:cond delay="1500"/>
                            </p:stCondLst>
                            <p:childTnLst>
                              <p:par>
                                <p:cTn id="56" presetID="22" presetClass="entr" presetSubtype="8" fill="hold" grpId="0" nodeType="afterEffect">
                                  <p:stCondLst>
                                    <p:cond delay="0"/>
                                  </p:stCondLst>
                                  <p:childTnLst>
                                    <p:set>
                                      <p:cBhvr>
                                        <p:cTn id="57" dur="1" fill="hold">
                                          <p:stCondLst>
                                            <p:cond delay="0"/>
                                          </p:stCondLst>
                                        </p:cTn>
                                        <p:tgtEl>
                                          <p:spTgt spid="58"/>
                                        </p:tgtEl>
                                        <p:attrNameLst>
                                          <p:attrName>style.visibility</p:attrName>
                                        </p:attrNameLst>
                                      </p:cBhvr>
                                      <p:to>
                                        <p:strVal val="visible"/>
                                      </p:to>
                                    </p:set>
                                    <p:animEffect transition="in" filter="wipe(left)">
                                      <p:cBhvr>
                                        <p:cTn id="58" dur="1000"/>
                                        <p:tgtEl>
                                          <p:spTgt spid="58"/>
                                        </p:tgtEl>
                                      </p:cBhvr>
                                    </p:animEffect>
                                  </p:childTnLst>
                                </p:cTn>
                              </p:par>
                            </p:childTnLst>
                          </p:cTn>
                        </p:par>
                        <p:par>
                          <p:cTn id="59" fill="hold">
                            <p:stCondLst>
                              <p:cond delay="2500"/>
                            </p:stCondLst>
                            <p:childTnLst>
                              <p:par>
                                <p:cTn id="60" presetID="22" presetClass="entr" presetSubtype="8" fill="hold" nodeType="afterEffect">
                                  <p:stCondLst>
                                    <p:cond delay="0"/>
                                  </p:stCondLst>
                                  <p:childTnLst>
                                    <p:set>
                                      <p:cBhvr>
                                        <p:cTn id="61" dur="1" fill="hold">
                                          <p:stCondLst>
                                            <p:cond delay="0"/>
                                          </p:stCondLst>
                                        </p:cTn>
                                        <p:tgtEl>
                                          <p:spTgt spid="11"/>
                                        </p:tgtEl>
                                        <p:attrNameLst>
                                          <p:attrName>style.visibility</p:attrName>
                                        </p:attrNameLst>
                                      </p:cBhvr>
                                      <p:to>
                                        <p:strVal val="visible"/>
                                      </p:to>
                                    </p:set>
                                    <p:animEffect transition="in" filter="wipe(left)">
                                      <p:cBhvr>
                                        <p:cTn id="62" dur="1000"/>
                                        <p:tgtEl>
                                          <p:spTgt spid="11"/>
                                        </p:tgtEl>
                                      </p:cBhvr>
                                    </p:animEffect>
                                  </p:childTnLst>
                                </p:cTn>
                              </p:par>
                            </p:childTnLst>
                          </p:cTn>
                        </p:par>
                        <p:par>
                          <p:cTn id="63" fill="hold">
                            <p:stCondLst>
                              <p:cond delay="3500"/>
                            </p:stCondLst>
                            <p:childTnLst>
                              <p:par>
                                <p:cTn id="64" presetID="12" presetClass="entr" presetSubtype="8" fill="hold" nodeType="afterEffect">
                                  <p:stCondLst>
                                    <p:cond delay="0"/>
                                  </p:stCondLst>
                                  <p:childTnLst>
                                    <p:set>
                                      <p:cBhvr>
                                        <p:cTn id="65" dur="1" fill="hold">
                                          <p:stCondLst>
                                            <p:cond delay="0"/>
                                          </p:stCondLst>
                                        </p:cTn>
                                        <p:tgtEl>
                                          <p:spTgt spid="12"/>
                                        </p:tgtEl>
                                        <p:attrNameLst>
                                          <p:attrName>style.visibility</p:attrName>
                                        </p:attrNameLst>
                                      </p:cBhvr>
                                      <p:to>
                                        <p:strVal val="visible"/>
                                      </p:to>
                                    </p:set>
                                    <p:anim calcmode="lin" valueType="num">
                                      <p:cBhvr additive="base">
                                        <p:cTn id="66" dur="1000"/>
                                        <p:tgtEl>
                                          <p:spTgt spid="12"/>
                                        </p:tgtEl>
                                        <p:attrNameLst>
                                          <p:attrName>ppt_x</p:attrName>
                                        </p:attrNameLst>
                                      </p:cBhvr>
                                      <p:tavLst>
                                        <p:tav tm="0">
                                          <p:val>
                                            <p:strVal val="#ppt_x-#ppt_w*1.125000"/>
                                          </p:val>
                                        </p:tav>
                                        <p:tav tm="100000">
                                          <p:val>
                                            <p:strVal val="#ppt_x"/>
                                          </p:val>
                                        </p:tav>
                                      </p:tavLst>
                                    </p:anim>
                                    <p:animEffect transition="in" filter="wipe(right)">
                                      <p:cBhvr>
                                        <p:cTn id="67" dur="1000"/>
                                        <p:tgtEl>
                                          <p:spTgt spid="12"/>
                                        </p:tgtEl>
                                      </p:cBhvr>
                                    </p:animEffect>
                                  </p:childTnLst>
                                </p:cTn>
                              </p:par>
                            </p:childTnLst>
                          </p:cTn>
                        </p:par>
                        <p:par>
                          <p:cTn id="68" fill="hold">
                            <p:stCondLst>
                              <p:cond delay="4500"/>
                            </p:stCondLst>
                            <p:childTnLst>
                              <p:par>
                                <p:cTn id="69" presetID="12" presetClass="entr" presetSubtype="8" fill="hold" nodeType="afterEffect">
                                  <p:stCondLst>
                                    <p:cond delay="0"/>
                                  </p:stCondLst>
                                  <p:childTnLst>
                                    <p:set>
                                      <p:cBhvr>
                                        <p:cTn id="70" dur="1" fill="hold">
                                          <p:stCondLst>
                                            <p:cond delay="0"/>
                                          </p:stCondLst>
                                        </p:cTn>
                                        <p:tgtEl>
                                          <p:spTgt spid="20"/>
                                        </p:tgtEl>
                                        <p:attrNameLst>
                                          <p:attrName>style.visibility</p:attrName>
                                        </p:attrNameLst>
                                      </p:cBhvr>
                                      <p:to>
                                        <p:strVal val="visible"/>
                                      </p:to>
                                    </p:set>
                                    <p:anim calcmode="lin" valueType="num">
                                      <p:cBhvr additive="base">
                                        <p:cTn id="71" dur="1000"/>
                                        <p:tgtEl>
                                          <p:spTgt spid="20"/>
                                        </p:tgtEl>
                                        <p:attrNameLst>
                                          <p:attrName>ppt_x</p:attrName>
                                        </p:attrNameLst>
                                      </p:cBhvr>
                                      <p:tavLst>
                                        <p:tav tm="0">
                                          <p:val>
                                            <p:strVal val="#ppt_x-#ppt_w*1.125000"/>
                                          </p:val>
                                        </p:tav>
                                        <p:tav tm="100000">
                                          <p:val>
                                            <p:strVal val="#ppt_x"/>
                                          </p:val>
                                        </p:tav>
                                      </p:tavLst>
                                    </p:anim>
                                    <p:animEffect transition="in" filter="wipe(right)">
                                      <p:cBhvr>
                                        <p:cTn id="72" dur="1000"/>
                                        <p:tgtEl>
                                          <p:spTgt spid="20"/>
                                        </p:tgtEl>
                                      </p:cBhvr>
                                    </p:animEffect>
                                  </p:childTnLst>
                                </p:cTn>
                              </p:par>
                            </p:childTnLst>
                          </p:cTn>
                        </p:par>
                        <p:par>
                          <p:cTn id="73" fill="hold">
                            <p:stCondLst>
                              <p:cond delay="5500"/>
                            </p:stCondLst>
                            <p:childTnLst>
                              <p:par>
                                <p:cTn id="74" presetID="22" presetClass="entr" presetSubtype="8" fill="hold" grpId="0" nodeType="afterEffect">
                                  <p:stCondLst>
                                    <p:cond delay="0"/>
                                  </p:stCondLst>
                                  <p:childTnLst>
                                    <p:set>
                                      <p:cBhvr>
                                        <p:cTn id="75" dur="1" fill="hold">
                                          <p:stCondLst>
                                            <p:cond delay="0"/>
                                          </p:stCondLst>
                                        </p:cTn>
                                        <p:tgtEl>
                                          <p:spTgt spid="94"/>
                                        </p:tgtEl>
                                        <p:attrNameLst>
                                          <p:attrName>style.visibility</p:attrName>
                                        </p:attrNameLst>
                                      </p:cBhvr>
                                      <p:to>
                                        <p:strVal val="visible"/>
                                      </p:to>
                                    </p:set>
                                    <p:animEffect transition="in" filter="wipe(left)">
                                      <p:cBhvr>
                                        <p:cTn id="76" dur="10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 grpId="0" animBg="1"/>
      <p:bldP spid="57" grpId="0" animBg="1"/>
      <p:bldP spid="58" grpId="0" animBg="1"/>
      <p:bldP spid="87" grpId="0"/>
      <p:bldP spid="9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9"/>
          <p:cNvGrpSpPr/>
          <p:nvPr/>
        </p:nvGrpSpPr>
        <p:grpSpPr>
          <a:xfrm>
            <a:off x="5915966" y="1615675"/>
            <a:ext cx="2609265" cy="1973179"/>
            <a:chOff x="4061912" y="1973179"/>
            <a:chExt cx="2860336" cy="2073872"/>
          </a:xfrm>
        </p:grpSpPr>
        <p:sp>
          <p:nvSpPr>
            <p:cNvPr id="9" name="圆角矩形 8"/>
            <p:cNvSpPr/>
            <p:nvPr/>
          </p:nvSpPr>
          <p:spPr>
            <a:xfrm>
              <a:off x="4076986" y="1973179"/>
              <a:ext cx="2825703" cy="2041931"/>
            </a:xfrm>
            <a:prstGeom prst="roundRect">
              <a:avLst>
                <a:gd name="adj" fmla="val 699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1747" name="Object 222"/>
            <p:cNvGraphicFramePr>
              <a:graphicFrameLocks noChangeAspect="1"/>
            </p:cNvGraphicFramePr>
            <p:nvPr/>
          </p:nvGraphicFramePr>
          <p:xfrm>
            <a:off x="4061912" y="2040451"/>
            <a:ext cx="2860336" cy="2006600"/>
          </p:xfrm>
          <a:graphic>
            <a:graphicData uri="http://schemas.openxmlformats.org/presentationml/2006/ole">
              <mc:AlternateContent xmlns:mc="http://schemas.openxmlformats.org/markup-compatibility/2006">
                <mc:Choice xmlns:v="urn:schemas-microsoft-com:vml" Requires="v">
                  <p:oleObj spid="_x0000_s51220" name="Visio" r:id="rId1" imgW="1497965" imgH="1069975" progId="Visio.Drawing.11">
                    <p:embed/>
                  </p:oleObj>
                </mc:Choice>
                <mc:Fallback>
                  <p:oleObj name="Visio" r:id="rId1" imgW="1497965" imgH="1069975" progId="Visio.Drawing.11">
                    <p:embed/>
                    <p:pic>
                      <p:nvPicPr>
                        <p:cNvPr id="0" name="Object 22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1912" y="2040451"/>
                          <a:ext cx="2860336" cy="200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pic>
        <p:nvPicPr>
          <p:cNvPr id="31749" name="Picture 5"/>
          <p:cNvPicPr>
            <a:picLocks noChangeAspect="1" noChangeArrowheads="1"/>
          </p:cNvPicPr>
          <p:nvPr/>
        </p:nvPicPr>
        <p:blipFill>
          <a:blip r:embed="rId3" cstate="print"/>
          <a:srcRect/>
          <a:stretch>
            <a:fillRect/>
          </a:stretch>
        </p:blipFill>
        <p:spPr bwMode="auto">
          <a:xfrm>
            <a:off x="2860004" y="1608798"/>
            <a:ext cx="2832649" cy="2004499"/>
          </a:xfrm>
          <a:prstGeom prst="rect">
            <a:avLst/>
          </a:prstGeom>
          <a:noFill/>
          <a:ln w="9525">
            <a:noFill/>
            <a:miter lim="800000"/>
            <a:headEnd/>
            <a:tailEnd/>
          </a:ln>
        </p:spPr>
      </p:pic>
      <p:grpSp>
        <p:nvGrpSpPr>
          <p:cNvPr id="8" name="组合 13"/>
          <p:cNvGrpSpPr/>
          <p:nvPr/>
        </p:nvGrpSpPr>
        <p:grpSpPr>
          <a:xfrm>
            <a:off x="531997" y="4295194"/>
            <a:ext cx="8315610" cy="692497"/>
            <a:chOff x="333376" y="753478"/>
            <a:chExt cx="8315610" cy="692497"/>
          </a:xfrm>
        </p:grpSpPr>
        <p:sp>
          <p:nvSpPr>
            <p:cNvPr id="15" name="矩形 14"/>
            <p:cNvSpPr/>
            <p:nvPr/>
          </p:nvSpPr>
          <p:spPr>
            <a:xfrm>
              <a:off x="684714" y="753478"/>
              <a:ext cx="7964272" cy="692497"/>
            </a:xfrm>
            <a:prstGeom prst="rect">
              <a:avLst/>
            </a:prstGeom>
          </p:spPr>
          <p:txBody>
            <a:bodyPr wrap="square">
              <a:spAutoFit/>
            </a:bodyPr>
            <a:lstStyle/>
            <a:p>
              <a:pPr marL="1079500" indent="-1079500"/>
              <a:r>
                <a:rPr lang="zh-CN" altLang="en-US" sz="2000" b="1" dirty="0">
                  <a:solidFill>
                    <a:srgbClr val="FF00FF"/>
                  </a:solidFill>
                  <a:latin typeface="微软雅黑" panose="020B0503020204020204" pitchFamily="34" charset="-122"/>
                  <a:ea typeface="微软雅黑" panose="020B0503020204020204" pitchFamily="34" charset="-122"/>
                </a:rPr>
                <a:t>问题：</a:t>
              </a:r>
              <a:r>
                <a:rPr lang="en-US" altLang="zh-CN" sz="1600" dirty="0"/>
                <a:t> </a:t>
              </a:r>
              <a:r>
                <a:rPr lang="en-US" altLang="zh-CN" sz="1600" b="1" dirty="0">
                  <a:solidFill>
                    <a:srgbClr val="002060"/>
                  </a:solidFill>
                  <a:latin typeface="微软雅黑" panose="020B0503020204020204" pitchFamily="34" charset="-122"/>
                  <a:ea typeface="微软雅黑" panose="020B0503020204020204" pitchFamily="34" charset="-122"/>
                </a:rPr>
                <a:t>1</a:t>
              </a:r>
              <a:r>
                <a:rPr lang="zh-CN" altLang="zh-CN" sz="1600" b="1" dirty="0">
                  <a:solidFill>
                    <a:srgbClr val="002060"/>
                  </a:solidFill>
                  <a:latin typeface="微软雅黑" panose="020B0503020204020204" pitchFamily="34" charset="-122"/>
                  <a:ea typeface="微软雅黑" panose="020B0503020204020204" pitchFamily="34" charset="-122"/>
                </a:rPr>
                <a:t>、</a:t>
              </a:r>
              <a:r>
                <a:rPr lang="zh-CN" altLang="zh-CN" sz="1400" b="1" dirty="0">
                  <a:solidFill>
                    <a:srgbClr val="002060"/>
                  </a:solidFill>
                  <a:latin typeface="微软雅黑" panose="020B0503020204020204" pitchFamily="34" charset="-122"/>
                  <a:ea typeface="微软雅黑" panose="020B0503020204020204" pitchFamily="34" charset="-122"/>
                </a:rPr>
                <a:t>是否可以用其他使能端作为数据输入，如从高有效的使能端输入，会出现什么情况？</a:t>
              </a:r>
              <a:endParaRPr lang="en-US" altLang="zh-CN" sz="1400" b="1" dirty="0">
                <a:solidFill>
                  <a:srgbClr val="002060"/>
                </a:solidFill>
                <a:latin typeface="微软雅黑" panose="020B0503020204020204" pitchFamily="34" charset="-122"/>
                <a:ea typeface="微软雅黑" panose="020B0503020204020204" pitchFamily="34" charset="-122"/>
              </a:endParaRPr>
            </a:p>
            <a:p>
              <a:pPr marL="1079500" indent="-274955">
                <a:spcBef>
                  <a:spcPts val="600"/>
                </a:spcBef>
              </a:pPr>
              <a:r>
                <a:rPr lang="en-US" altLang="zh-CN" sz="1400" b="1" dirty="0">
                  <a:solidFill>
                    <a:srgbClr val="002060"/>
                  </a:solidFill>
                  <a:latin typeface="微软雅黑" panose="020B0503020204020204" pitchFamily="34" charset="-122"/>
                  <a:ea typeface="微软雅黑" panose="020B0503020204020204" pitchFamily="34" charset="-122"/>
                </a:rPr>
                <a:t>2</a:t>
              </a:r>
              <a:r>
                <a:rPr lang="zh-CN" altLang="zh-CN" sz="1400" b="1" dirty="0">
                  <a:solidFill>
                    <a:srgbClr val="002060"/>
                  </a:solidFill>
                  <a:latin typeface="微软雅黑" panose="020B0503020204020204" pitchFamily="34" charset="-122"/>
                  <a:ea typeface="微软雅黑" panose="020B0503020204020204" pitchFamily="34" charset="-122"/>
                </a:rPr>
                <a:t>、利用数据分配器，是否可以实现数据的串行到并行的转换？</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pic>
          <p:nvPicPr>
            <p:cNvPr id="16" name="Picture 6" descr="http://img2.imgtn.bdimg.com/it/u=2409490321,577685329&amp;fm=200&amp;gp=0.jpg"/>
            <p:cNvPicPr>
              <a:picLocks noChangeAspect="1" noChangeArrowheads="1"/>
            </p:cNvPicPr>
            <p:nvPr/>
          </p:nvPicPr>
          <p:blipFill>
            <a:blip r:embed="rId4" cstate="print"/>
            <a:srcRect l="11058" t="9628" r="11439" b="12583"/>
            <a:stretch>
              <a:fillRect/>
            </a:stretch>
          </p:blipFill>
          <p:spPr bwMode="auto">
            <a:xfrm>
              <a:off x="333376" y="770119"/>
              <a:ext cx="381000" cy="382406"/>
            </a:xfrm>
            <a:prstGeom prst="rect">
              <a:avLst/>
            </a:prstGeom>
            <a:noFill/>
          </p:spPr>
        </p:pic>
      </p:grpSp>
      <p:grpSp>
        <p:nvGrpSpPr>
          <p:cNvPr id="17" name="组合 17"/>
          <p:cNvGrpSpPr/>
          <p:nvPr/>
        </p:nvGrpSpPr>
        <p:grpSpPr>
          <a:xfrm>
            <a:off x="392432" y="769746"/>
            <a:ext cx="4677072" cy="420971"/>
            <a:chOff x="670560" y="892917"/>
            <a:chExt cx="4677072" cy="420971"/>
          </a:xfrm>
        </p:grpSpPr>
        <p:sp>
          <p:nvSpPr>
            <p:cNvPr id="18" name="矩形 17"/>
            <p:cNvSpPr/>
            <p:nvPr/>
          </p:nvSpPr>
          <p:spPr>
            <a:xfrm>
              <a:off x="1035233" y="913778"/>
              <a:ext cx="4312399" cy="400110"/>
            </a:xfrm>
            <a:prstGeom prst="rect">
              <a:avLst/>
            </a:prstGeom>
          </p:spPr>
          <p:txBody>
            <a:bodyPr wrap="none">
              <a:spAutoFit/>
            </a:bodyPr>
            <a:lstStyle/>
            <a:p>
              <a:r>
                <a:rPr lang="en-US" altLang="zh-CN" sz="2000" b="1" dirty="0">
                  <a:solidFill>
                    <a:srgbClr val="002060"/>
                  </a:solidFill>
                  <a:latin typeface="微软雅黑" panose="020B0503020204020204" pitchFamily="34" charset="-122"/>
                  <a:ea typeface="微软雅黑" panose="020B0503020204020204" pitchFamily="34" charset="-122"/>
                </a:rPr>
                <a:t>74138</a:t>
              </a:r>
              <a:r>
                <a:rPr lang="zh-CN" altLang="en-US" sz="2000" b="1" dirty="0">
                  <a:solidFill>
                    <a:srgbClr val="002060"/>
                  </a:solidFill>
                  <a:latin typeface="微软雅黑" panose="020B0503020204020204" pitchFamily="34" charset="-122"/>
                  <a:ea typeface="微软雅黑" panose="020B0503020204020204" pitchFamily="34" charset="-122"/>
                </a:rPr>
                <a:t>构成的数据分配器的工作原理</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19" name="Picture 3"/>
            <p:cNvPicPr>
              <a:picLocks noChangeAspect="1" noChangeArrowheads="1"/>
            </p:cNvPicPr>
            <p:nvPr/>
          </p:nvPicPr>
          <p:blipFill>
            <a:blip r:embed="rId5"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20" name="组合 21"/>
          <p:cNvGrpSpPr/>
          <p:nvPr/>
        </p:nvGrpSpPr>
        <p:grpSpPr>
          <a:xfrm>
            <a:off x="392432" y="1650048"/>
            <a:ext cx="2374900" cy="1990403"/>
            <a:chOff x="1110738" y="2186310"/>
            <a:chExt cx="2374900" cy="1990403"/>
          </a:xfrm>
        </p:grpSpPr>
        <p:sp>
          <p:nvSpPr>
            <p:cNvPr id="21" name="圆角矩形 20"/>
            <p:cNvSpPr/>
            <p:nvPr/>
          </p:nvSpPr>
          <p:spPr>
            <a:xfrm>
              <a:off x="1110739" y="2186310"/>
              <a:ext cx="2292480" cy="1931928"/>
            </a:xfrm>
            <a:prstGeom prst="roundRect">
              <a:avLst>
                <a:gd name="adj" fmla="val 7548"/>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2" name="Object 5"/>
            <p:cNvGraphicFramePr>
              <a:graphicFrameLocks noChangeAspect="1"/>
            </p:cNvGraphicFramePr>
            <p:nvPr/>
          </p:nvGraphicFramePr>
          <p:xfrm>
            <a:off x="1110738" y="2241311"/>
            <a:ext cx="2374900" cy="1935402"/>
          </p:xfrm>
          <a:graphic>
            <a:graphicData uri="http://schemas.openxmlformats.org/presentationml/2006/ole">
              <mc:AlternateContent xmlns:mc="http://schemas.openxmlformats.org/markup-compatibility/2006">
                <mc:Choice xmlns:v="urn:schemas-microsoft-com:vml" Requires="v">
                  <p:oleObj spid="_x0000_s51221" name="Visio" r:id="rId6" imgW="1624330" imgH="1157605" progId="Visio.Drawing.11">
                    <p:embed/>
                  </p:oleObj>
                </mc:Choice>
                <mc:Fallback>
                  <p:oleObj name="Visio" r:id="rId6" imgW="1624330" imgH="1157605" progId="Visio.Drawing.11">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l="2617"/>
                        <a:stretch>
                          <a:fillRect/>
                        </a:stretch>
                      </p:blipFill>
                      <p:spPr bwMode="auto">
                        <a:xfrm>
                          <a:off x="1110738" y="2241311"/>
                          <a:ext cx="2374900" cy="1935402"/>
                        </a:xfrm>
                        <a:prstGeom prst="rect">
                          <a:avLst/>
                        </a:prstGeom>
                        <a:noFill/>
                        <a:ln>
                          <a:noFill/>
                        </a:ln>
                        <a:effectLst/>
                        <a:extLst>
                          <a:ext uri="{909E8E84-426E-40DD-AFC4-6F175D3DCCD1}">
                            <a14:hiddenFill xmlns:a14="http://schemas.microsoft.com/office/drawing/2010/main">
                              <a:solidFill>
                                <a:srgbClr val="FFFF00"/>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spTree>
  </p:cSld>
  <p:clrMapOvr>
    <a:masterClrMapping/>
  </p:clrMapOvr>
  <mc:AlternateContent xmlns:mc="http://schemas.openxmlformats.org/markup-compatibility/2006">
    <mc:Choice xmlns:p14="http://schemas.microsoft.com/office/powerpoint/2010/main" Requires="p14">
      <p:transition spd="slow" p14:dur="1200">
        <p14:prism dir="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lide(fromBottom)">
                                      <p:cBhvr>
                                        <p:cTn id="7"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组合 17"/>
          <p:cNvGrpSpPr/>
          <p:nvPr/>
        </p:nvGrpSpPr>
        <p:grpSpPr>
          <a:xfrm>
            <a:off x="392432" y="769746"/>
            <a:ext cx="3370624" cy="420971"/>
            <a:chOff x="670560" y="892917"/>
            <a:chExt cx="3370624" cy="420971"/>
          </a:xfrm>
        </p:grpSpPr>
        <p:sp>
          <p:nvSpPr>
            <p:cNvPr id="70" name="矩形 69"/>
            <p:cNvSpPr/>
            <p:nvPr/>
          </p:nvSpPr>
          <p:spPr>
            <a:xfrm>
              <a:off x="1035233" y="913778"/>
              <a:ext cx="3005951"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数据选择器的定义与功能</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7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37" name="矩形 36"/>
          <p:cNvSpPr/>
          <p:nvPr/>
        </p:nvSpPr>
        <p:spPr>
          <a:xfrm>
            <a:off x="828459" y="1282856"/>
            <a:ext cx="7999281" cy="746358"/>
          </a:xfrm>
          <a:prstGeom prst="rect">
            <a:avLst/>
          </a:prstGeom>
        </p:spPr>
        <p:txBody>
          <a:bodyPr wrap="square">
            <a:spAutoFit/>
          </a:bodyPr>
          <a:lstStyle/>
          <a:p>
            <a:pPr marL="1168400" indent="-1168400">
              <a:lnSpc>
                <a:spcPct val="125000"/>
              </a:lnSpc>
            </a:pPr>
            <a:r>
              <a:rPr lang="zh-CN" altLang="en-US" dirty="0">
                <a:solidFill>
                  <a:srgbClr val="FF0000"/>
                </a:solidFill>
                <a:latin typeface="微软雅黑" panose="020B0503020204020204" pitchFamily="34" charset="-122"/>
                <a:ea typeface="微软雅黑" panose="020B0503020204020204" pitchFamily="34" charset="-122"/>
              </a:rPr>
              <a:t>数据选择：</a:t>
            </a:r>
            <a:r>
              <a:rPr lang="zh-CN" altLang="en-US" sz="1600" dirty="0">
                <a:solidFill>
                  <a:srgbClr val="000000"/>
                </a:solidFill>
                <a:latin typeface="微软雅黑" panose="020B0503020204020204" pitchFamily="34" charset="-122"/>
                <a:ea typeface="微软雅黑" panose="020B0503020204020204" pitchFamily="34" charset="-122"/>
              </a:rPr>
              <a:t>根据地址选择码从多路输入数据中选择其中一路，送到输出。能够实现数据选择功能的逻辑部件称</a:t>
            </a:r>
            <a:r>
              <a:rPr lang="zh-CN" altLang="en-US" sz="1600" dirty="0">
                <a:solidFill>
                  <a:srgbClr val="FF00FF"/>
                </a:solidFill>
                <a:latin typeface="微软雅黑" panose="020B0503020204020204" pitchFamily="34" charset="-122"/>
                <a:ea typeface="微软雅黑" panose="020B0503020204020204" pitchFamily="34" charset="-122"/>
              </a:rPr>
              <a:t>数据选择器</a:t>
            </a:r>
            <a:r>
              <a:rPr lang="zh-CN" altLang="en-US" sz="1600" dirty="0">
                <a:solidFill>
                  <a:srgbClr val="000000"/>
                </a:solidFill>
                <a:latin typeface="微软雅黑" panose="020B0503020204020204" pitchFamily="34" charset="-122"/>
                <a:ea typeface="微软雅黑" panose="020B0503020204020204" pitchFamily="34" charset="-122"/>
              </a:rPr>
              <a:t>。</a:t>
            </a:r>
            <a:endParaRPr lang="zh-CN" altLang="en-US" dirty="0">
              <a:solidFill>
                <a:srgbClr val="000000"/>
              </a:solidFill>
              <a:latin typeface="微软雅黑" panose="020B0503020204020204" pitchFamily="34" charset="-122"/>
              <a:ea typeface="微软雅黑" panose="020B0503020204020204" pitchFamily="34" charset="-122"/>
            </a:endParaRPr>
          </a:p>
        </p:txBody>
      </p:sp>
      <p:grpSp>
        <p:nvGrpSpPr>
          <p:cNvPr id="81" name="组合 80"/>
          <p:cNvGrpSpPr/>
          <p:nvPr/>
        </p:nvGrpSpPr>
        <p:grpSpPr>
          <a:xfrm>
            <a:off x="1320523" y="2459640"/>
            <a:ext cx="3086100" cy="1984262"/>
            <a:chOff x="5397500" y="2200388"/>
            <a:chExt cx="3086100" cy="1984262"/>
          </a:xfrm>
        </p:grpSpPr>
        <p:sp>
          <p:nvSpPr>
            <p:cNvPr id="79" name="圆角矩形 78"/>
            <p:cNvSpPr/>
            <p:nvPr/>
          </p:nvSpPr>
          <p:spPr>
            <a:xfrm>
              <a:off x="6299200" y="3841750"/>
              <a:ext cx="1530350" cy="3429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数据分配</a:t>
              </a:r>
              <a:endParaRPr lang="zh-CN" altLang="en-US" sz="1600" dirty="0">
                <a:latin typeface="微软雅黑" panose="020B0503020204020204" pitchFamily="34" charset="-122"/>
                <a:ea typeface="微软雅黑" panose="020B0503020204020204" pitchFamily="34" charset="-122"/>
              </a:endParaRPr>
            </a:p>
          </p:txBody>
        </p:sp>
        <p:grpSp>
          <p:nvGrpSpPr>
            <p:cNvPr id="77" name="组合 76"/>
            <p:cNvGrpSpPr/>
            <p:nvPr/>
          </p:nvGrpSpPr>
          <p:grpSpPr>
            <a:xfrm>
              <a:off x="5397500" y="2200388"/>
              <a:ext cx="3086100" cy="1666762"/>
              <a:chOff x="5480050" y="2187688"/>
              <a:chExt cx="3086100" cy="1666762"/>
            </a:xfrm>
          </p:grpSpPr>
          <p:grpSp>
            <p:nvGrpSpPr>
              <p:cNvPr id="38" name="组合 37"/>
              <p:cNvGrpSpPr/>
              <p:nvPr/>
            </p:nvGrpSpPr>
            <p:grpSpPr>
              <a:xfrm>
                <a:off x="5480050" y="2187688"/>
                <a:ext cx="3086100" cy="1666762"/>
                <a:chOff x="2324708" y="2186309"/>
                <a:chExt cx="3264162" cy="1656921"/>
              </a:xfrm>
            </p:grpSpPr>
            <p:sp>
              <p:nvSpPr>
                <p:cNvPr id="39" name="圆角矩形 38"/>
                <p:cNvSpPr/>
                <p:nvPr/>
              </p:nvSpPr>
              <p:spPr>
                <a:xfrm>
                  <a:off x="2324708" y="2186309"/>
                  <a:ext cx="3230580" cy="1656921"/>
                </a:xfrm>
                <a:prstGeom prst="roundRect">
                  <a:avLst>
                    <a:gd name="adj" fmla="val 9783"/>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endParaRPr lang="zh-CN" altLang="en-US"/>
                </a:p>
              </p:txBody>
            </p:sp>
            <p:pic>
              <p:nvPicPr>
                <p:cNvPr id="40" name="Picture 44"/>
                <p:cNvPicPr>
                  <a:picLocks noChangeAspect="1" noChangeArrowheads="1"/>
                </p:cNvPicPr>
                <p:nvPr/>
              </p:nvPicPr>
              <p:blipFill>
                <a:blip r:embed="rId2" cstate="print"/>
                <a:srcRect/>
                <a:stretch>
                  <a:fillRect/>
                </a:stretch>
              </p:blipFill>
              <p:spPr bwMode="auto">
                <a:xfrm>
                  <a:off x="2765294" y="2378815"/>
                  <a:ext cx="2012961" cy="1161907"/>
                </a:xfrm>
                <a:prstGeom prst="rect">
                  <a:avLst/>
                </a:prstGeom>
                <a:noFill/>
                <a:ln w="9525">
                  <a:noFill/>
                  <a:miter lim="800000"/>
                  <a:headEnd/>
                  <a:tailEnd/>
                </a:ln>
              </p:spPr>
            </p:pic>
            <p:sp>
              <p:nvSpPr>
                <p:cNvPr id="41" name="TextBox 40"/>
                <p:cNvSpPr txBox="1"/>
                <p:nvPr/>
              </p:nvSpPr>
              <p:spPr>
                <a:xfrm>
                  <a:off x="2357914" y="2580640"/>
                  <a:ext cx="954901" cy="305960"/>
                </a:xfrm>
                <a:prstGeom prst="rect">
                  <a:avLst/>
                </a:prstGeom>
                <a:noFill/>
              </p:spPr>
              <p:txBody>
                <a:bodyPr wrap="none" rtlCol="0">
                  <a:spAutoFit/>
                </a:bodyPr>
                <a:lstStyle/>
                <a:p>
                  <a:r>
                    <a:rPr lang="zh-CN" altLang="en-US" sz="1400" dirty="0">
                      <a:latin typeface="微软雅黑" panose="020B0503020204020204" pitchFamily="34" charset="-122"/>
                      <a:ea typeface="微软雅黑" panose="020B0503020204020204" pitchFamily="34" charset="-122"/>
                    </a:rPr>
                    <a:t>数据输入</a:t>
                  </a:r>
                  <a:endParaRPr lang="zh-CN" altLang="en-US" sz="1400" i="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42" name="TextBox 41"/>
                <p:cNvSpPr txBox="1"/>
                <p:nvPr/>
              </p:nvSpPr>
              <p:spPr>
                <a:xfrm>
                  <a:off x="5165674" y="2498666"/>
                  <a:ext cx="423196" cy="909001"/>
                </a:xfrm>
                <a:prstGeom prst="rect">
                  <a:avLst/>
                </a:prstGeom>
                <a:noFill/>
              </p:spPr>
              <p:txBody>
                <a:bodyPr vert="eaVert" wrap="square" rtlCol="0">
                  <a:spAutoFit/>
                </a:bodyPr>
                <a:lstStyle/>
                <a:p>
                  <a:r>
                    <a:rPr lang="zh-CN" altLang="en-US" sz="1400" dirty="0">
                      <a:latin typeface="微软雅黑" panose="020B0503020204020204" pitchFamily="34" charset="-122"/>
                      <a:ea typeface="微软雅黑" panose="020B0503020204020204" pitchFamily="34" charset="-122"/>
                    </a:rPr>
                    <a:t>数据输出</a:t>
                  </a:r>
                  <a:endParaRPr lang="zh-CN" altLang="en-US" sz="1400" dirty="0">
                    <a:latin typeface="微软雅黑" panose="020B0503020204020204" pitchFamily="34" charset="-122"/>
                    <a:ea typeface="微软雅黑" panose="020B0503020204020204" pitchFamily="34" charset="-122"/>
                  </a:endParaRPr>
                </a:p>
              </p:txBody>
            </p:sp>
            <p:graphicFrame>
              <p:nvGraphicFramePr>
                <p:cNvPr id="43" name="对象 42"/>
                <p:cNvGraphicFramePr>
                  <a:graphicFrameLocks noChangeAspect="1"/>
                </p:cNvGraphicFramePr>
                <p:nvPr/>
              </p:nvGraphicFramePr>
              <p:xfrm>
                <a:off x="4745408" y="2365065"/>
                <a:ext cx="203200" cy="228600"/>
              </p:xfrm>
              <a:graphic>
                <a:graphicData uri="http://schemas.openxmlformats.org/presentationml/2006/ole">
                  <mc:AlternateContent xmlns:mc="http://schemas.openxmlformats.org/markup-compatibility/2006">
                    <mc:Choice xmlns:v="urn:schemas-microsoft-com:vml" Requires="v">
                      <p:oleObj spid="_x0000_s52280" name="Equation" r:id="rId3" imgW="203200" imgH="228600" progId="Equation.DSMT4">
                        <p:embed/>
                      </p:oleObj>
                    </mc:Choice>
                    <mc:Fallback>
                      <p:oleObj name="Equation" r:id="rId3" imgW="203200" imgH="228600" progId="Equation.DSMT4">
                        <p:embed/>
                        <p:pic>
                          <p:nvPicPr>
                            <p:cNvPr id="0" name="对象 4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5408" y="2365065"/>
                              <a:ext cx="2032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4" name="Object 46"/>
                <p:cNvGraphicFramePr>
                  <a:graphicFrameLocks noChangeAspect="1"/>
                </p:cNvGraphicFramePr>
                <p:nvPr/>
              </p:nvGraphicFramePr>
              <p:xfrm>
                <a:off x="4760913" y="2698750"/>
                <a:ext cx="190500" cy="228600"/>
              </p:xfrm>
              <a:graphic>
                <a:graphicData uri="http://schemas.openxmlformats.org/presentationml/2006/ole">
                  <mc:AlternateContent xmlns:mc="http://schemas.openxmlformats.org/markup-compatibility/2006">
                    <mc:Choice xmlns:v="urn:schemas-microsoft-com:vml" Requires="v">
                      <p:oleObj spid="_x0000_s52281" name="Equation" r:id="rId5" imgW="190500" imgH="228600" progId="Equation.DSMT4">
                        <p:embed/>
                      </p:oleObj>
                    </mc:Choice>
                    <mc:Fallback>
                      <p:oleObj name="Equation" r:id="rId5" imgW="190500" imgH="228600" progId="Equation.DSMT4">
                        <p:embed/>
                        <p:pic>
                          <p:nvPicPr>
                            <p:cNvPr id="0" name="Object 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60913" y="2698750"/>
                              <a:ext cx="1905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5" name="Object 47"/>
                <p:cNvGraphicFramePr>
                  <a:graphicFrameLocks noChangeAspect="1"/>
                </p:cNvGraphicFramePr>
                <p:nvPr/>
              </p:nvGraphicFramePr>
              <p:xfrm>
                <a:off x="4734439" y="3252263"/>
                <a:ext cx="317500" cy="241300"/>
              </p:xfrm>
              <a:graphic>
                <a:graphicData uri="http://schemas.openxmlformats.org/presentationml/2006/ole">
                  <mc:AlternateContent xmlns:mc="http://schemas.openxmlformats.org/markup-compatibility/2006">
                    <mc:Choice xmlns:v="urn:schemas-microsoft-com:vml" Requires="v">
                      <p:oleObj spid="_x0000_s52282" name="Equation" r:id="rId7" imgW="317500" imgH="241300" progId="Equation.DSMT4">
                        <p:embed/>
                      </p:oleObj>
                    </mc:Choice>
                    <mc:Fallback>
                      <p:oleObj name="Equation" r:id="rId7" imgW="317500" imgH="241300" progId="Equation.DSMT4">
                        <p:embed/>
                        <p:pic>
                          <p:nvPicPr>
                            <p:cNvPr id="0" name="Object 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734439" y="3252263"/>
                              <a:ext cx="317500" cy="241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 name="右大括号 45"/>
                <p:cNvSpPr/>
                <p:nvPr/>
              </p:nvSpPr>
              <p:spPr>
                <a:xfrm>
                  <a:off x="5046389" y="2468193"/>
                  <a:ext cx="144378" cy="928150"/>
                </a:xfrm>
                <a:prstGeom prst="rightBrace">
                  <a:avLst>
                    <a:gd name="adj1" fmla="val 40248"/>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TextBox 46"/>
                <p:cNvSpPr txBox="1"/>
                <p:nvPr/>
              </p:nvSpPr>
              <p:spPr>
                <a:xfrm>
                  <a:off x="3295506" y="3494888"/>
                  <a:ext cx="857927" cy="307777"/>
                </a:xfrm>
                <a:prstGeom prst="rect">
                  <a:avLst/>
                </a:prstGeom>
                <a:noFill/>
              </p:spPr>
              <p:txBody>
                <a:bodyPr wrap="none" rtlCol="0">
                  <a:spAutoFit/>
                </a:bodyPr>
                <a:lstStyle/>
                <a:p>
                  <a:r>
                    <a:rPr lang="en-US" altLang="zh-CN" sz="1400" i="1" dirty="0">
                      <a:latin typeface="Times New Roman" panose="02020603050405020304" pitchFamily="18" charset="0"/>
                      <a:ea typeface="微软雅黑" panose="020B0503020204020204" pitchFamily="34" charset="-122"/>
                      <a:cs typeface="Times New Roman" panose="02020603050405020304" pitchFamily="18" charset="0"/>
                    </a:rPr>
                    <a:t>n </a:t>
                  </a:r>
                  <a:r>
                    <a:rPr lang="zh-CN" altLang="en-US" sz="1400" dirty="0">
                      <a:latin typeface="微软雅黑" panose="020B0503020204020204" pitchFamily="34" charset="-122"/>
                      <a:ea typeface="微软雅黑" panose="020B0503020204020204" pitchFamily="34" charset="-122"/>
                    </a:rPr>
                    <a:t>位地址</a:t>
                  </a:r>
                  <a:endParaRPr lang="zh-CN" altLang="en-US" sz="1400" dirty="0">
                    <a:latin typeface="微软雅黑" panose="020B0503020204020204" pitchFamily="34" charset="-122"/>
                    <a:ea typeface="微软雅黑" panose="020B0503020204020204" pitchFamily="34" charset="-122"/>
                  </a:endParaRPr>
                </a:p>
              </p:txBody>
            </p:sp>
          </p:grpSp>
          <p:sp>
            <p:nvSpPr>
              <p:cNvPr id="61" name="矩形 60"/>
              <p:cNvSpPr/>
              <p:nvPr/>
            </p:nvSpPr>
            <p:spPr>
              <a:xfrm>
                <a:off x="5621861" y="2850634"/>
                <a:ext cx="295274" cy="276999"/>
              </a:xfrm>
              <a:prstGeom prst="rect">
                <a:avLst/>
              </a:prstGeom>
            </p:spPr>
            <p:txBody>
              <a:bodyPr wrap="none">
                <a:spAutoFit/>
              </a:bodyPr>
              <a:lstStyle/>
              <a:p>
                <a:r>
                  <a:rPr lang="en-US" altLang="zh-CN" sz="1200" i="1" dirty="0">
                    <a:latin typeface="Times New Roman" panose="02020603050405020304" pitchFamily="18" charset="0"/>
                    <a:ea typeface="微软雅黑" panose="020B0503020204020204" pitchFamily="34" charset="-122"/>
                    <a:cs typeface="Times New Roman" panose="02020603050405020304" pitchFamily="18" charset="0"/>
                  </a:rPr>
                  <a:t>D</a:t>
                </a:r>
                <a:endParaRPr lang="zh-CN" altLang="en-US" sz="1200" dirty="0"/>
              </a:p>
            </p:txBody>
          </p:sp>
        </p:grpSp>
      </p:grpSp>
      <p:grpSp>
        <p:nvGrpSpPr>
          <p:cNvPr id="80" name="组合 79"/>
          <p:cNvGrpSpPr/>
          <p:nvPr/>
        </p:nvGrpSpPr>
        <p:grpSpPr>
          <a:xfrm>
            <a:off x="4907060" y="2459640"/>
            <a:ext cx="3212404" cy="1984262"/>
            <a:chOff x="1111946" y="2200388"/>
            <a:chExt cx="3212404" cy="1984262"/>
          </a:xfrm>
        </p:grpSpPr>
        <p:sp>
          <p:nvSpPr>
            <p:cNvPr id="78" name="圆角矩形 77"/>
            <p:cNvSpPr/>
            <p:nvPr/>
          </p:nvSpPr>
          <p:spPr>
            <a:xfrm>
              <a:off x="1924050" y="3841750"/>
              <a:ext cx="1530350" cy="3429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latin typeface="微软雅黑" panose="020B0503020204020204" pitchFamily="34" charset="-122"/>
                  <a:ea typeface="微软雅黑" panose="020B0503020204020204" pitchFamily="34" charset="-122"/>
                </a:rPr>
                <a:t>数据选择</a:t>
              </a:r>
              <a:endParaRPr lang="zh-CN" altLang="en-US" sz="1600" dirty="0">
                <a:latin typeface="微软雅黑" panose="020B0503020204020204" pitchFamily="34" charset="-122"/>
                <a:ea typeface="微软雅黑" panose="020B0503020204020204" pitchFamily="34" charset="-122"/>
              </a:endParaRPr>
            </a:p>
          </p:txBody>
        </p:sp>
        <p:grpSp>
          <p:nvGrpSpPr>
            <p:cNvPr id="76" name="组合 75"/>
            <p:cNvGrpSpPr/>
            <p:nvPr/>
          </p:nvGrpSpPr>
          <p:grpSpPr>
            <a:xfrm>
              <a:off x="1111946" y="2200388"/>
              <a:ext cx="3212404" cy="1666762"/>
              <a:chOff x="1111946" y="2194038"/>
              <a:chExt cx="3212404" cy="1666762"/>
            </a:xfrm>
          </p:grpSpPr>
          <p:grpSp>
            <p:nvGrpSpPr>
              <p:cNvPr id="62" name="组合 61"/>
              <p:cNvGrpSpPr/>
              <p:nvPr/>
            </p:nvGrpSpPr>
            <p:grpSpPr>
              <a:xfrm>
                <a:off x="1111946" y="2194038"/>
                <a:ext cx="3212404" cy="1666762"/>
                <a:chOff x="2043356" y="2186309"/>
                <a:chExt cx="3397753" cy="1656921"/>
              </a:xfrm>
            </p:grpSpPr>
            <p:sp>
              <p:nvSpPr>
                <p:cNvPr id="63" name="圆角矩形 62"/>
                <p:cNvSpPr/>
                <p:nvPr/>
              </p:nvSpPr>
              <p:spPr>
                <a:xfrm>
                  <a:off x="2062768" y="2186309"/>
                  <a:ext cx="3284311" cy="1656921"/>
                </a:xfrm>
                <a:prstGeom prst="roundRect">
                  <a:avLst>
                    <a:gd name="adj" fmla="val 9783"/>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4" name="Picture 44"/>
                <p:cNvPicPr>
                  <a:picLocks noChangeAspect="1" noChangeArrowheads="1"/>
                </p:cNvPicPr>
                <p:nvPr/>
              </p:nvPicPr>
              <p:blipFill>
                <a:blip r:embed="rId2" cstate="print"/>
                <a:srcRect/>
                <a:stretch>
                  <a:fillRect/>
                </a:stretch>
              </p:blipFill>
              <p:spPr bwMode="auto">
                <a:xfrm flipH="1">
                  <a:off x="2765294" y="2378815"/>
                  <a:ext cx="2012961" cy="1161907"/>
                </a:xfrm>
                <a:prstGeom prst="rect">
                  <a:avLst/>
                </a:prstGeom>
                <a:noFill/>
                <a:ln w="9525">
                  <a:noFill/>
                  <a:miter lim="800000"/>
                  <a:headEnd/>
                  <a:tailEnd/>
                </a:ln>
              </p:spPr>
            </p:pic>
            <p:sp>
              <p:nvSpPr>
                <p:cNvPr id="66" name="TextBox 65"/>
                <p:cNvSpPr txBox="1"/>
                <p:nvPr/>
              </p:nvSpPr>
              <p:spPr>
                <a:xfrm>
                  <a:off x="2043356" y="2549077"/>
                  <a:ext cx="423195" cy="805693"/>
                </a:xfrm>
                <a:prstGeom prst="rect">
                  <a:avLst/>
                </a:prstGeom>
                <a:noFill/>
              </p:spPr>
              <p:txBody>
                <a:bodyPr vert="eaVert" wrap="none" rtlCol="0">
                  <a:spAutoFit/>
                </a:bodyPr>
                <a:lstStyle/>
                <a:p>
                  <a:r>
                    <a:rPr lang="zh-CN" altLang="en-US" sz="1400" dirty="0">
                      <a:latin typeface="微软雅黑" panose="020B0503020204020204" pitchFamily="34" charset="-122"/>
                      <a:ea typeface="微软雅黑" panose="020B0503020204020204" pitchFamily="34" charset="-122"/>
                    </a:rPr>
                    <a:t>数据输入</a:t>
                  </a:r>
                  <a:endParaRPr lang="zh-CN" altLang="en-US" sz="1400" i="1" dirty="0">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7" name="TextBox 66"/>
                <p:cNvSpPr txBox="1"/>
                <p:nvPr/>
              </p:nvSpPr>
              <p:spPr>
                <a:xfrm>
                  <a:off x="4318225" y="2570410"/>
                  <a:ext cx="1122884" cy="305960"/>
                </a:xfrm>
                <a:prstGeom prst="rect">
                  <a:avLst/>
                </a:prstGeom>
                <a:noFill/>
              </p:spPr>
              <p:txBody>
                <a:bodyPr wrap="square" rtlCol="0">
                  <a:spAutoFit/>
                </a:bodyPr>
                <a:lstStyle/>
                <a:p>
                  <a:pPr algn="ctr"/>
                  <a:r>
                    <a:rPr lang="zh-CN" altLang="en-US" sz="1400" dirty="0">
                      <a:latin typeface="微软雅黑" panose="020B0503020204020204" pitchFamily="34" charset="-122"/>
                      <a:ea typeface="微软雅黑" panose="020B0503020204020204" pitchFamily="34" charset="-122"/>
                    </a:rPr>
                    <a:t>数据输出</a:t>
                  </a:r>
                  <a:endParaRPr lang="zh-CN" altLang="en-US" sz="1400" dirty="0">
                    <a:latin typeface="微软雅黑" panose="020B0503020204020204" pitchFamily="34" charset="-122"/>
                    <a:ea typeface="微软雅黑" panose="020B0503020204020204" pitchFamily="34" charset="-122"/>
                  </a:endParaRPr>
                </a:p>
              </p:txBody>
            </p:sp>
            <p:graphicFrame>
              <p:nvGraphicFramePr>
                <p:cNvPr id="68" name="对象 67"/>
                <p:cNvGraphicFramePr>
                  <a:graphicFrameLocks noChangeAspect="1"/>
                </p:cNvGraphicFramePr>
                <p:nvPr/>
              </p:nvGraphicFramePr>
              <p:xfrm>
                <a:off x="2549152" y="2390315"/>
                <a:ext cx="203200" cy="228600"/>
              </p:xfrm>
              <a:graphic>
                <a:graphicData uri="http://schemas.openxmlformats.org/presentationml/2006/ole">
                  <mc:AlternateContent xmlns:mc="http://schemas.openxmlformats.org/markup-compatibility/2006">
                    <mc:Choice xmlns:v="urn:schemas-microsoft-com:vml" Requires="v">
                      <p:oleObj spid="_x0000_s52283" name="Equation" r:id="rId9" imgW="203200" imgH="228600" progId="Equation.DSMT4">
                        <p:embed/>
                      </p:oleObj>
                    </mc:Choice>
                    <mc:Fallback>
                      <p:oleObj name="Equation" r:id="rId9" imgW="203200" imgH="228600" progId="Equation.DSMT4">
                        <p:embed/>
                        <p:pic>
                          <p:nvPicPr>
                            <p:cNvPr id="0" name="对象 6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9152" y="2390315"/>
                              <a:ext cx="2032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9" name="Object 46"/>
                <p:cNvGraphicFramePr>
                  <a:graphicFrameLocks noChangeAspect="1"/>
                </p:cNvGraphicFramePr>
                <p:nvPr/>
              </p:nvGraphicFramePr>
              <p:xfrm>
                <a:off x="2564656" y="2724000"/>
                <a:ext cx="190500" cy="228600"/>
              </p:xfrm>
              <a:graphic>
                <a:graphicData uri="http://schemas.openxmlformats.org/presentationml/2006/ole">
                  <mc:AlternateContent xmlns:mc="http://schemas.openxmlformats.org/markup-compatibility/2006">
                    <mc:Choice xmlns:v="urn:schemas-microsoft-com:vml" Requires="v">
                      <p:oleObj spid="_x0000_s52284" name="Equation" r:id="rId10" imgW="190500" imgH="228600" progId="Equation.DSMT4">
                        <p:embed/>
                      </p:oleObj>
                    </mc:Choice>
                    <mc:Fallback>
                      <p:oleObj name="Equation" r:id="rId10" imgW="190500" imgH="228600" progId="Equation.DSMT4">
                        <p:embed/>
                        <p:pic>
                          <p:nvPicPr>
                            <p:cNvPr id="0" name="Object 4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64656" y="2724000"/>
                              <a:ext cx="190500" cy="228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2" name="Object 47"/>
                <p:cNvGraphicFramePr>
                  <a:graphicFrameLocks noChangeAspect="1"/>
                </p:cNvGraphicFramePr>
                <p:nvPr/>
              </p:nvGraphicFramePr>
              <p:xfrm>
                <a:off x="2538182" y="3277513"/>
                <a:ext cx="317500" cy="241300"/>
              </p:xfrm>
              <a:graphic>
                <a:graphicData uri="http://schemas.openxmlformats.org/presentationml/2006/ole">
                  <mc:AlternateContent xmlns:mc="http://schemas.openxmlformats.org/markup-compatibility/2006">
                    <mc:Choice xmlns:v="urn:schemas-microsoft-com:vml" Requires="v">
                      <p:oleObj spid="_x0000_s52285" name="Equation" r:id="rId11" imgW="317500" imgH="241300" progId="Equation.DSMT4">
                        <p:embed/>
                      </p:oleObj>
                    </mc:Choice>
                    <mc:Fallback>
                      <p:oleObj name="Equation" r:id="rId11" imgW="317500" imgH="241300" progId="Equation.DSMT4">
                        <p:embed/>
                        <p:pic>
                          <p:nvPicPr>
                            <p:cNvPr id="0" name="Object 4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38182" y="3277513"/>
                              <a:ext cx="317500" cy="241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3" name="右大括号 72"/>
                <p:cNvSpPr/>
                <p:nvPr/>
              </p:nvSpPr>
              <p:spPr>
                <a:xfrm flipH="1">
                  <a:off x="2386702" y="2480818"/>
                  <a:ext cx="144378" cy="928150"/>
                </a:xfrm>
                <a:prstGeom prst="rightBrace">
                  <a:avLst>
                    <a:gd name="adj1" fmla="val 40248"/>
                    <a:gd name="adj2" fmla="val 50000"/>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4" name="TextBox 73"/>
                <p:cNvSpPr txBox="1"/>
                <p:nvPr/>
              </p:nvSpPr>
              <p:spPr>
                <a:xfrm>
                  <a:off x="3295506" y="3494888"/>
                  <a:ext cx="857927" cy="307777"/>
                </a:xfrm>
                <a:prstGeom prst="rect">
                  <a:avLst/>
                </a:prstGeom>
                <a:noFill/>
              </p:spPr>
              <p:txBody>
                <a:bodyPr wrap="none" rtlCol="0">
                  <a:spAutoFit/>
                </a:bodyPr>
                <a:lstStyle/>
                <a:p>
                  <a:r>
                    <a:rPr lang="en-US" altLang="zh-CN" sz="1400" i="1" dirty="0">
                      <a:latin typeface="Times New Roman" panose="02020603050405020304" pitchFamily="18" charset="0"/>
                      <a:ea typeface="微软雅黑" panose="020B0503020204020204" pitchFamily="34" charset="-122"/>
                      <a:cs typeface="Times New Roman" panose="02020603050405020304" pitchFamily="18" charset="0"/>
                    </a:rPr>
                    <a:t>n </a:t>
                  </a:r>
                  <a:r>
                    <a:rPr lang="zh-CN" altLang="en-US" sz="1400" dirty="0">
                      <a:latin typeface="微软雅黑" panose="020B0503020204020204" pitchFamily="34" charset="-122"/>
                      <a:ea typeface="微软雅黑" panose="020B0503020204020204" pitchFamily="34" charset="-122"/>
                    </a:rPr>
                    <a:t>位地址</a:t>
                  </a:r>
                  <a:endParaRPr lang="zh-CN" altLang="en-US" sz="1400" dirty="0">
                    <a:latin typeface="微软雅黑" panose="020B0503020204020204" pitchFamily="34" charset="-122"/>
                    <a:ea typeface="微软雅黑" panose="020B0503020204020204" pitchFamily="34" charset="-122"/>
                  </a:endParaRPr>
                </a:p>
              </p:txBody>
            </p:sp>
          </p:grpSp>
          <p:sp>
            <p:nvSpPr>
              <p:cNvPr id="75" name="矩形 74"/>
              <p:cNvSpPr/>
              <p:nvPr/>
            </p:nvSpPr>
            <p:spPr>
              <a:xfrm>
                <a:off x="3691461" y="2863334"/>
                <a:ext cx="269626" cy="276999"/>
              </a:xfrm>
              <a:prstGeom prst="rect">
                <a:avLst/>
              </a:prstGeom>
            </p:spPr>
            <p:txBody>
              <a:bodyPr wrap="none">
                <a:spAutoFit/>
              </a:bodyPr>
              <a:lstStyle/>
              <a:p>
                <a:r>
                  <a:rPr lang="en-US" altLang="zh-CN" sz="1200" i="1" dirty="0">
                    <a:latin typeface="Times New Roman" panose="02020603050405020304" pitchFamily="18" charset="0"/>
                    <a:cs typeface="Times New Roman" panose="02020603050405020304" pitchFamily="18" charset="0"/>
                  </a:rPr>
                  <a:t>Y</a:t>
                </a:r>
                <a:endParaRPr lang="zh-CN" altLang="en-US" sz="1200" i="1" dirty="0">
                  <a:latin typeface="Times New Roman" panose="02020603050405020304" pitchFamily="18" charset="0"/>
                  <a:cs typeface="Times New Roman" panose="02020603050405020304" pitchFamily="18" charset="0"/>
                </a:endParaRPr>
              </a:p>
            </p:txBody>
          </p:sp>
        </p:grpSp>
      </p:grpSp>
      <p:sp>
        <p:nvSpPr>
          <p:cNvPr id="83" name="矩形 82"/>
          <p:cNvSpPr/>
          <p:nvPr/>
        </p:nvSpPr>
        <p:spPr>
          <a:xfrm>
            <a:off x="735362" y="4614079"/>
            <a:ext cx="5956037" cy="369332"/>
          </a:xfrm>
          <a:prstGeom prst="rect">
            <a:avLst/>
          </a:prstGeom>
        </p:spPr>
        <p:txBody>
          <a:bodyPr wrap="square">
            <a:spAutoFit/>
          </a:bodyPr>
          <a:lstStyle/>
          <a:p>
            <a:r>
              <a:rPr lang="zh-CN" altLang="en-US" dirty="0">
                <a:solidFill>
                  <a:srgbClr val="000000"/>
                </a:solidFill>
                <a:latin typeface="微软雅黑" panose="020B0503020204020204" pitchFamily="34" charset="-122"/>
                <a:ea typeface="微软雅黑" panose="020B0503020204020204" pitchFamily="34" charset="-122"/>
              </a:rPr>
              <a:t>常见的数据选择器：</a:t>
            </a:r>
            <a:r>
              <a:rPr lang="en-US" altLang="zh-CN" dirty="0">
                <a:solidFill>
                  <a:srgbClr val="000000"/>
                </a:solidFill>
                <a:latin typeface="微软雅黑" panose="020B0503020204020204" pitchFamily="34" charset="-122"/>
                <a:ea typeface="微软雅黑" panose="020B0503020204020204" pitchFamily="34" charset="-122"/>
              </a:rPr>
              <a:t>2</a:t>
            </a:r>
            <a:r>
              <a:rPr lang="zh-CN" altLang="en-US" dirty="0">
                <a:solidFill>
                  <a:srgbClr val="000000"/>
                </a:solidFill>
                <a:latin typeface="微软雅黑" panose="020B0503020204020204" pitchFamily="34" charset="-122"/>
                <a:ea typeface="微软雅黑" panose="020B0503020204020204" pitchFamily="34" charset="-122"/>
              </a:rPr>
              <a:t>选</a:t>
            </a:r>
            <a:r>
              <a:rPr lang="en-US" altLang="zh-CN" dirty="0">
                <a:solidFill>
                  <a:srgbClr val="000000"/>
                </a:solidFill>
                <a:latin typeface="微软雅黑" panose="020B0503020204020204" pitchFamily="34" charset="-122"/>
                <a:ea typeface="微软雅黑" panose="020B0503020204020204" pitchFamily="34" charset="-122"/>
              </a:rPr>
              <a:t>1</a:t>
            </a:r>
            <a:r>
              <a:rPr lang="zh-CN" altLang="en-US" dirty="0">
                <a:solidFill>
                  <a:srgbClr val="000000"/>
                </a:solidFill>
                <a:latin typeface="微软雅黑" panose="020B0503020204020204" pitchFamily="34" charset="-122"/>
                <a:ea typeface="微软雅黑" panose="020B0503020204020204" pitchFamily="34" charset="-122"/>
              </a:rPr>
              <a:t>、</a:t>
            </a:r>
            <a:r>
              <a:rPr lang="en-US" altLang="zh-CN" dirty="0">
                <a:solidFill>
                  <a:srgbClr val="000000"/>
                </a:solidFill>
                <a:latin typeface="微软雅黑" panose="020B0503020204020204" pitchFamily="34" charset="-122"/>
                <a:ea typeface="微软雅黑" panose="020B0503020204020204" pitchFamily="34" charset="-122"/>
              </a:rPr>
              <a:t>4</a:t>
            </a:r>
            <a:r>
              <a:rPr lang="zh-CN" altLang="en-US" dirty="0">
                <a:solidFill>
                  <a:srgbClr val="000000"/>
                </a:solidFill>
                <a:latin typeface="微软雅黑" panose="020B0503020204020204" pitchFamily="34" charset="-122"/>
                <a:ea typeface="微软雅黑" panose="020B0503020204020204" pitchFamily="34" charset="-122"/>
              </a:rPr>
              <a:t>选</a:t>
            </a:r>
            <a:r>
              <a:rPr lang="en-US" altLang="zh-CN" dirty="0">
                <a:solidFill>
                  <a:srgbClr val="000000"/>
                </a:solidFill>
                <a:latin typeface="微软雅黑" panose="020B0503020204020204" pitchFamily="34" charset="-122"/>
                <a:ea typeface="微软雅黑" panose="020B0503020204020204" pitchFamily="34" charset="-122"/>
              </a:rPr>
              <a:t>1</a:t>
            </a:r>
            <a:r>
              <a:rPr lang="zh-CN" altLang="en-US" dirty="0">
                <a:solidFill>
                  <a:srgbClr val="000000"/>
                </a:solidFill>
                <a:latin typeface="微软雅黑" panose="020B0503020204020204" pitchFamily="34" charset="-122"/>
                <a:ea typeface="微软雅黑" panose="020B0503020204020204" pitchFamily="34" charset="-122"/>
              </a:rPr>
              <a:t>、</a:t>
            </a:r>
            <a:r>
              <a:rPr lang="en-US" altLang="zh-CN" dirty="0">
                <a:solidFill>
                  <a:srgbClr val="000000"/>
                </a:solidFill>
                <a:latin typeface="微软雅黑" panose="020B0503020204020204" pitchFamily="34" charset="-122"/>
                <a:ea typeface="微软雅黑" panose="020B0503020204020204" pitchFamily="34" charset="-122"/>
              </a:rPr>
              <a:t>8</a:t>
            </a:r>
            <a:r>
              <a:rPr lang="zh-CN" altLang="en-US" dirty="0">
                <a:solidFill>
                  <a:srgbClr val="000000"/>
                </a:solidFill>
                <a:latin typeface="微软雅黑" panose="020B0503020204020204" pitchFamily="34" charset="-122"/>
                <a:ea typeface="微软雅黑" panose="020B0503020204020204" pitchFamily="34" charset="-122"/>
              </a:rPr>
              <a:t>选</a:t>
            </a:r>
            <a:r>
              <a:rPr lang="en-US" altLang="zh-CN" dirty="0">
                <a:solidFill>
                  <a:srgbClr val="000000"/>
                </a:solidFill>
                <a:latin typeface="微软雅黑" panose="020B0503020204020204" pitchFamily="34" charset="-122"/>
                <a:ea typeface="微软雅黑" panose="020B0503020204020204" pitchFamily="34" charset="-122"/>
              </a:rPr>
              <a:t>1</a:t>
            </a:r>
            <a:r>
              <a:rPr lang="zh-CN" altLang="en-US" dirty="0">
                <a:solidFill>
                  <a:srgbClr val="000000"/>
                </a:solidFill>
                <a:latin typeface="微软雅黑" panose="020B0503020204020204" pitchFamily="34" charset="-122"/>
                <a:ea typeface="微软雅黑" panose="020B0503020204020204" pitchFamily="34" charset="-122"/>
              </a:rPr>
              <a:t>、</a:t>
            </a:r>
            <a:r>
              <a:rPr lang="en-US" altLang="zh-CN" dirty="0">
                <a:solidFill>
                  <a:srgbClr val="000000"/>
                </a:solidFill>
                <a:latin typeface="微软雅黑" panose="020B0503020204020204" pitchFamily="34" charset="-122"/>
                <a:ea typeface="微软雅黑" panose="020B0503020204020204" pitchFamily="34" charset="-122"/>
              </a:rPr>
              <a:t>16</a:t>
            </a:r>
            <a:r>
              <a:rPr lang="zh-CN" altLang="en-US" dirty="0">
                <a:solidFill>
                  <a:srgbClr val="000000"/>
                </a:solidFill>
                <a:latin typeface="微软雅黑" panose="020B0503020204020204" pitchFamily="34" charset="-122"/>
                <a:ea typeface="微软雅黑" panose="020B0503020204020204" pitchFamily="34" charset="-122"/>
              </a:rPr>
              <a:t>选</a:t>
            </a:r>
            <a:r>
              <a:rPr lang="en-US" altLang="zh-CN" dirty="0">
                <a:solidFill>
                  <a:srgbClr val="000000"/>
                </a:solidFill>
                <a:latin typeface="微软雅黑" panose="020B0503020204020204" pitchFamily="34" charset="-122"/>
                <a:ea typeface="微软雅黑" panose="020B0503020204020204" pitchFamily="34" charset="-122"/>
              </a:rPr>
              <a:t>1</a:t>
            </a:r>
            <a:r>
              <a:rPr lang="zh-CN" altLang="en-US" dirty="0">
                <a:solidFill>
                  <a:srgbClr val="000000"/>
                </a:solidFill>
                <a:latin typeface="微软雅黑" panose="020B0503020204020204" pitchFamily="34" charset="-122"/>
                <a:ea typeface="微软雅黑" panose="020B0503020204020204" pitchFamily="34" charset="-122"/>
              </a:rPr>
              <a:t>等。</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with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slide(fromBottom)">
                                      <p:cBhvr>
                                        <p:cTn id="7" dur="10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81"/>
                                        </p:tgtEl>
                                        <p:attrNameLst>
                                          <p:attrName>style.visibility</p:attrName>
                                        </p:attrNameLst>
                                      </p:cBhvr>
                                      <p:to>
                                        <p:strVal val="visible"/>
                                      </p:to>
                                    </p:set>
                                    <p:animEffect transition="in" filter="slide(fromBottom)">
                                      <p:cBhvr>
                                        <p:cTn id="12" dur="1000"/>
                                        <p:tgtEl>
                                          <p:spTgt spid="81"/>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80"/>
                                        </p:tgtEl>
                                        <p:attrNameLst>
                                          <p:attrName>style.visibility</p:attrName>
                                        </p:attrNameLst>
                                      </p:cBhvr>
                                      <p:to>
                                        <p:strVal val="visible"/>
                                      </p:to>
                                    </p:set>
                                    <p:animEffect transition="in" filter="slide(fromBottom)">
                                      <p:cBhvr>
                                        <p:cTn id="17" dur="1000"/>
                                        <p:tgtEl>
                                          <p:spTgt spid="80"/>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83"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 name="图片 24"/>
          <p:cNvPicPr>
            <a:picLocks noChangeAspect="1"/>
          </p:cNvPicPr>
          <p:nvPr/>
        </p:nvPicPr>
        <p:blipFill>
          <a:blip r:embed="rId1"/>
          <a:stretch>
            <a:fillRect/>
          </a:stretch>
        </p:blipFill>
        <p:spPr>
          <a:xfrm>
            <a:off x="5329029" y="2499984"/>
            <a:ext cx="3146768" cy="1810031"/>
          </a:xfrm>
          <a:prstGeom prst="rect">
            <a:avLst/>
          </a:prstGeom>
        </p:spPr>
      </p:pic>
      <p:grpSp>
        <p:nvGrpSpPr>
          <p:cNvPr id="2" name="组合 17"/>
          <p:cNvGrpSpPr/>
          <p:nvPr/>
        </p:nvGrpSpPr>
        <p:grpSpPr>
          <a:xfrm>
            <a:off x="303532" y="833246"/>
            <a:ext cx="5779768" cy="420971"/>
            <a:chOff x="670560" y="892917"/>
            <a:chExt cx="5779768" cy="420971"/>
          </a:xfrm>
        </p:grpSpPr>
        <p:sp>
          <p:nvSpPr>
            <p:cNvPr id="70" name="矩形 69"/>
            <p:cNvSpPr/>
            <p:nvPr/>
          </p:nvSpPr>
          <p:spPr>
            <a:xfrm>
              <a:off x="1035232" y="913778"/>
              <a:ext cx="5415096"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数据选择器的工作原理</a:t>
              </a:r>
              <a:r>
                <a:rPr lang="en-US" altLang="zh-CN" sz="1600" b="1" dirty="0">
                  <a:solidFill>
                    <a:srgbClr val="FF00FF"/>
                  </a:solidFill>
                  <a:latin typeface="微软雅黑" panose="020B0503020204020204" pitchFamily="34" charset="-122"/>
                  <a:ea typeface="微软雅黑" panose="020B0503020204020204" pitchFamily="34" charset="-122"/>
                </a:rPr>
                <a:t>(4</a:t>
              </a:r>
              <a:r>
                <a:rPr lang="zh-CN" altLang="en-US" sz="1600" b="1" dirty="0">
                  <a:solidFill>
                    <a:srgbClr val="FF00FF"/>
                  </a:solidFill>
                  <a:latin typeface="微软雅黑" panose="020B0503020204020204" pitchFamily="34" charset="-122"/>
                  <a:ea typeface="微软雅黑" panose="020B0503020204020204" pitchFamily="34" charset="-122"/>
                </a:rPr>
                <a:t>选</a:t>
              </a:r>
              <a:r>
                <a:rPr lang="en-US" altLang="zh-CN" sz="1600" b="1" dirty="0">
                  <a:solidFill>
                    <a:srgbClr val="FF00FF"/>
                  </a:solidFill>
                  <a:latin typeface="微软雅黑" panose="020B0503020204020204" pitchFamily="34" charset="-122"/>
                  <a:ea typeface="微软雅黑" panose="020B0503020204020204" pitchFamily="34" charset="-122"/>
                </a:rPr>
                <a:t>1</a:t>
              </a:r>
              <a:r>
                <a:rPr lang="zh-CN" altLang="en-US" sz="1600" b="1" dirty="0">
                  <a:solidFill>
                    <a:srgbClr val="FF00FF"/>
                  </a:solidFill>
                  <a:latin typeface="微软雅黑" panose="020B0503020204020204" pitchFamily="34" charset="-122"/>
                  <a:ea typeface="微软雅黑" panose="020B0503020204020204" pitchFamily="34" charset="-122"/>
                </a:rPr>
                <a:t>数据选择器</a:t>
              </a:r>
              <a:r>
                <a:rPr lang="en-US" altLang="zh-CN" sz="1600" b="1" dirty="0">
                  <a:solidFill>
                    <a:srgbClr val="FF00FF"/>
                  </a:solidFill>
                  <a:latin typeface="微软雅黑" panose="020B0503020204020204" pitchFamily="34" charset="-122"/>
                  <a:ea typeface="微软雅黑" panose="020B0503020204020204" pitchFamily="34" charset="-122"/>
                </a:rPr>
                <a:t>)</a:t>
              </a:r>
              <a:endParaRPr lang="zh-CN" altLang="en-US" sz="1600" b="1" dirty="0">
                <a:solidFill>
                  <a:srgbClr val="FF00FF"/>
                </a:solidFill>
                <a:latin typeface="微软雅黑" panose="020B0503020204020204" pitchFamily="34" charset="-122"/>
                <a:ea typeface="微软雅黑" panose="020B0503020204020204" pitchFamily="34" charset="-122"/>
              </a:endParaRPr>
            </a:p>
          </p:txBody>
        </p:sp>
        <p:pic>
          <p:nvPicPr>
            <p:cNvPr id="71" name="Picture 3"/>
            <p:cNvPicPr>
              <a:picLocks noChangeAspect="1" noChangeArrowheads="1"/>
            </p:cNvPicPr>
            <p:nvPr/>
          </p:nvPicPr>
          <p:blipFill>
            <a:blip r:embed="rId2"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82" name="圆角矩形 81"/>
          <p:cNvSpPr/>
          <p:nvPr/>
        </p:nvSpPr>
        <p:spPr>
          <a:xfrm>
            <a:off x="5437570" y="2939199"/>
            <a:ext cx="3031144" cy="208777"/>
          </a:xfrm>
          <a:prstGeom prst="roundRect">
            <a:avLst>
              <a:gd name="adj" fmla="val 20111"/>
            </a:avLst>
          </a:prstGeom>
          <a:solidFill>
            <a:srgbClr val="FF00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圆角矩形 82"/>
          <p:cNvSpPr/>
          <p:nvPr/>
        </p:nvSpPr>
        <p:spPr>
          <a:xfrm>
            <a:off x="5437570" y="3181037"/>
            <a:ext cx="3031144" cy="965294"/>
          </a:xfrm>
          <a:prstGeom prst="roundRect">
            <a:avLst>
              <a:gd name="adj" fmla="val 3159"/>
            </a:avLst>
          </a:prstGeom>
          <a:solidFill>
            <a:srgbClr val="FF00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4470400" y="1820144"/>
            <a:ext cx="2486458" cy="0"/>
            <a:chOff x="4470400" y="1820144"/>
            <a:chExt cx="2486458" cy="0"/>
          </a:xfrm>
        </p:grpSpPr>
        <p:cxnSp>
          <p:nvCxnSpPr>
            <p:cNvPr id="107" name="直接连接符 106"/>
            <p:cNvCxnSpPr/>
            <p:nvPr/>
          </p:nvCxnSpPr>
          <p:spPr>
            <a:xfrm>
              <a:off x="4470400" y="1820144"/>
              <a:ext cx="3240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a:off x="5212538" y="1820144"/>
              <a:ext cx="3240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a:off x="5913808" y="1820144"/>
              <a:ext cx="3240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6632858" y="1820144"/>
              <a:ext cx="3240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571499" y="1524000"/>
            <a:ext cx="2907817" cy="2906110"/>
            <a:chOff x="571499" y="1524000"/>
            <a:chExt cx="2907817" cy="2906110"/>
          </a:xfrm>
        </p:grpSpPr>
        <p:sp>
          <p:nvSpPr>
            <p:cNvPr id="6" name="圆角矩形 5"/>
            <p:cNvSpPr/>
            <p:nvPr/>
          </p:nvSpPr>
          <p:spPr>
            <a:xfrm>
              <a:off x="571499" y="1524000"/>
              <a:ext cx="2907817" cy="2906110"/>
            </a:xfrm>
            <a:prstGeom prst="roundRect">
              <a:avLst>
                <a:gd name="adj" fmla="val 557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1" name="图片 10"/>
            <p:cNvPicPr>
              <a:picLocks noChangeAspect="1"/>
            </p:cNvPicPr>
            <p:nvPr/>
          </p:nvPicPr>
          <p:blipFill>
            <a:blip r:embed="rId3"/>
            <a:stretch>
              <a:fillRect/>
            </a:stretch>
          </p:blipFill>
          <p:spPr>
            <a:xfrm>
              <a:off x="668203" y="1588819"/>
              <a:ext cx="2719981" cy="2625893"/>
            </a:xfrm>
            <a:prstGeom prst="rect">
              <a:avLst/>
            </a:prstGeom>
          </p:spPr>
        </p:pic>
      </p:grpSp>
      <p:sp>
        <p:nvSpPr>
          <p:cNvPr id="99" name="圆角矩形 82"/>
          <p:cNvSpPr/>
          <p:nvPr/>
        </p:nvSpPr>
        <p:spPr>
          <a:xfrm>
            <a:off x="668203" y="1707404"/>
            <a:ext cx="312902" cy="1634885"/>
          </a:xfrm>
          <a:prstGeom prst="roundRect">
            <a:avLst>
              <a:gd name="adj" fmla="val 20111"/>
            </a:avLst>
          </a:prstGeom>
          <a:solidFill>
            <a:srgbClr val="FF00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3" name="圆角矩形 82"/>
          <p:cNvSpPr/>
          <p:nvPr/>
        </p:nvSpPr>
        <p:spPr>
          <a:xfrm>
            <a:off x="3184702" y="2447819"/>
            <a:ext cx="227131" cy="359847"/>
          </a:xfrm>
          <a:prstGeom prst="roundRect">
            <a:avLst>
              <a:gd name="adj" fmla="val 20111"/>
            </a:avLst>
          </a:prstGeom>
          <a:solidFill>
            <a:srgbClr val="FF00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4" name="圆角矩形 82"/>
          <p:cNvSpPr/>
          <p:nvPr/>
        </p:nvSpPr>
        <p:spPr>
          <a:xfrm>
            <a:off x="1051101" y="4027098"/>
            <a:ext cx="746168" cy="252433"/>
          </a:xfrm>
          <a:prstGeom prst="roundRect">
            <a:avLst>
              <a:gd name="adj" fmla="val 20111"/>
            </a:avLst>
          </a:prstGeom>
          <a:solidFill>
            <a:srgbClr val="FF00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5" name="圆角矩形 82"/>
          <p:cNvSpPr/>
          <p:nvPr/>
        </p:nvSpPr>
        <p:spPr>
          <a:xfrm>
            <a:off x="1951085" y="4027098"/>
            <a:ext cx="373084" cy="252433"/>
          </a:xfrm>
          <a:prstGeom prst="roundRect">
            <a:avLst>
              <a:gd name="adj" fmla="val 20111"/>
            </a:avLst>
          </a:prstGeom>
          <a:solidFill>
            <a:srgbClr val="FF00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9" name="对象 18"/>
          <p:cNvGraphicFramePr>
            <a:graphicFrameLocks noChangeAspect="1"/>
          </p:cNvGraphicFramePr>
          <p:nvPr/>
        </p:nvGraphicFramePr>
        <p:xfrm>
          <a:off x="3874715" y="1464627"/>
          <a:ext cx="3402475" cy="366683"/>
        </p:xfrm>
        <a:graphic>
          <a:graphicData uri="http://schemas.openxmlformats.org/presentationml/2006/ole">
            <mc:AlternateContent xmlns:mc="http://schemas.openxmlformats.org/markup-compatibility/2006">
              <mc:Choice xmlns:v="urn:schemas-microsoft-com:vml" Requires="v">
                <p:oleObj spid="_x0000_s53268" name="Equation" r:id="rId4" imgW="64008000" imgH="6705600" progId="Equation.DSMT4">
                  <p:embed/>
                </p:oleObj>
              </mc:Choice>
              <mc:Fallback>
                <p:oleObj name="Equation" r:id="rId4" imgW="64008000" imgH="6705600" progId="Equation.DSMT4">
                  <p:embed/>
                  <p:pic>
                    <p:nvPicPr>
                      <p:cNvPr id="0" name="对象 18"/>
                      <p:cNvPicPr/>
                      <p:nvPr/>
                    </p:nvPicPr>
                    <p:blipFill>
                      <a:blip r:embed="rId5"/>
                      <a:stretch>
                        <a:fillRect/>
                      </a:stretch>
                    </p:blipFill>
                    <p:spPr>
                      <a:xfrm>
                        <a:off x="3874715" y="1464627"/>
                        <a:ext cx="3402475" cy="366683"/>
                      </a:xfrm>
                      <a:prstGeom prst="rect">
                        <a:avLst/>
                      </a:prstGeom>
                    </p:spPr>
                  </p:pic>
                </p:oleObj>
              </mc:Fallback>
            </mc:AlternateContent>
          </a:graphicData>
        </a:graphic>
      </p:graphicFrame>
      <p:graphicFrame>
        <p:nvGraphicFramePr>
          <p:cNvPr id="21" name="对象 20"/>
          <p:cNvGraphicFramePr>
            <a:graphicFrameLocks noChangeAspect="1"/>
          </p:cNvGraphicFramePr>
          <p:nvPr/>
        </p:nvGraphicFramePr>
        <p:xfrm>
          <a:off x="3890481" y="1862441"/>
          <a:ext cx="3094178" cy="1069592"/>
        </p:xfrm>
        <a:graphic>
          <a:graphicData uri="http://schemas.openxmlformats.org/presentationml/2006/ole">
            <mc:AlternateContent xmlns:mc="http://schemas.openxmlformats.org/markup-compatibility/2006">
              <mc:Choice xmlns:v="urn:schemas-microsoft-com:vml" Requires="v">
                <p:oleObj spid="_x0000_s53269" name="Equation" r:id="rId6" imgW="49377600" imgH="17068800" progId="Equation.DSMT4">
                  <p:embed/>
                </p:oleObj>
              </mc:Choice>
              <mc:Fallback>
                <p:oleObj name="Equation" r:id="rId6" imgW="49377600" imgH="17068800" progId="Equation.DSMT4">
                  <p:embed/>
                  <p:pic>
                    <p:nvPicPr>
                      <p:cNvPr id="0" name="对象 20"/>
                      <p:cNvPicPr/>
                      <p:nvPr/>
                    </p:nvPicPr>
                    <p:blipFill>
                      <a:blip r:embed="rId7"/>
                      <a:stretch>
                        <a:fillRect/>
                      </a:stretch>
                    </p:blipFill>
                    <p:spPr>
                      <a:xfrm>
                        <a:off x="3890481" y="1862441"/>
                        <a:ext cx="3094178" cy="1069592"/>
                      </a:xfrm>
                      <a:prstGeom prst="rect">
                        <a:avLst/>
                      </a:prstGeom>
                    </p:spPr>
                  </p:pic>
                </p:oleObj>
              </mc:Fallback>
            </mc:AlternateContent>
          </a:graphicData>
        </a:graphic>
      </p:graphicFrame>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 calcmode="lin" valueType="num">
                                      <p:cBhvr additive="base">
                                        <p:cTn id="7" dur="1000"/>
                                        <p:tgtEl>
                                          <p:spTgt spid="99"/>
                                        </p:tgtEl>
                                        <p:attrNameLst>
                                          <p:attrName>ppt_x</p:attrName>
                                        </p:attrNameLst>
                                      </p:cBhvr>
                                      <p:tavLst>
                                        <p:tav tm="0">
                                          <p:val>
                                            <p:strVal val="#ppt_x-#ppt_w*1.125000"/>
                                          </p:val>
                                        </p:tav>
                                        <p:tav tm="100000">
                                          <p:val>
                                            <p:strVal val="#ppt_x"/>
                                          </p:val>
                                        </p:tav>
                                      </p:tavLst>
                                    </p:anim>
                                    <p:animEffect transition="in" filter="wipe(right)">
                                      <p:cBhvr>
                                        <p:cTn id="8" dur="1000"/>
                                        <p:tgtEl>
                                          <p:spTgt spid="99"/>
                                        </p:tgtEl>
                                      </p:cBhvr>
                                    </p:animEffect>
                                  </p:childTnLst>
                                </p:cTn>
                              </p:par>
                            </p:childTnLst>
                          </p:cTn>
                        </p:par>
                        <p:par>
                          <p:cTn id="9" fill="hold">
                            <p:stCondLst>
                              <p:cond delay="1000"/>
                            </p:stCondLst>
                            <p:childTnLst>
                              <p:par>
                                <p:cTn id="10" presetID="12" presetClass="entr" presetSubtype="4" fill="hold" grpId="0" nodeType="afterEffect">
                                  <p:stCondLst>
                                    <p:cond delay="0"/>
                                  </p:stCondLst>
                                  <p:childTnLst>
                                    <p:set>
                                      <p:cBhvr>
                                        <p:cTn id="11" dur="1" fill="hold">
                                          <p:stCondLst>
                                            <p:cond delay="0"/>
                                          </p:stCondLst>
                                        </p:cTn>
                                        <p:tgtEl>
                                          <p:spTgt spid="114"/>
                                        </p:tgtEl>
                                        <p:attrNameLst>
                                          <p:attrName>style.visibility</p:attrName>
                                        </p:attrNameLst>
                                      </p:cBhvr>
                                      <p:to>
                                        <p:strVal val="visible"/>
                                      </p:to>
                                    </p:set>
                                    <p:anim calcmode="lin" valueType="num">
                                      <p:cBhvr additive="base">
                                        <p:cTn id="12" dur="1000"/>
                                        <p:tgtEl>
                                          <p:spTgt spid="114"/>
                                        </p:tgtEl>
                                        <p:attrNameLst>
                                          <p:attrName>ppt_y</p:attrName>
                                        </p:attrNameLst>
                                      </p:cBhvr>
                                      <p:tavLst>
                                        <p:tav tm="0">
                                          <p:val>
                                            <p:strVal val="#ppt_y+#ppt_h*1.125000"/>
                                          </p:val>
                                        </p:tav>
                                        <p:tav tm="100000">
                                          <p:val>
                                            <p:strVal val="#ppt_y"/>
                                          </p:val>
                                        </p:tav>
                                      </p:tavLst>
                                    </p:anim>
                                    <p:animEffect transition="in" filter="wipe(up)">
                                      <p:cBhvr>
                                        <p:cTn id="13" dur="1000"/>
                                        <p:tgtEl>
                                          <p:spTgt spid="114"/>
                                        </p:tgtEl>
                                      </p:cBhvr>
                                    </p:animEffect>
                                  </p:childTnLst>
                                </p:cTn>
                              </p:par>
                            </p:childTnLst>
                          </p:cTn>
                        </p:par>
                        <p:par>
                          <p:cTn id="14" fill="hold">
                            <p:stCondLst>
                              <p:cond delay="2000"/>
                            </p:stCondLst>
                            <p:childTnLst>
                              <p:par>
                                <p:cTn id="15" presetID="12" presetClass="entr" presetSubtype="8" fill="hold" grpId="0" nodeType="afterEffect">
                                  <p:stCondLst>
                                    <p:cond delay="0"/>
                                  </p:stCondLst>
                                  <p:childTnLst>
                                    <p:set>
                                      <p:cBhvr>
                                        <p:cTn id="16" dur="1" fill="hold">
                                          <p:stCondLst>
                                            <p:cond delay="0"/>
                                          </p:stCondLst>
                                        </p:cTn>
                                        <p:tgtEl>
                                          <p:spTgt spid="113"/>
                                        </p:tgtEl>
                                        <p:attrNameLst>
                                          <p:attrName>style.visibility</p:attrName>
                                        </p:attrNameLst>
                                      </p:cBhvr>
                                      <p:to>
                                        <p:strVal val="visible"/>
                                      </p:to>
                                    </p:set>
                                    <p:anim calcmode="lin" valueType="num">
                                      <p:cBhvr additive="base">
                                        <p:cTn id="17" dur="1000"/>
                                        <p:tgtEl>
                                          <p:spTgt spid="113"/>
                                        </p:tgtEl>
                                        <p:attrNameLst>
                                          <p:attrName>ppt_x</p:attrName>
                                        </p:attrNameLst>
                                      </p:cBhvr>
                                      <p:tavLst>
                                        <p:tav tm="0">
                                          <p:val>
                                            <p:strVal val="#ppt_x-#ppt_w*1.125000"/>
                                          </p:val>
                                        </p:tav>
                                        <p:tav tm="100000">
                                          <p:val>
                                            <p:strVal val="#ppt_x"/>
                                          </p:val>
                                        </p:tav>
                                      </p:tavLst>
                                    </p:anim>
                                    <p:animEffect transition="in" filter="wipe(right)">
                                      <p:cBhvr>
                                        <p:cTn id="18" dur="1000"/>
                                        <p:tgtEl>
                                          <p:spTgt spid="113"/>
                                        </p:tgtEl>
                                      </p:cBhvr>
                                    </p:animEffect>
                                  </p:childTnLst>
                                </p:cTn>
                              </p:par>
                            </p:childTnLst>
                          </p:cTn>
                        </p:par>
                        <p:par>
                          <p:cTn id="19" fill="hold">
                            <p:stCondLst>
                              <p:cond delay="3000"/>
                            </p:stCondLst>
                            <p:childTnLst>
                              <p:par>
                                <p:cTn id="20" presetID="12" presetClass="entr" presetSubtype="4" fill="hold" grpId="0" nodeType="afterEffect">
                                  <p:stCondLst>
                                    <p:cond delay="0"/>
                                  </p:stCondLst>
                                  <p:childTnLst>
                                    <p:set>
                                      <p:cBhvr>
                                        <p:cTn id="21" dur="1" fill="hold">
                                          <p:stCondLst>
                                            <p:cond delay="0"/>
                                          </p:stCondLst>
                                        </p:cTn>
                                        <p:tgtEl>
                                          <p:spTgt spid="115"/>
                                        </p:tgtEl>
                                        <p:attrNameLst>
                                          <p:attrName>style.visibility</p:attrName>
                                        </p:attrNameLst>
                                      </p:cBhvr>
                                      <p:to>
                                        <p:strVal val="visible"/>
                                      </p:to>
                                    </p:set>
                                    <p:anim calcmode="lin" valueType="num">
                                      <p:cBhvr additive="base">
                                        <p:cTn id="22" dur="1000"/>
                                        <p:tgtEl>
                                          <p:spTgt spid="115"/>
                                        </p:tgtEl>
                                        <p:attrNameLst>
                                          <p:attrName>ppt_y</p:attrName>
                                        </p:attrNameLst>
                                      </p:cBhvr>
                                      <p:tavLst>
                                        <p:tav tm="0">
                                          <p:val>
                                            <p:strVal val="#ppt_y+#ppt_h*1.125000"/>
                                          </p:val>
                                        </p:tav>
                                        <p:tav tm="100000">
                                          <p:val>
                                            <p:strVal val="#ppt_y"/>
                                          </p:val>
                                        </p:tav>
                                      </p:tavLst>
                                    </p:anim>
                                    <p:animEffect transition="in" filter="wipe(up)">
                                      <p:cBhvr>
                                        <p:cTn id="23" dur="1000"/>
                                        <p:tgtEl>
                                          <p:spTgt spid="115"/>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1000"/>
                                        <p:tgtEl>
                                          <p:spTgt spid="19"/>
                                        </p:tgtEl>
                                      </p:cBhvr>
                                    </p:animEffect>
                                    <p:anim calcmode="lin" valueType="num">
                                      <p:cBhvr>
                                        <p:cTn id="29" dur="1000" fill="hold"/>
                                        <p:tgtEl>
                                          <p:spTgt spid="19"/>
                                        </p:tgtEl>
                                        <p:attrNameLst>
                                          <p:attrName>ppt_x</p:attrName>
                                        </p:attrNameLst>
                                      </p:cBhvr>
                                      <p:tavLst>
                                        <p:tav tm="0">
                                          <p:val>
                                            <p:strVal val="#ppt_x"/>
                                          </p:val>
                                        </p:tav>
                                        <p:tav tm="100000">
                                          <p:val>
                                            <p:strVal val="#ppt_x"/>
                                          </p:val>
                                        </p:tav>
                                      </p:tavLst>
                                    </p:anim>
                                    <p:anim calcmode="lin" valueType="num">
                                      <p:cBhvr>
                                        <p:cTn id="3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nodeType="clickEffect">
                                  <p:stCondLst>
                                    <p:cond delay="0"/>
                                  </p:stCondLst>
                                  <p:childTnLst>
                                    <p:set>
                                      <p:cBhvr>
                                        <p:cTn id="34" dur="1" fill="hold">
                                          <p:stCondLst>
                                            <p:cond delay="0"/>
                                          </p:stCondLst>
                                        </p:cTn>
                                        <p:tgtEl>
                                          <p:spTgt spid="26"/>
                                        </p:tgtEl>
                                        <p:attrNameLst>
                                          <p:attrName>style.visibility</p:attrName>
                                        </p:attrNameLst>
                                      </p:cBhvr>
                                      <p:to>
                                        <p:strVal val="visible"/>
                                      </p:to>
                                    </p:set>
                                    <p:animEffect transition="in" filter="wipe(down)">
                                      <p:cBhvr>
                                        <p:cTn id="35" dur="10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1000"/>
                                        <p:tgtEl>
                                          <p:spTgt spid="21"/>
                                        </p:tgtEl>
                                      </p:cBhvr>
                                    </p:animEffect>
                                    <p:anim calcmode="lin" valueType="num">
                                      <p:cBhvr>
                                        <p:cTn id="41" dur="1000" fill="hold"/>
                                        <p:tgtEl>
                                          <p:spTgt spid="21"/>
                                        </p:tgtEl>
                                        <p:attrNameLst>
                                          <p:attrName>ppt_x</p:attrName>
                                        </p:attrNameLst>
                                      </p:cBhvr>
                                      <p:tavLst>
                                        <p:tav tm="0">
                                          <p:val>
                                            <p:strVal val="#ppt_x"/>
                                          </p:val>
                                        </p:tav>
                                        <p:tav tm="100000">
                                          <p:val>
                                            <p:strVal val="#ppt_x"/>
                                          </p:val>
                                        </p:tav>
                                      </p:tavLst>
                                    </p:anim>
                                    <p:anim calcmode="lin" valueType="num">
                                      <p:cBhvr>
                                        <p:cTn id="42"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fade">
                                      <p:cBhvr>
                                        <p:cTn id="47" dur="1000"/>
                                        <p:tgtEl>
                                          <p:spTgt spid="25"/>
                                        </p:tgtEl>
                                      </p:cBhvr>
                                    </p:animEffect>
                                    <p:anim calcmode="lin" valueType="num">
                                      <p:cBhvr>
                                        <p:cTn id="48" dur="1000" fill="hold"/>
                                        <p:tgtEl>
                                          <p:spTgt spid="25"/>
                                        </p:tgtEl>
                                        <p:attrNameLst>
                                          <p:attrName>ppt_x</p:attrName>
                                        </p:attrNameLst>
                                      </p:cBhvr>
                                      <p:tavLst>
                                        <p:tav tm="0">
                                          <p:val>
                                            <p:strVal val="#ppt_x"/>
                                          </p:val>
                                        </p:tav>
                                        <p:tav tm="100000">
                                          <p:val>
                                            <p:strVal val="#ppt_x"/>
                                          </p:val>
                                        </p:tav>
                                      </p:tavLst>
                                    </p:anim>
                                    <p:anim calcmode="lin" valueType="num">
                                      <p:cBhvr>
                                        <p:cTn id="49" dur="1000" fill="hold"/>
                                        <p:tgtEl>
                                          <p:spTgt spid="25"/>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17" presetClass="entr" presetSubtype="1" fill="hold" grpId="0" nodeType="clickEffect">
                                  <p:stCondLst>
                                    <p:cond delay="0"/>
                                  </p:stCondLst>
                                  <p:childTnLst>
                                    <p:set>
                                      <p:cBhvr>
                                        <p:cTn id="53" dur="1" fill="hold">
                                          <p:stCondLst>
                                            <p:cond delay="0"/>
                                          </p:stCondLst>
                                        </p:cTn>
                                        <p:tgtEl>
                                          <p:spTgt spid="82"/>
                                        </p:tgtEl>
                                        <p:attrNameLst>
                                          <p:attrName>style.visibility</p:attrName>
                                        </p:attrNameLst>
                                      </p:cBhvr>
                                      <p:to>
                                        <p:strVal val="visible"/>
                                      </p:to>
                                    </p:set>
                                    <p:anim calcmode="lin" valueType="num">
                                      <p:cBhvr>
                                        <p:cTn id="54" dur="1000" fill="hold"/>
                                        <p:tgtEl>
                                          <p:spTgt spid="82"/>
                                        </p:tgtEl>
                                        <p:attrNameLst>
                                          <p:attrName>ppt_x</p:attrName>
                                        </p:attrNameLst>
                                      </p:cBhvr>
                                      <p:tavLst>
                                        <p:tav tm="0">
                                          <p:val>
                                            <p:strVal val="#ppt_x"/>
                                          </p:val>
                                        </p:tav>
                                        <p:tav tm="100000">
                                          <p:val>
                                            <p:strVal val="#ppt_x"/>
                                          </p:val>
                                        </p:tav>
                                      </p:tavLst>
                                    </p:anim>
                                    <p:anim calcmode="lin" valueType="num">
                                      <p:cBhvr>
                                        <p:cTn id="55" dur="1000" fill="hold"/>
                                        <p:tgtEl>
                                          <p:spTgt spid="82"/>
                                        </p:tgtEl>
                                        <p:attrNameLst>
                                          <p:attrName>ppt_y</p:attrName>
                                        </p:attrNameLst>
                                      </p:cBhvr>
                                      <p:tavLst>
                                        <p:tav tm="0">
                                          <p:val>
                                            <p:strVal val="#ppt_y-#ppt_h/2"/>
                                          </p:val>
                                        </p:tav>
                                        <p:tav tm="100000">
                                          <p:val>
                                            <p:strVal val="#ppt_y"/>
                                          </p:val>
                                        </p:tav>
                                      </p:tavLst>
                                    </p:anim>
                                    <p:anim calcmode="lin" valueType="num">
                                      <p:cBhvr>
                                        <p:cTn id="56" dur="1000" fill="hold"/>
                                        <p:tgtEl>
                                          <p:spTgt spid="82"/>
                                        </p:tgtEl>
                                        <p:attrNameLst>
                                          <p:attrName>ppt_w</p:attrName>
                                        </p:attrNameLst>
                                      </p:cBhvr>
                                      <p:tavLst>
                                        <p:tav tm="0">
                                          <p:val>
                                            <p:strVal val="#ppt_w"/>
                                          </p:val>
                                        </p:tav>
                                        <p:tav tm="100000">
                                          <p:val>
                                            <p:strVal val="#ppt_w"/>
                                          </p:val>
                                        </p:tav>
                                      </p:tavLst>
                                    </p:anim>
                                    <p:anim calcmode="lin" valueType="num">
                                      <p:cBhvr>
                                        <p:cTn id="57" dur="1000" fill="hold"/>
                                        <p:tgtEl>
                                          <p:spTgt spid="82"/>
                                        </p:tgtEl>
                                        <p:attrNameLst>
                                          <p:attrName>ppt_h</p:attrName>
                                        </p:attrNameLst>
                                      </p:cBhvr>
                                      <p:tavLst>
                                        <p:tav tm="0">
                                          <p:val>
                                            <p:fltVal val="0"/>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17" presetClass="entr" presetSubtype="1" fill="hold" grpId="0" nodeType="clickEffect">
                                  <p:stCondLst>
                                    <p:cond delay="0"/>
                                  </p:stCondLst>
                                  <p:childTnLst>
                                    <p:set>
                                      <p:cBhvr>
                                        <p:cTn id="61" dur="1" fill="hold">
                                          <p:stCondLst>
                                            <p:cond delay="0"/>
                                          </p:stCondLst>
                                        </p:cTn>
                                        <p:tgtEl>
                                          <p:spTgt spid="83"/>
                                        </p:tgtEl>
                                        <p:attrNameLst>
                                          <p:attrName>style.visibility</p:attrName>
                                        </p:attrNameLst>
                                      </p:cBhvr>
                                      <p:to>
                                        <p:strVal val="visible"/>
                                      </p:to>
                                    </p:set>
                                    <p:anim calcmode="lin" valueType="num">
                                      <p:cBhvr>
                                        <p:cTn id="62" dur="1000" fill="hold"/>
                                        <p:tgtEl>
                                          <p:spTgt spid="83"/>
                                        </p:tgtEl>
                                        <p:attrNameLst>
                                          <p:attrName>ppt_x</p:attrName>
                                        </p:attrNameLst>
                                      </p:cBhvr>
                                      <p:tavLst>
                                        <p:tav tm="0">
                                          <p:val>
                                            <p:strVal val="#ppt_x"/>
                                          </p:val>
                                        </p:tav>
                                        <p:tav tm="100000">
                                          <p:val>
                                            <p:strVal val="#ppt_x"/>
                                          </p:val>
                                        </p:tav>
                                      </p:tavLst>
                                    </p:anim>
                                    <p:anim calcmode="lin" valueType="num">
                                      <p:cBhvr>
                                        <p:cTn id="63" dur="1000" fill="hold"/>
                                        <p:tgtEl>
                                          <p:spTgt spid="83"/>
                                        </p:tgtEl>
                                        <p:attrNameLst>
                                          <p:attrName>ppt_y</p:attrName>
                                        </p:attrNameLst>
                                      </p:cBhvr>
                                      <p:tavLst>
                                        <p:tav tm="0">
                                          <p:val>
                                            <p:strVal val="#ppt_y-#ppt_h/2"/>
                                          </p:val>
                                        </p:tav>
                                        <p:tav tm="100000">
                                          <p:val>
                                            <p:strVal val="#ppt_y"/>
                                          </p:val>
                                        </p:tav>
                                      </p:tavLst>
                                    </p:anim>
                                    <p:anim calcmode="lin" valueType="num">
                                      <p:cBhvr>
                                        <p:cTn id="64" dur="1000" fill="hold"/>
                                        <p:tgtEl>
                                          <p:spTgt spid="83"/>
                                        </p:tgtEl>
                                        <p:attrNameLst>
                                          <p:attrName>ppt_w</p:attrName>
                                        </p:attrNameLst>
                                      </p:cBhvr>
                                      <p:tavLst>
                                        <p:tav tm="0">
                                          <p:val>
                                            <p:strVal val="#ppt_w"/>
                                          </p:val>
                                        </p:tav>
                                        <p:tav tm="100000">
                                          <p:val>
                                            <p:strVal val="#ppt_w"/>
                                          </p:val>
                                        </p:tav>
                                      </p:tavLst>
                                    </p:anim>
                                    <p:anim calcmode="lin" valueType="num">
                                      <p:cBhvr>
                                        <p:cTn id="65" dur="1000" fill="hold"/>
                                        <p:tgtEl>
                                          <p:spTgt spid="8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animBg="1"/>
      <p:bldP spid="83" grpId="0" animBg="1"/>
      <p:bldP spid="99" grpId="0" animBg="1"/>
      <p:bldP spid="113" grpId="0" animBg="1"/>
      <p:bldP spid="114" grpId="0" animBg="1"/>
      <p:bldP spid="115"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6" name="组合 17"/>
          <p:cNvGrpSpPr/>
          <p:nvPr/>
        </p:nvGrpSpPr>
        <p:grpSpPr>
          <a:xfrm>
            <a:off x="392432" y="769746"/>
            <a:ext cx="4166868" cy="420971"/>
            <a:chOff x="670560" y="892917"/>
            <a:chExt cx="4166868" cy="420971"/>
          </a:xfrm>
        </p:grpSpPr>
        <p:sp>
          <p:nvSpPr>
            <p:cNvPr id="57" name="矩形 56"/>
            <p:cNvSpPr/>
            <p:nvPr/>
          </p:nvSpPr>
          <p:spPr>
            <a:xfrm>
              <a:off x="1035232" y="913778"/>
              <a:ext cx="3802196"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集成电路数据选择器</a:t>
              </a:r>
              <a:r>
                <a:rPr lang="zh-CN" altLang="en-US"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rPr>
                <a:t>74×151</a:t>
              </a:r>
              <a:r>
                <a:rPr lang="zh-CN" altLang="en-US"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58"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21" name="组合 20"/>
          <p:cNvGrpSpPr/>
          <p:nvPr/>
        </p:nvGrpSpPr>
        <p:grpSpPr>
          <a:xfrm>
            <a:off x="1181100" y="1323648"/>
            <a:ext cx="3505200" cy="3666138"/>
            <a:chOff x="1181100" y="1323648"/>
            <a:chExt cx="3505200" cy="3666138"/>
          </a:xfrm>
        </p:grpSpPr>
        <p:sp>
          <p:nvSpPr>
            <p:cNvPr id="71" name="圆角矩形 70"/>
            <p:cNvSpPr/>
            <p:nvPr/>
          </p:nvSpPr>
          <p:spPr>
            <a:xfrm>
              <a:off x="1181100" y="1323648"/>
              <a:ext cx="3505200" cy="3666138"/>
            </a:xfrm>
            <a:prstGeom prst="roundRect">
              <a:avLst>
                <a:gd name="adj" fmla="val 2959"/>
              </a:avLst>
            </a:prstGeom>
            <a:solidFill>
              <a:schemeClr val="bg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43366" name="Object 6"/>
            <p:cNvGraphicFramePr>
              <a:graphicFrameLocks noChangeAspect="1"/>
            </p:cNvGraphicFramePr>
            <p:nvPr/>
          </p:nvGraphicFramePr>
          <p:xfrm>
            <a:off x="1343025" y="1355398"/>
            <a:ext cx="3285052" cy="3625850"/>
          </p:xfrm>
          <a:graphic>
            <a:graphicData uri="http://schemas.openxmlformats.org/presentationml/2006/ole">
              <mc:AlternateContent xmlns:mc="http://schemas.openxmlformats.org/markup-compatibility/2006">
                <mc:Choice xmlns:v="urn:schemas-microsoft-com:vml" Requires="v">
                  <p:oleObj spid="_x0000_s54283" name="Visio" r:id="rId2" imgW="4144010" imgH="4416425" progId="Visio.Drawing.11">
                    <p:embed/>
                  </p:oleObj>
                </mc:Choice>
                <mc:Fallback>
                  <p:oleObj name="Visio" r:id="rId2" imgW="4144010" imgH="4416425" progId="Visio.Drawing.11">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3025" y="1355398"/>
                          <a:ext cx="3285052" cy="362585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sp>
        <p:nvSpPr>
          <p:cNvPr id="79" name="AutoShape 7"/>
          <p:cNvSpPr>
            <a:spLocks noChangeArrowheads="1"/>
          </p:cNvSpPr>
          <p:nvPr/>
        </p:nvSpPr>
        <p:spPr bwMode="auto">
          <a:xfrm>
            <a:off x="407988" y="1301423"/>
            <a:ext cx="760412" cy="511175"/>
          </a:xfrm>
          <a:prstGeom prst="wedgeRoundRectCallout">
            <a:avLst>
              <a:gd name="adj1" fmla="val 78495"/>
              <a:gd name="adj2" fmla="val -24797"/>
              <a:gd name="adj3" fmla="val 16667"/>
            </a:avLst>
          </a:prstGeom>
          <a:solidFill>
            <a:srgbClr val="FFFF66"/>
          </a:solidFill>
          <a:ln w="19050" algn="ctr">
            <a:solidFill>
              <a:srgbClr val="FF0000"/>
            </a:solidFill>
            <a:miter lim="800000"/>
          </a:ln>
        </p:spPr>
        <p:txBody>
          <a:bodyPr lIns="0" rIns="0" anchor="ctr"/>
          <a:lstStyle/>
          <a:p>
            <a:r>
              <a:rPr lang="zh-CN" altLang="en-US" sz="1200" dirty="0">
                <a:solidFill>
                  <a:srgbClr val="000000"/>
                </a:solidFill>
                <a:latin typeface="微软雅黑" panose="020B0503020204020204" pitchFamily="34" charset="-122"/>
                <a:ea typeface="微软雅黑" panose="020B0503020204020204" pitchFamily="34" charset="-122"/>
              </a:rPr>
              <a:t>低有效使能输入端</a:t>
            </a:r>
            <a:endParaRPr lang="zh-CN" altLang="en-US" sz="1200" dirty="0">
              <a:solidFill>
                <a:srgbClr val="000000"/>
              </a:solidFill>
              <a:latin typeface="微软雅黑" panose="020B0503020204020204" pitchFamily="34" charset="-122"/>
              <a:ea typeface="微软雅黑" panose="020B0503020204020204" pitchFamily="34" charset="-122"/>
            </a:endParaRPr>
          </a:p>
        </p:txBody>
      </p:sp>
      <p:grpSp>
        <p:nvGrpSpPr>
          <p:cNvPr id="22" name="组合 21"/>
          <p:cNvGrpSpPr/>
          <p:nvPr/>
        </p:nvGrpSpPr>
        <p:grpSpPr>
          <a:xfrm>
            <a:off x="378900" y="1599873"/>
            <a:ext cx="1022351" cy="2314575"/>
            <a:chOff x="406400" y="1599873"/>
            <a:chExt cx="1022351" cy="2314575"/>
          </a:xfrm>
        </p:grpSpPr>
        <p:sp>
          <p:nvSpPr>
            <p:cNvPr id="86" name="AutoShape 8"/>
            <p:cNvSpPr/>
            <p:nvPr/>
          </p:nvSpPr>
          <p:spPr bwMode="auto">
            <a:xfrm>
              <a:off x="1252539" y="1599873"/>
              <a:ext cx="176212" cy="2314575"/>
            </a:xfrm>
            <a:prstGeom prst="leftBrace">
              <a:avLst>
                <a:gd name="adj1" fmla="val 102917"/>
                <a:gd name="adj2" fmla="val 50274"/>
              </a:avLst>
            </a:prstGeom>
            <a:noFill/>
            <a:ln w="19050">
              <a:solidFill>
                <a:srgbClr val="FF0000"/>
              </a:solidFill>
              <a:round/>
            </a:ln>
          </p:spPr>
          <p:txBody>
            <a:bodyPr wrap="none" lIns="0" rIns="0" anchor="ctr"/>
            <a:lstStyle/>
            <a:p>
              <a:pPr>
                <a:defRPr/>
              </a:pPr>
              <a:endParaRPr lang="zh-CN" altLang="en-US">
                <a:solidFill>
                  <a:srgbClr val="000000"/>
                </a:solidFill>
                <a:effectLst>
                  <a:outerShdw blurRad="38100" dist="38100" dir="2700000" algn="tl">
                    <a:srgbClr val="C0C0C0"/>
                  </a:outerShdw>
                </a:effectLst>
              </a:endParaRPr>
            </a:p>
          </p:txBody>
        </p:sp>
        <p:sp>
          <p:nvSpPr>
            <p:cNvPr id="94" name="AutoShape 9"/>
            <p:cNvSpPr>
              <a:spLocks noChangeArrowheads="1"/>
            </p:cNvSpPr>
            <p:nvPr/>
          </p:nvSpPr>
          <p:spPr bwMode="auto">
            <a:xfrm>
              <a:off x="406400" y="2377748"/>
              <a:ext cx="647700" cy="522288"/>
            </a:xfrm>
            <a:prstGeom prst="wedgeRoundRectCallout">
              <a:avLst>
                <a:gd name="adj1" fmla="val 74437"/>
                <a:gd name="adj2" fmla="val 33729"/>
                <a:gd name="adj3" fmla="val 16667"/>
              </a:avLst>
            </a:prstGeom>
            <a:solidFill>
              <a:srgbClr val="FFFF66"/>
            </a:solidFill>
            <a:ln w="19050" algn="ctr">
              <a:solidFill>
                <a:srgbClr val="FF0000"/>
              </a:solidFill>
              <a:miter lim="800000"/>
            </a:ln>
          </p:spPr>
          <p:txBody>
            <a:bodyPr lIns="0" rIns="0" anchor="ctr"/>
            <a:lstStyle/>
            <a:p>
              <a:pPr algn="ctr"/>
              <a:r>
                <a:rPr lang="en-US" altLang="zh-CN" sz="1200" dirty="0">
                  <a:solidFill>
                    <a:srgbClr val="000000"/>
                  </a:solidFill>
                  <a:latin typeface="微软雅黑" panose="020B0503020204020204" pitchFamily="34" charset="-122"/>
                  <a:ea typeface="微软雅黑" panose="020B0503020204020204" pitchFamily="34" charset="-122"/>
                </a:rPr>
                <a:t>8</a:t>
              </a:r>
              <a:r>
                <a:rPr lang="zh-CN" altLang="en-US" sz="1200" dirty="0">
                  <a:solidFill>
                    <a:srgbClr val="000000"/>
                  </a:solidFill>
                  <a:latin typeface="微软雅黑" panose="020B0503020204020204" pitchFamily="34" charset="-122"/>
                  <a:ea typeface="微软雅黑" panose="020B0503020204020204" pitchFamily="34" charset="-122"/>
                </a:rPr>
                <a:t>路数据输入端</a:t>
              </a:r>
              <a:endParaRPr lang="zh-CN" altLang="en-US" sz="1200" dirty="0">
                <a:solidFill>
                  <a:srgbClr val="000000"/>
                </a:solidFill>
                <a:latin typeface="微软雅黑" panose="020B0503020204020204" pitchFamily="34" charset="-122"/>
                <a:ea typeface="微软雅黑" panose="020B0503020204020204" pitchFamily="34" charset="-122"/>
              </a:endParaRPr>
            </a:p>
          </p:txBody>
        </p:sp>
      </p:grpSp>
      <p:grpSp>
        <p:nvGrpSpPr>
          <p:cNvPr id="23" name="组合 22"/>
          <p:cNvGrpSpPr/>
          <p:nvPr/>
        </p:nvGrpSpPr>
        <p:grpSpPr>
          <a:xfrm>
            <a:off x="403775" y="4041448"/>
            <a:ext cx="996951" cy="781050"/>
            <a:chOff x="438150" y="4041448"/>
            <a:chExt cx="996951" cy="781050"/>
          </a:xfrm>
        </p:grpSpPr>
        <p:sp>
          <p:nvSpPr>
            <p:cNvPr id="96" name="AutoShape 8"/>
            <p:cNvSpPr/>
            <p:nvPr/>
          </p:nvSpPr>
          <p:spPr bwMode="auto">
            <a:xfrm>
              <a:off x="1258889" y="4050973"/>
              <a:ext cx="176212" cy="771525"/>
            </a:xfrm>
            <a:prstGeom prst="leftBrace">
              <a:avLst>
                <a:gd name="adj1" fmla="val 102917"/>
                <a:gd name="adj2" fmla="val 50274"/>
              </a:avLst>
            </a:prstGeom>
            <a:noFill/>
            <a:ln w="19050">
              <a:solidFill>
                <a:srgbClr val="FF0000"/>
              </a:solidFill>
              <a:round/>
            </a:ln>
          </p:spPr>
          <p:txBody>
            <a:bodyPr wrap="none" lIns="0" rIns="0" anchor="ctr"/>
            <a:lstStyle/>
            <a:p>
              <a:pPr>
                <a:defRPr/>
              </a:pPr>
              <a:endParaRPr lang="zh-CN" altLang="en-US">
                <a:solidFill>
                  <a:srgbClr val="000000"/>
                </a:solidFill>
                <a:effectLst>
                  <a:outerShdw blurRad="38100" dist="38100" dir="2700000" algn="tl">
                    <a:srgbClr val="C0C0C0"/>
                  </a:outerShdw>
                </a:effectLst>
              </a:endParaRPr>
            </a:p>
          </p:txBody>
        </p:sp>
        <p:sp>
          <p:nvSpPr>
            <p:cNvPr id="97" name="AutoShape 9"/>
            <p:cNvSpPr>
              <a:spLocks noChangeArrowheads="1"/>
            </p:cNvSpPr>
            <p:nvPr/>
          </p:nvSpPr>
          <p:spPr bwMode="auto">
            <a:xfrm>
              <a:off x="438150" y="4041448"/>
              <a:ext cx="647700" cy="522288"/>
            </a:xfrm>
            <a:prstGeom prst="wedgeRoundRectCallout">
              <a:avLst>
                <a:gd name="adj1" fmla="val 74437"/>
                <a:gd name="adj2" fmla="val 33729"/>
                <a:gd name="adj3" fmla="val 16667"/>
              </a:avLst>
            </a:prstGeom>
            <a:solidFill>
              <a:srgbClr val="FFFF66"/>
            </a:solidFill>
            <a:ln w="19050" algn="ctr">
              <a:solidFill>
                <a:srgbClr val="FF0000"/>
              </a:solidFill>
              <a:miter lim="800000"/>
            </a:ln>
          </p:spPr>
          <p:txBody>
            <a:bodyPr lIns="0" rIns="0" anchor="ctr"/>
            <a:lstStyle/>
            <a:p>
              <a:pPr algn="ctr"/>
              <a:r>
                <a:rPr lang="en-US" altLang="zh-CN" sz="1200" dirty="0">
                  <a:solidFill>
                    <a:srgbClr val="000000"/>
                  </a:solidFill>
                  <a:latin typeface="微软雅黑" panose="020B0503020204020204" pitchFamily="34" charset="-122"/>
                  <a:ea typeface="微软雅黑" panose="020B0503020204020204" pitchFamily="34" charset="-122"/>
                </a:rPr>
                <a:t>3</a:t>
              </a:r>
              <a:r>
                <a:rPr lang="zh-CN" altLang="en-US" sz="1200" dirty="0">
                  <a:solidFill>
                    <a:srgbClr val="000000"/>
                  </a:solidFill>
                  <a:latin typeface="微软雅黑" panose="020B0503020204020204" pitchFamily="34" charset="-122"/>
                  <a:ea typeface="微软雅黑" panose="020B0503020204020204" pitchFamily="34" charset="-122"/>
                </a:rPr>
                <a:t>位地址输入端</a:t>
              </a:r>
              <a:endParaRPr lang="zh-CN" altLang="en-US" sz="1200" dirty="0">
                <a:solidFill>
                  <a:srgbClr val="000000"/>
                </a:solidFill>
                <a:latin typeface="微软雅黑" panose="020B0503020204020204" pitchFamily="34" charset="-122"/>
                <a:ea typeface="微软雅黑" panose="020B0503020204020204" pitchFamily="34" charset="-122"/>
              </a:endParaRPr>
            </a:p>
          </p:txBody>
        </p:sp>
      </p:grpSp>
      <p:grpSp>
        <p:nvGrpSpPr>
          <p:cNvPr id="24" name="组合 23"/>
          <p:cNvGrpSpPr/>
          <p:nvPr/>
        </p:nvGrpSpPr>
        <p:grpSpPr>
          <a:xfrm>
            <a:off x="4540249" y="2315836"/>
            <a:ext cx="870524" cy="665160"/>
            <a:chOff x="4540249" y="2315836"/>
            <a:chExt cx="870524" cy="665160"/>
          </a:xfrm>
        </p:grpSpPr>
        <p:sp>
          <p:nvSpPr>
            <p:cNvPr id="99" name="AutoShape 8"/>
            <p:cNvSpPr/>
            <p:nvPr/>
          </p:nvSpPr>
          <p:spPr bwMode="auto">
            <a:xfrm rot="10800000">
              <a:off x="4540249" y="2584121"/>
              <a:ext cx="114301" cy="396875"/>
            </a:xfrm>
            <a:prstGeom prst="leftBrace">
              <a:avLst>
                <a:gd name="adj1" fmla="val 23565"/>
                <a:gd name="adj2" fmla="val 50274"/>
              </a:avLst>
            </a:prstGeom>
            <a:noFill/>
            <a:ln w="19050">
              <a:solidFill>
                <a:srgbClr val="FF0000"/>
              </a:solidFill>
              <a:round/>
            </a:ln>
          </p:spPr>
          <p:txBody>
            <a:bodyPr wrap="none" lIns="0" rIns="0" anchor="ctr"/>
            <a:lstStyle/>
            <a:p>
              <a:pPr>
                <a:defRPr/>
              </a:pPr>
              <a:endParaRPr lang="zh-CN" altLang="en-US">
                <a:solidFill>
                  <a:srgbClr val="000000"/>
                </a:solidFill>
                <a:effectLst>
                  <a:outerShdw blurRad="38100" dist="38100" dir="2700000" algn="tl">
                    <a:srgbClr val="C0C0C0"/>
                  </a:outerShdw>
                </a:effectLst>
              </a:endParaRPr>
            </a:p>
          </p:txBody>
        </p:sp>
        <p:sp>
          <p:nvSpPr>
            <p:cNvPr id="104" name="AutoShape 14"/>
            <p:cNvSpPr>
              <a:spLocks noChangeArrowheads="1"/>
            </p:cNvSpPr>
            <p:nvPr/>
          </p:nvSpPr>
          <p:spPr bwMode="auto">
            <a:xfrm>
              <a:off x="4765675" y="2315836"/>
              <a:ext cx="645098" cy="551117"/>
            </a:xfrm>
            <a:prstGeom prst="wedgeRoundRectCallout">
              <a:avLst>
                <a:gd name="adj1" fmla="val -61877"/>
                <a:gd name="adj2" fmla="val 19577"/>
                <a:gd name="adj3" fmla="val 16667"/>
              </a:avLst>
            </a:prstGeom>
            <a:solidFill>
              <a:srgbClr val="FFFF66"/>
            </a:solidFill>
            <a:ln w="19050" algn="ctr">
              <a:solidFill>
                <a:srgbClr val="FF0000"/>
              </a:solidFill>
              <a:miter lim="800000"/>
            </a:ln>
          </p:spPr>
          <p:txBody>
            <a:bodyPr lIns="0" rIns="0" anchor="ctr"/>
            <a:lstStyle/>
            <a:p>
              <a:pPr algn="ctr"/>
              <a:r>
                <a:rPr lang="en-US" altLang="zh-CN" sz="1200" dirty="0">
                  <a:solidFill>
                    <a:srgbClr val="000000"/>
                  </a:solidFill>
                  <a:latin typeface="微软雅黑" panose="020B0503020204020204" pitchFamily="34" charset="-122"/>
                  <a:ea typeface="微软雅黑" panose="020B0503020204020204" pitchFamily="34" charset="-122"/>
                </a:rPr>
                <a:t>2</a:t>
              </a:r>
              <a:r>
                <a:rPr lang="zh-CN" altLang="en-US" sz="1200" dirty="0">
                  <a:solidFill>
                    <a:srgbClr val="000000"/>
                  </a:solidFill>
                  <a:latin typeface="微软雅黑" panose="020B0503020204020204" pitchFamily="34" charset="-122"/>
                  <a:ea typeface="微软雅黑" panose="020B0503020204020204" pitchFamily="34" charset="-122"/>
                </a:rPr>
                <a:t>个互补输出端</a:t>
              </a:r>
              <a:endParaRPr lang="zh-CN" altLang="en-US" sz="1200" dirty="0">
                <a:solidFill>
                  <a:srgbClr val="000000"/>
                </a:solidFill>
                <a:latin typeface="微软雅黑" panose="020B0503020204020204" pitchFamily="34" charset="-122"/>
                <a:ea typeface="微软雅黑" panose="020B0503020204020204" pitchFamily="34" charset="-122"/>
              </a:endParaRPr>
            </a:p>
          </p:txBody>
        </p:sp>
      </p:grpSp>
      <p:grpSp>
        <p:nvGrpSpPr>
          <p:cNvPr id="129" name="组合 128"/>
          <p:cNvGrpSpPr/>
          <p:nvPr/>
        </p:nvGrpSpPr>
        <p:grpSpPr>
          <a:xfrm>
            <a:off x="5686350" y="1299104"/>
            <a:ext cx="2771849" cy="3739293"/>
            <a:chOff x="5718100" y="1359757"/>
            <a:chExt cx="2771849" cy="3518952"/>
          </a:xfrm>
        </p:grpSpPr>
        <p:grpSp>
          <p:nvGrpSpPr>
            <p:cNvPr id="116" name="组合 115"/>
            <p:cNvGrpSpPr/>
            <p:nvPr/>
          </p:nvGrpSpPr>
          <p:grpSpPr>
            <a:xfrm>
              <a:off x="5718100" y="1359757"/>
              <a:ext cx="2771849" cy="3518952"/>
              <a:chOff x="5575775" y="1410557"/>
              <a:chExt cx="2771849" cy="3518952"/>
            </a:xfrm>
          </p:grpSpPr>
          <p:sp>
            <p:nvSpPr>
              <p:cNvPr id="128" name="圆角矩形 127"/>
              <p:cNvSpPr/>
              <p:nvPr/>
            </p:nvSpPr>
            <p:spPr>
              <a:xfrm>
                <a:off x="5575775" y="1410557"/>
                <a:ext cx="2771849" cy="3518952"/>
              </a:xfrm>
              <a:prstGeom prst="roundRect">
                <a:avLst>
                  <a:gd name="adj" fmla="val 3293"/>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圆角矩形 119"/>
              <p:cNvSpPr/>
              <p:nvPr/>
            </p:nvSpPr>
            <p:spPr>
              <a:xfrm>
                <a:off x="7891657" y="1622594"/>
                <a:ext cx="323134" cy="996902"/>
              </a:xfrm>
              <a:prstGeom prst="roundRect">
                <a:avLst>
                  <a:gd name="adj" fmla="val 11404"/>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逻辑符号</a:t>
                </a:r>
                <a:endParaRPr lang="zh-CN" altLang="en-US" sz="1200" dirty="0">
                  <a:latin typeface="微软雅黑" panose="020B0503020204020204" pitchFamily="34" charset="-122"/>
                  <a:ea typeface="微软雅黑" panose="020B0503020204020204" pitchFamily="34" charset="-122"/>
                </a:endParaRPr>
              </a:p>
            </p:txBody>
          </p:sp>
          <p:sp>
            <p:nvSpPr>
              <p:cNvPr id="123" name="圆角矩形 122"/>
              <p:cNvSpPr/>
              <p:nvPr/>
            </p:nvSpPr>
            <p:spPr>
              <a:xfrm>
                <a:off x="5899666" y="3465651"/>
                <a:ext cx="323134" cy="996902"/>
              </a:xfrm>
              <a:prstGeom prst="roundRect">
                <a:avLst>
                  <a:gd name="adj" fmla="val 11404"/>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zh-CN" altLang="en-US" sz="1200" dirty="0">
                    <a:latin typeface="微软雅黑" panose="020B0503020204020204" pitchFamily="34" charset="-122"/>
                    <a:ea typeface="微软雅黑" panose="020B0503020204020204" pitchFamily="34" charset="-122"/>
                  </a:rPr>
                  <a:t>引脚排列图</a:t>
                </a:r>
                <a:endParaRPr lang="zh-CN" altLang="en-US" sz="1200" dirty="0">
                  <a:latin typeface="微软雅黑" panose="020B0503020204020204" pitchFamily="34" charset="-122"/>
                  <a:ea typeface="微软雅黑" panose="020B0503020204020204" pitchFamily="34" charset="-122"/>
                </a:endParaRPr>
              </a:p>
            </p:txBody>
          </p:sp>
        </p:grpSp>
        <p:pic>
          <p:nvPicPr>
            <p:cNvPr id="11273" name="Picture 9"/>
            <p:cNvPicPr>
              <a:picLocks noChangeAspect="1" noChangeArrowheads="1"/>
            </p:cNvPicPr>
            <p:nvPr/>
          </p:nvPicPr>
          <p:blipFill>
            <a:blip r:embed="rId4" cstate="print"/>
            <a:srcRect/>
            <a:stretch>
              <a:fillRect/>
            </a:stretch>
          </p:blipFill>
          <p:spPr bwMode="auto">
            <a:xfrm>
              <a:off x="5924550" y="1485829"/>
              <a:ext cx="2127250" cy="1111429"/>
            </a:xfrm>
            <a:prstGeom prst="rect">
              <a:avLst/>
            </a:prstGeom>
            <a:noFill/>
            <a:ln w="9525">
              <a:noFill/>
              <a:miter lim="800000"/>
              <a:headEnd/>
              <a:tailEnd/>
            </a:ln>
          </p:spPr>
        </p:pic>
        <p:pic>
          <p:nvPicPr>
            <p:cNvPr id="11274" name="Picture 10"/>
            <p:cNvPicPr>
              <a:picLocks noChangeAspect="1" noChangeArrowheads="1"/>
            </p:cNvPicPr>
            <p:nvPr/>
          </p:nvPicPr>
          <p:blipFill>
            <a:blip r:embed="rId5" cstate="print"/>
            <a:srcRect/>
            <a:stretch>
              <a:fillRect/>
            </a:stretch>
          </p:blipFill>
          <p:spPr bwMode="auto">
            <a:xfrm>
              <a:off x="6389689" y="2843804"/>
              <a:ext cx="1789111" cy="1968482"/>
            </a:xfrm>
            <a:prstGeom prst="rect">
              <a:avLst/>
            </a:prstGeom>
            <a:noFill/>
            <a:ln w="9525">
              <a:noFill/>
              <a:miter lim="800000"/>
              <a:headEnd/>
              <a:tailEnd/>
            </a:ln>
          </p:spPr>
        </p:pic>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right)">
                                      <p:cBhvr>
                                        <p:cTn id="7" dur="10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right)">
                                      <p:cBhvr>
                                        <p:cTn id="12" dur="1000"/>
                                        <p:tgtEl>
                                          <p:spTgt spid="2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wipe(left)">
                                      <p:cBhvr>
                                        <p:cTn id="17" dur="10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2" fill="hold" grpId="0" nodeType="clickEffect">
                                  <p:stCondLst>
                                    <p:cond delay="0"/>
                                  </p:stCondLst>
                                  <p:childTnLst>
                                    <p:set>
                                      <p:cBhvr>
                                        <p:cTn id="21" dur="1" fill="hold">
                                          <p:stCondLst>
                                            <p:cond delay="0"/>
                                          </p:stCondLst>
                                        </p:cTn>
                                        <p:tgtEl>
                                          <p:spTgt spid="79"/>
                                        </p:tgtEl>
                                        <p:attrNameLst>
                                          <p:attrName>style.visibility</p:attrName>
                                        </p:attrNameLst>
                                      </p:cBhvr>
                                      <p:to>
                                        <p:strVal val="visible"/>
                                      </p:to>
                                    </p:set>
                                    <p:animEffect transition="in" filter="wipe(right)">
                                      <p:cBhvr>
                                        <p:cTn id="22" dur="1000"/>
                                        <p:tgtEl>
                                          <p:spTgt spid="79"/>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8" fill="hold" nodeType="clickEffect">
                                  <p:stCondLst>
                                    <p:cond delay="0"/>
                                  </p:stCondLst>
                                  <p:childTnLst>
                                    <p:set>
                                      <p:cBhvr>
                                        <p:cTn id="26" dur="1" fill="hold">
                                          <p:stCondLst>
                                            <p:cond delay="0"/>
                                          </p:stCondLst>
                                        </p:cTn>
                                        <p:tgtEl>
                                          <p:spTgt spid="129"/>
                                        </p:tgtEl>
                                        <p:attrNameLst>
                                          <p:attrName>style.visibility</p:attrName>
                                        </p:attrNameLst>
                                      </p:cBhvr>
                                      <p:to>
                                        <p:strVal val="visible"/>
                                      </p:to>
                                    </p:set>
                                    <p:animEffect transition="in" filter="slide(fromLeft)">
                                      <p:cBhvr>
                                        <p:cTn id="27" dur="1000"/>
                                        <p:tgtEl>
                                          <p:spTgt spid="1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 name="组合 17"/>
          <p:cNvGrpSpPr/>
          <p:nvPr/>
        </p:nvGrpSpPr>
        <p:grpSpPr>
          <a:xfrm>
            <a:off x="392432" y="769746"/>
            <a:ext cx="4166868" cy="420971"/>
            <a:chOff x="670560" y="892917"/>
            <a:chExt cx="4166868" cy="420971"/>
          </a:xfrm>
        </p:grpSpPr>
        <p:sp>
          <p:nvSpPr>
            <p:cNvPr id="21" name="矩形 20"/>
            <p:cNvSpPr/>
            <p:nvPr/>
          </p:nvSpPr>
          <p:spPr>
            <a:xfrm>
              <a:off x="1035232" y="913778"/>
              <a:ext cx="3802196"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集成电路数据选择器</a:t>
              </a:r>
              <a:r>
                <a:rPr lang="zh-CN" altLang="en-US"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rPr>
                <a:t>74×151</a:t>
              </a:r>
              <a:r>
                <a:rPr lang="zh-CN" altLang="en-US"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rPr>
                <a:t>） </a:t>
              </a:r>
              <a:endParaRPr lang="zh-CN" altLang="en-US" b="1" dirty="0">
                <a:solidFill>
                  <a:srgbClr val="FF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pic>
          <p:nvPicPr>
            <p:cNvPr id="22"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26" name="组合 25"/>
          <p:cNvGrpSpPr/>
          <p:nvPr/>
        </p:nvGrpSpPr>
        <p:grpSpPr>
          <a:xfrm>
            <a:off x="565150" y="1266899"/>
            <a:ext cx="3244850" cy="3263901"/>
            <a:chOff x="787400" y="1454149"/>
            <a:chExt cx="3244850" cy="3263901"/>
          </a:xfrm>
        </p:grpSpPr>
        <p:graphicFrame>
          <p:nvGraphicFramePr>
            <p:cNvPr id="144476" name="Object 92"/>
            <p:cNvGraphicFramePr>
              <a:graphicFrameLocks noChangeAspect="1"/>
            </p:cNvGraphicFramePr>
            <p:nvPr/>
          </p:nvGraphicFramePr>
          <p:xfrm>
            <a:off x="873125" y="1454149"/>
            <a:ext cx="3082925" cy="3263901"/>
          </p:xfrm>
          <a:graphic>
            <a:graphicData uri="http://schemas.openxmlformats.org/presentationml/2006/ole">
              <mc:AlternateContent xmlns:mc="http://schemas.openxmlformats.org/markup-compatibility/2006">
                <mc:Choice xmlns:v="urn:schemas-microsoft-com:vml" Requires="v">
                  <p:oleObj spid="_x0000_s55325" name="Visio" r:id="rId2" imgW="3832860" imgH="4533265" progId="Visio.Drawing.11">
                    <p:embed/>
                  </p:oleObj>
                </mc:Choice>
                <mc:Fallback>
                  <p:oleObj name="Visio" r:id="rId2" imgW="3832860" imgH="4533265" progId="Visio.Drawing.11">
                    <p:embed/>
                    <p:pic>
                      <p:nvPicPr>
                        <p:cNvPr id="0" name="Object 9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3125" y="1454149"/>
                          <a:ext cx="3082925" cy="326390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sp>
          <p:nvSpPr>
            <p:cNvPr id="24" name="圆角矩形 23"/>
            <p:cNvSpPr/>
            <p:nvPr/>
          </p:nvSpPr>
          <p:spPr>
            <a:xfrm>
              <a:off x="787400" y="1479550"/>
              <a:ext cx="3244850" cy="3232150"/>
            </a:xfrm>
            <a:prstGeom prst="roundRect">
              <a:avLst>
                <a:gd name="adj" fmla="val 2959"/>
              </a:avLst>
            </a:prstGeom>
            <a:solidFill>
              <a:schemeClr val="bg1">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TextBox 24"/>
            <p:cNvSpPr txBox="1"/>
            <p:nvPr/>
          </p:nvSpPr>
          <p:spPr>
            <a:xfrm>
              <a:off x="3606800" y="2019300"/>
              <a:ext cx="179536" cy="215444"/>
            </a:xfrm>
            <a:prstGeom prst="rect">
              <a:avLst/>
            </a:prstGeom>
            <a:solidFill>
              <a:schemeClr val="bg1"/>
            </a:solidFill>
          </p:spPr>
          <p:txBody>
            <a:bodyPr wrap="none" lIns="0" tIns="0" rIns="0" bIns="0" rtlCol="0">
              <a:spAutoFit/>
            </a:bodyPr>
            <a:lstStyle/>
            <a:p>
              <a:r>
                <a:rPr lang="en-US" altLang="zh-CN" sz="1400" b="1" dirty="0">
                  <a:latin typeface="Times New Roman" panose="02020603050405020304" pitchFamily="18" charset="0"/>
                  <a:cs typeface="Times New Roman" panose="02020603050405020304" pitchFamily="18" charset="0"/>
                </a:rPr>
                <a:t>W</a:t>
              </a:r>
              <a:endParaRPr lang="zh-CN" altLang="en-US" sz="1400" b="1" dirty="0">
                <a:latin typeface="Times New Roman" panose="02020603050405020304" pitchFamily="18" charset="0"/>
                <a:cs typeface="Times New Roman" panose="02020603050405020304" pitchFamily="18" charset="0"/>
              </a:endParaRPr>
            </a:p>
          </p:txBody>
        </p:sp>
      </p:grpSp>
      <p:graphicFrame>
        <p:nvGraphicFramePr>
          <p:cNvPr id="12291" name="Object 3"/>
          <p:cNvGraphicFramePr>
            <a:graphicFrameLocks noChangeAspect="1"/>
          </p:cNvGraphicFramePr>
          <p:nvPr/>
        </p:nvGraphicFramePr>
        <p:xfrm>
          <a:off x="3910013" y="1356489"/>
          <a:ext cx="4611687" cy="897836"/>
        </p:xfrm>
        <a:graphic>
          <a:graphicData uri="http://schemas.openxmlformats.org/presentationml/2006/ole">
            <mc:AlternateContent xmlns:mc="http://schemas.openxmlformats.org/markup-compatibility/2006">
              <mc:Choice xmlns:v="urn:schemas-microsoft-com:vml" Requires="v">
                <p:oleObj spid="_x0000_s55326" name="Equation" r:id="rId4" imgW="3403600" imgH="635000" progId="Equation.DSMT4">
                  <p:embed/>
                </p:oleObj>
              </mc:Choice>
              <mc:Fallback>
                <p:oleObj name="Equation" r:id="rId4" imgW="3403600" imgH="6350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10013" y="1356489"/>
                        <a:ext cx="4611687" cy="8978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 name="圆角矩形 9"/>
          <p:cNvSpPr/>
          <p:nvPr/>
        </p:nvSpPr>
        <p:spPr>
          <a:xfrm>
            <a:off x="812800" y="2105873"/>
            <a:ext cx="2305050" cy="208777"/>
          </a:xfrm>
          <a:prstGeom prst="roundRect">
            <a:avLst>
              <a:gd name="adj" fmla="val 20111"/>
            </a:avLst>
          </a:prstGeom>
          <a:solidFill>
            <a:srgbClr val="FF00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圆角矩形 10"/>
          <p:cNvSpPr/>
          <p:nvPr/>
        </p:nvSpPr>
        <p:spPr>
          <a:xfrm>
            <a:off x="812800" y="2353523"/>
            <a:ext cx="2305050" cy="2101077"/>
          </a:xfrm>
          <a:prstGeom prst="roundRect">
            <a:avLst>
              <a:gd name="adj" fmla="val 2478"/>
            </a:avLst>
          </a:prstGeom>
          <a:solidFill>
            <a:srgbClr val="FF00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2292" name="Object 4"/>
          <p:cNvGraphicFramePr>
            <a:graphicFrameLocks noChangeAspect="1"/>
          </p:cNvGraphicFramePr>
          <p:nvPr/>
        </p:nvGraphicFramePr>
        <p:xfrm>
          <a:off x="4102100" y="2314650"/>
          <a:ext cx="1082488" cy="584200"/>
        </p:xfrm>
        <a:graphic>
          <a:graphicData uri="http://schemas.openxmlformats.org/presentationml/2006/ole">
            <mc:AlternateContent xmlns:mc="http://schemas.openxmlformats.org/markup-compatibility/2006">
              <mc:Choice xmlns:v="urn:schemas-microsoft-com:vml" Requires="v">
                <p:oleObj spid="_x0000_s55327" name="Equation" r:id="rId6" imgW="799465" imgH="431800" progId="Equation.DSMT4">
                  <p:embed/>
                </p:oleObj>
              </mc:Choice>
              <mc:Fallback>
                <p:oleObj name="Equation" r:id="rId6" imgW="799465" imgH="4318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102100" y="2314650"/>
                        <a:ext cx="1082488" cy="58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4" name="AutoShape 9"/>
          <p:cNvSpPr>
            <a:spLocks noChangeArrowheads="1"/>
          </p:cNvSpPr>
          <p:nvPr/>
        </p:nvSpPr>
        <p:spPr bwMode="auto">
          <a:xfrm>
            <a:off x="4140200" y="2975050"/>
            <a:ext cx="977900" cy="400050"/>
          </a:xfrm>
          <a:prstGeom prst="wedgeRoundRectCallout">
            <a:avLst>
              <a:gd name="adj1" fmla="val 21496"/>
              <a:gd name="adj2" fmla="val -107304"/>
              <a:gd name="adj3" fmla="val 16667"/>
            </a:avLst>
          </a:prstGeom>
          <a:solidFill>
            <a:srgbClr val="FFFF66"/>
          </a:solidFill>
          <a:ln w="9525" algn="ctr">
            <a:solidFill>
              <a:srgbClr val="FF0000"/>
            </a:solidFill>
            <a:miter lim="800000"/>
          </a:ln>
        </p:spPr>
        <p:txBody>
          <a:bodyPr lIns="0" rIns="0" anchor="ctr"/>
          <a:lstStyle/>
          <a:p>
            <a:pPr algn="ctr"/>
            <a:r>
              <a:rPr lang="en-US" altLang="zh-CN"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12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12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12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的第</a:t>
            </a:r>
            <a:r>
              <a:rPr lang="en-US" altLang="zh-CN" sz="12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个最小项</a:t>
            </a:r>
            <a:endPar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5" name="AutoShape 9"/>
          <p:cNvSpPr>
            <a:spLocks noChangeArrowheads="1"/>
          </p:cNvSpPr>
          <p:nvPr/>
        </p:nvSpPr>
        <p:spPr bwMode="auto">
          <a:xfrm>
            <a:off x="5194300" y="2975050"/>
            <a:ext cx="835240" cy="400050"/>
          </a:xfrm>
          <a:prstGeom prst="wedgeRoundRectCallout">
            <a:avLst>
              <a:gd name="adj1" fmla="val -51231"/>
              <a:gd name="adj2" fmla="val -107304"/>
              <a:gd name="adj3" fmla="val 16667"/>
            </a:avLst>
          </a:prstGeom>
          <a:solidFill>
            <a:srgbClr val="FFFF66"/>
          </a:solidFill>
          <a:ln w="9525" algn="ctr">
            <a:solidFill>
              <a:srgbClr val="FF0000"/>
            </a:solidFill>
            <a:miter lim="800000"/>
          </a:ln>
        </p:spPr>
        <p:txBody>
          <a:bodyPr lIns="0" rIns="0" anchor="ctr"/>
          <a:lstStyle/>
          <a:p>
            <a:pPr algn="ctr"/>
            <a:r>
              <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第</a:t>
            </a:r>
            <a:r>
              <a:rPr lang="en-US" altLang="zh-CN" sz="12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个数据输入</a:t>
            </a:r>
            <a:endPar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7" name="圆角矩形 16"/>
          <p:cNvSpPr/>
          <p:nvPr/>
        </p:nvSpPr>
        <p:spPr>
          <a:xfrm>
            <a:off x="3937000" y="3641800"/>
            <a:ext cx="4819650" cy="876300"/>
          </a:xfrm>
          <a:prstGeom prst="roundRect">
            <a:avLst>
              <a:gd name="adj" fmla="val 10417"/>
            </a:avLst>
          </a:prstGeo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pPr>
            <a:r>
              <a:rPr lang="zh-CN" altLang="en-US"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当使能有效时，对应</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1400" baseline="-250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1400" baseline="-250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1400" baseline="-250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的某种取值组合，对应该取值组合的最小项取值为“</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”，而其余最小项取值为“</a:t>
            </a:r>
            <a:r>
              <a:rPr lang="en-US" altLang="zh-CN"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”，此时，输出</a:t>
            </a:r>
            <a:r>
              <a:rPr lang="en-US" altLang="zh-CN" sz="1400" i="1"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Y </a:t>
            </a:r>
            <a:r>
              <a:rPr lang="zh-CN" altLang="en-US" sz="1400" dirty="0">
                <a:solidFill>
                  <a:schemeClr val="bg1"/>
                </a:solidFill>
                <a:latin typeface="Times New Roman" panose="02020603050405020304" pitchFamily="18" charset="0"/>
                <a:ea typeface="微软雅黑" panose="020B0503020204020204" pitchFamily="34" charset="-122"/>
                <a:cs typeface="Times New Roman" panose="02020603050405020304" pitchFamily="18" charset="0"/>
              </a:rPr>
              <a:t>输出该取值组合对应的输入端的信号。</a:t>
            </a:r>
            <a:endParaRPr lang="zh-CN" altLang="en-US" sz="1400" dirty="0">
              <a:solidFill>
                <a:schemeClr val="bg1"/>
              </a:solidFill>
              <a:latin typeface="Times New Roman" panose="02020603050405020304" pitchFamily="18" charset="0"/>
              <a:cs typeface="Times New Roman" panose="02020603050405020304" pitchFamily="18" charset="0"/>
            </a:endParaRPr>
          </a:p>
        </p:txBody>
      </p:sp>
      <p:sp>
        <p:nvSpPr>
          <p:cNvPr id="27" name="圆角矩形 26"/>
          <p:cNvSpPr/>
          <p:nvPr/>
        </p:nvSpPr>
        <p:spPr>
          <a:xfrm>
            <a:off x="3259083" y="2123675"/>
            <a:ext cx="406400" cy="2324425"/>
          </a:xfrm>
          <a:prstGeom prst="roundRect">
            <a:avLst>
              <a:gd name="adj" fmla="val 20111"/>
            </a:avLst>
          </a:prstGeom>
          <a:solidFill>
            <a:srgbClr val="FF00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4668248" y="1732550"/>
            <a:ext cx="3447727" cy="0"/>
            <a:chOff x="4668248" y="1732550"/>
            <a:chExt cx="3447727" cy="0"/>
          </a:xfrm>
        </p:grpSpPr>
        <p:cxnSp>
          <p:nvCxnSpPr>
            <p:cNvPr id="28" name="直接连接符 27"/>
            <p:cNvCxnSpPr/>
            <p:nvPr/>
          </p:nvCxnSpPr>
          <p:spPr>
            <a:xfrm>
              <a:off x="4668248" y="1732550"/>
              <a:ext cx="5040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5649490" y="1732550"/>
              <a:ext cx="5040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6630732" y="1732550"/>
              <a:ext cx="5040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a:off x="7611975" y="1732550"/>
              <a:ext cx="5040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3" name="组合 2"/>
          <p:cNvGrpSpPr/>
          <p:nvPr/>
        </p:nvGrpSpPr>
        <p:grpSpPr>
          <a:xfrm>
            <a:off x="4738147" y="2194334"/>
            <a:ext cx="3447727" cy="0"/>
            <a:chOff x="4738147" y="2194334"/>
            <a:chExt cx="3447727" cy="0"/>
          </a:xfrm>
        </p:grpSpPr>
        <p:cxnSp>
          <p:nvCxnSpPr>
            <p:cNvPr id="32" name="直接连接符 31"/>
            <p:cNvCxnSpPr/>
            <p:nvPr/>
          </p:nvCxnSpPr>
          <p:spPr>
            <a:xfrm>
              <a:off x="4738147" y="2194334"/>
              <a:ext cx="5040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5719389" y="2194334"/>
              <a:ext cx="5040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a:off x="6700631" y="2194334"/>
              <a:ext cx="5040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a:off x="7681874" y="2194334"/>
              <a:ext cx="504000"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41" name="组合 40"/>
          <p:cNvGrpSpPr/>
          <p:nvPr/>
        </p:nvGrpSpPr>
        <p:grpSpPr>
          <a:xfrm>
            <a:off x="506831" y="4622379"/>
            <a:ext cx="8217783" cy="500438"/>
            <a:chOff x="506831" y="4622379"/>
            <a:chExt cx="8217783" cy="500438"/>
          </a:xfrm>
        </p:grpSpPr>
        <p:sp>
          <p:nvSpPr>
            <p:cNvPr id="39" name="圆角矩形 38"/>
            <p:cNvSpPr/>
            <p:nvPr/>
          </p:nvSpPr>
          <p:spPr>
            <a:xfrm>
              <a:off x="506831" y="4622379"/>
              <a:ext cx="8217783" cy="500438"/>
            </a:xfrm>
            <a:prstGeom prst="roundRect">
              <a:avLst/>
            </a:prstGeom>
            <a:solidFill>
              <a:srgbClr val="FFFF00"/>
            </a:solidFill>
            <a:ln w="28575">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p:cNvSpPr/>
            <p:nvPr/>
          </p:nvSpPr>
          <p:spPr>
            <a:xfrm>
              <a:off x="532827" y="4718655"/>
              <a:ext cx="8088659" cy="338554"/>
            </a:xfrm>
            <a:prstGeom prst="rect">
              <a:avLst/>
            </a:prstGeom>
          </p:spPr>
          <p:txBody>
            <a:bodyPr wrap="square">
              <a:spAutoFit/>
            </a:bodyPr>
            <a:lstStyle/>
            <a:p>
              <a:r>
                <a:rPr lang="zh-CN" altLang="en-US" sz="1600" dirty="0">
                  <a:solidFill>
                    <a:srgbClr val="000000"/>
                  </a:solidFill>
                  <a:latin typeface="微软雅黑" panose="020B0503020204020204" pitchFamily="34" charset="-122"/>
                  <a:ea typeface="微软雅黑" panose="020B0503020204020204" pitchFamily="34" charset="-122"/>
                </a:rPr>
                <a:t>其他常见集成电路数据选择器：</a:t>
              </a:r>
              <a:r>
                <a:rPr lang="en-US" altLang="zh-CN" sz="1600" dirty="0">
                  <a:solidFill>
                    <a:srgbClr val="000000"/>
                  </a:solidFill>
                  <a:latin typeface="微软雅黑" panose="020B0503020204020204" pitchFamily="34" charset="-122"/>
                  <a:ea typeface="微软雅黑" panose="020B0503020204020204" pitchFamily="34" charset="-122"/>
                </a:rPr>
                <a:t>74157(</a:t>
              </a:r>
              <a:r>
                <a:rPr lang="zh-CN" altLang="en-US" sz="1600" dirty="0">
                  <a:solidFill>
                    <a:srgbClr val="000000"/>
                  </a:solidFill>
                  <a:latin typeface="微软雅黑" panose="020B0503020204020204" pitchFamily="34" charset="-122"/>
                  <a:ea typeface="微软雅黑" panose="020B0503020204020204" pitchFamily="34" charset="-122"/>
                </a:rPr>
                <a:t>四</a:t>
              </a:r>
              <a:r>
                <a:rPr lang="en-US" altLang="zh-CN" sz="1600" dirty="0">
                  <a:solidFill>
                    <a:srgbClr val="000000"/>
                  </a:solidFill>
                  <a:latin typeface="微软雅黑" panose="020B0503020204020204" pitchFamily="34" charset="-122"/>
                  <a:ea typeface="微软雅黑" panose="020B0503020204020204" pitchFamily="34" charset="-122"/>
                </a:rPr>
                <a:t>2</a:t>
              </a:r>
              <a:r>
                <a:rPr lang="zh-CN" altLang="en-US" sz="1600" dirty="0">
                  <a:solidFill>
                    <a:srgbClr val="000000"/>
                  </a:solidFill>
                  <a:latin typeface="微软雅黑" panose="020B0503020204020204" pitchFamily="34" charset="-122"/>
                  <a:ea typeface="微软雅黑" panose="020B0503020204020204" pitchFamily="34" charset="-122"/>
                </a:rPr>
                <a:t>选</a:t>
              </a:r>
              <a:r>
                <a:rPr lang="en-US" altLang="zh-CN" sz="1600" dirty="0">
                  <a:solidFill>
                    <a:srgbClr val="000000"/>
                  </a:solidFill>
                  <a:latin typeface="微软雅黑" panose="020B0503020204020204" pitchFamily="34" charset="-122"/>
                  <a:ea typeface="微软雅黑" panose="020B0503020204020204" pitchFamily="34" charset="-122"/>
                </a:rPr>
                <a:t>1)</a:t>
              </a:r>
              <a:r>
                <a:rPr lang="zh-CN" altLang="en-US" sz="1600" dirty="0">
                  <a:solidFill>
                    <a:srgbClr val="000000"/>
                  </a:solidFill>
                  <a:latin typeface="微软雅黑" panose="020B0503020204020204" pitchFamily="34" charset="-122"/>
                  <a:ea typeface="微软雅黑" panose="020B0503020204020204" pitchFamily="34" charset="-122"/>
                </a:rPr>
                <a:t>；</a:t>
              </a:r>
              <a:r>
                <a:rPr lang="en-US" altLang="zh-CN" sz="1600" dirty="0">
                  <a:solidFill>
                    <a:srgbClr val="000000"/>
                  </a:solidFill>
                  <a:latin typeface="微软雅黑" panose="020B0503020204020204" pitchFamily="34" charset="-122"/>
                  <a:ea typeface="微软雅黑" panose="020B0503020204020204" pitchFamily="34" charset="-122"/>
                </a:rPr>
                <a:t>74153( </a:t>
              </a:r>
              <a:r>
                <a:rPr lang="zh-CN" altLang="en-US" sz="1600" dirty="0">
                  <a:solidFill>
                    <a:srgbClr val="000000"/>
                  </a:solidFill>
                  <a:latin typeface="微软雅黑" panose="020B0503020204020204" pitchFamily="34" charset="-122"/>
                  <a:ea typeface="微软雅黑" panose="020B0503020204020204" pitchFamily="34" charset="-122"/>
                </a:rPr>
                <a:t>双</a:t>
              </a:r>
              <a:r>
                <a:rPr lang="en-US" altLang="zh-CN" sz="1600" dirty="0">
                  <a:solidFill>
                    <a:srgbClr val="000000"/>
                  </a:solidFill>
                  <a:latin typeface="微软雅黑" panose="020B0503020204020204" pitchFamily="34" charset="-122"/>
                  <a:ea typeface="微软雅黑" panose="020B0503020204020204" pitchFamily="34" charset="-122"/>
                </a:rPr>
                <a:t>4</a:t>
              </a:r>
              <a:r>
                <a:rPr lang="zh-CN" altLang="en-US" sz="1600" dirty="0">
                  <a:solidFill>
                    <a:srgbClr val="000000"/>
                  </a:solidFill>
                  <a:latin typeface="微软雅黑" panose="020B0503020204020204" pitchFamily="34" charset="-122"/>
                  <a:ea typeface="微软雅黑" panose="020B0503020204020204" pitchFamily="34" charset="-122"/>
                </a:rPr>
                <a:t>选</a:t>
              </a:r>
              <a:r>
                <a:rPr lang="en-US" altLang="zh-CN" sz="1600" dirty="0">
                  <a:solidFill>
                    <a:srgbClr val="000000"/>
                  </a:solidFill>
                  <a:latin typeface="微软雅黑" panose="020B0503020204020204" pitchFamily="34" charset="-122"/>
                  <a:ea typeface="微软雅黑" panose="020B0503020204020204" pitchFamily="34" charset="-122"/>
                </a:rPr>
                <a:t>1)</a:t>
              </a:r>
              <a:r>
                <a:rPr lang="zh-CN" altLang="en-US" sz="1600" dirty="0">
                  <a:solidFill>
                    <a:srgbClr val="000000"/>
                  </a:solidFill>
                  <a:latin typeface="微软雅黑" panose="020B0503020204020204" pitchFamily="34" charset="-122"/>
                  <a:ea typeface="微软雅黑" panose="020B0503020204020204" pitchFamily="34" charset="-122"/>
                </a:rPr>
                <a:t>；</a:t>
              </a:r>
              <a:r>
                <a:rPr lang="en-US" altLang="zh-CN" sz="1600" dirty="0">
                  <a:solidFill>
                    <a:srgbClr val="000000"/>
                  </a:solidFill>
                  <a:latin typeface="微软雅黑" panose="020B0503020204020204" pitchFamily="34" charset="-122"/>
                  <a:ea typeface="微软雅黑" panose="020B0503020204020204" pitchFamily="34" charset="-122"/>
                </a:rPr>
                <a:t>74150(16</a:t>
              </a:r>
              <a:r>
                <a:rPr lang="zh-CN" altLang="en-US" sz="1600" dirty="0">
                  <a:solidFill>
                    <a:srgbClr val="000000"/>
                  </a:solidFill>
                  <a:latin typeface="微软雅黑" panose="020B0503020204020204" pitchFamily="34" charset="-122"/>
                  <a:ea typeface="微软雅黑" panose="020B0503020204020204" pitchFamily="34" charset="-122"/>
                </a:rPr>
                <a:t>选</a:t>
              </a:r>
              <a:r>
                <a:rPr lang="en-US" altLang="zh-CN" sz="1600" dirty="0">
                  <a:solidFill>
                    <a:srgbClr val="000000"/>
                  </a:solidFill>
                  <a:latin typeface="微软雅黑" panose="020B0503020204020204" pitchFamily="34" charset="-122"/>
                  <a:ea typeface="微软雅黑" panose="020B0503020204020204" pitchFamily="34" charset="-122"/>
                </a:rPr>
                <a:t>1) </a:t>
              </a:r>
              <a:r>
                <a:rPr lang="zh-CN" altLang="en-US" sz="1600" dirty="0">
                  <a:solidFill>
                    <a:srgbClr val="000000"/>
                  </a:solidFill>
                  <a:latin typeface="微软雅黑" panose="020B0503020204020204" pitchFamily="34" charset="-122"/>
                  <a:ea typeface="微软雅黑" panose="020B0503020204020204" pitchFamily="34" charset="-122"/>
                </a:rPr>
                <a:t>等。</a:t>
              </a:r>
              <a:endParaRPr lang="zh-CN" altLang="en-US" sz="1600" dirty="0">
                <a:latin typeface="微软雅黑" panose="020B0503020204020204" pitchFamily="34" charset="-122"/>
                <a:ea typeface="微软雅黑" panose="020B0503020204020204" pitchFamily="34" charset="-122"/>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10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1000"/>
                                        <p:tgtEl>
                                          <p:spTgt spid="11"/>
                                        </p:tgtEl>
                                      </p:cBhvr>
                                    </p:animEffect>
                                  </p:childTnLst>
                                </p:cTn>
                              </p:par>
                            </p:childTnLst>
                          </p:cTn>
                        </p:par>
                        <p:par>
                          <p:cTn id="13" fill="hold">
                            <p:stCondLst>
                              <p:cond delay="1000"/>
                            </p:stCondLst>
                            <p:childTnLst>
                              <p:par>
                                <p:cTn id="14" presetID="22" presetClass="entr" presetSubtype="8" fill="hold" grpId="0" nodeType="after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wipe(left)">
                                      <p:cBhvr>
                                        <p:cTn id="16" dur="1000"/>
                                        <p:tgtEl>
                                          <p:spTgt spid="2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12291"/>
                                        </p:tgtEl>
                                        <p:attrNameLst>
                                          <p:attrName>style.visibility</p:attrName>
                                        </p:attrNameLst>
                                      </p:cBhvr>
                                      <p:to>
                                        <p:strVal val="visible"/>
                                      </p:to>
                                    </p:set>
                                    <p:animEffect transition="in" filter="wipe(left)">
                                      <p:cBhvr>
                                        <p:cTn id="21" dur="1000"/>
                                        <p:tgtEl>
                                          <p:spTgt spid="12291"/>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4"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down)">
                                      <p:cBhvr>
                                        <p:cTn id="26" dur="1000"/>
                                        <p:tgtEl>
                                          <p:spTgt spid="2"/>
                                        </p:tgtEl>
                                      </p:cBhvr>
                                    </p:animEffect>
                                  </p:childTnLst>
                                </p:cTn>
                              </p:par>
                              <p:par>
                                <p:cTn id="27" presetID="22" presetClass="entr" presetSubtype="4" fill="hold" nodeType="with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wipe(down)">
                                      <p:cBhvr>
                                        <p:cTn id="29" dur="1000"/>
                                        <p:tgtEl>
                                          <p:spTgt spid="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2292"/>
                                        </p:tgtEl>
                                        <p:attrNameLst>
                                          <p:attrName>style.visibility</p:attrName>
                                        </p:attrNameLst>
                                      </p:cBhvr>
                                      <p:to>
                                        <p:strVal val="visible"/>
                                      </p:to>
                                    </p:set>
                                    <p:animEffect transition="in" filter="wipe(left)">
                                      <p:cBhvr>
                                        <p:cTn id="34" dur="1000"/>
                                        <p:tgtEl>
                                          <p:spTgt spid="12292"/>
                                        </p:tgtEl>
                                      </p:cBhvr>
                                    </p:animEffect>
                                  </p:childTnLst>
                                </p:cTn>
                              </p:par>
                            </p:childTnLst>
                          </p:cTn>
                        </p:par>
                        <p:par>
                          <p:cTn id="35" fill="hold">
                            <p:stCondLst>
                              <p:cond delay="1000"/>
                            </p:stCondLst>
                            <p:childTnLst>
                              <p:par>
                                <p:cTn id="36" presetID="22" presetClass="entr" presetSubtype="1" fill="hold" grpId="0" nodeType="after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up)">
                                      <p:cBhvr>
                                        <p:cTn id="38" dur="1000"/>
                                        <p:tgtEl>
                                          <p:spTgt spid="14"/>
                                        </p:tgtEl>
                                      </p:cBhvr>
                                    </p:animEffect>
                                  </p:childTnLst>
                                </p:cTn>
                              </p:par>
                            </p:childTnLst>
                          </p:cTn>
                        </p:par>
                        <p:par>
                          <p:cTn id="39" fill="hold">
                            <p:stCondLst>
                              <p:cond delay="2000"/>
                            </p:stCondLst>
                            <p:childTnLst>
                              <p:par>
                                <p:cTn id="40" presetID="22" presetClass="entr" presetSubtype="1"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up)">
                                      <p:cBhvr>
                                        <p:cTn id="42" dur="10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slide(fromBottom)">
                                      <p:cBhvr>
                                        <p:cTn id="47" dur="1000"/>
                                        <p:tgtEl>
                                          <p:spTgt spid="17"/>
                                        </p:tgtEl>
                                      </p:cBhvr>
                                    </p:animEffect>
                                  </p:childTnLst>
                                </p:cTn>
                              </p:par>
                            </p:childTnLst>
                          </p:cTn>
                        </p:par>
                      </p:childTnLst>
                    </p:cTn>
                  </p:par>
                  <p:par>
                    <p:cTn id="48" fill="hold">
                      <p:stCondLst>
                        <p:cond delay="indefinite"/>
                      </p:stCondLst>
                      <p:childTnLst>
                        <p:par>
                          <p:cTn id="49" fill="hold">
                            <p:stCondLst>
                              <p:cond delay="0"/>
                            </p:stCondLst>
                            <p:childTnLst>
                              <p:par>
                                <p:cTn id="50" presetID="12" presetClass="entr" presetSubtype="4" fill="hold" nodeType="clickEffect">
                                  <p:stCondLst>
                                    <p:cond delay="0"/>
                                  </p:stCondLst>
                                  <p:childTnLst>
                                    <p:set>
                                      <p:cBhvr>
                                        <p:cTn id="51" dur="1" fill="hold">
                                          <p:stCondLst>
                                            <p:cond delay="0"/>
                                          </p:stCondLst>
                                        </p:cTn>
                                        <p:tgtEl>
                                          <p:spTgt spid="41"/>
                                        </p:tgtEl>
                                        <p:attrNameLst>
                                          <p:attrName>style.visibility</p:attrName>
                                        </p:attrNameLst>
                                      </p:cBhvr>
                                      <p:to>
                                        <p:strVal val="visible"/>
                                      </p:to>
                                    </p:set>
                                    <p:animEffect transition="in" filter="slide(fromBottom)">
                                      <p:cBhvr>
                                        <p:cTn id="52" dur="10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4" grpId="0" animBg="1"/>
      <p:bldP spid="15" grpId="0" animBg="1"/>
      <p:bldP spid="17" grpId="0" animBg="1"/>
      <p:bldP spid="27" grpId="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组合 17"/>
          <p:cNvGrpSpPr/>
          <p:nvPr/>
        </p:nvGrpSpPr>
        <p:grpSpPr>
          <a:xfrm>
            <a:off x="392432" y="769746"/>
            <a:ext cx="4933552" cy="420971"/>
            <a:chOff x="670560" y="892917"/>
            <a:chExt cx="4933552" cy="420971"/>
          </a:xfrm>
        </p:grpSpPr>
        <p:sp>
          <p:nvSpPr>
            <p:cNvPr id="70" name="矩形 69"/>
            <p:cNvSpPr/>
            <p:nvPr/>
          </p:nvSpPr>
          <p:spPr>
            <a:xfrm>
              <a:off x="1035233" y="913778"/>
              <a:ext cx="4568879"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集成数据选择器的应用（</a:t>
              </a:r>
              <a:r>
                <a:rPr lang="en-US" altLang="zh-CN" sz="2000" b="1" dirty="0">
                  <a:solidFill>
                    <a:srgbClr val="FF00FF"/>
                  </a:solidFill>
                  <a:latin typeface="微软雅黑" panose="020B0503020204020204" pitchFamily="34" charset="-122"/>
                  <a:ea typeface="微软雅黑" panose="020B0503020204020204" pitchFamily="34" charset="-122"/>
                </a:rPr>
                <a:t>74151</a:t>
              </a:r>
              <a:r>
                <a:rPr lang="zh-CN" altLang="en-US" sz="2000" b="1" dirty="0">
                  <a:solidFill>
                    <a:srgbClr val="FF00FF"/>
                  </a:solidFill>
                  <a:latin typeface="微软雅黑" panose="020B0503020204020204" pitchFamily="34" charset="-122"/>
                  <a:ea typeface="微软雅黑" panose="020B0503020204020204" pitchFamily="34" charset="-122"/>
                </a:rPr>
                <a:t>为例</a:t>
              </a:r>
              <a:r>
                <a:rPr lang="zh-CN" altLang="en-US" sz="2000" b="1" dirty="0">
                  <a:solidFill>
                    <a:srgbClr val="002060"/>
                  </a:solidFill>
                  <a:latin typeface="微软雅黑" panose="020B0503020204020204" pitchFamily="34" charset="-122"/>
                  <a:ea typeface="微软雅黑" panose="020B0503020204020204" pitchFamily="34" charset="-122"/>
                </a:rPr>
                <a: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7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17" name="Rectangle 27"/>
          <p:cNvSpPr>
            <a:spLocks noChangeArrowheads="1"/>
          </p:cNvSpPr>
          <p:nvPr/>
        </p:nvSpPr>
        <p:spPr bwMode="auto">
          <a:xfrm>
            <a:off x="577511" y="1237292"/>
            <a:ext cx="3018212" cy="369332"/>
          </a:xfrm>
          <a:prstGeom prst="rect">
            <a:avLst/>
          </a:prstGeom>
          <a:noFill/>
          <a:ln w="9525" algn="ctr">
            <a:noFill/>
            <a:miter lim="800000"/>
          </a:ln>
          <a:effectLst/>
        </p:spPr>
        <p:txBody>
          <a:bodyPr wrap="square" lIns="0" rIns="0">
            <a:spAutoFit/>
          </a:bodyPr>
          <a:lstStyle/>
          <a:p>
            <a:pPr>
              <a:defRPr/>
            </a:pPr>
            <a:r>
              <a:rPr lang="en-US" altLang="zh-CN" b="1" dirty="0">
                <a:solidFill>
                  <a:srgbClr val="6600FF"/>
                </a:solidFill>
                <a:latin typeface="黑体" panose="02010609060101010101" pitchFamily="49" charset="-122"/>
                <a:ea typeface="黑体" panose="02010609060101010101" pitchFamily="49" charset="-122"/>
              </a:rPr>
              <a:t>1</a:t>
            </a:r>
            <a:r>
              <a:rPr lang="zh-CN" altLang="en-US" b="1" dirty="0">
                <a:solidFill>
                  <a:srgbClr val="6600FF"/>
                </a:solidFill>
                <a:latin typeface="黑体" panose="02010609060101010101" pitchFamily="49" charset="-122"/>
                <a:ea typeface="黑体" panose="02010609060101010101" pitchFamily="49" charset="-122"/>
              </a:rPr>
              <a:t>、数据选择器的扩展</a:t>
            </a:r>
            <a:endParaRPr lang="zh-CN" altLang="en-US" b="1" dirty="0">
              <a:solidFill>
                <a:srgbClr val="6600FF"/>
              </a:solidFill>
              <a:latin typeface="黑体" panose="02010609060101010101" pitchFamily="49" charset="-122"/>
              <a:ea typeface="黑体" panose="02010609060101010101" pitchFamily="49" charset="-122"/>
            </a:endParaRPr>
          </a:p>
        </p:txBody>
      </p:sp>
      <p:sp>
        <p:nvSpPr>
          <p:cNvPr id="155" name="十角星 154"/>
          <p:cNvSpPr/>
          <p:nvPr/>
        </p:nvSpPr>
        <p:spPr>
          <a:xfrm>
            <a:off x="3195099" y="1718461"/>
            <a:ext cx="1512542" cy="453762"/>
          </a:xfrm>
          <a:prstGeom prst="star10">
            <a:avLst/>
          </a:prstGeom>
          <a:solidFill>
            <a:srgbClr val="FFFF00"/>
          </a:solidFill>
          <a:ln w="38100">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latin typeface="华文琥珀" panose="02010800040101010101" pitchFamily="2" charset="-122"/>
                <a:ea typeface="华文琥珀" panose="02010800040101010101" pitchFamily="2" charset="-122"/>
              </a:rPr>
              <a:t>位扩展</a:t>
            </a:r>
            <a:endParaRPr lang="zh-CN" altLang="en-US" dirty="0">
              <a:solidFill>
                <a:srgbClr val="FF0000"/>
              </a:solidFill>
              <a:latin typeface="华文琥珀" panose="02010800040101010101" pitchFamily="2" charset="-122"/>
              <a:ea typeface="华文琥珀" panose="02010800040101010101" pitchFamily="2" charset="-122"/>
            </a:endParaRPr>
          </a:p>
        </p:txBody>
      </p:sp>
      <p:grpSp>
        <p:nvGrpSpPr>
          <p:cNvPr id="265" name="组合 264"/>
          <p:cNvGrpSpPr/>
          <p:nvPr/>
        </p:nvGrpSpPr>
        <p:grpSpPr>
          <a:xfrm>
            <a:off x="876300" y="2413589"/>
            <a:ext cx="5988050" cy="2445926"/>
            <a:chOff x="876300" y="2208624"/>
            <a:chExt cx="5988050" cy="2445926"/>
          </a:xfrm>
        </p:grpSpPr>
        <p:sp>
          <p:nvSpPr>
            <p:cNvPr id="153" name="圆角矩形 152"/>
            <p:cNvSpPr/>
            <p:nvPr/>
          </p:nvSpPr>
          <p:spPr>
            <a:xfrm>
              <a:off x="876300" y="2209801"/>
              <a:ext cx="5988050" cy="2444749"/>
            </a:xfrm>
            <a:prstGeom prst="roundRect">
              <a:avLst>
                <a:gd name="adj" fmla="val 6017"/>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7" name="组合 196"/>
            <p:cNvGrpSpPr/>
            <p:nvPr/>
          </p:nvGrpSpPr>
          <p:grpSpPr>
            <a:xfrm>
              <a:off x="1719694" y="2443912"/>
              <a:ext cx="5073072" cy="1289670"/>
              <a:chOff x="1992744" y="2729662"/>
              <a:chExt cx="5073072" cy="1289670"/>
            </a:xfrm>
          </p:grpSpPr>
          <p:pic>
            <p:nvPicPr>
              <p:cNvPr id="156" name="Picture 9"/>
              <p:cNvPicPr>
                <a:picLocks noChangeAspect="1" noChangeArrowheads="1"/>
              </p:cNvPicPr>
              <p:nvPr/>
            </p:nvPicPr>
            <p:blipFill>
              <a:blip r:embed="rId2" cstate="print"/>
              <a:srcRect/>
              <a:stretch>
                <a:fillRect/>
              </a:stretch>
            </p:blipFill>
            <p:spPr bwMode="auto">
              <a:xfrm>
                <a:off x="1992744" y="2729662"/>
                <a:ext cx="2322946" cy="1289670"/>
              </a:xfrm>
              <a:prstGeom prst="rect">
                <a:avLst/>
              </a:prstGeom>
              <a:noFill/>
              <a:ln w="9525">
                <a:noFill/>
                <a:miter lim="800000"/>
                <a:headEnd/>
                <a:tailEnd/>
              </a:ln>
            </p:spPr>
          </p:pic>
          <p:pic>
            <p:nvPicPr>
              <p:cNvPr id="164" name="Picture 9"/>
              <p:cNvPicPr>
                <a:picLocks noChangeAspect="1" noChangeArrowheads="1"/>
              </p:cNvPicPr>
              <p:nvPr/>
            </p:nvPicPr>
            <p:blipFill>
              <a:blip r:embed="rId2" cstate="print"/>
              <a:srcRect/>
              <a:stretch>
                <a:fillRect/>
              </a:stretch>
            </p:blipFill>
            <p:spPr bwMode="auto">
              <a:xfrm>
                <a:off x="4742870" y="2729662"/>
                <a:ext cx="2322946" cy="1289670"/>
              </a:xfrm>
              <a:prstGeom prst="rect">
                <a:avLst/>
              </a:prstGeom>
              <a:noFill/>
              <a:ln w="9525">
                <a:noFill/>
                <a:miter lim="800000"/>
                <a:headEnd/>
                <a:tailEnd/>
              </a:ln>
            </p:spPr>
          </p:pic>
        </p:grpSp>
        <p:grpSp>
          <p:nvGrpSpPr>
            <p:cNvPr id="199" name="组合 198"/>
            <p:cNvGrpSpPr/>
            <p:nvPr/>
          </p:nvGrpSpPr>
          <p:grpSpPr>
            <a:xfrm>
              <a:off x="914400" y="2769177"/>
              <a:ext cx="3786344" cy="1632549"/>
              <a:chOff x="1263650" y="2769177"/>
              <a:chExt cx="3786344" cy="1632549"/>
            </a:xfrm>
          </p:grpSpPr>
          <p:grpSp>
            <p:nvGrpSpPr>
              <p:cNvPr id="196" name="组合 195"/>
              <p:cNvGrpSpPr/>
              <p:nvPr/>
            </p:nvGrpSpPr>
            <p:grpSpPr>
              <a:xfrm>
                <a:off x="1516503" y="2769177"/>
                <a:ext cx="3533491" cy="1534364"/>
                <a:chOff x="1440303" y="3054927"/>
                <a:chExt cx="3533491" cy="1534364"/>
              </a:xfrm>
            </p:grpSpPr>
            <p:cxnSp>
              <p:nvCxnSpPr>
                <p:cNvPr id="166" name="直接连接符 165"/>
                <p:cNvCxnSpPr/>
                <p:nvPr/>
              </p:nvCxnSpPr>
              <p:spPr>
                <a:xfrm flipH="1">
                  <a:off x="1440303" y="4298156"/>
                  <a:ext cx="2929291" cy="7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flipH="1" flipV="1">
                  <a:off x="1440304" y="4447309"/>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直接连接符 167"/>
                <p:cNvCxnSpPr/>
                <p:nvPr/>
              </p:nvCxnSpPr>
              <p:spPr>
                <a:xfrm flipH="1" flipV="1">
                  <a:off x="1440304" y="4585277"/>
                  <a:ext cx="3175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肘形连接符 169"/>
                <p:cNvCxnSpPr/>
                <p:nvPr/>
              </p:nvCxnSpPr>
              <p:spPr>
                <a:xfrm rot="5400000">
                  <a:off x="4045529" y="3380510"/>
                  <a:ext cx="1253836" cy="60267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肘形连接符 174"/>
                <p:cNvCxnSpPr/>
                <p:nvPr/>
              </p:nvCxnSpPr>
              <p:spPr>
                <a:xfrm rot="5400000">
                  <a:off x="4121438" y="3606109"/>
                  <a:ext cx="1224000" cy="468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肘形连接符 175"/>
                <p:cNvCxnSpPr/>
                <p:nvPr/>
              </p:nvCxnSpPr>
              <p:spPr>
                <a:xfrm rot="5400000">
                  <a:off x="4199794" y="3815291"/>
                  <a:ext cx="1188000" cy="360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8" name="肘形连接符 177"/>
                <p:cNvCxnSpPr/>
                <p:nvPr/>
              </p:nvCxnSpPr>
              <p:spPr>
                <a:xfrm rot="5400000">
                  <a:off x="1289629" y="3380510"/>
                  <a:ext cx="1253836" cy="60267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9" name="肘形连接符 178"/>
                <p:cNvCxnSpPr/>
                <p:nvPr/>
              </p:nvCxnSpPr>
              <p:spPr>
                <a:xfrm rot="5400000">
                  <a:off x="1359188" y="3606109"/>
                  <a:ext cx="1224000" cy="468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0" name="肘形连接符 179"/>
                <p:cNvCxnSpPr/>
                <p:nvPr/>
              </p:nvCxnSpPr>
              <p:spPr>
                <a:xfrm rot="5400000">
                  <a:off x="1443894" y="3815291"/>
                  <a:ext cx="1188000" cy="360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a:off x="1855788" y="4573588"/>
                  <a:ext cx="36000"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91" name="直接连接符 190"/>
                <p:cNvCxnSpPr/>
                <p:nvPr/>
              </p:nvCxnSpPr>
              <p:spPr>
                <a:xfrm>
                  <a:off x="1735138" y="4449763"/>
                  <a:ext cx="36000"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92" name="直接连接符 191"/>
                <p:cNvCxnSpPr/>
                <p:nvPr/>
              </p:nvCxnSpPr>
              <p:spPr>
                <a:xfrm>
                  <a:off x="1614488" y="4294188"/>
                  <a:ext cx="36000"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grpSp>
          <p:sp>
            <p:nvSpPr>
              <p:cNvPr id="198" name="TextBox 197"/>
              <p:cNvSpPr txBox="1"/>
              <p:nvPr/>
            </p:nvSpPr>
            <p:spPr>
              <a:xfrm>
                <a:off x="1263650" y="3886200"/>
                <a:ext cx="309700" cy="515526"/>
              </a:xfrm>
              <a:prstGeom prst="rect">
                <a:avLst/>
              </a:prstGeom>
              <a:noFill/>
              <a:ln>
                <a:noFill/>
              </a:ln>
            </p:spPr>
            <p:txBody>
              <a:bodyPr wrap="non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S</a:t>
                </a:r>
                <a:r>
                  <a:rPr lang="en-US" altLang="zh-CN" sz="1100" b="1" baseline="-25000" dirty="0">
                    <a:latin typeface="Times New Roman" panose="02020603050405020304" pitchFamily="18" charset="0"/>
                    <a:cs typeface="Times New Roman" panose="02020603050405020304" pitchFamily="18" charset="0"/>
                  </a:rPr>
                  <a:t>2</a:t>
                </a:r>
                <a:endParaRPr lang="en-US" altLang="zh-CN" sz="1100" b="1" baseline="-25000" dirty="0">
                  <a:latin typeface="Times New Roman" panose="02020603050405020304" pitchFamily="18" charset="0"/>
                  <a:cs typeface="Times New Roman" panose="02020603050405020304" pitchFamily="18" charset="0"/>
                </a:endParaRPr>
              </a:p>
              <a:p>
                <a:pPr>
                  <a:lnSpc>
                    <a:spcPts val="1100"/>
                  </a:lnSpc>
                </a:pPr>
                <a:r>
                  <a:rPr lang="en-US" altLang="zh-CN" sz="1100" b="1" i="1" dirty="0">
                    <a:latin typeface="Times New Roman" panose="02020603050405020304" pitchFamily="18" charset="0"/>
                    <a:cs typeface="Times New Roman" panose="02020603050405020304" pitchFamily="18" charset="0"/>
                  </a:rPr>
                  <a:t>S</a:t>
                </a:r>
                <a:r>
                  <a:rPr lang="en-US" altLang="zh-CN" sz="1100" b="1" baseline="-25000" dirty="0">
                    <a:latin typeface="Times New Roman" panose="02020603050405020304" pitchFamily="18" charset="0"/>
                    <a:cs typeface="Times New Roman" panose="02020603050405020304" pitchFamily="18" charset="0"/>
                  </a:rPr>
                  <a:t>1</a:t>
                </a:r>
                <a:endParaRPr lang="en-US" altLang="zh-CN" sz="1100" b="1" baseline="-25000" dirty="0">
                  <a:latin typeface="Times New Roman" panose="02020603050405020304" pitchFamily="18" charset="0"/>
                  <a:cs typeface="Times New Roman" panose="02020603050405020304" pitchFamily="18" charset="0"/>
                </a:endParaRPr>
              </a:p>
              <a:p>
                <a:pPr>
                  <a:lnSpc>
                    <a:spcPts val="1100"/>
                  </a:lnSpc>
                </a:pPr>
                <a:r>
                  <a:rPr lang="en-US" altLang="zh-CN" sz="1100" b="1" i="1" dirty="0">
                    <a:latin typeface="Times New Roman" panose="02020603050405020304" pitchFamily="18" charset="0"/>
                    <a:cs typeface="Times New Roman" panose="02020603050405020304" pitchFamily="18" charset="0"/>
                  </a:rPr>
                  <a:t>S</a:t>
                </a:r>
                <a:r>
                  <a:rPr lang="en-US" altLang="zh-CN" sz="1100" b="1" baseline="-25000" dirty="0">
                    <a:latin typeface="Times New Roman" panose="02020603050405020304" pitchFamily="18" charset="0"/>
                    <a:cs typeface="Times New Roman" panose="02020603050405020304" pitchFamily="18" charset="0"/>
                  </a:rPr>
                  <a:t>0</a:t>
                </a:r>
                <a:endParaRPr lang="zh-CN" altLang="en-US" sz="1100" b="1" baseline="-25000" dirty="0">
                  <a:latin typeface="Times New Roman" panose="02020603050405020304" pitchFamily="18" charset="0"/>
                  <a:cs typeface="Times New Roman" panose="02020603050405020304" pitchFamily="18" charset="0"/>
                </a:endParaRPr>
              </a:p>
            </p:txBody>
          </p:sp>
        </p:grpSp>
        <p:grpSp>
          <p:nvGrpSpPr>
            <p:cNvPr id="204" name="组合 203"/>
            <p:cNvGrpSpPr/>
            <p:nvPr/>
          </p:nvGrpSpPr>
          <p:grpSpPr>
            <a:xfrm>
              <a:off x="916325" y="3337793"/>
              <a:ext cx="3685974" cy="1256426"/>
              <a:chOff x="1265575" y="3337793"/>
              <a:chExt cx="3685974" cy="1256426"/>
            </a:xfrm>
          </p:grpSpPr>
          <p:grpSp>
            <p:nvGrpSpPr>
              <p:cNvPr id="194" name="组合 193"/>
              <p:cNvGrpSpPr/>
              <p:nvPr/>
            </p:nvGrpSpPr>
            <p:grpSpPr>
              <a:xfrm>
                <a:off x="1503804" y="3337793"/>
                <a:ext cx="3447745" cy="1116000"/>
                <a:chOff x="1440304" y="3629892"/>
                <a:chExt cx="3447745" cy="1116000"/>
              </a:xfrm>
            </p:grpSpPr>
            <p:cxnSp>
              <p:nvCxnSpPr>
                <p:cNvPr id="184" name="直接连接符 183"/>
                <p:cNvCxnSpPr/>
                <p:nvPr/>
              </p:nvCxnSpPr>
              <p:spPr>
                <a:xfrm flipH="1" flipV="1">
                  <a:off x="1440304" y="4737670"/>
                  <a:ext cx="3312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肘形连接符 184"/>
                <p:cNvCxnSpPr/>
                <p:nvPr/>
              </p:nvCxnSpPr>
              <p:spPr>
                <a:xfrm rot="5400000">
                  <a:off x="4258049" y="4115892"/>
                  <a:ext cx="1116000" cy="144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7" name="肘形连接符 186"/>
                <p:cNvCxnSpPr/>
                <p:nvPr/>
              </p:nvCxnSpPr>
              <p:spPr>
                <a:xfrm rot="5400000">
                  <a:off x="1514849" y="4115892"/>
                  <a:ext cx="1116000" cy="144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直接连接符 188"/>
                <p:cNvCxnSpPr/>
                <p:nvPr/>
              </p:nvCxnSpPr>
              <p:spPr>
                <a:xfrm>
                  <a:off x="2001838" y="4729163"/>
                  <a:ext cx="36000"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grpSp>
          <p:sp>
            <p:nvSpPr>
              <p:cNvPr id="200" name="矩形 199"/>
              <p:cNvSpPr/>
              <p:nvPr/>
            </p:nvSpPr>
            <p:spPr>
              <a:xfrm>
                <a:off x="1265575" y="4360052"/>
                <a:ext cx="287258" cy="234167"/>
              </a:xfrm>
              <a:prstGeom prst="rect">
                <a:avLst/>
              </a:prstGeom>
              <a:ln>
                <a:noFill/>
              </a:ln>
            </p:spPr>
            <p:txBody>
              <a:bodyPr wrap="none">
                <a:spAutoFit/>
              </a:bodyPr>
              <a:lstStyle/>
              <a:p>
                <a:pPr>
                  <a:lnSpc>
                    <a:spcPts val="1100"/>
                  </a:lnSpc>
                </a:pPr>
                <a:r>
                  <a:rPr lang="en-US" altLang="zh-CN" sz="1200" b="1" i="1" dirty="0">
                    <a:latin typeface="Times New Roman" panose="02020603050405020304" pitchFamily="18" charset="0"/>
                    <a:cs typeface="Times New Roman" panose="02020603050405020304" pitchFamily="18" charset="0"/>
                  </a:rPr>
                  <a:t>E</a:t>
                </a:r>
                <a:endParaRPr lang="zh-CN" altLang="en-US" sz="1200" b="1" baseline="-25000" dirty="0">
                  <a:latin typeface="Times New Roman" panose="02020603050405020304" pitchFamily="18" charset="0"/>
                  <a:cs typeface="Times New Roman" panose="02020603050405020304" pitchFamily="18" charset="0"/>
                </a:endParaRPr>
              </a:p>
            </p:txBody>
          </p:sp>
          <p:cxnSp>
            <p:nvCxnSpPr>
              <p:cNvPr id="202" name="直接连接符 201"/>
              <p:cNvCxnSpPr/>
              <p:nvPr/>
            </p:nvCxnSpPr>
            <p:spPr>
              <a:xfrm>
                <a:off x="1365250" y="4387850"/>
                <a:ext cx="10795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3" name="组合 212"/>
            <p:cNvGrpSpPr/>
            <p:nvPr/>
          </p:nvGrpSpPr>
          <p:grpSpPr>
            <a:xfrm>
              <a:off x="1955800" y="3694524"/>
              <a:ext cx="1943100" cy="233397"/>
              <a:chOff x="2305050" y="3694524"/>
              <a:chExt cx="1943100" cy="233397"/>
            </a:xfrm>
          </p:grpSpPr>
          <p:sp>
            <p:nvSpPr>
              <p:cNvPr id="205" name="TextBox 204"/>
              <p:cNvSpPr txBox="1"/>
              <p:nvPr/>
            </p:nvSpPr>
            <p:spPr>
              <a:xfrm>
                <a:off x="230505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00</a:t>
                </a:r>
                <a:endParaRPr lang="zh-CN" altLang="en-US" sz="1100" b="1" baseline="-25000" dirty="0">
                  <a:latin typeface="Times New Roman" panose="02020603050405020304" pitchFamily="18" charset="0"/>
                  <a:cs typeface="Times New Roman" panose="02020603050405020304" pitchFamily="18" charset="0"/>
                </a:endParaRPr>
              </a:p>
            </p:txBody>
          </p:sp>
          <p:sp>
            <p:nvSpPr>
              <p:cNvPr id="206" name="TextBox 205"/>
              <p:cNvSpPr txBox="1"/>
              <p:nvPr/>
            </p:nvSpPr>
            <p:spPr>
              <a:xfrm>
                <a:off x="2525486"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01</a:t>
                </a:r>
                <a:endParaRPr lang="zh-CN" altLang="en-US" sz="1100" b="1" baseline="-25000" dirty="0">
                  <a:latin typeface="Times New Roman" panose="02020603050405020304" pitchFamily="18" charset="0"/>
                  <a:cs typeface="Times New Roman" panose="02020603050405020304" pitchFamily="18" charset="0"/>
                </a:endParaRPr>
              </a:p>
            </p:txBody>
          </p:sp>
          <p:sp>
            <p:nvSpPr>
              <p:cNvPr id="207" name="TextBox 206"/>
              <p:cNvSpPr txBox="1"/>
              <p:nvPr/>
            </p:nvSpPr>
            <p:spPr>
              <a:xfrm>
                <a:off x="2745922"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02</a:t>
                </a:r>
                <a:endParaRPr lang="zh-CN" altLang="en-US" sz="1100" b="1" baseline="-25000" dirty="0">
                  <a:latin typeface="Times New Roman" panose="02020603050405020304" pitchFamily="18" charset="0"/>
                  <a:cs typeface="Times New Roman" panose="02020603050405020304" pitchFamily="18" charset="0"/>
                </a:endParaRPr>
              </a:p>
            </p:txBody>
          </p:sp>
          <p:sp>
            <p:nvSpPr>
              <p:cNvPr id="208" name="TextBox 207"/>
              <p:cNvSpPr txBox="1"/>
              <p:nvPr/>
            </p:nvSpPr>
            <p:spPr>
              <a:xfrm>
                <a:off x="2966358"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03</a:t>
                </a:r>
                <a:endParaRPr lang="zh-CN" altLang="en-US" sz="1100" b="1" baseline="-25000" dirty="0">
                  <a:latin typeface="Times New Roman" panose="02020603050405020304" pitchFamily="18" charset="0"/>
                  <a:cs typeface="Times New Roman" panose="02020603050405020304" pitchFamily="18" charset="0"/>
                </a:endParaRPr>
              </a:p>
            </p:txBody>
          </p:sp>
          <p:sp>
            <p:nvSpPr>
              <p:cNvPr id="209" name="TextBox 208"/>
              <p:cNvSpPr txBox="1"/>
              <p:nvPr/>
            </p:nvSpPr>
            <p:spPr>
              <a:xfrm>
                <a:off x="3186794"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04</a:t>
                </a:r>
                <a:endParaRPr lang="zh-CN" altLang="en-US" sz="1100" b="1" baseline="-25000" dirty="0">
                  <a:latin typeface="Times New Roman" panose="02020603050405020304" pitchFamily="18" charset="0"/>
                  <a:cs typeface="Times New Roman" panose="02020603050405020304" pitchFamily="18" charset="0"/>
                </a:endParaRPr>
              </a:p>
            </p:txBody>
          </p:sp>
          <p:sp>
            <p:nvSpPr>
              <p:cNvPr id="210" name="TextBox 209"/>
              <p:cNvSpPr txBox="1"/>
              <p:nvPr/>
            </p:nvSpPr>
            <p:spPr>
              <a:xfrm>
                <a:off x="340723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05</a:t>
                </a:r>
                <a:endParaRPr lang="zh-CN" altLang="en-US" sz="1100" b="1" baseline="-25000" dirty="0">
                  <a:latin typeface="Times New Roman" panose="02020603050405020304" pitchFamily="18" charset="0"/>
                  <a:cs typeface="Times New Roman" panose="02020603050405020304" pitchFamily="18" charset="0"/>
                </a:endParaRPr>
              </a:p>
            </p:txBody>
          </p:sp>
          <p:sp>
            <p:nvSpPr>
              <p:cNvPr id="211" name="TextBox 210"/>
              <p:cNvSpPr txBox="1"/>
              <p:nvPr/>
            </p:nvSpPr>
            <p:spPr>
              <a:xfrm>
                <a:off x="3627666"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06</a:t>
                </a:r>
                <a:endParaRPr lang="zh-CN" altLang="en-US" sz="1100" b="1" baseline="-25000" dirty="0">
                  <a:latin typeface="Times New Roman" panose="02020603050405020304" pitchFamily="18" charset="0"/>
                  <a:cs typeface="Times New Roman" panose="02020603050405020304" pitchFamily="18" charset="0"/>
                </a:endParaRPr>
              </a:p>
            </p:txBody>
          </p:sp>
          <p:sp>
            <p:nvSpPr>
              <p:cNvPr id="212" name="TextBox 211"/>
              <p:cNvSpPr txBox="1"/>
              <p:nvPr/>
            </p:nvSpPr>
            <p:spPr>
              <a:xfrm>
                <a:off x="384810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07</a:t>
                </a:r>
                <a:endParaRPr lang="zh-CN" altLang="en-US" sz="1100" b="1" baseline="-25000" dirty="0">
                  <a:latin typeface="Times New Roman" panose="02020603050405020304" pitchFamily="18" charset="0"/>
                  <a:cs typeface="Times New Roman" panose="02020603050405020304" pitchFamily="18" charset="0"/>
                </a:endParaRPr>
              </a:p>
            </p:txBody>
          </p:sp>
        </p:grpSp>
        <p:grpSp>
          <p:nvGrpSpPr>
            <p:cNvPr id="214" name="组合 213"/>
            <p:cNvGrpSpPr/>
            <p:nvPr/>
          </p:nvGrpSpPr>
          <p:grpSpPr>
            <a:xfrm>
              <a:off x="4730750" y="3707224"/>
              <a:ext cx="1943100" cy="233397"/>
              <a:chOff x="2305050" y="3694524"/>
              <a:chExt cx="1943100" cy="233397"/>
            </a:xfrm>
          </p:grpSpPr>
          <p:sp>
            <p:nvSpPr>
              <p:cNvPr id="215" name="TextBox 214"/>
              <p:cNvSpPr txBox="1"/>
              <p:nvPr/>
            </p:nvSpPr>
            <p:spPr>
              <a:xfrm>
                <a:off x="230505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10</a:t>
                </a:r>
                <a:endParaRPr lang="zh-CN" altLang="en-US" sz="1100" b="1" baseline="-25000" dirty="0">
                  <a:latin typeface="Times New Roman" panose="02020603050405020304" pitchFamily="18" charset="0"/>
                  <a:cs typeface="Times New Roman" panose="02020603050405020304" pitchFamily="18" charset="0"/>
                </a:endParaRPr>
              </a:p>
            </p:txBody>
          </p:sp>
          <p:sp>
            <p:nvSpPr>
              <p:cNvPr id="216" name="TextBox 215"/>
              <p:cNvSpPr txBox="1"/>
              <p:nvPr/>
            </p:nvSpPr>
            <p:spPr>
              <a:xfrm>
                <a:off x="2525486"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11</a:t>
                </a:r>
                <a:endParaRPr lang="zh-CN" altLang="en-US" sz="1100" b="1" baseline="-25000" dirty="0">
                  <a:latin typeface="Times New Roman" panose="02020603050405020304" pitchFamily="18" charset="0"/>
                  <a:cs typeface="Times New Roman" panose="02020603050405020304" pitchFamily="18" charset="0"/>
                </a:endParaRPr>
              </a:p>
            </p:txBody>
          </p:sp>
          <p:sp>
            <p:nvSpPr>
              <p:cNvPr id="217" name="TextBox 216"/>
              <p:cNvSpPr txBox="1"/>
              <p:nvPr/>
            </p:nvSpPr>
            <p:spPr>
              <a:xfrm>
                <a:off x="2745922"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12</a:t>
                </a:r>
                <a:endParaRPr lang="zh-CN" altLang="en-US" sz="1100" b="1" baseline="-25000" dirty="0">
                  <a:latin typeface="Times New Roman" panose="02020603050405020304" pitchFamily="18" charset="0"/>
                  <a:cs typeface="Times New Roman" panose="02020603050405020304" pitchFamily="18" charset="0"/>
                </a:endParaRPr>
              </a:p>
            </p:txBody>
          </p:sp>
          <p:sp>
            <p:nvSpPr>
              <p:cNvPr id="218" name="TextBox 217"/>
              <p:cNvSpPr txBox="1"/>
              <p:nvPr/>
            </p:nvSpPr>
            <p:spPr>
              <a:xfrm>
                <a:off x="2966358"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13</a:t>
                </a:r>
                <a:endParaRPr lang="zh-CN" altLang="en-US" sz="1100" b="1" baseline="-25000" dirty="0">
                  <a:latin typeface="Times New Roman" panose="02020603050405020304" pitchFamily="18" charset="0"/>
                  <a:cs typeface="Times New Roman" panose="02020603050405020304" pitchFamily="18" charset="0"/>
                </a:endParaRPr>
              </a:p>
            </p:txBody>
          </p:sp>
          <p:sp>
            <p:nvSpPr>
              <p:cNvPr id="219" name="TextBox 218"/>
              <p:cNvSpPr txBox="1"/>
              <p:nvPr/>
            </p:nvSpPr>
            <p:spPr>
              <a:xfrm>
                <a:off x="3186794"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14</a:t>
                </a:r>
                <a:endParaRPr lang="zh-CN" altLang="en-US" sz="1100" b="1" baseline="-25000" dirty="0">
                  <a:latin typeface="Times New Roman" panose="02020603050405020304" pitchFamily="18" charset="0"/>
                  <a:cs typeface="Times New Roman" panose="02020603050405020304" pitchFamily="18" charset="0"/>
                </a:endParaRPr>
              </a:p>
            </p:txBody>
          </p:sp>
          <p:sp>
            <p:nvSpPr>
              <p:cNvPr id="220" name="TextBox 219"/>
              <p:cNvSpPr txBox="1"/>
              <p:nvPr/>
            </p:nvSpPr>
            <p:spPr>
              <a:xfrm>
                <a:off x="340723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15</a:t>
                </a:r>
                <a:endParaRPr lang="zh-CN" altLang="en-US" sz="1100" b="1" baseline="-25000" dirty="0">
                  <a:latin typeface="Times New Roman" panose="02020603050405020304" pitchFamily="18" charset="0"/>
                  <a:cs typeface="Times New Roman" panose="02020603050405020304" pitchFamily="18" charset="0"/>
                </a:endParaRPr>
              </a:p>
            </p:txBody>
          </p:sp>
          <p:sp>
            <p:nvSpPr>
              <p:cNvPr id="221" name="TextBox 220"/>
              <p:cNvSpPr txBox="1"/>
              <p:nvPr/>
            </p:nvSpPr>
            <p:spPr>
              <a:xfrm>
                <a:off x="3627666"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16</a:t>
                </a:r>
                <a:endParaRPr lang="zh-CN" altLang="en-US" sz="1100" b="1" baseline="-25000" dirty="0">
                  <a:latin typeface="Times New Roman" panose="02020603050405020304" pitchFamily="18" charset="0"/>
                  <a:cs typeface="Times New Roman" panose="02020603050405020304" pitchFamily="18" charset="0"/>
                </a:endParaRPr>
              </a:p>
            </p:txBody>
          </p:sp>
          <p:sp>
            <p:nvSpPr>
              <p:cNvPr id="222" name="TextBox 221"/>
              <p:cNvSpPr txBox="1"/>
              <p:nvPr/>
            </p:nvSpPr>
            <p:spPr>
              <a:xfrm>
                <a:off x="384810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17</a:t>
                </a:r>
                <a:endParaRPr lang="zh-CN" altLang="en-US" sz="1100" b="1" baseline="-25000" dirty="0">
                  <a:latin typeface="Times New Roman" panose="02020603050405020304" pitchFamily="18" charset="0"/>
                  <a:cs typeface="Times New Roman" panose="02020603050405020304" pitchFamily="18" charset="0"/>
                </a:endParaRPr>
              </a:p>
            </p:txBody>
          </p:sp>
        </p:grpSp>
        <p:sp>
          <p:nvSpPr>
            <p:cNvPr id="223" name="TextBox 222"/>
            <p:cNvSpPr txBox="1"/>
            <p:nvPr/>
          </p:nvSpPr>
          <p:spPr>
            <a:xfrm>
              <a:off x="2467430" y="22086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Y</a:t>
              </a:r>
              <a:r>
                <a:rPr lang="en-US" altLang="zh-CN" sz="1100" b="1" baseline="-25000" dirty="0">
                  <a:latin typeface="Times New Roman" panose="02020603050405020304" pitchFamily="18" charset="0"/>
                  <a:cs typeface="Times New Roman" panose="02020603050405020304" pitchFamily="18" charset="0"/>
                </a:rPr>
                <a:t>0</a:t>
              </a:r>
              <a:endParaRPr lang="zh-CN" altLang="en-US" sz="1100" b="1" baseline="-25000" dirty="0">
                <a:latin typeface="Times New Roman" panose="02020603050405020304" pitchFamily="18" charset="0"/>
                <a:cs typeface="Times New Roman" panose="02020603050405020304" pitchFamily="18" charset="0"/>
              </a:endParaRPr>
            </a:p>
          </p:txBody>
        </p:sp>
        <p:sp>
          <p:nvSpPr>
            <p:cNvPr id="224" name="TextBox 223"/>
            <p:cNvSpPr txBox="1"/>
            <p:nvPr/>
          </p:nvSpPr>
          <p:spPr>
            <a:xfrm>
              <a:off x="5223330" y="22086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Y</a:t>
              </a:r>
              <a:r>
                <a:rPr lang="en-US" altLang="zh-CN" sz="1100" b="1" baseline="-25000" dirty="0">
                  <a:latin typeface="Times New Roman" panose="02020603050405020304" pitchFamily="18" charset="0"/>
                  <a:cs typeface="Times New Roman" panose="02020603050405020304" pitchFamily="18" charset="0"/>
                </a:rPr>
                <a:t>1</a:t>
              </a:r>
              <a:endParaRPr lang="zh-CN" altLang="en-US" sz="1100" b="1" baseline="-25000" dirty="0">
                <a:latin typeface="Times New Roman" panose="02020603050405020304" pitchFamily="18" charset="0"/>
                <a:cs typeface="Times New Roman" panose="02020603050405020304" pitchFamily="18" charset="0"/>
              </a:endParaRPr>
            </a:p>
          </p:txBody>
        </p:sp>
        <p:sp>
          <p:nvSpPr>
            <p:cNvPr id="225" name="TextBox 224"/>
            <p:cNvSpPr txBox="1"/>
            <p:nvPr/>
          </p:nvSpPr>
          <p:spPr>
            <a:xfrm>
              <a:off x="2956380" y="22086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W</a:t>
              </a:r>
              <a:r>
                <a:rPr lang="en-US" altLang="zh-CN" sz="1100" b="1" baseline="-25000" dirty="0">
                  <a:latin typeface="Times New Roman" panose="02020603050405020304" pitchFamily="18" charset="0"/>
                  <a:cs typeface="Times New Roman" panose="02020603050405020304" pitchFamily="18" charset="0"/>
                </a:rPr>
                <a:t>0</a:t>
              </a:r>
              <a:endParaRPr lang="zh-CN" altLang="en-US" sz="1100" b="1" baseline="-25000" dirty="0">
                <a:latin typeface="Times New Roman" panose="02020603050405020304" pitchFamily="18" charset="0"/>
                <a:cs typeface="Times New Roman" panose="02020603050405020304" pitchFamily="18" charset="0"/>
              </a:endParaRPr>
            </a:p>
          </p:txBody>
        </p:sp>
        <p:sp>
          <p:nvSpPr>
            <p:cNvPr id="226" name="TextBox 225"/>
            <p:cNvSpPr txBox="1"/>
            <p:nvPr/>
          </p:nvSpPr>
          <p:spPr>
            <a:xfrm>
              <a:off x="5712280" y="22086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W</a:t>
              </a:r>
              <a:r>
                <a:rPr lang="en-US" altLang="zh-CN" sz="1100" b="1" baseline="-25000" dirty="0">
                  <a:latin typeface="Times New Roman" panose="02020603050405020304" pitchFamily="18" charset="0"/>
                  <a:cs typeface="Times New Roman" panose="02020603050405020304" pitchFamily="18" charset="0"/>
                </a:rPr>
                <a:t>1</a:t>
              </a:r>
              <a:endParaRPr lang="zh-CN" altLang="en-US" sz="1100" b="1" baseline="-25000" dirty="0">
                <a:latin typeface="Times New Roman" panose="02020603050405020304" pitchFamily="18" charset="0"/>
                <a:cs typeface="Times New Roman" panose="02020603050405020304" pitchFamily="18" charset="0"/>
              </a:endParaRPr>
            </a:p>
          </p:txBody>
        </p:sp>
      </p:grpSp>
      <p:grpSp>
        <p:nvGrpSpPr>
          <p:cNvPr id="243" name="组合 195"/>
          <p:cNvGrpSpPr/>
          <p:nvPr/>
        </p:nvGrpSpPr>
        <p:grpSpPr>
          <a:xfrm>
            <a:off x="1167253" y="2969551"/>
            <a:ext cx="3533491" cy="1534364"/>
            <a:chOff x="1440303" y="3054927"/>
            <a:chExt cx="3533491" cy="1534364"/>
          </a:xfrm>
        </p:grpSpPr>
        <p:cxnSp>
          <p:nvCxnSpPr>
            <p:cNvPr id="245" name="直接连接符 244"/>
            <p:cNvCxnSpPr/>
            <p:nvPr/>
          </p:nvCxnSpPr>
          <p:spPr>
            <a:xfrm flipH="1">
              <a:off x="1440303" y="4298156"/>
              <a:ext cx="2929291" cy="794"/>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46" name="直接连接符 245"/>
            <p:cNvCxnSpPr/>
            <p:nvPr/>
          </p:nvCxnSpPr>
          <p:spPr>
            <a:xfrm flipH="1" flipV="1">
              <a:off x="1440304" y="4447309"/>
              <a:ext cx="3060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47" name="直接连接符 246"/>
            <p:cNvCxnSpPr/>
            <p:nvPr/>
          </p:nvCxnSpPr>
          <p:spPr>
            <a:xfrm flipH="1" flipV="1">
              <a:off x="1440304" y="4585277"/>
              <a:ext cx="31752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48" name="肘形连接符 247"/>
            <p:cNvCxnSpPr/>
            <p:nvPr/>
          </p:nvCxnSpPr>
          <p:spPr>
            <a:xfrm rot="5400000">
              <a:off x="4045529" y="3380510"/>
              <a:ext cx="1253836" cy="602670"/>
            </a:xfrm>
            <a:prstGeom prst="bentConnector3">
              <a:avLst>
                <a:gd name="adj1" fmla="val -276"/>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49" name="肘形连接符 248"/>
            <p:cNvCxnSpPr/>
            <p:nvPr/>
          </p:nvCxnSpPr>
          <p:spPr>
            <a:xfrm rot="5400000">
              <a:off x="4121438" y="3606109"/>
              <a:ext cx="1224000" cy="468000"/>
            </a:xfrm>
            <a:prstGeom prst="bentConnector3">
              <a:avLst>
                <a:gd name="adj1" fmla="val -276"/>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50" name="肘形连接符 249"/>
            <p:cNvCxnSpPr/>
            <p:nvPr/>
          </p:nvCxnSpPr>
          <p:spPr>
            <a:xfrm rot="5400000">
              <a:off x="4199794" y="3815291"/>
              <a:ext cx="1188000" cy="360000"/>
            </a:xfrm>
            <a:prstGeom prst="bentConnector3">
              <a:avLst>
                <a:gd name="adj1" fmla="val -276"/>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51" name="肘形连接符 250"/>
            <p:cNvCxnSpPr/>
            <p:nvPr/>
          </p:nvCxnSpPr>
          <p:spPr>
            <a:xfrm rot="5400000">
              <a:off x="1289629" y="3380510"/>
              <a:ext cx="1253836" cy="602670"/>
            </a:xfrm>
            <a:prstGeom prst="bentConnector3">
              <a:avLst>
                <a:gd name="adj1" fmla="val -276"/>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52" name="肘形连接符 251"/>
            <p:cNvCxnSpPr/>
            <p:nvPr/>
          </p:nvCxnSpPr>
          <p:spPr>
            <a:xfrm rot="5400000">
              <a:off x="1359188" y="3606109"/>
              <a:ext cx="1224000" cy="468000"/>
            </a:xfrm>
            <a:prstGeom prst="bentConnector3">
              <a:avLst>
                <a:gd name="adj1" fmla="val -276"/>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53" name="肘形连接符 252"/>
            <p:cNvCxnSpPr/>
            <p:nvPr/>
          </p:nvCxnSpPr>
          <p:spPr>
            <a:xfrm rot="5400000">
              <a:off x="1443894" y="3815291"/>
              <a:ext cx="1188000" cy="360000"/>
            </a:xfrm>
            <a:prstGeom prst="bentConnector3">
              <a:avLst>
                <a:gd name="adj1" fmla="val -276"/>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a:off x="1855788" y="4573588"/>
              <a:ext cx="36000" cy="0"/>
            </a:xfrm>
            <a:prstGeom prst="line">
              <a:avLst/>
            </a:prstGeom>
            <a:ln w="28575">
              <a:solidFill>
                <a:srgbClr val="0000FF"/>
              </a:solidFill>
              <a:headEnd type="ova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a:off x="1735138" y="4449763"/>
              <a:ext cx="36000" cy="0"/>
            </a:xfrm>
            <a:prstGeom prst="line">
              <a:avLst/>
            </a:prstGeom>
            <a:ln w="28575">
              <a:solidFill>
                <a:srgbClr val="0000FF"/>
              </a:solidFill>
              <a:headEnd type="oval"/>
            </a:ln>
          </p:spPr>
          <p:style>
            <a:lnRef idx="1">
              <a:schemeClr val="accent1"/>
            </a:lnRef>
            <a:fillRef idx="0">
              <a:schemeClr val="accent1"/>
            </a:fillRef>
            <a:effectRef idx="0">
              <a:schemeClr val="accent1"/>
            </a:effectRef>
            <a:fontRef idx="minor">
              <a:schemeClr val="tx1"/>
            </a:fontRef>
          </p:style>
        </p:cxnSp>
        <p:cxnSp>
          <p:nvCxnSpPr>
            <p:cNvPr id="256" name="直接连接符 255"/>
            <p:cNvCxnSpPr/>
            <p:nvPr/>
          </p:nvCxnSpPr>
          <p:spPr>
            <a:xfrm>
              <a:off x="1614488" y="4294188"/>
              <a:ext cx="36000" cy="0"/>
            </a:xfrm>
            <a:prstGeom prst="line">
              <a:avLst/>
            </a:prstGeom>
            <a:ln w="28575">
              <a:solidFill>
                <a:srgbClr val="0000FF"/>
              </a:solidFill>
              <a:headEnd type="oval"/>
            </a:ln>
          </p:spPr>
          <p:style>
            <a:lnRef idx="1">
              <a:schemeClr val="accent1"/>
            </a:lnRef>
            <a:fillRef idx="0">
              <a:schemeClr val="accent1"/>
            </a:fillRef>
            <a:effectRef idx="0">
              <a:schemeClr val="accent1"/>
            </a:effectRef>
            <a:fontRef idx="minor">
              <a:schemeClr val="tx1"/>
            </a:fontRef>
          </p:style>
        </p:cxnSp>
      </p:grpSp>
      <p:grpSp>
        <p:nvGrpSpPr>
          <p:cNvPr id="258" name="组合 193"/>
          <p:cNvGrpSpPr/>
          <p:nvPr/>
        </p:nvGrpSpPr>
        <p:grpSpPr>
          <a:xfrm>
            <a:off x="1154554" y="3536408"/>
            <a:ext cx="3447745" cy="1116000"/>
            <a:chOff x="1440304" y="3629892"/>
            <a:chExt cx="3447745" cy="1116000"/>
          </a:xfrm>
        </p:grpSpPr>
        <p:cxnSp>
          <p:nvCxnSpPr>
            <p:cNvPr id="261" name="直接连接符 260"/>
            <p:cNvCxnSpPr/>
            <p:nvPr/>
          </p:nvCxnSpPr>
          <p:spPr>
            <a:xfrm flipH="1" flipV="1">
              <a:off x="1440304" y="4737670"/>
              <a:ext cx="3312000" cy="0"/>
            </a:xfrm>
            <a:prstGeom prst="line">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cxnSp>
          <p:nvCxnSpPr>
            <p:cNvPr id="262" name="肘形连接符 261"/>
            <p:cNvCxnSpPr/>
            <p:nvPr/>
          </p:nvCxnSpPr>
          <p:spPr>
            <a:xfrm rot="5400000">
              <a:off x="4258049" y="4115892"/>
              <a:ext cx="1116000" cy="144000"/>
            </a:xfrm>
            <a:prstGeom prst="bentConnector3">
              <a:avLst>
                <a:gd name="adj1" fmla="val -276"/>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cxnSp>
          <p:nvCxnSpPr>
            <p:cNvPr id="263" name="肘形连接符 262"/>
            <p:cNvCxnSpPr/>
            <p:nvPr/>
          </p:nvCxnSpPr>
          <p:spPr>
            <a:xfrm rot="5400000">
              <a:off x="1514849" y="4115892"/>
              <a:ext cx="1116000" cy="144000"/>
            </a:xfrm>
            <a:prstGeom prst="bentConnector3">
              <a:avLst>
                <a:gd name="adj1" fmla="val -276"/>
              </a:avLst>
            </a:prstGeom>
            <a:ln w="28575">
              <a:solidFill>
                <a:srgbClr val="CC00CC"/>
              </a:solidFill>
            </a:ln>
          </p:spPr>
          <p:style>
            <a:lnRef idx="1">
              <a:schemeClr val="accent1"/>
            </a:lnRef>
            <a:fillRef idx="0">
              <a:schemeClr val="accent1"/>
            </a:fillRef>
            <a:effectRef idx="0">
              <a:schemeClr val="accent1"/>
            </a:effectRef>
            <a:fontRef idx="minor">
              <a:schemeClr val="tx1"/>
            </a:fontRef>
          </p:style>
        </p:cxnSp>
        <p:cxnSp>
          <p:nvCxnSpPr>
            <p:cNvPr id="264" name="直接连接符 263"/>
            <p:cNvCxnSpPr/>
            <p:nvPr/>
          </p:nvCxnSpPr>
          <p:spPr>
            <a:xfrm>
              <a:off x="2001838" y="4729163"/>
              <a:ext cx="36000" cy="0"/>
            </a:xfrm>
            <a:prstGeom prst="line">
              <a:avLst/>
            </a:prstGeom>
            <a:ln w="28575">
              <a:solidFill>
                <a:srgbClr val="CC00CC"/>
              </a:solidFill>
              <a:headEnd type="oval"/>
            </a:ln>
          </p:spPr>
          <p:style>
            <a:lnRef idx="1">
              <a:schemeClr val="accent1"/>
            </a:lnRef>
            <a:fillRef idx="0">
              <a:schemeClr val="accent1"/>
            </a:fillRef>
            <a:effectRef idx="0">
              <a:schemeClr val="accent1"/>
            </a:effectRef>
            <a:fontRef idx="minor">
              <a:schemeClr val="tx1"/>
            </a:fontRef>
          </p:style>
        </p:cxnSp>
      </p:grpSp>
      <p:sp>
        <p:nvSpPr>
          <p:cNvPr id="267" name="圆角矩形 266"/>
          <p:cNvSpPr/>
          <p:nvPr/>
        </p:nvSpPr>
        <p:spPr>
          <a:xfrm>
            <a:off x="6991350" y="2424315"/>
            <a:ext cx="1346200" cy="844550"/>
          </a:xfrm>
          <a:prstGeom prst="roundRect">
            <a:avLst>
              <a:gd name="adj" fmla="val 2084"/>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dirty="0">
                <a:solidFill>
                  <a:schemeClr val="bg1"/>
                </a:solidFill>
                <a:latin typeface="微软雅黑" panose="020B0503020204020204" pitchFamily="34" charset="-122"/>
                <a:ea typeface="微软雅黑" panose="020B0503020204020204" pitchFamily="34" charset="-122"/>
              </a:rPr>
              <a:t>一位</a:t>
            </a:r>
            <a:r>
              <a:rPr lang="en-US" altLang="zh-CN" dirty="0">
                <a:solidFill>
                  <a:schemeClr val="bg1"/>
                </a:solidFill>
                <a:latin typeface="微软雅黑" panose="020B0503020204020204" pitchFamily="34" charset="-122"/>
                <a:ea typeface="微软雅黑" panose="020B0503020204020204" pitchFamily="34" charset="-122"/>
              </a:rPr>
              <a:t>8</a:t>
            </a:r>
            <a:r>
              <a:rPr lang="zh-CN" altLang="en-US" dirty="0">
                <a:solidFill>
                  <a:schemeClr val="bg1"/>
                </a:solidFill>
                <a:latin typeface="微软雅黑" panose="020B0503020204020204" pitchFamily="34" charset="-122"/>
                <a:ea typeface="微软雅黑" panose="020B0503020204020204" pitchFamily="34" charset="-122"/>
              </a:rPr>
              <a:t>选</a:t>
            </a:r>
            <a:r>
              <a:rPr lang="en-US" altLang="zh-CN" dirty="0">
                <a:solidFill>
                  <a:schemeClr val="bg1"/>
                </a:solidFill>
                <a:latin typeface="微软雅黑" panose="020B0503020204020204" pitchFamily="34" charset="-122"/>
                <a:ea typeface="微软雅黑" panose="020B0503020204020204" pitchFamily="34" charset="-122"/>
              </a:rPr>
              <a:t>1</a:t>
            </a:r>
            <a:r>
              <a:rPr lang="zh-CN" altLang="en-US" dirty="0">
                <a:solidFill>
                  <a:schemeClr val="bg1"/>
                </a:solidFill>
                <a:latin typeface="微软雅黑" panose="020B0503020204020204" pitchFamily="34" charset="-122"/>
                <a:ea typeface="微软雅黑" panose="020B0503020204020204" pitchFamily="34" charset="-122"/>
              </a:rPr>
              <a:t>数据选择器</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268" name="圆角矩形 267"/>
          <p:cNvSpPr/>
          <p:nvPr/>
        </p:nvSpPr>
        <p:spPr>
          <a:xfrm>
            <a:off x="7035800" y="3954665"/>
            <a:ext cx="1346200" cy="844550"/>
          </a:xfrm>
          <a:prstGeom prst="roundRect">
            <a:avLst>
              <a:gd name="adj" fmla="val 2084"/>
            </a:avLst>
          </a:prstGeom>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50000"/>
              </a:lnSpc>
            </a:pPr>
            <a:r>
              <a:rPr lang="zh-CN" altLang="en-US" dirty="0">
                <a:solidFill>
                  <a:schemeClr val="bg1"/>
                </a:solidFill>
                <a:latin typeface="微软雅黑" panose="020B0503020204020204" pitchFamily="34" charset="-122"/>
                <a:ea typeface="微软雅黑" panose="020B0503020204020204" pitchFamily="34" charset="-122"/>
              </a:rPr>
              <a:t>两位</a:t>
            </a:r>
            <a:r>
              <a:rPr lang="en-US" altLang="zh-CN" dirty="0">
                <a:solidFill>
                  <a:schemeClr val="bg1"/>
                </a:solidFill>
                <a:latin typeface="微软雅黑" panose="020B0503020204020204" pitchFamily="34" charset="-122"/>
                <a:ea typeface="微软雅黑" panose="020B0503020204020204" pitchFamily="34" charset="-122"/>
              </a:rPr>
              <a:t>8</a:t>
            </a:r>
            <a:r>
              <a:rPr lang="zh-CN" altLang="en-US" dirty="0">
                <a:solidFill>
                  <a:schemeClr val="bg1"/>
                </a:solidFill>
                <a:latin typeface="微软雅黑" panose="020B0503020204020204" pitchFamily="34" charset="-122"/>
                <a:ea typeface="微软雅黑" panose="020B0503020204020204" pitchFamily="34" charset="-122"/>
              </a:rPr>
              <a:t>选</a:t>
            </a:r>
            <a:r>
              <a:rPr lang="en-US" altLang="zh-CN" dirty="0">
                <a:solidFill>
                  <a:schemeClr val="bg1"/>
                </a:solidFill>
                <a:latin typeface="微软雅黑" panose="020B0503020204020204" pitchFamily="34" charset="-122"/>
                <a:ea typeface="微软雅黑" panose="020B0503020204020204" pitchFamily="34" charset="-122"/>
              </a:rPr>
              <a:t>1</a:t>
            </a:r>
            <a:r>
              <a:rPr lang="zh-CN" altLang="en-US" dirty="0">
                <a:solidFill>
                  <a:schemeClr val="bg1"/>
                </a:solidFill>
                <a:latin typeface="微软雅黑" panose="020B0503020204020204" pitchFamily="34" charset="-122"/>
                <a:ea typeface="微软雅黑" panose="020B0503020204020204" pitchFamily="34" charset="-122"/>
              </a:rPr>
              <a:t>数据选择器</a:t>
            </a:r>
            <a:endParaRPr lang="en-US" altLang="zh-CN" dirty="0">
              <a:solidFill>
                <a:schemeClr val="bg1"/>
              </a:solidFill>
              <a:latin typeface="微软雅黑" panose="020B0503020204020204" pitchFamily="34" charset="-122"/>
              <a:ea typeface="微软雅黑" panose="020B0503020204020204" pitchFamily="34" charset="-122"/>
            </a:endParaRPr>
          </a:p>
        </p:txBody>
      </p:sp>
      <p:sp>
        <p:nvSpPr>
          <p:cNvPr id="269" name="下箭头 268"/>
          <p:cNvSpPr/>
          <p:nvPr/>
        </p:nvSpPr>
        <p:spPr>
          <a:xfrm>
            <a:off x="7010400" y="3287915"/>
            <a:ext cx="1314450" cy="635000"/>
          </a:xfrm>
          <a:prstGeom prst="downArrow">
            <a:avLst/>
          </a:prstGeom>
          <a:scene3d>
            <a:camera prst="orthographicFront"/>
            <a:lightRig rig="threePt" dir="t"/>
          </a:scene3d>
          <a:sp3d>
            <a:bevelT/>
          </a:sp3d>
        </p:spPr>
        <p:style>
          <a:lnRef idx="0">
            <a:schemeClr val="accent5"/>
          </a:lnRef>
          <a:fillRef idx="3">
            <a:schemeClr val="accent5"/>
          </a:fillRef>
          <a:effectRef idx="3">
            <a:schemeClr val="accent5"/>
          </a:effectRef>
          <a:fontRef idx="minor">
            <a:schemeClr val="lt1"/>
          </a:fontRef>
        </p:style>
        <p:txBody>
          <a:bodyPr rtlCol="0" anchor="ctr"/>
          <a:lstStyle/>
          <a:p>
            <a:pPr algn="ctr"/>
            <a:r>
              <a:rPr lang="zh-CN" altLang="en-US" dirty="0">
                <a:latin typeface="微软雅黑" panose="020B0503020204020204" pitchFamily="34" charset="-122"/>
                <a:ea typeface="微软雅黑" panose="020B0503020204020204" pitchFamily="34" charset="-122"/>
              </a:rPr>
              <a:t>扩展</a:t>
            </a:r>
            <a:endParaRPr lang="zh-CN" altLang="en-US" dirty="0">
              <a:latin typeface="微软雅黑" panose="020B0503020204020204" pitchFamily="34" charset="-122"/>
              <a:ea typeface="微软雅黑" panose="020B0503020204020204" pitchFamily="34" charset="-122"/>
            </a:endParaRPr>
          </a:p>
        </p:txBody>
      </p:sp>
      <p:sp>
        <p:nvSpPr>
          <p:cNvPr id="79" name="圆角矩形标注 78"/>
          <p:cNvSpPr/>
          <p:nvPr/>
        </p:nvSpPr>
        <p:spPr>
          <a:xfrm>
            <a:off x="5094513" y="1292534"/>
            <a:ext cx="3379453" cy="856306"/>
          </a:xfrm>
          <a:prstGeom prst="wedgeRoundRectCallout">
            <a:avLst>
              <a:gd name="adj1" fmla="val -61319"/>
              <a:gd name="adj2" fmla="val 36787"/>
              <a:gd name="adj3" fmla="val 16667"/>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rtlCol="0" anchor="ctr"/>
          <a:lstStyle/>
          <a:p>
            <a:pPr algn="ctr">
              <a:lnSpc>
                <a:spcPct val="150000"/>
              </a:lnSpc>
            </a:pPr>
            <a:r>
              <a:rPr lang="zh-CN" altLang="en-US" sz="1600" dirty="0">
                <a:latin typeface="微软雅黑" panose="020B0503020204020204" pitchFamily="34" charset="-122"/>
                <a:ea typeface="微软雅黑" panose="020B0503020204020204" pitchFamily="34" charset="-122"/>
              </a:rPr>
              <a:t>将一位数据选择器扩展为两位或多位数据选择器</a:t>
            </a:r>
            <a:endParaRPr lang="zh-CN" altLang="en-US" sz="1600" dirty="0">
              <a:latin typeface="微软雅黑" panose="020B0503020204020204" pitchFamily="34" charset="-122"/>
              <a:ea typeface="微软雅黑" panose="020B0503020204020204" pitchFamily="34" charset="-122"/>
            </a:endParaRPr>
          </a:p>
        </p:txBody>
      </p:sp>
      <p:sp>
        <p:nvSpPr>
          <p:cNvPr id="80" name="椭圆 79"/>
          <p:cNvSpPr/>
          <p:nvPr/>
        </p:nvSpPr>
        <p:spPr>
          <a:xfrm>
            <a:off x="1147722" y="4543171"/>
            <a:ext cx="200025" cy="20983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solidFill>
                  <a:srgbClr val="FF0000"/>
                </a:solidFill>
              </a:rPr>
              <a:t>1</a:t>
            </a:r>
            <a:endParaRPr lang="zh-CN" altLang="en-US" sz="1400" dirty="0">
              <a:solidFill>
                <a:srgbClr val="FF0000"/>
              </a:solidFill>
            </a:endParaRPr>
          </a:p>
        </p:txBody>
      </p:sp>
      <p:grpSp>
        <p:nvGrpSpPr>
          <p:cNvPr id="102" name="组合 101"/>
          <p:cNvGrpSpPr/>
          <p:nvPr/>
        </p:nvGrpSpPr>
        <p:grpSpPr>
          <a:xfrm>
            <a:off x="2270668" y="2489783"/>
            <a:ext cx="3030517" cy="289190"/>
            <a:chOff x="2270668" y="2489783"/>
            <a:chExt cx="3030517" cy="289190"/>
          </a:xfrm>
        </p:grpSpPr>
        <p:sp>
          <p:nvSpPr>
            <p:cNvPr id="81" name="椭圆 80"/>
            <p:cNvSpPr/>
            <p:nvPr/>
          </p:nvSpPr>
          <p:spPr>
            <a:xfrm>
              <a:off x="2270668" y="2489783"/>
              <a:ext cx="288000" cy="2880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rgbClr val="FF0000"/>
                  </a:solidFill>
                </a:rPr>
                <a:t>0</a:t>
              </a:r>
              <a:endParaRPr lang="zh-CN" altLang="en-US" sz="1600" b="1" dirty="0">
                <a:solidFill>
                  <a:srgbClr val="FF0000"/>
                </a:solidFill>
              </a:endParaRPr>
            </a:p>
          </p:txBody>
        </p:sp>
        <p:sp>
          <p:nvSpPr>
            <p:cNvPr id="82" name="椭圆 81"/>
            <p:cNvSpPr/>
            <p:nvPr/>
          </p:nvSpPr>
          <p:spPr>
            <a:xfrm>
              <a:off x="5013185" y="2490973"/>
              <a:ext cx="288000" cy="2880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rgbClr val="FF0000"/>
                  </a:solidFill>
                </a:rPr>
                <a:t>0</a:t>
              </a:r>
              <a:endParaRPr lang="zh-CN" altLang="en-US" sz="1600" b="1" dirty="0">
                <a:solidFill>
                  <a:srgbClr val="FF0000"/>
                </a:solidFill>
              </a:endParaRPr>
            </a:p>
          </p:txBody>
        </p:sp>
      </p:grpSp>
      <p:sp>
        <p:nvSpPr>
          <p:cNvPr id="83" name="椭圆 82"/>
          <p:cNvSpPr/>
          <p:nvPr/>
        </p:nvSpPr>
        <p:spPr>
          <a:xfrm>
            <a:off x="1147722" y="4543171"/>
            <a:ext cx="200025" cy="209835"/>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t>0</a:t>
            </a:r>
            <a:endParaRPr lang="zh-CN" altLang="en-US" sz="1400" dirty="0"/>
          </a:p>
        </p:txBody>
      </p:sp>
      <p:grpSp>
        <p:nvGrpSpPr>
          <p:cNvPr id="86" name="组合 85"/>
          <p:cNvGrpSpPr/>
          <p:nvPr/>
        </p:nvGrpSpPr>
        <p:grpSpPr>
          <a:xfrm>
            <a:off x="2527595" y="2849341"/>
            <a:ext cx="3510849" cy="783192"/>
            <a:chOff x="2527595" y="2849341"/>
            <a:chExt cx="3510849" cy="783192"/>
          </a:xfrm>
        </p:grpSpPr>
        <p:sp>
          <p:nvSpPr>
            <p:cNvPr id="84" name="TextBox 83"/>
            <p:cNvSpPr txBox="1"/>
            <p:nvPr/>
          </p:nvSpPr>
          <p:spPr>
            <a:xfrm>
              <a:off x="2527595" y="2849341"/>
              <a:ext cx="788276" cy="769441"/>
            </a:xfrm>
            <a:prstGeom prst="rect">
              <a:avLst/>
            </a:prstGeom>
            <a:noFill/>
          </p:spPr>
          <p:txBody>
            <a:bodyPr wrap="square" rtlCol="0">
              <a:spAutoFit/>
            </a:bodyPr>
            <a:lstStyle/>
            <a:p>
              <a:r>
                <a:rPr lang="en-US" altLang="zh-CN" sz="4400" dirty="0">
                  <a:solidFill>
                    <a:srgbClr val="FF0000"/>
                  </a:solidFill>
                  <a:latin typeface="华文琥珀" panose="02010800040101010101" pitchFamily="2" charset="-122"/>
                  <a:ea typeface="华文琥珀" panose="02010800040101010101" pitchFamily="2" charset="-122"/>
                </a:rPr>
                <a:t>×</a:t>
              </a:r>
              <a:endParaRPr lang="zh-CN" altLang="en-US" sz="4400" dirty="0">
                <a:solidFill>
                  <a:srgbClr val="FF0000"/>
                </a:solidFill>
                <a:latin typeface="华文琥珀" panose="02010800040101010101" pitchFamily="2" charset="-122"/>
                <a:ea typeface="华文琥珀" panose="02010800040101010101" pitchFamily="2" charset="-122"/>
              </a:endParaRPr>
            </a:p>
          </p:txBody>
        </p:sp>
        <p:sp>
          <p:nvSpPr>
            <p:cNvPr id="85" name="TextBox 84"/>
            <p:cNvSpPr txBox="1"/>
            <p:nvPr/>
          </p:nvSpPr>
          <p:spPr>
            <a:xfrm>
              <a:off x="5250168" y="2863092"/>
              <a:ext cx="788276" cy="769441"/>
            </a:xfrm>
            <a:prstGeom prst="rect">
              <a:avLst/>
            </a:prstGeom>
            <a:noFill/>
          </p:spPr>
          <p:txBody>
            <a:bodyPr wrap="square" rtlCol="0">
              <a:spAutoFit/>
            </a:bodyPr>
            <a:lstStyle/>
            <a:p>
              <a:r>
                <a:rPr lang="en-US" altLang="zh-CN" sz="4400" dirty="0">
                  <a:solidFill>
                    <a:srgbClr val="FF0000"/>
                  </a:solidFill>
                  <a:latin typeface="华文琥珀" panose="02010800040101010101" pitchFamily="2" charset="-122"/>
                  <a:ea typeface="华文琥珀" panose="02010800040101010101" pitchFamily="2" charset="-122"/>
                </a:rPr>
                <a:t>×</a:t>
              </a:r>
              <a:endParaRPr lang="zh-CN" altLang="en-US" sz="4400" dirty="0">
                <a:solidFill>
                  <a:srgbClr val="FF0000"/>
                </a:solidFill>
                <a:latin typeface="华文琥珀" panose="02010800040101010101" pitchFamily="2" charset="-122"/>
                <a:ea typeface="华文琥珀" panose="02010800040101010101" pitchFamily="2" charset="-122"/>
              </a:endParaRPr>
            </a:p>
          </p:txBody>
        </p:sp>
      </p:grpSp>
      <p:grpSp>
        <p:nvGrpSpPr>
          <p:cNvPr id="90" name="组合 89"/>
          <p:cNvGrpSpPr/>
          <p:nvPr/>
        </p:nvGrpSpPr>
        <p:grpSpPr>
          <a:xfrm>
            <a:off x="2520286" y="2855937"/>
            <a:ext cx="3539497" cy="769441"/>
            <a:chOff x="2458410" y="2842181"/>
            <a:chExt cx="3539497" cy="769441"/>
          </a:xfrm>
        </p:grpSpPr>
        <p:sp>
          <p:nvSpPr>
            <p:cNvPr id="88" name="TextBox 87"/>
            <p:cNvSpPr txBox="1"/>
            <p:nvPr/>
          </p:nvSpPr>
          <p:spPr>
            <a:xfrm>
              <a:off x="2458410" y="2842181"/>
              <a:ext cx="788276" cy="769441"/>
            </a:xfrm>
            <a:prstGeom prst="rect">
              <a:avLst/>
            </a:prstGeom>
            <a:noFill/>
          </p:spPr>
          <p:txBody>
            <a:bodyPr wrap="square" rtlCol="0">
              <a:spAutoFit/>
            </a:bodyPr>
            <a:lstStyle/>
            <a:p>
              <a:r>
                <a:rPr lang="zh-CN" altLang="en-US" sz="4400" dirty="0">
                  <a:solidFill>
                    <a:srgbClr val="FF0000"/>
                  </a:solidFill>
                  <a:latin typeface="华文琥珀" panose="02010800040101010101" pitchFamily="2" charset="-122"/>
                  <a:ea typeface="华文琥珀" panose="02010800040101010101" pitchFamily="2" charset="-122"/>
                </a:rPr>
                <a:t>√</a:t>
              </a:r>
              <a:endParaRPr lang="zh-CN" altLang="en-US" sz="4400" dirty="0">
                <a:solidFill>
                  <a:srgbClr val="FF0000"/>
                </a:solidFill>
                <a:latin typeface="华文琥珀" panose="02010800040101010101" pitchFamily="2" charset="-122"/>
                <a:ea typeface="华文琥珀" panose="02010800040101010101" pitchFamily="2" charset="-122"/>
              </a:endParaRPr>
            </a:p>
          </p:txBody>
        </p:sp>
        <p:sp>
          <p:nvSpPr>
            <p:cNvPr id="89" name="TextBox 88"/>
            <p:cNvSpPr txBox="1"/>
            <p:nvPr/>
          </p:nvSpPr>
          <p:spPr>
            <a:xfrm>
              <a:off x="5209631" y="2842181"/>
              <a:ext cx="788276" cy="769441"/>
            </a:xfrm>
            <a:prstGeom prst="rect">
              <a:avLst/>
            </a:prstGeom>
            <a:noFill/>
          </p:spPr>
          <p:txBody>
            <a:bodyPr wrap="square" rtlCol="0">
              <a:spAutoFit/>
            </a:bodyPr>
            <a:lstStyle/>
            <a:p>
              <a:r>
                <a:rPr lang="zh-CN" altLang="en-US" sz="4400" dirty="0">
                  <a:solidFill>
                    <a:srgbClr val="FF0000"/>
                  </a:solidFill>
                  <a:latin typeface="华文琥珀" panose="02010800040101010101" pitchFamily="2" charset="-122"/>
                  <a:ea typeface="华文琥珀" panose="02010800040101010101" pitchFamily="2" charset="-122"/>
                </a:rPr>
                <a:t>√</a:t>
              </a:r>
              <a:endParaRPr lang="zh-CN" altLang="en-US" sz="4400" dirty="0">
                <a:solidFill>
                  <a:srgbClr val="FF0000"/>
                </a:solidFill>
                <a:latin typeface="华文琥珀" panose="02010800040101010101" pitchFamily="2" charset="-122"/>
                <a:ea typeface="华文琥珀" panose="02010800040101010101" pitchFamily="2" charset="-122"/>
              </a:endParaRPr>
            </a:p>
          </p:txBody>
        </p:sp>
      </p:grpSp>
      <p:grpSp>
        <p:nvGrpSpPr>
          <p:cNvPr id="97" name="组合 96"/>
          <p:cNvGrpSpPr/>
          <p:nvPr/>
        </p:nvGrpSpPr>
        <p:grpSpPr>
          <a:xfrm>
            <a:off x="2204635" y="2437416"/>
            <a:ext cx="417102" cy="341490"/>
            <a:chOff x="1957135" y="1969926"/>
            <a:chExt cx="417102" cy="341490"/>
          </a:xfrm>
        </p:grpSpPr>
        <p:sp>
          <p:nvSpPr>
            <p:cNvPr id="94" name="椭圆 93"/>
            <p:cNvSpPr/>
            <p:nvPr/>
          </p:nvSpPr>
          <p:spPr>
            <a:xfrm>
              <a:off x="2024307" y="2023416"/>
              <a:ext cx="288000" cy="2880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400" b="1" baseline="-25000" dirty="0">
                <a:solidFill>
                  <a:srgbClr val="FF0000"/>
                </a:solidFill>
              </a:endParaRPr>
            </a:p>
          </p:txBody>
        </p:sp>
        <p:sp>
          <p:nvSpPr>
            <p:cNvPr id="96" name="矩形 95"/>
            <p:cNvSpPr/>
            <p:nvPr/>
          </p:nvSpPr>
          <p:spPr>
            <a:xfrm>
              <a:off x="1957135" y="1969926"/>
              <a:ext cx="417102" cy="338554"/>
            </a:xfrm>
            <a:prstGeom prst="rect">
              <a:avLst/>
            </a:prstGeom>
          </p:spPr>
          <p:txBody>
            <a:bodyPr wrap="none">
              <a:spAutoFit/>
            </a:bodyPr>
            <a:lstStyle/>
            <a:p>
              <a:pPr algn="ctr"/>
              <a:r>
                <a:rPr lang="en-US" altLang="zh-CN" sz="1600" b="1" i="1" dirty="0">
                  <a:solidFill>
                    <a:srgbClr val="FF0000"/>
                  </a:solidFill>
                </a:rPr>
                <a:t>D</a:t>
              </a:r>
              <a:r>
                <a:rPr lang="en-US" altLang="zh-CN" sz="1600" b="1" baseline="-25000" dirty="0">
                  <a:solidFill>
                    <a:srgbClr val="FF0000"/>
                  </a:solidFill>
                </a:rPr>
                <a:t>0i</a:t>
              </a:r>
              <a:endParaRPr lang="zh-CN" altLang="en-US" sz="1600" b="1" baseline="-25000" dirty="0">
                <a:solidFill>
                  <a:srgbClr val="FF0000"/>
                </a:solidFill>
              </a:endParaRPr>
            </a:p>
          </p:txBody>
        </p:sp>
      </p:grpSp>
      <p:grpSp>
        <p:nvGrpSpPr>
          <p:cNvPr id="98" name="组合 97"/>
          <p:cNvGrpSpPr/>
          <p:nvPr/>
        </p:nvGrpSpPr>
        <p:grpSpPr>
          <a:xfrm>
            <a:off x="4942114" y="2431700"/>
            <a:ext cx="417102" cy="341490"/>
            <a:chOff x="1957135" y="1969926"/>
            <a:chExt cx="417102" cy="341490"/>
          </a:xfrm>
        </p:grpSpPr>
        <p:sp>
          <p:nvSpPr>
            <p:cNvPr id="99" name="椭圆 98"/>
            <p:cNvSpPr/>
            <p:nvPr/>
          </p:nvSpPr>
          <p:spPr>
            <a:xfrm>
              <a:off x="2024307" y="2023416"/>
              <a:ext cx="288000" cy="2880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400" b="1" baseline="-25000" dirty="0">
                <a:solidFill>
                  <a:srgbClr val="FF0000"/>
                </a:solidFill>
              </a:endParaRPr>
            </a:p>
          </p:txBody>
        </p:sp>
        <p:sp>
          <p:nvSpPr>
            <p:cNvPr id="100" name="矩形 99"/>
            <p:cNvSpPr/>
            <p:nvPr/>
          </p:nvSpPr>
          <p:spPr>
            <a:xfrm>
              <a:off x="1957135" y="1969926"/>
              <a:ext cx="417102" cy="338554"/>
            </a:xfrm>
            <a:prstGeom prst="rect">
              <a:avLst/>
            </a:prstGeom>
          </p:spPr>
          <p:txBody>
            <a:bodyPr wrap="none">
              <a:spAutoFit/>
            </a:bodyPr>
            <a:lstStyle/>
            <a:p>
              <a:pPr algn="ctr"/>
              <a:r>
                <a:rPr lang="en-US" altLang="zh-CN" sz="1600" b="1" i="1" dirty="0">
                  <a:solidFill>
                    <a:srgbClr val="FF0000"/>
                  </a:solidFill>
                </a:rPr>
                <a:t>D</a:t>
              </a:r>
              <a:r>
                <a:rPr lang="en-US" altLang="zh-CN" sz="1600" b="1" baseline="-25000" dirty="0">
                  <a:solidFill>
                    <a:srgbClr val="FF0000"/>
                  </a:solidFill>
                </a:rPr>
                <a:t>1i</a:t>
              </a:r>
              <a:endParaRPr lang="zh-CN" altLang="en-US" sz="1600" b="1" baseline="-25000" dirty="0">
                <a:solidFill>
                  <a:srgbClr val="FF0000"/>
                </a:solidFill>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55"/>
                                        </p:tgtEl>
                                        <p:attrNameLst>
                                          <p:attrName>style.visibility</p:attrName>
                                        </p:attrNameLst>
                                      </p:cBhvr>
                                      <p:to>
                                        <p:strVal val="visible"/>
                                      </p:to>
                                    </p:set>
                                    <p:animEffect transition="in" filter="slide(fromBottom)">
                                      <p:cBhvr>
                                        <p:cTn id="7" dur="1000"/>
                                        <p:tgtEl>
                                          <p:spTgt spid="155"/>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79"/>
                                        </p:tgtEl>
                                        <p:attrNameLst>
                                          <p:attrName>style.visibility</p:attrName>
                                        </p:attrNameLst>
                                      </p:cBhvr>
                                      <p:to>
                                        <p:strVal val="visible"/>
                                      </p:to>
                                    </p:set>
                                    <p:animEffect transition="in" filter="wipe(left)">
                                      <p:cBhvr>
                                        <p:cTn id="11" dur="1000"/>
                                        <p:tgtEl>
                                          <p:spTgt spid="79"/>
                                        </p:tgtEl>
                                      </p:cBhvr>
                                    </p:animEffect>
                                  </p:childTnLst>
                                </p:cTn>
                              </p:par>
                            </p:childTnLst>
                          </p:cTn>
                        </p:par>
                        <p:par>
                          <p:cTn id="12" fill="hold">
                            <p:stCondLst>
                              <p:cond delay="2000"/>
                            </p:stCondLst>
                            <p:childTnLst>
                              <p:par>
                                <p:cTn id="13" presetID="12" presetClass="entr" presetSubtype="4" fill="hold" nodeType="afterEffect">
                                  <p:stCondLst>
                                    <p:cond delay="0"/>
                                  </p:stCondLst>
                                  <p:childTnLst>
                                    <p:set>
                                      <p:cBhvr>
                                        <p:cTn id="14" dur="1" fill="hold">
                                          <p:stCondLst>
                                            <p:cond delay="0"/>
                                          </p:stCondLst>
                                        </p:cTn>
                                        <p:tgtEl>
                                          <p:spTgt spid="265"/>
                                        </p:tgtEl>
                                        <p:attrNameLst>
                                          <p:attrName>style.visibility</p:attrName>
                                        </p:attrNameLst>
                                      </p:cBhvr>
                                      <p:to>
                                        <p:strVal val="visible"/>
                                      </p:to>
                                    </p:set>
                                    <p:animEffect transition="in" filter="slide(fromBottom)">
                                      <p:cBhvr>
                                        <p:cTn id="15" dur="1000"/>
                                        <p:tgtEl>
                                          <p:spTgt spid="265"/>
                                        </p:tgtEl>
                                      </p:cBhvr>
                                    </p:animEffect>
                                  </p:childTnLst>
                                </p:cTn>
                              </p:par>
                            </p:childTnLst>
                          </p:cTn>
                        </p:par>
                        <p:par>
                          <p:cTn id="16" fill="hold">
                            <p:stCondLst>
                              <p:cond delay="3000"/>
                            </p:stCondLst>
                            <p:childTnLst>
                              <p:par>
                                <p:cTn id="17" presetID="22" presetClass="entr" presetSubtype="1" fill="hold" grpId="0" nodeType="afterEffect">
                                  <p:stCondLst>
                                    <p:cond delay="0"/>
                                  </p:stCondLst>
                                  <p:childTnLst>
                                    <p:set>
                                      <p:cBhvr>
                                        <p:cTn id="18" dur="1" fill="hold">
                                          <p:stCondLst>
                                            <p:cond delay="0"/>
                                          </p:stCondLst>
                                        </p:cTn>
                                        <p:tgtEl>
                                          <p:spTgt spid="267"/>
                                        </p:tgtEl>
                                        <p:attrNameLst>
                                          <p:attrName>style.visibility</p:attrName>
                                        </p:attrNameLst>
                                      </p:cBhvr>
                                      <p:to>
                                        <p:strVal val="visible"/>
                                      </p:to>
                                    </p:set>
                                    <p:animEffect transition="in" filter="wipe(up)">
                                      <p:cBhvr>
                                        <p:cTn id="19" dur="1000"/>
                                        <p:tgtEl>
                                          <p:spTgt spid="267"/>
                                        </p:tgtEl>
                                      </p:cBhvr>
                                    </p:animEffect>
                                  </p:childTnLst>
                                </p:cTn>
                              </p:par>
                            </p:childTnLst>
                          </p:cTn>
                        </p:par>
                        <p:par>
                          <p:cTn id="20" fill="hold">
                            <p:stCondLst>
                              <p:cond delay="4000"/>
                            </p:stCondLst>
                            <p:childTnLst>
                              <p:par>
                                <p:cTn id="21" presetID="22" presetClass="entr" presetSubtype="1" fill="hold" grpId="0" nodeType="afterEffect">
                                  <p:stCondLst>
                                    <p:cond delay="0"/>
                                  </p:stCondLst>
                                  <p:childTnLst>
                                    <p:set>
                                      <p:cBhvr>
                                        <p:cTn id="22" dur="1" fill="hold">
                                          <p:stCondLst>
                                            <p:cond delay="0"/>
                                          </p:stCondLst>
                                        </p:cTn>
                                        <p:tgtEl>
                                          <p:spTgt spid="269"/>
                                        </p:tgtEl>
                                        <p:attrNameLst>
                                          <p:attrName>style.visibility</p:attrName>
                                        </p:attrNameLst>
                                      </p:cBhvr>
                                      <p:to>
                                        <p:strVal val="visible"/>
                                      </p:to>
                                    </p:set>
                                    <p:animEffect transition="in" filter="wipe(up)">
                                      <p:cBhvr>
                                        <p:cTn id="23" dur="1000"/>
                                        <p:tgtEl>
                                          <p:spTgt spid="269"/>
                                        </p:tgtEl>
                                      </p:cBhvr>
                                    </p:animEffect>
                                  </p:childTnLst>
                                </p:cTn>
                              </p:par>
                            </p:childTnLst>
                          </p:cTn>
                        </p:par>
                        <p:par>
                          <p:cTn id="24" fill="hold">
                            <p:stCondLst>
                              <p:cond delay="5000"/>
                            </p:stCondLst>
                            <p:childTnLst>
                              <p:par>
                                <p:cTn id="25" presetID="22" presetClass="entr" presetSubtype="1" fill="hold" grpId="0" nodeType="afterEffect">
                                  <p:stCondLst>
                                    <p:cond delay="0"/>
                                  </p:stCondLst>
                                  <p:childTnLst>
                                    <p:set>
                                      <p:cBhvr>
                                        <p:cTn id="26" dur="1" fill="hold">
                                          <p:stCondLst>
                                            <p:cond delay="0"/>
                                          </p:stCondLst>
                                        </p:cTn>
                                        <p:tgtEl>
                                          <p:spTgt spid="268"/>
                                        </p:tgtEl>
                                        <p:attrNameLst>
                                          <p:attrName>style.visibility</p:attrName>
                                        </p:attrNameLst>
                                      </p:cBhvr>
                                      <p:to>
                                        <p:strVal val="visible"/>
                                      </p:to>
                                    </p:set>
                                    <p:animEffect transition="in" filter="wipe(up)">
                                      <p:cBhvr>
                                        <p:cTn id="27" dur="1000"/>
                                        <p:tgtEl>
                                          <p:spTgt spid="268"/>
                                        </p:tgtEl>
                                      </p:cBhvr>
                                    </p:animEffect>
                                  </p:childTnLst>
                                </p:cTn>
                              </p:par>
                            </p:childTnLst>
                          </p:cTn>
                        </p:par>
                      </p:childTnLst>
                    </p:cTn>
                  </p:par>
                  <p:par>
                    <p:cTn id="28" fill="hold">
                      <p:stCondLst>
                        <p:cond delay="indefinite"/>
                      </p:stCondLst>
                      <p:childTnLst>
                        <p:par>
                          <p:cTn id="29" fill="hold">
                            <p:stCondLst>
                              <p:cond delay="0"/>
                            </p:stCondLst>
                            <p:childTnLst>
                              <p:par>
                                <p:cTn id="30" presetID="17" presetClass="entr" presetSubtype="2" fill="hold" nodeType="clickEffect">
                                  <p:stCondLst>
                                    <p:cond delay="0"/>
                                  </p:stCondLst>
                                  <p:childTnLst>
                                    <p:set>
                                      <p:cBhvr>
                                        <p:cTn id="31" dur="1" fill="hold">
                                          <p:stCondLst>
                                            <p:cond delay="0"/>
                                          </p:stCondLst>
                                        </p:cTn>
                                        <p:tgtEl>
                                          <p:spTgt spid="258"/>
                                        </p:tgtEl>
                                        <p:attrNameLst>
                                          <p:attrName>style.visibility</p:attrName>
                                        </p:attrNameLst>
                                      </p:cBhvr>
                                      <p:to>
                                        <p:strVal val="visible"/>
                                      </p:to>
                                    </p:set>
                                    <p:anim calcmode="lin" valueType="num">
                                      <p:cBhvr>
                                        <p:cTn id="32" dur="1000" fill="hold"/>
                                        <p:tgtEl>
                                          <p:spTgt spid="258"/>
                                        </p:tgtEl>
                                        <p:attrNameLst>
                                          <p:attrName>ppt_x</p:attrName>
                                        </p:attrNameLst>
                                      </p:cBhvr>
                                      <p:tavLst>
                                        <p:tav tm="0">
                                          <p:val>
                                            <p:strVal val="#ppt_x+#ppt_w/2"/>
                                          </p:val>
                                        </p:tav>
                                        <p:tav tm="100000">
                                          <p:val>
                                            <p:strVal val="#ppt_x"/>
                                          </p:val>
                                        </p:tav>
                                      </p:tavLst>
                                    </p:anim>
                                    <p:anim calcmode="lin" valueType="num">
                                      <p:cBhvr>
                                        <p:cTn id="33" dur="1000" fill="hold"/>
                                        <p:tgtEl>
                                          <p:spTgt spid="258"/>
                                        </p:tgtEl>
                                        <p:attrNameLst>
                                          <p:attrName>ppt_y</p:attrName>
                                        </p:attrNameLst>
                                      </p:cBhvr>
                                      <p:tavLst>
                                        <p:tav tm="0">
                                          <p:val>
                                            <p:strVal val="#ppt_y"/>
                                          </p:val>
                                        </p:tav>
                                        <p:tav tm="100000">
                                          <p:val>
                                            <p:strVal val="#ppt_y"/>
                                          </p:val>
                                        </p:tav>
                                      </p:tavLst>
                                    </p:anim>
                                    <p:anim calcmode="lin" valueType="num">
                                      <p:cBhvr>
                                        <p:cTn id="34" dur="1000" fill="hold"/>
                                        <p:tgtEl>
                                          <p:spTgt spid="258"/>
                                        </p:tgtEl>
                                        <p:attrNameLst>
                                          <p:attrName>ppt_w</p:attrName>
                                        </p:attrNameLst>
                                      </p:cBhvr>
                                      <p:tavLst>
                                        <p:tav tm="0">
                                          <p:val>
                                            <p:fltVal val="0"/>
                                          </p:val>
                                        </p:tav>
                                        <p:tav tm="100000">
                                          <p:val>
                                            <p:strVal val="#ppt_w"/>
                                          </p:val>
                                        </p:tav>
                                      </p:tavLst>
                                    </p:anim>
                                    <p:anim calcmode="lin" valueType="num">
                                      <p:cBhvr>
                                        <p:cTn id="35" dur="1000" fill="hold"/>
                                        <p:tgtEl>
                                          <p:spTgt spid="258"/>
                                        </p:tgtEl>
                                        <p:attrNameLst>
                                          <p:attrName>ppt_h</p:attrName>
                                        </p:attrNameLst>
                                      </p:cBhvr>
                                      <p:tavLst>
                                        <p:tav tm="0">
                                          <p:val>
                                            <p:strVal val="#ppt_h"/>
                                          </p:val>
                                        </p:tav>
                                        <p:tav tm="100000">
                                          <p:val>
                                            <p:strVal val="#ppt_h"/>
                                          </p:val>
                                        </p:tav>
                                      </p:tavLst>
                                    </p:anim>
                                  </p:childTnLst>
                                </p:cTn>
                              </p:par>
                            </p:childTnLst>
                          </p:cTn>
                        </p:par>
                        <p:par>
                          <p:cTn id="36" fill="hold">
                            <p:stCondLst>
                              <p:cond delay="1000"/>
                            </p:stCondLst>
                            <p:childTnLst>
                              <p:par>
                                <p:cTn id="37" presetID="17" presetClass="entr" presetSubtype="2" fill="hold" nodeType="afterEffect">
                                  <p:stCondLst>
                                    <p:cond delay="0"/>
                                  </p:stCondLst>
                                  <p:childTnLst>
                                    <p:set>
                                      <p:cBhvr>
                                        <p:cTn id="38" dur="1" fill="hold">
                                          <p:stCondLst>
                                            <p:cond delay="0"/>
                                          </p:stCondLst>
                                        </p:cTn>
                                        <p:tgtEl>
                                          <p:spTgt spid="243"/>
                                        </p:tgtEl>
                                        <p:attrNameLst>
                                          <p:attrName>style.visibility</p:attrName>
                                        </p:attrNameLst>
                                      </p:cBhvr>
                                      <p:to>
                                        <p:strVal val="visible"/>
                                      </p:to>
                                    </p:set>
                                    <p:anim calcmode="lin" valueType="num">
                                      <p:cBhvr>
                                        <p:cTn id="39" dur="1000" fill="hold"/>
                                        <p:tgtEl>
                                          <p:spTgt spid="243"/>
                                        </p:tgtEl>
                                        <p:attrNameLst>
                                          <p:attrName>ppt_x</p:attrName>
                                        </p:attrNameLst>
                                      </p:cBhvr>
                                      <p:tavLst>
                                        <p:tav tm="0">
                                          <p:val>
                                            <p:strVal val="#ppt_x+#ppt_w/2"/>
                                          </p:val>
                                        </p:tav>
                                        <p:tav tm="100000">
                                          <p:val>
                                            <p:strVal val="#ppt_x"/>
                                          </p:val>
                                        </p:tav>
                                      </p:tavLst>
                                    </p:anim>
                                    <p:anim calcmode="lin" valueType="num">
                                      <p:cBhvr>
                                        <p:cTn id="40" dur="1000" fill="hold"/>
                                        <p:tgtEl>
                                          <p:spTgt spid="243"/>
                                        </p:tgtEl>
                                        <p:attrNameLst>
                                          <p:attrName>ppt_y</p:attrName>
                                        </p:attrNameLst>
                                      </p:cBhvr>
                                      <p:tavLst>
                                        <p:tav tm="0">
                                          <p:val>
                                            <p:strVal val="#ppt_y"/>
                                          </p:val>
                                        </p:tav>
                                        <p:tav tm="100000">
                                          <p:val>
                                            <p:strVal val="#ppt_y"/>
                                          </p:val>
                                        </p:tav>
                                      </p:tavLst>
                                    </p:anim>
                                    <p:anim calcmode="lin" valueType="num">
                                      <p:cBhvr>
                                        <p:cTn id="41" dur="1000" fill="hold"/>
                                        <p:tgtEl>
                                          <p:spTgt spid="243"/>
                                        </p:tgtEl>
                                        <p:attrNameLst>
                                          <p:attrName>ppt_w</p:attrName>
                                        </p:attrNameLst>
                                      </p:cBhvr>
                                      <p:tavLst>
                                        <p:tav tm="0">
                                          <p:val>
                                            <p:fltVal val="0"/>
                                          </p:val>
                                        </p:tav>
                                        <p:tav tm="100000">
                                          <p:val>
                                            <p:strVal val="#ppt_w"/>
                                          </p:val>
                                        </p:tav>
                                      </p:tavLst>
                                    </p:anim>
                                    <p:anim calcmode="lin" valueType="num">
                                      <p:cBhvr>
                                        <p:cTn id="42" dur="1000" fill="hold"/>
                                        <p:tgtEl>
                                          <p:spTgt spid="243"/>
                                        </p:tgtEl>
                                        <p:attrNameLst>
                                          <p:attrName>ppt_h</p:attrName>
                                        </p:attrNameLst>
                                      </p:cBhvr>
                                      <p:tavLst>
                                        <p:tav tm="0">
                                          <p:val>
                                            <p:strVal val="#ppt_h"/>
                                          </p:val>
                                        </p:tav>
                                        <p:tav tm="100000">
                                          <p:val>
                                            <p:strVal val="#ppt_h"/>
                                          </p:val>
                                        </p:tav>
                                      </p:tavLst>
                                    </p:anim>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80"/>
                                        </p:tgtEl>
                                        <p:attrNameLst>
                                          <p:attrName>style.visibility</p:attrName>
                                        </p:attrNameLst>
                                      </p:cBhvr>
                                      <p:to>
                                        <p:strVal val="visible"/>
                                      </p:to>
                                    </p:set>
                                    <p:animEffect transition="in" filter="slide(fromBottom)">
                                      <p:cBhvr>
                                        <p:cTn id="47" dur="1000"/>
                                        <p:tgtEl>
                                          <p:spTgt spid="80"/>
                                        </p:tgtEl>
                                      </p:cBhvr>
                                    </p:animEffect>
                                  </p:childTnLst>
                                </p:cTn>
                              </p:par>
                            </p:childTnLst>
                          </p:cTn>
                        </p:par>
                        <p:par>
                          <p:cTn id="48" fill="hold">
                            <p:stCondLst>
                              <p:cond delay="1000"/>
                            </p:stCondLst>
                            <p:childTnLst>
                              <p:par>
                                <p:cTn id="49" presetID="22" presetClass="entr" presetSubtype="4" fill="hold" nodeType="afterEffect">
                                  <p:stCondLst>
                                    <p:cond delay="0"/>
                                  </p:stCondLst>
                                  <p:childTnLst>
                                    <p:set>
                                      <p:cBhvr>
                                        <p:cTn id="50" dur="1" fill="hold">
                                          <p:stCondLst>
                                            <p:cond delay="0"/>
                                          </p:stCondLst>
                                        </p:cTn>
                                        <p:tgtEl>
                                          <p:spTgt spid="86"/>
                                        </p:tgtEl>
                                        <p:attrNameLst>
                                          <p:attrName>style.visibility</p:attrName>
                                        </p:attrNameLst>
                                      </p:cBhvr>
                                      <p:to>
                                        <p:strVal val="visible"/>
                                      </p:to>
                                    </p:set>
                                    <p:animEffect transition="in" filter="wipe(down)">
                                      <p:cBhvr>
                                        <p:cTn id="51" dur="1000"/>
                                        <p:tgtEl>
                                          <p:spTgt spid="86"/>
                                        </p:tgtEl>
                                      </p:cBhvr>
                                    </p:animEffect>
                                  </p:childTnLst>
                                </p:cTn>
                              </p:par>
                            </p:childTnLst>
                          </p:cTn>
                        </p:par>
                        <p:par>
                          <p:cTn id="52" fill="hold">
                            <p:stCondLst>
                              <p:cond delay="2000"/>
                            </p:stCondLst>
                            <p:childTnLst>
                              <p:par>
                                <p:cTn id="53" presetID="12" presetClass="entr" presetSubtype="4" fill="hold" nodeType="afterEffect">
                                  <p:stCondLst>
                                    <p:cond delay="0"/>
                                  </p:stCondLst>
                                  <p:childTnLst>
                                    <p:set>
                                      <p:cBhvr>
                                        <p:cTn id="54" dur="1" fill="hold">
                                          <p:stCondLst>
                                            <p:cond delay="0"/>
                                          </p:stCondLst>
                                        </p:cTn>
                                        <p:tgtEl>
                                          <p:spTgt spid="102"/>
                                        </p:tgtEl>
                                        <p:attrNameLst>
                                          <p:attrName>style.visibility</p:attrName>
                                        </p:attrNameLst>
                                      </p:cBhvr>
                                      <p:to>
                                        <p:strVal val="visible"/>
                                      </p:to>
                                    </p:set>
                                    <p:animEffect transition="in" filter="slide(fromBottom)">
                                      <p:cBhvr>
                                        <p:cTn id="55" dur="1000"/>
                                        <p:tgtEl>
                                          <p:spTgt spid="102"/>
                                        </p:tgtEl>
                                      </p:cBhvr>
                                    </p:animEffect>
                                  </p:childTnLst>
                                </p:cTn>
                              </p:par>
                            </p:childTnLst>
                          </p:cTn>
                        </p:par>
                      </p:childTnLst>
                    </p:cTn>
                  </p:par>
                  <p:par>
                    <p:cTn id="56" fill="hold">
                      <p:stCondLst>
                        <p:cond delay="indefinite"/>
                      </p:stCondLst>
                      <p:childTnLst>
                        <p:par>
                          <p:cTn id="57" fill="hold">
                            <p:stCondLst>
                              <p:cond delay="0"/>
                            </p:stCondLst>
                            <p:childTnLst>
                              <p:par>
                                <p:cTn id="58" presetID="12" presetClass="entr" presetSubtype="4" fill="hold" grpId="0" nodeType="clickEffect">
                                  <p:stCondLst>
                                    <p:cond delay="0"/>
                                  </p:stCondLst>
                                  <p:childTnLst>
                                    <p:set>
                                      <p:cBhvr>
                                        <p:cTn id="59" dur="1" fill="hold">
                                          <p:stCondLst>
                                            <p:cond delay="0"/>
                                          </p:stCondLst>
                                        </p:cTn>
                                        <p:tgtEl>
                                          <p:spTgt spid="83"/>
                                        </p:tgtEl>
                                        <p:attrNameLst>
                                          <p:attrName>style.visibility</p:attrName>
                                        </p:attrNameLst>
                                      </p:cBhvr>
                                      <p:to>
                                        <p:strVal val="visible"/>
                                      </p:to>
                                    </p:set>
                                    <p:animEffect transition="in" filter="slide(fromBottom)">
                                      <p:cBhvr>
                                        <p:cTn id="60" dur="1000"/>
                                        <p:tgtEl>
                                          <p:spTgt spid="83"/>
                                        </p:tgtEl>
                                      </p:cBhvr>
                                    </p:animEffect>
                                  </p:childTnLst>
                                </p:cTn>
                              </p:par>
                            </p:childTnLst>
                          </p:cTn>
                        </p:par>
                        <p:par>
                          <p:cTn id="61" fill="hold">
                            <p:stCondLst>
                              <p:cond delay="1000"/>
                            </p:stCondLst>
                            <p:childTnLst>
                              <p:par>
                                <p:cTn id="62" presetID="22" presetClass="exit" presetSubtype="4" fill="hold" nodeType="afterEffect">
                                  <p:stCondLst>
                                    <p:cond delay="0"/>
                                  </p:stCondLst>
                                  <p:childTnLst>
                                    <p:animEffect transition="out" filter="wipe(down)">
                                      <p:cBhvr>
                                        <p:cTn id="63" dur="1000"/>
                                        <p:tgtEl>
                                          <p:spTgt spid="86"/>
                                        </p:tgtEl>
                                      </p:cBhvr>
                                    </p:animEffect>
                                    <p:set>
                                      <p:cBhvr>
                                        <p:cTn id="64" dur="1" fill="hold">
                                          <p:stCondLst>
                                            <p:cond delay="999"/>
                                          </p:stCondLst>
                                        </p:cTn>
                                        <p:tgtEl>
                                          <p:spTgt spid="86"/>
                                        </p:tgtEl>
                                        <p:attrNameLst>
                                          <p:attrName>style.visibility</p:attrName>
                                        </p:attrNameLst>
                                      </p:cBhvr>
                                      <p:to>
                                        <p:strVal val="hidden"/>
                                      </p:to>
                                    </p:set>
                                  </p:childTnLst>
                                </p:cTn>
                              </p:par>
                              <p:par>
                                <p:cTn id="65" presetID="22" presetClass="entr" presetSubtype="4" fill="hold" nodeType="withEffect">
                                  <p:stCondLst>
                                    <p:cond delay="0"/>
                                  </p:stCondLst>
                                  <p:childTnLst>
                                    <p:set>
                                      <p:cBhvr>
                                        <p:cTn id="66" dur="1" fill="hold">
                                          <p:stCondLst>
                                            <p:cond delay="0"/>
                                          </p:stCondLst>
                                        </p:cTn>
                                        <p:tgtEl>
                                          <p:spTgt spid="90"/>
                                        </p:tgtEl>
                                        <p:attrNameLst>
                                          <p:attrName>style.visibility</p:attrName>
                                        </p:attrNameLst>
                                      </p:cBhvr>
                                      <p:to>
                                        <p:strVal val="visible"/>
                                      </p:to>
                                    </p:set>
                                    <p:animEffect transition="in" filter="wipe(down)">
                                      <p:cBhvr>
                                        <p:cTn id="67" dur="1000"/>
                                        <p:tgtEl>
                                          <p:spTgt spid="90"/>
                                        </p:tgtEl>
                                      </p:cBhvr>
                                    </p:animEffect>
                                  </p:childTnLst>
                                </p:cTn>
                              </p:par>
                            </p:childTnLst>
                          </p:cTn>
                        </p:par>
                        <p:par>
                          <p:cTn id="68" fill="hold">
                            <p:stCondLst>
                              <p:cond delay="2000"/>
                            </p:stCondLst>
                            <p:childTnLst>
                              <p:par>
                                <p:cTn id="69" presetID="12" presetClass="entr" presetSubtype="4" fill="hold" nodeType="afterEffect">
                                  <p:stCondLst>
                                    <p:cond delay="0"/>
                                  </p:stCondLst>
                                  <p:childTnLst>
                                    <p:set>
                                      <p:cBhvr>
                                        <p:cTn id="70" dur="1" fill="hold">
                                          <p:stCondLst>
                                            <p:cond delay="0"/>
                                          </p:stCondLst>
                                        </p:cTn>
                                        <p:tgtEl>
                                          <p:spTgt spid="97"/>
                                        </p:tgtEl>
                                        <p:attrNameLst>
                                          <p:attrName>style.visibility</p:attrName>
                                        </p:attrNameLst>
                                      </p:cBhvr>
                                      <p:to>
                                        <p:strVal val="visible"/>
                                      </p:to>
                                    </p:set>
                                    <p:animEffect transition="in" filter="slide(fromBottom)">
                                      <p:cBhvr>
                                        <p:cTn id="71" dur="1000"/>
                                        <p:tgtEl>
                                          <p:spTgt spid="97"/>
                                        </p:tgtEl>
                                      </p:cBhvr>
                                    </p:animEffect>
                                  </p:childTnLst>
                                </p:cTn>
                              </p:par>
                              <p:par>
                                <p:cTn id="72" presetID="12" presetClass="entr" presetSubtype="4" fill="hold" nodeType="withEffect">
                                  <p:stCondLst>
                                    <p:cond delay="0"/>
                                  </p:stCondLst>
                                  <p:childTnLst>
                                    <p:set>
                                      <p:cBhvr>
                                        <p:cTn id="73" dur="1" fill="hold">
                                          <p:stCondLst>
                                            <p:cond delay="0"/>
                                          </p:stCondLst>
                                        </p:cTn>
                                        <p:tgtEl>
                                          <p:spTgt spid="98"/>
                                        </p:tgtEl>
                                        <p:attrNameLst>
                                          <p:attrName>style.visibility</p:attrName>
                                        </p:attrNameLst>
                                      </p:cBhvr>
                                      <p:to>
                                        <p:strVal val="visible"/>
                                      </p:to>
                                    </p:set>
                                    <p:animEffect transition="in" filter="slide(fromBottom)">
                                      <p:cBhvr>
                                        <p:cTn id="74" dur="1000"/>
                                        <p:tgtEl>
                                          <p:spTgt spid="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 grpId="0" animBg="1"/>
      <p:bldP spid="267" grpId="0" animBg="1"/>
      <p:bldP spid="268" grpId="0" animBg="1"/>
      <p:bldP spid="269" grpId="0" animBg="1"/>
      <p:bldP spid="79" grpId="0" animBg="1"/>
      <p:bldP spid="80" grpId="0" animBg="1"/>
      <p:bldP spid="83"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 name="圆角矩形标注 78"/>
          <p:cNvSpPr/>
          <p:nvPr/>
        </p:nvSpPr>
        <p:spPr>
          <a:xfrm>
            <a:off x="2264420" y="2154438"/>
            <a:ext cx="3993614" cy="542832"/>
          </a:xfrm>
          <a:prstGeom prst="wedgeRoundRectCallout">
            <a:avLst>
              <a:gd name="adj1" fmla="val -6967"/>
              <a:gd name="adj2" fmla="val -112325"/>
              <a:gd name="adj3" fmla="val 16667"/>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6"/>
          </a:lnRef>
          <a:fillRef idx="3">
            <a:schemeClr val="accent6"/>
          </a:fillRef>
          <a:effectRef idx="2">
            <a:schemeClr val="accent6"/>
          </a:effectRef>
          <a:fontRef idx="minor">
            <a:schemeClr val="lt1"/>
          </a:fontRef>
        </p:style>
        <p:txBody>
          <a:bodyPr rtlCol="0" anchor="ctr"/>
          <a:lstStyle/>
          <a:p>
            <a:pPr algn="ctr"/>
            <a:r>
              <a:rPr lang="zh-CN" altLang="zh-CN" sz="1600" dirty="0">
                <a:latin typeface="微软雅黑" panose="020B0503020204020204" pitchFamily="34" charset="-122"/>
                <a:ea typeface="微软雅黑" panose="020B0503020204020204" pitchFamily="34" charset="-122"/>
              </a:rPr>
              <a:t>对数据选择器的输入数据的路数进行扩展</a:t>
            </a:r>
            <a:endParaRPr lang="zh-CN" altLang="en-US" sz="1600" dirty="0">
              <a:latin typeface="微软雅黑" panose="020B0503020204020204" pitchFamily="34" charset="-122"/>
              <a:ea typeface="微软雅黑" panose="020B0503020204020204" pitchFamily="34" charset="-122"/>
            </a:endParaRPr>
          </a:p>
        </p:txBody>
      </p:sp>
      <p:grpSp>
        <p:nvGrpSpPr>
          <p:cNvPr id="2" name="组合 1"/>
          <p:cNvGrpSpPr/>
          <p:nvPr/>
        </p:nvGrpSpPr>
        <p:grpSpPr>
          <a:xfrm>
            <a:off x="860534" y="1900574"/>
            <a:ext cx="5988050" cy="3190373"/>
            <a:chOff x="860534" y="1900574"/>
            <a:chExt cx="5988050" cy="3190373"/>
          </a:xfrm>
        </p:grpSpPr>
        <p:grpSp>
          <p:nvGrpSpPr>
            <p:cNvPr id="212" name="组合 211"/>
            <p:cNvGrpSpPr/>
            <p:nvPr/>
          </p:nvGrpSpPr>
          <p:grpSpPr>
            <a:xfrm>
              <a:off x="860534" y="1900574"/>
              <a:ext cx="5988050" cy="3190373"/>
              <a:chOff x="860534" y="1900574"/>
              <a:chExt cx="5988050" cy="3190373"/>
            </a:xfrm>
          </p:grpSpPr>
          <p:grpSp>
            <p:nvGrpSpPr>
              <p:cNvPr id="123" name="组合 122"/>
              <p:cNvGrpSpPr/>
              <p:nvPr/>
            </p:nvGrpSpPr>
            <p:grpSpPr>
              <a:xfrm>
                <a:off x="860534" y="1900574"/>
                <a:ext cx="5988050" cy="3190373"/>
                <a:chOff x="1333500" y="1876926"/>
                <a:chExt cx="5988050" cy="3190373"/>
              </a:xfrm>
            </p:grpSpPr>
            <p:sp>
              <p:nvSpPr>
                <p:cNvPr id="124" name="圆角矩形 123"/>
                <p:cNvSpPr/>
                <p:nvPr/>
              </p:nvSpPr>
              <p:spPr>
                <a:xfrm>
                  <a:off x="1333500" y="1876926"/>
                  <a:ext cx="5988050" cy="3190373"/>
                </a:xfrm>
                <a:prstGeom prst="roundRect">
                  <a:avLst>
                    <a:gd name="adj" fmla="val 6017"/>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6" name="组合 196"/>
                <p:cNvGrpSpPr/>
                <p:nvPr/>
              </p:nvGrpSpPr>
              <p:grpSpPr>
                <a:xfrm>
                  <a:off x="2176894" y="2748712"/>
                  <a:ext cx="5073072" cy="1289670"/>
                  <a:chOff x="1992744" y="2729662"/>
                  <a:chExt cx="5073072" cy="1289670"/>
                </a:xfrm>
              </p:grpSpPr>
              <p:pic>
                <p:nvPicPr>
                  <p:cNvPr id="180" name="Picture 9"/>
                  <p:cNvPicPr>
                    <a:picLocks noChangeAspect="1" noChangeArrowheads="1"/>
                  </p:cNvPicPr>
                  <p:nvPr/>
                </p:nvPicPr>
                <p:blipFill>
                  <a:blip r:embed="rId1" cstate="print"/>
                  <a:srcRect/>
                  <a:stretch>
                    <a:fillRect/>
                  </a:stretch>
                </p:blipFill>
                <p:spPr bwMode="auto">
                  <a:xfrm>
                    <a:off x="1992744" y="2729662"/>
                    <a:ext cx="2322946" cy="1289670"/>
                  </a:xfrm>
                  <a:prstGeom prst="rect">
                    <a:avLst/>
                  </a:prstGeom>
                  <a:noFill/>
                  <a:ln w="9525">
                    <a:noFill/>
                    <a:miter lim="800000"/>
                    <a:headEnd/>
                    <a:tailEnd/>
                  </a:ln>
                </p:spPr>
              </p:pic>
              <p:pic>
                <p:nvPicPr>
                  <p:cNvPr id="181" name="Picture 9"/>
                  <p:cNvPicPr>
                    <a:picLocks noChangeAspect="1" noChangeArrowheads="1"/>
                  </p:cNvPicPr>
                  <p:nvPr/>
                </p:nvPicPr>
                <p:blipFill>
                  <a:blip r:embed="rId1" cstate="print"/>
                  <a:srcRect/>
                  <a:stretch>
                    <a:fillRect/>
                  </a:stretch>
                </p:blipFill>
                <p:spPr bwMode="auto">
                  <a:xfrm>
                    <a:off x="4742870" y="2729662"/>
                    <a:ext cx="2322946" cy="1289670"/>
                  </a:xfrm>
                  <a:prstGeom prst="rect">
                    <a:avLst/>
                  </a:prstGeom>
                  <a:noFill/>
                  <a:ln w="9525">
                    <a:noFill/>
                    <a:miter lim="800000"/>
                    <a:headEnd/>
                    <a:tailEnd/>
                  </a:ln>
                </p:spPr>
              </p:pic>
            </p:grpSp>
            <p:grpSp>
              <p:nvGrpSpPr>
                <p:cNvPr id="127" name="组合 198"/>
                <p:cNvGrpSpPr/>
                <p:nvPr/>
              </p:nvGrpSpPr>
              <p:grpSpPr>
                <a:xfrm>
                  <a:off x="1371600" y="3073977"/>
                  <a:ext cx="3786344" cy="1632549"/>
                  <a:chOff x="1263650" y="2769177"/>
                  <a:chExt cx="3786344" cy="1632549"/>
                </a:xfrm>
              </p:grpSpPr>
              <p:grpSp>
                <p:nvGrpSpPr>
                  <p:cNvPr id="166" name="组合 195"/>
                  <p:cNvGrpSpPr/>
                  <p:nvPr/>
                </p:nvGrpSpPr>
                <p:grpSpPr>
                  <a:xfrm>
                    <a:off x="1516503" y="2769177"/>
                    <a:ext cx="3533491" cy="1534364"/>
                    <a:chOff x="1440303" y="3054927"/>
                    <a:chExt cx="3533491" cy="1534364"/>
                  </a:xfrm>
                </p:grpSpPr>
                <p:cxnSp>
                  <p:nvCxnSpPr>
                    <p:cNvPr id="168" name="直接连接符 167"/>
                    <p:cNvCxnSpPr/>
                    <p:nvPr/>
                  </p:nvCxnSpPr>
                  <p:spPr>
                    <a:xfrm flipH="1">
                      <a:off x="1440303" y="4298156"/>
                      <a:ext cx="2929291" cy="7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p:nvCxnSpPr>
                  <p:spPr>
                    <a:xfrm flipH="1" flipV="1">
                      <a:off x="1440304" y="4447309"/>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a:xfrm flipH="1" flipV="1">
                      <a:off x="1440304" y="4585277"/>
                      <a:ext cx="3175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肘形连接符 170"/>
                    <p:cNvCxnSpPr/>
                    <p:nvPr/>
                  </p:nvCxnSpPr>
                  <p:spPr>
                    <a:xfrm rot="5400000">
                      <a:off x="4045529" y="3380510"/>
                      <a:ext cx="1253836" cy="60267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肘形连接符 171"/>
                    <p:cNvCxnSpPr/>
                    <p:nvPr/>
                  </p:nvCxnSpPr>
                  <p:spPr>
                    <a:xfrm rot="5400000">
                      <a:off x="4121438" y="3606109"/>
                      <a:ext cx="1224000" cy="468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肘形连接符 172"/>
                    <p:cNvCxnSpPr/>
                    <p:nvPr/>
                  </p:nvCxnSpPr>
                  <p:spPr>
                    <a:xfrm rot="5400000">
                      <a:off x="4199794" y="3815291"/>
                      <a:ext cx="1188000" cy="360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肘形连接符 173"/>
                    <p:cNvCxnSpPr/>
                    <p:nvPr/>
                  </p:nvCxnSpPr>
                  <p:spPr>
                    <a:xfrm rot="5400000">
                      <a:off x="1289629" y="3380510"/>
                      <a:ext cx="1253836" cy="60267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肘形连接符 174"/>
                    <p:cNvCxnSpPr/>
                    <p:nvPr/>
                  </p:nvCxnSpPr>
                  <p:spPr>
                    <a:xfrm rot="5400000">
                      <a:off x="1359188" y="3606109"/>
                      <a:ext cx="1224000" cy="468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肘形连接符 175"/>
                    <p:cNvCxnSpPr/>
                    <p:nvPr/>
                  </p:nvCxnSpPr>
                  <p:spPr>
                    <a:xfrm rot="5400000">
                      <a:off x="1443894" y="3815291"/>
                      <a:ext cx="1188000" cy="360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1855788" y="4573588"/>
                      <a:ext cx="36000"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a:xfrm>
                      <a:off x="1735138" y="4449763"/>
                      <a:ext cx="36000"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1614488" y="4294188"/>
                      <a:ext cx="36000"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grpSp>
              <p:sp>
                <p:nvSpPr>
                  <p:cNvPr id="167" name="TextBox 166"/>
                  <p:cNvSpPr txBox="1"/>
                  <p:nvPr/>
                </p:nvSpPr>
                <p:spPr>
                  <a:xfrm>
                    <a:off x="1263650" y="3886200"/>
                    <a:ext cx="309700" cy="515526"/>
                  </a:xfrm>
                  <a:prstGeom prst="rect">
                    <a:avLst/>
                  </a:prstGeom>
                  <a:noFill/>
                  <a:ln>
                    <a:noFill/>
                  </a:ln>
                </p:spPr>
                <p:txBody>
                  <a:bodyPr wrap="non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S</a:t>
                    </a:r>
                    <a:r>
                      <a:rPr lang="en-US" altLang="zh-CN" sz="1100" b="1" baseline="-25000" dirty="0">
                        <a:latin typeface="Times New Roman" panose="02020603050405020304" pitchFamily="18" charset="0"/>
                        <a:cs typeface="Times New Roman" panose="02020603050405020304" pitchFamily="18" charset="0"/>
                      </a:rPr>
                      <a:t>2</a:t>
                    </a:r>
                    <a:endParaRPr lang="en-US" altLang="zh-CN" sz="1100" b="1" baseline="-25000" dirty="0">
                      <a:latin typeface="Times New Roman" panose="02020603050405020304" pitchFamily="18" charset="0"/>
                      <a:cs typeface="Times New Roman" panose="02020603050405020304" pitchFamily="18" charset="0"/>
                    </a:endParaRPr>
                  </a:p>
                  <a:p>
                    <a:pPr>
                      <a:lnSpc>
                        <a:spcPts val="1100"/>
                      </a:lnSpc>
                    </a:pPr>
                    <a:r>
                      <a:rPr lang="en-US" altLang="zh-CN" sz="1100" b="1" i="1" dirty="0">
                        <a:latin typeface="Times New Roman" panose="02020603050405020304" pitchFamily="18" charset="0"/>
                        <a:cs typeface="Times New Roman" panose="02020603050405020304" pitchFamily="18" charset="0"/>
                      </a:rPr>
                      <a:t>S</a:t>
                    </a:r>
                    <a:r>
                      <a:rPr lang="en-US" altLang="zh-CN" sz="1100" b="1" baseline="-25000" dirty="0">
                        <a:latin typeface="Times New Roman" panose="02020603050405020304" pitchFamily="18" charset="0"/>
                        <a:cs typeface="Times New Roman" panose="02020603050405020304" pitchFamily="18" charset="0"/>
                      </a:rPr>
                      <a:t>1</a:t>
                    </a:r>
                    <a:endParaRPr lang="en-US" altLang="zh-CN" sz="1100" b="1" baseline="-25000" dirty="0">
                      <a:latin typeface="Times New Roman" panose="02020603050405020304" pitchFamily="18" charset="0"/>
                      <a:cs typeface="Times New Roman" panose="02020603050405020304" pitchFamily="18" charset="0"/>
                    </a:endParaRPr>
                  </a:p>
                  <a:p>
                    <a:pPr>
                      <a:lnSpc>
                        <a:spcPts val="1100"/>
                      </a:lnSpc>
                    </a:pPr>
                    <a:r>
                      <a:rPr lang="en-US" altLang="zh-CN" sz="1100" b="1" i="1" dirty="0">
                        <a:latin typeface="Times New Roman" panose="02020603050405020304" pitchFamily="18" charset="0"/>
                        <a:cs typeface="Times New Roman" panose="02020603050405020304" pitchFamily="18" charset="0"/>
                      </a:rPr>
                      <a:t>S</a:t>
                    </a:r>
                    <a:r>
                      <a:rPr lang="en-US" altLang="zh-CN" sz="1100" b="1" baseline="-25000" dirty="0">
                        <a:latin typeface="Times New Roman" panose="02020603050405020304" pitchFamily="18" charset="0"/>
                        <a:cs typeface="Times New Roman" panose="02020603050405020304" pitchFamily="18" charset="0"/>
                      </a:rPr>
                      <a:t>0</a:t>
                    </a:r>
                    <a:endParaRPr lang="zh-CN" altLang="en-US" sz="1100" b="1" baseline="-25000" dirty="0">
                      <a:latin typeface="Times New Roman" panose="02020603050405020304" pitchFamily="18" charset="0"/>
                      <a:cs typeface="Times New Roman" panose="02020603050405020304" pitchFamily="18" charset="0"/>
                    </a:endParaRPr>
                  </a:p>
                </p:txBody>
              </p:sp>
            </p:grpSp>
            <p:sp>
              <p:nvSpPr>
                <p:cNvPr id="160" name="矩形 159"/>
                <p:cNvSpPr/>
                <p:nvPr/>
              </p:nvSpPr>
              <p:spPr>
                <a:xfrm>
                  <a:off x="1373525" y="4715554"/>
                  <a:ext cx="320922" cy="233397"/>
                </a:xfrm>
                <a:prstGeom prst="rect">
                  <a:avLst/>
                </a:prstGeom>
                <a:ln>
                  <a:noFill/>
                </a:ln>
              </p:spPr>
              <p:txBody>
                <a:bodyPr wrap="none">
                  <a:spAutoFit/>
                </a:bodyPr>
                <a:lstStyle/>
                <a:p>
                  <a:pPr>
                    <a:lnSpc>
                      <a:spcPts val="1100"/>
                    </a:lnSpc>
                  </a:pPr>
                  <a:r>
                    <a:rPr lang="en-US" altLang="zh-CN" sz="1200" b="1" i="1" dirty="0">
                      <a:latin typeface="Times New Roman" panose="02020603050405020304" pitchFamily="18" charset="0"/>
                      <a:cs typeface="Times New Roman" panose="02020603050405020304" pitchFamily="18" charset="0"/>
                    </a:rPr>
                    <a:t>S</a:t>
                  </a:r>
                  <a:r>
                    <a:rPr lang="en-US" altLang="zh-CN" sz="1200" b="1" baseline="-25000" dirty="0">
                      <a:latin typeface="Times New Roman" panose="02020603050405020304" pitchFamily="18" charset="0"/>
                      <a:cs typeface="Times New Roman" panose="02020603050405020304" pitchFamily="18" charset="0"/>
                    </a:rPr>
                    <a:t>3</a:t>
                  </a:r>
                  <a:endParaRPr lang="zh-CN" altLang="en-US" sz="1200" b="1" baseline="-25000" dirty="0">
                    <a:latin typeface="Times New Roman" panose="02020603050405020304" pitchFamily="18" charset="0"/>
                    <a:cs typeface="Times New Roman" panose="02020603050405020304" pitchFamily="18" charset="0"/>
                  </a:endParaRPr>
                </a:p>
              </p:txBody>
            </p:sp>
            <p:grpSp>
              <p:nvGrpSpPr>
                <p:cNvPr id="129" name="组合 212"/>
                <p:cNvGrpSpPr/>
                <p:nvPr/>
              </p:nvGrpSpPr>
              <p:grpSpPr>
                <a:xfrm>
                  <a:off x="2454250" y="3999324"/>
                  <a:ext cx="1943100" cy="233397"/>
                  <a:chOff x="2305050" y="3694524"/>
                  <a:chExt cx="1943100" cy="233397"/>
                </a:xfrm>
              </p:grpSpPr>
              <p:sp>
                <p:nvSpPr>
                  <p:cNvPr id="148" name="TextBox 147"/>
                  <p:cNvSpPr txBox="1"/>
                  <p:nvPr/>
                </p:nvSpPr>
                <p:spPr>
                  <a:xfrm>
                    <a:off x="230505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0</a:t>
                    </a:r>
                    <a:endParaRPr lang="zh-CN" altLang="en-US" sz="1100" b="1" baseline="-25000" dirty="0">
                      <a:latin typeface="Times New Roman" panose="02020603050405020304" pitchFamily="18" charset="0"/>
                      <a:cs typeface="Times New Roman" panose="02020603050405020304" pitchFamily="18" charset="0"/>
                    </a:endParaRPr>
                  </a:p>
                </p:txBody>
              </p:sp>
              <p:sp>
                <p:nvSpPr>
                  <p:cNvPr id="149" name="TextBox 148"/>
                  <p:cNvSpPr txBox="1"/>
                  <p:nvPr/>
                </p:nvSpPr>
                <p:spPr>
                  <a:xfrm>
                    <a:off x="2525486"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a:t>
                    </a:r>
                    <a:endParaRPr lang="zh-CN" altLang="en-US" sz="1100" b="1" baseline="-25000" dirty="0">
                      <a:latin typeface="Times New Roman" panose="02020603050405020304" pitchFamily="18" charset="0"/>
                      <a:cs typeface="Times New Roman" panose="02020603050405020304" pitchFamily="18" charset="0"/>
                    </a:endParaRPr>
                  </a:p>
                </p:txBody>
              </p:sp>
              <p:sp>
                <p:nvSpPr>
                  <p:cNvPr id="152" name="TextBox 151"/>
                  <p:cNvSpPr txBox="1"/>
                  <p:nvPr/>
                </p:nvSpPr>
                <p:spPr>
                  <a:xfrm>
                    <a:off x="2745922"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2</a:t>
                    </a:r>
                    <a:endParaRPr lang="zh-CN" altLang="en-US" sz="1100" b="1" baseline="-25000" dirty="0">
                      <a:latin typeface="Times New Roman" panose="02020603050405020304" pitchFamily="18" charset="0"/>
                      <a:cs typeface="Times New Roman" panose="02020603050405020304" pitchFamily="18" charset="0"/>
                    </a:endParaRPr>
                  </a:p>
                </p:txBody>
              </p:sp>
              <p:sp>
                <p:nvSpPr>
                  <p:cNvPr id="153" name="TextBox 152"/>
                  <p:cNvSpPr txBox="1"/>
                  <p:nvPr/>
                </p:nvSpPr>
                <p:spPr>
                  <a:xfrm>
                    <a:off x="2966358"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3</a:t>
                    </a:r>
                    <a:endParaRPr lang="zh-CN" altLang="en-US" sz="1100" b="1" baseline="-25000" dirty="0">
                      <a:latin typeface="Times New Roman" panose="02020603050405020304" pitchFamily="18" charset="0"/>
                      <a:cs typeface="Times New Roman" panose="02020603050405020304" pitchFamily="18" charset="0"/>
                    </a:endParaRPr>
                  </a:p>
                </p:txBody>
              </p:sp>
              <p:sp>
                <p:nvSpPr>
                  <p:cNvPr id="154" name="TextBox 153"/>
                  <p:cNvSpPr txBox="1"/>
                  <p:nvPr/>
                </p:nvSpPr>
                <p:spPr>
                  <a:xfrm>
                    <a:off x="3186794"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4</a:t>
                    </a:r>
                    <a:endParaRPr lang="zh-CN" altLang="en-US" sz="1100" b="1" baseline="-25000" dirty="0">
                      <a:latin typeface="Times New Roman" panose="02020603050405020304" pitchFamily="18" charset="0"/>
                      <a:cs typeface="Times New Roman" panose="02020603050405020304" pitchFamily="18" charset="0"/>
                    </a:endParaRPr>
                  </a:p>
                </p:txBody>
              </p:sp>
              <p:sp>
                <p:nvSpPr>
                  <p:cNvPr id="155" name="TextBox 154"/>
                  <p:cNvSpPr txBox="1"/>
                  <p:nvPr/>
                </p:nvSpPr>
                <p:spPr>
                  <a:xfrm>
                    <a:off x="340723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5</a:t>
                    </a:r>
                    <a:endParaRPr lang="zh-CN" altLang="en-US" sz="1100" b="1" baseline="-25000" dirty="0">
                      <a:latin typeface="Times New Roman" panose="02020603050405020304" pitchFamily="18" charset="0"/>
                      <a:cs typeface="Times New Roman" panose="02020603050405020304" pitchFamily="18" charset="0"/>
                    </a:endParaRPr>
                  </a:p>
                </p:txBody>
              </p:sp>
              <p:sp>
                <p:nvSpPr>
                  <p:cNvPr id="156" name="TextBox 155"/>
                  <p:cNvSpPr txBox="1"/>
                  <p:nvPr/>
                </p:nvSpPr>
                <p:spPr>
                  <a:xfrm>
                    <a:off x="3627666"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6</a:t>
                    </a:r>
                    <a:endParaRPr lang="zh-CN" altLang="en-US" sz="1100" b="1" baseline="-25000" dirty="0">
                      <a:latin typeface="Times New Roman" panose="02020603050405020304" pitchFamily="18" charset="0"/>
                      <a:cs typeface="Times New Roman" panose="02020603050405020304" pitchFamily="18" charset="0"/>
                    </a:endParaRPr>
                  </a:p>
                </p:txBody>
              </p:sp>
              <p:sp>
                <p:nvSpPr>
                  <p:cNvPr id="157" name="TextBox 156"/>
                  <p:cNvSpPr txBox="1"/>
                  <p:nvPr/>
                </p:nvSpPr>
                <p:spPr>
                  <a:xfrm>
                    <a:off x="384810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7</a:t>
                    </a:r>
                    <a:endParaRPr lang="zh-CN" altLang="en-US" sz="1100" b="1" baseline="-25000" dirty="0">
                      <a:latin typeface="Times New Roman" panose="02020603050405020304" pitchFamily="18" charset="0"/>
                      <a:cs typeface="Times New Roman" panose="02020603050405020304" pitchFamily="18" charset="0"/>
                    </a:endParaRPr>
                  </a:p>
                </p:txBody>
              </p:sp>
            </p:grpSp>
            <p:grpSp>
              <p:nvGrpSpPr>
                <p:cNvPr id="130" name="组合 213"/>
                <p:cNvGrpSpPr/>
                <p:nvPr/>
              </p:nvGrpSpPr>
              <p:grpSpPr>
                <a:xfrm>
                  <a:off x="5187950" y="4012024"/>
                  <a:ext cx="1943100" cy="233397"/>
                  <a:chOff x="2305050" y="3694524"/>
                  <a:chExt cx="1943100" cy="233397"/>
                </a:xfrm>
              </p:grpSpPr>
              <p:sp>
                <p:nvSpPr>
                  <p:cNvPr id="135" name="TextBox 134"/>
                  <p:cNvSpPr txBox="1"/>
                  <p:nvPr/>
                </p:nvSpPr>
                <p:spPr>
                  <a:xfrm>
                    <a:off x="230505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8</a:t>
                    </a:r>
                    <a:endParaRPr lang="zh-CN" altLang="en-US" sz="1100" b="1" baseline="-25000" dirty="0">
                      <a:latin typeface="Times New Roman" panose="02020603050405020304" pitchFamily="18" charset="0"/>
                      <a:cs typeface="Times New Roman" panose="02020603050405020304" pitchFamily="18" charset="0"/>
                    </a:endParaRPr>
                  </a:p>
                </p:txBody>
              </p:sp>
              <p:sp>
                <p:nvSpPr>
                  <p:cNvPr id="136" name="TextBox 135"/>
                  <p:cNvSpPr txBox="1"/>
                  <p:nvPr/>
                </p:nvSpPr>
                <p:spPr>
                  <a:xfrm>
                    <a:off x="2525486"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9</a:t>
                    </a:r>
                    <a:endParaRPr lang="zh-CN" altLang="en-US" sz="1100" b="1" baseline="-25000" dirty="0">
                      <a:latin typeface="Times New Roman" panose="02020603050405020304" pitchFamily="18" charset="0"/>
                      <a:cs typeface="Times New Roman" panose="02020603050405020304" pitchFamily="18" charset="0"/>
                    </a:endParaRPr>
                  </a:p>
                </p:txBody>
              </p:sp>
              <p:sp>
                <p:nvSpPr>
                  <p:cNvPr id="137" name="TextBox 136"/>
                  <p:cNvSpPr txBox="1"/>
                  <p:nvPr/>
                </p:nvSpPr>
                <p:spPr>
                  <a:xfrm>
                    <a:off x="2745922"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10</a:t>
                    </a:r>
                    <a:endParaRPr lang="zh-CN" altLang="en-US" sz="1100" b="1" baseline="-25000" dirty="0">
                      <a:latin typeface="Times New Roman" panose="02020603050405020304" pitchFamily="18" charset="0"/>
                      <a:cs typeface="Times New Roman" panose="02020603050405020304" pitchFamily="18" charset="0"/>
                    </a:endParaRPr>
                  </a:p>
                </p:txBody>
              </p:sp>
              <p:sp>
                <p:nvSpPr>
                  <p:cNvPr id="140" name="TextBox 139"/>
                  <p:cNvSpPr txBox="1"/>
                  <p:nvPr/>
                </p:nvSpPr>
                <p:spPr>
                  <a:xfrm>
                    <a:off x="2966358"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11</a:t>
                    </a:r>
                    <a:endParaRPr lang="zh-CN" altLang="en-US" sz="1100" b="1" baseline="-25000" dirty="0">
                      <a:latin typeface="Times New Roman" panose="02020603050405020304" pitchFamily="18" charset="0"/>
                      <a:cs typeface="Times New Roman" panose="02020603050405020304" pitchFamily="18" charset="0"/>
                    </a:endParaRPr>
                  </a:p>
                </p:txBody>
              </p:sp>
              <p:sp>
                <p:nvSpPr>
                  <p:cNvPr id="144" name="TextBox 143"/>
                  <p:cNvSpPr txBox="1"/>
                  <p:nvPr/>
                </p:nvSpPr>
                <p:spPr>
                  <a:xfrm>
                    <a:off x="3186794"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12</a:t>
                    </a:r>
                    <a:endParaRPr lang="zh-CN" altLang="en-US" sz="1100" b="1" baseline="-25000" dirty="0">
                      <a:latin typeface="Times New Roman" panose="02020603050405020304" pitchFamily="18" charset="0"/>
                      <a:cs typeface="Times New Roman" panose="02020603050405020304" pitchFamily="18" charset="0"/>
                    </a:endParaRPr>
                  </a:p>
                </p:txBody>
              </p:sp>
              <p:sp>
                <p:nvSpPr>
                  <p:cNvPr id="145" name="TextBox 144"/>
                  <p:cNvSpPr txBox="1"/>
                  <p:nvPr/>
                </p:nvSpPr>
                <p:spPr>
                  <a:xfrm>
                    <a:off x="340723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13</a:t>
                    </a:r>
                    <a:endParaRPr lang="zh-CN" altLang="en-US" sz="1100" b="1" baseline="-25000" dirty="0">
                      <a:latin typeface="Times New Roman" panose="02020603050405020304" pitchFamily="18" charset="0"/>
                      <a:cs typeface="Times New Roman" panose="02020603050405020304" pitchFamily="18" charset="0"/>
                    </a:endParaRPr>
                  </a:p>
                </p:txBody>
              </p:sp>
              <p:sp>
                <p:nvSpPr>
                  <p:cNvPr id="146" name="TextBox 145"/>
                  <p:cNvSpPr txBox="1"/>
                  <p:nvPr/>
                </p:nvSpPr>
                <p:spPr>
                  <a:xfrm>
                    <a:off x="3627666"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14</a:t>
                    </a:r>
                    <a:endParaRPr lang="zh-CN" altLang="en-US" sz="1100" b="1" baseline="-25000" dirty="0">
                      <a:latin typeface="Times New Roman" panose="02020603050405020304" pitchFamily="18" charset="0"/>
                      <a:cs typeface="Times New Roman" panose="02020603050405020304" pitchFamily="18" charset="0"/>
                    </a:endParaRPr>
                  </a:p>
                </p:txBody>
              </p:sp>
              <p:sp>
                <p:nvSpPr>
                  <p:cNvPr id="147" name="TextBox 146"/>
                  <p:cNvSpPr txBox="1"/>
                  <p:nvPr/>
                </p:nvSpPr>
                <p:spPr>
                  <a:xfrm>
                    <a:off x="384810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15</a:t>
                    </a:r>
                    <a:endParaRPr lang="zh-CN" altLang="en-US" sz="1100" b="1" baseline="-25000" dirty="0">
                      <a:latin typeface="Times New Roman" panose="02020603050405020304" pitchFamily="18" charset="0"/>
                      <a:cs typeface="Times New Roman" panose="02020603050405020304" pitchFamily="18" charset="0"/>
                    </a:endParaRPr>
                  </a:p>
                </p:txBody>
              </p:sp>
            </p:grpSp>
            <p:grpSp>
              <p:nvGrpSpPr>
                <p:cNvPr id="90" name="组合 89"/>
                <p:cNvGrpSpPr/>
                <p:nvPr/>
              </p:nvGrpSpPr>
              <p:grpSpPr>
                <a:xfrm>
                  <a:off x="1627939" y="3650683"/>
                  <a:ext cx="3447746" cy="1335809"/>
                  <a:chOff x="1611754" y="3642591"/>
                  <a:chExt cx="3447746" cy="1335809"/>
                </a:xfrm>
              </p:grpSpPr>
              <p:grpSp>
                <p:nvGrpSpPr>
                  <p:cNvPr id="159" name="组合 193"/>
                  <p:cNvGrpSpPr/>
                  <p:nvPr/>
                </p:nvGrpSpPr>
                <p:grpSpPr>
                  <a:xfrm>
                    <a:off x="1611754" y="3642591"/>
                    <a:ext cx="3447746" cy="1192150"/>
                    <a:chOff x="1440304" y="3629891"/>
                    <a:chExt cx="3447746" cy="1116001"/>
                  </a:xfrm>
                </p:grpSpPr>
                <p:cxnSp>
                  <p:nvCxnSpPr>
                    <p:cNvPr id="162" name="直接连接符 161"/>
                    <p:cNvCxnSpPr/>
                    <p:nvPr/>
                  </p:nvCxnSpPr>
                  <p:spPr>
                    <a:xfrm flipH="1" flipV="1">
                      <a:off x="1440304" y="4737670"/>
                      <a:ext cx="3312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肘形连接符 162"/>
                    <p:cNvCxnSpPr/>
                    <p:nvPr/>
                  </p:nvCxnSpPr>
                  <p:spPr>
                    <a:xfrm rot="5400000">
                      <a:off x="4258050" y="4115891"/>
                      <a:ext cx="1116000" cy="144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肘形连接符 163"/>
                    <p:cNvCxnSpPr/>
                    <p:nvPr/>
                  </p:nvCxnSpPr>
                  <p:spPr>
                    <a:xfrm rot="5400000">
                      <a:off x="1514849" y="4115892"/>
                      <a:ext cx="1116000" cy="144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直接连接符 164"/>
                    <p:cNvCxnSpPr/>
                    <p:nvPr/>
                  </p:nvCxnSpPr>
                  <p:spPr>
                    <a:xfrm>
                      <a:off x="2001838" y="4729163"/>
                      <a:ext cx="36000"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grpSp>
              <p:sp>
                <p:nvSpPr>
                  <p:cNvPr id="183" name="矩形 182"/>
                  <p:cNvSpPr/>
                  <p:nvPr/>
                </p:nvSpPr>
                <p:spPr>
                  <a:xfrm>
                    <a:off x="2374900" y="4673600"/>
                    <a:ext cx="215900" cy="3048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Times New Roman" panose="02020603050405020304" pitchFamily="18" charset="0"/>
                        <a:cs typeface="Times New Roman" panose="02020603050405020304" pitchFamily="18" charset="0"/>
                      </a:rPr>
                      <a:t>1</a:t>
                    </a:r>
                    <a:endParaRPr lang="zh-CN" altLang="en-US" sz="1400" dirty="0">
                      <a:solidFill>
                        <a:schemeClr val="tx1"/>
                      </a:solidFill>
                      <a:latin typeface="Times New Roman" panose="02020603050405020304" pitchFamily="18" charset="0"/>
                      <a:cs typeface="Times New Roman" panose="02020603050405020304" pitchFamily="18" charset="0"/>
                    </a:endParaRPr>
                  </a:p>
                </p:txBody>
              </p:sp>
              <p:sp>
                <p:nvSpPr>
                  <p:cNvPr id="184" name="椭圆 183"/>
                  <p:cNvSpPr/>
                  <p:nvPr/>
                </p:nvSpPr>
                <p:spPr>
                  <a:xfrm>
                    <a:off x="2597150" y="4781550"/>
                    <a:ext cx="72000" cy="72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8" name="组合 207"/>
                <p:cNvGrpSpPr/>
                <p:nvPr/>
              </p:nvGrpSpPr>
              <p:grpSpPr>
                <a:xfrm>
                  <a:off x="3124201" y="1943547"/>
                  <a:ext cx="3204399" cy="814735"/>
                  <a:chOff x="3124201" y="1943547"/>
                  <a:chExt cx="3204399" cy="814735"/>
                </a:xfrm>
              </p:grpSpPr>
              <p:cxnSp>
                <p:nvCxnSpPr>
                  <p:cNvPr id="206" name="直接连接符 205"/>
                  <p:cNvCxnSpPr/>
                  <p:nvPr/>
                </p:nvCxnSpPr>
                <p:spPr>
                  <a:xfrm flipV="1">
                    <a:off x="3917950" y="2067297"/>
                    <a:ext cx="0" cy="144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2" name="TextBox 131"/>
                  <p:cNvSpPr txBox="1"/>
                  <p:nvPr/>
                </p:nvSpPr>
                <p:spPr>
                  <a:xfrm>
                    <a:off x="3699330" y="1943547"/>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Y</a:t>
                    </a:r>
                    <a:endParaRPr lang="zh-CN" altLang="en-US" sz="1100" b="1" baseline="-25000" dirty="0">
                      <a:latin typeface="Times New Roman" panose="02020603050405020304" pitchFamily="18" charset="0"/>
                      <a:cs typeface="Times New Roman" panose="02020603050405020304" pitchFamily="18" charset="0"/>
                    </a:endParaRPr>
                  </a:p>
                </p:txBody>
              </p:sp>
              <p:cxnSp>
                <p:nvCxnSpPr>
                  <p:cNvPr id="188" name="形状 187"/>
                  <p:cNvCxnSpPr/>
                  <p:nvPr/>
                </p:nvCxnSpPr>
                <p:spPr>
                  <a:xfrm rot="5400000">
                    <a:off x="4165175" y="1834875"/>
                    <a:ext cx="324000" cy="1512000"/>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形状 188"/>
                  <p:cNvCxnSpPr/>
                  <p:nvPr/>
                </p:nvCxnSpPr>
                <p:spPr>
                  <a:xfrm rot="16200000" flipH="1">
                    <a:off x="5662600" y="2086875"/>
                    <a:ext cx="324000" cy="1008000"/>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1" name="组合 200"/>
                  <p:cNvGrpSpPr/>
                  <p:nvPr/>
                </p:nvGrpSpPr>
                <p:grpSpPr>
                  <a:xfrm>
                    <a:off x="3124201" y="2447925"/>
                    <a:ext cx="685799" cy="307975"/>
                    <a:chOff x="3124201" y="2447925"/>
                    <a:chExt cx="685799" cy="307975"/>
                  </a:xfrm>
                </p:grpSpPr>
                <p:cxnSp>
                  <p:nvCxnSpPr>
                    <p:cNvPr id="190" name="形状 189"/>
                    <p:cNvCxnSpPr/>
                    <p:nvPr/>
                  </p:nvCxnSpPr>
                  <p:spPr>
                    <a:xfrm rot="5400000">
                      <a:off x="3414000" y="2231925"/>
                      <a:ext cx="180000" cy="612000"/>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肘形连接符 191"/>
                    <p:cNvCxnSpPr/>
                    <p:nvPr/>
                  </p:nvCxnSpPr>
                  <p:spPr>
                    <a:xfrm rot="5400000">
                      <a:off x="3098801" y="2651125"/>
                      <a:ext cx="130175" cy="79375"/>
                    </a:xfrm>
                    <a:prstGeom prst="bentConnector3">
                      <a:avLst>
                        <a:gd name="adj1" fmla="val 1220"/>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4" name="组合 203"/>
                  <p:cNvGrpSpPr/>
                  <p:nvPr/>
                </p:nvGrpSpPr>
                <p:grpSpPr>
                  <a:xfrm>
                    <a:off x="4020325" y="2441575"/>
                    <a:ext cx="1853428" cy="316707"/>
                    <a:chOff x="4020325" y="2441575"/>
                    <a:chExt cx="1853428" cy="316707"/>
                  </a:xfrm>
                </p:grpSpPr>
                <p:cxnSp>
                  <p:nvCxnSpPr>
                    <p:cNvPr id="194" name="形状 193"/>
                    <p:cNvCxnSpPr/>
                    <p:nvPr/>
                  </p:nvCxnSpPr>
                  <p:spPr>
                    <a:xfrm rot="16200000" flipH="1">
                      <a:off x="4740325" y="1721575"/>
                      <a:ext cx="180000" cy="1620000"/>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肘形连接符 195"/>
                    <p:cNvCxnSpPr/>
                    <p:nvPr/>
                  </p:nvCxnSpPr>
                  <p:spPr>
                    <a:xfrm rot="10800000">
                      <a:off x="5600701" y="2621760"/>
                      <a:ext cx="273052" cy="136522"/>
                    </a:xfrm>
                    <a:prstGeom prst="bentConnector3">
                      <a:avLst>
                        <a:gd name="adj1" fmla="val 0"/>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5" name="矩形 184"/>
                  <p:cNvSpPr/>
                  <p:nvPr/>
                </p:nvSpPr>
                <p:spPr>
                  <a:xfrm>
                    <a:off x="3721100" y="2216150"/>
                    <a:ext cx="400050" cy="2286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mn-ea"/>
                        <a:cs typeface="Times New Roman" panose="02020603050405020304" pitchFamily="18" charset="0"/>
                      </a:rPr>
                      <a:t>≥</a:t>
                    </a:r>
                    <a:r>
                      <a:rPr lang="en-US" altLang="zh-CN" sz="1400" b="1" dirty="0">
                        <a:solidFill>
                          <a:schemeClr val="tx1"/>
                        </a:solidFill>
                        <a:latin typeface="Times New Roman" panose="02020603050405020304" pitchFamily="18" charset="0"/>
                        <a:cs typeface="Times New Roman" panose="02020603050405020304" pitchFamily="18" charset="0"/>
                      </a:rPr>
                      <a:t>1</a:t>
                    </a:r>
                    <a:endParaRPr lang="zh-CN" altLang="en-US" sz="1400" b="1" dirty="0">
                      <a:solidFill>
                        <a:schemeClr val="tx1"/>
                      </a:solidFill>
                      <a:latin typeface="Times New Roman" panose="02020603050405020304" pitchFamily="18" charset="0"/>
                      <a:cs typeface="Times New Roman" panose="02020603050405020304" pitchFamily="18" charset="0"/>
                    </a:endParaRPr>
                  </a:p>
                </p:txBody>
              </p:sp>
              <p:sp>
                <p:nvSpPr>
                  <p:cNvPr id="186" name="矩形 185"/>
                  <p:cNvSpPr/>
                  <p:nvPr/>
                </p:nvSpPr>
                <p:spPr>
                  <a:xfrm>
                    <a:off x="5029200" y="2216150"/>
                    <a:ext cx="400050" cy="2286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Times New Roman" panose="02020603050405020304" pitchFamily="18" charset="0"/>
                        <a:cs typeface="Times New Roman" panose="02020603050405020304" pitchFamily="18" charset="0"/>
                      </a:rPr>
                      <a:t>&amp;</a:t>
                    </a:r>
                    <a:endParaRPr lang="zh-CN" altLang="en-US" sz="1400" b="1" dirty="0">
                      <a:solidFill>
                        <a:schemeClr val="tx1"/>
                      </a:solidFill>
                      <a:latin typeface="Times New Roman" panose="02020603050405020304" pitchFamily="18" charset="0"/>
                      <a:cs typeface="Times New Roman" panose="02020603050405020304" pitchFamily="18" charset="0"/>
                    </a:endParaRPr>
                  </a:p>
                </p:txBody>
              </p:sp>
              <p:cxnSp>
                <p:nvCxnSpPr>
                  <p:cNvPr id="207" name="直接连接符 206"/>
                  <p:cNvCxnSpPr/>
                  <p:nvPr/>
                </p:nvCxnSpPr>
                <p:spPr>
                  <a:xfrm flipV="1">
                    <a:off x="5213350" y="2067297"/>
                    <a:ext cx="0" cy="144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10" name="TextBox 209"/>
              <p:cNvSpPr txBox="1"/>
              <p:nvPr/>
            </p:nvSpPr>
            <p:spPr>
              <a:xfrm>
                <a:off x="3206617" y="3148678"/>
                <a:ext cx="471604" cy="400110"/>
              </a:xfrm>
              <a:prstGeom prst="rect">
                <a:avLst/>
              </a:prstGeom>
              <a:noFill/>
            </p:spPr>
            <p:txBody>
              <a:bodyPr wrap="none" rtlCol="0">
                <a:spAutoFit/>
              </a:bodyPr>
              <a:lstStyle/>
              <a:p>
                <a:r>
                  <a:rPr lang="en-US" altLang="zh-CN" sz="2000" dirty="0"/>
                  <a:t>(0)</a:t>
                </a:r>
                <a:endParaRPr lang="zh-CN" altLang="en-US" sz="2000" dirty="0"/>
              </a:p>
            </p:txBody>
          </p:sp>
          <p:sp>
            <p:nvSpPr>
              <p:cNvPr id="211" name="TextBox 210"/>
              <p:cNvSpPr txBox="1"/>
              <p:nvPr/>
            </p:nvSpPr>
            <p:spPr>
              <a:xfrm>
                <a:off x="5936710" y="3152128"/>
                <a:ext cx="471604" cy="400110"/>
              </a:xfrm>
              <a:prstGeom prst="rect">
                <a:avLst/>
              </a:prstGeom>
              <a:noFill/>
            </p:spPr>
            <p:txBody>
              <a:bodyPr wrap="none" rtlCol="0">
                <a:spAutoFit/>
              </a:bodyPr>
              <a:lstStyle/>
              <a:p>
                <a:r>
                  <a:rPr lang="en-US" altLang="zh-CN" sz="2000" dirty="0"/>
                  <a:t>(1)</a:t>
                </a:r>
                <a:endParaRPr lang="zh-CN" altLang="en-US" sz="2000" dirty="0"/>
              </a:p>
            </p:txBody>
          </p:sp>
        </p:grpSp>
        <p:sp>
          <p:nvSpPr>
            <p:cNvPr id="223" name="TextBox 133"/>
            <p:cNvSpPr txBox="1"/>
            <p:nvPr/>
          </p:nvSpPr>
          <p:spPr>
            <a:xfrm>
              <a:off x="4470964" y="1967195"/>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W</a:t>
              </a:r>
              <a:endParaRPr lang="zh-CN" altLang="en-US" sz="1100" b="1" baseline="-25000" dirty="0">
                <a:latin typeface="Times New Roman" panose="02020603050405020304" pitchFamily="18" charset="0"/>
                <a:cs typeface="Times New Roman" panose="02020603050405020304" pitchFamily="18" charset="0"/>
              </a:endParaRPr>
            </a:p>
          </p:txBody>
        </p:sp>
      </p:grpSp>
      <p:sp>
        <p:nvSpPr>
          <p:cNvPr id="141" name="五边形 140"/>
          <p:cNvSpPr/>
          <p:nvPr/>
        </p:nvSpPr>
        <p:spPr>
          <a:xfrm>
            <a:off x="5452693" y="972278"/>
            <a:ext cx="1152000" cy="432000"/>
          </a:xfrm>
          <a:prstGeom prst="homePlate">
            <a:avLst>
              <a:gd name="adj" fmla="val 31259"/>
            </a:avLst>
          </a:prstGeom>
          <a:solidFill>
            <a:srgbClr val="66FF66"/>
          </a:solidFill>
          <a:ln w="1905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2"/>
          </a:lnRef>
          <a:fillRef idx="2">
            <a:schemeClr val="accent2"/>
          </a:fillRef>
          <a:effectRef idx="1">
            <a:schemeClr val="accent2"/>
          </a:effectRef>
          <a:fontRef idx="minor">
            <a:schemeClr val="dk1"/>
          </a:fontRef>
        </p:style>
        <p:txBody>
          <a:bodyPr lIns="0" tIns="0" rIns="0" bIns="0" rtlCol="0" anchor="ctr"/>
          <a:lstStyle/>
          <a:p>
            <a:pPr algn="ctr"/>
            <a:r>
              <a:rPr lang="en-US" altLang="zh-CN" sz="1600" dirty="0">
                <a:latin typeface="微软雅黑" panose="020B0503020204020204" pitchFamily="34" charset="-122"/>
                <a:ea typeface="微软雅黑" panose="020B0503020204020204" pitchFamily="34" charset="-122"/>
              </a:rPr>
              <a:t>4 </a:t>
            </a:r>
            <a:r>
              <a:rPr lang="zh-CN" altLang="en-US" sz="1600" dirty="0">
                <a:latin typeface="微软雅黑" panose="020B0503020204020204" pitchFamily="34" charset="-122"/>
                <a:ea typeface="微软雅黑" panose="020B0503020204020204" pitchFamily="34" charset="-122"/>
              </a:rPr>
              <a:t>选 </a:t>
            </a:r>
            <a:r>
              <a:rPr lang="en-US" altLang="zh-CN" sz="1600" dirty="0">
                <a:latin typeface="微软雅黑" panose="020B0503020204020204" pitchFamily="34" charset="-122"/>
                <a:ea typeface="微软雅黑" panose="020B0503020204020204" pitchFamily="34" charset="-122"/>
              </a:rPr>
              <a:t>1</a:t>
            </a:r>
            <a:endParaRPr lang="zh-CN" altLang="en-US" sz="1600" dirty="0">
              <a:latin typeface="微软雅黑" panose="020B0503020204020204" pitchFamily="34" charset="-122"/>
              <a:ea typeface="微软雅黑" panose="020B0503020204020204" pitchFamily="34" charset="-122"/>
            </a:endParaRPr>
          </a:p>
        </p:txBody>
      </p:sp>
      <p:sp>
        <p:nvSpPr>
          <p:cNvPr id="142" name="燕尾形 141"/>
          <p:cNvSpPr/>
          <p:nvPr/>
        </p:nvSpPr>
        <p:spPr>
          <a:xfrm>
            <a:off x="6470223" y="972278"/>
            <a:ext cx="1152000" cy="432000"/>
          </a:xfrm>
          <a:prstGeom prst="chevron">
            <a:avLst>
              <a:gd name="adj" fmla="val 30155"/>
            </a:avLst>
          </a:prstGeom>
          <a:solidFill>
            <a:srgbClr val="66FF66"/>
          </a:solidFill>
          <a:ln w="1905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2"/>
          </a:lnRef>
          <a:fillRef idx="2">
            <a:schemeClr val="accent2"/>
          </a:fillRef>
          <a:effectRef idx="1">
            <a:schemeClr val="accent2"/>
          </a:effectRef>
          <a:fontRef idx="minor">
            <a:schemeClr val="dk1"/>
          </a:fontRef>
        </p:style>
        <p:txBody>
          <a:bodyPr lIns="0" tIns="0" rIns="0" bIns="0" rtlCol="0" anchor="ctr"/>
          <a:lstStyle/>
          <a:p>
            <a:pPr algn="ctr"/>
            <a:r>
              <a:rPr lang="en-US" altLang="zh-CN" sz="1600" dirty="0">
                <a:latin typeface="微软雅黑" panose="020B0503020204020204" pitchFamily="34" charset="-122"/>
                <a:ea typeface="微软雅黑" panose="020B0503020204020204" pitchFamily="34" charset="-122"/>
              </a:rPr>
              <a:t>8 </a:t>
            </a:r>
            <a:r>
              <a:rPr lang="zh-CN" altLang="en-US" sz="1600" dirty="0">
                <a:latin typeface="微软雅黑" panose="020B0503020204020204" pitchFamily="34" charset="-122"/>
                <a:ea typeface="微软雅黑" panose="020B0503020204020204" pitchFamily="34" charset="-122"/>
              </a:rPr>
              <a:t>选 </a:t>
            </a:r>
            <a:r>
              <a:rPr lang="en-US" altLang="zh-CN" sz="1600" dirty="0">
                <a:latin typeface="微软雅黑" panose="020B0503020204020204" pitchFamily="34" charset="-122"/>
                <a:ea typeface="微软雅黑" panose="020B0503020204020204" pitchFamily="34" charset="-122"/>
              </a:rPr>
              <a:t>1</a:t>
            </a:r>
            <a:endParaRPr lang="zh-CN" altLang="en-US" sz="1600" dirty="0">
              <a:latin typeface="微软雅黑" panose="020B0503020204020204" pitchFamily="34" charset="-122"/>
              <a:ea typeface="微软雅黑" panose="020B0503020204020204" pitchFamily="34" charset="-122"/>
            </a:endParaRPr>
          </a:p>
        </p:txBody>
      </p:sp>
      <p:sp>
        <p:nvSpPr>
          <p:cNvPr id="143" name="燕尾形 142"/>
          <p:cNvSpPr/>
          <p:nvPr/>
        </p:nvSpPr>
        <p:spPr>
          <a:xfrm>
            <a:off x="7487752" y="972278"/>
            <a:ext cx="1152000" cy="432000"/>
          </a:xfrm>
          <a:prstGeom prst="chevron">
            <a:avLst>
              <a:gd name="adj" fmla="val 30155"/>
            </a:avLst>
          </a:prstGeom>
          <a:solidFill>
            <a:srgbClr val="66FF66"/>
          </a:solidFill>
          <a:ln w="19050">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2"/>
          </a:lnRef>
          <a:fillRef idx="2">
            <a:schemeClr val="accent2"/>
          </a:fillRef>
          <a:effectRef idx="1">
            <a:schemeClr val="accent2"/>
          </a:effectRef>
          <a:fontRef idx="minor">
            <a:schemeClr val="dk1"/>
          </a:fontRef>
        </p:style>
        <p:txBody>
          <a:bodyPr lIns="0" tIns="0" rIns="0" bIns="0" rtlCol="0" anchor="ctr"/>
          <a:lstStyle/>
          <a:p>
            <a:pPr algn="ctr"/>
            <a:r>
              <a:rPr lang="en-US" altLang="zh-CN" sz="1600" dirty="0">
                <a:latin typeface="微软雅黑" panose="020B0503020204020204" pitchFamily="34" charset="-122"/>
                <a:ea typeface="微软雅黑" panose="020B0503020204020204" pitchFamily="34" charset="-122"/>
              </a:rPr>
              <a:t>16 </a:t>
            </a:r>
            <a:r>
              <a:rPr lang="zh-CN" altLang="en-US" sz="1600" dirty="0">
                <a:latin typeface="微软雅黑" panose="020B0503020204020204" pitchFamily="34" charset="-122"/>
                <a:ea typeface="微软雅黑" panose="020B0503020204020204" pitchFamily="34" charset="-122"/>
              </a:rPr>
              <a:t>选 </a:t>
            </a:r>
            <a:r>
              <a:rPr lang="en-US" altLang="zh-CN" sz="1600" dirty="0">
                <a:latin typeface="微软雅黑" panose="020B0503020204020204" pitchFamily="34" charset="-122"/>
                <a:ea typeface="微软雅黑" panose="020B0503020204020204" pitchFamily="34" charset="-122"/>
              </a:rPr>
              <a:t>1</a:t>
            </a:r>
            <a:endParaRPr lang="zh-CN" altLang="en-US" sz="1600" dirty="0">
              <a:latin typeface="微软雅黑" panose="020B0503020204020204" pitchFamily="34" charset="-122"/>
              <a:ea typeface="微软雅黑" panose="020B0503020204020204" pitchFamily="34" charset="-122"/>
            </a:endParaRPr>
          </a:p>
        </p:txBody>
      </p:sp>
      <p:grpSp>
        <p:nvGrpSpPr>
          <p:cNvPr id="7" name="组合 17"/>
          <p:cNvGrpSpPr/>
          <p:nvPr/>
        </p:nvGrpSpPr>
        <p:grpSpPr>
          <a:xfrm>
            <a:off x="392432" y="769746"/>
            <a:ext cx="4933552" cy="420971"/>
            <a:chOff x="670560" y="892917"/>
            <a:chExt cx="4933552" cy="420971"/>
          </a:xfrm>
        </p:grpSpPr>
        <p:sp>
          <p:nvSpPr>
            <p:cNvPr id="70" name="矩形 69"/>
            <p:cNvSpPr/>
            <p:nvPr/>
          </p:nvSpPr>
          <p:spPr>
            <a:xfrm>
              <a:off x="1035233" y="913778"/>
              <a:ext cx="4568879"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集成数据选择器的应用（</a:t>
              </a:r>
              <a:r>
                <a:rPr lang="en-US" altLang="zh-CN" sz="2000" b="1" dirty="0">
                  <a:solidFill>
                    <a:srgbClr val="FF00FF"/>
                  </a:solidFill>
                  <a:latin typeface="微软雅黑" panose="020B0503020204020204" pitchFamily="34" charset="-122"/>
                  <a:ea typeface="微软雅黑" panose="020B0503020204020204" pitchFamily="34" charset="-122"/>
                </a:rPr>
                <a:t>74151</a:t>
              </a:r>
              <a:r>
                <a:rPr lang="zh-CN" altLang="en-US" sz="2000" b="1" dirty="0">
                  <a:solidFill>
                    <a:srgbClr val="FF00FF"/>
                  </a:solidFill>
                  <a:latin typeface="微软雅黑" panose="020B0503020204020204" pitchFamily="34" charset="-122"/>
                  <a:ea typeface="微软雅黑" panose="020B0503020204020204" pitchFamily="34" charset="-122"/>
                </a:rPr>
                <a:t>为例</a:t>
              </a:r>
              <a:r>
                <a:rPr lang="zh-CN" altLang="en-US" sz="2000" b="1" dirty="0">
                  <a:solidFill>
                    <a:srgbClr val="002060"/>
                  </a:solidFill>
                  <a:latin typeface="微软雅黑" panose="020B0503020204020204" pitchFamily="34" charset="-122"/>
                  <a:ea typeface="微软雅黑" panose="020B0503020204020204" pitchFamily="34" charset="-122"/>
                </a:rPr>
                <a: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71" name="Picture 3"/>
            <p:cNvPicPr>
              <a:picLocks noChangeAspect="1" noChangeArrowheads="1"/>
            </p:cNvPicPr>
            <p:nvPr/>
          </p:nvPicPr>
          <p:blipFill>
            <a:blip r:embed="rId2"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17" name="Rectangle 27"/>
          <p:cNvSpPr>
            <a:spLocks noChangeArrowheads="1"/>
          </p:cNvSpPr>
          <p:nvPr/>
        </p:nvSpPr>
        <p:spPr bwMode="auto">
          <a:xfrm>
            <a:off x="577511" y="1237292"/>
            <a:ext cx="3018212" cy="369332"/>
          </a:xfrm>
          <a:prstGeom prst="rect">
            <a:avLst/>
          </a:prstGeom>
          <a:noFill/>
          <a:ln w="9525" algn="ctr">
            <a:noFill/>
            <a:miter lim="800000"/>
          </a:ln>
          <a:effectLst/>
        </p:spPr>
        <p:txBody>
          <a:bodyPr wrap="square" lIns="0" rIns="0">
            <a:spAutoFit/>
          </a:bodyPr>
          <a:lstStyle/>
          <a:p>
            <a:pPr>
              <a:defRPr/>
            </a:pPr>
            <a:r>
              <a:rPr lang="en-US" altLang="zh-CN" b="1" dirty="0">
                <a:solidFill>
                  <a:srgbClr val="6600FF"/>
                </a:solidFill>
                <a:latin typeface="黑体" panose="02010609060101010101" pitchFamily="49" charset="-122"/>
                <a:ea typeface="黑体" panose="02010609060101010101" pitchFamily="49" charset="-122"/>
              </a:rPr>
              <a:t>1</a:t>
            </a:r>
            <a:r>
              <a:rPr lang="zh-CN" altLang="en-US" b="1" dirty="0">
                <a:solidFill>
                  <a:srgbClr val="6600FF"/>
                </a:solidFill>
                <a:latin typeface="黑体" panose="02010609060101010101" pitchFamily="49" charset="-122"/>
                <a:ea typeface="黑体" panose="02010609060101010101" pitchFamily="49" charset="-122"/>
              </a:rPr>
              <a:t>、数据选择器的扩展</a:t>
            </a:r>
            <a:endParaRPr lang="zh-CN" altLang="en-US" b="1" dirty="0">
              <a:solidFill>
                <a:srgbClr val="6600FF"/>
              </a:solidFill>
              <a:latin typeface="黑体" panose="02010609060101010101" pitchFamily="49" charset="-122"/>
              <a:ea typeface="黑体" panose="02010609060101010101" pitchFamily="49" charset="-122"/>
            </a:endParaRPr>
          </a:p>
        </p:txBody>
      </p:sp>
      <p:sp>
        <p:nvSpPr>
          <p:cNvPr id="182" name="十角星 181"/>
          <p:cNvSpPr/>
          <p:nvPr/>
        </p:nvSpPr>
        <p:spPr>
          <a:xfrm>
            <a:off x="3195099" y="1284896"/>
            <a:ext cx="1512542" cy="453762"/>
          </a:xfrm>
          <a:prstGeom prst="star10">
            <a:avLst/>
          </a:prstGeom>
          <a:solidFill>
            <a:srgbClr val="FFFF00"/>
          </a:solidFill>
          <a:ln w="38100">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latin typeface="华文琥珀" panose="02010800040101010101" pitchFamily="2" charset="-122"/>
                <a:ea typeface="华文琥珀" panose="02010800040101010101" pitchFamily="2" charset="-122"/>
              </a:rPr>
              <a:t>字扩展</a:t>
            </a:r>
            <a:endParaRPr lang="zh-CN" altLang="en-US" dirty="0">
              <a:solidFill>
                <a:srgbClr val="FF0000"/>
              </a:solidFill>
              <a:latin typeface="华文琥珀" panose="02010800040101010101" pitchFamily="2" charset="-122"/>
              <a:ea typeface="华文琥珀" panose="02010800040101010101" pitchFamily="2" charset="-122"/>
            </a:endParaRPr>
          </a:p>
        </p:txBody>
      </p:sp>
      <p:grpSp>
        <p:nvGrpSpPr>
          <p:cNvPr id="72" name="组合 195"/>
          <p:cNvGrpSpPr/>
          <p:nvPr/>
        </p:nvGrpSpPr>
        <p:grpSpPr>
          <a:xfrm>
            <a:off x="1149395" y="3099569"/>
            <a:ext cx="3533491" cy="1534364"/>
            <a:chOff x="1440303" y="3054927"/>
            <a:chExt cx="3533491" cy="1534364"/>
          </a:xfrm>
        </p:grpSpPr>
        <p:cxnSp>
          <p:nvCxnSpPr>
            <p:cNvPr id="73" name="直接连接符 72"/>
            <p:cNvCxnSpPr/>
            <p:nvPr/>
          </p:nvCxnSpPr>
          <p:spPr>
            <a:xfrm flipH="1">
              <a:off x="1440303" y="4298156"/>
              <a:ext cx="2929291" cy="794"/>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flipV="1">
              <a:off x="1440304" y="4447309"/>
              <a:ext cx="3060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flipV="1">
              <a:off x="1440304" y="4585277"/>
              <a:ext cx="31752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6" name="肘形连接符 75"/>
            <p:cNvCxnSpPr/>
            <p:nvPr/>
          </p:nvCxnSpPr>
          <p:spPr>
            <a:xfrm rot="5400000">
              <a:off x="4045529" y="3380510"/>
              <a:ext cx="1253836" cy="602670"/>
            </a:xfrm>
            <a:prstGeom prst="bentConnector3">
              <a:avLst>
                <a:gd name="adj1" fmla="val -276"/>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7" name="肘形连接符 76"/>
            <p:cNvCxnSpPr/>
            <p:nvPr/>
          </p:nvCxnSpPr>
          <p:spPr>
            <a:xfrm rot="5400000">
              <a:off x="4121438" y="3606109"/>
              <a:ext cx="1224000" cy="468000"/>
            </a:xfrm>
            <a:prstGeom prst="bentConnector3">
              <a:avLst>
                <a:gd name="adj1" fmla="val -276"/>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8" name="肘形连接符 77"/>
            <p:cNvCxnSpPr/>
            <p:nvPr/>
          </p:nvCxnSpPr>
          <p:spPr>
            <a:xfrm rot="5400000">
              <a:off x="4199794" y="3815291"/>
              <a:ext cx="1188000" cy="360000"/>
            </a:xfrm>
            <a:prstGeom prst="bentConnector3">
              <a:avLst>
                <a:gd name="adj1" fmla="val -276"/>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9" name="肘形连接符 78"/>
            <p:cNvCxnSpPr/>
            <p:nvPr/>
          </p:nvCxnSpPr>
          <p:spPr>
            <a:xfrm rot="5400000">
              <a:off x="1289629" y="3380510"/>
              <a:ext cx="1253836" cy="602670"/>
            </a:xfrm>
            <a:prstGeom prst="bentConnector3">
              <a:avLst>
                <a:gd name="adj1" fmla="val -276"/>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80" name="肘形连接符 79"/>
            <p:cNvCxnSpPr/>
            <p:nvPr/>
          </p:nvCxnSpPr>
          <p:spPr>
            <a:xfrm rot="5400000">
              <a:off x="1359188" y="3606109"/>
              <a:ext cx="1224000" cy="468000"/>
            </a:xfrm>
            <a:prstGeom prst="bentConnector3">
              <a:avLst>
                <a:gd name="adj1" fmla="val -276"/>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81" name="肘形连接符 80"/>
            <p:cNvCxnSpPr/>
            <p:nvPr/>
          </p:nvCxnSpPr>
          <p:spPr>
            <a:xfrm rot="5400000">
              <a:off x="1443894" y="3815291"/>
              <a:ext cx="1188000" cy="360000"/>
            </a:xfrm>
            <a:prstGeom prst="bentConnector3">
              <a:avLst>
                <a:gd name="adj1" fmla="val -276"/>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1855788" y="4573588"/>
              <a:ext cx="36000" cy="0"/>
            </a:xfrm>
            <a:prstGeom prst="line">
              <a:avLst/>
            </a:prstGeom>
            <a:ln w="28575">
              <a:solidFill>
                <a:srgbClr val="0000FF"/>
              </a:solidFill>
              <a:headEnd type="ova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a:off x="1735138" y="4449763"/>
              <a:ext cx="36000" cy="0"/>
            </a:xfrm>
            <a:prstGeom prst="line">
              <a:avLst/>
            </a:prstGeom>
            <a:ln w="28575">
              <a:solidFill>
                <a:srgbClr val="0000FF"/>
              </a:solidFill>
              <a:headEnd type="ova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a:off x="1614488" y="4294188"/>
              <a:ext cx="36000" cy="0"/>
            </a:xfrm>
            <a:prstGeom prst="line">
              <a:avLst/>
            </a:prstGeom>
            <a:ln w="28575">
              <a:solidFill>
                <a:srgbClr val="0000FF"/>
              </a:solidFill>
              <a:headEnd type="oval"/>
            </a:ln>
          </p:spPr>
          <p:style>
            <a:lnRef idx="1">
              <a:schemeClr val="accent1"/>
            </a:lnRef>
            <a:fillRef idx="0">
              <a:schemeClr val="accent1"/>
            </a:fillRef>
            <a:effectRef idx="0">
              <a:schemeClr val="accent1"/>
            </a:effectRef>
            <a:fontRef idx="minor">
              <a:schemeClr val="tx1"/>
            </a:fontRef>
          </p:style>
        </p:cxnSp>
      </p:grpSp>
      <p:grpSp>
        <p:nvGrpSpPr>
          <p:cNvPr id="115" name="组合 114"/>
          <p:cNvGrpSpPr/>
          <p:nvPr/>
        </p:nvGrpSpPr>
        <p:grpSpPr>
          <a:xfrm>
            <a:off x="1153624" y="3665064"/>
            <a:ext cx="3455208" cy="1343728"/>
            <a:chOff x="1611754" y="3310992"/>
            <a:chExt cx="3455208" cy="1343728"/>
          </a:xfrm>
        </p:grpSpPr>
        <p:grpSp>
          <p:nvGrpSpPr>
            <p:cNvPr id="116" name="组合 193"/>
            <p:cNvGrpSpPr/>
            <p:nvPr/>
          </p:nvGrpSpPr>
          <p:grpSpPr>
            <a:xfrm>
              <a:off x="1611754" y="3310992"/>
              <a:ext cx="3455208" cy="1199919"/>
              <a:chOff x="1440304" y="3545973"/>
              <a:chExt cx="3455208" cy="1199919"/>
            </a:xfrm>
          </p:grpSpPr>
          <p:cxnSp>
            <p:nvCxnSpPr>
              <p:cNvPr id="119" name="直接连接符 118"/>
              <p:cNvCxnSpPr/>
              <p:nvPr/>
            </p:nvCxnSpPr>
            <p:spPr>
              <a:xfrm flipH="1" flipV="1">
                <a:off x="1440304" y="4737670"/>
                <a:ext cx="3312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20" name="肘形连接符 119"/>
              <p:cNvCxnSpPr/>
              <p:nvPr/>
            </p:nvCxnSpPr>
            <p:spPr>
              <a:xfrm rot="5400000">
                <a:off x="4219822" y="4070201"/>
                <a:ext cx="1199918" cy="151462"/>
              </a:xfrm>
              <a:prstGeom prst="bentConnector3">
                <a:avLst>
                  <a:gd name="adj1" fmla="val 770"/>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21" name="肘形连接符 120"/>
              <p:cNvCxnSpPr/>
              <p:nvPr/>
            </p:nvCxnSpPr>
            <p:spPr>
              <a:xfrm rot="5400000">
                <a:off x="1476622" y="4070201"/>
                <a:ext cx="1199919" cy="151463"/>
              </a:xfrm>
              <a:prstGeom prst="bentConnector3">
                <a:avLst>
                  <a:gd name="adj1" fmla="val 96"/>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a:off x="2001838" y="4729163"/>
                <a:ext cx="36000" cy="0"/>
              </a:xfrm>
              <a:prstGeom prst="line">
                <a:avLst/>
              </a:prstGeom>
              <a:ln w="28575">
                <a:solidFill>
                  <a:srgbClr val="0000FF"/>
                </a:solidFill>
                <a:headEnd type="oval"/>
              </a:ln>
            </p:spPr>
            <p:style>
              <a:lnRef idx="1">
                <a:schemeClr val="accent1"/>
              </a:lnRef>
              <a:fillRef idx="0">
                <a:schemeClr val="accent1"/>
              </a:fillRef>
              <a:effectRef idx="0">
                <a:schemeClr val="accent1"/>
              </a:effectRef>
              <a:fontRef idx="minor">
                <a:schemeClr val="tx1"/>
              </a:fontRef>
            </p:style>
          </p:cxnSp>
        </p:grpSp>
        <p:sp>
          <p:nvSpPr>
            <p:cNvPr id="117" name="矩形 116"/>
            <p:cNvSpPr/>
            <p:nvPr/>
          </p:nvSpPr>
          <p:spPr>
            <a:xfrm>
              <a:off x="2374900" y="4349920"/>
              <a:ext cx="215900" cy="304800"/>
            </a:xfrm>
            <a:prstGeom prst="rect">
              <a:avLst/>
            </a:prstGeom>
            <a:solidFill>
              <a:schemeClr val="bg1"/>
            </a:solid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Times New Roman" panose="02020603050405020304" pitchFamily="18" charset="0"/>
                  <a:cs typeface="Times New Roman" panose="02020603050405020304" pitchFamily="18" charset="0"/>
                </a:rPr>
                <a:t>1</a:t>
              </a:r>
              <a:endParaRPr lang="zh-CN" altLang="en-US" sz="1400" dirty="0">
                <a:solidFill>
                  <a:schemeClr val="tx1"/>
                </a:solidFill>
                <a:latin typeface="Times New Roman" panose="02020603050405020304" pitchFamily="18" charset="0"/>
                <a:cs typeface="Times New Roman" panose="02020603050405020304" pitchFamily="18" charset="0"/>
              </a:endParaRPr>
            </a:p>
          </p:txBody>
        </p:sp>
        <p:sp>
          <p:nvSpPr>
            <p:cNvPr id="118" name="椭圆 117"/>
            <p:cNvSpPr/>
            <p:nvPr/>
          </p:nvSpPr>
          <p:spPr>
            <a:xfrm>
              <a:off x="2597150" y="4457870"/>
              <a:ext cx="72000" cy="72000"/>
            </a:xfrm>
            <a:prstGeom prst="ellipse">
              <a:avLst/>
            </a:prstGeom>
            <a:solidFill>
              <a:schemeClr val="bg1"/>
            </a:solid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2005330" y="4034790"/>
            <a:ext cx="4578350" cy="232410"/>
            <a:chOff x="2005330" y="4034790"/>
            <a:chExt cx="4578350" cy="232410"/>
          </a:xfrm>
        </p:grpSpPr>
        <p:sp>
          <p:nvSpPr>
            <p:cNvPr id="231" name="圆角矩形 230"/>
            <p:cNvSpPr/>
            <p:nvPr/>
          </p:nvSpPr>
          <p:spPr>
            <a:xfrm>
              <a:off x="2005330" y="4034790"/>
              <a:ext cx="1827530" cy="232410"/>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2" name="圆角矩形 231"/>
            <p:cNvSpPr/>
            <p:nvPr/>
          </p:nvSpPr>
          <p:spPr>
            <a:xfrm>
              <a:off x="4756150" y="4034790"/>
              <a:ext cx="1827530" cy="232410"/>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22" name="圆角矩形 231"/>
          <p:cNvSpPr/>
          <p:nvPr/>
        </p:nvSpPr>
        <p:spPr>
          <a:xfrm>
            <a:off x="2966649" y="1982422"/>
            <a:ext cx="2200710" cy="578501"/>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141"/>
                                        </p:tgtEl>
                                        <p:attrNameLst>
                                          <p:attrName>style.visibility</p:attrName>
                                        </p:attrNameLst>
                                      </p:cBhvr>
                                      <p:to>
                                        <p:strVal val="visible"/>
                                      </p:to>
                                    </p:set>
                                    <p:anim calcmode="lin" valueType="num">
                                      <p:cBhvr additive="base">
                                        <p:cTn id="7" dur="1000"/>
                                        <p:tgtEl>
                                          <p:spTgt spid="141"/>
                                        </p:tgtEl>
                                        <p:attrNameLst>
                                          <p:attrName>ppt_x</p:attrName>
                                        </p:attrNameLst>
                                      </p:cBhvr>
                                      <p:tavLst>
                                        <p:tav tm="0">
                                          <p:val>
                                            <p:strVal val="#ppt_x-#ppt_w*1.125000"/>
                                          </p:val>
                                        </p:tav>
                                        <p:tav tm="100000">
                                          <p:val>
                                            <p:strVal val="#ppt_x"/>
                                          </p:val>
                                        </p:tav>
                                      </p:tavLst>
                                    </p:anim>
                                    <p:animEffect transition="in" filter="wipe(right)">
                                      <p:cBhvr>
                                        <p:cTn id="8" dur="1000"/>
                                        <p:tgtEl>
                                          <p:spTgt spid="141"/>
                                        </p:tgtEl>
                                      </p:cBhvr>
                                    </p:animEffect>
                                  </p:childTnLst>
                                </p:cTn>
                              </p:par>
                            </p:childTnLst>
                          </p:cTn>
                        </p:par>
                        <p:par>
                          <p:cTn id="9" fill="hold">
                            <p:stCondLst>
                              <p:cond delay="1000"/>
                            </p:stCondLst>
                            <p:childTnLst>
                              <p:par>
                                <p:cTn id="10" presetID="12" presetClass="entr" presetSubtype="8" fill="hold" grpId="0" nodeType="afterEffect">
                                  <p:stCondLst>
                                    <p:cond delay="0"/>
                                  </p:stCondLst>
                                  <p:childTnLst>
                                    <p:set>
                                      <p:cBhvr>
                                        <p:cTn id="11" dur="1" fill="hold">
                                          <p:stCondLst>
                                            <p:cond delay="0"/>
                                          </p:stCondLst>
                                        </p:cTn>
                                        <p:tgtEl>
                                          <p:spTgt spid="142"/>
                                        </p:tgtEl>
                                        <p:attrNameLst>
                                          <p:attrName>style.visibility</p:attrName>
                                        </p:attrNameLst>
                                      </p:cBhvr>
                                      <p:to>
                                        <p:strVal val="visible"/>
                                      </p:to>
                                    </p:set>
                                    <p:anim calcmode="lin" valueType="num">
                                      <p:cBhvr additive="base">
                                        <p:cTn id="12" dur="1000"/>
                                        <p:tgtEl>
                                          <p:spTgt spid="142"/>
                                        </p:tgtEl>
                                        <p:attrNameLst>
                                          <p:attrName>ppt_x</p:attrName>
                                        </p:attrNameLst>
                                      </p:cBhvr>
                                      <p:tavLst>
                                        <p:tav tm="0">
                                          <p:val>
                                            <p:strVal val="#ppt_x-#ppt_w*1.125000"/>
                                          </p:val>
                                        </p:tav>
                                        <p:tav tm="100000">
                                          <p:val>
                                            <p:strVal val="#ppt_x"/>
                                          </p:val>
                                        </p:tav>
                                      </p:tavLst>
                                    </p:anim>
                                    <p:animEffect transition="in" filter="wipe(right)">
                                      <p:cBhvr>
                                        <p:cTn id="13" dur="1000"/>
                                        <p:tgtEl>
                                          <p:spTgt spid="142"/>
                                        </p:tgtEl>
                                      </p:cBhvr>
                                    </p:animEffect>
                                  </p:childTnLst>
                                </p:cTn>
                              </p:par>
                            </p:childTnLst>
                          </p:cTn>
                        </p:par>
                        <p:par>
                          <p:cTn id="14" fill="hold">
                            <p:stCondLst>
                              <p:cond delay="2000"/>
                            </p:stCondLst>
                            <p:childTnLst>
                              <p:par>
                                <p:cTn id="15" presetID="12" presetClass="entr" presetSubtype="8" fill="hold" grpId="0" nodeType="afterEffect">
                                  <p:stCondLst>
                                    <p:cond delay="0"/>
                                  </p:stCondLst>
                                  <p:childTnLst>
                                    <p:set>
                                      <p:cBhvr>
                                        <p:cTn id="16" dur="1" fill="hold">
                                          <p:stCondLst>
                                            <p:cond delay="0"/>
                                          </p:stCondLst>
                                        </p:cTn>
                                        <p:tgtEl>
                                          <p:spTgt spid="143"/>
                                        </p:tgtEl>
                                        <p:attrNameLst>
                                          <p:attrName>style.visibility</p:attrName>
                                        </p:attrNameLst>
                                      </p:cBhvr>
                                      <p:to>
                                        <p:strVal val="visible"/>
                                      </p:to>
                                    </p:set>
                                    <p:anim calcmode="lin" valueType="num">
                                      <p:cBhvr additive="base">
                                        <p:cTn id="17" dur="1000"/>
                                        <p:tgtEl>
                                          <p:spTgt spid="143"/>
                                        </p:tgtEl>
                                        <p:attrNameLst>
                                          <p:attrName>ppt_x</p:attrName>
                                        </p:attrNameLst>
                                      </p:cBhvr>
                                      <p:tavLst>
                                        <p:tav tm="0">
                                          <p:val>
                                            <p:strVal val="#ppt_x-#ppt_w*1.125000"/>
                                          </p:val>
                                        </p:tav>
                                        <p:tav tm="100000">
                                          <p:val>
                                            <p:strVal val="#ppt_x"/>
                                          </p:val>
                                        </p:tav>
                                      </p:tavLst>
                                    </p:anim>
                                    <p:animEffect transition="in" filter="wipe(right)">
                                      <p:cBhvr>
                                        <p:cTn id="18" dur="1000"/>
                                        <p:tgtEl>
                                          <p:spTgt spid="143"/>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fade">
                                      <p:cBhvr>
                                        <p:cTn id="23" dur="1000"/>
                                        <p:tgtEl>
                                          <p:spTgt spid="2"/>
                                        </p:tgtEl>
                                      </p:cBhvr>
                                    </p:animEffect>
                                    <p:anim calcmode="lin" valueType="num">
                                      <p:cBhvr>
                                        <p:cTn id="24" dur="1000" fill="hold"/>
                                        <p:tgtEl>
                                          <p:spTgt spid="2"/>
                                        </p:tgtEl>
                                        <p:attrNameLst>
                                          <p:attrName>ppt_x</p:attrName>
                                        </p:attrNameLst>
                                      </p:cBhvr>
                                      <p:tavLst>
                                        <p:tav tm="0">
                                          <p:val>
                                            <p:strVal val="#ppt_x"/>
                                          </p:val>
                                        </p:tav>
                                        <p:tav tm="100000">
                                          <p:val>
                                            <p:strVal val="#ppt_x"/>
                                          </p:val>
                                        </p:tav>
                                      </p:tavLst>
                                    </p:anim>
                                    <p:anim calcmode="lin" valueType="num">
                                      <p:cBhvr>
                                        <p:cTn id="2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fade">
                                      <p:cBhvr>
                                        <p:cTn id="30" dur="1000"/>
                                        <p:tgtEl>
                                          <p:spTgt spid="3"/>
                                        </p:tgtEl>
                                      </p:cBhvr>
                                    </p:animEffect>
                                    <p:anim calcmode="lin" valueType="num">
                                      <p:cBhvr>
                                        <p:cTn id="31" dur="1000" fill="hold"/>
                                        <p:tgtEl>
                                          <p:spTgt spid="3"/>
                                        </p:tgtEl>
                                        <p:attrNameLst>
                                          <p:attrName>ppt_x</p:attrName>
                                        </p:attrNameLst>
                                      </p:cBhvr>
                                      <p:tavLst>
                                        <p:tav tm="0">
                                          <p:val>
                                            <p:strVal val="#ppt_x"/>
                                          </p:val>
                                        </p:tav>
                                        <p:tav tm="100000">
                                          <p:val>
                                            <p:strVal val="#ppt_x"/>
                                          </p:val>
                                        </p:tav>
                                      </p:tavLst>
                                    </p:anim>
                                    <p:anim calcmode="lin" valueType="num">
                                      <p:cBhvr>
                                        <p:cTn id="32" dur="1000" fill="hold"/>
                                        <p:tgtEl>
                                          <p:spTgt spid="3"/>
                                        </p:tgtEl>
                                        <p:attrNameLst>
                                          <p:attrName>ppt_y</p:attrName>
                                        </p:attrNameLst>
                                      </p:cBhvr>
                                      <p:tavLst>
                                        <p:tav tm="0">
                                          <p:val>
                                            <p:strVal val="#ppt_y+.1"/>
                                          </p:val>
                                        </p:tav>
                                        <p:tav tm="100000">
                                          <p:val>
                                            <p:strVal val="#ppt_y"/>
                                          </p:val>
                                        </p:tav>
                                      </p:tavLst>
                                    </p:anim>
                                  </p:childTnLst>
                                </p:cTn>
                              </p:par>
                            </p:childTnLst>
                          </p:cTn>
                        </p:par>
                        <p:par>
                          <p:cTn id="33" fill="hold">
                            <p:stCondLst>
                              <p:cond delay="1000"/>
                            </p:stCondLst>
                            <p:childTnLst>
                              <p:par>
                                <p:cTn id="34" presetID="53" presetClass="entr" presetSubtype="16" fill="hold" nodeType="afterEffect">
                                  <p:stCondLst>
                                    <p:cond delay="0"/>
                                  </p:stCondLst>
                                  <p:childTnLst>
                                    <p:set>
                                      <p:cBhvr>
                                        <p:cTn id="35" dur="1" fill="hold">
                                          <p:stCondLst>
                                            <p:cond delay="0"/>
                                          </p:stCondLst>
                                        </p:cTn>
                                        <p:tgtEl>
                                          <p:spTgt spid="115"/>
                                        </p:tgtEl>
                                        <p:attrNameLst>
                                          <p:attrName>style.visibility</p:attrName>
                                        </p:attrNameLst>
                                      </p:cBhvr>
                                      <p:to>
                                        <p:strVal val="visible"/>
                                      </p:to>
                                    </p:set>
                                    <p:anim calcmode="lin" valueType="num">
                                      <p:cBhvr>
                                        <p:cTn id="36" dur="1000" fill="hold"/>
                                        <p:tgtEl>
                                          <p:spTgt spid="115"/>
                                        </p:tgtEl>
                                        <p:attrNameLst>
                                          <p:attrName>ppt_w</p:attrName>
                                        </p:attrNameLst>
                                      </p:cBhvr>
                                      <p:tavLst>
                                        <p:tav tm="0">
                                          <p:val>
                                            <p:fltVal val="0"/>
                                          </p:val>
                                        </p:tav>
                                        <p:tav tm="100000">
                                          <p:val>
                                            <p:strVal val="#ppt_w"/>
                                          </p:val>
                                        </p:tav>
                                      </p:tavLst>
                                    </p:anim>
                                    <p:anim calcmode="lin" valueType="num">
                                      <p:cBhvr>
                                        <p:cTn id="37" dur="1000" fill="hold"/>
                                        <p:tgtEl>
                                          <p:spTgt spid="115"/>
                                        </p:tgtEl>
                                        <p:attrNameLst>
                                          <p:attrName>ppt_h</p:attrName>
                                        </p:attrNameLst>
                                      </p:cBhvr>
                                      <p:tavLst>
                                        <p:tav tm="0">
                                          <p:val>
                                            <p:fltVal val="0"/>
                                          </p:val>
                                        </p:tav>
                                        <p:tav tm="100000">
                                          <p:val>
                                            <p:strVal val="#ppt_h"/>
                                          </p:val>
                                        </p:tav>
                                      </p:tavLst>
                                    </p:anim>
                                    <p:animEffect transition="in" filter="fade">
                                      <p:cBhvr>
                                        <p:cTn id="38" dur="1000"/>
                                        <p:tgtEl>
                                          <p:spTgt spid="115"/>
                                        </p:tgtEl>
                                      </p:cBhvr>
                                    </p:animEffect>
                                  </p:childTnLst>
                                </p:cTn>
                              </p:par>
                            </p:childTnLst>
                          </p:cTn>
                        </p:par>
                        <p:par>
                          <p:cTn id="39" fill="hold">
                            <p:stCondLst>
                              <p:cond delay="2000"/>
                            </p:stCondLst>
                            <p:childTnLst>
                              <p:par>
                                <p:cTn id="40" presetID="53" presetClass="entr" presetSubtype="16" fill="hold" nodeType="afterEffect">
                                  <p:stCondLst>
                                    <p:cond delay="0"/>
                                  </p:stCondLst>
                                  <p:childTnLst>
                                    <p:set>
                                      <p:cBhvr>
                                        <p:cTn id="41" dur="1" fill="hold">
                                          <p:stCondLst>
                                            <p:cond delay="0"/>
                                          </p:stCondLst>
                                        </p:cTn>
                                        <p:tgtEl>
                                          <p:spTgt spid="72"/>
                                        </p:tgtEl>
                                        <p:attrNameLst>
                                          <p:attrName>style.visibility</p:attrName>
                                        </p:attrNameLst>
                                      </p:cBhvr>
                                      <p:to>
                                        <p:strVal val="visible"/>
                                      </p:to>
                                    </p:set>
                                    <p:anim calcmode="lin" valueType="num">
                                      <p:cBhvr>
                                        <p:cTn id="42" dur="1000" fill="hold"/>
                                        <p:tgtEl>
                                          <p:spTgt spid="72"/>
                                        </p:tgtEl>
                                        <p:attrNameLst>
                                          <p:attrName>ppt_w</p:attrName>
                                        </p:attrNameLst>
                                      </p:cBhvr>
                                      <p:tavLst>
                                        <p:tav tm="0">
                                          <p:val>
                                            <p:fltVal val="0"/>
                                          </p:val>
                                        </p:tav>
                                        <p:tav tm="100000">
                                          <p:val>
                                            <p:strVal val="#ppt_w"/>
                                          </p:val>
                                        </p:tav>
                                      </p:tavLst>
                                    </p:anim>
                                    <p:anim calcmode="lin" valueType="num">
                                      <p:cBhvr>
                                        <p:cTn id="43" dur="1000" fill="hold"/>
                                        <p:tgtEl>
                                          <p:spTgt spid="72"/>
                                        </p:tgtEl>
                                        <p:attrNameLst>
                                          <p:attrName>ppt_h</p:attrName>
                                        </p:attrNameLst>
                                      </p:cBhvr>
                                      <p:tavLst>
                                        <p:tav tm="0">
                                          <p:val>
                                            <p:fltVal val="0"/>
                                          </p:val>
                                        </p:tav>
                                        <p:tav tm="100000">
                                          <p:val>
                                            <p:strVal val="#ppt_h"/>
                                          </p:val>
                                        </p:tav>
                                      </p:tavLst>
                                    </p:anim>
                                    <p:animEffect transition="in" filter="fade">
                                      <p:cBhvr>
                                        <p:cTn id="44" dur="1000"/>
                                        <p:tgtEl>
                                          <p:spTgt spid="72"/>
                                        </p:tgtEl>
                                      </p:cBhvr>
                                    </p:animEffect>
                                  </p:childTnLst>
                                </p:cTn>
                              </p:par>
                            </p:childTnLst>
                          </p:cTn>
                        </p:par>
                        <p:par>
                          <p:cTn id="45" fill="hold">
                            <p:stCondLst>
                              <p:cond delay="3000"/>
                            </p:stCondLst>
                            <p:childTnLst>
                              <p:par>
                                <p:cTn id="46" presetID="22" presetClass="entr" presetSubtype="1" fill="hold" grpId="0" nodeType="afterEffect">
                                  <p:stCondLst>
                                    <p:cond delay="0"/>
                                  </p:stCondLst>
                                  <p:childTnLst>
                                    <p:set>
                                      <p:cBhvr>
                                        <p:cTn id="47" dur="1" fill="hold">
                                          <p:stCondLst>
                                            <p:cond delay="0"/>
                                          </p:stCondLst>
                                        </p:cTn>
                                        <p:tgtEl>
                                          <p:spTgt spid="222"/>
                                        </p:tgtEl>
                                        <p:attrNameLst>
                                          <p:attrName>style.visibility</p:attrName>
                                        </p:attrNameLst>
                                      </p:cBhvr>
                                      <p:to>
                                        <p:strVal val="visible"/>
                                      </p:to>
                                    </p:set>
                                    <p:animEffect transition="in" filter="wipe(up)">
                                      <p:cBhvr>
                                        <p:cTn id="48" dur="1000"/>
                                        <p:tgtEl>
                                          <p:spTgt spid="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animBg="1"/>
      <p:bldP spid="142" grpId="0" animBg="1"/>
      <p:bldP spid="143" grpId="0" animBg="1"/>
      <p:bldP spid="222"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860534" y="1900574"/>
            <a:ext cx="5988050" cy="3190373"/>
            <a:chOff x="860534" y="1900574"/>
            <a:chExt cx="5988050" cy="3190373"/>
          </a:xfrm>
        </p:grpSpPr>
        <p:grpSp>
          <p:nvGrpSpPr>
            <p:cNvPr id="212" name="组合 211"/>
            <p:cNvGrpSpPr/>
            <p:nvPr/>
          </p:nvGrpSpPr>
          <p:grpSpPr>
            <a:xfrm>
              <a:off x="860534" y="1900574"/>
              <a:ext cx="5988050" cy="3190373"/>
              <a:chOff x="860534" y="1900574"/>
              <a:chExt cx="5988050" cy="3190373"/>
            </a:xfrm>
          </p:grpSpPr>
          <p:grpSp>
            <p:nvGrpSpPr>
              <p:cNvPr id="123" name="组合 122"/>
              <p:cNvGrpSpPr/>
              <p:nvPr/>
            </p:nvGrpSpPr>
            <p:grpSpPr>
              <a:xfrm>
                <a:off x="860534" y="1900574"/>
                <a:ext cx="5988050" cy="3190373"/>
                <a:chOff x="1333500" y="1876926"/>
                <a:chExt cx="5988050" cy="3190373"/>
              </a:xfrm>
            </p:grpSpPr>
            <p:sp>
              <p:nvSpPr>
                <p:cNvPr id="124" name="圆角矩形 123"/>
                <p:cNvSpPr/>
                <p:nvPr/>
              </p:nvSpPr>
              <p:spPr>
                <a:xfrm>
                  <a:off x="1333500" y="1876926"/>
                  <a:ext cx="5988050" cy="3190373"/>
                </a:xfrm>
                <a:prstGeom prst="roundRect">
                  <a:avLst>
                    <a:gd name="adj" fmla="val 6017"/>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6" name="组合 196"/>
                <p:cNvGrpSpPr/>
                <p:nvPr/>
              </p:nvGrpSpPr>
              <p:grpSpPr>
                <a:xfrm>
                  <a:off x="2176894" y="2748712"/>
                  <a:ext cx="5073072" cy="1289670"/>
                  <a:chOff x="1992744" y="2729662"/>
                  <a:chExt cx="5073072" cy="1289670"/>
                </a:xfrm>
              </p:grpSpPr>
              <p:pic>
                <p:nvPicPr>
                  <p:cNvPr id="180" name="Picture 9"/>
                  <p:cNvPicPr>
                    <a:picLocks noChangeAspect="1" noChangeArrowheads="1"/>
                  </p:cNvPicPr>
                  <p:nvPr/>
                </p:nvPicPr>
                <p:blipFill>
                  <a:blip r:embed="rId1" cstate="print"/>
                  <a:srcRect/>
                  <a:stretch>
                    <a:fillRect/>
                  </a:stretch>
                </p:blipFill>
                <p:spPr bwMode="auto">
                  <a:xfrm>
                    <a:off x="1992744" y="2729662"/>
                    <a:ext cx="2322946" cy="1289670"/>
                  </a:xfrm>
                  <a:prstGeom prst="rect">
                    <a:avLst/>
                  </a:prstGeom>
                  <a:noFill/>
                  <a:ln w="9525">
                    <a:noFill/>
                    <a:miter lim="800000"/>
                    <a:headEnd/>
                    <a:tailEnd/>
                  </a:ln>
                </p:spPr>
              </p:pic>
              <p:pic>
                <p:nvPicPr>
                  <p:cNvPr id="181" name="Picture 9"/>
                  <p:cNvPicPr>
                    <a:picLocks noChangeAspect="1" noChangeArrowheads="1"/>
                  </p:cNvPicPr>
                  <p:nvPr/>
                </p:nvPicPr>
                <p:blipFill>
                  <a:blip r:embed="rId1" cstate="print"/>
                  <a:srcRect/>
                  <a:stretch>
                    <a:fillRect/>
                  </a:stretch>
                </p:blipFill>
                <p:spPr bwMode="auto">
                  <a:xfrm>
                    <a:off x="4742870" y="2729662"/>
                    <a:ext cx="2322946" cy="1289670"/>
                  </a:xfrm>
                  <a:prstGeom prst="rect">
                    <a:avLst/>
                  </a:prstGeom>
                  <a:noFill/>
                  <a:ln w="9525">
                    <a:noFill/>
                    <a:miter lim="800000"/>
                    <a:headEnd/>
                    <a:tailEnd/>
                  </a:ln>
                </p:spPr>
              </p:pic>
            </p:grpSp>
            <p:grpSp>
              <p:nvGrpSpPr>
                <p:cNvPr id="127" name="组合 198"/>
                <p:cNvGrpSpPr/>
                <p:nvPr/>
              </p:nvGrpSpPr>
              <p:grpSpPr>
                <a:xfrm>
                  <a:off x="1371600" y="3073977"/>
                  <a:ext cx="3786344" cy="1632549"/>
                  <a:chOff x="1263650" y="2769177"/>
                  <a:chExt cx="3786344" cy="1632549"/>
                </a:xfrm>
              </p:grpSpPr>
              <p:grpSp>
                <p:nvGrpSpPr>
                  <p:cNvPr id="166" name="组合 195"/>
                  <p:cNvGrpSpPr/>
                  <p:nvPr/>
                </p:nvGrpSpPr>
                <p:grpSpPr>
                  <a:xfrm>
                    <a:off x="1516503" y="2769177"/>
                    <a:ext cx="3533491" cy="1534364"/>
                    <a:chOff x="1440303" y="3054927"/>
                    <a:chExt cx="3533491" cy="1534364"/>
                  </a:xfrm>
                </p:grpSpPr>
                <p:cxnSp>
                  <p:nvCxnSpPr>
                    <p:cNvPr id="168" name="直接连接符 167"/>
                    <p:cNvCxnSpPr/>
                    <p:nvPr/>
                  </p:nvCxnSpPr>
                  <p:spPr>
                    <a:xfrm flipH="1">
                      <a:off x="1440303" y="4298156"/>
                      <a:ext cx="2929291" cy="7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p:nvCxnSpPr>
                  <p:spPr>
                    <a:xfrm flipH="1" flipV="1">
                      <a:off x="1440304" y="4447309"/>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a:xfrm flipH="1" flipV="1">
                      <a:off x="1440304" y="4585277"/>
                      <a:ext cx="3175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肘形连接符 170"/>
                    <p:cNvCxnSpPr/>
                    <p:nvPr/>
                  </p:nvCxnSpPr>
                  <p:spPr>
                    <a:xfrm rot="5400000">
                      <a:off x="4045529" y="3380510"/>
                      <a:ext cx="1253836" cy="60267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肘形连接符 171"/>
                    <p:cNvCxnSpPr/>
                    <p:nvPr/>
                  </p:nvCxnSpPr>
                  <p:spPr>
                    <a:xfrm rot="5400000">
                      <a:off x="4121438" y="3606109"/>
                      <a:ext cx="1224000" cy="468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肘形连接符 172"/>
                    <p:cNvCxnSpPr/>
                    <p:nvPr/>
                  </p:nvCxnSpPr>
                  <p:spPr>
                    <a:xfrm rot="5400000">
                      <a:off x="4199794" y="3815291"/>
                      <a:ext cx="1188000" cy="360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肘形连接符 173"/>
                    <p:cNvCxnSpPr/>
                    <p:nvPr/>
                  </p:nvCxnSpPr>
                  <p:spPr>
                    <a:xfrm rot="5400000">
                      <a:off x="1289629" y="3380510"/>
                      <a:ext cx="1253836" cy="60267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肘形连接符 174"/>
                    <p:cNvCxnSpPr/>
                    <p:nvPr/>
                  </p:nvCxnSpPr>
                  <p:spPr>
                    <a:xfrm rot="5400000">
                      <a:off x="1359188" y="3606109"/>
                      <a:ext cx="1224000" cy="468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肘形连接符 175"/>
                    <p:cNvCxnSpPr/>
                    <p:nvPr/>
                  </p:nvCxnSpPr>
                  <p:spPr>
                    <a:xfrm rot="5400000">
                      <a:off x="1443894" y="3815291"/>
                      <a:ext cx="1188000" cy="360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1855788" y="4573588"/>
                      <a:ext cx="36000"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a:xfrm>
                      <a:off x="1735138" y="4449763"/>
                      <a:ext cx="36000"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1614488" y="4294188"/>
                      <a:ext cx="36000"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grpSp>
              <p:sp>
                <p:nvSpPr>
                  <p:cNvPr id="167" name="TextBox 166"/>
                  <p:cNvSpPr txBox="1"/>
                  <p:nvPr/>
                </p:nvSpPr>
                <p:spPr>
                  <a:xfrm>
                    <a:off x="1263650" y="3886200"/>
                    <a:ext cx="309700" cy="515526"/>
                  </a:xfrm>
                  <a:prstGeom prst="rect">
                    <a:avLst/>
                  </a:prstGeom>
                  <a:noFill/>
                  <a:ln>
                    <a:noFill/>
                  </a:ln>
                </p:spPr>
                <p:txBody>
                  <a:bodyPr wrap="non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S</a:t>
                    </a:r>
                    <a:r>
                      <a:rPr lang="en-US" altLang="zh-CN" sz="1100" b="1" baseline="-25000" dirty="0">
                        <a:latin typeface="Times New Roman" panose="02020603050405020304" pitchFamily="18" charset="0"/>
                        <a:cs typeface="Times New Roman" panose="02020603050405020304" pitchFamily="18" charset="0"/>
                      </a:rPr>
                      <a:t>2</a:t>
                    </a:r>
                    <a:endParaRPr lang="en-US" altLang="zh-CN" sz="1100" b="1" baseline="-25000" dirty="0">
                      <a:latin typeface="Times New Roman" panose="02020603050405020304" pitchFamily="18" charset="0"/>
                      <a:cs typeface="Times New Roman" panose="02020603050405020304" pitchFamily="18" charset="0"/>
                    </a:endParaRPr>
                  </a:p>
                  <a:p>
                    <a:pPr>
                      <a:lnSpc>
                        <a:spcPts val="1100"/>
                      </a:lnSpc>
                    </a:pPr>
                    <a:r>
                      <a:rPr lang="en-US" altLang="zh-CN" sz="1100" b="1" i="1" dirty="0">
                        <a:latin typeface="Times New Roman" panose="02020603050405020304" pitchFamily="18" charset="0"/>
                        <a:cs typeface="Times New Roman" panose="02020603050405020304" pitchFamily="18" charset="0"/>
                      </a:rPr>
                      <a:t>S</a:t>
                    </a:r>
                    <a:r>
                      <a:rPr lang="en-US" altLang="zh-CN" sz="1100" b="1" baseline="-25000" dirty="0">
                        <a:latin typeface="Times New Roman" panose="02020603050405020304" pitchFamily="18" charset="0"/>
                        <a:cs typeface="Times New Roman" panose="02020603050405020304" pitchFamily="18" charset="0"/>
                      </a:rPr>
                      <a:t>1</a:t>
                    </a:r>
                    <a:endParaRPr lang="en-US" altLang="zh-CN" sz="1100" b="1" baseline="-25000" dirty="0">
                      <a:latin typeface="Times New Roman" panose="02020603050405020304" pitchFamily="18" charset="0"/>
                      <a:cs typeface="Times New Roman" panose="02020603050405020304" pitchFamily="18" charset="0"/>
                    </a:endParaRPr>
                  </a:p>
                  <a:p>
                    <a:pPr>
                      <a:lnSpc>
                        <a:spcPts val="1100"/>
                      </a:lnSpc>
                    </a:pPr>
                    <a:r>
                      <a:rPr lang="en-US" altLang="zh-CN" sz="1100" b="1" i="1" dirty="0">
                        <a:latin typeface="Times New Roman" panose="02020603050405020304" pitchFamily="18" charset="0"/>
                        <a:cs typeface="Times New Roman" panose="02020603050405020304" pitchFamily="18" charset="0"/>
                      </a:rPr>
                      <a:t>S</a:t>
                    </a:r>
                    <a:r>
                      <a:rPr lang="en-US" altLang="zh-CN" sz="1100" b="1" baseline="-25000" dirty="0">
                        <a:latin typeface="Times New Roman" panose="02020603050405020304" pitchFamily="18" charset="0"/>
                        <a:cs typeface="Times New Roman" panose="02020603050405020304" pitchFamily="18" charset="0"/>
                      </a:rPr>
                      <a:t>0</a:t>
                    </a:r>
                    <a:endParaRPr lang="zh-CN" altLang="en-US" sz="1100" b="1" baseline="-25000" dirty="0">
                      <a:latin typeface="Times New Roman" panose="02020603050405020304" pitchFamily="18" charset="0"/>
                      <a:cs typeface="Times New Roman" panose="02020603050405020304" pitchFamily="18" charset="0"/>
                    </a:endParaRPr>
                  </a:p>
                </p:txBody>
              </p:sp>
            </p:grpSp>
            <p:sp>
              <p:nvSpPr>
                <p:cNvPr id="160" name="矩形 159"/>
                <p:cNvSpPr/>
                <p:nvPr/>
              </p:nvSpPr>
              <p:spPr>
                <a:xfrm>
                  <a:off x="1373525" y="4715554"/>
                  <a:ext cx="320922" cy="233397"/>
                </a:xfrm>
                <a:prstGeom prst="rect">
                  <a:avLst/>
                </a:prstGeom>
                <a:ln>
                  <a:noFill/>
                </a:ln>
              </p:spPr>
              <p:txBody>
                <a:bodyPr wrap="none">
                  <a:spAutoFit/>
                </a:bodyPr>
                <a:lstStyle/>
                <a:p>
                  <a:pPr>
                    <a:lnSpc>
                      <a:spcPts val="1100"/>
                    </a:lnSpc>
                  </a:pPr>
                  <a:r>
                    <a:rPr lang="en-US" altLang="zh-CN" sz="1200" b="1" i="1" dirty="0">
                      <a:latin typeface="Times New Roman" panose="02020603050405020304" pitchFamily="18" charset="0"/>
                      <a:cs typeface="Times New Roman" panose="02020603050405020304" pitchFamily="18" charset="0"/>
                    </a:rPr>
                    <a:t>S</a:t>
                  </a:r>
                  <a:r>
                    <a:rPr lang="en-US" altLang="zh-CN" sz="1200" b="1" baseline="-25000" dirty="0">
                      <a:latin typeface="Times New Roman" panose="02020603050405020304" pitchFamily="18" charset="0"/>
                      <a:cs typeface="Times New Roman" panose="02020603050405020304" pitchFamily="18" charset="0"/>
                    </a:rPr>
                    <a:t>3</a:t>
                  </a:r>
                  <a:endParaRPr lang="zh-CN" altLang="en-US" sz="1200" b="1" baseline="-25000" dirty="0">
                    <a:latin typeface="Times New Roman" panose="02020603050405020304" pitchFamily="18" charset="0"/>
                    <a:cs typeface="Times New Roman" panose="02020603050405020304" pitchFamily="18" charset="0"/>
                  </a:endParaRPr>
                </a:p>
              </p:txBody>
            </p:sp>
            <p:grpSp>
              <p:nvGrpSpPr>
                <p:cNvPr id="129" name="组合 212"/>
                <p:cNvGrpSpPr/>
                <p:nvPr/>
              </p:nvGrpSpPr>
              <p:grpSpPr>
                <a:xfrm>
                  <a:off x="2454250" y="3999324"/>
                  <a:ext cx="1943100" cy="233397"/>
                  <a:chOff x="2305050" y="3694524"/>
                  <a:chExt cx="1943100" cy="233397"/>
                </a:xfrm>
              </p:grpSpPr>
              <p:sp>
                <p:nvSpPr>
                  <p:cNvPr id="148" name="TextBox 147"/>
                  <p:cNvSpPr txBox="1"/>
                  <p:nvPr/>
                </p:nvSpPr>
                <p:spPr>
                  <a:xfrm>
                    <a:off x="230505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0</a:t>
                    </a:r>
                    <a:endParaRPr lang="zh-CN" altLang="en-US" sz="1100" b="1" baseline="-25000" dirty="0">
                      <a:latin typeface="Times New Roman" panose="02020603050405020304" pitchFamily="18" charset="0"/>
                      <a:cs typeface="Times New Roman" panose="02020603050405020304" pitchFamily="18" charset="0"/>
                    </a:endParaRPr>
                  </a:p>
                </p:txBody>
              </p:sp>
              <p:sp>
                <p:nvSpPr>
                  <p:cNvPr id="149" name="TextBox 148"/>
                  <p:cNvSpPr txBox="1"/>
                  <p:nvPr/>
                </p:nvSpPr>
                <p:spPr>
                  <a:xfrm>
                    <a:off x="2525486"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a:t>
                    </a:r>
                    <a:endParaRPr lang="zh-CN" altLang="en-US" sz="1100" b="1" baseline="-25000" dirty="0">
                      <a:latin typeface="Times New Roman" panose="02020603050405020304" pitchFamily="18" charset="0"/>
                      <a:cs typeface="Times New Roman" panose="02020603050405020304" pitchFamily="18" charset="0"/>
                    </a:endParaRPr>
                  </a:p>
                </p:txBody>
              </p:sp>
              <p:sp>
                <p:nvSpPr>
                  <p:cNvPr id="152" name="TextBox 151"/>
                  <p:cNvSpPr txBox="1"/>
                  <p:nvPr/>
                </p:nvSpPr>
                <p:spPr>
                  <a:xfrm>
                    <a:off x="2745922"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2</a:t>
                    </a:r>
                    <a:endParaRPr lang="zh-CN" altLang="en-US" sz="1100" b="1" baseline="-25000" dirty="0">
                      <a:latin typeface="Times New Roman" panose="02020603050405020304" pitchFamily="18" charset="0"/>
                      <a:cs typeface="Times New Roman" panose="02020603050405020304" pitchFamily="18" charset="0"/>
                    </a:endParaRPr>
                  </a:p>
                </p:txBody>
              </p:sp>
              <p:sp>
                <p:nvSpPr>
                  <p:cNvPr id="153" name="TextBox 152"/>
                  <p:cNvSpPr txBox="1"/>
                  <p:nvPr/>
                </p:nvSpPr>
                <p:spPr>
                  <a:xfrm>
                    <a:off x="2966358"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3</a:t>
                    </a:r>
                    <a:endParaRPr lang="zh-CN" altLang="en-US" sz="1100" b="1" baseline="-25000" dirty="0">
                      <a:latin typeface="Times New Roman" panose="02020603050405020304" pitchFamily="18" charset="0"/>
                      <a:cs typeface="Times New Roman" panose="02020603050405020304" pitchFamily="18" charset="0"/>
                    </a:endParaRPr>
                  </a:p>
                </p:txBody>
              </p:sp>
              <p:sp>
                <p:nvSpPr>
                  <p:cNvPr id="154" name="TextBox 153"/>
                  <p:cNvSpPr txBox="1"/>
                  <p:nvPr/>
                </p:nvSpPr>
                <p:spPr>
                  <a:xfrm>
                    <a:off x="3186794"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4</a:t>
                    </a:r>
                    <a:endParaRPr lang="zh-CN" altLang="en-US" sz="1100" b="1" baseline="-25000" dirty="0">
                      <a:latin typeface="Times New Roman" panose="02020603050405020304" pitchFamily="18" charset="0"/>
                      <a:cs typeface="Times New Roman" panose="02020603050405020304" pitchFamily="18" charset="0"/>
                    </a:endParaRPr>
                  </a:p>
                </p:txBody>
              </p:sp>
              <p:sp>
                <p:nvSpPr>
                  <p:cNvPr id="155" name="TextBox 154"/>
                  <p:cNvSpPr txBox="1"/>
                  <p:nvPr/>
                </p:nvSpPr>
                <p:spPr>
                  <a:xfrm>
                    <a:off x="340723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5</a:t>
                    </a:r>
                    <a:endParaRPr lang="zh-CN" altLang="en-US" sz="1100" b="1" baseline="-25000" dirty="0">
                      <a:latin typeface="Times New Roman" panose="02020603050405020304" pitchFamily="18" charset="0"/>
                      <a:cs typeface="Times New Roman" panose="02020603050405020304" pitchFamily="18" charset="0"/>
                    </a:endParaRPr>
                  </a:p>
                </p:txBody>
              </p:sp>
              <p:sp>
                <p:nvSpPr>
                  <p:cNvPr id="156" name="TextBox 155"/>
                  <p:cNvSpPr txBox="1"/>
                  <p:nvPr/>
                </p:nvSpPr>
                <p:spPr>
                  <a:xfrm>
                    <a:off x="3627666"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6</a:t>
                    </a:r>
                    <a:endParaRPr lang="zh-CN" altLang="en-US" sz="1100" b="1" baseline="-25000" dirty="0">
                      <a:latin typeface="Times New Roman" panose="02020603050405020304" pitchFamily="18" charset="0"/>
                      <a:cs typeface="Times New Roman" panose="02020603050405020304" pitchFamily="18" charset="0"/>
                    </a:endParaRPr>
                  </a:p>
                </p:txBody>
              </p:sp>
              <p:sp>
                <p:nvSpPr>
                  <p:cNvPr id="157" name="TextBox 156"/>
                  <p:cNvSpPr txBox="1"/>
                  <p:nvPr/>
                </p:nvSpPr>
                <p:spPr>
                  <a:xfrm>
                    <a:off x="384810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7</a:t>
                    </a:r>
                    <a:endParaRPr lang="zh-CN" altLang="en-US" sz="1100" b="1" baseline="-25000" dirty="0">
                      <a:latin typeface="Times New Roman" panose="02020603050405020304" pitchFamily="18" charset="0"/>
                      <a:cs typeface="Times New Roman" panose="02020603050405020304" pitchFamily="18" charset="0"/>
                    </a:endParaRPr>
                  </a:p>
                </p:txBody>
              </p:sp>
            </p:grpSp>
            <p:grpSp>
              <p:nvGrpSpPr>
                <p:cNvPr id="130" name="组合 213"/>
                <p:cNvGrpSpPr/>
                <p:nvPr/>
              </p:nvGrpSpPr>
              <p:grpSpPr>
                <a:xfrm>
                  <a:off x="5187950" y="4012024"/>
                  <a:ext cx="1943100" cy="233397"/>
                  <a:chOff x="2305050" y="3694524"/>
                  <a:chExt cx="1943100" cy="233397"/>
                </a:xfrm>
              </p:grpSpPr>
              <p:sp>
                <p:nvSpPr>
                  <p:cNvPr id="135" name="TextBox 134"/>
                  <p:cNvSpPr txBox="1"/>
                  <p:nvPr/>
                </p:nvSpPr>
                <p:spPr>
                  <a:xfrm>
                    <a:off x="230505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8</a:t>
                    </a:r>
                    <a:endParaRPr lang="zh-CN" altLang="en-US" sz="1100" b="1" baseline="-25000" dirty="0">
                      <a:latin typeface="Times New Roman" panose="02020603050405020304" pitchFamily="18" charset="0"/>
                      <a:cs typeface="Times New Roman" panose="02020603050405020304" pitchFamily="18" charset="0"/>
                    </a:endParaRPr>
                  </a:p>
                </p:txBody>
              </p:sp>
              <p:sp>
                <p:nvSpPr>
                  <p:cNvPr id="136" name="TextBox 135"/>
                  <p:cNvSpPr txBox="1"/>
                  <p:nvPr/>
                </p:nvSpPr>
                <p:spPr>
                  <a:xfrm>
                    <a:off x="2525486"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9</a:t>
                    </a:r>
                    <a:endParaRPr lang="zh-CN" altLang="en-US" sz="1100" b="1" baseline="-25000" dirty="0">
                      <a:latin typeface="Times New Roman" panose="02020603050405020304" pitchFamily="18" charset="0"/>
                      <a:cs typeface="Times New Roman" panose="02020603050405020304" pitchFamily="18" charset="0"/>
                    </a:endParaRPr>
                  </a:p>
                </p:txBody>
              </p:sp>
              <p:sp>
                <p:nvSpPr>
                  <p:cNvPr id="137" name="TextBox 136"/>
                  <p:cNvSpPr txBox="1"/>
                  <p:nvPr/>
                </p:nvSpPr>
                <p:spPr>
                  <a:xfrm>
                    <a:off x="2745922"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10</a:t>
                    </a:r>
                    <a:endParaRPr lang="zh-CN" altLang="en-US" sz="1100" b="1" baseline="-25000" dirty="0">
                      <a:latin typeface="Times New Roman" panose="02020603050405020304" pitchFamily="18" charset="0"/>
                      <a:cs typeface="Times New Roman" panose="02020603050405020304" pitchFamily="18" charset="0"/>
                    </a:endParaRPr>
                  </a:p>
                </p:txBody>
              </p:sp>
              <p:sp>
                <p:nvSpPr>
                  <p:cNvPr id="140" name="TextBox 139"/>
                  <p:cNvSpPr txBox="1"/>
                  <p:nvPr/>
                </p:nvSpPr>
                <p:spPr>
                  <a:xfrm>
                    <a:off x="2966358"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11</a:t>
                    </a:r>
                    <a:endParaRPr lang="zh-CN" altLang="en-US" sz="1100" b="1" baseline="-25000" dirty="0">
                      <a:latin typeface="Times New Roman" panose="02020603050405020304" pitchFamily="18" charset="0"/>
                      <a:cs typeface="Times New Roman" panose="02020603050405020304" pitchFamily="18" charset="0"/>
                    </a:endParaRPr>
                  </a:p>
                </p:txBody>
              </p:sp>
              <p:sp>
                <p:nvSpPr>
                  <p:cNvPr id="144" name="TextBox 143"/>
                  <p:cNvSpPr txBox="1"/>
                  <p:nvPr/>
                </p:nvSpPr>
                <p:spPr>
                  <a:xfrm>
                    <a:off x="3186794"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12</a:t>
                    </a:r>
                    <a:endParaRPr lang="zh-CN" altLang="en-US" sz="1100" b="1" baseline="-25000" dirty="0">
                      <a:latin typeface="Times New Roman" panose="02020603050405020304" pitchFamily="18" charset="0"/>
                      <a:cs typeface="Times New Roman" panose="02020603050405020304" pitchFamily="18" charset="0"/>
                    </a:endParaRPr>
                  </a:p>
                </p:txBody>
              </p:sp>
              <p:sp>
                <p:nvSpPr>
                  <p:cNvPr id="145" name="TextBox 144"/>
                  <p:cNvSpPr txBox="1"/>
                  <p:nvPr/>
                </p:nvSpPr>
                <p:spPr>
                  <a:xfrm>
                    <a:off x="340723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13</a:t>
                    </a:r>
                    <a:endParaRPr lang="zh-CN" altLang="en-US" sz="1100" b="1" baseline="-25000" dirty="0">
                      <a:latin typeface="Times New Roman" panose="02020603050405020304" pitchFamily="18" charset="0"/>
                      <a:cs typeface="Times New Roman" panose="02020603050405020304" pitchFamily="18" charset="0"/>
                    </a:endParaRPr>
                  </a:p>
                </p:txBody>
              </p:sp>
              <p:sp>
                <p:nvSpPr>
                  <p:cNvPr id="146" name="TextBox 145"/>
                  <p:cNvSpPr txBox="1"/>
                  <p:nvPr/>
                </p:nvSpPr>
                <p:spPr>
                  <a:xfrm>
                    <a:off x="3627666"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14</a:t>
                    </a:r>
                    <a:endParaRPr lang="zh-CN" altLang="en-US" sz="1100" b="1" baseline="-25000" dirty="0">
                      <a:latin typeface="Times New Roman" panose="02020603050405020304" pitchFamily="18" charset="0"/>
                      <a:cs typeface="Times New Roman" panose="02020603050405020304" pitchFamily="18" charset="0"/>
                    </a:endParaRPr>
                  </a:p>
                </p:txBody>
              </p:sp>
              <p:sp>
                <p:nvSpPr>
                  <p:cNvPr id="147" name="TextBox 146"/>
                  <p:cNvSpPr txBox="1"/>
                  <p:nvPr/>
                </p:nvSpPr>
                <p:spPr>
                  <a:xfrm>
                    <a:off x="384810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15</a:t>
                    </a:r>
                    <a:endParaRPr lang="zh-CN" altLang="en-US" sz="1100" b="1" baseline="-25000" dirty="0">
                      <a:latin typeface="Times New Roman" panose="02020603050405020304" pitchFamily="18" charset="0"/>
                      <a:cs typeface="Times New Roman" panose="02020603050405020304" pitchFamily="18" charset="0"/>
                    </a:endParaRPr>
                  </a:p>
                </p:txBody>
              </p:sp>
            </p:grpSp>
            <p:grpSp>
              <p:nvGrpSpPr>
                <p:cNvPr id="90" name="组合 89"/>
                <p:cNvGrpSpPr/>
                <p:nvPr/>
              </p:nvGrpSpPr>
              <p:grpSpPr>
                <a:xfrm>
                  <a:off x="1627939" y="3650683"/>
                  <a:ext cx="3447746" cy="1335809"/>
                  <a:chOff x="1611754" y="3642591"/>
                  <a:chExt cx="3447746" cy="1335809"/>
                </a:xfrm>
              </p:grpSpPr>
              <p:grpSp>
                <p:nvGrpSpPr>
                  <p:cNvPr id="159" name="组合 193"/>
                  <p:cNvGrpSpPr/>
                  <p:nvPr/>
                </p:nvGrpSpPr>
                <p:grpSpPr>
                  <a:xfrm>
                    <a:off x="1611754" y="3642591"/>
                    <a:ext cx="3447746" cy="1192150"/>
                    <a:chOff x="1440304" y="3629891"/>
                    <a:chExt cx="3447746" cy="1116001"/>
                  </a:xfrm>
                </p:grpSpPr>
                <p:cxnSp>
                  <p:nvCxnSpPr>
                    <p:cNvPr id="162" name="直接连接符 161"/>
                    <p:cNvCxnSpPr/>
                    <p:nvPr/>
                  </p:nvCxnSpPr>
                  <p:spPr>
                    <a:xfrm flipH="1" flipV="1">
                      <a:off x="1440304" y="4737670"/>
                      <a:ext cx="3312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肘形连接符 162"/>
                    <p:cNvCxnSpPr/>
                    <p:nvPr/>
                  </p:nvCxnSpPr>
                  <p:spPr>
                    <a:xfrm rot="5400000">
                      <a:off x="4258050" y="4115891"/>
                      <a:ext cx="1116000" cy="144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肘形连接符 163"/>
                    <p:cNvCxnSpPr/>
                    <p:nvPr/>
                  </p:nvCxnSpPr>
                  <p:spPr>
                    <a:xfrm rot="5400000">
                      <a:off x="1514849" y="4115892"/>
                      <a:ext cx="1116000" cy="144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直接连接符 164"/>
                    <p:cNvCxnSpPr/>
                    <p:nvPr/>
                  </p:nvCxnSpPr>
                  <p:spPr>
                    <a:xfrm>
                      <a:off x="2001838" y="4729163"/>
                      <a:ext cx="36000"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grpSp>
              <p:sp>
                <p:nvSpPr>
                  <p:cNvPr id="183" name="矩形 182"/>
                  <p:cNvSpPr/>
                  <p:nvPr/>
                </p:nvSpPr>
                <p:spPr>
                  <a:xfrm>
                    <a:off x="2374900" y="4673600"/>
                    <a:ext cx="215900" cy="3048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Times New Roman" panose="02020603050405020304" pitchFamily="18" charset="0"/>
                        <a:cs typeface="Times New Roman" panose="02020603050405020304" pitchFamily="18" charset="0"/>
                      </a:rPr>
                      <a:t>1</a:t>
                    </a:r>
                    <a:endParaRPr lang="zh-CN" altLang="en-US" sz="1400" dirty="0">
                      <a:solidFill>
                        <a:schemeClr val="tx1"/>
                      </a:solidFill>
                      <a:latin typeface="Times New Roman" panose="02020603050405020304" pitchFamily="18" charset="0"/>
                      <a:cs typeface="Times New Roman" panose="02020603050405020304" pitchFamily="18" charset="0"/>
                    </a:endParaRPr>
                  </a:p>
                </p:txBody>
              </p:sp>
              <p:sp>
                <p:nvSpPr>
                  <p:cNvPr id="184" name="椭圆 183"/>
                  <p:cNvSpPr/>
                  <p:nvPr/>
                </p:nvSpPr>
                <p:spPr>
                  <a:xfrm>
                    <a:off x="2597150" y="4781550"/>
                    <a:ext cx="72000" cy="72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8" name="组合 207"/>
                <p:cNvGrpSpPr/>
                <p:nvPr/>
              </p:nvGrpSpPr>
              <p:grpSpPr>
                <a:xfrm>
                  <a:off x="3124201" y="1943547"/>
                  <a:ext cx="3204399" cy="814735"/>
                  <a:chOff x="3124201" y="1943547"/>
                  <a:chExt cx="3204399" cy="814735"/>
                </a:xfrm>
              </p:grpSpPr>
              <p:cxnSp>
                <p:nvCxnSpPr>
                  <p:cNvPr id="206" name="直接连接符 205"/>
                  <p:cNvCxnSpPr/>
                  <p:nvPr/>
                </p:nvCxnSpPr>
                <p:spPr>
                  <a:xfrm flipV="1">
                    <a:off x="3917950" y="2067297"/>
                    <a:ext cx="0" cy="144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2" name="TextBox 131"/>
                  <p:cNvSpPr txBox="1"/>
                  <p:nvPr/>
                </p:nvSpPr>
                <p:spPr>
                  <a:xfrm>
                    <a:off x="3699330" y="1943547"/>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Y</a:t>
                    </a:r>
                    <a:endParaRPr lang="zh-CN" altLang="en-US" sz="1100" b="1" baseline="-25000" dirty="0">
                      <a:latin typeface="Times New Roman" panose="02020603050405020304" pitchFamily="18" charset="0"/>
                      <a:cs typeface="Times New Roman" panose="02020603050405020304" pitchFamily="18" charset="0"/>
                    </a:endParaRPr>
                  </a:p>
                </p:txBody>
              </p:sp>
              <p:cxnSp>
                <p:nvCxnSpPr>
                  <p:cNvPr id="188" name="形状 187"/>
                  <p:cNvCxnSpPr/>
                  <p:nvPr/>
                </p:nvCxnSpPr>
                <p:spPr>
                  <a:xfrm rot="5400000">
                    <a:off x="4165175" y="1834875"/>
                    <a:ext cx="324000" cy="1512000"/>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形状 188"/>
                  <p:cNvCxnSpPr/>
                  <p:nvPr/>
                </p:nvCxnSpPr>
                <p:spPr>
                  <a:xfrm rot="16200000" flipH="1">
                    <a:off x="5662600" y="2086875"/>
                    <a:ext cx="324000" cy="1008000"/>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1" name="组合 200"/>
                  <p:cNvGrpSpPr/>
                  <p:nvPr/>
                </p:nvGrpSpPr>
                <p:grpSpPr>
                  <a:xfrm>
                    <a:off x="3124201" y="2447925"/>
                    <a:ext cx="685799" cy="307975"/>
                    <a:chOff x="3124201" y="2447925"/>
                    <a:chExt cx="685799" cy="307975"/>
                  </a:xfrm>
                </p:grpSpPr>
                <p:cxnSp>
                  <p:nvCxnSpPr>
                    <p:cNvPr id="190" name="形状 189"/>
                    <p:cNvCxnSpPr/>
                    <p:nvPr/>
                  </p:nvCxnSpPr>
                  <p:spPr>
                    <a:xfrm rot="5400000">
                      <a:off x="3414000" y="2231925"/>
                      <a:ext cx="180000" cy="612000"/>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肘形连接符 191"/>
                    <p:cNvCxnSpPr/>
                    <p:nvPr/>
                  </p:nvCxnSpPr>
                  <p:spPr>
                    <a:xfrm rot="5400000">
                      <a:off x="3098801" y="2651125"/>
                      <a:ext cx="130175" cy="79375"/>
                    </a:xfrm>
                    <a:prstGeom prst="bentConnector3">
                      <a:avLst>
                        <a:gd name="adj1" fmla="val 1220"/>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4" name="组合 203"/>
                  <p:cNvGrpSpPr/>
                  <p:nvPr/>
                </p:nvGrpSpPr>
                <p:grpSpPr>
                  <a:xfrm>
                    <a:off x="4020325" y="2441575"/>
                    <a:ext cx="1853428" cy="316707"/>
                    <a:chOff x="4020325" y="2441575"/>
                    <a:chExt cx="1853428" cy="316707"/>
                  </a:xfrm>
                </p:grpSpPr>
                <p:cxnSp>
                  <p:nvCxnSpPr>
                    <p:cNvPr id="194" name="形状 193"/>
                    <p:cNvCxnSpPr/>
                    <p:nvPr/>
                  </p:nvCxnSpPr>
                  <p:spPr>
                    <a:xfrm rot="16200000" flipH="1">
                      <a:off x="4740325" y="1721575"/>
                      <a:ext cx="180000" cy="1620000"/>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肘形连接符 195"/>
                    <p:cNvCxnSpPr/>
                    <p:nvPr/>
                  </p:nvCxnSpPr>
                  <p:spPr>
                    <a:xfrm rot="10800000">
                      <a:off x="5600701" y="2621760"/>
                      <a:ext cx="273052" cy="136522"/>
                    </a:xfrm>
                    <a:prstGeom prst="bentConnector3">
                      <a:avLst>
                        <a:gd name="adj1" fmla="val 0"/>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5" name="矩形 184"/>
                  <p:cNvSpPr/>
                  <p:nvPr/>
                </p:nvSpPr>
                <p:spPr>
                  <a:xfrm>
                    <a:off x="3721100" y="2216150"/>
                    <a:ext cx="400050" cy="2286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mn-ea"/>
                        <a:cs typeface="Times New Roman" panose="02020603050405020304" pitchFamily="18" charset="0"/>
                      </a:rPr>
                      <a:t>≥</a:t>
                    </a:r>
                    <a:r>
                      <a:rPr lang="en-US" altLang="zh-CN" sz="1400" b="1" dirty="0">
                        <a:solidFill>
                          <a:schemeClr val="tx1"/>
                        </a:solidFill>
                        <a:latin typeface="Times New Roman" panose="02020603050405020304" pitchFamily="18" charset="0"/>
                        <a:cs typeface="Times New Roman" panose="02020603050405020304" pitchFamily="18" charset="0"/>
                      </a:rPr>
                      <a:t>1</a:t>
                    </a:r>
                    <a:endParaRPr lang="zh-CN" altLang="en-US" sz="1400" b="1" dirty="0">
                      <a:solidFill>
                        <a:schemeClr val="tx1"/>
                      </a:solidFill>
                      <a:latin typeface="Times New Roman" panose="02020603050405020304" pitchFamily="18" charset="0"/>
                      <a:cs typeface="Times New Roman" panose="02020603050405020304" pitchFamily="18" charset="0"/>
                    </a:endParaRPr>
                  </a:p>
                </p:txBody>
              </p:sp>
              <p:sp>
                <p:nvSpPr>
                  <p:cNvPr id="186" name="矩形 185"/>
                  <p:cNvSpPr/>
                  <p:nvPr/>
                </p:nvSpPr>
                <p:spPr>
                  <a:xfrm>
                    <a:off x="5029200" y="2216150"/>
                    <a:ext cx="400050" cy="2286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Times New Roman" panose="02020603050405020304" pitchFamily="18" charset="0"/>
                        <a:cs typeface="Times New Roman" panose="02020603050405020304" pitchFamily="18" charset="0"/>
                      </a:rPr>
                      <a:t>&amp;</a:t>
                    </a:r>
                    <a:endParaRPr lang="zh-CN" altLang="en-US" sz="1400" b="1" dirty="0">
                      <a:solidFill>
                        <a:schemeClr val="tx1"/>
                      </a:solidFill>
                      <a:latin typeface="Times New Roman" panose="02020603050405020304" pitchFamily="18" charset="0"/>
                      <a:cs typeface="Times New Roman" panose="02020603050405020304" pitchFamily="18" charset="0"/>
                    </a:endParaRPr>
                  </a:p>
                </p:txBody>
              </p:sp>
              <p:cxnSp>
                <p:nvCxnSpPr>
                  <p:cNvPr id="207" name="直接连接符 206"/>
                  <p:cNvCxnSpPr/>
                  <p:nvPr/>
                </p:nvCxnSpPr>
                <p:spPr>
                  <a:xfrm flipV="1">
                    <a:off x="5213350" y="2067297"/>
                    <a:ext cx="0" cy="144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10" name="TextBox 209"/>
              <p:cNvSpPr txBox="1"/>
              <p:nvPr/>
            </p:nvSpPr>
            <p:spPr>
              <a:xfrm>
                <a:off x="3206617" y="3148678"/>
                <a:ext cx="471604" cy="400110"/>
              </a:xfrm>
              <a:prstGeom prst="rect">
                <a:avLst/>
              </a:prstGeom>
              <a:noFill/>
            </p:spPr>
            <p:txBody>
              <a:bodyPr wrap="none" rtlCol="0">
                <a:spAutoFit/>
              </a:bodyPr>
              <a:lstStyle/>
              <a:p>
                <a:r>
                  <a:rPr lang="en-US" altLang="zh-CN" sz="2000" dirty="0"/>
                  <a:t>(0)</a:t>
                </a:r>
                <a:endParaRPr lang="zh-CN" altLang="en-US" sz="2000" dirty="0"/>
              </a:p>
            </p:txBody>
          </p:sp>
          <p:sp>
            <p:nvSpPr>
              <p:cNvPr id="211" name="TextBox 210"/>
              <p:cNvSpPr txBox="1"/>
              <p:nvPr/>
            </p:nvSpPr>
            <p:spPr>
              <a:xfrm>
                <a:off x="5936710" y="3152128"/>
                <a:ext cx="471604" cy="400110"/>
              </a:xfrm>
              <a:prstGeom prst="rect">
                <a:avLst/>
              </a:prstGeom>
              <a:noFill/>
            </p:spPr>
            <p:txBody>
              <a:bodyPr wrap="none" rtlCol="0">
                <a:spAutoFit/>
              </a:bodyPr>
              <a:lstStyle/>
              <a:p>
                <a:r>
                  <a:rPr lang="en-US" altLang="zh-CN" sz="2000" dirty="0"/>
                  <a:t>(1)</a:t>
                </a:r>
                <a:endParaRPr lang="zh-CN" altLang="en-US" sz="2000" dirty="0"/>
              </a:p>
            </p:txBody>
          </p:sp>
        </p:grpSp>
        <p:sp>
          <p:nvSpPr>
            <p:cNvPr id="223" name="TextBox 133"/>
            <p:cNvSpPr txBox="1"/>
            <p:nvPr/>
          </p:nvSpPr>
          <p:spPr>
            <a:xfrm>
              <a:off x="4470964" y="1967195"/>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W</a:t>
              </a:r>
              <a:endParaRPr lang="zh-CN" altLang="en-US" sz="1100" b="1" baseline="-25000" dirty="0">
                <a:latin typeface="Times New Roman" panose="02020603050405020304" pitchFamily="18" charset="0"/>
                <a:cs typeface="Times New Roman" panose="02020603050405020304" pitchFamily="18" charset="0"/>
              </a:endParaRPr>
            </a:p>
          </p:txBody>
        </p:sp>
      </p:grpSp>
      <p:grpSp>
        <p:nvGrpSpPr>
          <p:cNvPr id="7" name="组合 17"/>
          <p:cNvGrpSpPr/>
          <p:nvPr/>
        </p:nvGrpSpPr>
        <p:grpSpPr>
          <a:xfrm>
            <a:off x="392432" y="769746"/>
            <a:ext cx="4933552" cy="420971"/>
            <a:chOff x="670560" y="892917"/>
            <a:chExt cx="4933552" cy="420971"/>
          </a:xfrm>
        </p:grpSpPr>
        <p:sp>
          <p:nvSpPr>
            <p:cNvPr id="70" name="矩形 69"/>
            <p:cNvSpPr/>
            <p:nvPr/>
          </p:nvSpPr>
          <p:spPr>
            <a:xfrm>
              <a:off x="1035233" y="913778"/>
              <a:ext cx="4568879"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集成数据选择器的应用（</a:t>
              </a:r>
              <a:r>
                <a:rPr lang="en-US" altLang="zh-CN" sz="2000" b="1" dirty="0">
                  <a:solidFill>
                    <a:srgbClr val="FF00FF"/>
                  </a:solidFill>
                  <a:latin typeface="微软雅黑" panose="020B0503020204020204" pitchFamily="34" charset="-122"/>
                  <a:ea typeface="微软雅黑" panose="020B0503020204020204" pitchFamily="34" charset="-122"/>
                </a:rPr>
                <a:t>74151</a:t>
              </a:r>
              <a:r>
                <a:rPr lang="zh-CN" altLang="en-US" sz="2000" b="1" dirty="0">
                  <a:solidFill>
                    <a:srgbClr val="FF00FF"/>
                  </a:solidFill>
                  <a:latin typeface="微软雅黑" panose="020B0503020204020204" pitchFamily="34" charset="-122"/>
                  <a:ea typeface="微软雅黑" panose="020B0503020204020204" pitchFamily="34" charset="-122"/>
                </a:rPr>
                <a:t>为例</a:t>
              </a:r>
              <a:r>
                <a:rPr lang="zh-CN" altLang="en-US" sz="2000" b="1" dirty="0">
                  <a:solidFill>
                    <a:srgbClr val="002060"/>
                  </a:solidFill>
                  <a:latin typeface="微软雅黑" panose="020B0503020204020204" pitchFamily="34" charset="-122"/>
                  <a:ea typeface="微软雅黑" panose="020B0503020204020204" pitchFamily="34" charset="-122"/>
                </a:rPr>
                <a: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71" name="Picture 3"/>
            <p:cNvPicPr>
              <a:picLocks noChangeAspect="1" noChangeArrowheads="1"/>
            </p:cNvPicPr>
            <p:nvPr/>
          </p:nvPicPr>
          <p:blipFill>
            <a:blip r:embed="rId2"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17" name="Rectangle 27"/>
          <p:cNvSpPr>
            <a:spLocks noChangeArrowheads="1"/>
          </p:cNvSpPr>
          <p:nvPr/>
        </p:nvSpPr>
        <p:spPr bwMode="auto">
          <a:xfrm>
            <a:off x="577511" y="1237292"/>
            <a:ext cx="3018212" cy="369332"/>
          </a:xfrm>
          <a:prstGeom prst="rect">
            <a:avLst/>
          </a:prstGeom>
          <a:noFill/>
          <a:ln w="9525" algn="ctr">
            <a:noFill/>
            <a:miter lim="800000"/>
          </a:ln>
          <a:effectLst/>
        </p:spPr>
        <p:txBody>
          <a:bodyPr wrap="square" lIns="0" rIns="0">
            <a:spAutoFit/>
          </a:bodyPr>
          <a:lstStyle/>
          <a:p>
            <a:pPr>
              <a:defRPr/>
            </a:pPr>
            <a:r>
              <a:rPr lang="en-US" altLang="zh-CN" b="1" dirty="0">
                <a:solidFill>
                  <a:srgbClr val="6600FF"/>
                </a:solidFill>
                <a:latin typeface="黑体" panose="02010609060101010101" pitchFamily="49" charset="-122"/>
                <a:ea typeface="黑体" panose="02010609060101010101" pitchFamily="49" charset="-122"/>
              </a:rPr>
              <a:t>1</a:t>
            </a:r>
            <a:r>
              <a:rPr lang="zh-CN" altLang="en-US" b="1" dirty="0">
                <a:solidFill>
                  <a:srgbClr val="6600FF"/>
                </a:solidFill>
                <a:latin typeface="黑体" panose="02010609060101010101" pitchFamily="49" charset="-122"/>
                <a:ea typeface="黑体" panose="02010609060101010101" pitchFamily="49" charset="-122"/>
              </a:rPr>
              <a:t>、数据选择器的扩展</a:t>
            </a:r>
            <a:endParaRPr lang="zh-CN" altLang="en-US" b="1" dirty="0">
              <a:solidFill>
                <a:srgbClr val="6600FF"/>
              </a:solidFill>
              <a:latin typeface="黑体" panose="02010609060101010101" pitchFamily="49" charset="-122"/>
              <a:ea typeface="黑体" panose="02010609060101010101" pitchFamily="49" charset="-122"/>
            </a:endParaRPr>
          </a:p>
        </p:txBody>
      </p:sp>
      <p:sp>
        <p:nvSpPr>
          <p:cNvPr id="182" name="十角星 181"/>
          <p:cNvSpPr/>
          <p:nvPr/>
        </p:nvSpPr>
        <p:spPr>
          <a:xfrm>
            <a:off x="3195099" y="1284896"/>
            <a:ext cx="1512542" cy="453762"/>
          </a:xfrm>
          <a:prstGeom prst="star10">
            <a:avLst/>
          </a:prstGeom>
          <a:solidFill>
            <a:srgbClr val="FFFF00"/>
          </a:solidFill>
          <a:ln w="38100">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latin typeface="华文琥珀" panose="02010800040101010101" pitchFamily="2" charset="-122"/>
                <a:ea typeface="华文琥珀" panose="02010800040101010101" pitchFamily="2" charset="-122"/>
              </a:rPr>
              <a:t>字扩展</a:t>
            </a:r>
            <a:endParaRPr lang="zh-CN" altLang="en-US" dirty="0">
              <a:solidFill>
                <a:srgbClr val="FF0000"/>
              </a:solidFill>
              <a:latin typeface="华文琥珀" panose="02010800040101010101" pitchFamily="2" charset="-122"/>
              <a:ea typeface="华文琥珀" panose="02010800040101010101" pitchFamily="2" charset="-122"/>
            </a:endParaRPr>
          </a:p>
        </p:txBody>
      </p:sp>
      <p:sp>
        <p:nvSpPr>
          <p:cNvPr id="102" name="椭圆 101"/>
          <p:cNvSpPr/>
          <p:nvPr/>
        </p:nvSpPr>
        <p:spPr>
          <a:xfrm>
            <a:off x="1169383" y="4718361"/>
            <a:ext cx="315891" cy="333858"/>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2000" dirty="0">
                <a:solidFill>
                  <a:srgbClr val="0000FF"/>
                </a:solidFill>
              </a:rPr>
              <a:t>0</a:t>
            </a:r>
            <a:endParaRPr lang="zh-CN" altLang="en-US" sz="2000" dirty="0">
              <a:solidFill>
                <a:srgbClr val="0000FF"/>
              </a:solidFill>
            </a:endParaRPr>
          </a:p>
        </p:txBody>
      </p:sp>
      <p:sp>
        <p:nvSpPr>
          <p:cNvPr id="103" name="椭圆 102"/>
          <p:cNvSpPr/>
          <p:nvPr/>
        </p:nvSpPr>
        <p:spPr>
          <a:xfrm>
            <a:off x="1733889" y="3742842"/>
            <a:ext cx="200025" cy="20983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solidFill>
                  <a:srgbClr val="0000FF"/>
                </a:solidFill>
              </a:rPr>
              <a:t>0</a:t>
            </a:r>
            <a:endParaRPr lang="zh-CN" altLang="en-US" sz="1400" dirty="0">
              <a:solidFill>
                <a:srgbClr val="0000FF"/>
              </a:solidFill>
            </a:endParaRPr>
          </a:p>
        </p:txBody>
      </p:sp>
      <p:sp>
        <p:nvSpPr>
          <p:cNvPr id="104" name="椭圆 103"/>
          <p:cNvSpPr/>
          <p:nvPr/>
        </p:nvSpPr>
        <p:spPr>
          <a:xfrm>
            <a:off x="4481820" y="3739165"/>
            <a:ext cx="200025" cy="209835"/>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solidFill>
                  <a:schemeClr val="bg1"/>
                </a:solidFill>
              </a:rPr>
              <a:t>1</a:t>
            </a:r>
            <a:endParaRPr lang="zh-CN" altLang="en-US" sz="1400" dirty="0">
              <a:solidFill>
                <a:schemeClr val="bg1"/>
              </a:solidFill>
            </a:endParaRPr>
          </a:p>
        </p:txBody>
      </p:sp>
      <p:sp>
        <p:nvSpPr>
          <p:cNvPr id="105" name="TextBox 213"/>
          <p:cNvSpPr txBox="1"/>
          <p:nvPr/>
        </p:nvSpPr>
        <p:spPr>
          <a:xfrm>
            <a:off x="5291955" y="2987301"/>
            <a:ext cx="788276" cy="769441"/>
          </a:xfrm>
          <a:prstGeom prst="rect">
            <a:avLst/>
          </a:prstGeom>
          <a:noFill/>
        </p:spPr>
        <p:txBody>
          <a:bodyPr wrap="square" rtlCol="0">
            <a:spAutoFit/>
          </a:bodyPr>
          <a:lstStyle/>
          <a:p>
            <a:r>
              <a:rPr lang="en-US" altLang="zh-CN" sz="4400" dirty="0">
                <a:solidFill>
                  <a:srgbClr val="FF0000"/>
                </a:solidFill>
                <a:latin typeface="华文琥珀" panose="02010800040101010101" pitchFamily="2" charset="-122"/>
                <a:ea typeface="华文琥珀" panose="02010800040101010101" pitchFamily="2" charset="-122"/>
              </a:rPr>
              <a:t>×</a:t>
            </a:r>
            <a:endParaRPr lang="zh-CN" altLang="en-US" sz="4400" dirty="0">
              <a:solidFill>
                <a:srgbClr val="FF0000"/>
              </a:solidFill>
              <a:latin typeface="华文琥珀" panose="02010800040101010101" pitchFamily="2" charset="-122"/>
              <a:ea typeface="华文琥珀" panose="02010800040101010101" pitchFamily="2" charset="-122"/>
            </a:endParaRPr>
          </a:p>
        </p:txBody>
      </p:sp>
      <p:sp>
        <p:nvSpPr>
          <p:cNvPr id="106" name="TextBox 212"/>
          <p:cNvSpPr txBox="1"/>
          <p:nvPr/>
        </p:nvSpPr>
        <p:spPr>
          <a:xfrm>
            <a:off x="2551072" y="3003166"/>
            <a:ext cx="788276" cy="769441"/>
          </a:xfrm>
          <a:prstGeom prst="rect">
            <a:avLst/>
          </a:prstGeom>
          <a:noFill/>
        </p:spPr>
        <p:txBody>
          <a:bodyPr wrap="square" rtlCol="0">
            <a:spAutoFit/>
          </a:bodyPr>
          <a:lstStyle/>
          <a:p>
            <a:r>
              <a:rPr lang="zh-CN" altLang="en-US" sz="4400" dirty="0">
                <a:solidFill>
                  <a:srgbClr val="FF0000"/>
                </a:solidFill>
                <a:latin typeface="华文琥珀" panose="02010800040101010101" pitchFamily="2" charset="-122"/>
                <a:ea typeface="华文琥珀" panose="02010800040101010101" pitchFamily="2" charset="-122"/>
              </a:rPr>
              <a:t>√</a:t>
            </a:r>
            <a:endParaRPr lang="zh-CN" altLang="en-US" sz="4400" dirty="0">
              <a:solidFill>
                <a:srgbClr val="FF0000"/>
              </a:solidFill>
              <a:latin typeface="华文琥珀" panose="02010800040101010101" pitchFamily="2" charset="-122"/>
              <a:ea typeface="华文琥珀" panose="02010800040101010101" pitchFamily="2" charset="-122"/>
            </a:endParaRPr>
          </a:p>
        </p:txBody>
      </p:sp>
      <p:sp>
        <p:nvSpPr>
          <p:cNvPr id="107" name="椭圆 106"/>
          <p:cNvSpPr/>
          <p:nvPr/>
        </p:nvSpPr>
        <p:spPr>
          <a:xfrm>
            <a:off x="5284809" y="2889139"/>
            <a:ext cx="200025" cy="20983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solidFill>
                  <a:srgbClr val="FF0000"/>
                </a:solidFill>
              </a:rPr>
              <a:t>0</a:t>
            </a:r>
            <a:endParaRPr lang="zh-CN" altLang="en-US" sz="1400" dirty="0">
              <a:solidFill>
                <a:srgbClr val="FF0000"/>
              </a:solidFill>
            </a:endParaRPr>
          </a:p>
        </p:txBody>
      </p:sp>
      <p:sp>
        <p:nvSpPr>
          <p:cNvPr id="108" name="椭圆 107"/>
          <p:cNvSpPr/>
          <p:nvPr/>
        </p:nvSpPr>
        <p:spPr>
          <a:xfrm>
            <a:off x="5744112" y="2894921"/>
            <a:ext cx="200025" cy="209835"/>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t>1</a:t>
            </a:r>
            <a:endParaRPr lang="zh-CN" altLang="en-US" sz="1400" dirty="0"/>
          </a:p>
        </p:txBody>
      </p:sp>
      <p:sp>
        <p:nvSpPr>
          <p:cNvPr id="109" name="圆角矩形 230"/>
          <p:cNvSpPr/>
          <p:nvPr/>
        </p:nvSpPr>
        <p:spPr>
          <a:xfrm>
            <a:off x="2005330" y="4034790"/>
            <a:ext cx="1827530" cy="232410"/>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0" name="组合 109"/>
          <p:cNvGrpSpPr/>
          <p:nvPr/>
        </p:nvGrpSpPr>
        <p:grpSpPr>
          <a:xfrm>
            <a:off x="2460080" y="2917476"/>
            <a:ext cx="348172" cy="341490"/>
            <a:chOff x="1991600" y="1969926"/>
            <a:chExt cx="348172" cy="341490"/>
          </a:xfrm>
        </p:grpSpPr>
        <p:sp>
          <p:nvSpPr>
            <p:cNvPr id="111" name="椭圆 110"/>
            <p:cNvSpPr/>
            <p:nvPr/>
          </p:nvSpPr>
          <p:spPr>
            <a:xfrm>
              <a:off x="2024307" y="2023416"/>
              <a:ext cx="288000" cy="2880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400" b="1" baseline="-25000" dirty="0">
                <a:solidFill>
                  <a:srgbClr val="FF0000"/>
                </a:solidFill>
              </a:endParaRPr>
            </a:p>
          </p:txBody>
        </p:sp>
        <p:sp>
          <p:nvSpPr>
            <p:cNvPr id="112" name="矩形 111"/>
            <p:cNvSpPr/>
            <p:nvPr/>
          </p:nvSpPr>
          <p:spPr>
            <a:xfrm>
              <a:off x="1991600" y="1969926"/>
              <a:ext cx="348172" cy="338554"/>
            </a:xfrm>
            <a:prstGeom prst="rect">
              <a:avLst/>
            </a:prstGeom>
          </p:spPr>
          <p:txBody>
            <a:bodyPr wrap="none">
              <a:spAutoFit/>
            </a:bodyPr>
            <a:lstStyle/>
            <a:p>
              <a:pPr algn="ctr"/>
              <a:r>
                <a:rPr lang="en-US" altLang="zh-CN" sz="1600" b="1" i="1" dirty="0">
                  <a:solidFill>
                    <a:srgbClr val="FF0000"/>
                  </a:solidFill>
                </a:rPr>
                <a:t>D</a:t>
              </a:r>
              <a:r>
                <a:rPr lang="en-US" altLang="zh-CN" sz="1600" b="1" baseline="-25000" dirty="0">
                  <a:solidFill>
                    <a:srgbClr val="FF0000"/>
                  </a:solidFill>
                </a:rPr>
                <a:t>i</a:t>
              </a:r>
              <a:endParaRPr lang="zh-CN" altLang="en-US" sz="1600" b="1" baseline="-25000" dirty="0">
                <a:solidFill>
                  <a:srgbClr val="FF0000"/>
                </a:solidFill>
              </a:endParaRPr>
            </a:p>
          </p:txBody>
        </p:sp>
      </p:grpSp>
      <p:grpSp>
        <p:nvGrpSpPr>
          <p:cNvPr id="113" name="组合 112"/>
          <p:cNvGrpSpPr/>
          <p:nvPr/>
        </p:nvGrpSpPr>
        <p:grpSpPr>
          <a:xfrm>
            <a:off x="2940140" y="2947956"/>
            <a:ext cx="348172" cy="338554"/>
            <a:chOff x="2780120" y="2658396"/>
            <a:chExt cx="348172" cy="338554"/>
          </a:xfrm>
        </p:grpSpPr>
        <p:grpSp>
          <p:nvGrpSpPr>
            <p:cNvPr id="114" name="组合 113"/>
            <p:cNvGrpSpPr/>
            <p:nvPr/>
          </p:nvGrpSpPr>
          <p:grpSpPr>
            <a:xfrm>
              <a:off x="2780120" y="2658396"/>
              <a:ext cx="348172" cy="338554"/>
              <a:chOff x="1991600" y="2000406"/>
              <a:chExt cx="348172" cy="338554"/>
            </a:xfrm>
          </p:grpSpPr>
          <p:sp>
            <p:nvSpPr>
              <p:cNvPr id="128" name="椭圆 127"/>
              <p:cNvSpPr/>
              <p:nvPr/>
            </p:nvSpPr>
            <p:spPr>
              <a:xfrm>
                <a:off x="2024307" y="2023416"/>
                <a:ext cx="288000" cy="2880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400" b="1" baseline="-25000" dirty="0">
                  <a:solidFill>
                    <a:srgbClr val="FF0000"/>
                  </a:solidFill>
                </a:endParaRPr>
              </a:p>
            </p:txBody>
          </p:sp>
          <p:sp>
            <p:nvSpPr>
              <p:cNvPr id="131" name="矩形 130"/>
              <p:cNvSpPr/>
              <p:nvPr/>
            </p:nvSpPr>
            <p:spPr>
              <a:xfrm>
                <a:off x="1991600" y="2000406"/>
                <a:ext cx="348172" cy="338554"/>
              </a:xfrm>
              <a:prstGeom prst="rect">
                <a:avLst/>
              </a:prstGeom>
            </p:spPr>
            <p:txBody>
              <a:bodyPr wrap="none">
                <a:spAutoFit/>
              </a:bodyPr>
              <a:lstStyle/>
              <a:p>
                <a:pPr algn="ctr"/>
                <a:r>
                  <a:rPr lang="en-US" altLang="zh-CN" sz="1600" b="1" i="1" dirty="0">
                    <a:solidFill>
                      <a:srgbClr val="FF0000"/>
                    </a:solidFill>
                  </a:rPr>
                  <a:t>D</a:t>
                </a:r>
                <a:r>
                  <a:rPr lang="en-US" altLang="zh-CN" sz="1600" b="1" baseline="-25000" dirty="0">
                    <a:solidFill>
                      <a:srgbClr val="FF0000"/>
                    </a:solidFill>
                  </a:rPr>
                  <a:t>i</a:t>
                </a:r>
                <a:endParaRPr lang="zh-CN" altLang="en-US" sz="1600" b="1" baseline="-25000" dirty="0">
                  <a:solidFill>
                    <a:srgbClr val="FF0000"/>
                  </a:solidFill>
                </a:endParaRPr>
              </a:p>
            </p:txBody>
          </p:sp>
        </p:grpSp>
        <p:cxnSp>
          <p:nvCxnSpPr>
            <p:cNvPr id="125" name="直接连接符 124"/>
            <p:cNvCxnSpPr/>
            <p:nvPr/>
          </p:nvCxnSpPr>
          <p:spPr>
            <a:xfrm>
              <a:off x="2880360" y="2735580"/>
              <a:ext cx="1260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33" name="圆角矩形标注 264"/>
          <p:cNvSpPr/>
          <p:nvPr/>
        </p:nvSpPr>
        <p:spPr>
          <a:xfrm>
            <a:off x="3799112" y="1866901"/>
            <a:ext cx="684000" cy="289560"/>
          </a:xfrm>
          <a:prstGeom prst="wedgeRoundRectCallout">
            <a:avLst>
              <a:gd name="adj1" fmla="val -61319"/>
              <a:gd name="adj2" fmla="val 36787"/>
              <a:gd name="adj3" fmla="val 16667"/>
            </a:avLst>
          </a:prstGeom>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lstStyle/>
          <a:p>
            <a:pPr algn="ctr">
              <a:lnSpc>
                <a:spcPct val="150000"/>
              </a:lnSpc>
            </a:pPr>
            <a:r>
              <a:rPr lang="en-US" altLang="zh-CN" sz="1200" dirty="0" err="1">
                <a:solidFill>
                  <a:schemeClr val="tx1"/>
                </a:solidFill>
                <a:latin typeface="微软雅黑" panose="020B0503020204020204" pitchFamily="34" charset="-122"/>
                <a:ea typeface="微软雅黑" panose="020B0503020204020204" pitchFamily="34" charset="-122"/>
              </a:rPr>
              <a:t>i</a:t>
            </a:r>
            <a:r>
              <a:rPr lang="en-US" altLang="zh-CN" sz="1200" dirty="0">
                <a:solidFill>
                  <a:schemeClr val="tx1"/>
                </a:solidFill>
                <a:latin typeface="微软雅黑" panose="020B0503020204020204" pitchFamily="34" charset="-122"/>
                <a:ea typeface="微软雅黑" panose="020B0503020204020204" pitchFamily="34" charset="-122"/>
              </a:rPr>
              <a:t>=0~7</a:t>
            </a:r>
            <a:endParaRPr lang="zh-CN" altLang="en-US" sz="1200" dirty="0">
              <a:solidFill>
                <a:schemeClr val="tx1"/>
              </a:solidFill>
              <a:latin typeface="微软雅黑" panose="020B0503020204020204" pitchFamily="34" charset="-122"/>
              <a:ea typeface="微软雅黑" panose="020B0503020204020204" pitchFamily="34" charset="-122"/>
            </a:endParaRPr>
          </a:p>
        </p:txBody>
      </p:sp>
      <p:graphicFrame>
        <p:nvGraphicFramePr>
          <p:cNvPr id="134" name="表格 133"/>
          <p:cNvGraphicFramePr>
            <a:graphicFrameLocks noGrp="1"/>
          </p:cNvGraphicFramePr>
          <p:nvPr/>
        </p:nvGraphicFramePr>
        <p:xfrm>
          <a:off x="7002515" y="1897552"/>
          <a:ext cx="1755365" cy="1744280"/>
        </p:xfrm>
        <a:graphic>
          <a:graphicData uri="http://schemas.openxmlformats.org/drawingml/2006/table">
            <a:tbl>
              <a:tblPr firstRow="1" bandRow="1">
                <a:tableStyleId>{5C22544A-7EE6-4342-B048-85BDC9FD1C3A}</a:tableStyleId>
              </a:tblPr>
              <a:tblGrid>
                <a:gridCol w="351073"/>
                <a:gridCol w="351073"/>
                <a:gridCol w="351073"/>
                <a:gridCol w="351073"/>
                <a:gridCol w="351073"/>
              </a:tblGrid>
              <a:tr h="348856">
                <a:tc>
                  <a:txBody>
                    <a:bodyPr/>
                    <a:lstStyle/>
                    <a:p>
                      <a:pPr algn="ctr"/>
                      <a:r>
                        <a:rPr lang="en-US" altLang="zh-CN" sz="1600" b="1" i="1" dirty="0">
                          <a:latin typeface="Times New Roman" panose="02020603050405020304" pitchFamily="18" charset="0"/>
                          <a:cs typeface="Times New Roman" panose="02020603050405020304" pitchFamily="18" charset="0"/>
                        </a:rPr>
                        <a:t>S</a:t>
                      </a:r>
                      <a:r>
                        <a:rPr lang="en-US" altLang="zh-CN" sz="1600" b="1" baseline="-25000" dirty="0">
                          <a:latin typeface="Times New Roman" panose="02020603050405020304" pitchFamily="18" charset="0"/>
                          <a:cs typeface="Times New Roman" panose="02020603050405020304" pitchFamily="18" charset="0"/>
                        </a:rPr>
                        <a:t>3 </a:t>
                      </a:r>
                      <a:endParaRPr lang="zh-CN" altLang="en-US" sz="1600" b="1" dirty="0"/>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b="1" i="1" dirty="0">
                          <a:latin typeface="Times New Roman" panose="02020603050405020304" pitchFamily="18" charset="0"/>
                          <a:cs typeface="Times New Roman" panose="02020603050405020304" pitchFamily="18" charset="0"/>
                        </a:rPr>
                        <a:t>S</a:t>
                      </a:r>
                      <a:r>
                        <a:rPr lang="en-US" altLang="zh-CN" sz="1600" b="1" baseline="-25000" dirty="0">
                          <a:latin typeface="Times New Roman" panose="02020603050405020304" pitchFamily="18" charset="0"/>
                          <a:cs typeface="Times New Roman" panose="02020603050405020304" pitchFamily="18" charset="0"/>
                        </a:rPr>
                        <a:t>2</a:t>
                      </a:r>
                      <a:endParaRPr lang="zh-CN" altLang="en-US" sz="1600" b="1"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b="1" i="1" dirty="0">
                          <a:latin typeface="Times New Roman" panose="02020603050405020304" pitchFamily="18" charset="0"/>
                          <a:cs typeface="Times New Roman" panose="02020603050405020304" pitchFamily="18" charset="0"/>
                        </a:rPr>
                        <a:t>S</a:t>
                      </a:r>
                      <a:r>
                        <a:rPr lang="en-US" altLang="zh-CN" sz="1600" b="1" baseline="-25000" dirty="0">
                          <a:latin typeface="Times New Roman" panose="02020603050405020304" pitchFamily="18" charset="0"/>
                          <a:cs typeface="Times New Roman" panose="02020603050405020304" pitchFamily="18" charset="0"/>
                        </a:rPr>
                        <a:t>1</a:t>
                      </a:r>
                      <a:endParaRPr lang="zh-CN" altLang="en-US" sz="1600" b="1"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b="1" i="1" dirty="0">
                          <a:latin typeface="Times New Roman" panose="02020603050405020304" pitchFamily="18" charset="0"/>
                          <a:cs typeface="Times New Roman" panose="02020603050405020304" pitchFamily="18" charset="0"/>
                        </a:rPr>
                        <a:t>S</a:t>
                      </a:r>
                      <a:r>
                        <a:rPr lang="en-US" altLang="zh-CN" sz="1600" b="1" baseline="-25000" dirty="0">
                          <a:latin typeface="Times New Roman" panose="02020603050405020304" pitchFamily="18" charset="0"/>
                          <a:cs typeface="Times New Roman" panose="02020603050405020304" pitchFamily="18" charset="0"/>
                        </a:rPr>
                        <a:t>0</a:t>
                      </a:r>
                      <a:endParaRPr lang="zh-CN" altLang="en-US" sz="1600" b="1"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b="1" i="1" dirty="0">
                          <a:latin typeface="Times New Roman" panose="02020603050405020304" pitchFamily="18" charset="0"/>
                          <a:cs typeface="Times New Roman" panose="02020603050405020304" pitchFamily="18" charset="0"/>
                        </a:rPr>
                        <a:t>Y</a:t>
                      </a:r>
                      <a:endParaRPr lang="zh-CN" altLang="en-US" sz="1600" b="1" i="1" dirty="0">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48856">
                <a:tc rowSpan="4">
                  <a:txBody>
                    <a:bodyPr/>
                    <a:lstStyle/>
                    <a:p>
                      <a:pPr algn="ctr"/>
                      <a:r>
                        <a:rPr lang="en-US" altLang="zh-CN" sz="1600" b="1" dirty="0"/>
                        <a:t>0</a:t>
                      </a:r>
                      <a:endParaRPr lang="zh-CN" altLang="en-US" sz="1600" b="1" dirty="0"/>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altLang="zh-CN" sz="1600" b="1" dirty="0"/>
                        <a:t>0</a:t>
                      </a:r>
                      <a:endParaRPr lang="zh-CN" altLang="en-US" sz="1600" b="1"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algn="ctr"/>
                      <a:r>
                        <a:rPr lang="en-US" altLang="zh-CN" sz="1600" b="1" dirty="0"/>
                        <a:t>0</a:t>
                      </a:r>
                      <a:endParaRPr lang="zh-CN" altLang="en-US" sz="1600" b="1"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algn="ctr"/>
                      <a:r>
                        <a:rPr lang="en-US" altLang="zh-CN" sz="1600" b="1" dirty="0"/>
                        <a:t>0</a:t>
                      </a:r>
                      <a:endParaRPr lang="zh-CN" altLang="en-US" sz="1600" b="1"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algn="ctr"/>
                      <a:r>
                        <a:rPr lang="en-US" altLang="zh-CN" sz="1600" b="1" i="1" dirty="0">
                          <a:latin typeface="Times New Roman" panose="02020603050405020304" pitchFamily="18" charset="0"/>
                          <a:cs typeface="Times New Roman" panose="02020603050405020304" pitchFamily="18" charset="0"/>
                        </a:rPr>
                        <a:t>D</a:t>
                      </a:r>
                      <a:r>
                        <a:rPr lang="en-US" altLang="zh-CN" sz="1600" b="1" baseline="-25000" dirty="0">
                          <a:latin typeface="Times New Roman" panose="02020603050405020304" pitchFamily="18" charset="0"/>
                          <a:cs typeface="Times New Roman" panose="02020603050405020304" pitchFamily="18" charset="0"/>
                        </a:rPr>
                        <a:t>0</a:t>
                      </a:r>
                      <a:endParaRPr lang="zh-CN" altLang="en-US" sz="1600" b="1" baseline="-25000" dirty="0">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66FFCC"/>
                    </a:solidFill>
                  </a:tcPr>
                </a:tc>
              </a:tr>
              <a:tr h="348856">
                <a:tc vMerge="1">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1" dirty="0"/>
                        <a:t>0</a:t>
                      </a:r>
                      <a:endParaRPr lang="zh-CN" altLang="en-US" sz="1600" b="1"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algn="ctr"/>
                      <a:r>
                        <a:rPr lang="en-US" altLang="zh-CN" sz="1600" b="1" dirty="0"/>
                        <a:t>0</a:t>
                      </a:r>
                      <a:endParaRPr lang="zh-CN" altLang="en-US" sz="1600" b="1"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algn="ctr"/>
                      <a:r>
                        <a:rPr lang="en-US" altLang="zh-CN" sz="1600" b="1" dirty="0"/>
                        <a:t>1</a:t>
                      </a:r>
                      <a:endParaRPr lang="zh-CN" altLang="en-US" sz="1600" b="1"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algn="ctr"/>
                      <a:r>
                        <a:rPr lang="en-US" altLang="zh-CN" sz="1600" b="1" i="1" dirty="0">
                          <a:latin typeface="Times New Roman" panose="02020603050405020304" pitchFamily="18" charset="0"/>
                          <a:cs typeface="Times New Roman" panose="02020603050405020304" pitchFamily="18" charset="0"/>
                        </a:rPr>
                        <a:t>D</a:t>
                      </a:r>
                      <a:r>
                        <a:rPr lang="en-US" altLang="zh-CN" sz="1600" b="1" baseline="-25000" dirty="0">
                          <a:latin typeface="Times New Roman" panose="02020603050405020304" pitchFamily="18" charset="0"/>
                          <a:cs typeface="Times New Roman" panose="02020603050405020304" pitchFamily="18" charset="0"/>
                        </a:rPr>
                        <a:t>1</a:t>
                      </a:r>
                      <a:endParaRPr lang="zh-CN" altLang="en-US" sz="1600" b="1"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66FFCC"/>
                    </a:solidFill>
                  </a:tcPr>
                </a:tc>
              </a:tr>
              <a:tr h="348856">
                <a:tc vMerge="1">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CN" sz="1600" b="1" dirty="0"/>
                        <a:t>…</a:t>
                      </a:r>
                      <a:endParaRPr lang="zh-CN" altLang="en-US" sz="1600" b="1" dirty="0"/>
                    </a:p>
                  </a:txBody>
                  <a:tcPr marL="0" marR="0" marT="0" marB="0" vert="eaVert">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marL="0" marR="0" indent="0" algn="dist" defTabSz="914400" rtl="0" eaLnBrk="1" fontAlgn="auto" latinLnBrk="0" hangingPunct="1">
                        <a:lnSpc>
                          <a:spcPct val="100000"/>
                        </a:lnSpc>
                        <a:spcBef>
                          <a:spcPts val="0"/>
                        </a:spcBef>
                        <a:spcAft>
                          <a:spcPts val="0"/>
                        </a:spcAft>
                        <a:buClrTx/>
                        <a:buSzTx/>
                        <a:buFontTx/>
                        <a:buNone/>
                        <a:defRPr/>
                      </a:pPr>
                      <a:r>
                        <a:rPr lang="en-US" altLang="zh-CN" sz="1600" b="1" dirty="0"/>
                        <a:t>…</a:t>
                      </a:r>
                      <a:endParaRPr lang="zh-CN" altLang="en-US" sz="1600" b="1" dirty="0"/>
                    </a:p>
                  </a:txBody>
                  <a:tcPr marL="0" marR="0" marT="0" marB="0" vert="eaVert">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marL="0" marR="0" indent="0" algn="dist" defTabSz="914400" rtl="0" eaLnBrk="1" fontAlgn="auto" latinLnBrk="0" hangingPunct="1">
                        <a:lnSpc>
                          <a:spcPct val="100000"/>
                        </a:lnSpc>
                        <a:spcBef>
                          <a:spcPts val="0"/>
                        </a:spcBef>
                        <a:spcAft>
                          <a:spcPts val="0"/>
                        </a:spcAft>
                        <a:buClrTx/>
                        <a:buSzTx/>
                        <a:buFontTx/>
                        <a:buNone/>
                        <a:defRPr/>
                      </a:pPr>
                      <a:r>
                        <a:rPr lang="en-US" altLang="zh-CN" sz="1600" b="1" dirty="0"/>
                        <a:t>…</a:t>
                      </a:r>
                      <a:endParaRPr lang="zh-CN" altLang="en-US" sz="1600" b="1" dirty="0"/>
                    </a:p>
                  </a:txBody>
                  <a:tcPr marL="0" marR="0" marT="0" marB="0" vert="eaVert">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b="1" dirty="0"/>
                        <a:t>…</a:t>
                      </a:r>
                      <a:endParaRPr lang="zh-CN" altLang="en-US" sz="1600" b="1" dirty="0"/>
                    </a:p>
                  </a:txBody>
                  <a:tcPr marL="0" marR="0" marT="0" marB="0" vert="eaVe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66FFCC"/>
                    </a:solidFill>
                  </a:tcPr>
                </a:tc>
              </a:tr>
              <a:tr h="348856">
                <a:tc vMerge="1">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1" dirty="0"/>
                        <a:t>1</a:t>
                      </a:r>
                      <a:endParaRPr lang="zh-CN" altLang="en-US" sz="1600" b="1"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algn="ctr"/>
                      <a:r>
                        <a:rPr lang="en-US" altLang="zh-CN" sz="1600" b="1" dirty="0"/>
                        <a:t>1</a:t>
                      </a:r>
                      <a:endParaRPr lang="zh-CN" altLang="en-US" sz="1600" b="1"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algn="ctr"/>
                      <a:r>
                        <a:rPr lang="en-US" altLang="zh-CN" sz="1600" b="1" dirty="0"/>
                        <a:t>1</a:t>
                      </a:r>
                      <a:endParaRPr lang="zh-CN" altLang="en-US" sz="1600" b="1"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algn="ctr"/>
                      <a:r>
                        <a:rPr lang="en-US" altLang="zh-CN" sz="1600" b="1" i="1" dirty="0">
                          <a:latin typeface="Times New Roman" panose="02020603050405020304" pitchFamily="18" charset="0"/>
                          <a:cs typeface="Times New Roman" panose="02020603050405020304" pitchFamily="18" charset="0"/>
                        </a:rPr>
                        <a:t>D</a:t>
                      </a:r>
                      <a:r>
                        <a:rPr lang="en-US" altLang="zh-CN" sz="1600" b="1" baseline="-25000" dirty="0">
                          <a:latin typeface="Times New Roman" panose="02020603050405020304" pitchFamily="18" charset="0"/>
                          <a:cs typeface="Times New Roman" panose="02020603050405020304" pitchFamily="18" charset="0"/>
                        </a:rPr>
                        <a:t>7</a:t>
                      </a:r>
                      <a:endParaRPr lang="zh-CN" altLang="en-US" sz="1600" b="1"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CC"/>
                    </a:solidFill>
                  </a:tcPr>
                </a:tc>
              </a:tr>
            </a:tbl>
          </a:graphicData>
        </a:graphic>
      </p:graphicFrame>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slide(fromBottom)">
                                      <p:cBhvr>
                                        <p:cTn id="7" dur="1000"/>
                                        <p:tgtEl>
                                          <p:spTgt spid="102"/>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03"/>
                                        </p:tgtEl>
                                        <p:attrNameLst>
                                          <p:attrName>style.visibility</p:attrName>
                                        </p:attrNameLst>
                                      </p:cBhvr>
                                      <p:to>
                                        <p:strVal val="visible"/>
                                      </p:to>
                                    </p:set>
                                    <p:animEffect transition="in" filter="slide(fromBottom)">
                                      <p:cBhvr>
                                        <p:cTn id="11" dur="1000"/>
                                        <p:tgtEl>
                                          <p:spTgt spid="103"/>
                                        </p:tgtEl>
                                      </p:cBhvr>
                                    </p:animEffect>
                                  </p:childTnLst>
                                </p:cTn>
                              </p:par>
                            </p:childTnLst>
                          </p:cTn>
                        </p:par>
                        <p:par>
                          <p:cTn id="12" fill="hold">
                            <p:stCondLst>
                              <p:cond delay="2000"/>
                            </p:stCondLst>
                            <p:childTnLst>
                              <p:par>
                                <p:cTn id="13" presetID="53" presetClass="entr" presetSubtype="16" fill="hold" grpId="0" nodeType="afterEffect">
                                  <p:stCondLst>
                                    <p:cond delay="0"/>
                                  </p:stCondLst>
                                  <p:childTnLst>
                                    <p:set>
                                      <p:cBhvr>
                                        <p:cTn id="14" dur="1" fill="hold">
                                          <p:stCondLst>
                                            <p:cond delay="0"/>
                                          </p:stCondLst>
                                        </p:cTn>
                                        <p:tgtEl>
                                          <p:spTgt spid="106"/>
                                        </p:tgtEl>
                                        <p:attrNameLst>
                                          <p:attrName>style.visibility</p:attrName>
                                        </p:attrNameLst>
                                      </p:cBhvr>
                                      <p:to>
                                        <p:strVal val="visible"/>
                                      </p:to>
                                    </p:set>
                                    <p:anim calcmode="lin" valueType="num">
                                      <p:cBhvr>
                                        <p:cTn id="15" dur="1000" fill="hold"/>
                                        <p:tgtEl>
                                          <p:spTgt spid="106"/>
                                        </p:tgtEl>
                                        <p:attrNameLst>
                                          <p:attrName>ppt_w</p:attrName>
                                        </p:attrNameLst>
                                      </p:cBhvr>
                                      <p:tavLst>
                                        <p:tav tm="0">
                                          <p:val>
                                            <p:fltVal val="0"/>
                                          </p:val>
                                        </p:tav>
                                        <p:tav tm="100000">
                                          <p:val>
                                            <p:strVal val="#ppt_w"/>
                                          </p:val>
                                        </p:tav>
                                      </p:tavLst>
                                    </p:anim>
                                    <p:anim calcmode="lin" valueType="num">
                                      <p:cBhvr>
                                        <p:cTn id="16" dur="1000" fill="hold"/>
                                        <p:tgtEl>
                                          <p:spTgt spid="106"/>
                                        </p:tgtEl>
                                        <p:attrNameLst>
                                          <p:attrName>ppt_h</p:attrName>
                                        </p:attrNameLst>
                                      </p:cBhvr>
                                      <p:tavLst>
                                        <p:tav tm="0">
                                          <p:val>
                                            <p:fltVal val="0"/>
                                          </p:val>
                                        </p:tav>
                                        <p:tav tm="100000">
                                          <p:val>
                                            <p:strVal val="#ppt_h"/>
                                          </p:val>
                                        </p:tav>
                                      </p:tavLst>
                                    </p:anim>
                                    <p:animEffect transition="in" filter="fade">
                                      <p:cBhvr>
                                        <p:cTn id="17" dur="1000"/>
                                        <p:tgtEl>
                                          <p:spTgt spid="106"/>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04"/>
                                        </p:tgtEl>
                                        <p:attrNameLst>
                                          <p:attrName>style.visibility</p:attrName>
                                        </p:attrNameLst>
                                      </p:cBhvr>
                                      <p:to>
                                        <p:strVal val="visible"/>
                                      </p:to>
                                    </p:set>
                                    <p:animEffect transition="in" filter="slide(fromBottom)">
                                      <p:cBhvr>
                                        <p:cTn id="22" dur="1000"/>
                                        <p:tgtEl>
                                          <p:spTgt spid="104"/>
                                        </p:tgtEl>
                                      </p:cBhvr>
                                    </p:animEffect>
                                  </p:childTnLst>
                                </p:cTn>
                              </p:par>
                            </p:childTnLst>
                          </p:cTn>
                        </p:par>
                        <p:par>
                          <p:cTn id="23" fill="hold">
                            <p:stCondLst>
                              <p:cond delay="1000"/>
                            </p:stCondLst>
                            <p:childTnLst>
                              <p:par>
                                <p:cTn id="24" presetID="53" presetClass="entr" presetSubtype="16" fill="hold" grpId="0" nodeType="afterEffect">
                                  <p:stCondLst>
                                    <p:cond delay="0"/>
                                  </p:stCondLst>
                                  <p:childTnLst>
                                    <p:set>
                                      <p:cBhvr>
                                        <p:cTn id="25" dur="1" fill="hold">
                                          <p:stCondLst>
                                            <p:cond delay="0"/>
                                          </p:stCondLst>
                                        </p:cTn>
                                        <p:tgtEl>
                                          <p:spTgt spid="105"/>
                                        </p:tgtEl>
                                        <p:attrNameLst>
                                          <p:attrName>style.visibility</p:attrName>
                                        </p:attrNameLst>
                                      </p:cBhvr>
                                      <p:to>
                                        <p:strVal val="visible"/>
                                      </p:to>
                                    </p:set>
                                    <p:anim calcmode="lin" valueType="num">
                                      <p:cBhvr>
                                        <p:cTn id="26" dur="1000" fill="hold"/>
                                        <p:tgtEl>
                                          <p:spTgt spid="105"/>
                                        </p:tgtEl>
                                        <p:attrNameLst>
                                          <p:attrName>ppt_w</p:attrName>
                                        </p:attrNameLst>
                                      </p:cBhvr>
                                      <p:tavLst>
                                        <p:tav tm="0">
                                          <p:val>
                                            <p:fltVal val="0"/>
                                          </p:val>
                                        </p:tav>
                                        <p:tav tm="100000">
                                          <p:val>
                                            <p:strVal val="#ppt_w"/>
                                          </p:val>
                                        </p:tav>
                                      </p:tavLst>
                                    </p:anim>
                                    <p:anim calcmode="lin" valueType="num">
                                      <p:cBhvr>
                                        <p:cTn id="27" dur="1000" fill="hold"/>
                                        <p:tgtEl>
                                          <p:spTgt spid="105"/>
                                        </p:tgtEl>
                                        <p:attrNameLst>
                                          <p:attrName>ppt_h</p:attrName>
                                        </p:attrNameLst>
                                      </p:cBhvr>
                                      <p:tavLst>
                                        <p:tav tm="0">
                                          <p:val>
                                            <p:fltVal val="0"/>
                                          </p:val>
                                        </p:tav>
                                        <p:tav tm="100000">
                                          <p:val>
                                            <p:strVal val="#ppt_h"/>
                                          </p:val>
                                        </p:tav>
                                      </p:tavLst>
                                    </p:anim>
                                    <p:animEffect transition="in" filter="fade">
                                      <p:cBhvr>
                                        <p:cTn id="28" dur="1000"/>
                                        <p:tgtEl>
                                          <p:spTgt spid="105"/>
                                        </p:tgtEl>
                                      </p:cBhvr>
                                    </p:animEffect>
                                  </p:childTnLst>
                                </p:cTn>
                              </p:par>
                            </p:childTnLst>
                          </p:cTn>
                        </p:par>
                        <p:par>
                          <p:cTn id="29" fill="hold">
                            <p:stCondLst>
                              <p:cond delay="2000"/>
                            </p:stCondLst>
                            <p:childTnLst>
                              <p:par>
                                <p:cTn id="30" presetID="1" presetClass="entr" presetSubtype="0" fill="hold" grpId="1" nodeType="afterEffect">
                                  <p:stCondLst>
                                    <p:cond delay="1000"/>
                                  </p:stCondLst>
                                  <p:childTnLst>
                                    <p:set>
                                      <p:cBhvr>
                                        <p:cTn id="31" dur="1" fill="hold">
                                          <p:stCondLst>
                                            <p:cond delay="0"/>
                                          </p:stCondLst>
                                        </p:cTn>
                                        <p:tgtEl>
                                          <p:spTgt spid="107"/>
                                        </p:tgtEl>
                                        <p:attrNameLst>
                                          <p:attrName>style.visibility</p:attrName>
                                        </p:attrNameLst>
                                      </p:cBhvr>
                                      <p:to>
                                        <p:strVal val="visible"/>
                                      </p:to>
                                    </p:set>
                                  </p:childTnLst>
                                </p:cTn>
                              </p:par>
                              <p:par>
                                <p:cTn id="32" presetID="1" presetClass="entr" presetSubtype="0" fill="hold" grpId="1" nodeType="withEffect">
                                  <p:stCondLst>
                                    <p:cond delay="1000"/>
                                  </p:stCondLst>
                                  <p:childTnLst>
                                    <p:set>
                                      <p:cBhvr>
                                        <p:cTn id="33" dur="1" fill="hold">
                                          <p:stCondLst>
                                            <p:cond delay="0"/>
                                          </p:stCondLst>
                                        </p:cTn>
                                        <p:tgtEl>
                                          <p:spTgt spid="108"/>
                                        </p:tgtEl>
                                        <p:attrNameLst>
                                          <p:attrName>style.visibility</p:attrName>
                                        </p:attrNameLst>
                                      </p:cBhvr>
                                      <p:to>
                                        <p:strVal val="visible"/>
                                      </p:to>
                                    </p:set>
                                  </p:childTnLst>
                                </p:cTn>
                              </p:par>
                            </p:childTnLst>
                          </p:cTn>
                        </p:par>
                        <p:par>
                          <p:cTn id="34" fill="hold">
                            <p:stCondLst>
                              <p:cond delay="3000"/>
                            </p:stCondLst>
                            <p:childTnLst>
                              <p:par>
                                <p:cTn id="35" presetID="0" presetClass="path" presetSubtype="0" accel="50000" decel="50000" fill="hold" grpId="0" nodeType="afterEffect">
                                  <p:stCondLst>
                                    <p:cond delay="0"/>
                                  </p:stCondLst>
                                  <p:childTnLst>
                                    <p:animMotion origin="layout" path="M -1.11111E-6 1.11111E-6 L 0.00174 -0.06 L -0.18837 -0.06 " pathEditMode="relative" ptsTypes="AAA">
                                      <p:cBhvr>
                                        <p:cTn id="36" dur="2000" fill="hold"/>
                                        <p:tgtEl>
                                          <p:spTgt spid="107"/>
                                        </p:tgtEl>
                                        <p:attrNameLst>
                                          <p:attrName>ppt_x</p:attrName>
                                          <p:attrName>ppt_y</p:attrName>
                                        </p:attrNameLst>
                                      </p:cBhvr>
                                    </p:animMotion>
                                  </p:childTnLst>
                                </p:cTn>
                              </p:par>
                              <p:par>
                                <p:cTn id="37" presetID="0" presetClass="path" presetSubtype="0" accel="50000" decel="50000" fill="hold" grpId="0" nodeType="withEffect">
                                  <p:stCondLst>
                                    <p:cond delay="0"/>
                                  </p:stCondLst>
                                  <p:childTnLst>
                                    <p:animMotion origin="layout" path="M -2.5E-6 0.00417 L -2.5E-6 -0.03583 L -0.09583 -0.03583 " pathEditMode="relative" rAng="0" ptsTypes="AAA">
                                      <p:cBhvr>
                                        <p:cTn id="38" dur="2000" fill="hold"/>
                                        <p:tgtEl>
                                          <p:spTgt spid="108"/>
                                        </p:tgtEl>
                                        <p:attrNameLst>
                                          <p:attrName>ppt_x</p:attrName>
                                          <p:attrName>ppt_y</p:attrName>
                                        </p:attrNameLst>
                                      </p:cBhvr>
                                      <p:rCtr x="-4800" y="-2000"/>
                                    </p:animMotion>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109"/>
                                        </p:tgtEl>
                                        <p:attrNameLst>
                                          <p:attrName>style.visibility</p:attrName>
                                        </p:attrNameLst>
                                      </p:cBhvr>
                                      <p:to>
                                        <p:strVal val="visible"/>
                                      </p:to>
                                    </p:set>
                                    <p:animEffect transition="in" filter="wipe(down)">
                                      <p:cBhvr>
                                        <p:cTn id="43" dur="1000"/>
                                        <p:tgtEl>
                                          <p:spTgt spid="109"/>
                                        </p:tgtEl>
                                      </p:cBhvr>
                                    </p:animEffect>
                                  </p:childTnLst>
                                </p:cTn>
                              </p:par>
                            </p:childTnLst>
                          </p:cTn>
                        </p:par>
                        <p:par>
                          <p:cTn id="44" fill="hold">
                            <p:stCondLst>
                              <p:cond delay="1000"/>
                            </p:stCondLst>
                            <p:childTnLst>
                              <p:par>
                                <p:cTn id="45" presetID="1" presetClass="entr" presetSubtype="0" fill="hold" nodeType="afterEffect">
                                  <p:stCondLst>
                                    <p:cond delay="1000"/>
                                  </p:stCondLst>
                                  <p:childTnLst>
                                    <p:set>
                                      <p:cBhvr>
                                        <p:cTn id="46" dur="1" fill="hold">
                                          <p:stCondLst>
                                            <p:cond delay="0"/>
                                          </p:stCondLst>
                                        </p:cTn>
                                        <p:tgtEl>
                                          <p:spTgt spid="110"/>
                                        </p:tgtEl>
                                        <p:attrNameLst>
                                          <p:attrName>style.visibility</p:attrName>
                                        </p:attrNameLst>
                                      </p:cBhvr>
                                      <p:to>
                                        <p:strVal val="visible"/>
                                      </p:to>
                                    </p:set>
                                  </p:childTnLst>
                                </p:cTn>
                              </p:par>
                              <p:par>
                                <p:cTn id="47" presetID="1" presetClass="entr" presetSubtype="0" fill="hold" nodeType="withEffect">
                                  <p:stCondLst>
                                    <p:cond delay="1000"/>
                                  </p:stCondLst>
                                  <p:childTnLst>
                                    <p:set>
                                      <p:cBhvr>
                                        <p:cTn id="48" dur="1" fill="hold">
                                          <p:stCondLst>
                                            <p:cond delay="0"/>
                                          </p:stCondLst>
                                        </p:cTn>
                                        <p:tgtEl>
                                          <p:spTgt spid="113"/>
                                        </p:tgtEl>
                                        <p:attrNameLst>
                                          <p:attrName>style.visibility</p:attrName>
                                        </p:attrNameLst>
                                      </p:cBhvr>
                                      <p:to>
                                        <p:strVal val="visible"/>
                                      </p:to>
                                    </p:set>
                                  </p:childTnLst>
                                </p:cTn>
                              </p:par>
                            </p:childTnLst>
                          </p:cTn>
                        </p:par>
                        <p:par>
                          <p:cTn id="49" fill="hold">
                            <p:stCondLst>
                              <p:cond delay="2000"/>
                            </p:stCondLst>
                            <p:childTnLst>
                              <p:par>
                                <p:cTn id="50" presetID="0" presetClass="path" presetSubtype="0" accel="50000" decel="50000" fill="hold" nodeType="afterEffect">
                                  <p:stCondLst>
                                    <p:cond delay="0"/>
                                  </p:stCondLst>
                                  <p:childTnLst>
                                    <p:animMotion origin="layout" path="M -3.05556E-6 -1.11111E-6 L 0.00261 -0.08 L 0.07848 -0.07861 L 0.1 -0.18667 " pathEditMode="relative" ptsTypes="AAAA">
                                      <p:cBhvr>
                                        <p:cTn id="51" dur="2000" fill="hold"/>
                                        <p:tgtEl>
                                          <p:spTgt spid="110"/>
                                        </p:tgtEl>
                                        <p:attrNameLst>
                                          <p:attrName>ppt_x</p:attrName>
                                          <p:attrName>ppt_y</p:attrName>
                                        </p:attrNameLst>
                                      </p:cBhvr>
                                    </p:animMotion>
                                  </p:childTnLst>
                                </p:cTn>
                              </p:par>
                              <p:par>
                                <p:cTn id="52" presetID="0" presetClass="path" presetSubtype="0" accel="50000" decel="50000" fill="hold" nodeType="withEffect">
                                  <p:stCondLst>
                                    <p:cond delay="0"/>
                                  </p:stCondLst>
                                  <p:childTnLst>
                                    <p:animMotion origin="layout" path="M 2.77778E-6 -4.33681E-19 L 0.00087 -0.05084 L 0.16007 -0.04945 L 0.19167 -0.18667 " pathEditMode="relative" ptsTypes="AAAA">
                                      <p:cBhvr>
                                        <p:cTn id="53" dur="2000" fill="hold"/>
                                        <p:tgtEl>
                                          <p:spTgt spid="113"/>
                                        </p:tgtEl>
                                        <p:attrNameLst>
                                          <p:attrName>ppt_x</p:attrName>
                                          <p:attrName>ppt_y</p:attrName>
                                        </p:attrNameLst>
                                      </p:cBhvr>
                                    </p:animMotion>
                                  </p:childTnLst>
                                </p:cTn>
                              </p:par>
                            </p:childTnLst>
                          </p:cTn>
                        </p:par>
                        <p:par>
                          <p:cTn id="54" fill="hold">
                            <p:stCondLst>
                              <p:cond delay="4000"/>
                            </p:stCondLst>
                            <p:childTnLst>
                              <p:par>
                                <p:cTn id="55" presetID="22" presetClass="entr" presetSubtype="8" fill="hold" grpId="0" nodeType="afterEffect">
                                  <p:stCondLst>
                                    <p:cond delay="0"/>
                                  </p:stCondLst>
                                  <p:childTnLst>
                                    <p:set>
                                      <p:cBhvr>
                                        <p:cTn id="56" dur="1" fill="hold">
                                          <p:stCondLst>
                                            <p:cond delay="0"/>
                                          </p:stCondLst>
                                        </p:cTn>
                                        <p:tgtEl>
                                          <p:spTgt spid="133"/>
                                        </p:tgtEl>
                                        <p:attrNameLst>
                                          <p:attrName>style.visibility</p:attrName>
                                        </p:attrNameLst>
                                      </p:cBhvr>
                                      <p:to>
                                        <p:strVal val="visible"/>
                                      </p:to>
                                    </p:set>
                                    <p:animEffect transition="in" filter="wipe(left)">
                                      <p:cBhvr>
                                        <p:cTn id="57" dur="1000"/>
                                        <p:tgtEl>
                                          <p:spTgt spid="133"/>
                                        </p:tgtEl>
                                      </p:cBhvr>
                                    </p:animEffect>
                                  </p:childTnLst>
                                </p:cTn>
                              </p:par>
                            </p:childTnLst>
                          </p:cTn>
                        </p:par>
                      </p:childTnLst>
                    </p:cTn>
                  </p:par>
                  <p:par>
                    <p:cTn id="58" fill="hold">
                      <p:stCondLst>
                        <p:cond delay="indefinite"/>
                      </p:stCondLst>
                      <p:childTnLst>
                        <p:par>
                          <p:cTn id="59" fill="hold">
                            <p:stCondLst>
                              <p:cond delay="0"/>
                            </p:stCondLst>
                            <p:childTnLst>
                              <p:par>
                                <p:cTn id="60" presetID="12" presetClass="entr" presetSubtype="8" fill="hold" nodeType="clickEffect">
                                  <p:stCondLst>
                                    <p:cond delay="0"/>
                                  </p:stCondLst>
                                  <p:childTnLst>
                                    <p:set>
                                      <p:cBhvr>
                                        <p:cTn id="61" dur="1" fill="hold">
                                          <p:stCondLst>
                                            <p:cond delay="0"/>
                                          </p:stCondLst>
                                        </p:cTn>
                                        <p:tgtEl>
                                          <p:spTgt spid="134"/>
                                        </p:tgtEl>
                                        <p:attrNameLst>
                                          <p:attrName>style.visibility</p:attrName>
                                        </p:attrNameLst>
                                      </p:cBhvr>
                                      <p:to>
                                        <p:strVal val="visible"/>
                                      </p:to>
                                    </p:set>
                                    <p:animEffect transition="in" filter="slide(fromLeft)">
                                      <p:cBhvr>
                                        <p:cTn id="62" dur="1000"/>
                                        <p:tgtEl>
                                          <p:spTgt spid="1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P spid="103" grpId="0" animBg="1"/>
      <p:bldP spid="104" grpId="0" animBg="1"/>
      <p:bldP spid="105" grpId="0"/>
      <p:bldP spid="106" grpId="0"/>
      <p:bldP spid="107" grpId="0" animBg="1"/>
      <p:bldP spid="107" grpId="1" animBg="1"/>
      <p:bldP spid="108" grpId="0" animBg="1"/>
      <p:bldP spid="108" grpId="1" animBg="1"/>
      <p:bldP spid="109" grpId="0" animBg="1"/>
      <p:bldP spid="133"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860534" y="1900574"/>
            <a:ext cx="5988050" cy="3190373"/>
            <a:chOff x="860534" y="1900574"/>
            <a:chExt cx="5988050" cy="3190373"/>
          </a:xfrm>
        </p:grpSpPr>
        <p:grpSp>
          <p:nvGrpSpPr>
            <p:cNvPr id="212" name="组合 211"/>
            <p:cNvGrpSpPr/>
            <p:nvPr/>
          </p:nvGrpSpPr>
          <p:grpSpPr>
            <a:xfrm>
              <a:off x="860534" y="1900574"/>
              <a:ext cx="5988050" cy="3190373"/>
              <a:chOff x="860534" y="1900574"/>
              <a:chExt cx="5988050" cy="3190373"/>
            </a:xfrm>
          </p:grpSpPr>
          <p:grpSp>
            <p:nvGrpSpPr>
              <p:cNvPr id="123" name="组合 122"/>
              <p:cNvGrpSpPr/>
              <p:nvPr/>
            </p:nvGrpSpPr>
            <p:grpSpPr>
              <a:xfrm>
                <a:off x="860534" y="1900574"/>
                <a:ext cx="5988050" cy="3190373"/>
                <a:chOff x="1333500" y="1876926"/>
                <a:chExt cx="5988050" cy="3190373"/>
              </a:xfrm>
            </p:grpSpPr>
            <p:sp>
              <p:nvSpPr>
                <p:cNvPr id="124" name="圆角矩形 123"/>
                <p:cNvSpPr/>
                <p:nvPr/>
              </p:nvSpPr>
              <p:spPr>
                <a:xfrm>
                  <a:off x="1333500" y="1876926"/>
                  <a:ext cx="5988050" cy="3190373"/>
                </a:xfrm>
                <a:prstGeom prst="roundRect">
                  <a:avLst>
                    <a:gd name="adj" fmla="val 6017"/>
                  </a:avLst>
                </a:prstGeom>
                <a:solidFill>
                  <a:schemeClr val="bg1"/>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6" name="组合 196"/>
                <p:cNvGrpSpPr/>
                <p:nvPr/>
              </p:nvGrpSpPr>
              <p:grpSpPr>
                <a:xfrm>
                  <a:off x="2176894" y="2748712"/>
                  <a:ext cx="5073072" cy="1289670"/>
                  <a:chOff x="1992744" y="2729662"/>
                  <a:chExt cx="5073072" cy="1289670"/>
                </a:xfrm>
              </p:grpSpPr>
              <p:pic>
                <p:nvPicPr>
                  <p:cNvPr id="180" name="Picture 9"/>
                  <p:cNvPicPr>
                    <a:picLocks noChangeAspect="1" noChangeArrowheads="1"/>
                  </p:cNvPicPr>
                  <p:nvPr/>
                </p:nvPicPr>
                <p:blipFill>
                  <a:blip r:embed="rId1" cstate="print"/>
                  <a:srcRect/>
                  <a:stretch>
                    <a:fillRect/>
                  </a:stretch>
                </p:blipFill>
                <p:spPr bwMode="auto">
                  <a:xfrm>
                    <a:off x="1992744" y="2729662"/>
                    <a:ext cx="2322946" cy="1289670"/>
                  </a:xfrm>
                  <a:prstGeom prst="rect">
                    <a:avLst/>
                  </a:prstGeom>
                  <a:noFill/>
                  <a:ln w="9525">
                    <a:noFill/>
                    <a:miter lim="800000"/>
                    <a:headEnd/>
                    <a:tailEnd/>
                  </a:ln>
                </p:spPr>
              </p:pic>
              <p:pic>
                <p:nvPicPr>
                  <p:cNvPr id="181" name="Picture 9"/>
                  <p:cNvPicPr>
                    <a:picLocks noChangeAspect="1" noChangeArrowheads="1"/>
                  </p:cNvPicPr>
                  <p:nvPr/>
                </p:nvPicPr>
                <p:blipFill>
                  <a:blip r:embed="rId1" cstate="print"/>
                  <a:srcRect/>
                  <a:stretch>
                    <a:fillRect/>
                  </a:stretch>
                </p:blipFill>
                <p:spPr bwMode="auto">
                  <a:xfrm>
                    <a:off x="4742870" y="2729662"/>
                    <a:ext cx="2322946" cy="1289670"/>
                  </a:xfrm>
                  <a:prstGeom prst="rect">
                    <a:avLst/>
                  </a:prstGeom>
                  <a:noFill/>
                  <a:ln w="9525">
                    <a:noFill/>
                    <a:miter lim="800000"/>
                    <a:headEnd/>
                    <a:tailEnd/>
                  </a:ln>
                </p:spPr>
              </p:pic>
            </p:grpSp>
            <p:grpSp>
              <p:nvGrpSpPr>
                <p:cNvPr id="127" name="组合 198"/>
                <p:cNvGrpSpPr/>
                <p:nvPr/>
              </p:nvGrpSpPr>
              <p:grpSpPr>
                <a:xfrm>
                  <a:off x="1371600" y="3073977"/>
                  <a:ext cx="3786344" cy="1632549"/>
                  <a:chOff x="1263650" y="2769177"/>
                  <a:chExt cx="3786344" cy="1632549"/>
                </a:xfrm>
              </p:grpSpPr>
              <p:grpSp>
                <p:nvGrpSpPr>
                  <p:cNvPr id="166" name="组合 195"/>
                  <p:cNvGrpSpPr/>
                  <p:nvPr/>
                </p:nvGrpSpPr>
                <p:grpSpPr>
                  <a:xfrm>
                    <a:off x="1516503" y="2769177"/>
                    <a:ext cx="3533491" cy="1534364"/>
                    <a:chOff x="1440303" y="3054927"/>
                    <a:chExt cx="3533491" cy="1534364"/>
                  </a:xfrm>
                </p:grpSpPr>
                <p:cxnSp>
                  <p:nvCxnSpPr>
                    <p:cNvPr id="168" name="直接连接符 167"/>
                    <p:cNvCxnSpPr/>
                    <p:nvPr/>
                  </p:nvCxnSpPr>
                  <p:spPr>
                    <a:xfrm flipH="1">
                      <a:off x="1440303" y="4298156"/>
                      <a:ext cx="2929291" cy="7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p:nvCxnSpPr>
                  <p:spPr>
                    <a:xfrm flipH="1" flipV="1">
                      <a:off x="1440304" y="4447309"/>
                      <a:ext cx="3060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a:xfrm flipH="1" flipV="1">
                      <a:off x="1440304" y="4585277"/>
                      <a:ext cx="31752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肘形连接符 170"/>
                    <p:cNvCxnSpPr/>
                    <p:nvPr/>
                  </p:nvCxnSpPr>
                  <p:spPr>
                    <a:xfrm rot="5400000">
                      <a:off x="4045529" y="3380510"/>
                      <a:ext cx="1253836" cy="60267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肘形连接符 171"/>
                    <p:cNvCxnSpPr/>
                    <p:nvPr/>
                  </p:nvCxnSpPr>
                  <p:spPr>
                    <a:xfrm rot="5400000">
                      <a:off x="4121438" y="3606109"/>
                      <a:ext cx="1224000" cy="468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3" name="肘形连接符 172"/>
                    <p:cNvCxnSpPr/>
                    <p:nvPr/>
                  </p:nvCxnSpPr>
                  <p:spPr>
                    <a:xfrm rot="5400000">
                      <a:off x="4199794" y="3815291"/>
                      <a:ext cx="1188000" cy="360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肘形连接符 173"/>
                    <p:cNvCxnSpPr/>
                    <p:nvPr/>
                  </p:nvCxnSpPr>
                  <p:spPr>
                    <a:xfrm rot="5400000">
                      <a:off x="1289629" y="3380510"/>
                      <a:ext cx="1253836" cy="60267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肘形连接符 174"/>
                    <p:cNvCxnSpPr/>
                    <p:nvPr/>
                  </p:nvCxnSpPr>
                  <p:spPr>
                    <a:xfrm rot="5400000">
                      <a:off x="1359188" y="3606109"/>
                      <a:ext cx="1224000" cy="468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6" name="肘形连接符 175"/>
                    <p:cNvCxnSpPr/>
                    <p:nvPr/>
                  </p:nvCxnSpPr>
                  <p:spPr>
                    <a:xfrm rot="5400000">
                      <a:off x="1443894" y="3815291"/>
                      <a:ext cx="1188000" cy="360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a:off x="1855788" y="4573588"/>
                      <a:ext cx="36000"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a:xfrm>
                      <a:off x="1735138" y="4449763"/>
                      <a:ext cx="36000"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1614488" y="4294188"/>
                      <a:ext cx="36000"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grpSp>
              <p:sp>
                <p:nvSpPr>
                  <p:cNvPr id="167" name="TextBox 166"/>
                  <p:cNvSpPr txBox="1"/>
                  <p:nvPr/>
                </p:nvSpPr>
                <p:spPr>
                  <a:xfrm>
                    <a:off x="1263650" y="3886200"/>
                    <a:ext cx="309700" cy="515526"/>
                  </a:xfrm>
                  <a:prstGeom prst="rect">
                    <a:avLst/>
                  </a:prstGeom>
                  <a:noFill/>
                  <a:ln>
                    <a:noFill/>
                  </a:ln>
                </p:spPr>
                <p:txBody>
                  <a:bodyPr wrap="non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S</a:t>
                    </a:r>
                    <a:r>
                      <a:rPr lang="en-US" altLang="zh-CN" sz="1100" b="1" baseline="-25000" dirty="0">
                        <a:latin typeface="Times New Roman" panose="02020603050405020304" pitchFamily="18" charset="0"/>
                        <a:cs typeface="Times New Roman" panose="02020603050405020304" pitchFamily="18" charset="0"/>
                      </a:rPr>
                      <a:t>2</a:t>
                    </a:r>
                    <a:endParaRPr lang="en-US" altLang="zh-CN" sz="1100" b="1" baseline="-25000" dirty="0">
                      <a:latin typeface="Times New Roman" panose="02020603050405020304" pitchFamily="18" charset="0"/>
                      <a:cs typeface="Times New Roman" panose="02020603050405020304" pitchFamily="18" charset="0"/>
                    </a:endParaRPr>
                  </a:p>
                  <a:p>
                    <a:pPr>
                      <a:lnSpc>
                        <a:spcPts val="1100"/>
                      </a:lnSpc>
                    </a:pPr>
                    <a:r>
                      <a:rPr lang="en-US" altLang="zh-CN" sz="1100" b="1" i="1" dirty="0">
                        <a:latin typeface="Times New Roman" panose="02020603050405020304" pitchFamily="18" charset="0"/>
                        <a:cs typeface="Times New Roman" panose="02020603050405020304" pitchFamily="18" charset="0"/>
                      </a:rPr>
                      <a:t>S</a:t>
                    </a:r>
                    <a:r>
                      <a:rPr lang="en-US" altLang="zh-CN" sz="1100" b="1" baseline="-25000" dirty="0">
                        <a:latin typeface="Times New Roman" panose="02020603050405020304" pitchFamily="18" charset="0"/>
                        <a:cs typeface="Times New Roman" panose="02020603050405020304" pitchFamily="18" charset="0"/>
                      </a:rPr>
                      <a:t>1</a:t>
                    </a:r>
                    <a:endParaRPr lang="en-US" altLang="zh-CN" sz="1100" b="1" baseline="-25000" dirty="0">
                      <a:latin typeface="Times New Roman" panose="02020603050405020304" pitchFamily="18" charset="0"/>
                      <a:cs typeface="Times New Roman" panose="02020603050405020304" pitchFamily="18" charset="0"/>
                    </a:endParaRPr>
                  </a:p>
                  <a:p>
                    <a:pPr>
                      <a:lnSpc>
                        <a:spcPts val="1100"/>
                      </a:lnSpc>
                    </a:pPr>
                    <a:r>
                      <a:rPr lang="en-US" altLang="zh-CN" sz="1100" b="1" i="1" dirty="0">
                        <a:latin typeface="Times New Roman" panose="02020603050405020304" pitchFamily="18" charset="0"/>
                        <a:cs typeface="Times New Roman" panose="02020603050405020304" pitchFamily="18" charset="0"/>
                      </a:rPr>
                      <a:t>S</a:t>
                    </a:r>
                    <a:r>
                      <a:rPr lang="en-US" altLang="zh-CN" sz="1100" b="1" baseline="-25000" dirty="0">
                        <a:latin typeface="Times New Roman" panose="02020603050405020304" pitchFamily="18" charset="0"/>
                        <a:cs typeface="Times New Roman" panose="02020603050405020304" pitchFamily="18" charset="0"/>
                      </a:rPr>
                      <a:t>0</a:t>
                    </a:r>
                    <a:endParaRPr lang="zh-CN" altLang="en-US" sz="1100" b="1" baseline="-25000" dirty="0">
                      <a:latin typeface="Times New Roman" panose="02020603050405020304" pitchFamily="18" charset="0"/>
                      <a:cs typeface="Times New Roman" panose="02020603050405020304" pitchFamily="18" charset="0"/>
                    </a:endParaRPr>
                  </a:p>
                </p:txBody>
              </p:sp>
            </p:grpSp>
            <p:sp>
              <p:nvSpPr>
                <p:cNvPr id="160" name="矩形 159"/>
                <p:cNvSpPr/>
                <p:nvPr/>
              </p:nvSpPr>
              <p:spPr>
                <a:xfrm>
                  <a:off x="1373525" y="4715554"/>
                  <a:ext cx="320922" cy="233397"/>
                </a:xfrm>
                <a:prstGeom prst="rect">
                  <a:avLst/>
                </a:prstGeom>
                <a:ln>
                  <a:noFill/>
                </a:ln>
              </p:spPr>
              <p:txBody>
                <a:bodyPr wrap="none">
                  <a:spAutoFit/>
                </a:bodyPr>
                <a:lstStyle/>
                <a:p>
                  <a:pPr>
                    <a:lnSpc>
                      <a:spcPts val="1100"/>
                    </a:lnSpc>
                  </a:pPr>
                  <a:r>
                    <a:rPr lang="en-US" altLang="zh-CN" sz="1200" b="1" i="1" dirty="0">
                      <a:latin typeface="Times New Roman" panose="02020603050405020304" pitchFamily="18" charset="0"/>
                      <a:cs typeface="Times New Roman" panose="02020603050405020304" pitchFamily="18" charset="0"/>
                    </a:rPr>
                    <a:t>S</a:t>
                  </a:r>
                  <a:r>
                    <a:rPr lang="en-US" altLang="zh-CN" sz="1200" b="1" baseline="-25000" dirty="0">
                      <a:latin typeface="Times New Roman" panose="02020603050405020304" pitchFamily="18" charset="0"/>
                      <a:cs typeface="Times New Roman" panose="02020603050405020304" pitchFamily="18" charset="0"/>
                    </a:rPr>
                    <a:t>3</a:t>
                  </a:r>
                  <a:endParaRPr lang="zh-CN" altLang="en-US" sz="1200" b="1" baseline="-25000" dirty="0">
                    <a:latin typeface="Times New Roman" panose="02020603050405020304" pitchFamily="18" charset="0"/>
                    <a:cs typeface="Times New Roman" panose="02020603050405020304" pitchFamily="18" charset="0"/>
                  </a:endParaRPr>
                </a:p>
              </p:txBody>
            </p:sp>
            <p:grpSp>
              <p:nvGrpSpPr>
                <p:cNvPr id="129" name="组合 212"/>
                <p:cNvGrpSpPr/>
                <p:nvPr/>
              </p:nvGrpSpPr>
              <p:grpSpPr>
                <a:xfrm>
                  <a:off x="2454250" y="3999324"/>
                  <a:ext cx="1943100" cy="233397"/>
                  <a:chOff x="2305050" y="3694524"/>
                  <a:chExt cx="1943100" cy="233397"/>
                </a:xfrm>
              </p:grpSpPr>
              <p:sp>
                <p:nvSpPr>
                  <p:cNvPr id="148" name="TextBox 147"/>
                  <p:cNvSpPr txBox="1"/>
                  <p:nvPr/>
                </p:nvSpPr>
                <p:spPr>
                  <a:xfrm>
                    <a:off x="230505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0</a:t>
                    </a:r>
                    <a:endParaRPr lang="zh-CN" altLang="en-US" sz="1100" b="1" baseline="-25000" dirty="0">
                      <a:latin typeface="Times New Roman" panose="02020603050405020304" pitchFamily="18" charset="0"/>
                      <a:cs typeface="Times New Roman" panose="02020603050405020304" pitchFamily="18" charset="0"/>
                    </a:endParaRPr>
                  </a:p>
                </p:txBody>
              </p:sp>
              <p:sp>
                <p:nvSpPr>
                  <p:cNvPr id="149" name="TextBox 148"/>
                  <p:cNvSpPr txBox="1"/>
                  <p:nvPr/>
                </p:nvSpPr>
                <p:spPr>
                  <a:xfrm>
                    <a:off x="2525486"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a:t>
                    </a:r>
                    <a:endParaRPr lang="zh-CN" altLang="en-US" sz="1100" b="1" baseline="-25000" dirty="0">
                      <a:latin typeface="Times New Roman" panose="02020603050405020304" pitchFamily="18" charset="0"/>
                      <a:cs typeface="Times New Roman" panose="02020603050405020304" pitchFamily="18" charset="0"/>
                    </a:endParaRPr>
                  </a:p>
                </p:txBody>
              </p:sp>
              <p:sp>
                <p:nvSpPr>
                  <p:cNvPr id="152" name="TextBox 151"/>
                  <p:cNvSpPr txBox="1"/>
                  <p:nvPr/>
                </p:nvSpPr>
                <p:spPr>
                  <a:xfrm>
                    <a:off x="2745922"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2</a:t>
                    </a:r>
                    <a:endParaRPr lang="zh-CN" altLang="en-US" sz="1100" b="1" baseline="-25000" dirty="0">
                      <a:latin typeface="Times New Roman" panose="02020603050405020304" pitchFamily="18" charset="0"/>
                      <a:cs typeface="Times New Roman" panose="02020603050405020304" pitchFamily="18" charset="0"/>
                    </a:endParaRPr>
                  </a:p>
                </p:txBody>
              </p:sp>
              <p:sp>
                <p:nvSpPr>
                  <p:cNvPr id="153" name="TextBox 152"/>
                  <p:cNvSpPr txBox="1"/>
                  <p:nvPr/>
                </p:nvSpPr>
                <p:spPr>
                  <a:xfrm>
                    <a:off x="2966358"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3</a:t>
                    </a:r>
                    <a:endParaRPr lang="zh-CN" altLang="en-US" sz="1100" b="1" baseline="-25000" dirty="0">
                      <a:latin typeface="Times New Roman" panose="02020603050405020304" pitchFamily="18" charset="0"/>
                      <a:cs typeface="Times New Roman" panose="02020603050405020304" pitchFamily="18" charset="0"/>
                    </a:endParaRPr>
                  </a:p>
                </p:txBody>
              </p:sp>
              <p:sp>
                <p:nvSpPr>
                  <p:cNvPr id="154" name="TextBox 153"/>
                  <p:cNvSpPr txBox="1"/>
                  <p:nvPr/>
                </p:nvSpPr>
                <p:spPr>
                  <a:xfrm>
                    <a:off x="3186794"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4</a:t>
                    </a:r>
                    <a:endParaRPr lang="zh-CN" altLang="en-US" sz="1100" b="1" baseline="-25000" dirty="0">
                      <a:latin typeface="Times New Roman" panose="02020603050405020304" pitchFamily="18" charset="0"/>
                      <a:cs typeface="Times New Roman" panose="02020603050405020304" pitchFamily="18" charset="0"/>
                    </a:endParaRPr>
                  </a:p>
                </p:txBody>
              </p:sp>
              <p:sp>
                <p:nvSpPr>
                  <p:cNvPr id="155" name="TextBox 154"/>
                  <p:cNvSpPr txBox="1"/>
                  <p:nvPr/>
                </p:nvSpPr>
                <p:spPr>
                  <a:xfrm>
                    <a:off x="340723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5</a:t>
                    </a:r>
                    <a:endParaRPr lang="zh-CN" altLang="en-US" sz="1100" b="1" baseline="-25000" dirty="0">
                      <a:latin typeface="Times New Roman" panose="02020603050405020304" pitchFamily="18" charset="0"/>
                      <a:cs typeface="Times New Roman" panose="02020603050405020304" pitchFamily="18" charset="0"/>
                    </a:endParaRPr>
                  </a:p>
                </p:txBody>
              </p:sp>
              <p:sp>
                <p:nvSpPr>
                  <p:cNvPr id="156" name="TextBox 155"/>
                  <p:cNvSpPr txBox="1"/>
                  <p:nvPr/>
                </p:nvSpPr>
                <p:spPr>
                  <a:xfrm>
                    <a:off x="3627666"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6</a:t>
                    </a:r>
                    <a:endParaRPr lang="zh-CN" altLang="en-US" sz="1100" b="1" baseline="-25000" dirty="0">
                      <a:latin typeface="Times New Roman" panose="02020603050405020304" pitchFamily="18" charset="0"/>
                      <a:cs typeface="Times New Roman" panose="02020603050405020304" pitchFamily="18" charset="0"/>
                    </a:endParaRPr>
                  </a:p>
                </p:txBody>
              </p:sp>
              <p:sp>
                <p:nvSpPr>
                  <p:cNvPr id="157" name="TextBox 156"/>
                  <p:cNvSpPr txBox="1"/>
                  <p:nvPr/>
                </p:nvSpPr>
                <p:spPr>
                  <a:xfrm>
                    <a:off x="384810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7</a:t>
                    </a:r>
                    <a:endParaRPr lang="zh-CN" altLang="en-US" sz="1100" b="1" baseline="-25000" dirty="0">
                      <a:latin typeface="Times New Roman" panose="02020603050405020304" pitchFamily="18" charset="0"/>
                      <a:cs typeface="Times New Roman" panose="02020603050405020304" pitchFamily="18" charset="0"/>
                    </a:endParaRPr>
                  </a:p>
                </p:txBody>
              </p:sp>
            </p:grpSp>
            <p:grpSp>
              <p:nvGrpSpPr>
                <p:cNvPr id="130" name="组合 213"/>
                <p:cNvGrpSpPr/>
                <p:nvPr/>
              </p:nvGrpSpPr>
              <p:grpSpPr>
                <a:xfrm>
                  <a:off x="5187950" y="4012024"/>
                  <a:ext cx="1943100" cy="233397"/>
                  <a:chOff x="2305050" y="3694524"/>
                  <a:chExt cx="1943100" cy="233397"/>
                </a:xfrm>
              </p:grpSpPr>
              <p:sp>
                <p:nvSpPr>
                  <p:cNvPr id="135" name="TextBox 134"/>
                  <p:cNvSpPr txBox="1"/>
                  <p:nvPr/>
                </p:nvSpPr>
                <p:spPr>
                  <a:xfrm>
                    <a:off x="230505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8</a:t>
                    </a:r>
                    <a:endParaRPr lang="zh-CN" altLang="en-US" sz="1100" b="1" baseline="-25000" dirty="0">
                      <a:latin typeface="Times New Roman" panose="02020603050405020304" pitchFamily="18" charset="0"/>
                      <a:cs typeface="Times New Roman" panose="02020603050405020304" pitchFamily="18" charset="0"/>
                    </a:endParaRPr>
                  </a:p>
                </p:txBody>
              </p:sp>
              <p:sp>
                <p:nvSpPr>
                  <p:cNvPr id="136" name="TextBox 135"/>
                  <p:cNvSpPr txBox="1"/>
                  <p:nvPr/>
                </p:nvSpPr>
                <p:spPr>
                  <a:xfrm>
                    <a:off x="2525486"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9</a:t>
                    </a:r>
                    <a:endParaRPr lang="zh-CN" altLang="en-US" sz="1100" b="1" baseline="-25000" dirty="0">
                      <a:latin typeface="Times New Roman" panose="02020603050405020304" pitchFamily="18" charset="0"/>
                      <a:cs typeface="Times New Roman" panose="02020603050405020304" pitchFamily="18" charset="0"/>
                    </a:endParaRPr>
                  </a:p>
                </p:txBody>
              </p:sp>
              <p:sp>
                <p:nvSpPr>
                  <p:cNvPr id="137" name="TextBox 136"/>
                  <p:cNvSpPr txBox="1"/>
                  <p:nvPr/>
                </p:nvSpPr>
                <p:spPr>
                  <a:xfrm>
                    <a:off x="2745922"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10</a:t>
                    </a:r>
                    <a:endParaRPr lang="zh-CN" altLang="en-US" sz="1100" b="1" baseline="-25000" dirty="0">
                      <a:latin typeface="Times New Roman" panose="02020603050405020304" pitchFamily="18" charset="0"/>
                      <a:cs typeface="Times New Roman" panose="02020603050405020304" pitchFamily="18" charset="0"/>
                    </a:endParaRPr>
                  </a:p>
                </p:txBody>
              </p:sp>
              <p:sp>
                <p:nvSpPr>
                  <p:cNvPr id="140" name="TextBox 139"/>
                  <p:cNvSpPr txBox="1"/>
                  <p:nvPr/>
                </p:nvSpPr>
                <p:spPr>
                  <a:xfrm>
                    <a:off x="2966358"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11</a:t>
                    </a:r>
                    <a:endParaRPr lang="zh-CN" altLang="en-US" sz="1100" b="1" baseline="-25000" dirty="0">
                      <a:latin typeface="Times New Roman" panose="02020603050405020304" pitchFamily="18" charset="0"/>
                      <a:cs typeface="Times New Roman" panose="02020603050405020304" pitchFamily="18" charset="0"/>
                    </a:endParaRPr>
                  </a:p>
                </p:txBody>
              </p:sp>
              <p:sp>
                <p:nvSpPr>
                  <p:cNvPr id="144" name="TextBox 143"/>
                  <p:cNvSpPr txBox="1"/>
                  <p:nvPr/>
                </p:nvSpPr>
                <p:spPr>
                  <a:xfrm>
                    <a:off x="3186794"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12</a:t>
                    </a:r>
                    <a:endParaRPr lang="zh-CN" altLang="en-US" sz="1100" b="1" baseline="-25000" dirty="0">
                      <a:latin typeface="Times New Roman" panose="02020603050405020304" pitchFamily="18" charset="0"/>
                      <a:cs typeface="Times New Roman" panose="02020603050405020304" pitchFamily="18" charset="0"/>
                    </a:endParaRPr>
                  </a:p>
                </p:txBody>
              </p:sp>
              <p:sp>
                <p:nvSpPr>
                  <p:cNvPr id="145" name="TextBox 144"/>
                  <p:cNvSpPr txBox="1"/>
                  <p:nvPr/>
                </p:nvSpPr>
                <p:spPr>
                  <a:xfrm>
                    <a:off x="340723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13</a:t>
                    </a:r>
                    <a:endParaRPr lang="zh-CN" altLang="en-US" sz="1100" b="1" baseline="-25000" dirty="0">
                      <a:latin typeface="Times New Roman" panose="02020603050405020304" pitchFamily="18" charset="0"/>
                      <a:cs typeface="Times New Roman" panose="02020603050405020304" pitchFamily="18" charset="0"/>
                    </a:endParaRPr>
                  </a:p>
                </p:txBody>
              </p:sp>
              <p:sp>
                <p:nvSpPr>
                  <p:cNvPr id="146" name="TextBox 145"/>
                  <p:cNvSpPr txBox="1"/>
                  <p:nvPr/>
                </p:nvSpPr>
                <p:spPr>
                  <a:xfrm>
                    <a:off x="3627666"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14</a:t>
                    </a:r>
                    <a:endParaRPr lang="zh-CN" altLang="en-US" sz="1100" b="1" baseline="-25000" dirty="0">
                      <a:latin typeface="Times New Roman" panose="02020603050405020304" pitchFamily="18" charset="0"/>
                      <a:cs typeface="Times New Roman" panose="02020603050405020304" pitchFamily="18" charset="0"/>
                    </a:endParaRPr>
                  </a:p>
                </p:txBody>
              </p:sp>
              <p:sp>
                <p:nvSpPr>
                  <p:cNvPr id="147" name="TextBox 146"/>
                  <p:cNvSpPr txBox="1"/>
                  <p:nvPr/>
                </p:nvSpPr>
                <p:spPr>
                  <a:xfrm>
                    <a:off x="3848100" y="3694524"/>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D</a:t>
                    </a:r>
                    <a:r>
                      <a:rPr lang="en-US" altLang="zh-CN" sz="1100" b="1" baseline="-25000" dirty="0">
                        <a:latin typeface="Times New Roman" panose="02020603050405020304" pitchFamily="18" charset="0"/>
                        <a:cs typeface="Times New Roman" panose="02020603050405020304" pitchFamily="18" charset="0"/>
                      </a:rPr>
                      <a:t>15</a:t>
                    </a:r>
                    <a:endParaRPr lang="zh-CN" altLang="en-US" sz="1100" b="1" baseline="-25000" dirty="0">
                      <a:latin typeface="Times New Roman" panose="02020603050405020304" pitchFamily="18" charset="0"/>
                      <a:cs typeface="Times New Roman" panose="02020603050405020304" pitchFamily="18" charset="0"/>
                    </a:endParaRPr>
                  </a:p>
                </p:txBody>
              </p:sp>
            </p:grpSp>
            <p:grpSp>
              <p:nvGrpSpPr>
                <p:cNvPr id="90" name="组合 89"/>
                <p:cNvGrpSpPr/>
                <p:nvPr/>
              </p:nvGrpSpPr>
              <p:grpSpPr>
                <a:xfrm>
                  <a:off x="1627939" y="3650683"/>
                  <a:ext cx="3447746" cy="1335809"/>
                  <a:chOff x="1611754" y="3642591"/>
                  <a:chExt cx="3447746" cy="1335809"/>
                </a:xfrm>
              </p:grpSpPr>
              <p:grpSp>
                <p:nvGrpSpPr>
                  <p:cNvPr id="159" name="组合 193"/>
                  <p:cNvGrpSpPr/>
                  <p:nvPr/>
                </p:nvGrpSpPr>
                <p:grpSpPr>
                  <a:xfrm>
                    <a:off x="1611754" y="3642591"/>
                    <a:ext cx="3447746" cy="1192150"/>
                    <a:chOff x="1440304" y="3629891"/>
                    <a:chExt cx="3447746" cy="1116001"/>
                  </a:xfrm>
                </p:grpSpPr>
                <p:cxnSp>
                  <p:nvCxnSpPr>
                    <p:cNvPr id="162" name="直接连接符 161"/>
                    <p:cNvCxnSpPr/>
                    <p:nvPr/>
                  </p:nvCxnSpPr>
                  <p:spPr>
                    <a:xfrm flipH="1" flipV="1">
                      <a:off x="1440304" y="4737670"/>
                      <a:ext cx="331200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3" name="肘形连接符 162"/>
                    <p:cNvCxnSpPr/>
                    <p:nvPr/>
                  </p:nvCxnSpPr>
                  <p:spPr>
                    <a:xfrm rot="5400000">
                      <a:off x="4258050" y="4115891"/>
                      <a:ext cx="1116000" cy="144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肘形连接符 163"/>
                    <p:cNvCxnSpPr/>
                    <p:nvPr/>
                  </p:nvCxnSpPr>
                  <p:spPr>
                    <a:xfrm rot="5400000">
                      <a:off x="1514849" y="4115892"/>
                      <a:ext cx="1116000" cy="144000"/>
                    </a:xfrm>
                    <a:prstGeom prst="bentConnector3">
                      <a:avLst>
                        <a:gd name="adj1" fmla="val -276"/>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直接连接符 164"/>
                    <p:cNvCxnSpPr/>
                    <p:nvPr/>
                  </p:nvCxnSpPr>
                  <p:spPr>
                    <a:xfrm>
                      <a:off x="2001838" y="4729163"/>
                      <a:ext cx="36000" cy="0"/>
                    </a:xfrm>
                    <a:prstGeom prst="line">
                      <a:avLst/>
                    </a:prstGeom>
                    <a:ln>
                      <a:solidFill>
                        <a:schemeClr val="tx1"/>
                      </a:solidFill>
                      <a:headEnd type="oval"/>
                    </a:ln>
                  </p:spPr>
                  <p:style>
                    <a:lnRef idx="1">
                      <a:schemeClr val="accent1"/>
                    </a:lnRef>
                    <a:fillRef idx="0">
                      <a:schemeClr val="accent1"/>
                    </a:fillRef>
                    <a:effectRef idx="0">
                      <a:schemeClr val="accent1"/>
                    </a:effectRef>
                    <a:fontRef idx="minor">
                      <a:schemeClr val="tx1"/>
                    </a:fontRef>
                  </p:style>
                </p:cxnSp>
              </p:grpSp>
              <p:sp>
                <p:nvSpPr>
                  <p:cNvPr id="183" name="矩形 182"/>
                  <p:cNvSpPr/>
                  <p:nvPr/>
                </p:nvSpPr>
                <p:spPr>
                  <a:xfrm>
                    <a:off x="2374900" y="4673600"/>
                    <a:ext cx="215900" cy="3048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a:solidFill>
                          <a:schemeClr val="tx1"/>
                        </a:solidFill>
                        <a:latin typeface="Times New Roman" panose="02020603050405020304" pitchFamily="18" charset="0"/>
                        <a:cs typeface="Times New Roman" panose="02020603050405020304" pitchFamily="18" charset="0"/>
                      </a:rPr>
                      <a:t>1</a:t>
                    </a:r>
                    <a:endParaRPr lang="zh-CN" altLang="en-US" sz="1400" dirty="0">
                      <a:solidFill>
                        <a:schemeClr val="tx1"/>
                      </a:solidFill>
                      <a:latin typeface="Times New Roman" panose="02020603050405020304" pitchFamily="18" charset="0"/>
                      <a:cs typeface="Times New Roman" panose="02020603050405020304" pitchFamily="18" charset="0"/>
                    </a:endParaRPr>
                  </a:p>
                </p:txBody>
              </p:sp>
              <p:sp>
                <p:nvSpPr>
                  <p:cNvPr id="184" name="椭圆 183"/>
                  <p:cNvSpPr/>
                  <p:nvPr/>
                </p:nvSpPr>
                <p:spPr>
                  <a:xfrm>
                    <a:off x="2597150" y="4781550"/>
                    <a:ext cx="72000" cy="7200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8" name="组合 207"/>
                <p:cNvGrpSpPr/>
                <p:nvPr/>
              </p:nvGrpSpPr>
              <p:grpSpPr>
                <a:xfrm>
                  <a:off x="3124201" y="1943547"/>
                  <a:ext cx="3204399" cy="814735"/>
                  <a:chOff x="3124201" y="1943547"/>
                  <a:chExt cx="3204399" cy="814735"/>
                </a:xfrm>
              </p:grpSpPr>
              <p:cxnSp>
                <p:nvCxnSpPr>
                  <p:cNvPr id="206" name="直接连接符 205"/>
                  <p:cNvCxnSpPr/>
                  <p:nvPr/>
                </p:nvCxnSpPr>
                <p:spPr>
                  <a:xfrm flipV="1">
                    <a:off x="3917950" y="2067297"/>
                    <a:ext cx="0" cy="144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2" name="TextBox 131"/>
                  <p:cNvSpPr txBox="1"/>
                  <p:nvPr/>
                </p:nvSpPr>
                <p:spPr>
                  <a:xfrm>
                    <a:off x="3699330" y="1943547"/>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Y</a:t>
                    </a:r>
                    <a:endParaRPr lang="zh-CN" altLang="en-US" sz="1100" b="1" baseline="-25000" dirty="0">
                      <a:latin typeface="Times New Roman" panose="02020603050405020304" pitchFamily="18" charset="0"/>
                      <a:cs typeface="Times New Roman" panose="02020603050405020304" pitchFamily="18" charset="0"/>
                    </a:endParaRPr>
                  </a:p>
                </p:txBody>
              </p:sp>
              <p:cxnSp>
                <p:nvCxnSpPr>
                  <p:cNvPr id="188" name="形状 187"/>
                  <p:cNvCxnSpPr/>
                  <p:nvPr/>
                </p:nvCxnSpPr>
                <p:spPr>
                  <a:xfrm rot="5400000">
                    <a:off x="4165175" y="1834875"/>
                    <a:ext cx="324000" cy="1512000"/>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9" name="形状 188"/>
                  <p:cNvCxnSpPr/>
                  <p:nvPr/>
                </p:nvCxnSpPr>
                <p:spPr>
                  <a:xfrm rot="16200000" flipH="1">
                    <a:off x="5662600" y="2086875"/>
                    <a:ext cx="324000" cy="1008000"/>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1" name="组合 200"/>
                  <p:cNvGrpSpPr/>
                  <p:nvPr/>
                </p:nvGrpSpPr>
                <p:grpSpPr>
                  <a:xfrm>
                    <a:off x="3124201" y="2447925"/>
                    <a:ext cx="685799" cy="307975"/>
                    <a:chOff x="3124201" y="2447925"/>
                    <a:chExt cx="685799" cy="307975"/>
                  </a:xfrm>
                </p:grpSpPr>
                <p:cxnSp>
                  <p:nvCxnSpPr>
                    <p:cNvPr id="190" name="形状 189"/>
                    <p:cNvCxnSpPr/>
                    <p:nvPr/>
                  </p:nvCxnSpPr>
                  <p:spPr>
                    <a:xfrm rot="5400000">
                      <a:off x="3414000" y="2231925"/>
                      <a:ext cx="180000" cy="612000"/>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2" name="肘形连接符 191"/>
                    <p:cNvCxnSpPr/>
                    <p:nvPr/>
                  </p:nvCxnSpPr>
                  <p:spPr>
                    <a:xfrm rot="5400000">
                      <a:off x="3098801" y="2651125"/>
                      <a:ext cx="130175" cy="79375"/>
                    </a:xfrm>
                    <a:prstGeom prst="bentConnector3">
                      <a:avLst>
                        <a:gd name="adj1" fmla="val 1220"/>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4" name="组合 203"/>
                  <p:cNvGrpSpPr/>
                  <p:nvPr/>
                </p:nvGrpSpPr>
                <p:grpSpPr>
                  <a:xfrm>
                    <a:off x="4020325" y="2441575"/>
                    <a:ext cx="1853428" cy="316707"/>
                    <a:chOff x="4020325" y="2441575"/>
                    <a:chExt cx="1853428" cy="316707"/>
                  </a:xfrm>
                </p:grpSpPr>
                <p:cxnSp>
                  <p:nvCxnSpPr>
                    <p:cNvPr id="194" name="形状 193"/>
                    <p:cNvCxnSpPr/>
                    <p:nvPr/>
                  </p:nvCxnSpPr>
                  <p:spPr>
                    <a:xfrm rot="16200000" flipH="1">
                      <a:off x="4740325" y="1721575"/>
                      <a:ext cx="180000" cy="1620000"/>
                    </a:xfrm>
                    <a:prstGeom prst="bentConnector2">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6" name="肘形连接符 195"/>
                    <p:cNvCxnSpPr/>
                    <p:nvPr/>
                  </p:nvCxnSpPr>
                  <p:spPr>
                    <a:xfrm rot="10800000">
                      <a:off x="5600701" y="2621760"/>
                      <a:ext cx="273052" cy="136522"/>
                    </a:xfrm>
                    <a:prstGeom prst="bentConnector3">
                      <a:avLst>
                        <a:gd name="adj1" fmla="val 0"/>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85" name="矩形 184"/>
                  <p:cNvSpPr/>
                  <p:nvPr/>
                </p:nvSpPr>
                <p:spPr>
                  <a:xfrm>
                    <a:off x="3721100" y="2216150"/>
                    <a:ext cx="400050" cy="2286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mn-ea"/>
                        <a:cs typeface="Times New Roman" panose="02020603050405020304" pitchFamily="18" charset="0"/>
                      </a:rPr>
                      <a:t>≥</a:t>
                    </a:r>
                    <a:r>
                      <a:rPr lang="en-US" altLang="zh-CN" sz="1400" b="1" dirty="0">
                        <a:solidFill>
                          <a:schemeClr val="tx1"/>
                        </a:solidFill>
                        <a:latin typeface="Times New Roman" panose="02020603050405020304" pitchFamily="18" charset="0"/>
                        <a:cs typeface="Times New Roman" panose="02020603050405020304" pitchFamily="18" charset="0"/>
                      </a:rPr>
                      <a:t>1</a:t>
                    </a:r>
                    <a:endParaRPr lang="zh-CN" altLang="en-US" sz="1400" b="1" dirty="0">
                      <a:solidFill>
                        <a:schemeClr val="tx1"/>
                      </a:solidFill>
                      <a:latin typeface="Times New Roman" panose="02020603050405020304" pitchFamily="18" charset="0"/>
                      <a:cs typeface="Times New Roman" panose="02020603050405020304" pitchFamily="18" charset="0"/>
                    </a:endParaRPr>
                  </a:p>
                </p:txBody>
              </p:sp>
              <p:sp>
                <p:nvSpPr>
                  <p:cNvPr id="186" name="矩形 185"/>
                  <p:cNvSpPr/>
                  <p:nvPr/>
                </p:nvSpPr>
                <p:spPr>
                  <a:xfrm>
                    <a:off x="5029200" y="2216150"/>
                    <a:ext cx="400050" cy="228600"/>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200" b="1" dirty="0">
                        <a:solidFill>
                          <a:schemeClr val="tx1"/>
                        </a:solidFill>
                        <a:latin typeface="Times New Roman" panose="02020603050405020304" pitchFamily="18" charset="0"/>
                        <a:cs typeface="Times New Roman" panose="02020603050405020304" pitchFamily="18" charset="0"/>
                      </a:rPr>
                      <a:t>&amp;</a:t>
                    </a:r>
                    <a:endParaRPr lang="zh-CN" altLang="en-US" sz="1400" b="1" dirty="0">
                      <a:solidFill>
                        <a:schemeClr val="tx1"/>
                      </a:solidFill>
                      <a:latin typeface="Times New Roman" panose="02020603050405020304" pitchFamily="18" charset="0"/>
                      <a:cs typeface="Times New Roman" panose="02020603050405020304" pitchFamily="18" charset="0"/>
                    </a:endParaRPr>
                  </a:p>
                </p:txBody>
              </p:sp>
              <p:cxnSp>
                <p:nvCxnSpPr>
                  <p:cNvPr id="207" name="直接连接符 206"/>
                  <p:cNvCxnSpPr/>
                  <p:nvPr/>
                </p:nvCxnSpPr>
                <p:spPr>
                  <a:xfrm flipV="1">
                    <a:off x="5213350" y="2067297"/>
                    <a:ext cx="0" cy="1440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10" name="TextBox 209"/>
              <p:cNvSpPr txBox="1"/>
              <p:nvPr/>
            </p:nvSpPr>
            <p:spPr>
              <a:xfrm>
                <a:off x="3206617" y="3148678"/>
                <a:ext cx="471604" cy="400110"/>
              </a:xfrm>
              <a:prstGeom prst="rect">
                <a:avLst/>
              </a:prstGeom>
              <a:noFill/>
            </p:spPr>
            <p:txBody>
              <a:bodyPr wrap="none" rtlCol="0">
                <a:spAutoFit/>
              </a:bodyPr>
              <a:lstStyle/>
              <a:p>
                <a:r>
                  <a:rPr lang="en-US" altLang="zh-CN" sz="2000" dirty="0"/>
                  <a:t>(0)</a:t>
                </a:r>
                <a:endParaRPr lang="zh-CN" altLang="en-US" sz="2000" dirty="0"/>
              </a:p>
            </p:txBody>
          </p:sp>
          <p:sp>
            <p:nvSpPr>
              <p:cNvPr id="211" name="TextBox 210"/>
              <p:cNvSpPr txBox="1"/>
              <p:nvPr/>
            </p:nvSpPr>
            <p:spPr>
              <a:xfrm>
                <a:off x="5936710" y="3152128"/>
                <a:ext cx="471604" cy="400110"/>
              </a:xfrm>
              <a:prstGeom prst="rect">
                <a:avLst/>
              </a:prstGeom>
              <a:noFill/>
            </p:spPr>
            <p:txBody>
              <a:bodyPr wrap="none" rtlCol="0">
                <a:spAutoFit/>
              </a:bodyPr>
              <a:lstStyle/>
              <a:p>
                <a:r>
                  <a:rPr lang="en-US" altLang="zh-CN" sz="2000" dirty="0"/>
                  <a:t>(1)</a:t>
                </a:r>
                <a:endParaRPr lang="zh-CN" altLang="en-US" sz="2000" dirty="0"/>
              </a:p>
            </p:txBody>
          </p:sp>
        </p:grpSp>
        <p:sp>
          <p:nvSpPr>
            <p:cNvPr id="223" name="TextBox 133"/>
            <p:cNvSpPr txBox="1"/>
            <p:nvPr/>
          </p:nvSpPr>
          <p:spPr>
            <a:xfrm>
              <a:off x="4470964" y="1967195"/>
              <a:ext cx="400050" cy="233397"/>
            </a:xfrm>
            <a:prstGeom prst="rect">
              <a:avLst/>
            </a:prstGeom>
            <a:noFill/>
          </p:spPr>
          <p:txBody>
            <a:bodyPr wrap="square" rtlCol="0">
              <a:spAutoFit/>
            </a:bodyPr>
            <a:lstStyle/>
            <a:p>
              <a:pPr>
                <a:lnSpc>
                  <a:spcPts val="1100"/>
                </a:lnSpc>
              </a:pPr>
              <a:r>
                <a:rPr lang="en-US" altLang="zh-CN" sz="1100" b="1" i="1" dirty="0">
                  <a:latin typeface="Times New Roman" panose="02020603050405020304" pitchFamily="18" charset="0"/>
                  <a:cs typeface="Times New Roman" panose="02020603050405020304" pitchFamily="18" charset="0"/>
                </a:rPr>
                <a:t>W</a:t>
              </a:r>
              <a:endParaRPr lang="zh-CN" altLang="en-US" sz="1100" b="1" baseline="-25000" dirty="0">
                <a:latin typeface="Times New Roman" panose="02020603050405020304" pitchFamily="18" charset="0"/>
                <a:cs typeface="Times New Roman" panose="02020603050405020304" pitchFamily="18" charset="0"/>
              </a:endParaRPr>
            </a:p>
          </p:txBody>
        </p:sp>
      </p:grpSp>
      <p:grpSp>
        <p:nvGrpSpPr>
          <p:cNvPr id="7" name="组合 17"/>
          <p:cNvGrpSpPr/>
          <p:nvPr/>
        </p:nvGrpSpPr>
        <p:grpSpPr>
          <a:xfrm>
            <a:off x="392432" y="769746"/>
            <a:ext cx="4933552" cy="420971"/>
            <a:chOff x="670560" y="892917"/>
            <a:chExt cx="4933552" cy="420971"/>
          </a:xfrm>
        </p:grpSpPr>
        <p:sp>
          <p:nvSpPr>
            <p:cNvPr id="70" name="矩形 69"/>
            <p:cNvSpPr/>
            <p:nvPr/>
          </p:nvSpPr>
          <p:spPr>
            <a:xfrm>
              <a:off x="1035233" y="913778"/>
              <a:ext cx="4568879"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集成数据选择器的应用（</a:t>
              </a:r>
              <a:r>
                <a:rPr lang="en-US" altLang="zh-CN" sz="2000" b="1" dirty="0">
                  <a:solidFill>
                    <a:srgbClr val="FF00FF"/>
                  </a:solidFill>
                  <a:latin typeface="微软雅黑" panose="020B0503020204020204" pitchFamily="34" charset="-122"/>
                  <a:ea typeface="微软雅黑" panose="020B0503020204020204" pitchFamily="34" charset="-122"/>
                </a:rPr>
                <a:t>74151</a:t>
              </a:r>
              <a:r>
                <a:rPr lang="zh-CN" altLang="en-US" sz="2000" b="1" dirty="0">
                  <a:solidFill>
                    <a:srgbClr val="FF00FF"/>
                  </a:solidFill>
                  <a:latin typeface="微软雅黑" panose="020B0503020204020204" pitchFamily="34" charset="-122"/>
                  <a:ea typeface="微软雅黑" panose="020B0503020204020204" pitchFamily="34" charset="-122"/>
                </a:rPr>
                <a:t>为例</a:t>
              </a:r>
              <a:r>
                <a:rPr lang="zh-CN" altLang="en-US" sz="2000" b="1" dirty="0">
                  <a:solidFill>
                    <a:srgbClr val="002060"/>
                  </a:solidFill>
                  <a:latin typeface="微软雅黑" panose="020B0503020204020204" pitchFamily="34" charset="-122"/>
                  <a:ea typeface="微软雅黑" panose="020B0503020204020204" pitchFamily="34" charset="-122"/>
                </a:rPr>
                <a: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71" name="Picture 3"/>
            <p:cNvPicPr>
              <a:picLocks noChangeAspect="1" noChangeArrowheads="1"/>
            </p:cNvPicPr>
            <p:nvPr/>
          </p:nvPicPr>
          <p:blipFill>
            <a:blip r:embed="rId2"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17" name="Rectangle 27"/>
          <p:cNvSpPr>
            <a:spLocks noChangeArrowheads="1"/>
          </p:cNvSpPr>
          <p:nvPr/>
        </p:nvSpPr>
        <p:spPr bwMode="auto">
          <a:xfrm>
            <a:off x="577511" y="1237292"/>
            <a:ext cx="3018212" cy="369332"/>
          </a:xfrm>
          <a:prstGeom prst="rect">
            <a:avLst/>
          </a:prstGeom>
          <a:noFill/>
          <a:ln w="9525" algn="ctr">
            <a:noFill/>
            <a:miter lim="800000"/>
          </a:ln>
          <a:effectLst/>
        </p:spPr>
        <p:txBody>
          <a:bodyPr wrap="square" lIns="0" rIns="0">
            <a:spAutoFit/>
          </a:bodyPr>
          <a:lstStyle/>
          <a:p>
            <a:pPr>
              <a:defRPr/>
            </a:pPr>
            <a:r>
              <a:rPr lang="en-US" altLang="zh-CN" b="1" dirty="0">
                <a:solidFill>
                  <a:srgbClr val="6600FF"/>
                </a:solidFill>
                <a:latin typeface="黑体" panose="02010609060101010101" pitchFamily="49" charset="-122"/>
                <a:ea typeface="黑体" panose="02010609060101010101" pitchFamily="49" charset="-122"/>
              </a:rPr>
              <a:t>1</a:t>
            </a:r>
            <a:r>
              <a:rPr lang="zh-CN" altLang="en-US" b="1" dirty="0">
                <a:solidFill>
                  <a:srgbClr val="6600FF"/>
                </a:solidFill>
                <a:latin typeface="黑体" panose="02010609060101010101" pitchFamily="49" charset="-122"/>
                <a:ea typeface="黑体" panose="02010609060101010101" pitchFamily="49" charset="-122"/>
              </a:rPr>
              <a:t>、数据选择器的扩展</a:t>
            </a:r>
            <a:endParaRPr lang="zh-CN" altLang="en-US" b="1" dirty="0">
              <a:solidFill>
                <a:srgbClr val="6600FF"/>
              </a:solidFill>
              <a:latin typeface="黑体" panose="02010609060101010101" pitchFamily="49" charset="-122"/>
              <a:ea typeface="黑体" panose="02010609060101010101" pitchFamily="49" charset="-122"/>
            </a:endParaRPr>
          </a:p>
        </p:txBody>
      </p:sp>
      <p:sp>
        <p:nvSpPr>
          <p:cNvPr id="182" name="十角星 181"/>
          <p:cNvSpPr/>
          <p:nvPr/>
        </p:nvSpPr>
        <p:spPr>
          <a:xfrm>
            <a:off x="3195099" y="1284896"/>
            <a:ext cx="1512542" cy="453762"/>
          </a:xfrm>
          <a:prstGeom prst="star10">
            <a:avLst/>
          </a:prstGeom>
          <a:solidFill>
            <a:srgbClr val="FFFF00"/>
          </a:solidFill>
          <a:ln w="38100">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rgbClr val="FF0000"/>
                </a:solidFill>
                <a:latin typeface="华文琥珀" panose="02010800040101010101" pitchFamily="2" charset="-122"/>
                <a:ea typeface="华文琥珀" panose="02010800040101010101" pitchFamily="2" charset="-122"/>
              </a:rPr>
              <a:t>字扩展</a:t>
            </a:r>
            <a:endParaRPr lang="zh-CN" altLang="en-US" dirty="0">
              <a:solidFill>
                <a:srgbClr val="FF0000"/>
              </a:solidFill>
              <a:latin typeface="华文琥珀" panose="02010800040101010101" pitchFamily="2" charset="-122"/>
              <a:ea typeface="华文琥珀" panose="02010800040101010101" pitchFamily="2" charset="-122"/>
            </a:endParaRPr>
          </a:p>
        </p:txBody>
      </p:sp>
      <p:sp>
        <p:nvSpPr>
          <p:cNvPr id="102" name="椭圆 101"/>
          <p:cNvSpPr/>
          <p:nvPr/>
        </p:nvSpPr>
        <p:spPr>
          <a:xfrm>
            <a:off x="1169383" y="4718361"/>
            <a:ext cx="315891" cy="333858"/>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solidFill>
                  <a:schemeClr val="bg1"/>
                </a:solidFill>
              </a:rPr>
              <a:t>1</a:t>
            </a:r>
            <a:endParaRPr lang="zh-CN" altLang="en-US" sz="1400" dirty="0">
              <a:solidFill>
                <a:schemeClr val="bg1"/>
              </a:solidFill>
            </a:endParaRPr>
          </a:p>
        </p:txBody>
      </p:sp>
      <p:sp>
        <p:nvSpPr>
          <p:cNvPr id="103" name="椭圆 102"/>
          <p:cNvSpPr/>
          <p:nvPr/>
        </p:nvSpPr>
        <p:spPr>
          <a:xfrm>
            <a:off x="1733889" y="3742842"/>
            <a:ext cx="200025" cy="209835"/>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solidFill>
                  <a:schemeClr val="bg1"/>
                </a:solidFill>
              </a:rPr>
              <a:t>1</a:t>
            </a:r>
            <a:endParaRPr lang="zh-CN" altLang="en-US" sz="1400" dirty="0">
              <a:solidFill>
                <a:schemeClr val="bg1"/>
              </a:solidFill>
            </a:endParaRPr>
          </a:p>
        </p:txBody>
      </p:sp>
      <p:sp>
        <p:nvSpPr>
          <p:cNvPr id="104" name="椭圆 103"/>
          <p:cNvSpPr/>
          <p:nvPr/>
        </p:nvSpPr>
        <p:spPr>
          <a:xfrm>
            <a:off x="4481820" y="3739165"/>
            <a:ext cx="200025" cy="20983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solidFill>
                  <a:srgbClr val="0000FF"/>
                </a:solidFill>
              </a:rPr>
              <a:t>0</a:t>
            </a:r>
            <a:endParaRPr lang="zh-CN" altLang="en-US" sz="1400" dirty="0">
              <a:solidFill>
                <a:srgbClr val="0000FF"/>
              </a:solidFill>
            </a:endParaRPr>
          </a:p>
        </p:txBody>
      </p:sp>
      <p:sp>
        <p:nvSpPr>
          <p:cNvPr id="105" name="TextBox 213"/>
          <p:cNvSpPr txBox="1"/>
          <p:nvPr/>
        </p:nvSpPr>
        <p:spPr>
          <a:xfrm>
            <a:off x="2539482" y="2973401"/>
            <a:ext cx="788276" cy="769441"/>
          </a:xfrm>
          <a:prstGeom prst="rect">
            <a:avLst/>
          </a:prstGeom>
          <a:noFill/>
        </p:spPr>
        <p:txBody>
          <a:bodyPr wrap="square" rtlCol="0">
            <a:spAutoFit/>
          </a:bodyPr>
          <a:lstStyle/>
          <a:p>
            <a:r>
              <a:rPr lang="en-US" altLang="zh-CN" sz="4400" dirty="0">
                <a:solidFill>
                  <a:srgbClr val="FF0000"/>
                </a:solidFill>
                <a:latin typeface="华文琥珀" panose="02010800040101010101" pitchFamily="2" charset="-122"/>
                <a:ea typeface="华文琥珀" panose="02010800040101010101" pitchFamily="2" charset="-122"/>
              </a:rPr>
              <a:t>×</a:t>
            </a:r>
            <a:endParaRPr lang="zh-CN" altLang="en-US" sz="4400" dirty="0">
              <a:solidFill>
                <a:srgbClr val="FF0000"/>
              </a:solidFill>
              <a:latin typeface="华文琥珀" panose="02010800040101010101" pitchFamily="2" charset="-122"/>
              <a:ea typeface="华文琥珀" panose="02010800040101010101" pitchFamily="2" charset="-122"/>
            </a:endParaRPr>
          </a:p>
        </p:txBody>
      </p:sp>
      <p:sp>
        <p:nvSpPr>
          <p:cNvPr id="106" name="TextBox 212"/>
          <p:cNvSpPr txBox="1"/>
          <p:nvPr/>
        </p:nvSpPr>
        <p:spPr>
          <a:xfrm>
            <a:off x="5262926" y="2947304"/>
            <a:ext cx="788276" cy="769441"/>
          </a:xfrm>
          <a:prstGeom prst="rect">
            <a:avLst/>
          </a:prstGeom>
          <a:noFill/>
        </p:spPr>
        <p:txBody>
          <a:bodyPr wrap="square" rtlCol="0">
            <a:spAutoFit/>
          </a:bodyPr>
          <a:lstStyle/>
          <a:p>
            <a:r>
              <a:rPr lang="zh-CN" altLang="en-US" sz="4400" dirty="0">
                <a:solidFill>
                  <a:srgbClr val="FF0000"/>
                </a:solidFill>
                <a:latin typeface="华文琥珀" panose="02010800040101010101" pitchFamily="2" charset="-122"/>
                <a:ea typeface="华文琥珀" panose="02010800040101010101" pitchFamily="2" charset="-122"/>
              </a:rPr>
              <a:t>√</a:t>
            </a:r>
            <a:endParaRPr lang="zh-CN" altLang="en-US" sz="4400" dirty="0">
              <a:solidFill>
                <a:srgbClr val="FF0000"/>
              </a:solidFill>
              <a:latin typeface="华文琥珀" panose="02010800040101010101" pitchFamily="2" charset="-122"/>
              <a:ea typeface="华文琥珀" panose="02010800040101010101" pitchFamily="2" charset="-122"/>
            </a:endParaRPr>
          </a:p>
        </p:txBody>
      </p:sp>
      <p:sp>
        <p:nvSpPr>
          <p:cNvPr id="109" name="圆角矩形 230"/>
          <p:cNvSpPr/>
          <p:nvPr/>
        </p:nvSpPr>
        <p:spPr>
          <a:xfrm>
            <a:off x="4772328" y="4025445"/>
            <a:ext cx="1827530" cy="232410"/>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34" name="表格 133"/>
          <p:cNvGraphicFramePr>
            <a:graphicFrameLocks noGrp="1"/>
          </p:cNvGraphicFramePr>
          <p:nvPr/>
        </p:nvGraphicFramePr>
        <p:xfrm>
          <a:off x="7002515" y="1897552"/>
          <a:ext cx="1755365" cy="1744280"/>
        </p:xfrm>
        <a:graphic>
          <a:graphicData uri="http://schemas.openxmlformats.org/drawingml/2006/table">
            <a:tbl>
              <a:tblPr firstRow="1" bandRow="1">
                <a:tableStyleId>{5C22544A-7EE6-4342-B048-85BDC9FD1C3A}</a:tableStyleId>
              </a:tblPr>
              <a:tblGrid>
                <a:gridCol w="351073"/>
                <a:gridCol w="351073"/>
                <a:gridCol w="351073"/>
                <a:gridCol w="351073"/>
                <a:gridCol w="351073"/>
              </a:tblGrid>
              <a:tr h="348856">
                <a:tc>
                  <a:txBody>
                    <a:bodyPr/>
                    <a:lstStyle/>
                    <a:p>
                      <a:pPr algn="ctr"/>
                      <a:r>
                        <a:rPr lang="en-US" altLang="zh-CN" sz="1600" b="1" i="1" dirty="0">
                          <a:latin typeface="Times New Roman" panose="02020603050405020304" pitchFamily="18" charset="0"/>
                          <a:cs typeface="Times New Roman" panose="02020603050405020304" pitchFamily="18" charset="0"/>
                        </a:rPr>
                        <a:t>S</a:t>
                      </a:r>
                      <a:r>
                        <a:rPr lang="en-US" altLang="zh-CN" sz="1600" b="1" baseline="-25000" dirty="0">
                          <a:latin typeface="Times New Roman" panose="02020603050405020304" pitchFamily="18" charset="0"/>
                          <a:cs typeface="Times New Roman" panose="02020603050405020304" pitchFamily="18" charset="0"/>
                        </a:rPr>
                        <a:t>3 </a:t>
                      </a:r>
                      <a:endParaRPr lang="zh-CN" altLang="en-US" sz="1600" b="1" dirty="0"/>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b="1" i="1" dirty="0">
                          <a:latin typeface="Times New Roman" panose="02020603050405020304" pitchFamily="18" charset="0"/>
                          <a:cs typeface="Times New Roman" panose="02020603050405020304" pitchFamily="18" charset="0"/>
                        </a:rPr>
                        <a:t>S</a:t>
                      </a:r>
                      <a:r>
                        <a:rPr lang="en-US" altLang="zh-CN" sz="1600" b="1" baseline="-25000" dirty="0">
                          <a:latin typeface="Times New Roman" panose="02020603050405020304" pitchFamily="18" charset="0"/>
                          <a:cs typeface="Times New Roman" panose="02020603050405020304" pitchFamily="18" charset="0"/>
                        </a:rPr>
                        <a:t>2</a:t>
                      </a:r>
                      <a:endParaRPr lang="zh-CN" altLang="en-US" sz="1600" b="1"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b="1" i="1" dirty="0">
                          <a:latin typeface="Times New Roman" panose="02020603050405020304" pitchFamily="18" charset="0"/>
                          <a:cs typeface="Times New Roman" panose="02020603050405020304" pitchFamily="18" charset="0"/>
                        </a:rPr>
                        <a:t>S</a:t>
                      </a:r>
                      <a:r>
                        <a:rPr lang="en-US" altLang="zh-CN" sz="1600" b="1" baseline="-25000" dirty="0">
                          <a:latin typeface="Times New Roman" panose="02020603050405020304" pitchFamily="18" charset="0"/>
                          <a:cs typeface="Times New Roman" panose="02020603050405020304" pitchFamily="18" charset="0"/>
                        </a:rPr>
                        <a:t>1</a:t>
                      </a:r>
                      <a:endParaRPr lang="zh-CN" altLang="en-US" sz="1600" b="1"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b="1" i="1" dirty="0">
                          <a:latin typeface="Times New Roman" panose="02020603050405020304" pitchFamily="18" charset="0"/>
                          <a:cs typeface="Times New Roman" panose="02020603050405020304" pitchFamily="18" charset="0"/>
                        </a:rPr>
                        <a:t>S</a:t>
                      </a:r>
                      <a:r>
                        <a:rPr lang="en-US" altLang="zh-CN" sz="1600" b="1" baseline="-25000" dirty="0">
                          <a:latin typeface="Times New Roman" panose="02020603050405020304" pitchFamily="18" charset="0"/>
                          <a:cs typeface="Times New Roman" panose="02020603050405020304" pitchFamily="18" charset="0"/>
                        </a:rPr>
                        <a:t>0</a:t>
                      </a:r>
                      <a:endParaRPr lang="zh-CN" altLang="en-US" sz="1600" b="1"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altLang="zh-CN" sz="1600" b="1" i="1" dirty="0">
                          <a:latin typeface="Times New Roman" panose="02020603050405020304" pitchFamily="18" charset="0"/>
                          <a:cs typeface="Times New Roman" panose="02020603050405020304" pitchFamily="18" charset="0"/>
                        </a:rPr>
                        <a:t>Y</a:t>
                      </a:r>
                      <a:endParaRPr lang="zh-CN" altLang="en-US" sz="1600" b="1" i="1" dirty="0">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48856">
                <a:tc rowSpan="4">
                  <a:txBody>
                    <a:bodyPr/>
                    <a:lstStyle/>
                    <a:p>
                      <a:pPr algn="ctr"/>
                      <a:r>
                        <a:rPr lang="en-US" altLang="zh-CN" sz="1600" b="1" dirty="0"/>
                        <a:t>0</a:t>
                      </a:r>
                      <a:endParaRPr lang="zh-CN" altLang="en-US" sz="1600" b="1" dirty="0"/>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2D050"/>
                    </a:solidFill>
                  </a:tcPr>
                </a:tc>
                <a:tc>
                  <a:txBody>
                    <a:bodyPr/>
                    <a:lstStyle/>
                    <a:p>
                      <a:pPr algn="ctr"/>
                      <a:r>
                        <a:rPr lang="en-US" altLang="zh-CN" sz="1600" b="1" dirty="0"/>
                        <a:t>0</a:t>
                      </a:r>
                      <a:endParaRPr lang="zh-CN" altLang="en-US" sz="1600" b="1"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algn="ctr"/>
                      <a:r>
                        <a:rPr lang="en-US" altLang="zh-CN" sz="1600" b="1" dirty="0"/>
                        <a:t>0</a:t>
                      </a:r>
                      <a:endParaRPr lang="zh-CN" altLang="en-US" sz="1600" b="1"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algn="ctr"/>
                      <a:r>
                        <a:rPr lang="en-US" altLang="zh-CN" sz="1600" b="1" dirty="0"/>
                        <a:t>0</a:t>
                      </a:r>
                      <a:endParaRPr lang="zh-CN" altLang="en-US" sz="1600" b="1"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algn="ctr"/>
                      <a:r>
                        <a:rPr lang="en-US" altLang="zh-CN" sz="1600" b="1" i="1" dirty="0">
                          <a:latin typeface="Times New Roman" panose="02020603050405020304" pitchFamily="18" charset="0"/>
                          <a:cs typeface="Times New Roman" panose="02020603050405020304" pitchFamily="18" charset="0"/>
                        </a:rPr>
                        <a:t>D</a:t>
                      </a:r>
                      <a:r>
                        <a:rPr lang="en-US" altLang="zh-CN" sz="1600" b="1" baseline="-25000" dirty="0">
                          <a:latin typeface="Times New Roman" panose="02020603050405020304" pitchFamily="18" charset="0"/>
                          <a:cs typeface="Times New Roman" panose="02020603050405020304" pitchFamily="18" charset="0"/>
                        </a:rPr>
                        <a:t>0</a:t>
                      </a:r>
                      <a:endParaRPr lang="zh-CN" altLang="en-US" sz="1600" b="1" baseline="-25000" dirty="0">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66FFCC"/>
                    </a:solidFill>
                  </a:tcPr>
                </a:tc>
              </a:tr>
              <a:tr h="348856">
                <a:tc vMerge="1">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1" dirty="0"/>
                        <a:t>0</a:t>
                      </a:r>
                      <a:endParaRPr lang="zh-CN" altLang="en-US" sz="1600" b="1"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algn="ctr"/>
                      <a:r>
                        <a:rPr lang="en-US" altLang="zh-CN" sz="1600" b="1" dirty="0"/>
                        <a:t>0</a:t>
                      </a:r>
                      <a:endParaRPr lang="zh-CN" altLang="en-US" sz="1600" b="1"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algn="ctr"/>
                      <a:r>
                        <a:rPr lang="en-US" altLang="zh-CN" sz="1600" b="1" dirty="0"/>
                        <a:t>1</a:t>
                      </a:r>
                      <a:endParaRPr lang="zh-CN" altLang="en-US" sz="1600" b="1"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algn="ctr"/>
                      <a:r>
                        <a:rPr lang="en-US" altLang="zh-CN" sz="1600" b="1" i="1" dirty="0">
                          <a:latin typeface="Times New Roman" panose="02020603050405020304" pitchFamily="18" charset="0"/>
                          <a:cs typeface="Times New Roman" panose="02020603050405020304" pitchFamily="18" charset="0"/>
                        </a:rPr>
                        <a:t>D</a:t>
                      </a:r>
                      <a:r>
                        <a:rPr lang="en-US" altLang="zh-CN" sz="1600" b="1" baseline="-25000" dirty="0">
                          <a:latin typeface="Times New Roman" panose="02020603050405020304" pitchFamily="18" charset="0"/>
                          <a:cs typeface="Times New Roman" panose="02020603050405020304" pitchFamily="18" charset="0"/>
                        </a:rPr>
                        <a:t>1</a:t>
                      </a:r>
                      <a:endParaRPr lang="zh-CN" altLang="en-US" sz="1600" b="1"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66FFCC"/>
                    </a:solidFill>
                  </a:tcPr>
                </a:tc>
              </a:tr>
              <a:tr h="348856">
                <a:tc vMerge="1">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CN" sz="1600" b="1" dirty="0"/>
                        <a:t>…</a:t>
                      </a:r>
                      <a:endParaRPr lang="zh-CN" altLang="en-US" sz="1600" b="1" dirty="0"/>
                    </a:p>
                  </a:txBody>
                  <a:tcPr marL="0" marR="0" marT="0" marB="0" vert="eaVert">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marL="0" marR="0" indent="0" algn="dist" defTabSz="914400" rtl="0" eaLnBrk="1" fontAlgn="auto" latinLnBrk="0" hangingPunct="1">
                        <a:lnSpc>
                          <a:spcPct val="100000"/>
                        </a:lnSpc>
                        <a:spcBef>
                          <a:spcPts val="0"/>
                        </a:spcBef>
                        <a:spcAft>
                          <a:spcPts val="0"/>
                        </a:spcAft>
                        <a:buClrTx/>
                        <a:buSzTx/>
                        <a:buFontTx/>
                        <a:buNone/>
                        <a:defRPr/>
                      </a:pPr>
                      <a:r>
                        <a:rPr lang="en-US" altLang="zh-CN" sz="1600" b="1" dirty="0"/>
                        <a:t>…</a:t>
                      </a:r>
                      <a:endParaRPr lang="zh-CN" altLang="en-US" sz="1600" b="1" dirty="0"/>
                    </a:p>
                  </a:txBody>
                  <a:tcPr marL="0" marR="0" marT="0" marB="0" vert="eaVert">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marL="0" marR="0" indent="0" algn="dist" defTabSz="914400" rtl="0" eaLnBrk="1" fontAlgn="auto" latinLnBrk="0" hangingPunct="1">
                        <a:lnSpc>
                          <a:spcPct val="100000"/>
                        </a:lnSpc>
                        <a:spcBef>
                          <a:spcPts val="0"/>
                        </a:spcBef>
                        <a:spcAft>
                          <a:spcPts val="0"/>
                        </a:spcAft>
                        <a:buClrTx/>
                        <a:buSzTx/>
                        <a:buFontTx/>
                        <a:buNone/>
                        <a:defRPr/>
                      </a:pPr>
                      <a:r>
                        <a:rPr lang="en-US" altLang="zh-CN" sz="1600" b="1" dirty="0"/>
                        <a:t>…</a:t>
                      </a:r>
                      <a:endParaRPr lang="zh-CN" altLang="en-US" sz="1600" b="1" dirty="0"/>
                    </a:p>
                  </a:txBody>
                  <a:tcPr marL="0" marR="0" marT="0" marB="0" vert="eaVert">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b="1" dirty="0"/>
                        <a:t>…</a:t>
                      </a:r>
                      <a:endParaRPr lang="zh-CN" altLang="en-US" sz="1600" b="1" dirty="0"/>
                    </a:p>
                  </a:txBody>
                  <a:tcPr marL="0" marR="0" marT="0" marB="0" vert="eaVe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66FFCC"/>
                    </a:solidFill>
                  </a:tcPr>
                </a:tc>
              </a:tr>
              <a:tr h="348856">
                <a:tc vMerge="1">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1" dirty="0"/>
                        <a:t>1</a:t>
                      </a:r>
                      <a:endParaRPr lang="zh-CN" altLang="en-US" sz="1600" b="1"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algn="ctr"/>
                      <a:r>
                        <a:rPr lang="en-US" altLang="zh-CN" sz="1600" b="1" dirty="0"/>
                        <a:t>1</a:t>
                      </a:r>
                      <a:endParaRPr lang="zh-CN" altLang="en-US" sz="1600" b="1"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algn="ctr"/>
                      <a:r>
                        <a:rPr lang="en-US" altLang="zh-CN" sz="1600" b="1" dirty="0"/>
                        <a:t>1</a:t>
                      </a:r>
                      <a:endParaRPr lang="zh-CN" altLang="en-US" sz="1600" b="1"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6FFCC"/>
                    </a:solidFill>
                  </a:tcPr>
                </a:tc>
                <a:tc>
                  <a:txBody>
                    <a:bodyPr/>
                    <a:lstStyle/>
                    <a:p>
                      <a:pPr algn="ctr"/>
                      <a:r>
                        <a:rPr lang="en-US" altLang="zh-CN" sz="1600" b="1" i="1" dirty="0">
                          <a:latin typeface="Times New Roman" panose="02020603050405020304" pitchFamily="18" charset="0"/>
                          <a:cs typeface="Times New Roman" panose="02020603050405020304" pitchFamily="18" charset="0"/>
                        </a:rPr>
                        <a:t>D</a:t>
                      </a:r>
                      <a:r>
                        <a:rPr lang="en-US" altLang="zh-CN" sz="1600" b="1" baseline="-25000" dirty="0">
                          <a:latin typeface="Times New Roman" panose="02020603050405020304" pitchFamily="18" charset="0"/>
                          <a:cs typeface="Times New Roman" panose="02020603050405020304" pitchFamily="18" charset="0"/>
                        </a:rPr>
                        <a:t>7</a:t>
                      </a:r>
                      <a:endParaRPr lang="zh-CN" altLang="en-US" sz="1600" b="1" dirty="0"/>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66FFCC"/>
                    </a:solidFill>
                  </a:tcPr>
                </a:tc>
              </a:tr>
            </a:tbl>
          </a:graphicData>
        </a:graphic>
      </p:graphicFrame>
      <p:sp>
        <p:nvSpPr>
          <p:cNvPr id="91" name="椭圆 90"/>
          <p:cNvSpPr/>
          <p:nvPr/>
        </p:nvSpPr>
        <p:spPr>
          <a:xfrm>
            <a:off x="2539393" y="2980589"/>
            <a:ext cx="200025" cy="209835"/>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solidFill>
                  <a:srgbClr val="FF0000"/>
                </a:solidFill>
              </a:rPr>
              <a:t>0</a:t>
            </a:r>
            <a:endParaRPr lang="zh-CN" altLang="en-US" sz="1400" dirty="0">
              <a:solidFill>
                <a:srgbClr val="FF0000"/>
              </a:solidFill>
            </a:endParaRPr>
          </a:p>
        </p:txBody>
      </p:sp>
      <p:sp>
        <p:nvSpPr>
          <p:cNvPr id="92" name="椭圆 91"/>
          <p:cNvSpPr/>
          <p:nvPr/>
        </p:nvSpPr>
        <p:spPr>
          <a:xfrm>
            <a:off x="2998196" y="3000968"/>
            <a:ext cx="200025" cy="209835"/>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t>1</a:t>
            </a:r>
            <a:endParaRPr lang="zh-CN" altLang="en-US" sz="1400" dirty="0"/>
          </a:p>
        </p:txBody>
      </p:sp>
      <p:graphicFrame>
        <p:nvGraphicFramePr>
          <p:cNvPr id="94" name="表格 93"/>
          <p:cNvGraphicFramePr>
            <a:graphicFrameLocks noGrp="1"/>
          </p:cNvGraphicFramePr>
          <p:nvPr/>
        </p:nvGraphicFramePr>
        <p:xfrm>
          <a:off x="7002516" y="3647538"/>
          <a:ext cx="1755365" cy="1413192"/>
        </p:xfrm>
        <a:graphic>
          <a:graphicData uri="http://schemas.openxmlformats.org/drawingml/2006/table">
            <a:tbl>
              <a:tblPr firstRow="1" bandRow="1">
                <a:tableStyleId>{5C22544A-7EE6-4342-B048-85BDC9FD1C3A}</a:tableStyleId>
              </a:tblPr>
              <a:tblGrid>
                <a:gridCol w="351073"/>
                <a:gridCol w="351073"/>
                <a:gridCol w="351073"/>
                <a:gridCol w="351073"/>
                <a:gridCol w="351073"/>
              </a:tblGrid>
              <a:tr h="353298">
                <a:tc rowSpan="4">
                  <a:txBody>
                    <a:bodyPr/>
                    <a:lstStyle/>
                    <a:p>
                      <a:pPr algn="ctr"/>
                      <a:r>
                        <a:rPr lang="en-US" altLang="zh-CN" sz="1600" b="1" dirty="0">
                          <a:solidFill>
                            <a:schemeClr val="tx1"/>
                          </a:solidFill>
                        </a:rPr>
                        <a:t>1</a:t>
                      </a:r>
                      <a:endParaRPr lang="zh-CN" altLang="en-US" sz="1600" b="1" dirty="0"/>
                    </a:p>
                  </a:txBody>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00FF"/>
                    </a:solidFill>
                  </a:tcPr>
                </a:tc>
                <a:tc>
                  <a:txBody>
                    <a:bodyPr/>
                    <a:lstStyle/>
                    <a:p>
                      <a:pPr algn="ctr"/>
                      <a:r>
                        <a:rPr lang="en-US" altLang="zh-CN" sz="1600" b="1" kern="1200" dirty="0">
                          <a:solidFill>
                            <a:schemeClr val="dk1"/>
                          </a:solidFill>
                          <a:latin typeface="+mn-lt"/>
                          <a:ea typeface="+mn-ea"/>
                          <a:cs typeface="+mn-cs"/>
                        </a:rPr>
                        <a:t>0</a:t>
                      </a:r>
                      <a:endParaRPr lang="zh-CN" altLang="en-US" sz="1600" b="1" kern="1200" dirty="0">
                        <a:solidFill>
                          <a:schemeClr val="dk1"/>
                        </a:solidFill>
                        <a:latin typeface="+mn-lt"/>
                        <a:ea typeface="+mn-ea"/>
                        <a:cs typeface="+mn-cs"/>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CN" sz="1600" b="1" kern="1200" dirty="0">
                          <a:solidFill>
                            <a:schemeClr val="dk1"/>
                          </a:solidFill>
                          <a:latin typeface="+mn-lt"/>
                          <a:ea typeface="+mn-ea"/>
                          <a:cs typeface="+mn-cs"/>
                        </a:rPr>
                        <a:t>0</a:t>
                      </a:r>
                      <a:endParaRPr lang="zh-CN" altLang="en-US" sz="1600" b="1" kern="1200" dirty="0">
                        <a:solidFill>
                          <a:schemeClr val="dk1"/>
                        </a:solidFill>
                        <a:latin typeface="+mn-lt"/>
                        <a:ea typeface="+mn-ea"/>
                        <a:cs typeface="+mn-cs"/>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CN" sz="1600" b="1" kern="1200" dirty="0">
                          <a:solidFill>
                            <a:schemeClr val="dk1"/>
                          </a:solidFill>
                          <a:latin typeface="+mn-lt"/>
                          <a:ea typeface="+mn-ea"/>
                          <a:cs typeface="+mn-cs"/>
                        </a:rPr>
                        <a:t>0</a:t>
                      </a:r>
                      <a:endParaRPr lang="zh-CN" altLang="en-US" sz="1600" b="1" kern="1200" dirty="0">
                        <a:solidFill>
                          <a:schemeClr val="dk1"/>
                        </a:solidFill>
                        <a:latin typeface="+mn-lt"/>
                        <a:ea typeface="+mn-ea"/>
                        <a:cs typeface="+mn-cs"/>
                      </a:endParaRPr>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CN" sz="1600" b="1" i="1" kern="1200" dirty="0">
                          <a:solidFill>
                            <a:schemeClr val="dk1"/>
                          </a:solidFill>
                          <a:latin typeface="Times New Roman" panose="02020603050405020304" pitchFamily="18" charset="0"/>
                          <a:ea typeface="+mn-ea"/>
                          <a:cs typeface="Times New Roman" panose="02020603050405020304" pitchFamily="18" charset="0"/>
                        </a:rPr>
                        <a:t>D</a:t>
                      </a:r>
                      <a:r>
                        <a:rPr lang="en-US" altLang="zh-CN" sz="1600" b="1" kern="1200" baseline="-25000" dirty="0">
                          <a:solidFill>
                            <a:schemeClr val="dk1"/>
                          </a:solidFill>
                          <a:latin typeface="Times New Roman" panose="02020603050405020304" pitchFamily="18" charset="0"/>
                          <a:ea typeface="+mn-ea"/>
                          <a:cs typeface="Times New Roman" panose="02020603050405020304" pitchFamily="18" charset="0"/>
                        </a:rPr>
                        <a:t>8</a:t>
                      </a:r>
                      <a:endParaRPr lang="zh-CN" altLang="en-US" sz="1600" b="1" kern="1200" baseline="-25000" dirty="0">
                        <a:solidFill>
                          <a:schemeClr val="dk1"/>
                        </a:solidFill>
                        <a:latin typeface="Times New Roman" panose="02020603050405020304" pitchFamily="18" charset="0"/>
                        <a:ea typeface="+mn-ea"/>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solidFill>
                      <a:srgbClr val="FFFF00"/>
                    </a:solidFill>
                  </a:tcPr>
                </a:tc>
              </a:tr>
              <a:tr h="353298">
                <a:tc vMerge="1">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1" dirty="0"/>
                        <a:t>0</a:t>
                      </a:r>
                      <a:endParaRPr lang="zh-CN" altLang="en-US" sz="1600" b="1"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CN" sz="1600" b="1" dirty="0"/>
                        <a:t>0</a:t>
                      </a:r>
                      <a:endParaRPr lang="zh-CN" altLang="en-US" sz="1600" b="1"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CN" sz="1600" b="1" dirty="0"/>
                        <a:t>1</a:t>
                      </a:r>
                      <a:endParaRPr lang="zh-CN" altLang="en-US" sz="1600" b="1"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CN" sz="1600" b="1" i="1" dirty="0">
                          <a:latin typeface="Times New Roman" panose="02020603050405020304" pitchFamily="18" charset="0"/>
                          <a:cs typeface="Times New Roman" panose="02020603050405020304" pitchFamily="18" charset="0"/>
                        </a:rPr>
                        <a:t>D</a:t>
                      </a:r>
                      <a:r>
                        <a:rPr lang="en-US" altLang="zh-CN" sz="1600" b="1" baseline="-25000" dirty="0">
                          <a:latin typeface="Times New Roman" panose="02020603050405020304" pitchFamily="18" charset="0"/>
                          <a:cs typeface="Times New Roman" panose="02020603050405020304" pitchFamily="18" charset="0"/>
                        </a:rPr>
                        <a:t>9</a:t>
                      </a:r>
                      <a:endParaRPr lang="zh-CN" altLang="en-US" sz="1600" b="1" dirty="0">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00"/>
                    </a:solidFill>
                  </a:tcPr>
                </a:tc>
              </a:tr>
              <a:tr h="353298">
                <a:tc vMerge="1">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dist"/>
                      <a:r>
                        <a:rPr lang="en-US" altLang="zh-CN" sz="1600" b="1" dirty="0"/>
                        <a:t>…</a:t>
                      </a:r>
                      <a:endParaRPr lang="zh-CN" altLang="en-US" sz="1600" b="1" dirty="0"/>
                    </a:p>
                  </a:txBody>
                  <a:tcPr marL="0" marR="0" marT="0" marB="0" vert="eaVert">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indent="0" algn="dist" defTabSz="914400" rtl="0" eaLnBrk="1" fontAlgn="auto" latinLnBrk="0" hangingPunct="1">
                        <a:lnSpc>
                          <a:spcPct val="100000"/>
                        </a:lnSpc>
                        <a:spcBef>
                          <a:spcPts val="0"/>
                        </a:spcBef>
                        <a:spcAft>
                          <a:spcPts val="0"/>
                        </a:spcAft>
                        <a:buClrTx/>
                        <a:buSzTx/>
                        <a:buFontTx/>
                        <a:buNone/>
                        <a:defRPr/>
                      </a:pPr>
                      <a:r>
                        <a:rPr lang="en-US" altLang="zh-CN" sz="1600" b="1" dirty="0"/>
                        <a:t>…</a:t>
                      </a:r>
                      <a:endParaRPr lang="zh-CN" altLang="en-US" sz="1600" b="1" dirty="0"/>
                    </a:p>
                  </a:txBody>
                  <a:tcPr marL="0" marR="0" marT="0" marB="0" vert="eaVert">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indent="0" algn="dist" defTabSz="914400" rtl="0" eaLnBrk="1" fontAlgn="auto" latinLnBrk="0" hangingPunct="1">
                        <a:lnSpc>
                          <a:spcPct val="100000"/>
                        </a:lnSpc>
                        <a:spcBef>
                          <a:spcPts val="0"/>
                        </a:spcBef>
                        <a:spcAft>
                          <a:spcPts val="0"/>
                        </a:spcAft>
                        <a:buClrTx/>
                        <a:buSzTx/>
                        <a:buFontTx/>
                        <a:buNone/>
                        <a:defRPr/>
                      </a:pPr>
                      <a:r>
                        <a:rPr lang="en-US" altLang="zh-CN" sz="1600" b="1" dirty="0"/>
                        <a:t>…</a:t>
                      </a:r>
                      <a:endParaRPr lang="zh-CN" altLang="en-US" sz="1600" b="1" dirty="0"/>
                    </a:p>
                  </a:txBody>
                  <a:tcPr marL="0" marR="0" marT="0" marB="0" vert="eaVert">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defRPr/>
                      </a:pPr>
                      <a:r>
                        <a:rPr lang="en-US" altLang="zh-CN" sz="1600" b="1" dirty="0"/>
                        <a:t>…</a:t>
                      </a:r>
                      <a:endParaRPr lang="zh-CN" altLang="en-US" sz="1600" b="1" dirty="0">
                        <a:latin typeface="Times New Roman" panose="02020603050405020304" pitchFamily="18" charset="0"/>
                        <a:cs typeface="Times New Roman" panose="02020603050405020304" pitchFamily="18" charset="0"/>
                      </a:endParaRPr>
                    </a:p>
                  </a:txBody>
                  <a:tcPr marL="0" marR="0" marT="0" marB="0" vert="eaVert">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solidFill>
                      <a:srgbClr val="FFFF00"/>
                    </a:solidFill>
                  </a:tcPr>
                </a:tc>
              </a:tr>
              <a:tr h="353298">
                <a:tc vMerge="1">
                  <a:tcPr marL="0" marR="0" marT="0" marB="0"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altLang="zh-CN" sz="1600" b="1" dirty="0"/>
                        <a:t>1</a:t>
                      </a:r>
                      <a:endParaRPr lang="zh-CN" altLang="en-US" sz="1600" b="1"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CN" sz="1600" b="1" dirty="0"/>
                        <a:t>1</a:t>
                      </a:r>
                      <a:endParaRPr lang="zh-CN" altLang="en-US" sz="1600" b="1" dirty="0"/>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CN" sz="1600" b="1" dirty="0"/>
                        <a:t>1</a:t>
                      </a:r>
                      <a:endParaRPr lang="zh-CN" altLang="en-US" sz="1600" b="1" dirty="0"/>
                    </a:p>
                  </a:txBody>
                  <a:tcPr marL="0" marR="0" marT="0" marB="0" anchor="ct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00"/>
                    </a:solidFill>
                  </a:tcPr>
                </a:tc>
                <a:tc>
                  <a:txBody>
                    <a:bodyPr/>
                    <a:lstStyle/>
                    <a:p>
                      <a:pPr algn="ctr"/>
                      <a:r>
                        <a:rPr lang="en-US" altLang="zh-CN" sz="1600" b="1" i="1" dirty="0">
                          <a:latin typeface="Times New Roman" panose="02020603050405020304" pitchFamily="18" charset="0"/>
                          <a:cs typeface="Times New Roman" panose="02020603050405020304" pitchFamily="18" charset="0"/>
                        </a:rPr>
                        <a:t>D</a:t>
                      </a:r>
                      <a:r>
                        <a:rPr lang="en-US" altLang="zh-CN" sz="1600" b="1" baseline="-25000" dirty="0">
                          <a:latin typeface="Times New Roman" panose="02020603050405020304" pitchFamily="18" charset="0"/>
                          <a:cs typeface="Times New Roman" panose="02020603050405020304" pitchFamily="18" charset="0"/>
                        </a:rPr>
                        <a:t>15</a:t>
                      </a:r>
                      <a:endParaRPr lang="zh-CN" altLang="en-US" sz="1600" b="1" dirty="0">
                        <a:latin typeface="Times New Roman" panose="02020603050405020304" pitchFamily="18" charset="0"/>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r>
            </a:tbl>
          </a:graphicData>
        </a:graphic>
      </p:graphicFrame>
      <p:grpSp>
        <p:nvGrpSpPr>
          <p:cNvPr id="95" name="组合 94"/>
          <p:cNvGrpSpPr/>
          <p:nvPr/>
        </p:nvGrpSpPr>
        <p:grpSpPr>
          <a:xfrm>
            <a:off x="5216040" y="2929317"/>
            <a:ext cx="348172" cy="341490"/>
            <a:chOff x="1991600" y="1969926"/>
            <a:chExt cx="348172" cy="341490"/>
          </a:xfrm>
        </p:grpSpPr>
        <p:sp>
          <p:nvSpPr>
            <p:cNvPr id="96" name="椭圆 95"/>
            <p:cNvSpPr/>
            <p:nvPr/>
          </p:nvSpPr>
          <p:spPr>
            <a:xfrm>
              <a:off x="2024307" y="2023416"/>
              <a:ext cx="288000" cy="2880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400" b="1" baseline="-25000" dirty="0">
                <a:solidFill>
                  <a:srgbClr val="FF0000"/>
                </a:solidFill>
              </a:endParaRPr>
            </a:p>
          </p:txBody>
        </p:sp>
        <p:sp>
          <p:nvSpPr>
            <p:cNvPr id="97" name="矩形 96"/>
            <p:cNvSpPr/>
            <p:nvPr/>
          </p:nvSpPr>
          <p:spPr>
            <a:xfrm>
              <a:off x="1991600" y="1969926"/>
              <a:ext cx="348172" cy="338554"/>
            </a:xfrm>
            <a:prstGeom prst="rect">
              <a:avLst/>
            </a:prstGeom>
          </p:spPr>
          <p:txBody>
            <a:bodyPr wrap="none">
              <a:spAutoFit/>
            </a:bodyPr>
            <a:lstStyle/>
            <a:p>
              <a:pPr algn="ctr"/>
              <a:r>
                <a:rPr lang="en-US" altLang="zh-CN" sz="1600" b="1" i="1" dirty="0">
                  <a:solidFill>
                    <a:srgbClr val="FF0000"/>
                  </a:solidFill>
                </a:rPr>
                <a:t>D</a:t>
              </a:r>
              <a:r>
                <a:rPr lang="en-US" altLang="zh-CN" sz="1600" b="1" baseline="-25000" dirty="0">
                  <a:solidFill>
                    <a:srgbClr val="FF0000"/>
                  </a:solidFill>
                </a:rPr>
                <a:t>i</a:t>
              </a:r>
              <a:endParaRPr lang="zh-CN" altLang="en-US" sz="1600" b="1" baseline="-25000" dirty="0">
                <a:solidFill>
                  <a:srgbClr val="FF0000"/>
                </a:solidFill>
              </a:endParaRPr>
            </a:p>
          </p:txBody>
        </p:sp>
      </p:grpSp>
      <p:grpSp>
        <p:nvGrpSpPr>
          <p:cNvPr id="98" name="组合 97"/>
          <p:cNvGrpSpPr/>
          <p:nvPr/>
        </p:nvGrpSpPr>
        <p:grpSpPr>
          <a:xfrm>
            <a:off x="5688670" y="2950374"/>
            <a:ext cx="348172" cy="338554"/>
            <a:chOff x="2780120" y="2658396"/>
            <a:chExt cx="348172" cy="338554"/>
          </a:xfrm>
        </p:grpSpPr>
        <p:grpSp>
          <p:nvGrpSpPr>
            <p:cNvPr id="99" name="组合 244"/>
            <p:cNvGrpSpPr/>
            <p:nvPr/>
          </p:nvGrpSpPr>
          <p:grpSpPr>
            <a:xfrm>
              <a:off x="2780120" y="2658396"/>
              <a:ext cx="348172" cy="338554"/>
              <a:chOff x="1991600" y="2000406"/>
              <a:chExt cx="348172" cy="338554"/>
            </a:xfrm>
          </p:grpSpPr>
          <p:sp>
            <p:nvSpPr>
              <p:cNvPr id="101" name="椭圆 100"/>
              <p:cNvSpPr/>
              <p:nvPr/>
            </p:nvSpPr>
            <p:spPr>
              <a:xfrm>
                <a:off x="2024307" y="2023416"/>
                <a:ext cx="288000" cy="288000"/>
              </a:xfrm>
              <a:prstGeom prst="ellipse">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sz="1400" b="1" baseline="-25000" dirty="0">
                  <a:solidFill>
                    <a:srgbClr val="FF0000"/>
                  </a:solidFill>
                </a:endParaRPr>
              </a:p>
            </p:txBody>
          </p:sp>
          <p:sp>
            <p:nvSpPr>
              <p:cNvPr id="115" name="矩形 114"/>
              <p:cNvSpPr/>
              <p:nvPr/>
            </p:nvSpPr>
            <p:spPr>
              <a:xfrm>
                <a:off x="1991600" y="2000406"/>
                <a:ext cx="348172" cy="338554"/>
              </a:xfrm>
              <a:prstGeom prst="rect">
                <a:avLst/>
              </a:prstGeom>
            </p:spPr>
            <p:txBody>
              <a:bodyPr wrap="none">
                <a:spAutoFit/>
              </a:bodyPr>
              <a:lstStyle/>
              <a:p>
                <a:pPr algn="ctr"/>
                <a:r>
                  <a:rPr lang="en-US" altLang="zh-CN" sz="1600" b="1" i="1" dirty="0">
                    <a:solidFill>
                      <a:srgbClr val="FF0000"/>
                    </a:solidFill>
                  </a:rPr>
                  <a:t>D</a:t>
                </a:r>
                <a:r>
                  <a:rPr lang="en-US" altLang="zh-CN" sz="1600" b="1" baseline="-25000" dirty="0">
                    <a:solidFill>
                      <a:srgbClr val="FF0000"/>
                    </a:solidFill>
                  </a:rPr>
                  <a:t>i</a:t>
                </a:r>
                <a:endParaRPr lang="zh-CN" altLang="en-US" sz="1600" b="1" baseline="-25000" dirty="0">
                  <a:solidFill>
                    <a:srgbClr val="FF0000"/>
                  </a:solidFill>
                </a:endParaRPr>
              </a:p>
            </p:txBody>
          </p:sp>
        </p:grpSp>
        <p:cxnSp>
          <p:nvCxnSpPr>
            <p:cNvPr id="100" name="直接连接符 99"/>
            <p:cNvCxnSpPr/>
            <p:nvPr/>
          </p:nvCxnSpPr>
          <p:spPr>
            <a:xfrm>
              <a:off x="2880360" y="2735580"/>
              <a:ext cx="1260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16" name="圆角矩形标注 265"/>
          <p:cNvSpPr/>
          <p:nvPr/>
        </p:nvSpPr>
        <p:spPr>
          <a:xfrm>
            <a:off x="3797820" y="1913715"/>
            <a:ext cx="684000" cy="289560"/>
          </a:xfrm>
          <a:prstGeom prst="wedgeRoundRectCallout">
            <a:avLst>
              <a:gd name="adj1" fmla="val -61319"/>
              <a:gd name="adj2" fmla="val 36787"/>
              <a:gd name="adj3" fmla="val 16667"/>
            </a:avLst>
          </a:prstGeom>
          <a:solidFill>
            <a:srgbClr val="66FF66"/>
          </a:solidFill>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lstStyle/>
          <a:p>
            <a:pPr algn="ctr">
              <a:lnSpc>
                <a:spcPct val="150000"/>
              </a:lnSpc>
            </a:pPr>
            <a:r>
              <a:rPr lang="en-US" altLang="zh-CN" sz="1200" dirty="0" err="1">
                <a:solidFill>
                  <a:schemeClr val="tx1"/>
                </a:solidFill>
                <a:latin typeface="微软雅黑" panose="020B0503020204020204" pitchFamily="34" charset="-122"/>
                <a:ea typeface="微软雅黑" panose="020B0503020204020204" pitchFamily="34" charset="-122"/>
              </a:rPr>
              <a:t>i</a:t>
            </a:r>
            <a:r>
              <a:rPr lang="en-US" altLang="zh-CN" sz="1200" dirty="0">
                <a:solidFill>
                  <a:schemeClr val="tx1"/>
                </a:solidFill>
                <a:latin typeface="微软雅黑" panose="020B0503020204020204" pitchFamily="34" charset="-122"/>
                <a:ea typeface="微软雅黑" panose="020B0503020204020204" pitchFamily="34" charset="-122"/>
              </a:rPr>
              <a:t>=8~15</a:t>
            </a:r>
            <a:endParaRPr lang="zh-CN" altLang="en-US" sz="1200" dirty="0">
              <a:solidFill>
                <a:schemeClr val="tx1"/>
              </a:solidFill>
              <a:latin typeface="微软雅黑" panose="020B0503020204020204" pitchFamily="34" charset="-122"/>
              <a:ea typeface="微软雅黑" panose="020B0503020204020204" pitchFamily="34" charset="-122"/>
            </a:endParaRPr>
          </a:p>
        </p:txBody>
      </p:sp>
    </p:spTree>
  </p:cSld>
  <p:clrMapOvr>
    <a:masterClrMapping/>
  </p:clrMapOvr>
  <p:transition spd="slow">
    <p:push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102"/>
                                        </p:tgtEl>
                                        <p:attrNameLst>
                                          <p:attrName>style.visibility</p:attrName>
                                        </p:attrNameLst>
                                      </p:cBhvr>
                                      <p:to>
                                        <p:strVal val="visible"/>
                                      </p:to>
                                    </p:set>
                                    <p:animEffect transition="in" filter="slide(fromBottom)">
                                      <p:cBhvr>
                                        <p:cTn id="7" dur="1000"/>
                                        <p:tgtEl>
                                          <p:spTgt spid="102"/>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103"/>
                                        </p:tgtEl>
                                        <p:attrNameLst>
                                          <p:attrName>style.visibility</p:attrName>
                                        </p:attrNameLst>
                                      </p:cBhvr>
                                      <p:to>
                                        <p:strVal val="visible"/>
                                      </p:to>
                                    </p:set>
                                    <p:animEffect transition="in" filter="slide(fromBottom)">
                                      <p:cBhvr>
                                        <p:cTn id="11" dur="1000"/>
                                        <p:tgtEl>
                                          <p:spTgt spid="103"/>
                                        </p:tgtEl>
                                      </p:cBhvr>
                                    </p:animEffect>
                                  </p:childTnLst>
                                </p:cTn>
                              </p:par>
                            </p:childTnLst>
                          </p:cTn>
                        </p:par>
                        <p:par>
                          <p:cTn id="12" fill="hold">
                            <p:stCondLst>
                              <p:cond delay="2000"/>
                            </p:stCondLst>
                            <p:childTnLst>
                              <p:par>
                                <p:cTn id="13" presetID="53" presetClass="entr" presetSubtype="16" fill="hold" grpId="0" nodeType="afterEffect">
                                  <p:stCondLst>
                                    <p:cond delay="0"/>
                                  </p:stCondLst>
                                  <p:childTnLst>
                                    <p:set>
                                      <p:cBhvr>
                                        <p:cTn id="14" dur="1" fill="hold">
                                          <p:stCondLst>
                                            <p:cond delay="0"/>
                                          </p:stCondLst>
                                        </p:cTn>
                                        <p:tgtEl>
                                          <p:spTgt spid="105"/>
                                        </p:tgtEl>
                                        <p:attrNameLst>
                                          <p:attrName>style.visibility</p:attrName>
                                        </p:attrNameLst>
                                      </p:cBhvr>
                                      <p:to>
                                        <p:strVal val="visible"/>
                                      </p:to>
                                    </p:set>
                                    <p:anim calcmode="lin" valueType="num">
                                      <p:cBhvr>
                                        <p:cTn id="15" dur="1000" fill="hold"/>
                                        <p:tgtEl>
                                          <p:spTgt spid="105"/>
                                        </p:tgtEl>
                                        <p:attrNameLst>
                                          <p:attrName>ppt_w</p:attrName>
                                        </p:attrNameLst>
                                      </p:cBhvr>
                                      <p:tavLst>
                                        <p:tav tm="0">
                                          <p:val>
                                            <p:fltVal val="0"/>
                                          </p:val>
                                        </p:tav>
                                        <p:tav tm="100000">
                                          <p:val>
                                            <p:strVal val="#ppt_w"/>
                                          </p:val>
                                        </p:tav>
                                      </p:tavLst>
                                    </p:anim>
                                    <p:anim calcmode="lin" valueType="num">
                                      <p:cBhvr>
                                        <p:cTn id="16" dur="1000" fill="hold"/>
                                        <p:tgtEl>
                                          <p:spTgt spid="105"/>
                                        </p:tgtEl>
                                        <p:attrNameLst>
                                          <p:attrName>ppt_h</p:attrName>
                                        </p:attrNameLst>
                                      </p:cBhvr>
                                      <p:tavLst>
                                        <p:tav tm="0">
                                          <p:val>
                                            <p:fltVal val="0"/>
                                          </p:val>
                                        </p:tav>
                                        <p:tav tm="100000">
                                          <p:val>
                                            <p:strVal val="#ppt_h"/>
                                          </p:val>
                                        </p:tav>
                                      </p:tavLst>
                                    </p:anim>
                                    <p:animEffect transition="in" filter="fade">
                                      <p:cBhvr>
                                        <p:cTn id="17" dur="1000"/>
                                        <p:tgtEl>
                                          <p:spTgt spid="105"/>
                                        </p:tgtEl>
                                      </p:cBhvr>
                                    </p:animEffect>
                                  </p:childTnLst>
                                </p:cTn>
                              </p:par>
                            </p:childTnLst>
                          </p:cTn>
                        </p:par>
                        <p:par>
                          <p:cTn id="18" fill="hold">
                            <p:stCondLst>
                              <p:cond delay="3000"/>
                            </p:stCondLst>
                            <p:childTnLst>
                              <p:par>
                                <p:cTn id="19" presetID="1" presetClass="entr" presetSubtype="0" fill="hold" grpId="0" nodeType="afterEffect">
                                  <p:stCondLst>
                                    <p:cond delay="0"/>
                                  </p:stCondLst>
                                  <p:childTnLst>
                                    <p:set>
                                      <p:cBhvr>
                                        <p:cTn id="20" dur="1" fill="hold">
                                          <p:stCondLst>
                                            <p:cond delay="999"/>
                                          </p:stCondLst>
                                        </p:cTn>
                                        <p:tgtEl>
                                          <p:spTgt spid="9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999"/>
                                          </p:stCondLst>
                                        </p:cTn>
                                        <p:tgtEl>
                                          <p:spTgt spid="92"/>
                                        </p:tgtEl>
                                        <p:attrNameLst>
                                          <p:attrName>style.visibility</p:attrName>
                                        </p:attrNameLst>
                                      </p:cBhvr>
                                      <p:to>
                                        <p:strVal val="visible"/>
                                      </p:to>
                                    </p:set>
                                  </p:childTnLst>
                                </p:cTn>
                              </p:par>
                            </p:childTnLst>
                          </p:cTn>
                        </p:par>
                        <p:par>
                          <p:cTn id="23" fill="hold">
                            <p:stCondLst>
                              <p:cond delay="4000"/>
                            </p:stCondLst>
                            <p:childTnLst>
                              <p:par>
                                <p:cTn id="24" presetID="0" presetClass="path" presetSubtype="0" accel="50000" decel="50000" fill="hold" grpId="1" nodeType="afterEffect">
                                  <p:stCondLst>
                                    <p:cond delay="0"/>
                                  </p:stCondLst>
                                  <p:childTnLst>
                                    <p:animMotion origin="layout" path="M 4.72222E-6 0 L 0.00086 -0.07861 L 0.06406 -0.08 " pathEditMode="relative" rAng="0" ptsTypes="AAA">
                                      <p:cBhvr>
                                        <p:cTn id="25" dur="2000" fill="hold"/>
                                        <p:tgtEl>
                                          <p:spTgt spid="91"/>
                                        </p:tgtEl>
                                        <p:attrNameLst>
                                          <p:attrName>ppt_x</p:attrName>
                                          <p:attrName>ppt_y</p:attrName>
                                        </p:attrNameLst>
                                      </p:cBhvr>
                                      <p:rCtr x="3194" y="-4000"/>
                                    </p:animMotion>
                                  </p:childTnLst>
                                </p:cTn>
                              </p:par>
                              <p:par>
                                <p:cTn id="26" presetID="0" presetClass="path" presetSubtype="0" accel="50000" decel="50000" fill="hold" grpId="1" nodeType="withEffect">
                                  <p:stCondLst>
                                    <p:cond delay="0"/>
                                  </p:stCondLst>
                                  <p:childTnLst>
                                    <p:animMotion origin="layout" path="M 1.11111E-6 -3.33333E-6 L -0.00087 -0.05333 L 0.1658 -0.05472 " pathEditMode="relative" rAng="0" ptsTypes="AAA">
                                      <p:cBhvr>
                                        <p:cTn id="27" dur="2000" fill="hold"/>
                                        <p:tgtEl>
                                          <p:spTgt spid="92"/>
                                        </p:tgtEl>
                                        <p:attrNameLst>
                                          <p:attrName>ppt_x</p:attrName>
                                          <p:attrName>ppt_y</p:attrName>
                                        </p:attrNameLst>
                                      </p:cBhvr>
                                      <p:rCtr x="8247" y="-2750"/>
                                    </p:animMotion>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104"/>
                                        </p:tgtEl>
                                        <p:attrNameLst>
                                          <p:attrName>style.visibility</p:attrName>
                                        </p:attrNameLst>
                                      </p:cBhvr>
                                      <p:to>
                                        <p:strVal val="visible"/>
                                      </p:to>
                                    </p:set>
                                    <p:animEffect transition="in" filter="slide(fromBottom)">
                                      <p:cBhvr>
                                        <p:cTn id="32" dur="1000"/>
                                        <p:tgtEl>
                                          <p:spTgt spid="104"/>
                                        </p:tgtEl>
                                      </p:cBhvr>
                                    </p:animEffect>
                                  </p:childTnLst>
                                </p:cTn>
                              </p:par>
                            </p:childTnLst>
                          </p:cTn>
                        </p:par>
                        <p:par>
                          <p:cTn id="33" fill="hold">
                            <p:stCondLst>
                              <p:cond delay="1000"/>
                            </p:stCondLst>
                            <p:childTnLst>
                              <p:par>
                                <p:cTn id="34" presetID="53" presetClass="entr" presetSubtype="16" fill="hold" grpId="0" nodeType="afterEffect">
                                  <p:stCondLst>
                                    <p:cond delay="0"/>
                                  </p:stCondLst>
                                  <p:childTnLst>
                                    <p:set>
                                      <p:cBhvr>
                                        <p:cTn id="35" dur="1" fill="hold">
                                          <p:stCondLst>
                                            <p:cond delay="0"/>
                                          </p:stCondLst>
                                        </p:cTn>
                                        <p:tgtEl>
                                          <p:spTgt spid="106"/>
                                        </p:tgtEl>
                                        <p:attrNameLst>
                                          <p:attrName>style.visibility</p:attrName>
                                        </p:attrNameLst>
                                      </p:cBhvr>
                                      <p:to>
                                        <p:strVal val="visible"/>
                                      </p:to>
                                    </p:set>
                                    <p:anim calcmode="lin" valueType="num">
                                      <p:cBhvr>
                                        <p:cTn id="36" dur="1000" fill="hold"/>
                                        <p:tgtEl>
                                          <p:spTgt spid="106"/>
                                        </p:tgtEl>
                                        <p:attrNameLst>
                                          <p:attrName>ppt_w</p:attrName>
                                        </p:attrNameLst>
                                      </p:cBhvr>
                                      <p:tavLst>
                                        <p:tav tm="0">
                                          <p:val>
                                            <p:fltVal val="0"/>
                                          </p:val>
                                        </p:tav>
                                        <p:tav tm="100000">
                                          <p:val>
                                            <p:strVal val="#ppt_w"/>
                                          </p:val>
                                        </p:tav>
                                      </p:tavLst>
                                    </p:anim>
                                    <p:anim calcmode="lin" valueType="num">
                                      <p:cBhvr>
                                        <p:cTn id="37" dur="1000" fill="hold"/>
                                        <p:tgtEl>
                                          <p:spTgt spid="106"/>
                                        </p:tgtEl>
                                        <p:attrNameLst>
                                          <p:attrName>ppt_h</p:attrName>
                                        </p:attrNameLst>
                                      </p:cBhvr>
                                      <p:tavLst>
                                        <p:tav tm="0">
                                          <p:val>
                                            <p:fltVal val="0"/>
                                          </p:val>
                                        </p:tav>
                                        <p:tav tm="100000">
                                          <p:val>
                                            <p:strVal val="#ppt_h"/>
                                          </p:val>
                                        </p:tav>
                                      </p:tavLst>
                                    </p:anim>
                                    <p:animEffect transition="in" filter="fade">
                                      <p:cBhvr>
                                        <p:cTn id="38" dur="1000"/>
                                        <p:tgtEl>
                                          <p:spTgt spid="106"/>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grpId="0" nodeType="clickEffect">
                                  <p:stCondLst>
                                    <p:cond delay="0"/>
                                  </p:stCondLst>
                                  <p:childTnLst>
                                    <p:set>
                                      <p:cBhvr>
                                        <p:cTn id="42" dur="1" fill="hold">
                                          <p:stCondLst>
                                            <p:cond delay="0"/>
                                          </p:stCondLst>
                                        </p:cTn>
                                        <p:tgtEl>
                                          <p:spTgt spid="109"/>
                                        </p:tgtEl>
                                        <p:attrNameLst>
                                          <p:attrName>style.visibility</p:attrName>
                                        </p:attrNameLst>
                                      </p:cBhvr>
                                      <p:to>
                                        <p:strVal val="visible"/>
                                      </p:to>
                                    </p:set>
                                    <p:animEffect transition="in" filter="wipe(down)">
                                      <p:cBhvr>
                                        <p:cTn id="43" dur="1000"/>
                                        <p:tgtEl>
                                          <p:spTgt spid="109"/>
                                        </p:tgtEl>
                                      </p:cBhvr>
                                    </p:animEffect>
                                  </p:childTnLst>
                                </p:cTn>
                              </p:par>
                            </p:childTnLst>
                          </p:cTn>
                        </p:par>
                        <p:par>
                          <p:cTn id="44" fill="hold">
                            <p:stCondLst>
                              <p:cond delay="1000"/>
                            </p:stCondLst>
                            <p:childTnLst>
                              <p:par>
                                <p:cTn id="45" presetID="1" presetClass="entr" presetSubtype="0" fill="hold" nodeType="afterEffect">
                                  <p:stCondLst>
                                    <p:cond delay="0"/>
                                  </p:stCondLst>
                                  <p:childTnLst>
                                    <p:set>
                                      <p:cBhvr>
                                        <p:cTn id="46" dur="1" fill="hold">
                                          <p:stCondLst>
                                            <p:cond delay="999"/>
                                          </p:stCondLst>
                                        </p:cTn>
                                        <p:tgtEl>
                                          <p:spTgt spid="9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999"/>
                                          </p:stCondLst>
                                        </p:cTn>
                                        <p:tgtEl>
                                          <p:spTgt spid="98"/>
                                        </p:tgtEl>
                                        <p:attrNameLst>
                                          <p:attrName>style.visibility</p:attrName>
                                        </p:attrNameLst>
                                      </p:cBhvr>
                                      <p:to>
                                        <p:strVal val="visible"/>
                                      </p:to>
                                    </p:set>
                                  </p:childTnLst>
                                </p:cTn>
                              </p:par>
                            </p:childTnLst>
                          </p:cTn>
                        </p:par>
                        <p:par>
                          <p:cTn id="49" fill="hold">
                            <p:stCondLst>
                              <p:cond delay="2000"/>
                            </p:stCondLst>
                            <p:childTnLst>
                              <p:par>
                                <p:cTn id="50" presetID="0" presetClass="path" presetSubtype="0" accel="50000" decel="50000" fill="hold" nodeType="afterEffect">
                                  <p:stCondLst>
                                    <p:cond delay="0"/>
                                  </p:stCondLst>
                                  <p:childTnLst>
                                    <p:animMotion origin="layout" path="M 2.77778E-7 -2.22222E-6 L 0.0026 -0.06528 L -0.18837 -0.06528 L -0.1974 -0.17333 " pathEditMode="relative" rAng="0" ptsTypes="AAAA">
                                      <p:cBhvr>
                                        <p:cTn id="51" dur="2000" fill="hold"/>
                                        <p:tgtEl>
                                          <p:spTgt spid="95"/>
                                        </p:tgtEl>
                                        <p:attrNameLst>
                                          <p:attrName>ppt_x</p:attrName>
                                          <p:attrName>ppt_y</p:attrName>
                                        </p:attrNameLst>
                                      </p:cBhvr>
                                      <p:rCtr x="-9740" y="-8667"/>
                                    </p:animMotion>
                                  </p:childTnLst>
                                </p:cTn>
                              </p:par>
                              <p:par>
                                <p:cTn id="52" presetID="0" presetClass="path" presetSubtype="0" accel="50000" decel="50000" fill="hold" nodeType="withEffect">
                                  <p:stCondLst>
                                    <p:cond delay="0"/>
                                  </p:stCondLst>
                                  <p:childTnLst>
                                    <p:animMotion origin="layout" path="M 4.16667E-6 -3.33333E-6 L 4.16667E-6 -0.04944 L -0.1033 -0.04666 L -0.10417 -0.17333 " pathEditMode="relative" rAng="0" ptsTypes="AAAA">
                                      <p:cBhvr>
                                        <p:cTn id="53" dur="2000" fill="hold"/>
                                        <p:tgtEl>
                                          <p:spTgt spid="98"/>
                                        </p:tgtEl>
                                        <p:attrNameLst>
                                          <p:attrName>ppt_x</p:attrName>
                                          <p:attrName>ppt_y</p:attrName>
                                        </p:attrNameLst>
                                      </p:cBhvr>
                                      <p:rCtr x="-5208" y="-8667"/>
                                    </p:animMotion>
                                  </p:childTnLst>
                                </p:cTn>
                              </p:par>
                            </p:childTnLst>
                          </p:cTn>
                        </p:par>
                        <p:par>
                          <p:cTn id="54" fill="hold">
                            <p:stCondLst>
                              <p:cond delay="4000"/>
                            </p:stCondLst>
                            <p:childTnLst>
                              <p:par>
                                <p:cTn id="55" presetID="22" presetClass="entr" presetSubtype="8" fill="hold" grpId="0" nodeType="afterEffect">
                                  <p:stCondLst>
                                    <p:cond delay="0"/>
                                  </p:stCondLst>
                                  <p:childTnLst>
                                    <p:set>
                                      <p:cBhvr>
                                        <p:cTn id="56" dur="1" fill="hold">
                                          <p:stCondLst>
                                            <p:cond delay="0"/>
                                          </p:stCondLst>
                                        </p:cTn>
                                        <p:tgtEl>
                                          <p:spTgt spid="116"/>
                                        </p:tgtEl>
                                        <p:attrNameLst>
                                          <p:attrName>style.visibility</p:attrName>
                                        </p:attrNameLst>
                                      </p:cBhvr>
                                      <p:to>
                                        <p:strVal val="visible"/>
                                      </p:to>
                                    </p:set>
                                    <p:animEffect transition="in" filter="wipe(left)">
                                      <p:cBhvr>
                                        <p:cTn id="57" dur="1000"/>
                                        <p:tgtEl>
                                          <p:spTgt spid="116"/>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1" fill="hold" nodeType="clickEffect">
                                  <p:stCondLst>
                                    <p:cond delay="0"/>
                                  </p:stCondLst>
                                  <p:childTnLst>
                                    <p:set>
                                      <p:cBhvr>
                                        <p:cTn id="61" dur="1" fill="hold">
                                          <p:stCondLst>
                                            <p:cond delay="0"/>
                                          </p:stCondLst>
                                        </p:cTn>
                                        <p:tgtEl>
                                          <p:spTgt spid="94"/>
                                        </p:tgtEl>
                                        <p:attrNameLst>
                                          <p:attrName>style.visibility</p:attrName>
                                        </p:attrNameLst>
                                      </p:cBhvr>
                                      <p:to>
                                        <p:strVal val="visible"/>
                                      </p:to>
                                    </p:set>
                                    <p:animEffect transition="in" filter="wipe(up)">
                                      <p:cBhvr>
                                        <p:cTn id="62" dur="10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P spid="103" grpId="0" animBg="1"/>
      <p:bldP spid="104" grpId="0" animBg="1"/>
      <p:bldP spid="105" grpId="0"/>
      <p:bldP spid="106" grpId="0"/>
      <p:bldP spid="109" grpId="0" animBg="1"/>
      <p:bldP spid="91" grpId="0" animBg="1"/>
      <p:bldP spid="91" grpId="1" animBg="1"/>
      <p:bldP spid="92" grpId="0" animBg="1"/>
      <p:bldP spid="92" grpId="1" animBg="1"/>
      <p:bldP spid="116"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27"/>
          <p:cNvSpPr>
            <a:spLocks noChangeArrowheads="1"/>
          </p:cNvSpPr>
          <p:nvPr/>
        </p:nvSpPr>
        <p:spPr bwMode="auto">
          <a:xfrm>
            <a:off x="577511" y="1237292"/>
            <a:ext cx="3018212" cy="369332"/>
          </a:xfrm>
          <a:prstGeom prst="rect">
            <a:avLst/>
          </a:prstGeom>
          <a:noFill/>
          <a:ln w="9525" algn="ctr">
            <a:noFill/>
            <a:miter lim="800000"/>
          </a:ln>
          <a:effectLst/>
        </p:spPr>
        <p:txBody>
          <a:bodyPr wrap="square" lIns="0" rIns="0">
            <a:spAutoFit/>
          </a:bodyPr>
          <a:lstStyle/>
          <a:p>
            <a:pPr>
              <a:defRPr/>
            </a:pPr>
            <a:r>
              <a:rPr lang="en-US" altLang="zh-CN" b="1" dirty="0">
                <a:solidFill>
                  <a:srgbClr val="6600FF"/>
                </a:solidFill>
                <a:latin typeface="黑体" panose="02010609060101010101" pitchFamily="49" charset="-122"/>
                <a:ea typeface="黑体" panose="02010609060101010101" pitchFamily="49" charset="-122"/>
              </a:rPr>
              <a:t>2</a:t>
            </a:r>
            <a:r>
              <a:rPr lang="zh-CN" altLang="en-US" b="1" dirty="0">
                <a:solidFill>
                  <a:srgbClr val="6600FF"/>
                </a:solidFill>
                <a:latin typeface="黑体" panose="02010609060101010101" pitchFamily="49" charset="-122"/>
                <a:ea typeface="黑体" panose="02010609060101010101" pitchFamily="49" charset="-122"/>
              </a:rPr>
              <a:t>、实现组合逻辑函数</a:t>
            </a:r>
            <a:endParaRPr lang="zh-CN" altLang="en-US" b="1" dirty="0">
              <a:solidFill>
                <a:srgbClr val="6600FF"/>
              </a:solidFill>
              <a:latin typeface="黑体" panose="02010609060101010101" pitchFamily="49" charset="-122"/>
              <a:ea typeface="黑体" panose="02010609060101010101" pitchFamily="49" charset="-122"/>
            </a:endParaRPr>
          </a:p>
        </p:txBody>
      </p:sp>
      <p:grpSp>
        <p:nvGrpSpPr>
          <p:cNvPr id="41" name="组合 40"/>
          <p:cNvGrpSpPr/>
          <p:nvPr/>
        </p:nvGrpSpPr>
        <p:grpSpPr>
          <a:xfrm>
            <a:off x="1127244" y="1723475"/>
            <a:ext cx="3934066" cy="659961"/>
            <a:chOff x="1127244" y="1843395"/>
            <a:chExt cx="3934066" cy="783174"/>
          </a:xfrm>
        </p:grpSpPr>
        <p:sp>
          <p:nvSpPr>
            <p:cNvPr id="6" name="圆角矩形 5"/>
            <p:cNvSpPr/>
            <p:nvPr/>
          </p:nvSpPr>
          <p:spPr>
            <a:xfrm>
              <a:off x="1127244" y="1874981"/>
              <a:ext cx="985175" cy="720000"/>
            </a:xfrm>
            <a:prstGeom prst="roundRect">
              <a:avLst/>
            </a:prstGeom>
            <a:solidFill>
              <a:srgbClr val="00B0F0"/>
            </a:solidFill>
            <a:scene3d>
              <a:camera prst="orthographicFront"/>
              <a:lightRig rig="threePt" dir="t"/>
            </a:scene3d>
            <a:sp3d z="12700">
              <a:bevelT w="4445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组合逻辑函数</a:t>
              </a:r>
              <a:endParaRPr lang="zh-CN" altLang="en-US" sz="1400" dirty="0">
                <a:latin typeface="微软雅黑" panose="020B0503020204020204" pitchFamily="34" charset="-122"/>
                <a:ea typeface="微软雅黑" panose="020B0503020204020204" pitchFamily="34" charset="-122"/>
              </a:endParaRPr>
            </a:p>
          </p:txBody>
        </p:sp>
        <p:sp>
          <p:nvSpPr>
            <p:cNvPr id="8" name="下箭头 7"/>
            <p:cNvSpPr/>
            <p:nvPr/>
          </p:nvSpPr>
          <p:spPr>
            <a:xfrm rot="16200000">
              <a:off x="2152631" y="1849362"/>
              <a:ext cx="783174" cy="771240"/>
            </a:xfrm>
            <a:prstGeom prst="downArrow">
              <a:avLst/>
            </a:prstGeom>
            <a:solidFill>
              <a:srgbClr val="FF66FF"/>
            </a:solidFill>
            <a:scene3d>
              <a:camera prst="orthographicFront"/>
              <a:lightRig rig="threePt" dir="t"/>
            </a:scene3d>
            <a:sp3d z="12700">
              <a:bevelT w="4445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9" name="圆角矩形 8"/>
            <p:cNvSpPr/>
            <p:nvPr/>
          </p:nvSpPr>
          <p:spPr>
            <a:xfrm>
              <a:off x="2973310" y="1874981"/>
              <a:ext cx="2088000" cy="720000"/>
            </a:xfrm>
            <a:prstGeom prst="roundRect">
              <a:avLst/>
            </a:prstGeom>
            <a:solidFill>
              <a:srgbClr val="336699"/>
            </a:solidFill>
            <a:scene3d>
              <a:camera prst="orthographicFront"/>
              <a:lightRig rig="threePt" dir="t"/>
            </a:scene3d>
            <a:sp3d z="12700">
              <a:bevelT w="4445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最小项表达式</a:t>
              </a:r>
              <a:endParaRPr lang="en-US" altLang="zh-CN" sz="1400" dirty="0">
                <a:latin typeface="微软雅黑" panose="020B0503020204020204" pitchFamily="34" charset="-122"/>
                <a:ea typeface="微软雅黑" panose="020B0503020204020204" pitchFamily="34" charset="-122"/>
              </a:endParaRPr>
            </a:p>
            <a:p>
              <a:pPr algn="ctr"/>
              <a:r>
                <a:rPr lang="zh-CN" altLang="en-US" sz="1400" dirty="0">
                  <a:latin typeface="微软雅黑" panose="020B0503020204020204" pitchFamily="34" charset="-122"/>
                  <a:ea typeface="微软雅黑" panose="020B0503020204020204" pitchFamily="34" charset="-122"/>
                </a:rPr>
                <a:t>（某些最小项的和）</a:t>
              </a:r>
              <a:endParaRPr lang="zh-CN" altLang="en-US" sz="1400" dirty="0">
                <a:latin typeface="微软雅黑" panose="020B0503020204020204" pitchFamily="34" charset="-122"/>
                <a:ea typeface="微软雅黑" panose="020B0503020204020204" pitchFamily="34" charset="-122"/>
              </a:endParaRPr>
            </a:p>
          </p:txBody>
        </p:sp>
      </p:grpSp>
      <p:grpSp>
        <p:nvGrpSpPr>
          <p:cNvPr id="42" name="组合 41"/>
          <p:cNvGrpSpPr/>
          <p:nvPr/>
        </p:nvGrpSpPr>
        <p:grpSpPr>
          <a:xfrm>
            <a:off x="1114106" y="2674335"/>
            <a:ext cx="3941949" cy="659961"/>
            <a:chOff x="1114106" y="2794255"/>
            <a:chExt cx="3941949" cy="783174"/>
          </a:xfrm>
        </p:grpSpPr>
        <p:sp>
          <p:nvSpPr>
            <p:cNvPr id="15" name="圆角矩形 14"/>
            <p:cNvSpPr/>
            <p:nvPr/>
          </p:nvSpPr>
          <p:spPr>
            <a:xfrm>
              <a:off x="1114106" y="2825841"/>
              <a:ext cx="985175" cy="720000"/>
            </a:xfrm>
            <a:prstGeom prst="roundRect">
              <a:avLst/>
            </a:prstGeom>
            <a:solidFill>
              <a:schemeClr val="accent2">
                <a:lumMod val="40000"/>
                <a:lumOff val="60000"/>
              </a:schemeClr>
            </a:solidFill>
            <a:scene3d>
              <a:camera prst="orthographicFront"/>
              <a:lightRig rig="threePt" dir="t"/>
            </a:scene3d>
            <a:sp3d z="12700">
              <a:bevelT w="4445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solidFill>
                    <a:srgbClr val="6600FF"/>
                  </a:solidFill>
                  <a:latin typeface="微软雅黑" panose="020B0503020204020204" pitchFamily="34" charset="-122"/>
                  <a:ea typeface="微软雅黑" panose="020B0503020204020204" pitchFamily="34" charset="-122"/>
                </a:rPr>
                <a:t>数据选择器</a:t>
              </a:r>
              <a:endParaRPr lang="zh-CN" altLang="en-US" sz="1400" dirty="0">
                <a:solidFill>
                  <a:srgbClr val="6600FF"/>
                </a:solidFill>
                <a:latin typeface="微软雅黑" panose="020B0503020204020204" pitchFamily="34" charset="-122"/>
                <a:ea typeface="微软雅黑" panose="020B0503020204020204" pitchFamily="34" charset="-122"/>
              </a:endParaRPr>
            </a:p>
          </p:txBody>
        </p:sp>
        <p:sp>
          <p:nvSpPr>
            <p:cNvPr id="16" name="下箭头 15"/>
            <p:cNvSpPr/>
            <p:nvPr/>
          </p:nvSpPr>
          <p:spPr>
            <a:xfrm rot="16200000">
              <a:off x="2147377" y="2800222"/>
              <a:ext cx="783174" cy="771240"/>
            </a:xfrm>
            <a:prstGeom prst="downArrow">
              <a:avLst/>
            </a:prstGeom>
            <a:solidFill>
              <a:srgbClr val="FF66FF"/>
            </a:solidFill>
            <a:scene3d>
              <a:camera prst="orthographicFront"/>
              <a:lightRig rig="threePt" dir="t"/>
            </a:scene3d>
            <a:sp3d z="12700">
              <a:bevelT w="4445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grpSp>
          <p:nvGrpSpPr>
            <p:cNvPr id="31" name="组合 30"/>
            <p:cNvGrpSpPr/>
            <p:nvPr/>
          </p:nvGrpSpPr>
          <p:grpSpPr>
            <a:xfrm>
              <a:off x="2968055" y="2825841"/>
              <a:ext cx="2088000" cy="720000"/>
              <a:chOff x="2968055" y="2805177"/>
              <a:chExt cx="2088000" cy="720000"/>
            </a:xfrm>
          </p:grpSpPr>
          <p:sp>
            <p:nvSpPr>
              <p:cNvPr id="18" name="圆角矩形 17"/>
              <p:cNvSpPr/>
              <p:nvPr/>
            </p:nvSpPr>
            <p:spPr>
              <a:xfrm>
                <a:off x="2968055" y="2805177"/>
                <a:ext cx="2088000" cy="720000"/>
              </a:xfrm>
              <a:prstGeom prst="roundRect">
                <a:avLst/>
              </a:prstGeom>
              <a:solidFill>
                <a:srgbClr val="FFFF00"/>
              </a:solidFill>
              <a:scene3d>
                <a:camera prst="orthographicFront"/>
                <a:lightRig rig="threePt" dir="t"/>
              </a:scene3d>
              <a:sp3d z="12700">
                <a:bevelT w="4445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dirty="0">
                  <a:latin typeface="微软雅黑" panose="020B0503020204020204" pitchFamily="34" charset="-122"/>
                  <a:ea typeface="微软雅黑" panose="020B0503020204020204" pitchFamily="34" charset="-122"/>
                </a:endParaRPr>
              </a:p>
            </p:txBody>
          </p:sp>
          <p:graphicFrame>
            <p:nvGraphicFramePr>
              <p:cNvPr id="40961" name="Object 1"/>
              <p:cNvGraphicFramePr>
                <a:graphicFrameLocks noChangeAspect="1"/>
              </p:cNvGraphicFramePr>
              <p:nvPr/>
            </p:nvGraphicFramePr>
            <p:xfrm>
              <a:off x="3372791" y="2886075"/>
              <a:ext cx="1246187" cy="552450"/>
            </p:xfrm>
            <a:graphic>
              <a:graphicData uri="http://schemas.openxmlformats.org/presentationml/2006/ole">
                <mc:AlternateContent xmlns:mc="http://schemas.openxmlformats.org/markup-compatibility/2006">
                  <mc:Choice xmlns:v="urn:schemas-microsoft-com:vml" Requires="v">
                    <p:oleObj spid="_x0000_s56349" name="Equation" r:id="rId1" imgW="18592800" imgH="8229600" progId="Equation.DSMT4">
                      <p:embed/>
                    </p:oleObj>
                  </mc:Choice>
                  <mc:Fallback>
                    <p:oleObj name="Equation" r:id="rId1" imgW="18592800" imgH="8229600" progId="Equation.DSMT4">
                      <p:embed/>
                      <p:pic>
                        <p:nvPicPr>
                          <p:cNvPr id="0" name="Object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2791" y="2886075"/>
                            <a:ext cx="1246187" cy="55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grpSp>
        <p:nvGrpSpPr>
          <p:cNvPr id="26" name="组合 25"/>
          <p:cNvGrpSpPr/>
          <p:nvPr/>
        </p:nvGrpSpPr>
        <p:grpSpPr>
          <a:xfrm>
            <a:off x="5120489" y="1921714"/>
            <a:ext cx="2115893" cy="1102273"/>
            <a:chOff x="4797286" y="2041634"/>
            <a:chExt cx="2115893" cy="1308064"/>
          </a:xfrm>
        </p:grpSpPr>
        <p:sp>
          <p:nvSpPr>
            <p:cNvPr id="22" name="手杖形箭头 21"/>
            <p:cNvSpPr/>
            <p:nvPr/>
          </p:nvSpPr>
          <p:spPr>
            <a:xfrm rot="5400000" flipH="1">
              <a:off x="4582399" y="2256521"/>
              <a:ext cx="1308064" cy="878290"/>
            </a:xfrm>
            <a:prstGeom prst="uturnArrow">
              <a:avLst>
                <a:gd name="adj1" fmla="val 25000"/>
                <a:gd name="adj2" fmla="val 25000"/>
                <a:gd name="adj3" fmla="val 25000"/>
                <a:gd name="adj4" fmla="val 44428"/>
                <a:gd name="adj5" fmla="val 100000"/>
              </a:avLst>
            </a:prstGeom>
            <a:solidFill>
              <a:srgbClr val="FF66FF"/>
            </a:solidFill>
            <a:scene3d>
              <a:camera prst="orthographicFront"/>
              <a:lightRig rig="threePt" dir="t"/>
            </a:scene3d>
            <a:sp3d z="12700">
              <a:bevelT w="4445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400">
                <a:latin typeface="微软雅黑" panose="020B0503020204020204" pitchFamily="34" charset="-122"/>
                <a:ea typeface="微软雅黑" panose="020B0503020204020204" pitchFamily="34" charset="-122"/>
              </a:endParaRPr>
            </a:p>
          </p:txBody>
        </p:sp>
        <p:sp>
          <p:nvSpPr>
            <p:cNvPr id="25" name="圆角矩形标注 24"/>
            <p:cNvSpPr/>
            <p:nvPr/>
          </p:nvSpPr>
          <p:spPr>
            <a:xfrm>
              <a:off x="5888421" y="2372709"/>
              <a:ext cx="1024758" cy="733097"/>
            </a:xfrm>
            <a:prstGeom prst="wedgeRoundRectCallout">
              <a:avLst>
                <a:gd name="adj1" fmla="val -67385"/>
                <a:gd name="adj2" fmla="val -54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a:latin typeface="微软雅黑" panose="020B0503020204020204" pitchFamily="34" charset="-122"/>
                  <a:ea typeface="微软雅黑" panose="020B0503020204020204" pitchFamily="34" charset="-122"/>
                </a:rPr>
                <a:t>控制</a:t>
              </a:r>
              <a:r>
                <a:rPr lang="en-US" altLang="zh-CN" sz="1400" i="1" dirty="0">
                  <a:latin typeface="Times New Roman" panose="02020603050405020304" pitchFamily="18" charset="0"/>
                  <a:ea typeface="微软雅黑" panose="020B0503020204020204" pitchFamily="34" charset="-122"/>
                  <a:cs typeface="Times New Roman" panose="02020603050405020304" pitchFamily="18" charset="0"/>
                </a:rPr>
                <a:t>D</a:t>
              </a:r>
              <a:r>
                <a:rPr lang="en-US" altLang="zh-CN" sz="1400" baseline="-25000" dirty="0">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400" dirty="0">
                  <a:latin typeface="微软雅黑" panose="020B0503020204020204" pitchFamily="34" charset="-122"/>
                  <a:ea typeface="微软雅黑" panose="020B0503020204020204" pitchFamily="34" charset="-122"/>
                </a:rPr>
                <a:t>取值</a:t>
              </a:r>
              <a:endParaRPr lang="zh-CN" altLang="en-US" sz="1400" dirty="0"/>
            </a:p>
          </p:txBody>
        </p:sp>
      </p:grpSp>
      <p:grpSp>
        <p:nvGrpSpPr>
          <p:cNvPr id="27" name="组合 26"/>
          <p:cNvGrpSpPr/>
          <p:nvPr/>
        </p:nvGrpSpPr>
        <p:grpSpPr>
          <a:xfrm>
            <a:off x="1114106" y="3544843"/>
            <a:ext cx="7796809" cy="1760343"/>
            <a:chOff x="621476" y="3571504"/>
            <a:chExt cx="7796809" cy="1333006"/>
          </a:xfrm>
        </p:grpSpPr>
        <p:sp>
          <p:nvSpPr>
            <p:cNvPr id="28" name="矩形 27"/>
            <p:cNvSpPr/>
            <p:nvPr/>
          </p:nvSpPr>
          <p:spPr>
            <a:xfrm>
              <a:off x="628279" y="3629910"/>
              <a:ext cx="485775" cy="461665"/>
            </a:xfrm>
            <a:prstGeom prst="rect">
              <a:avLst/>
            </a:prstGeom>
            <a:ln>
              <a:noFill/>
            </a:ln>
          </p:spPr>
          <p:style>
            <a:lnRef idx="2">
              <a:schemeClr val="accent1"/>
            </a:lnRef>
            <a:fillRef idx="1">
              <a:schemeClr val="lt1"/>
            </a:fillRef>
            <a:effectRef idx="0">
              <a:schemeClr val="accent1"/>
            </a:effectRef>
            <a:fontRef idx="minor">
              <a:schemeClr val="dk1"/>
            </a:fontRef>
          </p:style>
          <p:txBody>
            <a:bodyPr vert="horz" wrap="squar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endParaRPr lang="zh-CN" altLang="en-US" sz="2400" b="1" cap="all" dirty="0">
                <a:ln w="0"/>
                <a:solidFill>
                  <a:schemeClr val="tx1"/>
                </a:solidFill>
                <a:effectLst>
                  <a:reflection blurRad="12700" stA="50000" endPos="50000" dist="5000" dir="5400000" sy="-100000" rotWithShape="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9" name="圆角矩形 28"/>
            <p:cNvSpPr/>
            <p:nvPr/>
          </p:nvSpPr>
          <p:spPr>
            <a:xfrm>
              <a:off x="621476" y="3586348"/>
              <a:ext cx="524494" cy="1318161"/>
            </a:xfrm>
            <a:prstGeom prst="roundRect">
              <a:avLst/>
            </a:prstGeom>
            <a:solidFill>
              <a:srgbClr val="00B0F0"/>
            </a:solidFill>
            <a:scene3d>
              <a:camera prst="orthographicFront"/>
              <a:lightRig rig="threePt" dir="t"/>
            </a:scene3d>
            <a:sp3d z="12700">
              <a:bevelT w="4445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b="1" cap="all" dirty="0">
                  <a:ln w="0"/>
                  <a:solidFill>
                    <a:schemeClr val="tx1"/>
                  </a:solidFill>
                  <a:effectLst>
                    <a:reflection blurRad="12700" stA="50000" endPos="50000" dist="5000" dir="5400000" sy="-100000" rotWithShape="0"/>
                  </a:effectLst>
                  <a:latin typeface="微软雅黑" panose="020B0503020204020204" pitchFamily="34" charset="-122"/>
                  <a:ea typeface="微软雅黑" panose="020B0503020204020204" pitchFamily="34" charset="-122"/>
                  <a:cs typeface="Times New Roman" panose="02020603050405020304" pitchFamily="18" charset="0"/>
                </a:rPr>
                <a:t>步</a:t>
              </a:r>
              <a:endParaRPr lang="en-US" altLang="zh-CN" b="1" cap="all" dirty="0">
                <a:ln w="0"/>
                <a:solidFill>
                  <a:schemeClr val="tx1"/>
                </a:solidFill>
                <a:effectLst>
                  <a:reflection blurRad="12700" stA="50000" endPos="50000" dist="5000" dir="5400000" sy="-100000" rotWithShape="0"/>
                </a:effectLst>
                <a:latin typeface="微软雅黑" panose="020B0503020204020204" pitchFamily="34" charset="-122"/>
                <a:ea typeface="微软雅黑" panose="020B0503020204020204" pitchFamily="34" charset="-122"/>
                <a:cs typeface="Times New Roman" panose="02020603050405020304" pitchFamily="18" charset="0"/>
              </a:endParaRPr>
            </a:p>
            <a:p>
              <a:endParaRPr lang="en-US" altLang="zh-CN" b="1" cap="all" dirty="0">
                <a:ln w="0"/>
                <a:solidFill>
                  <a:schemeClr val="tx1"/>
                </a:solidFill>
                <a:effectLst>
                  <a:reflection blurRad="12700" stA="50000" endPos="50000" dist="5000" dir="5400000" sy="-100000" rotWithShape="0"/>
                </a:effectLst>
                <a:latin typeface="微软雅黑" panose="020B0503020204020204" pitchFamily="34" charset="-122"/>
                <a:ea typeface="微软雅黑" panose="020B0503020204020204" pitchFamily="34" charset="-122"/>
                <a:cs typeface="Times New Roman" panose="02020603050405020304" pitchFamily="18" charset="0"/>
              </a:endParaRPr>
            </a:p>
            <a:p>
              <a:r>
                <a:rPr lang="zh-CN" altLang="en-US" b="1" cap="all" dirty="0">
                  <a:ln w="0"/>
                  <a:solidFill>
                    <a:schemeClr val="tx1"/>
                  </a:solidFill>
                  <a:effectLst>
                    <a:reflection blurRad="12700" stA="50000" endPos="50000" dist="5000" dir="5400000" sy="-100000" rotWithShape="0"/>
                  </a:effectLst>
                  <a:latin typeface="微软雅黑" panose="020B0503020204020204" pitchFamily="34" charset="-122"/>
                  <a:ea typeface="微软雅黑" panose="020B0503020204020204" pitchFamily="34" charset="-122"/>
                  <a:cs typeface="Times New Roman" panose="02020603050405020304" pitchFamily="18" charset="0"/>
                </a:rPr>
                <a:t>骤</a:t>
              </a:r>
              <a:endParaRPr lang="zh-CN" altLang="en-US" b="1" cap="all" dirty="0">
                <a:ln w="0"/>
                <a:solidFill>
                  <a:schemeClr val="tx1"/>
                </a:solidFill>
                <a:effectLst>
                  <a:reflection blurRad="12700" stA="50000" endPos="50000" dist="5000" dir="5400000" sy="-100000" rotWithShape="0"/>
                </a:effectLst>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30" name="圆角矩形 29"/>
            <p:cNvSpPr/>
            <p:nvPr/>
          </p:nvSpPr>
          <p:spPr>
            <a:xfrm>
              <a:off x="1151905" y="3571504"/>
              <a:ext cx="7266380" cy="1333006"/>
            </a:xfrm>
            <a:prstGeom prst="roundRect">
              <a:avLst>
                <a:gd name="adj" fmla="val 5977"/>
              </a:avLst>
            </a:prstGeom>
            <a:effectLst>
              <a:outerShdw blurRad="63500" sx="102000" sy="102000" algn="ctr" rotWithShape="0">
                <a:prstClr val="black">
                  <a:alpha val="40000"/>
                </a:prstClr>
              </a:outerShdw>
              <a:softEdge rad="12700"/>
            </a:effectLst>
          </p:spPr>
          <p:style>
            <a:lnRef idx="0">
              <a:schemeClr val="accent5"/>
            </a:lnRef>
            <a:fillRef idx="3">
              <a:schemeClr val="accent5"/>
            </a:fillRef>
            <a:effectRef idx="3">
              <a:schemeClr val="accent5"/>
            </a:effectRef>
            <a:fontRef idx="minor">
              <a:schemeClr val="lt1"/>
            </a:fontRef>
          </p:style>
          <p:txBody>
            <a:bodyPr rtlCol="0" anchor="ctr"/>
            <a:lstStyle/>
            <a:p>
              <a:pPr>
                <a:lnSpc>
                  <a:spcPct val="125000"/>
                </a:lnSpc>
                <a:spcBef>
                  <a:spcPts val="600"/>
                </a:spcBef>
              </a:pPr>
              <a:r>
                <a:rPr lang="en-US" altLang="zh-CN" sz="1600" dirty="0">
                  <a:latin typeface="楷体" panose="02010609060101010101" pitchFamily="49" charset="-122"/>
                  <a:ea typeface="楷体" panose="02010609060101010101" pitchFamily="49" charset="-122"/>
                </a:rPr>
                <a:t>① </a:t>
              </a:r>
              <a:r>
                <a:rPr lang="zh-CN" altLang="en-US" sz="1600" dirty="0">
                  <a:latin typeface="楷体" panose="02010609060101010101" pitchFamily="49" charset="-122"/>
                  <a:ea typeface="楷体" panose="02010609060101010101" pitchFamily="49" charset="-122"/>
                </a:rPr>
                <a:t>将函数变换成最小项表达式； </a:t>
              </a:r>
              <a:endParaRPr lang="en-US" altLang="zh-CN" sz="1600" dirty="0">
                <a:latin typeface="楷体" panose="02010609060101010101" pitchFamily="49" charset="-122"/>
                <a:ea typeface="楷体" panose="02010609060101010101" pitchFamily="49" charset="-122"/>
              </a:endParaRPr>
            </a:p>
            <a:p>
              <a:pPr marL="269875" indent="-269875" eaLnBrk="0" hangingPunct="0">
                <a:spcBef>
                  <a:spcPts val="600"/>
                </a:spcBef>
                <a:defRPr/>
              </a:pPr>
              <a:r>
                <a:rPr lang="en-US" altLang="zh-CN" sz="1600" dirty="0">
                  <a:latin typeface="楷体" panose="02010609060101010101" pitchFamily="49" charset="-122"/>
                  <a:ea typeface="楷体" panose="02010609060101010101" pitchFamily="49" charset="-122"/>
                </a:rPr>
                <a:t>② </a:t>
              </a:r>
              <a:r>
                <a:rPr lang="zh-CN" altLang="zh-CN" sz="1600" dirty="0">
                  <a:latin typeface="楷体" panose="02010609060101010101" pitchFamily="49" charset="-122"/>
                  <a:ea typeface="楷体" panose="02010609060101010101" pitchFamily="49" charset="-122"/>
                </a:rPr>
                <a:t>将逻辑函数的变量按在最小项中的顺序与数据选择器地址变量相对应，</a:t>
              </a:r>
              <a:r>
                <a:rPr lang="zh-CN" altLang="en-US" sz="1600" dirty="0">
                  <a:latin typeface="楷体" panose="02010609060101010101" pitchFamily="49" charset="-122"/>
                  <a:ea typeface="楷体" panose="02010609060101010101" pitchFamily="49" charset="-122"/>
                </a:rPr>
                <a:t>根据最小项表达式确定各数据输入端</a:t>
              </a:r>
              <a:r>
                <a:rPr lang="en-US" altLang="zh-CN" sz="1600" i="1" dirty="0">
                  <a:latin typeface="Times New Roman" panose="02020603050405020304" pitchFamily="18" charset="0"/>
                  <a:ea typeface="楷体" panose="02010609060101010101" pitchFamily="49" charset="-122"/>
                  <a:cs typeface="Times New Roman" panose="02020603050405020304" pitchFamily="18" charset="0"/>
                </a:rPr>
                <a:t>D</a:t>
              </a:r>
              <a:r>
                <a:rPr lang="en-US" altLang="zh-CN" sz="1600" baseline="-25000" dirty="0">
                  <a:latin typeface="Times New Roman" panose="02020603050405020304" pitchFamily="18" charset="0"/>
                  <a:ea typeface="楷体" panose="02010609060101010101" pitchFamily="49" charset="-122"/>
                  <a:cs typeface="Times New Roman" panose="02020603050405020304" pitchFamily="18" charset="0"/>
                </a:rPr>
                <a:t>i</a:t>
              </a:r>
              <a:r>
                <a:rPr lang="zh-CN" altLang="en-US" sz="1600" dirty="0">
                  <a:latin typeface="楷体" panose="02010609060101010101" pitchFamily="49" charset="-122"/>
                  <a:ea typeface="楷体" panose="02010609060101010101" pitchFamily="49" charset="-122"/>
                </a:rPr>
                <a:t>的二元常量； </a:t>
              </a:r>
              <a:endParaRPr lang="zh-CN" altLang="en-US" sz="1600" dirty="0">
                <a:latin typeface="楷体" panose="02010609060101010101" pitchFamily="49" charset="-122"/>
                <a:ea typeface="楷体" panose="02010609060101010101" pitchFamily="49" charset="-122"/>
              </a:endParaRPr>
            </a:p>
            <a:p>
              <a:pPr marL="268605" indent="-268605">
                <a:lnSpc>
                  <a:spcPct val="125000"/>
                </a:lnSpc>
                <a:spcBef>
                  <a:spcPts val="600"/>
                </a:spcBef>
              </a:pPr>
              <a:r>
                <a:rPr lang="en-US" altLang="zh-CN" sz="16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③ </a:t>
              </a:r>
              <a:r>
                <a:rPr lang="zh-CN" altLang="en-US" sz="1600" dirty="0">
                  <a:latin typeface="楷体" panose="02010609060101010101" pitchFamily="49" charset="-122"/>
                  <a:ea typeface="楷体" panose="02010609060101010101" pitchFamily="49" charset="-122"/>
                </a:rPr>
                <a:t>将</a:t>
              </a:r>
              <a:r>
                <a:rPr lang="zh-CN" altLang="zh-CN" sz="1600" dirty="0">
                  <a:latin typeface="楷体" panose="02010609060101010101" pitchFamily="49" charset="-122"/>
                  <a:ea typeface="楷体" panose="02010609060101010101" pitchFamily="49" charset="-122"/>
                </a:rPr>
                <a:t>逻辑函数的变量与</a:t>
              </a:r>
              <a:r>
                <a:rPr lang="zh-CN" altLang="en-US" sz="1600" dirty="0">
                  <a:latin typeface="楷体" panose="02010609060101010101" pitchFamily="49" charset="-122"/>
                  <a:ea typeface="楷体" panose="02010609060101010101" pitchFamily="49" charset="-122"/>
                </a:rPr>
                <a:t>数据选择器地址</a:t>
              </a:r>
              <a:r>
                <a:rPr lang="zh-CN" altLang="zh-CN" sz="1600" dirty="0">
                  <a:latin typeface="楷体" panose="02010609060101010101" pitchFamily="49" charset="-122"/>
                  <a:ea typeface="楷体" panose="02010609060101010101" pitchFamily="49" charset="-122"/>
                </a:rPr>
                <a:t>变量</a:t>
              </a:r>
              <a:r>
                <a:rPr lang="zh-CN" altLang="en-US" sz="1600" dirty="0">
                  <a:latin typeface="楷体" panose="02010609060101010101" pitchFamily="49" charset="-122"/>
                  <a:ea typeface="楷体" panose="02010609060101010101" pitchFamily="49" charset="-122"/>
                </a:rPr>
                <a:t>对应相连</a:t>
              </a:r>
              <a:r>
                <a:rPr lang="en-US" altLang="zh-CN" sz="1600" dirty="0">
                  <a:latin typeface="楷体" panose="02010609060101010101" pitchFamily="49" charset="-122"/>
                  <a:ea typeface="楷体" panose="02010609060101010101" pitchFamily="49" charset="-122"/>
                </a:rPr>
                <a:t>,</a:t>
              </a:r>
              <a:r>
                <a:rPr lang="zh-CN" altLang="en-US" sz="16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 数据输入端</a:t>
              </a:r>
              <a:r>
                <a:rPr lang="zh-CN" altLang="zh-CN" sz="1600" dirty="0">
                  <a:latin typeface="楷体" panose="02010609060101010101" pitchFamily="49" charset="-122"/>
                  <a:ea typeface="楷体" panose="02010609060101010101" pitchFamily="49" charset="-122"/>
                </a:rPr>
                <a:t>按其确定的二元常量接相应的逻辑值或逻辑电平</a:t>
              </a:r>
              <a:r>
                <a:rPr lang="zh-CN" altLang="en-US" sz="1600" dirty="0">
                  <a:latin typeface="楷体" panose="02010609060101010101" pitchFamily="49" charset="-122"/>
                  <a:ea typeface="楷体" panose="02010609060101010101" pitchFamily="49" charset="-122"/>
                </a:rPr>
                <a:t>，使能端按有</a:t>
              </a:r>
              <a:r>
                <a:rPr lang="zh-CN" altLang="en-US" sz="1600" dirty="0">
                  <a:solidFill>
                    <a:schemeClr val="bg1"/>
                  </a:solidFill>
                  <a:latin typeface="Times New Roman" panose="02020603050405020304" pitchFamily="18" charset="0"/>
                  <a:ea typeface="楷体" panose="02010609060101010101" pitchFamily="49" charset="-122"/>
                  <a:cs typeface="Times New Roman" panose="02020603050405020304" pitchFamily="18" charset="0"/>
                </a:rPr>
                <a:t>效处理，连接电路。</a:t>
              </a:r>
              <a:endParaRPr lang="zh-CN" altLang="en-US" sz="1600" dirty="0">
                <a:latin typeface="楷体" panose="02010609060101010101" pitchFamily="49" charset="-122"/>
                <a:ea typeface="楷体" panose="02010609060101010101" pitchFamily="49" charset="-122"/>
              </a:endParaRPr>
            </a:p>
          </p:txBody>
        </p:sp>
      </p:grpSp>
      <p:grpSp>
        <p:nvGrpSpPr>
          <p:cNvPr id="21" name="组合 17"/>
          <p:cNvGrpSpPr/>
          <p:nvPr/>
        </p:nvGrpSpPr>
        <p:grpSpPr>
          <a:xfrm>
            <a:off x="392432" y="769746"/>
            <a:ext cx="4933552" cy="420971"/>
            <a:chOff x="670560" y="892917"/>
            <a:chExt cx="4933552" cy="420971"/>
          </a:xfrm>
        </p:grpSpPr>
        <p:sp>
          <p:nvSpPr>
            <p:cNvPr id="23" name="矩形 22"/>
            <p:cNvSpPr/>
            <p:nvPr/>
          </p:nvSpPr>
          <p:spPr>
            <a:xfrm>
              <a:off x="1035233" y="913778"/>
              <a:ext cx="4568879"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集成数据选择器的应用（</a:t>
              </a:r>
              <a:r>
                <a:rPr lang="en-US" altLang="zh-CN" sz="2000" b="1" dirty="0">
                  <a:solidFill>
                    <a:srgbClr val="FF00FF"/>
                  </a:solidFill>
                  <a:latin typeface="微软雅黑" panose="020B0503020204020204" pitchFamily="34" charset="-122"/>
                  <a:ea typeface="微软雅黑" panose="020B0503020204020204" pitchFamily="34" charset="-122"/>
                </a:rPr>
                <a:t>74151</a:t>
              </a:r>
              <a:r>
                <a:rPr lang="zh-CN" altLang="en-US" sz="2000" b="1" dirty="0">
                  <a:solidFill>
                    <a:srgbClr val="FF00FF"/>
                  </a:solidFill>
                  <a:latin typeface="微软雅黑" panose="020B0503020204020204" pitchFamily="34" charset="-122"/>
                  <a:ea typeface="微软雅黑" panose="020B0503020204020204" pitchFamily="34" charset="-122"/>
                </a:rPr>
                <a:t>为例</a:t>
              </a:r>
              <a:r>
                <a:rPr lang="zh-CN" altLang="en-US" sz="2000" b="1" dirty="0">
                  <a:solidFill>
                    <a:srgbClr val="002060"/>
                  </a:solidFill>
                  <a:latin typeface="微软雅黑" panose="020B0503020204020204" pitchFamily="34" charset="-122"/>
                  <a:ea typeface="微软雅黑" panose="020B0503020204020204" pitchFamily="34" charset="-122"/>
                </a:rPr>
                <a: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4"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34" name="组合 33"/>
          <p:cNvGrpSpPr/>
          <p:nvPr/>
        </p:nvGrpSpPr>
        <p:grpSpPr>
          <a:xfrm>
            <a:off x="4861673" y="3165745"/>
            <a:ext cx="1349951" cy="404753"/>
            <a:chOff x="4507772" y="3375660"/>
            <a:chExt cx="1169128" cy="335279"/>
          </a:xfrm>
        </p:grpSpPr>
        <p:sp>
          <p:nvSpPr>
            <p:cNvPr id="33" name="圆角矩形标注 32"/>
            <p:cNvSpPr/>
            <p:nvPr/>
          </p:nvSpPr>
          <p:spPr>
            <a:xfrm>
              <a:off x="4507772" y="3375660"/>
              <a:ext cx="1169128" cy="335279"/>
            </a:xfrm>
            <a:prstGeom prst="wedgeRoundRectCallout">
              <a:avLst>
                <a:gd name="adj1" fmla="val -63547"/>
                <a:gd name="adj2" fmla="val -79003"/>
                <a:gd name="adj3" fmla="val 16667"/>
              </a:avLst>
            </a:prstGeom>
            <a:solidFill>
              <a:srgbClr val="66FF66"/>
            </a:solidFill>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lstStyle/>
            <a:p>
              <a:pPr>
                <a:lnSpc>
                  <a:spcPct val="150000"/>
                </a:lnSpc>
              </a:pPr>
              <a:endParaRPr lang="zh-CN" altLang="en-US" sz="1600" dirty="0">
                <a:solidFill>
                  <a:schemeClr val="tx1"/>
                </a:solidFill>
                <a:latin typeface="微软雅黑" panose="020B0503020204020204" pitchFamily="34" charset="-122"/>
                <a:ea typeface="微软雅黑" panose="020B0503020204020204" pitchFamily="34" charset="-122"/>
              </a:endParaRPr>
            </a:p>
          </p:txBody>
        </p:sp>
        <p:graphicFrame>
          <p:nvGraphicFramePr>
            <p:cNvPr id="40962" name="Object 2"/>
            <p:cNvGraphicFramePr>
              <a:graphicFrameLocks noChangeAspect="1"/>
            </p:cNvGraphicFramePr>
            <p:nvPr/>
          </p:nvGraphicFramePr>
          <p:xfrm>
            <a:off x="4561204" y="3429634"/>
            <a:ext cx="1060133" cy="235585"/>
          </p:xfrm>
          <a:graphic>
            <a:graphicData uri="http://schemas.openxmlformats.org/presentationml/2006/ole">
              <mc:AlternateContent xmlns:mc="http://schemas.openxmlformats.org/markup-compatibility/2006">
                <mc:Choice xmlns:v="urn:schemas-microsoft-com:vml" Requires="v">
                  <p:oleObj spid="_x0000_s56350" name="Equation" r:id="rId4" imgW="24688800" imgH="5486400" progId="Equation.DSMT4">
                    <p:embed/>
                  </p:oleObj>
                </mc:Choice>
                <mc:Fallback>
                  <p:oleObj name="Equation" r:id="rId4" imgW="24688800" imgH="548640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61204" y="3429634"/>
                          <a:ext cx="1060133" cy="2355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38" name="组合 37"/>
          <p:cNvGrpSpPr/>
          <p:nvPr/>
        </p:nvGrpSpPr>
        <p:grpSpPr>
          <a:xfrm>
            <a:off x="4857609" y="3157064"/>
            <a:ext cx="1349951" cy="404753"/>
            <a:chOff x="4507772" y="3375660"/>
            <a:chExt cx="1169128" cy="335279"/>
          </a:xfrm>
          <a:solidFill>
            <a:srgbClr val="FFFF00"/>
          </a:solidFill>
        </p:grpSpPr>
        <p:sp>
          <p:nvSpPr>
            <p:cNvPr id="39" name="圆角矩形标注 38"/>
            <p:cNvSpPr/>
            <p:nvPr/>
          </p:nvSpPr>
          <p:spPr>
            <a:xfrm>
              <a:off x="4507772" y="3375660"/>
              <a:ext cx="1169128" cy="335279"/>
            </a:xfrm>
            <a:prstGeom prst="wedgeRoundRectCallout">
              <a:avLst>
                <a:gd name="adj1" fmla="val -63547"/>
                <a:gd name="adj2" fmla="val -79003"/>
                <a:gd name="adj3" fmla="val 16667"/>
              </a:avLst>
            </a:prstGeom>
            <a:grpFill/>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lstStyle/>
            <a:p>
              <a:pPr>
                <a:lnSpc>
                  <a:spcPct val="150000"/>
                </a:lnSpc>
              </a:pPr>
              <a:endParaRPr lang="zh-CN" altLang="en-US" sz="1600" dirty="0">
                <a:solidFill>
                  <a:schemeClr val="tx1"/>
                </a:solidFill>
                <a:latin typeface="微软雅黑" panose="020B0503020204020204" pitchFamily="34" charset="-122"/>
                <a:ea typeface="微软雅黑" panose="020B0503020204020204" pitchFamily="34" charset="-122"/>
              </a:endParaRPr>
            </a:p>
          </p:txBody>
        </p:sp>
        <p:graphicFrame>
          <p:nvGraphicFramePr>
            <p:cNvPr id="40" name="Object 2"/>
            <p:cNvGraphicFramePr>
              <a:graphicFrameLocks noChangeAspect="1"/>
            </p:cNvGraphicFramePr>
            <p:nvPr/>
          </p:nvGraphicFramePr>
          <p:xfrm>
            <a:off x="4541838" y="3429000"/>
            <a:ext cx="1100137" cy="236538"/>
          </p:xfrm>
          <a:graphic>
            <a:graphicData uri="http://schemas.openxmlformats.org/presentationml/2006/ole">
              <mc:AlternateContent xmlns:mc="http://schemas.openxmlformats.org/markup-compatibility/2006">
                <mc:Choice xmlns:v="urn:schemas-microsoft-com:vml" Requires="v">
                  <p:oleObj spid="_x0000_s56351" name="Equation" r:id="rId6" imgW="25603200" imgH="5486400" progId="Equation.DSMT4">
                    <p:embed/>
                  </p:oleObj>
                </mc:Choice>
                <mc:Fallback>
                  <p:oleObj name="Equation" r:id="rId6" imgW="25603200" imgH="5486400" progId="Equation.DSMT4">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41838" y="3429000"/>
                          <a:ext cx="1100137" cy="236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wipe(left)">
                                      <p:cBhvr>
                                        <p:cTn id="7" dur="10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wipe(left)">
                                      <p:cBhvr>
                                        <p:cTn id="12" dur="10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8"/>
                                        </p:tgtEl>
                                        <p:attrNameLst>
                                          <p:attrName>style.visibility</p:attrName>
                                        </p:attrNameLst>
                                      </p:cBhvr>
                                      <p:to>
                                        <p:strVal val="visible"/>
                                      </p:to>
                                    </p:set>
                                    <p:animEffect transition="in" filter="wipe(left)">
                                      <p:cBhvr>
                                        <p:cTn id="17" dur="1000"/>
                                        <p:tgtEl>
                                          <p:spTgt spid="38"/>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2"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slide(fromRight)">
                                      <p:cBhvr>
                                        <p:cTn id="22" dur="1000"/>
                                        <p:tgtEl>
                                          <p:spTgt spid="2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wipe(left)">
                                      <p:cBhvr>
                                        <p:cTn id="27" dur="1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7667" name="Object 19"/>
          <p:cNvGraphicFramePr>
            <a:graphicFrameLocks noChangeAspect="1"/>
          </p:cNvGraphicFramePr>
          <p:nvPr/>
        </p:nvGraphicFramePr>
        <p:xfrm>
          <a:off x="1477963" y="2582863"/>
          <a:ext cx="1773237" cy="342900"/>
        </p:xfrm>
        <a:graphic>
          <a:graphicData uri="http://schemas.openxmlformats.org/presentationml/2006/ole">
            <mc:AlternateContent xmlns:mc="http://schemas.openxmlformats.org/markup-compatibility/2006">
              <mc:Choice xmlns:v="urn:schemas-microsoft-com:vml" Requires="v">
                <p:oleObj spid="_x0000_s57463" name="Equation" r:id="rId1" imgW="28346400" imgH="5486400" progId="Equation.DSMT4">
                  <p:embed/>
                </p:oleObj>
              </mc:Choice>
              <mc:Fallback>
                <p:oleObj name="Equation" r:id="rId1" imgW="28346400" imgH="5486400" progId="Equation.DSMT4">
                  <p:embed/>
                  <p:pic>
                    <p:nvPicPr>
                      <p:cNvPr id="0" name="Object 19"/>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7963" y="2582863"/>
                        <a:ext cx="1773237"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48491" name="Object 11"/>
          <p:cNvGraphicFramePr>
            <a:graphicFrameLocks noChangeAspect="1"/>
          </p:cNvGraphicFramePr>
          <p:nvPr/>
        </p:nvGraphicFramePr>
        <p:xfrm>
          <a:off x="1338580" y="3064510"/>
          <a:ext cx="2724150" cy="1720850"/>
        </p:xfrm>
        <a:graphic>
          <a:graphicData uri="http://schemas.openxmlformats.org/presentationml/2006/ole">
            <mc:AlternateContent xmlns:mc="http://schemas.openxmlformats.org/markup-compatibility/2006">
              <mc:Choice xmlns:v="urn:schemas-microsoft-com:vml" Requires="v">
                <p:oleObj spid="_x0000_s57464" name="Visio" r:id="rId3" imgW="1371600" imgH="1011555" progId="Visio.Drawing.11">
                  <p:embed/>
                </p:oleObj>
              </mc:Choice>
              <mc:Fallback>
                <p:oleObj name="Visio" r:id="rId3" imgW="1371600" imgH="1011555" progId="Visio.Drawing.11">
                  <p:embed/>
                  <p:pic>
                    <p:nvPicPr>
                      <p:cNvPr id="0" name="Object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8580" y="3064510"/>
                        <a:ext cx="2724150" cy="172085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nvGrpSpPr>
          <p:cNvPr id="54" name="组合 53"/>
          <p:cNvGrpSpPr/>
          <p:nvPr/>
        </p:nvGrpSpPr>
        <p:grpSpPr>
          <a:xfrm>
            <a:off x="3973830" y="2522220"/>
            <a:ext cx="2625090" cy="754380"/>
            <a:chOff x="3966210" y="2484120"/>
            <a:chExt cx="2625090" cy="754380"/>
          </a:xfrm>
        </p:grpSpPr>
        <p:sp>
          <p:nvSpPr>
            <p:cNvPr id="49" name="圆角矩形 48"/>
            <p:cNvSpPr/>
            <p:nvPr/>
          </p:nvSpPr>
          <p:spPr>
            <a:xfrm>
              <a:off x="3985260" y="2484120"/>
              <a:ext cx="2606040" cy="754380"/>
            </a:xfrm>
            <a:prstGeom prst="roundRect">
              <a:avLst>
                <a:gd name="adj" fmla="val 10481"/>
              </a:avLst>
            </a:prstGeom>
            <a:solidFill>
              <a:srgbClr val="FFFF00"/>
            </a:solidFill>
            <a:ln w="28575">
              <a:solidFill>
                <a:srgbClr val="CC00CC"/>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7676" name="Object 28"/>
            <p:cNvGraphicFramePr>
              <a:graphicFrameLocks noChangeAspect="1"/>
            </p:cNvGraphicFramePr>
            <p:nvPr/>
          </p:nvGraphicFramePr>
          <p:xfrm>
            <a:off x="3966210" y="2503170"/>
            <a:ext cx="2519363" cy="292100"/>
          </p:xfrm>
          <a:graphic>
            <a:graphicData uri="http://schemas.openxmlformats.org/presentationml/2006/ole">
              <mc:AlternateContent xmlns:mc="http://schemas.openxmlformats.org/markup-compatibility/2006">
                <mc:Choice xmlns:v="urn:schemas-microsoft-com:vml" Requires="v">
                  <p:oleObj spid="_x0000_s57465" name="Equation" r:id="rId5" imgW="42062400" imgH="4876800" progId="Equation.DSMT4">
                    <p:embed/>
                  </p:oleObj>
                </mc:Choice>
                <mc:Fallback>
                  <p:oleObj name="Equation" r:id="rId5" imgW="42062400" imgH="4876800" progId="Equation.DSMT4">
                    <p:embed/>
                    <p:pic>
                      <p:nvPicPr>
                        <p:cNvPr id="0" name="Object 2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66210" y="2503170"/>
                          <a:ext cx="2519363"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29" name="Rectangle 27"/>
          <p:cNvSpPr>
            <a:spLocks noChangeArrowheads="1"/>
          </p:cNvSpPr>
          <p:nvPr/>
        </p:nvSpPr>
        <p:spPr bwMode="auto">
          <a:xfrm>
            <a:off x="577511" y="1237292"/>
            <a:ext cx="3018212" cy="369332"/>
          </a:xfrm>
          <a:prstGeom prst="rect">
            <a:avLst/>
          </a:prstGeom>
          <a:noFill/>
          <a:ln w="9525" algn="ctr">
            <a:noFill/>
            <a:miter lim="800000"/>
          </a:ln>
          <a:effectLst/>
        </p:spPr>
        <p:txBody>
          <a:bodyPr wrap="square" lIns="0" rIns="0">
            <a:spAutoFit/>
          </a:bodyPr>
          <a:lstStyle/>
          <a:p>
            <a:pPr>
              <a:defRPr/>
            </a:pPr>
            <a:r>
              <a:rPr lang="en-US" altLang="zh-CN" b="1" dirty="0">
                <a:solidFill>
                  <a:srgbClr val="6600FF"/>
                </a:solidFill>
                <a:latin typeface="黑体" panose="02010609060101010101" pitchFamily="49" charset="-122"/>
                <a:ea typeface="黑体" panose="02010609060101010101" pitchFamily="49" charset="-122"/>
              </a:rPr>
              <a:t>2</a:t>
            </a:r>
            <a:r>
              <a:rPr lang="zh-CN" altLang="en-US" b="1" dirty="0">
                <a:solidFill>
                  <a:srgbClr val="6600FF"/>
                </a:solidFill>
                <a:latin typeface="黑体" panose="02010609060101010101" pitchFamily="49" charset="-122"/>
                <a:ea typeface="黑体" panose="02010609060101010101" pitchFamily="49" charset="-122"/>
              </a:rPr>
              <a:t>、实现组合逻辑函数</a:t>
            </a:r>
            <a:endParaRPr lang="zh-CN" altLang="en-US" b="1" dirty="0">
              <a:solidFill>
                <a:srgbClr val="6600FF"/>
              </a:solidFill>
              <a:latin typeface="黑体" panose="02010609060101010101" pitchFamily="49" charset="-122"/>
              <a:ea typeface="黑体" panose="02010609060101010101" pitchFamily="49" charset="-122"/>
            </a:endParaRPr>
          </a:p>
        </p:txBody>
      </p:sp>
      <p:grpSp>
        <p:nvGrpSpPr>
          <p:cNvPr id="44" name="组合 43"/>
          <p:cNvGrpSpPr/>
          <p:nvPr/>
        </p:nvGrpSpPr>
        <p:grpSpPr>
          <a:xfrm>
            <a:off x="464780" y="1699411"/>
            <a:ext cx="6772633" cy="374630"/>
            <a:chOff x="464780" y="1699411"/>
            <a:chExt cx="6772633" cy="374630"/>
          </a:xfrm>
        </p:grpSpPr>
        <p:grpSp>
          <p:nvGrpSpPr>
            <p:cNvPr id="31" name="组合 30"/>
            <p:cNvGrpSpPr/>
            <p:nvPr/>
          </p:nvGrpSpPr>
          <p:grpSpPr>
            <a:xfrm>
              <a:off x="464780" y="1699411"/>
              <a:ext cx="4916400" cy="374630"/>
              <a:chOff x="369777" y="1347760"/>
              <a:chExt cx="4916400" cy="374630"/>
            </a:xfrm>
          </p:grpSpPr>
          <p:sp>
            <p:nvSpPr>
              <p:cNvPr id="32" name="TextBox 31"/>
              <p:cNvSpPr txBox="1"/>
              <p:nvPr/>
            </p:nvSpPr>
            <p:spPr>
              <a:xfrm>
                <a:off x="723710" y="1350409"/>
                <a:ext cx="4562467" cy="369332"/>
              </a:xfrm>
              <a:prstGeom prst="rect">
                <a:avLst/>
              </a:prstGeom>
              <a:noFill/>
            </p:spPr>
            <p:txBody>
              <a:bodyPr wrap="none" rtlCol="0">
                <a:spAutoFit/>
              </a:bodyPr>
              <a:lstStyle/>
              <a:p>
                <a:r>
                  <a:rPr lang="zh-CN" altLang="en-US" b="1" dirty="0">
                    <a:solidFill>
                      <a:srgbClr val="CC00CC"/>
                    </a:solidFill>
                    <a:latin typeface="黑体" panose="02010609060101010101" pitchFamily="49" charset="-122"/>
                    <a:ea typeface="黑体" panose="02010609060101010101" pitchFamily="49" charset="-122"/>
                  </a:rPr>
                  <a:t>例</a:t>
                </a:r>
                <a:r>
                  <a:rPr lang="en-US" altLang="zh-CN" b="1" dirty="0">
                    <a:solidFill>
                      <a:srgbClr val="CC00CC"/>
                    </a:solidFill>
                    <a:latin typeface="黑体" panose="02010609060101010101" pitchFamily="49" charset="-122"/>
                    <a:ea typeface="黑体" panose="02010609060101010101" pitchFamily="49" charset="-122"/>
                  </a:rPr>
                  <a:t>1</a:t>
                </a:r>
                <a:r>
                  <a:rPr lang="zh-CN" altLang="en-US" b="1" dirty="0">
                    <a:solidFill>
                      <a:srgbClr val="CC00CC"/>
                    </a:solidFill>
                    <a:latin typeface="黑体" panose="02010609060101010101" pitchFamily="49" charset="-122"/>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用一个</a:t>
                </a:r>
                <a:r>
                  <a:rPr lang="en-US" altLang="zh-CN" sz="1600" dirty="0">
                    <a:latin typeface="黑体" panose="02010609060101010101" pitchFamily="49" charset="-122"/>
                    <a:ea typeface="黑体" panose="02010609060101010101" pitchFamily="49" charset="-122"/>
                  </a:rPr>
                  <a:t>8</a:t>
                </a:r>
                <a:r>
                  <a:rPr lang="zh-CN" altLang="en-US" sz="1600" dirty="0">
                    <a:latin typeface="黑体" panose="02010609060101010101" pitchFamily="49" charset="-122"/>
                    <a:ea typeface="黑体" panose="02010609060101010101" pitchFamily="49" charset="-122"/>
                  </a:rPr>
                  <a:t>选</a:t>
                </a:r>
                <a:r>
                  <a:rPr lang="en-US" altLang="zh-CN" sz="1600" dirty="0">
                    <a:latin typeface="黑体" panose="02010609060101010101" pitchFamily="49" charset="-122"/>
                    <a:ea typeface="黑体" panose="02010609060101010101" pitchFamily="49" charset="-122"/>
                  </a:rPr>
                  <a:t>1</a:t>
                </a:r>
                <a:r>
                  <a:rPr lang="zh-CN" altLang="en-US" sz="1600" dirty="0">
                    <a:latin typeface="黑体" panose="02010609060101010101" pitchFamily="49" charset="-122"/>
                    <a:ea typeface="黑体" panose="02010609060101010101" pitchFamily="49" charset="-122"/>
                  </a:rPr>
                  <a:t>数据选择器</a:t>
                </a:r>
                <a:r>
                  <a:rPr lang="en-US" altLang="zh-CN" sz="1600" dirty="0">
                    <a:latin typeface="黑体" panose="02010609060101010101" pitchFamily="49" charset="-122"/>
                    <a:ea typeface="黑体" panose="02010609060101010101" pitchFamily="49" charset="-122"/>
                  </a:rPr>
                  <a:t>74151</a:t>
                </a:r>
                <a:r>
                  <a:rPr lang="zh-CN" altLang="en-US" sz="1600" dirty="0">
                    <a:latin typeface="黑体" panose="02010609060101010101" pitchFamily="49" charset="-122"/>
                    <a:ea typeface="黑体" panose="02010609060101010101" pitchFamily="49" charset="-122"/>
                  </a:rPr>
                  <a:t>实现逻辑函数</a:t>
                </a:r>
                <a:endParaRPr lang="zh-CN" altLang="en-US" sz="1600" dirty="0">
                  <a:solidFill>
                    <a:srgbClr val="6600FF"/>
                  </a:solidFill>
                  <a:latin typeface="黑体" panose="02010609060101010101" pitchFamily="49" charset="-122"/>
                  <a:ea typeface="黑体" panose="02010609060101010101" pitchFamily="49" charset="-122"/>
                </a:endParaRPr>
              </a:p>
            </p:txBody>
          </p:sp>
          <p:pic>
            <p:nvPicPr>
              <p:cNvPr id="35" name="Picture 4"/>
              <p:cNvPicPr>
                <a:picLocks noChangeAspect="1" noChangeArrowheads="1"/>
              </p:cNvPicPr>
              <p:nvPr/>
            </p:nvPicPr>
            <p:blipFill>
              <a:blip r:embed="rId7" cstate="print"/>
              <a:srcRect/>
              <a:stretch>
                <a:fillRect/>
              </a:stretch>
            </p:blipFill>
            <p:spPr bwMode="auto">
              <a:xfrm>
                <a:off x="369777" y="1347760"/>
                <a:ext cx="373669" cy="374630"/>
              </a:xfrm>
              <a:prstGeom prst="rect">
                <a:avLst/>
              </a:prstGeom>
              <a:noFill/>
              <a:ln w="9525">
                <a:noFill/>
                <a:miter lim="800000"/>
                <a:headEnd/>
                <a:tailEnd/>
              </a:ln>
            </p:spPr>
          </p:pic>
        </p:grpSp>
        <p:graphicFrame>
          <p:nvGraphicFramePr>
            <p:cNvPr id="37" name="Object 6"/>
            <p:cNvGraphicFramePr>
              <a:graphicFrameLocks noChangeAspect="1"/>
            </p:cNvGraphicFramePr>
            <p:nvPr/>
          </p:nvGraphicFramePr>
          <p:xfrm>
            <a:off x="5241925" y="1725613"/>
            <a:ext cx="1995488" cy="300037"/>
          </p:xfrm>
          <a:graphic>
            <a:graphicData uri="http://schemas.openxmlformats.org/presentationml/2006/ole">
              <mc:AlternateContent xmlns:mc="http://schemas.openxmlformats.org/markup-compatibility/2006">
                <mc:Choice xmlns:v="urn:schemas-microsoft-com:vml" Requires="v">
                  <p:oleObj spid="_x0000_s57466" name="Equation" r:id="rId8" imgW="32918400" imgH="4876800" progId="Equation.DSMT4">
                    <p:embed/>
                  </p:oleObj>
                </mc:Choice>
                <mc:Fallback>
                  <p:oleObj name="Equation" r:id="rId8" imgW="32918400" imgH="4876800" progId="Equation.DSMT4">
                    <p:embed/>
                    <p:pic>
                      <p:nvPicPr>
                        <p:cNvPr id="0" name="Object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41925" y="1725613"/>
                          <a:ext cx="1995488" cy="3000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76" name="组合 75"/>
          <p:cNvGrpSpPr/>
          <p:nvPr/>
        </p:nvGrpSpPr>
        <p:grpSpPr>
          <a:xfrm>
            <a:off x="476606" y="2162713"/>
            <a:ext cx="2752369" cy="369332"/>
            <a:chOff x="476606" y="2162713"/>
            <a:chExt cx="2752369" cy="369332"/>
          </a:xfrm>
        </p:grpSpPr>
        <p:grpSp>
          <p:nvGrpSpPr>
            <p:cNvPr id="38" name="组合 37"/>
            <p:cNvGrpSpPr/>
            <p:nvPr/>
          </p:nvGrpSpPr>
          <p:grpSpPr>
            <a:xfrm>
              <a:off x="476606" y="2162713"/>
              <a:ext cx="833584" cy="369332"/>
              <a:chOff x="4330854" y="1354964"/>
              <a:chExt cx="833584" cy="369332"/>
            </a:xfrm>
          </p:grpSpPr>
          <p:sp>
            <p:nvSpPr>
              <p:cNvPr id="39" name="矩形 38"/>
              <p:cNvSpPr/>
              <p:nvPr/>
            </p:nvSpPr>
            <p:spPr>
              <a:xfrm>
                <a:off x="4633523" y="1354964"/>
                <a:ext cx="530915" cy="369332"/>
              </a:xfrm>
              <a:prstGeom prst="rect">
                <a:avLst/>
              </a:prstGeom>
            </p:spPr>
            <p:txBody>
              <a:bodyPr wrap="none">
                <a:spAutoFit/>
              </a:bodyPr>
              <a:lstStyle/>
              <a:p>
                <a:r>
                  <a:rPr lang="zh-CN" altLang="en-US" b="1" dirty="0">
                    <a:solidFill>
                      <a:srgbClr val="CC00CC"/>
                    </a:solidFill>
                    <a:latin typeface="黑体" panose="02010609060101010101" pitchFamily="49" charset="-122"/>
                    <a:ea typeface="黑体" panose="02010609060101010101" pitchFamily="49" charset="-122"/>
                  </a:rPr>
                  <a:t>解</a:t>
                </a:r>
                <a:r>
                  <a:rPr lang="en-US" altLang="zh-CN" b="1" dirty="0">
                    <a:solidFill>
                      <a:srgbClr val="CC00CC"/>
                    </a:solidFill>
                    <a:latin typeface="黑体" panose="02010609060101010101" pitchFamily="49" charset="-122"/>
                    <a:ea typeface="黑体" panose="02010609060101010101" pitchFamily="49" charset="-122"/>
                    <a:sym typeface="Wingdings" panose="05000000000000000000" pitchFamily="2" charset="2"/>
                  </a:rPr>
                  <a:t>:</a:t>
                </a:r>
                <a:endParaRPr lang="zh-CN" altLang="en-US" b="1" dirty="0">
                  <a:solidFill>
                    <a:srgbClr val="CC00CC"/>
                  </a:solidFill>
                  <a:latin typeface="黑体" panose="02010609060101010101" pitchFamily="49" charset="-122"/>
                  <a:ea typeface="黑体" panose="02010609060101010101" pitchFamily="49" charset="-122"/>
                </a:endParaRPr>
              </a:p>
            </p:txBody>
          </p:sp>
          <p:pic>
            <p:nvPicPr>
              <p:cNvPr id="40" name="Picture 5"/>
              <p:cNvPicPr>
                <a:picLocks noChangeAspect="1" noChangeArrowheads="1"/>
              </p:cNvPicPr>
              <p:nvPr/>
            </p:nvPicPr>
            <p:blipFill>
              <a:blip r:embed="rId10" cstate="print"/>
              <a:srcRect/>
              <a:stretch>
                <a:fillRect/>
              </a:stretch>
            </p:blipFill>
            <p:spPr bwMode="auto">
              <a:xfrm>
                <a:off x="4330854" y="1369617"/>
                <a:ext cx="348489" cy="340027"/>
              </a:xfrm>
              <a:prstGeom prst="rect">
                <a:avLst/>
              </a:prstGeom>
              <a:noFill/>
              <a:ln w="9525">
                <a:noFill/>
                <a:miter lim="800000"/>
                <a:headEnd/>
                <a:tailEnd/>
              </a:ln>
            </p:spPr>
          </p:pic>
        </p:grpSp>
        <p:graphicFrame>
          <p:nvGraphicFramePr>
            <p:cNvPr id="148489" name="Object 9"/>
            <p:cNvGraphicFramePr>
              <a:graphicFrameLocks noChangeAspect="1"/>
            </p:cNvGraphicFramePr>
            <p:nvPr/>
          </p:nvGraphicFramePr>
          <p:xfrm>
            <a:off x="1293813" y="2181225"/>
            <a:ext cx="1935162" cy="287338"/>
          </p:xfrm>
          <a:graphic>
            <a:graphicData uri="http://schemas.openxmlformats.org/presentationml/2006/ole">
              <mc:AlternateContent xmlns:mc="http://schemas.openxmlformats.org/markup-compatibility/2006">
                <mc:Choice xmlns:v="urn:schemas-microsoft-com:vml" Requires="v">
                  <p:oleObj spid="_x0000_s57467" name="Equation" r:id="rId11" imgW="32918400" imgH="4876800" progId="Equation.DSMT4">
                    <p:embed/>
                  </p:oleObj>
                </mc:Choice>
                <mc:Fallback>
                  <p:oleObj name="Equation" r:id="rId11" imgW="32918400" imgH="4876800" progId="Equation.DSMT4">
                    <p:embed/>
                    <p:pic>
                      <p:nvPicPr>
                        <p:cNvPr id="0" name="Object 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93813" y="2181225"/>
                          <a:ext cx="1935162" cy="287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96" name="圆角矩形 95"/>
          <p:cNvSpPr/>
          <p:nvPr/>
        </p:nvSpPr>
        <p:spPr>
          <a:xfrm>
            <a:off x="1575020" y="2599742"/>
            <a:ext cx="1685290" cy="320040"/>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7" name="圆角矩形 96"/>
          <p:cNvSpPr/>
          <p:nvPr/>
        </p:nvSpPr>
        <p:spPr>
          <a:xfrm>
            <a:off x="1349772" y="3291262"/>
            <a:ext cx="281940" cy="579120"/>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400"/>
              </a:lnSpc>
            </a:pPr>
            <a:r>
              <a:rPr lang="en-US" altLang="zh-CN" sz="1400" b="1" dirty="0">
                <a:solidFill>
                  <a:srgbClr val="0000FF"/>
                </a:solidFill>
                <a:latin typeface="Times New Roman" panose="02020603050405020304" pitchFamily="18" charset="0"/>
                <a:cs typeface="Times New Roman" panose="02020603050405020304" pitchFamily="18" charset="0"/>
              </a:rPr>
              <a:t>X</a:t>
            </a:r>
            <a:endParaRPr lang="en-US" altLang="zh-CN" sz="1400" b="1" dirty="0">
              <a:solidFill>
                <a:srgbClr val="0000FF"/>
              </a:solidFill>
              <a:latin typeface="Times New Roman" panose="02020603050405020304" pitchFamily="18" charset="0"/>
              <a:cs typeface="Times New Roman" panose="02020603050405020304" pitchFamily="18" charset="0"/>
            </a:endParaRPr>
          </a:p>
          <a:p>
            <a:pPr>
              <a:lnSpc>
                <a:spcPts val="1400"/>
              </a:lnSpc>
            </a:pPr>
            <a:r>
              <a:rPr lang="en-US" altLang="zh-CN" sz="1400" b="1" dirty="0">
                <a:solidFill>
                  <a:srgbClr val="0000FF"/>
                </a:solidFill>
                <a:latin typeface="Times New Roman" panose="02020603050405020304" pitchFamily="18" charset="0"/>
                <a:cs typeface="Times New Roman" panose="02020603050405020304" pitchFamily="18" charset="0"/>
              </a:rPr>
              <a:t>Y</a:t>
            </a:r>
            <a:endParaRPr lang="en-US" altLang="zh-CN" sz="1400" b="1" dirty="0">
              <a:solidFill>
                <a:srgbClr val="0000FF"/>
              </a:solidFill>
              <a:latin typeface="Times New Roman" panose="02020603050405020304" pitchFamily="18" charset="0"/>
              <a:cs typeface="Times New Roman" panose="02020603050405020304" pitchFamily="18" charset="0"/>
            </a:endParaRPr>
          </a:p>
          <a:p>
            <a:pPr>
              <a:lnSpc>
                <a:spcPts val="1400"/>
              </a:lnSpc>
            </a:pPr>
            <a:r>
              <a:rPr lang="en-US" altLang="zh-CN" sz="1400" b="1" dirty="0">
                <a:solidFill>
                  <a:srgbClr val="0000FF"/>
                </a:solidFill>
                <a:latin typeface="Times New Roman" panose="02020603050405020304" pitchFamily="18" charset="0"/>
                <a:cs typeface="Times New Roman" panose="02020603050405020304" pitchFamily="18" charset="0"/>
              </a:rPr>
              <a:t>Z</a:t>
            </a:r>
            <a:endParaRPr lang="zh-CN" altLang="en-US" sz="1400" b="1" dirty="0">
              <a:solidFill>
                <a:srgbClr val="0000FF"/>
              </a:solidFill>
              <a:latin typeface="Times New Roman" panose="02020603050405020304" pitchFamily="18" charset="0"/>
              <a:cs typeface="Times New Roman" panose="02020603050405020304" pitchFamily="18" charset="0"/>
            </a:endParaRPr>
          </a:p>
        </p:txBody>
      </p:sp>
      <p:grpSp>
        <p:nvGrpSpPr>
          <p:cNvPr id="25" name="组合 17"/>
          <p:cNvGrpSpPr/>
          <p:nvPr/>
        </p:nvGrpSpPr>
        <p:grpSpPr>
          <a:xfrm>
            <a:off x="392432" y="769746"/>
            <a:ext cx="4933552" cy="420971"/>
            <a:chOff x="670560" y="892917"/>
            <a:chExt cx="4933552" cy="420971"/>
          </a:xfrm>
        </p:grpSpPr>
        <p:sp>
          <p:nvSpPr>
            <p:cNvPr id="30" name="矩形 29"/>
            <p:cNvSpPr/>
            <p:nvPr/>
          </p:nvSpPr>
          <p:spPr>
            <a:xfrm>
              <a:off x="1035233" y="913778"/>
              <a:ext cx="4568879"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集成数据选择器的应用（</a:t>
              </a:r>
              <a:r>
                <a:rPr lang="en-US" altLang="zh-CN" sz="2000" b="1" dirty="0">
                  <a:solidFill>
                    <a:srgbClr val="FF00FF"/>
                  </a:solidFill>
                  <a:latin typeface="微软雅黑" panose="020B0503020204020204" pitchFamily="34" charset="-122"/>
                  <a:ea typeface="微软雅黑" panose="020B0503020204020204" pitchFamily="34" charset="-122"/>
                </a:rPr>
                <a:t>74151</a:t>
              </a:r>
              <a:r>
                <a:rPr lang="zh-CN" altLang="en-US" sz="2000" b="1" dirty="0">
                  <a:solidFill>
                    <a:srgbClr val="FF00FF"/>
                  </a:solidFill>
                  <a:latin typeface="微软雅黑" panose="020B0503020204020204" pitchFamily="34" charset="-122"/>
                  <a:ea typeface="微软雅黑" panose="020B0503020204020204" pitchFamily="34" charset="-122"/>
                </a:rPr>
                <a:t>为例</a:t>
              </a:r>
              <a:r>
                <a:rPr lang="zh-CN" altLang="en-US" sz="2000" b="1" dirty="0">
                  <a:solidFill>
                    <a:srgbClr val="002060"/>
                  </a:solidFill>
                  <a:latin typeface="微软雅黑" panose="020B0503020204020204" pitchFamily="34" charset="-122"/>
                  <a:ea typeface="微软雅黑" panose="020B0503020204020204" pitchFamily="34" charset="-122"/>
                </a:rPr>
                <a: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33" name="Picture 3"/>
            <p:cNvPicPr>
              <a:picLocks noChangeAspect="1" noChangeArrowheads="1"/>
            </p:cNvPicPr>
            <p:nvPr/>
          </p:nvPicPr>
          <p:blipFill>
            <a:blip r:embed="rId13" cstate="print"/>
            <a:srcRect/>
            <a:stretch>
              <a:fillRect/>
            </a:stretch>
          </p:blipFill>
          <p:spPr bwMode="auto">
            <a:xfrm flipH="1">
              <a:off x="670560" y="892917"/>
              <a:ext cx="342900" cy="411055"/>
            </a:xfrm>
            <a:prstGeom prst="rect">
              <a:avLst/>
            </a:prstGeom>
            <a:noFill/>
            <a:ln w="9525">
              <a:noFill/>
              <a:miter lim="800000"/>
              <a:headEnd/>
              <a:tailEnd/>
            </a:ln>
          </p:spPr>
        </p:pic>
      </p:grpSp>
      <p:graphicFrame>
        <p:nvGraphicFramePr>
          <p:cNvPr id="2" name="Object 9"/>
          <p:cNvGraphicFramePr>
            <a:graphicFrameLocks noChangeAspect="1"/>
          </p:cNvGraphicFramePr>
          <p:nvPr/>
        </p:nvGraphicFramePr>
        <p:xfrm>
          <a:off x="3260310" y="2193144"/>
          <a:ext cx="718820" cy="338089"/>
        </p:xfrm>
        <a:graphic>
          <a:graphicData uri="http://schemas.openxmlformats.org/presentationml/2006/ole">
            <mc:AlternateContent xmlns:mc="http://schemas.openxmlformats.org/markup-compatibility/2006">
              <mc:Choice xmlns:v="urn:schemas-microsoft-com:vml" Requires="v">
                <p:oleObj spid="_x0000_s57468" name="Equation" r:id="rId14" imgW="11582400" imgH="5486400" progId="Equation.DSMT4">
                  <p:embed/>
                </p:oleObj>
              </mc:Choice>
              <mc:Fallback>
                <p:oleObj name="Equation" r:id="rId14" imgW="11582400" imgH="5486400" progId="Equation.DSMT4">
                  <p:embed/>
                  <p:pic>
                    <p:nvPicPr>
                      <p:cNvPr id="0" name="Object 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260310" y="2193144"/>
                        <a:ext cx="718820" cy="3380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7" name="组合 76"/>
          <p:cNvGrpSpPr/>
          <p:nvPr/>
        </p:nvGrpSpPr>
        <p:grpSpPr>
          <a:xfrm>
            <a:off x="4164872" y="3434398"/>
            <a:ext cx="1169128" cy="649922"/>
            <a:chOff x="4210592" y="2931478"/>
            <a:chExt cx="1169128" cy="649922"/>
          </a:xfrm>
        </p:grpSpPr>
        <p:sp>
          <p:nvSpPr>
            <p:cNvPr id="41" name="圆角矩形标注 40"/>
            <p:cNvSpPr/>
            <p:nvPr/>
          </p:nvSpPr>
          <p:spPr>
            <a:xfrm>
              <a:off x="4210592" y="2941320"/>
              <a:ext cx="1169128" cy="640080"/>
            </a:xfrm>
            <a:prstGeom prst="wedgeRoundRectCallout">
              <a:avLst>
                <a:gd name="adj1" fmla="val -69412"/>
                <a:gd name="adj2" fmla="val -31384"/>
                <a:gd name="adj3" fmla="val 16667"/>
              </a:avLst>
            </a:prstGeom>
            <a:solidFill>
              <a:srgbClr val="FFFF00"/>
            </a:solidFill>
            <a:ln w="19050">
              <a:solidFill>
                <a:srgbClr val="FF0000"/>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lstStyle/>
            <a:p>
              <a:pPr>
                <a:lnSpc>
                  <a:spcPct val="150000"/>
                </a:lnSpc>
              </a:pPr>
              <a:endParaRPr lang="zh-CN" altLang="en-US" sz="1200" dirty="0">
                <a:solidFill>
                  <a:schemeClr val="tx1"/>
                </a:solidFill>
                <a:latin typeface="微软雅黑" panose="020B0503020204020204" pitchFamily="34" charset="-122"/>
                <a:ea typeface="微软雅黑" panose="020B0503020204020204" pitchFamily="34" charset="-122"/>
              </a:endParaRPr>
            </a:p>
          </p:txBody>
        </p:sp>
        <p:graphicFrame>
          <p:nvGraphicFramePr>
            <p:cNvPr id="34" name="Object 1"/>
            <p:cNvGraphicFramePr>
              <a:graphicFrameLocks noChangeAspect="1"/>
            </p:cNvGraphicFramePr>
            <p:nvPr/>
          </p:nvGraphicFramePr>
          <p:xfrm>
            <a:off x="4242753" y="2931478"/>
            <a:ext cx="1096962" cy="623887"/>
          </p:xfrm>
          <a:graphic>
            <a:graphicData uri="http://schemas.openxmlformats.org/presentationml/2006/ole">
              <mc:AlternateContent xmlns:mc="http://schemas.openxmlformats.org/markup-compatibility/2006">
                <mc:Choice xmlns:v="urn:schemas-microsoft-com:vml" Requires="v">
                  <p:oleObj spid="_x0000_s57469" name="Equation" r:id="rId16" imgW="18288000" imgH="10363200" progId="Equation.DSMT4">
                    <p:embed/>
                  </p:oleObj>
                </mc:Choice>
                <mc:Fallback>
                  <p:oleObj name="Equation" r:id="rId16" imgW="18288000" imgH="10363200" progId="Equation.DSMT4">
                    <p:embed/>
                    <p:pic>
                      <p:nvPicPr>
                        <p:cNvPr id="0" name="Object 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242753" y="2931478"/>
                          <a:ext cx="1096962" cy="623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46" name="AutoShape 9"/>
          <p:cNvSpPr>
            <a:spLocks noChangeArrowheads="1"/>
          </p:cNvSpPr>
          <p:nvPr/>
        </p:nvSpPr>
        <p:spPr bwMode="auto">
          <a:xfrm>
            <a:off x="4449812" y="4229100"/>
            <a:ext cx="1021348" cy="493248"/>
          </a:xfrm>
          <a:prstGeom prst="wedgeRoundRectCallout">
            <a:avLst>
              <a:gd name="adj1" fmla="val 2887"/>
              <a:gd name="adj2" fmla="val -117885"/>
              <a:gd name="adj3" fmla="val 16667"/>
            </a:avLst>
          </a:prstGeom>
          <a:ln w="28575">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2">
            <a:schemeClr val="accent1"/>
          </a:fillRef>
          <a:effectRef idx="1">
            <a:schemeClr val="accent1"/>
          </a:effectRef>
          <a:fontRef idx="minor">
            <a:schemeClr val="dk1"/>
          </a:fontRef>
        </p:style>
        <p:txBody>
          <a:bodyPr lIns="0" rIns="0" anchor="ctr"/>
          <a:lstStyle/>
          <a:p>
            <a:pPr algn="ctr"/>
            <a:r>
              <a:rPr lang="en-US" altLang="zh-CN"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12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12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12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的第</a:t>
            </a:r>
            <a:r>
              <a:rPr lang="en-US" altLang="zh-CN" sz="1200" dirty="0" err="1">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个最小项</a:t>
            </a:r>
            <a:endPar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67" name="组合 66"/>
          <p:cNvGrpSpPr/>
          <p:nvPr/>
        </p:nvGrpSpPr>
        <p:grpSpPr>
          <a:xfrm>
            <a:off x="1585131" y="4239922"/>
            <a:ext cx="2280230" cy="594441"/>
            <a:chOff x="1735150" y="4244684"/>
            <a:chExt cx="2280230" cy="594441"/>
          </a:xfrm>
        </p:grpSpPr>
        <p:grpSp>
          <p:nvGrpSpPr>
            <p:cNvPr id="58" name="组合 57"/>
            <p:cNvGrpSpPr/>
            <p:nvPr/>
          </p:nvGrpSpPr>
          <p:grpSpPr>
            <a:xfrm>
              <a:off x="1959696" y="4255398"/>
              <a:ext cx="2055684" cy="462126"/>
              <a:chOff x="1959696" y="4255398"/>
              <a:chExt cx="2055684" cy="462126"/>
            </a:xfrm>
          </p:grpSpPr>
          <p:cxnSp>
            <p:nvCxnSpPr>
              <p:cNvPr id="48" name="直接连接符 47"/>
              <p:cNvCxnSpPr/>
              <p:nvPr/>
            </p:nvCxnSpPr>
            <p:spPr>
              <a:xfrm flipH="1">
                <a:off x="3767870" y="4270638"/>
                <a:ext cx="0" cy="446886"/>
              </a:xfrm>
              <a:prstGeom prst="line">
                <a:avLst/>
              </a:prstGeom>
              <a:ln w="28575">
                <a:tailEnd type="oval"/>
              </a:ln>
            </p:spPr>
            <p:style>
              <a:lnRef idx="1">
                <a:schemeClr val="accent1"/>
              </a:lnRef>
              <a:fillRef idx="0">
                <a:schemeClr val="accent1"/>
              </a:fillRef>
              <a:effectRef idx="0">
                <a:schemeClr val="accent1"/>
              </a:effectRef>
              <a:fontRef idx="minor">
                <a:schemeClr val="tx1"/>
              </a:fontRef>
            </p:style>
          </p:cxnSp>
          <p:cxnSp>
            <p:nvCxnSpPr>
              <p:cNvPr id="51" name="肘形连接符 50"/>
              <p:cNvCxnSpPr/>
              <p:nvPr/>
            </p:nvCxnSpPr>
            <p:spPr>
              <a:xfrm rot="10800000" flipV="1">
                <a:off x="1959696" y="4269490"/>
                <a:ext cx="2055684" cy="440013"/>
              </a:xfrm>
              <a:prstGeom prst="bentConnector3">
                <a:avLst>
                  <a:gd name="adj1" fmla="val 167"/>
                </a:avLst>
              </a:prstGeom>
              <a:ln w="28575"/>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528861" y="4270638"/>
                <a:ext cx="0" cy="446886"/>
              </a:xfrm>
              <a:prstGeom prst="line">
                <a:avLst/>
              </a:prstGeom>
              <a:ln w="28575">
                <a:tailEnd type="ova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2545423" y="4255398"/>
                <a:ext cx="0" cy="446886"/>
              </a:xfrm>
              <a:prstGeom prst="line">
                <a:avLst/>
              </a:prstGeom>
              <a:ln w="28575">
                <a:tailEnd type="oval"/>
              </a:ln>
            </p:spPr>
            <p:style>
              <a:lnRef idx="1">
                <a:schemeClr val="accent1"/>
              </a:lnRef>
              <a:fillRef idx="0">
                <a:schemeClr val="accent1"/>
              </a:fillRef>
              <a:effectRef idx="0">
                <a:schemeClr val="accent1"/>
              </a:effectRef>
              <a:fontRef idx="minor">
                <a:schemeClr val="tx1"/>
              </a:fontRef>
            </p:style>
          </p:cxnSp>
        </p:grpSp>
        <p:grpSp>
          <p:nvGrpSpPr>
            <p:cNvPr id="65" name="组合 64"/>
            <p:cNvGrpSpPr/>
            <p:nvPr/>
          </p:nvGrpSpPr>
          <p:grpSpPr>
            <a:xfrm>
              <a:off x="1966304" y="4244684"/>
              <a:ext cx="1314308" cy="277620"/>
              <a:chOff x="1966304" y="4244684"/>
              <a:chExt cx="1314308" cy="277620"/>
            </a:xfrm>
          </p:grpSpPr>
          <p:cxnSp>
            <p:nvCxnSpPr>
              <p:cNvPr id="59" name="肘形连接符 58"/>
              <p:cNvCxnSpPr/>
              <p:nvPr/>
            </p:nvCxnSpPr>
            <p:spPr>
              <a:xfrm rot="10800000" flipV="1">
                <a:off x="1966304" y="4256886"/>
                <a:ext cx="1314308" cy="260112"/>
              </a:xfrm>
              <a:prstGeom prst="bentConnector3">
                <a:avLst>
                  <a:gd name="adj1" fmla="val 305"/>
                </a:avLst>
              </a:prstGeom>
              <a:ln w="28575"/>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2789123" y="4252304"/>
                <a:ext cx="0" cy="270000"/>
              </a:xfrm>
              <a:prstGeom prst="line">
                <a:avLst/>
              </a:prstGeom>
              <a:ln w="28575">
                <a:tailEnd type="ova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3030174" y="4244684"/>
                <a:ext cx="0" cy="270000"/>
              </a:xfrm>
              <a:prstGeom prst="line">
                <a:avLst/>
              </a:prstGeom>
              <a:ln w="28575">
                <a:tailEnd type="ova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2299749" y="4252304"/>
                <a:ext cx="0" cy="270000"/>
              </a:xfrm>
              <a:prstGeom prst="line">
                <a:avLst/>
              </a:prstGeom>
              <a:ln w="28575">
                <a:tailEnd type="oval"/>
              </a:ln>
            </p:spPr>
            <p:style>
              <a:lnRef idx="1">
                <a:schemeClr val="accent1"/>
              </a:lnRef>
              <a:fillRef idx="0">
                <a:schemeClr val="accent1"/>
              </a:fillRef>
              <a:effectRef idx="0">
                <a:schemeClr val="accent1"/>
              </a:effectRef>
              <a:fontRef idx="minor">
                <a:schemeClr val="tx1"/>
              </a:fontRef>
            </p:style>
          </p:cxnSp>
        </p:grpSp>
        <p:sp>
          <p:nvSpPr>
            <p:cNvPr id="66" name="矩形 65"/>
            <p:cNvSpPr/>
            <p:nvPr/>
          </p:nvSpPr>
          <p:spPr>
            <a:xfrm>
              <a:off x="1735150" y="4378486"/>
              <a:ext cx="300082" cy="460639"/>
            </a:xfrm>
            <a:prstGeom prst="rect">
              <a:avLst/>
            </a:prstGeom>
            <a:ln w="28575">
              <a:noFill/>
            </a:ln>
          </p:spPr>
          <p:txBody>
            <a:bodyPr wrap="none">
              <a:spAutoFit/>
            </a:bodyPr>
            <a:lstStyle/>
            <a:p>
              <a:pPr>
                <a:lnSpc>
                  <a:spcPts val="1400"/>
                </a:lnSpc>
              </a:pPr>
              <a:r>
                <a:rPr lang="en-US" altLang="zh-CN" b="1" dirty="0">
                  <a:solidFill>
                    <a:srgbClr val="0000FF"/>
                  </a:solidFill>
                  <a:latin typeface="Times New Roman" panose="02020603050405020304" pitchFamily="18" charset="0"/>
                  <a:cs typeface="Times New Roman" panose="02020603050405020304" pitchFamily="18" charset="0"/>
                </a:rPr>
                <a:t>0</a:t>
              </a:r>
              <a:endParaRPr lang="en-US" altLang="zh-CN" b="1" dirty="0">
                <a:solidFill>
                  <a:srgbClr val="0000FF"/>
                </a:solidFill>
                <a:latin typeface="Times New Roman" panose="02020603050405020304" pitchFamily="18" charset="0"/>
                <a:cs typeface="Times New Roman" panose="02020603050405020304" pitchFamily="18" charset="0"/>
              </a:endParaRPr>
            </a:p>
            <a:p>
              <a:pPr>
                <a:lnSpc>
                  <a:spcPts val="1400"/>
                </a:lnSpc>
              </a:pPr>
              <a:r>
                <a:rPr lang="en-US" altLang="zh-CN" b="1" dirty="0">
                  <a:solidFill>
                    <a:srgbClr val="0000FF"/>
                  </a:solidFill>
                  <a:latin typeface="Times New Roman" panose="02020603050405020304" pitchFamily="18" charset="0"/>
                  <a:cs typeface="Times New Roman" panose="02020603050405020304" pitchFamily="18" charset="0"/>
                </a:rPr>
                <a:t>1</a:t>
              </a:r>
              <a:endParaRPr lang="zh-CN" altLang="en-US" b="1" dirty="0">
                <a:solidFill>
                  <a:srgbClr val="0000FF"/>
                </a:solidFill>
                <a:latin typeface="Times New Roman" panose="02020603050405020304" pitchFamily="18" charset="0"/>
                <a:cs typeface="Times New Roman" panose="02020603050405020304" pitchFamily="18" charset="0"/>
              </a:endParaRPr>
            </a:p>
          </p:txBody>
        </p:sp>
      </p:grpSp>
      <p:grpSp>
        <p:nvGrpSpPr>
          <p:cNvPr id="74" name="组合 73"/>
          <p:cNvGrpSpPr/>
          <p:nvPr/>
        </p:nvGrpSpPr>
        <p:grpSpPr>
          <a:xfrm>
            <a:off x="1456394" y="4015111"/>
            <a:ext cx="275008" cy="247506"/>
            <a:chOff x="1608794" y="4015111"/>
            <a:chExt cx="275008" cy="247506"/>
          </a:xfrm>
        </p:grpSpPr>
        <p:cxnSp>
          <p:nvCxnSpPr>
            <p:cNvPr id="69" name="肘形连接符 68"/>
            <p:cNvCxnSpPr/>
            <p:nvPr/>
          </p:nvCxnSpPr>
          <p:spPr>
            <a:xfrm rot="5400000">
              <a:off x="1660359" y="4039173"/>
              <a:ext cx="247506" cy="199381"/>
            </a:xfrm>
            <a:prstGeom prst="bentConnector3">
              <a:avLst>
                <a:gd name="adj1" fmla="val 1"/>
              </a:avLst>
            </a:prstGeom>
            <a:ln w="28575"/>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1608794" y="4255741"/>
              <a:ext cx="180000" cy="0"/>
            </a:xfrm>
            <a:prstGeom prst="line">
              <a:avLst/>
            </a:prstGeom>
            <a:ln w="28575"/>
          </p:spPr>
          <p:style>
            <a:lnRef idx="1">
              <a:schemeClr val="accent1"/>
            </a:lnRef>
            <a:fillRef idx="0">
              <a:schemeClr val="accent1"/>
            </a:fillRef>
            <a:effectRef idx="0">
              <a:schemeClr val="accent1"/>
            </a:effectRef>
            <a:fontRef idx="minor">
              <a:schemeClr val="tx1"/>
            </a:fontRef>
          </p:style>
        </p:cxnSp>
      </p:grpSp>
      <p:sp>
        <p:nvSpPr>
          <p:cNvPr id="75" name="矩形 74"/>
          <p:cNvSpPr/>
          <p:nvPr/>
        </p:nvSpPr>
        <p:spPr>
          <a:xfrm>
            <a:off x="2896376" y="3017198"/>
            <a:ext cx="338554" cy="281103"/>
          </a:xfrm>
          <a:prstGeom prst="rect">
            <a:avLst/>
          </a:prstGeom>
        </p:spPr>
        <p:txBody>
          <a:bodyPr wrap="none">
            <a:spAutoFit/>
          </a:bodyPr>
          <a:lstStyle/>
          <a:p>
            <a:pPr>
              <a:lnSpc>
                <a:spcPts val="1400"/>
              </a:lnSpc>
            </a:pPr>
            <a:r>
              <a:rPr lang="en-US" altLang="zh-CN" b="1" i="1" dirty="0">
                <a:solidFill>
                  <a:srgbClr val="0000FF"/>
                </a:solidFill>
                <a:latin typeface="Times New Roman" panose="02020603050405020304" pitchFamily="18" charset="0"/>
                <a:cs typeface="Times New Roman" panose="02020603050405020304" pitchFamily="18" charset="0"/>
              </a:rPr>
              <a:t>L</a:t>
            </a:r>
            <a:endParaRPr lang="en-US" altLang="zh-CN" b="1" i="1" dirty="0">
              <a:solidFill>
                <a:srgbClr val="0000FF"/>
              </a:solidFill>
              <a:latin typeface="Times New Roman" panose="02020603050405020304" pitchFamily="18" charset="0"/>
              <a:cs typeface="Times New Roman" panose="02020603050405020304" pitchFamily="18" charset="0"/>
            </a:endParaRPr>
          </a:p>
        </p:txBody>
      </p:sp>
      <p:grpSp>
        <p:nvGrpSpPr>
          <p:cNvPr id="81" name="组合 80"/>
          <p:cNvGrpSpPr/>
          <p:nvPr/>
        </p:nvGrpSpPr>
        <p:grpSpPr>
          <a:xfrm>
            <a:off x="5608052" y="3471398"/>
            <a:ext cx="2255788" cy="757702"/>
            <a:chOff x="5691872" y="2861798"/>
            <a:chExt cx="2255788" cy="757702"/>
          </a:xfrm>
          <a:solidFill>
            <a:srgbClr val="FFFF00"/>
          </a:solidFill>
        </p:grpSpPr>
        <p:sp>
          <p:nvSpPr>
            <p:cNvPr id="78" name="AutoShape 9"/>
            <p:cNvSpPr>
              <a:spLocks noChangeArrowheads="1"/>
            </p:cNvSpPr>
            <p:nvPr/>
          </p:nvSpPr>
          <p:spPr bwMode="auto">
            <a:xfrm>
              <a:off x="5691872" y="2861798"/>
              <a:ext cx="2255788" cy="757702"/>
            </a:xfrm>
            <a:prstGeom prst="wedgeRoundRectCallout">
              <a:avLst>
                <a:gd name="adj1" fmla="val -62223"/>
                <a:gd name="adj2" fmla="val -10502"/>
                <a:gd name="adj3" fmla="val 16667"/>
              </a:avLst>
            </a:prstGeom>
            <a:grpFill/>
            <a:ln w="38100">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2">
              <a:schemeClr val="accent1"/>
            </a:fillRef>
            <a:effectRef idx="1">
              <a:schemeClr val="accent1"/>
            </a:effectRef>
            <a:fontRef idx="minor">
              <a:schemeClr val="dk1"/>
            </a:fontRef>
          </p:style>
          <p:txBody>
            <a:bodyPr lIns="0" rIns="0" anchor="ctr"/>
            <a:lstStyle/>
            <a:p>
              <a:pPr algn="ctr"/>
              <a:endPar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79" name="Object 13"/>
            <p:cNvGraphicFramePr>
              <a:graphicFrameLocks noChangeAspect="1"/>
            </p:cNvGraphicFramePr>
            <p:nvPr/>
          </p:nvGraphicFramePr>
          <p:xfrm>
            <a:off x="5852795" y="2948940"/>
            <a:ext cx="1936750" cy="322263"/>
          </p:xfrm>
          <a:graphic>
            <a:graphicData uri="http://schemas.openxmlformats.org/presentationml/2006/ole">
              <mc:AlternateContent xmlns:mc="http://schemas.openxmlformats.org/markup-compatibility/2006">
                <mc:Choice xmlns:v="urn:schemas-microsoft-com:vml" Requires="v">
                  <p:oleObj spid="_x0000_s57470" name="Equation" r:id="rId18" imgW="32918400" imgH="5486400" progId="Equation.DSMT4">
                    <p:embed/>
                  </p:oleObj>
                </mc:Choice>
                <mc:Fallback>
                  <p:oleObj name="Equation" r:id="rId18" imgW="32918400" imgH="5486400" progId="Equation.DSMT4">
                    <p:embed/>
                    <p:pic>
                      <p:nvPicPr>
                        <p:cNvPr id="0" name="Object 1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852795" y="2948940"/>
                          <a:ext cx="1936750" cy="32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7669" name="Object 21"/>
          <p:cNvGraphicFramePr>
            <a:graphicFrameLocks noChangeAspect="1"/>
          </p:cNvGraphicFramePr>
          <p:nvPr/>
        </p:nvGraphicFramePr>
        <p:xfrm>
          <a:off x="3979863" y="2195513"/>
          <a:ext cx="2519362" cy="292100"/>
        </p:xfrm>
        <a:graphic>
          <a:graphicData uri="http://schemas.openxmlformats.org/presentationml/2006/ole">
            <mc:AlternateContent xmlns:mc="http://schemas.openxmlformats.org/markup-compatibility/2006">
              <mc:Choice xmlns:v="urn:schemas-microsoft-com:vml" Requires="v">
                <p:oleObj spid="_x0000_s57471" name="Equation" r:id="rId20" imgW="42062400" imgH="4876800" progId="Equation.DSMT4">
                  <p:embed/>
                </p:oleObj>
              </mc:Choice>
              <mc:Fallback>
                <p:oleObj name="Equation" r:id="rId20" imgW="42062400" imgH="4876800" progId="Equation.DSMT4">
                  <p:embed/>
                  <p:pic>
                    <p:nvPicPr>
                      <p:cNvPr id="0" name="Object 2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979863" y="2195513"/>
                        <a:ext cx="2519362" cy="292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7677" name="Object 29"/>
          <p:cNvGraphicFramePr>
            <a:graphicFrameLocks noChangeAspect="1"/>
          </p:cNvGraphicFramePr>
          <p:nvPr/>
        </p:nvGraphicFramePr>
        <p:xfrm>
          <a:off x="3977640" y="2898458"/>
          <a:ext cx="1792288" cy="342900"/>
        </p:xfrm>
        <a:graphic>
          <a:graphicData uri="http://schemas.openxmlformats.org/presentationml/2006/ole">
            <mc:AlternateContent xmlns:mc="http://schemas.openxmlformats.org/markup-compatibility/2006">
              <mc:Choice xmlns:v="urn:schemas-microsoft-com:vml" Requires="v">
                <p:oleObj spid="_x0000_s57472" name="Equation" r:id="rId22" imgW="28651200" imgH="5486400" progId="Equation.DSMT4">
                  <p:embed/>
                </p:oleObj>
              </mc:Choice>
              <mc:Fallback>
                <p:oleObj name="Equation" r:id="rId22" imgW="28651200" imgH="5486400" progId="Equation.DSMT4">
                  <p:embed/>
                  <p:pic>
                    <p:nvPicPr>
                      <p:cNvPr id="0" name="Object 29"/>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977640" y="2898458"/>
                        <a:ext cx="179228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8" name="圆角矩形 67"/>
          <p:cNvSpPr/>
          <p:nvPr/>
        </p:nvSpPr>
        <p:spPr>
          <a:xfrm>
            <a:off x="1345962" y="3301683"/>
            <a:ext cx="289560" cy="579120"/>
          </a:xfrm>
          <a:prstGeom prst="roundRect">
            <a:avLst>
              <a:gd name="adj" fmla="val 7018"/>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ts val="1400"/>
              </a:lnSpc>
            </a:pPr>
            <a:r>
              <a:rPr lang="en-US" altLang="zh-CN" sz="1400" b="1" dirty="0">
                <a:solidFill>
                  <a:srgbClr val="0000FF"/>
                </a:solidFill>
                <a:latin typeface="Times New Roman" panose="02020603050405020304" pitchFamily="18" charset="0"/>
                <a:cs typeface="Times New Roman" panose="02020603050405020304" pitchFamily="18" charset="0"/>
              </a:rPr>
              <a:t>Z</a:t>
            </a:r>
            <a:endParaRPr lang="en-US" altLang="zh-CN" sz="1400" b="1" dirty="0">
              <a:solidFill>
                <a:srgbClr val="0000FF"/>
              </a:solidFill>
              <a:latin typeface="Times New Roman" panose="02020603050405020304" pitchFamily="18" charset="0"/>
              <a:cs typeface="Times New Roman" panose="02020603050405020304" pitchFamily="18" charset="0"/>
            </a:endParaRPr>
          </a:p>
          <a:p>
            <a:pPr>
              <a:lnSpc>
                <a:spcPts val="1400"/>
              </a:lnSpc>
            </a:pPr>
            <a:r>
              <a:rPr lang="en-US" altLang="zh-CN" sz="1400" b="1" dirty="0">
                <a:solidFill>
                  <a:srgbClr val="0000FF"/>
                </a:solidFill>
                <a:latin typeface="Times New Roman" panose="02020603050405020304" pitchFamily="18" charset="0"/>
                <a:cs typeface="Times New Roman" panose="02020603050405020304" pitchFamily="18" charset="0"/>
              </a:rPr>
              <a:t>X</a:t>
            </a:r>
            <a:endParaRPr lang="en-US" altLang="zh-CN" sz="1400" b="1" dirty="0">
              <a:solidFill>
                <a:srgbClr val="0000FF"/>
              </a:solidFill>
              <a:latin typeface="Times New Roman" panose="02020603050405020304" pitchFamily="18" charset="0"/>
              <a:cs typeface="Times New Roman" panose="02020603050405020304" pitchFamily="18" charset="0"/>
            </a:endParaRPr>
          </a:p>
          <a:p>
            <a:pPr>
              <a:lnSpc>
                <a:spcPts val="1400"/>
              </a:lnSpc>
            </a:pPr>
            <a:r>
              <a:rPr lang="en-US" altLang="zh-CN" sz="1400" b="1" dirty="0">
                <a:solidFill>
                  <a:srgbClr val="0000FF"/>
                </a:solidFill>
                <a:latin typeface="Times New Roman" panose="02020603050405020304" pitchFamily="18" charset="0"/>
                <a:cs typeface="Times New Roman" panose="02020603050405020304" pitchFamily="18" charset="0"/>
              </a:rPr>
              <a:t>Y</a:t>
            </a:r>
            <a:endParaRPr lang="en-US" altLang="zh-CN" sz="1400" b="1" dirty="0">
              <a:solidFill>
                <a:srgbClr val="0000FF"/>
              </a:solidFill>
              <a:latin typeface="Times New Roman" panose="02020603050405020304" pitchFamily="18" charset="0"/>
              <a:cs typeface="Times New Roman" panose="02020603050405020304" pitchFamily="18" charset="0"/>
            </a:endParaRPr>
          </a:p>
        </p:txBody>
      </p:sp>
      <p:graphicFrame>
        <p:nvGraphicFramePr>
          <p:cNvPr id="85" name="Object 14"/>
          <p:cNvGraphicFramePr>
            <a:graphicFrameLocks noChangeAspect="1"/>
          </p:cNvGraphicFramePr>
          <p:nvPr/>
        </p:nvGraphicFramePr>
        <p:xfrm>
          <a:off x="5748360" y="3837940"/>
          <a:ext cx="1989137" cy="322263"/>
        </p:xfrm>
        <a:graphic>
          <a:graphicData uri="http://schemas.openxmlformats.org/presentationml/2006/ole">
            <mc:AlternateContent xmlns:mc="http://schemas.openxmlformats.org/markup-compatibility/2006">
              <mc:Choice xmlns:v="urn:schemas-microsoft-com:vml" Requires="v">
                <p:oleObj spid="_x0000_s57473" name="Equation" r:id="rId24" imgW="33832800" imgH="5486400" progId="Equation.DSMT4">
                  <p:embed/>
                </p:oleObj>
              </mc:Choice>
              <mc:Fallback>
                <p:oleObj name="Equation" r:id="rId24" imgW="33832800" imgH="5486400" progId="Equation.DSMT4">
                  <p:embed/>
                  <p:pic>
                    <p:nvPicPr>
                      <p:cNvPr id="0" name="Object 1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5748360" y="3837940"/>
                        <a:ext cx="1989137" cy="32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71" name="组合 70"/>
          <p:cNvGrpSpPr/>
          <p:nvPr/>
        </p:nvGrpSpPr>
        <p:grpSpPr>
          <a:xfrm>
            <a:off x="5608052" y="3482220"/>
            <a:ext cx="2255788" cy="757702"/>
            <a:chOff x="5691872" y="2861798"/>
            <a:chExt cx="2255788" cy="757702"/>
          </a:xfrm>
          <a:solidFill>
            <a:srgbClr val="66FF66"/>
          </a:solidFill>
        </p:grpSpPr>
        <p:sp>
          <p:nvSpPr>
            <p:cNvPr id="73" name="AutoShape 9"/>
            <p:cNvSpPr>
              <a:spLocks noChangeArrowheads="1"/>
            </p:cNvSpPr>
            <p:nvPr/>
          </p:nvSpPr>
          <p:spPr bwMode="auto">
            <a:xfrm>
              <a:off x="5691872" y="2861798"/>
              <a:ext cx="2255788" cy="757702"/>
            </a:xfrm>
            <a:prstGeom prst="wedgeRoundRectCallout">
              <a:avLst>
                <a:gd name="adj1" fmla="val -62223"/>
                <a:gd name="adj2" fmla="val -10502"/>
                <a:gd name="adj3" fmla="val 16667"/>
              </a:avLst>
            </a:prstGeom>
            <a:grpFill/>
            <a:ln w="38100">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1"/>
            </a:lnRef>
            <a:fillRef idx="2">
              <a:schemeClr val="accent1"/>
            </a:fillRef>
            <a:effectRef idx="1">
              <a:schemeClr val="accent1"/>
            </a:effectRef>
            <a:fontRef idx="minor">
              <a:schemeClr val="dk1"/>
            </a:fontRef>
          </p:style>
          <p:txBody>
            <a:bodyPr lIns="0" rIns="0" anchor="ctr"/>
            <a:lstStyle/>
            <a:p>
              <a:pPr algn="ctr"/>
              <a:endParaRPr lang="zh-CN" altLang="en-US" sz="12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aphicFrame>
          <p:nvGraphicFramePr>
            <p:cNvPr id="83" name="Object 13"/>
            <p:cNvGraphicFramePr>
              <a:graphicFrameLocks noChangeAspect="1"/>
            </p:cNvGraphicFramePr>
            <p:nvPr/>
          </p:nvGraphicFramePr>
          <p:xfrm>
            <a:off x="5844540" y="2949575"/>
            <a:ext cx="1954213" cy="322263"/>
          </p:xfrm>
          <a:graphic>
            <a:graphicData uri="http://schemas.openxmlformats.org/presentationml/2006/ole">
              <mc:AlternateContent xmlns:mc="http://schemas.openxmlformats.org/markup-compatibility/2006">
                <mc:Choice xmlns:v="urn:schemas-microsoft-com:vml" Requires="v">
                  <p:oleObj spid="_x0000_s57474" name="Equation" r:id="rId26" imgW="33223200" imgH="5486400" progId="Equation.DSMT4">
                    <p:embed/>
                  </p:oleObj>
                </mc:Choice>
                <mc:Fallback>
                  <p:oleObj name="Equation" r:id="rId26" imgW="33223200" imgH="5486400" progId="Equation.DSMT4">
                    <p:embed/>
                    <p:pic>
                      <p:nvPicPr>
                        <p:cNvPr id="0" name="Object 13"/>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5844540" y="2949575"/>
                          <a:ext cx="1954213" cy="32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84" name="Object 14"/>
            <p:cNvGraphicFramePr>
              <a:graphicFrameLocks noChangeAspect="1"/>
            </p:cNvGraphicFramePr>
            <p:nvPr/>
          </p:nvGraphicFramePr>
          <p:xfrm>
            <a:off x="5839778" y="3228975"/>
            <a:ext cx="1971675" cy="322263"/>
          </p:xfrm>
          <a:graphic>
            <a:graphicData uri="http://schemas.openxmlformats.org/presentationml/2006/ole">
              <mc:AlternateContent xmlns:mc="http://schemas.openxmlformats.org/markup-compatibility/2006">
                <mc:Choice xmlns:v="urn:schemas-microsoft-com:vml" Requires="v">
                  <p:oleObj spid="_x0000_s57475" name="Equation" r:id="rId28" imgW="33528000" imgH="5486400" progId="Equation.DSMT4">
                    <p:embed/>
                  </p:oleObj>
                </mc:Choice>
                <mc:Fallback>
                  <p:oleObj name="Equation" r:id="rId28" imgW="33528000" imgH="5486400" progId="Equation.DSMT4">
                    <p:embed/>
                    <p:pic>
                      <p:nvPicPr>
                        <p:cNvPr id="0" name="Object 14"/>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5839778" y="3228975"/>
                          <a:ext cx="1971675" cy="32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32" fill="hold" nodeType="afterEffect">
                                  <p:stCondLst>
                                    <p:cond delay="0"/>
                                  </p:stCondLst>
                                  <p:childTnLst>
                                    <p:set>
                                      <p:cBhvr>
                                        <p:cTn id="6" dur="1" fill="hold">
                                          <p:stCondLst>
                                            <p:cond delay="0"/>
                                          </p:stCondLst>
                                        </p:cTn>
                                        <p:tgtEl>
                                          <p:spTgt spid="148491"/>
                                        </p:tgtEl>
                                        <p:attrNameLst>
                                          <p:attrName>style.visibility</p:attrName>
                                        </p:attrNameLst>
                                      </p:cBhvr>
                                      <p:to>
                                        <p:strVal val="visible"/>
                                      </p:to>
                                    </p:set>
                                    <p:animEffect transition="in" filter="diamond(out)">
                                      <p:cBhvr>
                                        <p:cTn id="7" dur="1000"/>
                                        <p:tgtEl>
                                          <p:spTgt spid="14849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6"/>
                                        </p:tgtEl>
                                        <p:attrNameLst>
                                          <p:attrName>style.visibility</p:attrName>
                                        </p:attrNameLst>
                                      </p:cBhvr>
                                      <p:to>
                                        <p:strVal val="visible"/>
                                      </p:to>
                                    </p:set>
                                    <p:animEffect transition="in" filter="wipe(left)">
                                      <p:cBhvr>
                                        <p:cTn id="12" dur="1000"/>
                                        <p:tgtEl>
                                          <p:spTgt spid="76"/>
                                        </p:tgtEl>
                                      </p:cBhvr>
                                    </p:animEffect>
                                  </p:childTnLst>
                                </p:cTn>
                              </p:par>
                            </p:childTnLst>
                          </p:cTn>
                        </p:par>
                        <p:par>
                          <p:cTn id="13" fill="hold">
                            <p:stCondLst>
                              <p:cond delay="1000"/>
                            </p:stCondLst>
                            <p:childTnLst>
                              <p:par>
                                <p:cTn id="14" presetID="12" presetClass="entr" presetSubtype="2"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slide(fromRight)">
                                      <p:cBhvr>
                                        <p:cTn id="16" dur="1000"/>
                                        <p:tgtEl>
                                          <p:spTgt spid="2"/>
                                        </p:tgtEl>
                                      </p:cBhvr>
                                    </p:animEffect>
                                  </p:childTnLst>
                                </p:cTn>
                              </p:par>
                            </p:childTnLst>
                          </p:cTn>
                        </p:par>
                        <p:par>
                          <p:cTn id="17" fill="hold">
                            <p:stCondLst>
                              <p:cond delay="2000"/>
                            </p:stCondLst>
                            <p:childTnLst>
                              <p:par>
                                <p:cTn id="18" presetID="22" presetClass="entr" presetSubtype="8" fill="hold" nodeType="afterEffect">
                                  <p:stCondLst>
                                    <p:cond delay="0"/>
                                  </p:stCondLst>
                                  <p:childTnLst>
                                    <p:set>
                                      <p:cBhvr>
                                        <p:cTn id="19" dur="1" fill="hold">
                                          <p:stCondLst>
                                            <p:cond delay="0"/>
                                          </p:stCondLst>
                                        </p:cTn>
                                        <p:tgtEl>
                                          <p:spTgt spid="27669"/>
                                        </p:tgtEl>
                                        <p:attrNameLst>
                                          <p:attrName>style.visibility</p:attrName>
                                        </p:attrNameLst>
                                      </p:cBhvr>
                                      <p:to>
                                        <p:strVal val="visible"/>
                                      </p:to>
                                    </p:set>
                                    <p:animEffect transition="in" filter="wipe(left)">
                                      <p:cBhvr>
                                        <p:cTn id="20" dur="1000"/>
                                        <p:tgtEl>
                                          <p:spTgt spid="27669"/>
                                        </p:tgtEl>
                                      </p:cBhvr>
                                    </p:animEffect>
                                  </p:childTnLst>
                                </p:cTn>
                              </p:par>
                            </p:childTnLst>
                          </p:cTn>
                        </p:par>
                        <p:par>
                          <p:cTn id="21" fill="hold">
                            <p:stCondLst>
                              <p:cond delay="3000"/>
                            </p:stCondLst>
                            <p:childTnLst>
                              <p:par>
                                <p:cTn id="22" presetID="12" presetClass="entr" presetSubtype="4" fill="hold" nodeType="afterEffect">
                                  <p:stCondLst>
                                    <p:cond delay="0"/>
                                  </p:stCondLst>
                                  <p:childTnLst>
                                    <p:set>
                                      <p:cBhvr>
                                        <p:cTn id="23" dur="1" fill="hold">
                                          <p:stCondLst>
                                            <p:cond delay="0"/>
                                          </p:stCondLst>
                                        </p:cTn>
                                        <p:tgtEl>
                                          <p:spTgt spid="27667"/>
                                        </p:tgtEl>
                                        <p:attrNameLst>
                                          <p:attrName>style.visibility</p:attrName>
                                        </p:attrNameLst>
                                      </p:cBhvr>
                                      <p:to>
                                        <p:strVal val="visible"/>
                                      </p:to>
                                    </p:set>
                                    <p:animEffect transition="in" filter="slide(fromBottom)">
                                      <p:cBhvr>
                                        <p:cTn id="24" dur="1000"/>
                                        <p:tgtEl>
                                          <p:spTgt spid="2766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77"/>
                                        </p:tgtEl>
                                        <p:attrNameLst>
                                          <p:attrName>style.visibility</p:attrName>
                                        </p:attrNameLst>
                                      </p:cBhvr>
                                      <p:to>
                                        <p:strVal val="visible"/>
                                      </p:to>
                                    </p:set>
                                    <p:animEffect transition="in" filter="wipe(left)">
                                      <p:cBhvr>
                                        <p:cTn id="29" dur="1000"/>
                                        <p:tgtEl>
                                          <p:spTgt spid="77"/>
                                        </p:tgtEl>
                                      </p:cBhvr>
                                    </p:animEffect>
                                  </p:childTnLst>
                                </p:cTn>
                              </p:par>
                            </p:childTnLst>
                          </p:cTn>
                        </p:par>
                        <p:par>
                          <p:cTn id="30" fill="hold">
                            <p:stCondLst>
                              <p:cond delay="1000"/>
                            </p:stCondLst>
                            <p:childTnLst>
                              <p:par>
                                <p:cTn id="31" presetID="22" presetClass="entr" presetSubtype="1" fill="hold" grpId="0" nodeType="afterEffect">
                                  <p:stCondLst>
                                    <p:cond delay="0"/>
                                  </p:stCondLst>
                                  <p:childTnLst>
                                    <p:set>
                                      <p:cBhvr>
                                        <p:cTn id="32" dur="1" fill="hold">
                                          <p:stCondLst>
                                            <p:cond delay="0"/>
                                          </p:stCondLst>
                                        </p:cTn>
                                        <p:tgtEl>
                                          <p:spTgt spid="46"/>
                                        </p:tgtEl>
                                        <p:attrNameLst>
                                          <p:attrName>style.visibility</p:attrName>
                                        </p:attrNameLst>
                                      </p:cBhvr>
                                      <p:to>
                                        <p:strVal val="visible"/>
                                      </p:to>
                                    </p:set>
                                    <p:animEffect transition="in" filter="wipe(up)">
                                      <p:cBhvr>
                                        <p:cTn id="33" dur="1000"/>
                                        <p:tgtEl>
                                          <p:spTgt spid="46"/>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2" fill="hold" grpId="0" nodeType="clickEffect">
                                  <p:stCondLst>
                                    <p:cond delay="0"/>
                                  </p:stCondLst>
                                  <p:childTnLst>
                                    <p:set>
                                      <p:cBhvr>
                                        <p:cTn id="37" dur="1" fill="hold">
                                          <p:stCondLst>
                                            <p:cond delay="0"/>
                                          </p:stCondLst>
                                        </p:cTn>
                                        <p:tgtEl>
                                          <p:spTgt spid="97"/>
                                        </p:tgtEl>
                                        <p:attrNameLst>
                                          <p:attrName>style.visibility</p:attrName>
                                        </p:attrNameLst>
                                      </p:cBhvr>
                                      <p:to>
                                        <p:strVal val="visible"/>
                                      </p:to>
                                    </p:set>
                                    <p:animEffect transition="in" filter="slide(fromRight)">
                                      <p:cBhvr>
                                        <p:cTn id="38" dur="1000"/>
                                        <p:tgtEl>
                                          <p:spTgt spid="97"/>
                                        </p:tgtEl>
                                      </p:cBhvr>
                                    </p:animEffect>
                                  </p:childTnLst>
                                </p:cTn>
                              </p:par>
                            </p:childTnLst>
                          </p:cTn>
                        </p:par>
                        <p:par>
                          <p:cTn id="39" fill="hold">
                            <p:stCondLst>
                              <p:cond delay="1000"/>
                            </p:stCondLst>
                            <p:childTnLst>
                              <p:par>
                                <p:cTn id="40" presetID="22" presetClass="entr" presetSubtype="8" fill="hold" grpId="0" nodeType="afterEffect">
                                  <p:stCondLst>
                                    <p:cond delay="0"/>
                                  </p:stCondLst>
                                  <p:childTnLst>
                                    <p:set>
                                      <p:cBhvr>
                                        <p:cTn id="41" dur="1" fill="hold">
                                          <p:stCondLst>
                                            <p:cond delay="0"/>
                                          </p:stCondLst>
                                        </p:cTn>
                                        <p:tgtEl>
                                          <p:spTgt spid="96"/>
                                        </p:tgtEl>
                                        <p:attrNameLst>
                                          <p:attrName>style.visibility</p:attrName>
                                        </p:attrNameLst>
                                      </p:cBhvr>
                                      <p:to>
                                        <p:strVal val="visible"/>
                                      </p:to>
                                    </p:set>
                                    <p:animEffect transition="in" filter="wipe(left)">
                                      <p:cBhvr>
                                        <p:cTn id="42" dur="1000"/>
                                        <p:tgtEl>
                                          <p:spTgt spid="96"/>
                                        </p:tgtEl>
                                      </p:cBhvr>
                                    </p:animEffect>
                                  </p:childTnLst>
                                </p:cTn>
                              </p:par>
                            </p:childTnLst>
                          </p:cTn>
                        </p:par>
                        <p:par>
                          <p:cTn id="43" fill="hold">
                            <p:stCondLst>
                              <p:cond delay="2000"/>
                            </p:stCondLst>
                            <p:childTnLst>
                              <p:par>
                                <p:cTn id="44" presetID="22" presetClass="entr" presetSubtype="8" fill="hold" nodeType="afterEffect">
                                  <p:stCondLst>
                                    <p:cond delay="0"/>
                                  </p:stCondLst>
                                  <p:childTnLst>
                                    <p:set>
                                      <p:cBhvr>
                                        <p:cTn id="45" dur="1" fill="hold">
                                          <p:stCondLst>
                                            <p:cond delay="0"/>
                                          </p:stCondLst>
                                        </p:cTn>
                                        <p:tgtEl>
                                          <p:spTgt spid="81"/>
                                        </p:tgtEl>
                                        <p:attrNameLst>
                                          <p:attrName>style.visibility</p:attrName>
                                        </p:attrNameLst>
                                      </p:cBhvr>
                                      <p:to>
                                        <p:strVal val="visible"/>
                                      </p:to>
                                    </p:set>
                                    <p:animEffect transition="in" filter="wipe(left)">
                                      <p:cBhvr>
                                        <p:cTn id="46" dur="1000"/>
                                        <p:tgtEl>
                                          <p:spTgt spid="81"/>
                                        </p:tgtEl>
                                      </p:cBhvr>
                                    </p:animEffect>
                                  </p:childTnLst>
                                </p:cTn>
                              </p:par>
                            </p:childTnLst>
                          </p:cTn>
                        </p:par>
                        <p:par>
                          <p:cTn id="47" fill="hold">
                            <p:stCondLst>
                              <p:cond delay="3000"/>
                            </p:stCondLst>
                            <p:childTnLst>
                              <p:par>
                                <p:cTn id="48" presetID="12" presetClass="entr" presetSubtype="4" fill="hold" nodeType="afterEffect">
                                  <p:stCondLst>
                                    <p:cond delay="0"/>
                                  </p:stCondLst>
                                  <p:childTnLst>
                                    <p:set>
                                      <p:cBhvr>
                                        <p:cTn id="49" dur="1" fill="hold">
                                          <p:stCondLst>
                                            <p:cond delay="0"/>
                                          </p:stCondLst>
                                        </p:cTn>
                                        <p:tgtEl>
                                          <p:spTgt spid="85"/>
                                        </p:tgtEl>
                                        <p:attrNameLst>
                                          <p:attrName>style.visibility</p:attrName>
                                        </p:attrNameLst>
                                      </p:cBhvr>
                                      <p:to>
                                        <p:strVal val="visible"/>
                                      </p:to>
                                    </p:set>
                                    <p:animEffect transition="in" filter="slide(fromBottom)">
                                      <p:cBhvr>
                                        <p:cTn id="50" dur="1000"/>
                                        <p:tgtEl>
                                          <p:spTgt spid="8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67"/>
                                        </p:tgtEl>
                                        <p:attrNameLst>
                                          <p:attrName>style.visibility</p:attrName>
                                        </p:attrNameLst>
                                      </p:cBhvr>
                                      <p:to>
                                        <p:strVal val="visible"/>
                                      </p:to>
                                    </p:set>
                                    <p:animEffect transition="in" filter="wipe(left)">
                                      <p:cBhvr>
                                        <p:cTn id="55" dur="1000"/>
                                        <p:tgtEl>
                                          <p:spTgt spid="67"/>
                                        </p:tgtEl>
                                      </p:cBhvr>
                                    </p:animEffect>
                                  </p:childTnLst>
                                </p:cTn>
                              </p:par>
                            </p:childTnLst>
                          </p:cTn>
                        </p:par>
                        <p:par>
                          <p:cTn id="56" fill="hold">
                            <p:stCondLst>
                              <p:cond delay="1000"/>
                            </p:stCondLst>
                            <p:childTnLst>
                              <p:par>
                                <p:cTn id="57" presetID="22" presetClass="entr" presetSubtype="1" fill="hold" nodeType="afterEffect">
                                  <p:stCondLst>
                                    <p:cond delay="0"/>
                                  </p:stCondLst>
                                  <p:childTnLst>
                                    <p:set>
                                      <p:cBhvr>
                                        <p:cTn id="58" dur="1" fill="hold">
                                          <p:stCondLst>
                                            <p:cond delay="0"/>
                                          </p:stCondLst>
                                        </p:cTn>
                                        <p:tgtEl>
                                          <p:spTgt spid="74"/>
                                        </p:tgtEl>
                                        <p:attrNameLst>
                                          <p:attrName>style.visibility</p:attrName>
                                        </p:attrNameLst>
                                      </p:cBhvr>
                                      <p:to>
                                        <p:strVal val="visible"/>
                                      </p:to>
                                    </p:set>
                                    <p:animEffect transition="in" filter="wipe(up)">
                                      <p:cBhvr>
                                        <p:cTn id="59" dur="1000"/>
                                        <p:tgtEl>
                                          <p:spTgt spid="74"/>
                                        </p:tgtEl>
                                      </p:cBhvr>
                                    </p:animEffect>
                                  </p:childTnLst>
                                </p:cTn>
                              </p:par>
                            </p:childTnLst>
                          </p:cTn>
                        </p:par>
                        <p:par>
                          <p:cTn id="60" fill="hold">
                            <p:stCondLst>
                              <p:cond delay="2000"/>
                            </p:stCondLst>
                            <p:childTnLst>
                              <p:par>
                                <p:cTn id="61" presetID="12" presetClass="entr" presetSubtype="4" fill="hold" grpId="0" nodeType="afterEffect">
                                  <p:stCondLst>
                                    <p:cond delay="0"/>
                                  </p:stCondLst>
                                  <p:childTnLst>
                                    <p:set>
                                      <p:cBhvr>
                                        <p:cTn id="62" dur="1" fill="hold">
                                          <p:stCondLst>
                                            <p:cond delay="0"/>
                                          </p:stCondLst>
                                        </p:cTn>
                                        <p:tgtEl>
                                          <p:spTgt spid="75"/>
                                        </p:tgtEl>
                                        <p:attrNameLst>
                                          <p:attrName>style.visibility</p:attrName>
                                        </p:attrNameLst>
                                      </p:cBhvr>
                                      <p:to>
                                        <p:strVal val="visible"/>
                                      </p:to>
                                    </p:set>
                                    <p:animEffect transition="in" filter="slide(fromBottom)">
                                      <p:cBhvr>
                                        <p:cTn id="63" dur="1000"/>
                                        <p:tgtEl>
                                          <p:spTgt spid="75"/>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nodeType="clickEffect">
                                  <p:stCondLst>
                                    <p:cond delay="0"/>
                                  </p:stCondLst>
                                  <p:childTnLst>
                                    <p:set>
                                      <p:cBhvr>
                                        <p:cTn id="67" dur="1" fill="hold">
                                          <p:stCondLst>
                                            <p:cond delay="0"/>
                                          </p:stCondLst>
                                        </p:cTn>
                                        <p:tgtEl>
                                          <p:spTgt spid="54"/>
                                        </p:tgtEl>
                                        <p:attrNameLst>
                                          <p:attrName>style.visibility</p:attrName>
                                        </p:attrNameLst>
                                      </p:cBhvr>
                                      <p:to>
                                        <p:strVal val="visible"/>
                                      </p:to>
                                    </p:set>
                                    <p:animEffect transition="in" filter="wipe(up)">
                                      <p:cBhvr>
                                        <p:cTn id="68" dur="1000"/>
                                        <p:tgtEl>
                                          <p:spTgt spid="54"/>
                                        </p:tgtEl>
                                      </p:cBhvr>
                                    </p:animEffect>
                                  </p:childTnLst>
                                </p:cTn>
                              </p:par>
                            </p:childTnLst>
                          </p:cTn>
                        </p:par>
                        <p:par>
                          <p:cTn id="69" fill="hold">
                            <p:stCondLst>
                              <p:cond delay="1000"/>
                            </p:stCondLst>
                            <p:childTnLst>
                              <p:par>
                                <p:cTn id="70" presetID="12" presetClass="entr" presetSubtype="1" fill="hold" nodeType="afterEffect">
                                  <p:stCondLst>
                                    <p:cond delay="0"/>
                                  </p:stCondLst>
                                  <p:childTnLst>
                                    <p:set>
                                      <p:cBhvr>
                                        <p:cTn id="71" dur="1" fill="hold">
                                          <p:stCondLst>
                                            <p:cond delay="0"/>
                                          </p:stCondLst>
                                        </p:cTn>
                                        <p:tgtEl>
                                          <p:spTgt spid="27677"/>
                                        </p:tgtEl>
                                        <p:attrNameLst>
                                          <p:attrName>style.visibility</p:attrName>
                                        </p:attrNameLst>
                                      </p:cBhvr>
                                      <p:to>
                                        <p:strVal val="visible"/>
                                      </p:to>
                                    </p:set>
                                    <p:animEffect transition="in" filter="slide(fromTop)">
                                      <p:cBhvr>
                                        <p:cTn id="72" dur="1000"/>
                                        <p:tgtEl>
                                          <p:spTgt spid="27677"/>
                                        </p:tgtEl>
                                      </p:cBhvr>
                                    </p:animEffect>
                                  </p:childTnLst>
                                </p:cTn>
                              </p:par>
                            </p:childTnLst>
                          </p:cTn>
                        </p:par>
                      </p:childTnLst>
                    </p:cTn>
                  </p:par>
                  <p:par>
                    <p:cTn id="73" fill="hold">
                      <p:stCondLst>
                        <p:cond delay="indefinite"/>
                      </p:stCondLst>
                      <p:childTnLst>
                        <p:par>
                          <p:cTn id="74" fill="hold">
                            <p:stCondLst>
                              <p:cond delay="0"/>
                            </p:stCondLst>
                            <p:childTnLst>
                              <p:par>
                                <p:cTn id="75" presetID="12" presetClass="entr" presetSubtype="2" fill="hold" grpId="0" nodeType="clickEffect">
                                  <p:stCondLst>
                                    <p:cond delay="0"/>
                                  </p:stCondLst>
                                  <p:childTnLst>
                                    <p:set>
                                      <p:cBhvr>
                                        <p:cTn id="76" dur="1" fill="hold">
                                          <p:stCondLst>
                                            <p:cond delay="0"/>
                                          </p:stCondLst>
                                        </p:cTn>
                                        <p:tgtEl>
                                          <p:spTgt spid="68"/>
                                        </p:tgtEl>
                                        <p:attrNameLst>
                                          <p:attrName>style.visibility</p:attrName>
                                        </p:attrNameLst>
                                      </p:cBhvr>
                                      <p:to>
                                        <p:strVal val="visible"/>
                                      </p:to>
                                    </p:set>
                                    <p:animEffect transition="in" filter="slide(fromRight)">
                                      <p:cBhvr>
                                        <p:cTn id="77" dur="1000"/>
                                        <p:tgtEl>
                                          <p:spTgt spid="68"/>
                                        </p:tgtEl>
                                      </p:cBhvr>
                                    </p:animEffect>
                                  </p:childTnLst>
                                </p:cTn>
                              </p:par>
                            </p:childTnLst>
                          </p:cTn>
                        </p:par>
                        <p:par>
                          <p:cTn id="78" fill="hold">
                            <p:stCondLst>
                              <p:cond delay="1000"/>
                            </p:stCondLst>
                            <p:childTnLst>
                              <p:par>
                                <p:cTn id="79" presetID="22" presetClass="entr" presetSubtype="8" fill="hold" nodeType="afterEffect">
                                  <p:stCondLst>
                                    <p:cond delay="0"/>
                                  </p:stCondLst>
                                  <p:childTnLst>
                                    <p:set>
                                      <p:cBhvr>
                                        <p:cTn id="80" dur="1" fill="hold">
                                          <p:stCondLst>
                                            <p:cond delay="0"/>
                                          </p:stCondLst>
                                        </p:cTn>
                                        <p:tgtEl>
                                          <p:spTgt spid="71"/>
                                        </p:tgtEl>
                                        <p:attrNameLst>
                                          <p:attrName>style.visibility</p:attrName>
                                        </p:attrNameLst>
                                      </p:cBhvr>
                                      <p:to>
                                        <p:strVal val="visible"/>
                                      </p:to>
                                    </p:set>
                                    <p:animEffect transition="in" filter="wipe(left)">
                                      <p:cBhvr>
                                        <p:cTn id="81" dur="1000"/>
                                        <p:tgtEl>
                                          <p:spTgt spid="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 grpId="0" animBg="1"/>
      <p:bldP spid="97" grpId="0" animBg="1"/>
      <p:bldP spid="46" grpId="0" animBg="1"/>
      <p:bldP spid="75" grpId="0"/>
      <p:bldP spid="68"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4" name="Group 55"/>
          <p:cNvGraphicFramePr>
            <a:graphicFrameLocks noGrp="1"/>
          </p:cNvGraphicFramePr>
          <p:nvPr/>
        </p:nvGraphicFramePr>
        <p:xfrm>
          <a:off x="1397001" y="2205995"/>
          <a:ext cx="1677816" cy="1895400"/>
        </p:xfrm>
        <a:graphic>
          <a:graphicData uri="http://schemas.openxmlformats.org/drawingml/2006/table">
            <a:tbl>
              <a:tblPr/>
              <a:tblGrid>
                <a:gridCol w="392099"/>
                <a:gridCol w="25400"/>
                <a:gridCol w="434628"/>
                <a:gridCol w="408695"/>
                <a:gridCol w="416994"/>
              </a:tblGrid>
              <a:tr h="206445">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endParaRPr kumimoji="0"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w="12700" cap="flat" cmpd="sng" algn="ctr">
                      <a:solidFill>
                        <a:srgbClr val="171717"/>
                      </a:solidFill>
                      <a:prstDash val="solid"/>
                      <a:round/>
                      <a:headEnd type="none" w="med" len="med"/>
                      <a:tailEnd type="none" w="med" len="med"/>
                    </a:lnB>
                    <a:lnTlToBr>
                      <a:noFill/>
                    </a:lnTlToBr>
                    <a:lnBlToTr>
                      <a:noFill/>
                    </a:lnBlToTr>
                    <a:solidFill>
                      <a:srgbClr val="FFFFFF"/>
                    </a:solidFill>
                  </a:tcPr>
                </a:tc>
                <a:tc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endParaRPr kumimoji="0"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w="12700" cap="flat" cmpd="sng" algn="ctr">
                      <a:solidFill>
                        <a:srgbClr val="171717"/>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Z</a:t>
                      </a:r>
                      <a:endParaRPr kumimoji="0"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171717"/>
                      </a:solidFill>
                      <a:prstDash val="solid"/>
                      <a:round/>
                      <a:headEnd type="none" w="med" len="med"/>
                      <a:tailEnd type="none" w="med" len="med"/>
                    </a:lnR>
                    <a:lnT>
                      <a:noFill/>
                    </a:lnT>
                    <a:lnB w="12700" cap="flat" cmpd="sng" algn="ctr">
                      <a:solidFill>
                        <a:srgbClr val="171717"/>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L</a:t>
                      </a:r>
                      <a:endParaRPr kumimoji="0"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171717"/>
                      </a:solidFill>
                      <a:prstDash val="solid"/>
                      <a:round/>
                      <a:headEnd type="none" w="med" len="med"/>
                      <a:tailEnd type="none" w="med" len="med"/>
                    </a:lnL>
                    <a:lnR>
                      <a:noFill/>
                    </a:lnR>
                    <a:lnT>
                      <a:noFill/>
                    </a:lnT>
                    <a:lnB w="12700" cap="flat" cmpd="sng" algn="ctr">
                      <a:solidFill>
                        <a:srgbClr val="171717"/>
                      </a:solidFill>
                      <a:prstDash val="solid"/>
                      <a:round/>
                      <a:headEnd type="none" w="med" len="med"/>
                      <a:tailEnd type="none" w="med" len="med"/>
                    </a:lnB>
                    <a:lnTlToBr>
                      <a:noFill/>
                    </a:lnTlToBr>
                    <a:lnBlToTr>
                      <a:noFill/>
                    </a:lnBlToTr>
                    <a:solidFill>
                      <a:srgbClr val="FFFFFF"/>
                    </a:solidFill>
                  </a:tcPr>
                </a:tc>
              </a:tr>
              <a:tr h="206445">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rgbClr val="171717"/>
                      </a:solidFill>
                      <a:prstDash val="solid"/>
                      <a:round/>
                      <a:headEnd type="none" w="med" len="med"/>
                      <a:tailEnd type="none" w="med" len="med"/>
                    </a:lnT>
                    <a:lnB>
                      <a:noFill/>
                    </a:lnB>
                    <a:lnTlToBr>
                      <a:noFill/>
                    </a:lnTlToBr>
                    <a:lnBlToTr>
                      <a:noFill/>
                    </a:lnBlToTr>
                    <a:solidFill>
                      <a:srgbClr val="FFFFFF"/>
                    </a:solidFill>
                  </a:tcPr>
                </a:tc>
                <a:tc gridSpan="2">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solidFill>
                        <a:srgbClr val="171717"/>
                      </a:solidFill>
                      <a:prstDash val="solid"/>
                      <a:round/>
                      <a:headEnd type="none" w="med" len="med"/>
                      <a:tailEnd type="none" w="med" len="med"/>
                    </a:lnT>
                    <a:lnB>
                      <a:noFill/>
                    </a:lnB>
                    <a:lnTlToBr>
                      <a:noFill/>
                    </a:lnTlToBr>
                    <a:lnBlToTr>
                      <a:noFill/>
                    </a:lnBlToTr>
                    <a:solidFill>
                      <a:srgbClr val="FFFFFF"/>
                    </a:solidFill>
                  </a:tcPr>
                </a:tc>
                <a:tc hMerge="1">
                  <a:tcPr/>
                </a:tc>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171717"/>
                      </a:solidFill>
                      <a:prstDash val="solid"/>
                      <a:round/>
                      <a:headEnd type="none" w="med" len="med"/>
                      <a:tailEnd type="none" w="med" len="med"/>
                    </a:lnR>
                    <a:lnT w="12700" cap="flat" cmpd="sng" algn="ctr">
                      <a:solidFill>
                        <a:srgbClr val="171717"/>
                      </a:solidFill>
                      <a:prstDash val="solid"/>
                      <a:round/>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171717"/>
                      </a:solidFill>
                      <a:prstDash val="solid"/>
                      <a:round/>
                      <a:headEnd type="none" w="med" len="med"/>
                      <a:tailEnd type="none" w="med" len="med"/>
                    </a:lnL>
                    <a:lnR>
                      <a:noFill/>
                    </a:lnR>
                    <a:lnT w="12700" cap="flat" cmpd="sng" algn="ctr">
                      <a:solidFill>
                        <a:srgbClr val="171717"/>
                      </a:solidFill>
                      <a:prstDash val="solid"/>
                      <a:round/>
                      <a:headEnd type="none" w="med" len="med"/>
                      <a:tailEnd type="none" w="med" len="med"/>
                    </a:lnT>
                    <a:lnB>
                      <a:noFill/>
                    </a:lnB>
                    <a:lnTlToBr>
                      <a:noFill/>
                    </a:lnTlToBr>
                    <a:lnBlToTr>
                      <a:noFill/>
                    </a:lnBlToTr>
                    <a:solidFill>
                      <a:srgbClr val="FFFFFF"/>
                    </a:solidFill>
                  </a:tcPr>
                </a:tc>
              </a:tr>
              <a:tr h="206445">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gridSpan="2">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hMerge="1">
                  <a:tcPr/>
                </a:tc>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171717"/>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171717"/>
                      </a:solidFill>
                      <a:prstDash val="solid"/>
                      <a:round/>
                      <a:headEnd type="none" w="med" len="med"/>
                      <a:tailEnd type="none" w="med" len="med"/>
                    </a:lnL>
                    <a:lnR>
                      <a:noFill/>
                    </a:lnR>
                    <a:lnT>
                      <a:noFill/>
                    </a:lnT>
                    <a:lnB>
                      <a:noFill/>
                    </a:lnB>
                    <a:lnTlToBr>
                      <a:noFill/>
                    </a:lnTlToBr>
                    <a:lnBlToTr>
                      <a:noFill/>
                    </a:lnBlToTr>
                    <a:solidFill>
                      <a:srgbClr val="FFFFFF"/>
                    </a:solidFill>
                  </a:tcPr>
                </a:tc>
              </a:tr>
              <a:tr h="206445">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gridSpan="2">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hMerge="1">
                  <a:tcPr/>
                </a:tc>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171717"/>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171717"/>
                      </a:solidFill>
                      <a:prstDash val="solid"/>
                      <a:round/>
                      <a:headEnd type="none" w="med" len="med"/>
                      <a:tailEnd type="none" w="med" len="med"/>
                    </a:lnL>
                    <a:lnR>
                      <a:noFill/>
                    </a:lnR>
                    <a:lnT>
                      <a:noFill/>
                    </a:lnT>
                    <a:lnB>
                      <a:noFill/>
                    </a:lnB>
                    <a:lnTlToBr>
                      <a:noFill/>
                    </a:lnTlToBr>
                    <a:lnBlToTr>
                      <a:noFill/>
                    </a:lnBlToTr>
                    <a:solidFill>
                      <a:srgbClr val="FFFFFF"/>
                    </a:solidFill>
                  </a:tcPr>
                </a:tc>
              </a:tr>
              <a:tr h="206445">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gridSpan="2">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hMerge="1">
                  <a:tcPr/>
                </a:tc>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171717"/>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171717"/>
                      </a:solidFill>
                      <a:prstDash val="solid"/>
                      <a:round/>
                      <a:headEnd type="none" w="med" len="med"/>
                      <a:tailEnd type="none" w="med" len="med"/>
                    </a:lnL>
                    <a:lnR>
                      <a:noFill/>
                    </a:lnR>
                    <a:lnT>
                      <a:noFill/>
                    </a:lnT>
                    <a:lnB>
                      <a:noFill/>
                    </a:lnB>
                    <a:lnTlToBr>
                      <a:noFill/>
                    </a:lnTlToBr>
                    <a:lnBlToTr>
                      <a:noFill/>
                    </a:lnBlToTr>
                    <a:solidFill>
                      <a:srgbClr val="FFFFFF"/>
                    </a:solidFill>
                  </a:tcPr>
                </a:tc>
              </a:tr>
              <a:tr h="206445">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gridSpan="2">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hMerge="1">
                  <a:tcPr/>
                </a:tc>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171717"/>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171717"/>
                      </a:solidFill>
                      <a:prstDash val="solid"/>
                      <a:round/>
                      <a:headEnd type="none" w="med" len="med"/>
                      <a:tailEnd type="none" w="med" len="med"/>
                    </a:lnL>
                    <a:lnR>
                      <a:noFill/>
                    </a:lnR>
                    <a:lnT>
                      <a:noFill/>
                    </a:lnT>
                    <a:lnB>
                      <a:noFill/>
                    </a:lnB>
                    <a:lnTlToBr>
                      <a:noFill/>
                    </a:lnTlToBr>
                    <a:lnBlToTr>
                      <a:noFill/>
                    </a:lnBlToTr>
                    <a:solidFill>
                      <a:srgbClr val="FFFFFF"/>
                    </a:solidFill>
                  </a:tcPr>
                </a:tc>
              </a:tr>
              <a:tr h="206445">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gridSpan="2">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hMerge="1">
                  <a:tcPr/>
                </a:tc>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171717"/>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171717"/>
                      </a:solidFill>
                      <a:prstDash val="solid"/>
                      <a:round/>
                      <a:headEnd type="none" w="med" len="med"/>
                      <a:tailEnd type="none" w="med" len="med"/>
                    </a:lnL>
                    <a:lnR>
                      <a:noFill/>
                    </a:lnR>
                    <a:lnT>
                      <a:noFill/>
                    </a:lnT>
                    <a:lnB>
                      <a:noFill/>
                    </a:lnB>
                    <a:lnTlToBr>
                      <a:noFill/>
                    </a:lnTlToBr>
                    <a:lnBlToTr>
                      <a:noFill/>
                    </a:lnBlToTr>
                    <a:solidFill>
                      <a:srgbClr val="FFFFFF"/>
                    </a:solidFill>
                  </a:tcPr>
                </a:tc>
              </a:tr>
              <a:tr h="206445">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gridSpan="2">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hMerge="1">
                  <a:tcPr/>
                </a:tc>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171717"/>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171717"/>
                      </a:solidFill>
                      <a:prstDash val="solid"/>
                      <a:round/>
                      <a:headEnd type="none" w="med" len="med"/>
                      <a:tailEnd type="none" w="med" len="med"/>
                    </a:lnL>
                    <a:lnR>
                      <a:noFill/>
                    </a:lnR>
                    <a:lnT>
                      <a:noFill/>
                    </a:lnT>
                    <a:lnB>
                      <a:noFill/>
                    </a:lnB>
                    <a:lnTlToBr>
                      <a:noFill/>
                    </a:lnTlToBr>
                    <a:lnBlToTr>
                      <a:noFill/>
                    </a:lnBlToTr>
                    <a:solidFill>
                      <a:srgbClr val="FFFFFF"/>
                    </a:solidFill>
                  </a:tcPr>
                </a:tc>
              </a:tr>
              <a:tr h="206445">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gridSpan="2">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solidFill>
                      <a:srgbClr val="FFFFFF"/>
                    </a:solidFill>
                  </a:tcPr>
                </a:tc>
                <a:tc hMerge="1">
                  <a:tcPr/>
                </a:tc>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w="12700" cap="flat" cmpd="sng" algn="ctr">
                      <a:solidFill>
                        <a:srgbClr val="171717"/>
                      </a:solidFill>
                      <a:prstDash val="solid"/>
                      <a:round/>
                      <a:headEnd type="none" w="med" len="med"/>
                      <a:tailEnd type="none" w="med" len="med"/>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w="12700" cap="flat" cmpd="sng" algn="ctr">
                      <a:solidFill>
                        <a:srgbClr val="171717"/>
                      </a:solidFill>
                      <a:prstDash val="solid"/>
                      <a:round/>
                      <a:headEnd type="none" w="med" len="med"/>
                      <a:tailEnd type="none" w="med" len="med"/>
                    </a:lnL>
                    <a:lnR>
                      <a:noFill/>
                    </a:lnR>
                    <a:lnT>
                      <a:noFill/>
                    </a:lnT>
                    <a:lnB>
                      <a:noFill/>
                    </a:lnB>
                    <a:lnTlToBr>
                      <a:noFill/>
                    </a:lnTlToBr>
                    <a:lnBlToTr>
                      <a:noFill/>
                    </a:lnBlToTr>
                    <a:solidFill>
                      <a:srgbClr val="FFFFFF"/>
                    </a:solidFill>
                  </a:tcPr>
                </a:tc>
              </a:tr>
            </a:tbl>
          </a:graphicData>
        </a:graphic>
      </p:graphicFrame>
      <p:sp>
        <p:nvSpPr>
          <p:cNvPr id="51" name="Rectangle 27"/>
          <p:cNvSpPr>
            <a:spLocks noChangeArrowheads="1"/>
          </p:cNvSpPr>
          <p:nvPr/>
        </p:nvSpPr>
        <p:spPr bwMode="auto">
          <a:xfrm>
            <a:off x="577511" y="1237292"/>
            <a:ext cx="3018212" cy="369332"/>
          </a:xfrm>
          <a:prstGeom prst="rect">
            <a:avLst/>
          </a:prstGeom>
          <a:noFill/>
          <a:ln w="9525" algn="ctr">
            <a:noFill/>
            <a:miter lim="800000"/>
          </a:ln>
          <a:effectLst/>
        </p:spPr>
        <p:txBody>
          <a:bodyPr wrap="square" lIns="0" rIns="0">
            <a:spAutoFit/>
          </a:bodyPr>
          <a:lstStyle/>
          <a:p>
            <a:pPr>
              <a:defRPr/>
            </a:pPr>
            <a:r>
              <a:rPr lang="en-US" altLang="zh-CN" b="1" dirty="0">
                <a:solidFill>
                  <a:srgbClr val="6600FF"/>
                </a:solidFill>
                <a:latin typeface="黑体" panose="02010609060101010101" pitchFamily="49" charset="-122"/>
                <a:ea typeface="黑体" panose="02010609060101010101" pitchFamily="49" charset="-122"/>
              </a:rPr>
              <a:t>2</a:t>
            </a:r>
            <a:r>
              <a:rPr lang="zh-CN" altLang="en-US" b="1" dirty="0">
                <a:solidFill>
                  <a:srgbClr val="6600FF"/>
                </a:solidFill>
                <a:latin typeface="黑体" panose="02010609060101010101" pitchFamily="49" charset="-122"/>
                <a:ea typeface="黑体" panose="02010609060101010101" pitchFamily="49" charset="-122"/>
              </a:rPr>
              <a:t>、实现组合逻辑函数</a:t>
            </a:r>
            <a:endParaRPr lang="zh-CN" altLang="en-US" b="1" dirty="0">
              <a:solidFill>
                <a:srgbClr val="6600FF"/>
              </a:solidFill>
              <a:latin typeface="黑体" panose="02010609060101010101" pitchFamily="49" charset="-122"/>
              <a:ea typeface="黑体" panose="02010609060101010101" pitchFamily="49" charset="-122"/>
            </a:endParaRPr>
          </a:p>
        </p:txBody>
      </p:sp>
      <p:grpSp>
        <p:nvGrpSpPr>
          <p:cNvPr id="62" name="组合 61"/>
          <p:cNvGrpSpPr/>
          <p:nvPr/>
        </p:nvGrpSpPr>
        <p:grpSpPr>
          <a:xfrm>
            <a:off x="476606" y="2162713"/>
            <a:ext cx="833584" cy="369332"/>
            <a:chOff x="4330854" y="1354964"/>
            <a:chExt cx="833584" cy="369332"/>
          </a:xfrm>
        </p:grpSpPr>
        <p:sp>
          <p:nvSpPr>
            <p:cNvPr id="64" name="矩形 63"/>
            <p:cNvSpPr/>
            <p:nvPr/>
          </p:nvSpPr>
          <p:spPr>
            <a:xfrm>
              <a:off x="4633523" y="1354964"/>
              <a:ext cx="530915" cy="369332"/>
            </a:xfrm>
            <a:prstGeom prst="rect">
              <a:avLst/>
            </a:prstGeom>
          </p:spPr>
          <p:txBody>
            <a:bodyPr wrap="none">
              <a:spAutoFit/>
            </a:bodyPr>
            <a:lstStyle/>
            <a:p>
              <a:r>
                <a:rPr lang="zh-CN" altLang="en-US" b="1" dirty="0">
                  <a:solidFill>
                    <a:srgbClr val="CC00CC"/>
                  </a:solidFill>
                  <a:latin typeface="黑体" panose="02010609060101010101" pitchFamily="49" charset="-122"/>
                  <a:ea typeface="黑体" panose="02010609060101010101" pitchFamily="49" charset="-122"/>
                </a:rPr>
                <a:t>解</a:t>
              </a:r>
              <a:r>
                <a:rPr lang="en-US" altLang="zh-CN" b="1" dirty="0">
                  <a:solidFill>
                    <a:srgbClr val="CC00CC"/>
                  </a:solidFill>
                  <a:latin typeface="黑体" panose="02010609060101010101" pitchFamily="49" charset="-122"/>
                  <a:ea typeface="黑体" panose="02010609060101010101" pitchFamily="49" charset="-122"/>
                  <a:sym typeface="Wingdings" panose="05000000000000000000" pitchFamily="2" charset="2"/>
                </a:rPr>
                <a:t>:</a:t>
              </a:r>
              <a:endParaRPr lang="zh-CN" altLang="en-US" b="1" dirty="0">
                <a:solidFill>
                  <a:srgbClr val="CC00CC"/>
                </a:solidFill>
                <a:latin typeface="黑体" panose="02010609060101010101" pitchFamily="49" charset="-122"/>
                <a:ea typeface="黑体" panose="02010609060101010101" pitchFamily="49" charset="-122"/>
              </a:endParaRPr>
            </a:p>
          </p:txBody>
        </p:sp>
        <p:pic>
          <p:nvPicPr>
            <p:cNvPr id="65" name="Picture 5"/>
            <p:cNvPicPr>
              <a:picLocks noChangeAspect="1" noChangeArrowheads="1"/>
            </p:cNvPicPr>
            <p:nvPr/>
          </p:nvPicPr>
          <p:blipFill>
            <a:blip r:embed="rId1" cstate="print"/>
            <a:srcRect/>
            <a:stretch>
              <a:fillRect/>
            </a:stretch>
          </p:blipFill>
          <p:spPr bwMode="auto">
            <a:xfrm>
              <a:off x="4330854" y="1369617"/>
              <a:ext cx="348489" cy="340027"/>
            </a:xfrm>
            <a:prstGeom prst="rect">
              <a:avLst/>
            </a:prstGeom>
            <a:noFill/>
            <a:ln w="9525">
              <a:noFill/>
              <a:miter lim="800000"/>
              <a:headEnd/>
              <a:tailEnd/>
            </a:ln>
          </p:spPr>
        </p:pic>
      </p:grpSp>
      <p:grpSp>
        <p:nvGrpSpPr>
          <p:cNvPr id="37" name="组合 36"/>
          <p:cNvGrpSpPr/>
          <p:nvPr/>
        </p:nvGrpSpPr>
        <p:grpSpPr>
          <a:xfrm>
            <a:off x="5751830" y="2216150"/>
            <a:ext cx="2979419" cy="1830070"/>
            <a:chOff x="5440680" y="2216150"/>
            <a:chExt cx="2979419" cy="1830070"/>
          </a:xfrm>
        </p:grpSpPr>
        <p:sp>
          <p:nvSpPr>
            <p:cNvPr id="88" name="圆角矩形 87"/>
            <p:cNvSpPr/>
            <p:nvPr/>
          </p:nvSpPr>
          <p:spPr>
            <a:xfrm>
              <a:off x="5440680" y="2216150"/>
              <a:ext cx="2979419" cy="1830070"/>
            </a:xfrm>
            <a:prstGeom prst="roundRect">
              <a:avLst>
                <a:gd name="adj" fmla="val 7462"/>
              </a:avLst>
            </a:prstGeom>
            <a:solidFill>
              <a:schemeClr val="bg1"/>
            </a:solidFill>
            <a:effectLst>
              <a:glow rad="63500">
                <a:schemeClr val="accent1">
                  <a:satMod val="175000"/>
                  <a:alpha val="40000"/>
                </a:scheme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7" name="Object 11"/>
            <p:cNvGraphicFramePr>
              <a:graphicFrameLocks noChangeAspect="1"/>
            </p:cNvGraphicFramePr>
            <p:nvPr/>
          </p:nvGraphicFramePr>
          <p:xfrm>
            <a:off x="5549900" y="2254250"/>
            <a:ext cx="2724150" cy="1720850"/>
          </p:xfrm>
          <a:graphic>
            <a:graphicData uri="http://schemas.openxmlformats.org/presentationml/2006/ole">
              <mc:AlternateContent xmlns:mc="http://schemas.openxmlformats.org/markup-compatibility/2006">
                <mc:Choice xmlns:v="urn:schemas-microsoft-com:vml" Requires="v">
                  <p:oleObj spid="_x0000_s58415" name="Visio" r:id="rId2" imgW="1371600" imgH="1011555" progId="Visio.Drawing.11">
                    <p:embed/>
                  </p:oleObj>
                </mc:Choice>
                <mc:Fallback>
                  <p:oleObj name="Visio" r:id="rId2" imgW="1371600" imgH="1011555" progId="Visio.Drawing.11">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49900" y="2254250"/>
                          <a:ext cx="2724150" cy="172085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grpSp>
        <p:nvGrpSpPr>
          <p:cNvPr id="93" name="组合 92"/>
          <p:cNvGrpSpPr/>
          <p:nvPr/>
        </p:nvGrpSpPr>
        <p:grpSpPr>
          <a:xfrm>
            <a:off x="464780" y="1699411"/>
            <a:ext cx="6202720" cy="374630"/>
            <a:chOff x="464780" y="1699411"/>
            <a:chExt cx="6202720" cy="374630"/>
          </a:xfrm>
        </p:grpSpPr>
        <p:grpSp>
          <p:nvGrpSpPr>
            <p:cNvPr id="58" name="组合 30"/>
            <p:cNvGrpSpPr/>
            <p:nvPr/>
          </p:nvGrpSpPr>
          <p:grpSpPr>
            <a:xfrm>
              <a:off x="464780" y="1699411"/>
              <a:ext cx="4916400" cy="374630"/>
              <a:chOff x="369777" y="1347760"/>
              <a:chExt cx="4916400" cy="374630"/>
            </a:xfrm>
          </p:grpSpPr>
          <p:sp>
            <p:nvSpPr>
              <p:cNvPr id="60" name="TextBox 59"/>
              <p:cNvSpPr txBox="1"/>
              <p:nvPr/>
            </p:nvSpPr>
            <p:spPr>
              <a:xfrm>
                <a:off x="723710" y="1350409"/>
                <a:ext cx="4562467" cy="369332"/>
              </a:xfrm>
              <a:prstGeom prst="rect">
                <a:avLst/>
              </a:prstGeom>
              <a:noFill/>
            </p:spPr>
            <p:txBody>
              <a:bodyPr wrap="none" rtlCol="0">
                <a:spAutoFit/>
              </a:bodyPr>
              <a:lstStyle/>
              <a:p>
                <a:r>
                  <a:rPr lang="zh-CN" altLang="en-US" b="1" dirty="0">
                    <a:solidFill>
                      <a:srgbClr val="CC00CC"/>
                    </a:solidFill>
                    <a:latin typeface="黑体" panose="02010609060101010101" pitchFamily="49" charset="-122"/>
                    <a:ea typeface="黑体" panose="02010609060101010101" pitchFamily="49" charset="-122"/>
                  </a:rPr>
                  <a:t>例</a:t>
                </a:r>
                <a:r>
                  <a:rPr lang="en-US" altLang="zh-CN" b="1" dirty="0">
                    <a:solidFill>
                      <a:srgbClr val="CC00CC"/>
                    </a:solidFill>
                    <a:latin typeface="黑体" panose="02010609060101010101" pitchFamily="49" charset="-122"/>
                    <a:ea typeface="黑体" panose="02010609060101010101" pitchFamily="49" charset="-122"/>
                  </a:rPr>
                  <a:t>2</a:t>
                </a:r>
                <a:r>
                  <a:rPr lang="zh-CN" altLang="en-US" b="1" dirty="0">
                    <a:solidFill>
                      <a:srgbClr val="CC00CC"/>
                    </a:solidFill>
                    <a:latin typeface="黑体" panose="02010609060101010101" pitchFamily="49" charset="-122"/>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用一个</a:t>
                </a:r>
                <a:r>
                  <a:rPr lang="en-US" altLang="zh-CN" sz="1600" dirty="0">
                    <a:latin typeface="黑体" panose="02010609060101010101" pitchFamily="49" charset="-122"/>
                    <a:ea typeface="黑体" panose="02010609060101010101" pitchFamily="49" charset="-122"/>
                  </a:rPr>
                  <a:t>8</a:t>
                </a:r>
                <a:r>
                  <a:rPr lang="zh-CN" altLang="en-US" sz="1600" dirty="0">
                    <a:latin typeface="黑体" panose="02010609060101010101" pitchFamily="49" charset="-122"/>
                    <a:ea typeface="黑体" panose="02010609060101010101" pitchFamily="49" charset="-122"/>
                  </a:rPr>
                  <a:t>选</a:t>
                </a:r>
                <a:r>
                  <a:rPr lang="en-US" altLang="zh-CN" sz="1600" dirty="0">
                    <a:latin typeface="黑体" panose="02010609060101010101" pitchFamily="49" charset="-122"/>
                    <a:ea typeface="黑体" panose="02010609060101010101" pitchFamily="49" charset="-122"/>
                  </a:rPr>
                  <a:t>1</a:t>
                </a:r>
                <a:r>
                  <a:rPr lang="zh-CN" altLang="en-US" sz="1600" dirty="0">
                    <a:latin typeface="黑体" panose="02010609060101010101" pitchFamily="49" charset="-122"/>
                    <a:ea typeface="黑体" panose="02010609060101010101" pitchFamily="49" charset="-122"/>
                  </a:rPr>
                  <a:t>数据选择器</a:t>
                </a:r>
                <a:r>
                  <a:rPr lang="en-US" altLang="zh-CN" sz="1600" dirty="0">
                    <a:latin typeface="黑体" panose="02010609060101010101" pitchFamily="49" charset="-122"/>
                    <a:ea typeface="黑体" panose="02010609060101010101" pitchFamily="49" charset="-122"/>
                  </a:rPr>
                  <a:t>74151</a:t>
                </a:r>
                <a:r>
                  <a:rPr lang="zh-CN" altLang="en-US" sz="1600" dirty="0">
                    <a:latin typeface="黑体" panose="02010609060101010101" pitchFamily="49" charset="-122"/>
                    <a:ea typeface="黑体" panose="02010609060101010101" pitchFamily="49" charset="-122"/>
                  </a:rPr>
                  <a:t>实现逻辑函数</a:t>
                </a:r>
                <a:endParaRPr lang="zh-CN" altLang="en-US" sz="1600" dirty="0">
                  <a:solidFill>
                    <a:srgbClr val="6600FF"/>
                  </a:solidFill>
                  <a:latin typeface="黑体" panose="02010609060101010101" pitchFamily="49" charset="-122"/>
                  <a:ea typeface="黑体" panose="02010609060101010101" pitchFamily="49" charset="-122"/>
                </a:endParaRPr>
              </a:p>
            </p:txBody>
          </p:sp>
          <p:pic>
            <p:nvPicPr>
              <p:cNvPr id="61" name="Picture 4"/>
              <p:cNvPicPr>
                <a:picLocks noChangeAspect="1" noChangeArrowheads="1"/>
              </p:cNvPicPr>
              <p:nvPr/>
            </p:nvPicPr>
            <p:blipFill>
              <a:blip r:embed="rId4" cstate="print"/>
              <a:srcRect/>
              <a:stretch>
                <a:fillRect/>
              </a:stretch>
            </p:blipFill>
            <p:spPr bwMode="auto">
              <a:xfrm>
                <a:off x="369777" y="1347760"/>
                <a:ext cx="373669" cy="374630"/>
              </a:xfrm>
              <a:prstGeom prst="rect">
                <a:avLst/>
              </a:prstGeom>
              <a:noFill/>
              <a:ln w="9525">
                <a:noFill/>
                <a:miter lim="800000"/>
                <a:headEnd/>
                <a:tailEnd/>
              </a:ln>
            </p:spPr>
          </p:pic>
        </p:grpSp>
        <p:graphicFrame>
          <p:nvGraphicFramePr>
            <p:cNvPr id="28699" name="Object 27"/>
            <p:cNvGraphicFramePr>
              <a:graphicFrameLocks noChangeAspect="1"/>
            </p:cNvGraphicFramePr>
            <p:nvPr/>
          </p:nvGraphicFramePr>
          <p:xfrm>
            <a:off x="5276850" y="1781893"/>
            <a:ext cx="1390650" cy="259587"/>
          </p:xfrm>
          <a:graphic>
            <a:graphicData uri="http://schemas.openxmlformats.org/presentationml/2006/ole">
              <mc:AlternateContent xmlns:mc="http://schemas.openxmlformats.org/markup-compatibility/2006">
                <mc:Choice xmlns:v="urn:schemas-microsoft-com:vml" Requires="v">
                  <p:oleObj spid="_x0000_s58416" name="Equation" r:id="rId5" imgW="22860000" imgH="4267200" progId="Equation.DSMT4">
                    <p:embed/>
                  </p:oleObj>
                </mc:Choice>
                <mc:Fallback>
                  <p:oleObj name="Equation" r:id="rId5" imgW="22860000" imgH="4267200" progId="Equation.DSMT4">
                    <p:embed/>
                    <p:pic>
                      <p:nvPicPr>
                        <p:cNvPr id="0"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76850" y="1781893"/>
                          <a:ext cx="1390650" cy="259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99" name="组合 98"/>
          <p:cNvGrpSpPr/>
          <p:nvPr/>
        </p:nvGrpSpPr>
        <p:grpSpPr>
          <a:xfrm>
            <a:off x="3554774" y="3202882"/>
            <a:ext cx="2071326" cy="665538"/>
            <a:chOff x="1386884" y="3461962"/>
            <a:chExt cx="2191888" cy="644955"/>
          </a:xfrm>
        </p:grpSpPr>
        <p:sp>
          <p:nvSpPr>
            <p:cNvPr id="100" name="圆角矩形 99"/>
            <p:cNvSpPr/>
            <p:nvPr/>
          </p:nvSpPr>
          <p:spPr>
            <a:xfrm>
              <a:off x="1386884" y="3461962"/>
              <a:ext cx="2191888" cy="644955"/>
            </a:xfrm>
            <a:prstGeom prst="roundRect">
              <a:avLst/>
            </a:prstGeom>
            <a:solidFill>
              <a:srgbClr val="FFFF00"/>
            </a:solidFill>
            <a:ln w="38100">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01" name="Object 13"/>
            <p:cNvGraphicFramePr>
              <a:graphicFrameLocks noChangeAspect="1"/>
            </p:cNvGraphicFramePr>
            <p:nvPr/>
          </p:nvGraphicFramePr>
          <p:xfrm>
            <a:off x="1546225" y="3492500"/>
            <a:ext cx="1936750" cy="322263"/>
          </p:xfrm>
          <a:graphic>
            <a:graphicData uri="http://schemas.openxmlformats.org/presentationml/2006/ole">
              <mc:AlternateContent xmlns:mc="http://schemas.openxmlformats.org/markup-compatibility/2006">
                <mc:Choice xmlns:v="urn:schemas-microsoft-com:vml" Requires="v">
                  <p:oleObj spid="_x0000_s58417" name="Equation" r:id="rId7" imgW="32918400" imgH="5486400" progId="Equation.DSMT4">
                    <p:embed/>
                  </p:oleObj>
                </mc:Choice>
                <mc:Fallback>
                  <p:oleObj name="Equation" r:id="rId7" imgW="32918400" imgH="5486400" progId="Equation.DSMT4">
                    <p:embed/>
                    <p:pic>
                      <p:nvPicPr>
                        <p:cNvPr id="0" name="Object 1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46225" y="3492500"/>
                          <a:ext cx="1936750" cy="32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02" name="Object 14"/>
            <p:cNvGraphicFramePr>
              <a:graphicFrameLocks noChangeAspect="1"/>
            </p:cNvGraphicFramePr>
            <p:nvPr/>
          </p:nvGraphicFramePr>
          <p:xfrm>
            <a:off x="1541967" y="3771900"/>
            <a:ext cx="1971675" cy="322263"/>
          </p:xfrm>
          <a:graphic>
            <a:graphicData uri="http://schemas.openxmlformats.org/presentationml/2006/ole">
              <mc:AlternateContent xmlns:mc="http://schemas.openxmlformats.org/markup-compatibility/2006">
                <mc:Choice xmlns:v="urn:schemas-microsoft-com:vml" Requires="v">
                  <p:oleObj spid="_x0000_s58418" name="Equation" r:id="rId9" imgW="33528000" imgH="5486400" progId="Equation.DSMT4">
                    <p:embed/>
                  </p:oleObj>
                </mc:Choice>
                <mc:Fallback>
                  <p:oleObj name="Equation" r:id="rId9" imgW="33528000" imgH="5486400" progId="Equation.DSMT4">
                    <p:embed/>
                    <p:pic>
                      <p:nvPicPr>
                        <p:cNvPr id="0" name="Object 1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541967" y="3771900"/>
                          <a:ext cx="1971675" cy="322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11" name="组合 110"/>
          <p:cNvGrpSpPr/>
          <p:nvPr/>
        </p:nvGrpSpPr>
        <p:grpSpPr>
          <a:xfrm>
            <a:off x="584082" y="4219650"/>
            <a:ext cx="7715368" cy="822250"/>
            <a:chOff x="545982" y="4137100"/>
            <a:chExt cx="7715368" cy="822250"/>
          </a:xfrm>
        </p:grpSpPr>
        <p:sp>
          <p:nvSpPr>
            <p:cNvPr id="110" name="圆角矩形 109"/>
            <p:cNvSpPr/>
            <p:nvPr/>
          </p:nvSpPr>
          <p:spPr>
            <a:xfrm>
              <a:off x="712105" y="4276419"/>
              <a:ext cx="7549245" cy="682931"/>
            </a:xfrm>
            <a:prstGeom prst="roundRect">
              <a:avLst>
                <a:gd name="adj" fmla="val 4386"/>
              </a:avLst>
            </a:prstGeom>
            <a:solidFill>
              <a:schemeClr val="bg1"/>
            </a:solidFill>
            <a:ln w="28575">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8900"/>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108" name="矩形 107"/>
            <p:cNvSpPr/>
            <p:nvPr/>
          </p:nvSpPr>
          <p:spPr>
            <a:xfrm>
              <a:off x="776669" y="4304609"/>
              <a:ext cx="6983031" cy="654410"/>
            </a:xfrm>
            <a:prstGeom prst="rect">
              <a:avLst/>
            </a:prstGeom>
          </p:spPr>
          <p:txBody>
            <a:bodyPr wrap="square">
              <a:spAutoFit/>
            </a:bodyPr>
            <a:lstStyle/>
            <a:p>
              <a:pPr marL="984250" indent="-984250"/>
              <a:r>
                <a:rPr lang="zh-CN" altLang="en-US" sz="1400" b="1" dirty="0">
                  <a:solidFill>
                    <a:srgbClr val="002060"/>
                  </a:solidFill>
                  <a:latin typeface="微软雅黑" panose="020B0503020204020204" pitchFamily="34" charset="-122"/>
                  <a:ea typeface="微软雅黑" panose="020B0503020204020204" pitchFamily="34" charset="-122"/>
                  <a:sym typeface="Wingdings" panose="05000000000000000000" pitchFamily="2" charset="2"/>
                </a:rPr>
                <a:t>（</a:t>
              </a:r>
              <a:r>
                <a:rPr lang="en-US" altLang="zh-CN" sz="1400" b="1" dirty="0">
                  <a:solidFill>
                    <a:srgbClr val="002060"/>
                  </a:solidFill>
                  <a:latin typeface="微软雅黑" panose="020B0503020204020204" pitchFamily="34" charset="-122"/>
                  <a:ea typeface="微软雅黑" panose="020B0503020204020204" pitchFamily="34" charset="-122"/>
                  <a:sym typeface="Wingdings" panose="05000000000000000000" pitchFamily="2" charset="2"/>
                </a:rPr>
                <a:t>1</a:t>
              </a:r>
              <a:r>
                <a:rPr lang="zh-CN" altLang="en-US" sz="1400" b="1" dirty="0">
                  <a:solidFill>
                    <a:srgbClr val="002060"/>
                  </a:solidFill>
                  <a:latin typeface="微软雅黑" panose="020B0503020204020204" pitchFamily="34" charset="-122"/>
                  <a:ea typeface="微软雅黑" panose="020B0503020204020204" pitchFamily="34" charset="-122"/>
                  <a:sym typeface="Wingdings" panose="05000000000000000000" pitchFamily="2" charset="2"/>
                </a:rPr>
                <a:t>）</a:t>
              </a:r>
              <a:r>
                <a:rPr lang="zh-CN" altLang="en-US" sz="1400" b="1" dirty="0">
                  <a:solidFill>
                    <a:srgbClr val="002060"/>
                  </a:solidFill>
                  <a:latin typeface="微软雅黑" panose="020B0503020204020204" pitchFamily="34" charset="-122"/>
                  <a:ea typeface="微软雅黑" panose="020B0503020204020204" pitchFamily="34" charset="-122"/>
                </a:rPr>
                <a:t>如何用数据选择器实现一个变量数少于或超过数据选择器地址数的组合逻辑函数？</a:t>
              </a:r>
              <a:endParaRPr lang="en-US" altLang="zh-CN" sz="1400" b="1" dirty="0">
                <a:solidFill>
                  <a:srgbClr val="002060"/>
                </a:solidFill>
                <a:latin typeface="微软雅黑" panose="020B0503020204020204" pitchFamily="34" charset="-122"/>
                <a:ea typeface="微软雅黑" panose="020B0503020204020204" pitchFamily="34" charset="-122"/>
              </a:endParaRPr>
            </a:p>
            <a:p>
              <a:pPr marL="984250" indent="-984250">
                <a:lnSpc>
                  <a:spcPct val="150000"/>
                </a:lnSpc>
              </a:pPr>
              <a:r>
                <a:rPr lang="zh-CN" altLang="en-US" sz="1400" b="1" dirty="0">
                  <a:solidFill>
                    <a:srgbClr val="002060"/>
                  </a:solidFill>
                  <a:latin typeface="微软雅黑" panose="020B0503020204020204" pitchFamily="34" charset="-122"/>
                  <a:ea typeface="微软雅黑" panose="020B0503020204020204" pitchFamily="34" charset="-122"/>
                </a:rPr>
                <a:t>（</a:t>
              </a:r>
              <a:r>
                <a:rPr lang="en-US" altLang="zh-CN" sz="1400" b="1" dirty="0">
                  <a:solidFill>
                    <a:srgbClr val="002060"/>
                  </a:solidFill>
                  <a:latin typeface="微软雅黑" panose="020B0503020204020204" pitchFamily="34" charset="-122"/>
                  <a:ea typeface="微软雅黑" panose="020B0503020204020204" pitchFamily="34" charset="-122"/>
                </a:rPr>
                <a:t>2</a:t>
              </a:r>
              <a:r>
                <a:rPr lang="zh-CN" altLang="en-US" sz="1400" b="1" dirty="0">
                  <a:solidFill>
                    <a:srgbClr val="002060"/>
                  </a:solidFill>
                  <a:latin typeface="微软雅黑" panose="020B0503020204020204" pitchFamily="34" charset="-122"/>
                  <a:ea typeface="微软雅黑" panose="020B0503020204020204" pitchFamily="34" charset="-122"/>
                </a:rPr>
                <a:t>）如何用数据选择器实现一个多输出的组合逻辑函数？</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pic>
          <p:nvPicPr>
            <p:cNvPr id="109" name="Picture 6" descr="http://img2.imgtn.bdimg.com/it/u=2409490321,577685329&amp;fm=200&amp;gp=0.jpg"/>
            <p:cNvPicPr>
              <a:picLocks noChangeAspect="1" noChangeArrowheads="1"/>
            </p:cNvPicPr>
            <p:nvPr/>
          </p:nvPicPr>
          <p:blipFill>
            <a:blip r:embed="rId11" cstate="print"/>
            <a:srcRect l="11058" t="9628" r="11439" b="12583"/>
            <a:stretch>
              <a:fillRect/>
            </a:stretch>
          </p:blipFill>
          <p:spPr bwMode="auto">
            <a:xfrm>
              <a:off x="545982" y="4137100"/>
              <a:ext cx="381000" cy="382406"/>
            </a:xfrm>
            <a:prstGeom prst="rect">
              <a:avLst/>
            </a:prstGeom>
            <a:noFill/>
          </p:spPr>
        </p:pic>
      </p:grpSp>
      <p:grpSp>
        <p:nvGrpSpPr>
          <p:cNvPr id="34" name="组合 17"/>
          <p:cNvGrpSpPr/>
          <p:nvPr/>
        </p:nvGrpSpPr>
        <p:grpSpPr>
          <a:xfrm>
            <a:off x="392432" y="769746"/>
            <a:ext cx="4933552" cy="420971"/>
            <a:chOff x="670560" y="892917"/>
            <a:chExt cx="4933552" cy="420971"/>
          </a:xfrm>
        </p:grpSpPr>
        <p:sp>
          <p:nvSpPr>
            <p:cNvPr id="35" name="矩形 34"/>
            <p:cNvSpPr/>
            <p:nvPr/>
          </p:nvSpPr>
          <p:spPr>
            <a:xfrm>
              <a:off x="1035233" y="913778"/>
              <a:ext cx="4568879"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集成数据选择器的应用（</a:t>
              </a:r>
              <a:r>
                <a:rPr lang="en-US" altLang="zh-CN" sz="2000" b="1" dirty="0">
                  <a:solidFill>
                    <a:srgbClr val="FF00FF"/>
                  </a:solidFill>
                  <a:latin typeface="微软雅黑" panose="020B0503020204020204" pitchFamily="34" charset="-122"/>
                  <a:ea typeface="微软雅黑" panose="020B0503020204020204" pitchFamily="34" charset="-122"/>
                </a:rPr>
                <a:t>74151</a:t>
              </a:r>
              <a:r>
                <a:rPr lang="zh-CN" altLang="en-US" sz="2000" b="1" dirty="0">
                  <a:solidFill>
                    <a:srgbClr val="FF00FF"/>
                  </a:solidFill>
                  <a:latin typeface="微软雅黑" panose="020B0503020204020204" pitchFamily="34" charset="-122"/>
                  <a:ea typeface="微软雅黑" panose="020B0503020204020204" pitchFamily="34" charset="-122"/>
                </a:rPr>
                <a:t>为例</a:t>
              </a:r>
              <a:r>
                <a:rPr lang="zh-CN" altLang="en-US" sz="2000" b="1" dirty="0">
                  <a:solidFill>
                    <a:srgbClr val="002060"/>
                  </a:solidFill>
                  <a:latin typeface="微软雅黑" panose="020B0503020204020204" pitchFamily="34" charset="-122"/>
                  <a:ea typeface="微软雅黑" panose="020B0503020204020204" pitchFamily="34" charset="-122"/>
                </a:rPr>
                <a: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36" name="Picture 3"/>
            <p:cNvPicPr>
              <a:picLocks noChangeAspect="1" noChangeArrowheads="1"/>
            </p:cNvPicPr>
            <p:nvPr/>
          </p:nvPicPr>
          <p:blipFill>
            <a:blip r:embed="rId12"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28704" name="Rectangle 32"/>
          <p:cNvSpPr>
            <a:spLocks noChangeArrowheads="1"/>
          </p:cNvSpPr>
          <p:nvPr/>
        </p:nvSpPr>
        <p:spPr bwMode="auto">
          <a:xfrm>
            <a:off x="0" y="0"/>
            <a:ext cx="9144000" cy="0"/>
          </a:xfrm>
          <a:prstGeom prst="rect">
            <a:avLst/>
          </a:prstGeom>
          <a:noFill/>
          <a:ln w="9525">
            <a:noFill/>
            <a:miter lim="800000"/>
          </a:ln>
          <a:effectLst/>
        </p:spPr>
        <p:txBody>
          <a:bodyPr vert="horz" wrap="none" lIns="91440" tIns="45720" rIns="91440" bIns="45720" numCol="1" anchor="ctr" anchorCtr="0" compatLnSpc="1">
            <a:spAutoFit/>
          </a:bodyPr>
          <a:lstStyle/>
          <a:p>
            <a:endParaRPr lang="zh-CN" altLang="en-US"/>
          </a:p>
        </p:txBody>
      </p:sp>
      <p:grpSp>
        <p:nvGrpSpPr>
          <p:cNvPr id="39" name="组合 38"/>
          <p:cNvGrpSpPr/>
          <p:nvPr/>
        </p:nvGrpSpPr>
        <p:grpSpPr>
          <a:xfrm>
            <a:off x="3531914" y="2532322"/>
            <a:ext cx="2086121" cy="500438"/>
            <a:chOff x="3154724" y="2189422"/>
            <a:chExt cx="2148796" cy="500438"/>
          </a:xfrm>
        </p:grpSpPr>
        <p:sp>
          <p:nvSpPr>
            <p:cNvPr id="38" name="圆角矩形 37"/>
            <p:cNvSpPr/>
            <p:nvPr/>
          </p:nvSpPr>
          <p:spPr>
            <a:xfrm>
              <a:off x="3154724" y="2189422"/>
              <a:ext cx="2148796" cy="500438"/>
            </a:xfrm>
            <a:prstGeom prst="roundRect">
              <a:avLst/>
            </a:prstGeom>
            <a:solidFill>
              <a:srgbClr val="FFFF00"/>
            </a:solidFill>
            <a:ln w="28575">
              <a:solidFill>
                <a:srgbClr val="FF00FF"/>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8703" name="Object 31"/>
            <p:cNvGraphicFramePr>
              <a:graphicFrameLocks noChangeAspect="1"/>
            </p:cNvGraphicFramePr>
            <p:nvPr/>
          </p:nvGraphicFramePr>
          <p:xfrm>
            <a:off x="3198495" y="2284095"/>
            <a:ext cx="2051789" cy="352425"/>
          </p:xfrm>
          <a:graphic>
            <a:graphicData uri="http://schemas.openxmlformats.org/presentationml/2006/ole">
              <mc:AlternateContent xmlns:mc="http://schemas.openxmlformats.org/markup-compatibility/2006">
                <mc:Choice xmlns:v="urn:schemas-microsoft-com:vml" Requires="v">
                  <p:oleObj spid="_x0000_s58419" name="公式" r:id="rId13" imgW="32308800" imgH="5486400" progId="Equation.3">
                    <p:embed/>
                  </p:oleObj>
                </mc:Choice>
                <mc:Fallback>
                  <p:oleObj name="公式" r:id="rId13" imgW="32308800" imgH="5486400" progId="Equation.3">
                    <p:embed/>
                    <p:pic>
                      <p:nvPicPr>
                        <p:cNvPr id="0" name="Object 3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98495" y="2284095"/>
                          <a:ext cx="2051789"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40" name="表格 39"/>
          <p:cNvGraphicFramePr>
            <a:graphicFrameLocks noGrp="1"/>
          </p:cNvGraphicFramePr>
          <p:nvPr/>
        </p:nvGraphicFramePr>
        <p:xfrm>
          <a:off x="2933700" y="2444750"/>
          <a:ext cx="392099" cy="1651560"/>
        </p:xfrm>
        <a:graphic>
          <a:graphicData uri="http://schemas.openxmlformats.org/drawingml/2006/table">
            <a:tbl>
              <a:tblPr/>
              <a:tblGrid>
                <a:gridCol w="392099"/>
              </a:tblGrid>
              <a:tr h="206445">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noFill/>
                      <a:prstDash val="solid"/>
                      <a:round/>
                      <a:headEnd type="none" w="med" len="med"/>
                      <a:tailEnd type="none" w="med" len="med"/>
                    </a:lnT>
                    <a:lnB>
                      <a:noFill/>
                    </a:lnB>
                    <a:lnTlToBr>
                      <a:noFill/>
                    </a:lnTlToBr>
                    <a:lnBlToTr>
                      <a:noFill/>
                    </a:lnBlToTr>
                    <a:noFill/>
                  </a:tcPr>
                </a:tc>
              </a:tr>
              <a:tr h="206445">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r>
              <a:tr h="206445">
                <a:tc>
                  <a:txBody>
                    <a:bodyPr/>
                    <a:lstStyle/>
                    <a:p>
                      <a:pPr marL="0" marR="0" lvl="0" indent="0" algn="ctr" defTabSz="914400" rtl="0" eaLnBrk="0" fontAlgn="base" latinLnBrk="0" hangingPunct="0">
                        <a:lnSpc>
                          <a:spcPts val="1600"/>
                        </a:lnSpc>
                        <a:spcBef>
                          <a:spcPct val="0"/>
                        </a:spcBef>
                        <a:spcAft>
                          <a:spcPct val="0"/>
                        </a:spcAft>
                        <a:buClrTx/>
                        <a:buSzTx/>
                        <a:buFontTx/>
                        <a:buNone/>
                        <a:defRPr/>
                      </a:pPr>
                      <a:r>
                        <a:rPr kumimoji="0" lang="en-US" altLang="zh-CN" sz="1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1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r>
              <a:tr h="206445">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r>
              <a:tr h="206445">
                <a:tc>
                  <a:txBody>
                    <a:bodyPr/>
                    <a:lstStyle/>
                    <a:p>
                      <a:pPr marL="0" marR="0" lvl="0" indent="0" algn="ctr" defTabSz="914400" rtl="0" eaLnBrk="0" fontAlgn="base" latinLnBrk="0" hangingPunct="0">
                        <a:lnSpc>
                          <a:spcPts val="1600"/>
                        </a:lnSpc>
                        <a:spcBef>
                          <a:spcPct val="0"/>
                        </a:spcBef>
                        <a:spcAft>
                          <a:spcPct val="0"/>
                        </a:spcAft>
                        <a:buClrTx/>
                        <a:buSzTx/>
                        <a:buFontTx/>
                        <a:buNone/>
                        <a:defRPr/>
                      </a:pPr>
                      <a:r>
                        <a:rPr kumimoji="0" lang="en-US" altLang="zh-CN" sz="1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1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r>
              <a:tr h="206445">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r>
              <a:tr h="206445">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r>
              <a:tr h="206445">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r>
            </a:tbl>
          </a:graphicData>
        </a:graphic>
      </p:graphicFrame>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94"/>
                                        </p:tgtEl>
                                        <p:attrNameLst>
                                          <p:attrName>style.visibility</p:attrName>
                                        </p:attrNameLst>
                                      </p:cBhvr>
                                      <p:to>
                                        <p:strVal val="visible"/>
                                      </p:to>
                                    </p:set>
                                    <p:animEffect transition="in" filter="wipe(up)">
                                      <p:cBhvr>
                                        <p:cTn id="7" dur="1000"/>
                                        <p:tgtEl>
                                          <p:spTgt spid="94"/>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slide(fromBottom)">
                                      <p:cBhvr>
                                        <p:cTn id="12" dur="1000"/>
                                        <p:tgtEl>
                                          <p:spTgt spid="39"/>
                                        </p:tgtEl>
                                      </p:cBhvr>
                                    </p:animEffect>
                                  </p:childTnLst>
                                </p:cTn>
                              </p:par>
                            </p:childTnLst>
                          </p:cTn>
                        </p:par>
                        <p:par>
                          <p:cTn id="13" fill="hold">
                            <p:stCondLst>
                              <p:cond delay="1000"/>
                            </p:stCondLst>
                            <p:childTnLst>
                              <p:par>
                                <p:cTn id="14" presetID="12" presetClass="entr" presetSubtype="4" fill="hold" nodeType="afterEffect">
                                  <p:stCondLst>
                                    <p:cond delay="0"/>
                                  </p:stCondLst>
                                  <p:childTnLst>
                                    <p:set>
                                      <p:cBhvr>
                                        <p:cTn id="15" dur="1" fill="hold">
                                          <p:stCondLst>
                                            <p:cond delay="0"/>
                                          </p:stCondLst>
                                        </p:cTn>
                                        <p:tgtEl>
                                          <p:spTgt spid="99"/>
                                        </p:tgtEl>
                                        <p:attrNameLst>
                                          <p:attrName>style.visibility</p:attrName>
                                        </p:attrNameLst>
                                      </p:cBhvr>
                                      <p:to>
                                        <p:strVal val="visible"/>
                                      </p:to>
                                    </p:set>
                                    <p:animEffect transition="in" filter="slide(fromBottom)">
                                      <p:cBhvr>
                                        <p:cTn id="16" dur="500"/>
                                        <p:tgtEl>
                                          <p:spTgt spid="99"/>
                                        </p:tgtEl>
                                      </p:cBhvr>
                                    </p:animEffect>
                                  </p:childTnLst>
                                </p:cTn>
                              </p:par>
                            </p:childTnLst>
                          </p:cTn>
                        </p:par>
                        <p:par>
                          <p:cTn id="17" fill="hold">
                            <p:stCondLst>
                              <p:cond delay="1500"/>
                            </p:stCondLst>
                            <p:childTnLst>
                              <p:par>
                                <p:cTn id="18" presetID="22" presetClass="entr" presetSubtype="4" fill="hold" nodeType="afterEffect">
                                  <p:stCondLst>
                                    <p:cond delay="0"/>
                                  </p:stCondLst>
                                  <p:childTnLst>
                                    <p:set>
                                      <p:cBhvr>
                                        <p:cTn id="19" dur="1" fill="hold">
                                          <p:stCondLst>
                                            <p:cond delay="0"/>
                                          </p:stCondLst>
                                        </p:cTn>
                                        <p:tgtEl>
                                          <p:spTgt spid="37"/>
                                        </p:tgtEl>
                                        <p:attrNameLst>
                                          <p:attrName>style.visibility</p:attrName>
                                        </p:attrNameLst>
                                      </p:cBhvr>
                                      <p:to>
                                        <p:strVal val="visible"/>
                                      </p:to>
                                    </p:set>
                                    <p:animEffect transition="in" filter="wipe(down)">
                                      <p:cBhvr>
                                        <p:cTn id="20" dur="500"/>
                                        <p:tgtEl>
                                          <p:spTgt spid="37"/>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2" fill="hold" nodeType="click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slide(fromRight)">
                                      <p:cBhvr>
                                        <p:cTn id="25" dur="1000"/>
                                        <p:tgtEl>
                                          <p:spTgt spid="40"/>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nodeType="clickEffect">
                                  <p:stCondLst>
                                    <p:cond delay="0"/>
                                  </p:stCondLst>
                                  <p:childTnLst>
                                    <p:set>
                                      <p:cBhvr>
                                        <p:cTn id="29" dur="1" fill="hold">
                                          <p:stCondLst>
                                            <p:cond delay="0"/>
                                          </p:stCondLst>
                                        </p:cTn>
                                        <p:tgtEl>
                                          <p:spTgt spid="111"/>
                                        </p:tgtEl>
                                        <p:attrNameLst>
                                          <p:attrName>style.visibility</p:attrName>
                                        </p:attrNameLst>
                                      </p:cBhvr>
                                      <p:to>
                                        <p:strVal val="visible"/>
                                      </p:to>
                                    </p:set>
                                    <p:animEffect transition="in" filter="slide(fromBottom)">
                                      <p:cBhvr>
                                        <p:cTn id="30" dur="1000"/>
                                        <p:tgtEl>
                                          <p:spTgt spid="1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圆角矩形 31"/>
          <p:cNvSpPr/>
          <p:nvPr/>
        </p:nvSpPr>
        <p:spPr>
          <a:xfrm>
            <a:off x="999490" y="3679190"/>
            <a:ext cx="1394460" cy="575310"/>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b="1" dirty="0">
                <a:solidFill>
                  <a:srgbClr val="0000FF"/>
                </a:solidFill>
              </a:rPr>
              <a:t>将</a:t>
            </a:r>
            <a:r>
              <a:rPr lang="en-US" altLang="zh-CN" sz="1400" b="1" dirty="0">
                <a:solidFill>
                  <a:srgbClr val="0000FF"/>
                </a:solidFill>
              </a:rPr>
              <a:t>74151</a:t>
            </a:r>
            <a:r>
              <a:rPr lang="zh-CN" altLang="en-US" sz="1400" b="1" dirty="0">
                <a:solidFill>
                  <a:srgbClr val="0000FF"/>
                </a:solidFill>
              </a:rPr>
              <a:t>变为</a:t>
            </a:r>
            <a:r>
              <a:rPr lang="en-US" altLang="zh-CN" sz="1400" b="1" dirty="0">
                <a:solidFill>
                  <a:srgbClr val="0000FF"/>
                </a:solidFill>
              </a:rPr>
              <a:t>4</a:t>
            </a:r>
            <a:r>
              <a:rPr lang="zh-CN" altLang="en-US" sz="1400" b="1" dirty="0">
                <a:solidFill>
                  <a:srgbClr val="0000FF"/>
                </a:solidFill>
              </a:rPr>
              <a:t>选</a:t>
            </a:r>
            <a:r>
              <a:rPr lang="en-US" altLang="zh-CN" sz="1400" b="1" dirty="0">
                <a:solidFill>
                  <a:srgbClr val="0000FF"/>
                </a:solidFill>
              </a:rPr>
              <a:t>1</a:t>
            </a:r>
            <a:r>
              <a:rPr lang="zh-CN" altLang="en-US" sz="1400" b="1" dirty="0">
                <a:solidFill>
                  <a:srgbClr val="0000FF"/>
                </a:solidFill>
              </a:rPr>
              <a:t>数据选择器</a:t>
            </a:r>
            <a:endParaRPr lang="zh-CN" altLang="en-US" sz="1400" b="1" dirty="0">
              <a:solidFill>
                <a:srgbClr val="0000FF"/>
              </a:solidFill>
            </a:endParaRPr>
          </a:p>
        </p:txBody>
      </p:sp>
      <p:sp>
        <p:nvSpPr>
          <p:cNvPr id="6" name="Rectangle 27"/>
          <p:cNvSpPr>
            <a:spLocks noChangeArrowheads="1"/>
          </p:cNvSpPr>
          <p:nvPr/>
        </p:nvSpPr>
        <p:spPr bwMode="auto">
          <a:xfrm>
            <a:off x="577511" y="1237292"/>
            <a:ext cx="3018212" cy="369332"/>
          </a:xfrm>
          <a:prstGeom prst="rect">
            <a:avLst/>
          </a:prstGeom>
          <a:noFill/>
          <a:ln w="9525" algn="ctr">
            <a:noFill/>
            <a:miter lim="800000"/>
          </a:ln>
          <a:effectLst/>
        </p:spPr>
        <p:txBody>
          <a:bodyPr wrap="square" lIns="0" rIns="0">
            <a:spAutoFit/>
          </a:bodyPr>
          <a:lstStyle/>
          <a:p>
            <a:pPr>
              <a:defRPr/>
            </a:pPr>
            <a:r>
              <a:rPr lang="en-US" altLang="zh-CN" b="1" dirty="0">
                <a:solidFill>
                  <a:srgbClr val="6600FF"/>
                </a:solidFill>
                <a:latin typeface="黑体" panose="02010609060101010101" pitchFamily="49" charset="-122"/>
                <a:ea typeface="黑体" panose="02010609060101010101" pitchFamily="49" charset="-122"/>
              </a:rPr>
              <a:t>2</a:t>
            </a:r>
            <a:r>
              <a:rPr lang="zh-CN" altLang="en-US" b="1" dirty="0">
                <a:solidFill>
                  <a:srgbClr val="6600FF"/>
                </a:solidFill>
                <a:latin typeface="黑体" panose="02010609060101010101" pitchFamily="49" charset="-122"/>
                <a:ea typeface="黑体" panose="02010609060101010101" pitchFamily="49" charset="-122"/>
              </a:rPr>
              <a:t>、实现组合逻辑函数</a:t>
            </a:r>
            <a:endParaRPr lang="zh-CN" altLang="en-US" b="1" dirty="0">
              <a:solidFill>
                <a:srgbClr val="6600FF"/>
              </a:solidFill>
              <a:latin typeface="黑体" panose="02010609060101010101" pitchFamily="49" charset="-122"/>
              <a:ea typeface="黑体" panose="02010609060101010101" pitchFamily="49" charset="-122"/>
            </a:endParaRPr>
          </a:p>
        </p:txBody>
      </p:sp>
      <p:grpSp>
        <p:nvGrpSpPr>
          <p:cNvPr id="2" name="组合 24"/>
          <p:cNvGrpSpPr/>
          <p:nvPr/>
        </p:nvGrpSpPr>
        <p:grpSpPr>
          <a:xfrm>
            <a:off x="628532" y="1616150"/>
            <a:ext cx="7302618" cy="517450"/>
            <a:chOff x="545982" y="4137100"/>
            <a:chExt cx="7302618" cy="517450"/>
          </a:xfrm>
        </p:grpSpPr>
        <p:sp>
          <p:nvSpPr>
            <p:cNvPr id="26" name="圆角矩形 25"/>
            <p:cNvSpPr/>
            <p:nvPr/>
          </p:nvSpPr>
          <p:spPr>
            <a:xfrm>
              <a:off x="712105" y="4276419"/>
              <a:ext cx="6926945" cy="378131"/>
            </a:xfrm>
            <a:prstGeom prst="roundRect">
              <a:avLst>
                <a:gd name="adj" fmla="val 4386"/>
              </a:avLst>
            </a:prstGeom>
            <a:solidFill>
              <a:schemeClr val="bg1"/>
            </a:solidFill>
            <a:ln w="28575">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8900"/>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27" name="矩形 26"/>
            <p:cNvSpPr/>
            <p:nvPr/>
          </p:nvSpPr>
          <p:spPr>
            <a:xfrm>
              <a:off x="865569" y="4304609"/>
              <a:ext cx="6983031" cy="307777"/>
            </a:xfrm>
            <a:prstGeom prst="rect">
              <a:avLst/>
            </a:prstGeom>
          </p:spPr>
          <p:txBody>
            <a:bodyPr wrap="square">
              <a:spAutoFit/>
            </a:bodyPr>
            <a:lstStyle/>
            <a:p>
              <a:pPr marL="984250" indent="-984250"/>
              <a:r>
                <a:rPr lang="zh-CN" altLang="en-US" sz="1400" b="1" dirty="0">
                  <a:solidFill>
                    <a:srgbClr val="002060"/>
                  </a:solidFill>
                  <a:latin typeface="微软雅黑" panose="020B0503020204020204" pitchFamily="34" charset="-122"/>
                  <a:ea typeface="微软雅黑" panose="020B0503020204020204" pitchFamily="34" charset="-122"/>
                </a:rPr>
                <a:t>如何用数据选择器实现一个变量数少于或超过数据选择器地址数的组合逻辑函数？</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pic>
          <p:nvPicPr>
            <p:cNvPr id="28" name="Picture 6" descr="http://img2.imgtn.bdimg.com/it/u=2409490321,577685329&amp;fm=200&amp;gp=0.jpg"/>
            <p:cNvPicPr>
              <a:picLocks noChangeAspect="1" noChangeArrowheads="1"/>
            </p:cNvPicPr>
            <p:nvPr/>
          </p:nvPicPr>
          <p:blipFill>
            <a:blip r:embed="rId1" cstate="print"/>
            <a:srcRect l="11058" t="9628" r="11439" b="12583"/>
            <a:stretch>
              <a:fillRect/>
            </a:stretch>
          </p:blipFill>
          <p:spPr bwMode="auto">
            <a:xfrm>
              <a:off x="545982" y="4137100"/>
              <a:ext cx="381000" cy="382406"/>
            </a:xfrm>
            <a:prstGeom prst="rect">
              <a:avLst/>
            </a:prstGeom>
            <a:noFill/>
          </p:spPr>
        </p:pic>
      </p:grpSp>
      <p:sp>
        <p:nvSpPr>
          <p:cNvPr id="34" name="矩形 33"/>
          <p:cNvSpPr/>
          <p:nvPr/>
        </p:nvSpPr>
        <p:spPr>
          <a:xfrm>
            <a:off x="666750" y="2261285"/>
            <a:ext cx="5939790" cy="369332"/>
          </a:xfrm>
          <a:prstGeom prst="rect">
            <a:avLst/>
          </a:prstGeom>
        </p:spPr>
        <p:txBody>
          <a:bodyPr wrap="square">
            <a:spAutoFit/>
          </a:bodyPr>
          <a:lstStyle/>
          <a:p>
            <a:r>
              <a:rPr lang="en-US" altLang="zh-CN" b="1" dirty="0">
                <a:solidFill>
                  <a:srgbClr val="0000FF"/>
                </a:solidFill>
                <a:latin typeface="微软雅黑" panose="020B0503020204020204" pitchFamily="34" charset="-122"/>
                <a:ea typeface="微软雅黑" panose="020B0503020204020204" pitchFamily="34" charset="-122"/>
              </a:rPr>
              <a:t>(1) </a:t>
            </a:r>
            <a:r>
              <a:rPr lang="zh-CN" altLang="en-US" b="1" dirty="0">
                <a:solidFill>
                  <a:srgbClr val="0000FF"/>
                </a:solidFill>
                <a:latin typeface="微软雅黑" panose="020B0503020204020204" pitchFamily="34" charset="-122"/>
                <a:ea typeface="微软雅黑" panose="020B0503020204020204" pitchFamily="34" charset="-122"/>
              </a:rPr>
              <a:t>实现变量数</a:t>
            </a:r>
            <a:r>
              <a:rPr lang="zh-CN" altLang="en-US" b="1" dirty="0">
                <a:solidFill>
                  <a:srgbClr val="CC00CC"/>
                </a:solidFill>
                <a:latin typeface="微软雅黑" panose="020B0503020204020204" pitchFamily="34" charset="-122"/>
                <a:ea typeface="微软雅黑" panose="020B0503020204020204" pitchFamily="34" charset="-122"/>
              </a:rPr>
              <a:t>少于</a:t>
            </a:r>
            <a:r>
              <a:rPr lang="zh-CN" altLang="en-US" b="1" dirty="0">
                <a:solidFill>
                  <a:srgbClr val="0000FF"/>
                </a:solidFill>
                <a:latin typeface="微软雅黑" panose="020B0503020204020204" pitchFamily="34" charset="-122"/>
                <a:ea typeface="微软雅黑" panose="020B0503020204020204" pitchFamily="34" charset="-122"/>
              </a:rPr>
              <a:t>数据选择器地址数的组合逻辑函数</a:t>
            </a:r>
            <a:endParaRPr lang="zh-CN" altLang="en-US" dirty="0">
              <a:solidFill>
                <a:srgbClr val="0000FF"/>
              </a:solidFill>
            </a:endParaRPr>
          </a:p>
        </p:txBody>
      </p:sp>
      <p:grpSp>
        <p:nvGrpSpPr>
          <p:cNvPr id="3" name="组合 30"/>
          <p:cNvGrpSpPr/>
          <p:nvPr/>
        </p:nvGrpSpPr>
        <p:grpSpPr>
          <a:xfrm>
            <a:off x="4599940" y="2796541"/>
            <a:ext cx="2882899" cy="1638300"/>
            <a:chOff x="4599940" y="2796541"/>
            <a:chExt cx="2882899" cy="1638300"/>
          </a:xfrm>
        </p:grpSpPr>
        <p:graphicFrame>
          <p:nvGraphicFramePr>
            <p:cNvPr id="37" name="Object 11"/>
            <p:cNvGraphicFramePr>
              <a:graphicFrameLocks noChangeAspect="1"/>
            </p:cNvGraphicFramePr>
            <p:nvPr/>
          </p:nvGraphicFramePr>
          <p:xfrm>
            <a:off x="4650740" y="2834640"/>
            <a:ext cx="2724150" cy="1422400"/>
          </p:xfrm>
          <a:graphic>
            <a:graphicData uri="http://schemas.openxmlformats.org/presentationml/2006/ole">
              <mc:AlternateContent xmlns:mc="http://schemas.openxmlformats.org/markup-compatibility/2006">
                <mc:Choice xmlns:v="urn:schemas-microsoft-com:vml" Requires="v">
                  <p:oleObj spid="_x0000_s59410" name="Visio" r:id="rId2" imgW="1371600" imgH="817245" progId="Visio.Drawing.11">
                    <p:embed/>
                  </p:oleObj>
                </mc:Choice>
                <mc:Fallback>
                  <p:oleObj name="Visio" r:id="rId2" imgW="1371600" imgH="817245" progId="Visio.Drawing.11">
                    <p:embed/>
                    <p:pic>
                      <p:nvPicPr>
                        <p:cNvPr id="0" name="Object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50740" y="2834640"/>
                          <a:ext cx="2724150" cy="14224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sp>
          <p:nvSpPr>
            <p:cNvPr id="38" name="圆角矩形 37"/>
            <p:cNvSpPr/>
            <p:nvPr/>
          </p:nvSpPr>
          <p:spPr>
            <a:xfrm>
              <a:off x="4599940" y="2796541"/>
              <a:ext cx="2882899" cy="1638300"/>
            </a:xfrm>
            <a:prstGeom prst="roundRect">
              <a:avLst>
                <a:gd name="adj" fmla="val 7462"/>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 name="圆角矩形 40"/>
          <p:cNvSpPr/>
          <p:nvPr/>
        </p:nvSpPr>
        <p:spPr>
          <a:xfrm>
            <a:off x="5368290" y="3850640"/>
            <a:ext cx="939800" cy="450850"/>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4634010" y="3056890"/>
            <a:ext cx="216000" cy="216000"/>
          </a:xfrm>
          <a:prstGeom prst="ellipse">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chemeClr val="accent2">
                    <a:lumMod val="20000"/>
                    <a:lumOff val="80000"/>
                  </a:schemeClr>
                </a:solidFill>
              </a:rPr>
              <a:t>0</a:t>
            </a:r>
            <a:endParaRPr lang="zh-CN" altLang="en-US" sz="1600" b="1" dirty="0">
              <a:solidFill>
                <a:schemeClr val="accent2">
                  <a:lumMod val="20000"/>
                  <a:lumOff val="80000"/>
                </a:schemeClr>
              </a:solidFill>
            </a:endParaRPr>
          </a:p>
        </p:txBody>
      </p:sp>
      <p:sp>
        <p:nvSpPr>
          <p:cNvPr id="47" name="圆角矩形 46"/>
          <p:cNvSpPr/>
          <p:nvPr/>
        </p:nvSpPr>
        <p:spPr>
          <a:xfrm>
            <a:off x="6333490" y="3850640"/>
            <a:ext cx="939800" cy="450850"/>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29"/>
          <p:cNvGrpSpPr/>
          <p:nvPr/>
        </p:nvGrpSpPr>
        <p:grpSpPr>
          <a:xfrm>
            <a:off x="4602005" y="3275006"/>
            <a:ext cx="267704" cy="461665"/>
            <a:chOff x="4410621" y="4338261"/>
            <a:chExt cx="267704" cy="461665"/>
          </a:xfrm>
        </p:grpSpPr>
        <p:sp>
          <p:nvSpPr>
            <p:cNvPr id="45" name="TextBox 44"/>
            <p:cNvSpPr txBox="1"/>
            <p:nvPr/>
          </p:nvSpPr>
          <p:spPr>
            <a:xfrm>
              <a:off x="4410621" y="4338261"/>
              <a:ext cx="247650" cy="461665"/>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rPr>
                <a:t>X</a:t>
              </a:r>
              <a:endParaRPr lang="en-US" altLang="zh-CN" sz="1200" dirty="0">
                <a:latin typeface="Times New Roman" panose="02020603050405020304" pitchFamily="18" charset="0"/>
                <a:cs typeface="Times New Roman" panose="02020603050405020304" pitchFamily="18" charset="0"/>
              </a:endParaRPr>
            </a:p>
            <a:p>
              <a:r>
                <a:rPr lang="en-US" altLang="zh-CN" sz="1200" dirty="0">
                  <a:latin typeface="Times New Roman" panose="02020603050405020304" pitchFamily="18" charset="0"/>
                  <a:cs typeface="Times New Roman" panose="02020603050405020304" pitchFamily="18" charset="0"/>
                </a:rPr>
                <a:t>Y</a:t>
              </a:r>
              <a:endParaRPr lang="zh-CN" altLang="en-US" sz="1200" dirty="0">
                <a:latin typeface="Times New Roman" panose="02020603050405020304" pitchFamily="18" charset="0"/>
                <a:cs typeface="Times New Roman" panose="02020603050405020304" pitchFamily="18" charset="0"/>
              </a:endParaRPr>
            </a:p>
          </p:txBody>
        </p:sp>
        <p:sp>
          <p:nvSpPr>
            <p:cNvPr id="48" name="圆角矩形 47"/>
            <p:cNvSpPr/>
            <p:nvPr/>
          </p:nvSpPr>
          <p:spPr>
            <a:xfrm>
              <a:off x="4455070" y="4359349"/>
              <a:ext cx="223255" cy="391662"/>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椭圆 49"/>
          <p:cNvSpPr/>
          <p:nvPr/>
        </p:nvSpPr>
        <p:spPr>
          <a:xfrm>
            <a:off x="4647303" y="3056889"/>
            <a:ext cx="216000" cy="216000"/>
          </a:xfrm>
          <a:prstGeom prst="ellipse">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rgbClr val="FFFF00"/>
                </a:solidFill>
              </a:rPr>
              <a:t>1</a:t>
            </a:r>
            <a:endParaRPr lang="zh-CN" altLang="en-US" sz="1600" b="1" dirty="0">
              <a:solidFill>
                <a:srgbClr val="FFFF00"/>
              </a:solidFill>
            </a:endParaRPr>
          </a:p>
        </p:txBody>
      </p:sp>
      <p:grpSp>
        <p:nvGrpSpPr>
          <p:cNvPr id="5" name="组合 17"/>
          <p:cNvGrpSpPr/>
          <p:nvPr/>
        </p:nvGrpSpPr>
        <p:grpSpPr>
          <a:xfrm>
            <a:off x="392432" y="769746"/>
            <a:ext cx="4933552" cy="420971"/>
            <a:chOff x="670560" y="892917"/>
            <a:chExt cx="4933552" cy="420971"/>
          </a:xfrm>
        </p:grpSpPr>
        <p:sp>
          <p:nvSpPr>
            <p:cNvPr id="21" name="矩形 20"/>
            <p:cNvSpPr/>
            <p:nvPr/>
          </p:nvSpPr>
          <p:spPr>
            <a:xfrm>
              <a:off x="1035233" y="913778"/>
              <a:ext cx="4568879"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集成数据选择器的应用（</a:t>
              </a:r>
              <a:r>
                <a:rPr lang="en-US" altLang="zh-CN" sz="2000" b="1" dirty="0">
                  <a:solidFill>
                    <a:srgbClr val="FF00FF"/>
                  </a:solidFill>
                  <a:latin typeface="微软雅黑" panose="020B0503020204020204" pitchFamily="34" charset="-122"/>
                  <a:ea typeface="微软雅黑" panose="020B0503020204020204" pitchFamily="34" charset="-122"/>
                </a:rPr>
                <a:t>74151</a:t>
              </a:r>
              <a:r>
                <a:rPr lang="zh-CN" altLang="en-US" sz="2000" b="1" dirty="0">
                  <a:solidFill>
                    <a:srgbClr val="FF00FF"/>
                  </a:solidFill>
                  <a:latin typeface="微软雅黑" panose="020B0503020204020204" pitchFamily="34" charset="-122"/>
                  <a:ea typeface="微软雅黑" panose="020B0503020204020204" pitchFamily="34" charset="-122"/>
                </a:rPr>
                <a:t>为例</a:t>
              </a:r>
              <a:r>
                <a:rPr lang="zh-CN" altLang="en-US" sz="2000" b="1" dirty="0">
                  <a:solidFill>
                    <a:srgbClr val="002060"/>
                  </a:solidFill>
                  <a:latin typeface="微软雅黑" panose="020B0503020204020204" pitchFamily="34" charset="-122"/>
                  <a:ea typeface="微软雅黑" panose="020B0503020204020204" pitchFamily="34" charset="-122"/>
                </a:rPr>
                <a: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22" name="Picture 3"/>
            <p:cNvPicPr>
              <a:picLocks noChangeAspect="1" noChangeArrowheads="1"/>
            </p:cNvPicPr>
            <p:nvPr/>
          </p:nvPicPr>
          <p:blipFill>
            <a:blip r:embed="rId4"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7" name="组合 28"/>
          <p:cNvGrpSpPr/>
          <p:nvPr/>
        </p:nvGrpSpPr>
        <p:grpSpPr>
          <a:xfrm>
            <a:off x="1120140" y="2802890"/>
            <a:ext cx="1242060" cy="450850"/>
            <a:chOff x="1297940" y="3348990"/>
            <a:chExt cx="1242060" cy="450850"/>
          </a:xfrm>
        </p:grpSpPr>
        <p:graphicFrame>
          <p:nvGraphicFramePr>
            <p:cNvPr id="23" name="Object 27"/>
            <p:cNvGraphicFramePr>
              <a:graphicFrameLocks noChangeAspect="1"/>
            </p:cNvGraphicFramePr>
            <p:nvPr/>
          </p:nvGraphicFramePr>
          <p:xfrm>
            <a:off x="1349375" y="3429000"/>
            <a:ext cx="1150938" cy="296863"/>
          </p:xfrm>
          <a:graphic>
            <a:graphicData uri="http://schemas.openxmlformats.org/presentationml/2006/ole">
              <mc:AlternateContent xmlns:mc="http://schemas.openxmlformats.org/markup-compatibility/2006">
                <mc:Choice xmlns:v="urn:schemas-microsoft-com:vml" Requires="v">
                  <p:oleObj spid="_x0000_s59411" name="Equation" r:id="rId5" imgW="18897600" imgH="4876800" progId="Equation.DSMT4">
                    <p:embed/>
                  </p:oleObj>
                </mc:Choice>
                <mc:Fallback>
                  <p:oleObj name="Equation" r:id="rId5" imgW="18897600" imgH="4876800" progId="Equation.DSMT4">
                    <p:embed/>
                    <p:pic>
                      <p:nvPicPr>
                        <p:cNvPr id="0" name="Object 2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49375" y="3429000"/>
                          <a:ext cx="1150938" cy="296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4" name="圆角矩形 23"/>
            <p:cNvSpPr/>
            <p:nvPr/>
          </p:nvSpPr>
          <p:spPr>
            <a:xfrm>
              <a:off x="1297940" y="3348990"/>
              <a:ext cx="1242060" cy="450850"/>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3" name="下箭头 32"/>
          <p:cNvSpPr/>
          <p:nvPr/>
        </p:nvSpPr>
        <p:spPr>
          <a:xfrm>
            <a:off x="1524000" y="3263900"/>
            <a:ext cx="361950" cy="3810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 name="组合 38"/>
          <p:cNvGrpSpPr/>
          <p:nvPr/>
        </p:nvGrpSpPr>
        <p:grpSpPr>
          <a:xfrm>
            <a:off x="2404872" y="2935478"/>
            <a:ext cx="1830578" cy="1166622"/>
            <a:chOff x="2404872" y="2935478"/>
            <a:chExt cx="1830578" cy="1166622"/>
          </a:xfrm>
        </p:grpSpPr>
        <p:sp>
          <p:nvSpPr>
            <p:cNvPr id="35" name="手杖形箭头 34"/>
            <p:cNvSpPr/>
            <p:nvPr/>
          </p:nvSpPr>
          <p:spPr>
            <a:xfrm rot="5400000">
              <a:off x="2260473" y="3079877"/>
              <a:ext cx="1166622" cy="877824"/>
            </a:xfrm>
            <a:prstGeom prst="uturnArrow">
              <a:avLst>
                <a:gd name="adj1" fmla="val 16319"/>
                <a:gd name="adj2" fmla="val 14873"/>
                <a:gd name="adj3" fmla="val 17766"/>
                <a:gd name="adj4" fmla="val 43750"/>
                <a:gd name="adj5" fmla="val 98872"/>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6" name="圆角矩形标注 35"/>
            <p:cNvSpPr/>
            <p:nvPr/>
          </p:nvSpPr>
          <p:spPr>
            <a:xfrm>
              <a:off x="3454400" y="3255359"/>
              <a:ext cx="781050" cy="580041"/>
            </a:xfrm>
            <a:prstGeom prst="wedgeRoundRectCallout">
              <a:avLst>
                <a:gd name="adj1" fmla="val -67385"/>
                <a:gd name="adj2" fmla="val -547"/>
                <a:gd name="adj3" fmla="val 16667"/>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令某位地址</a:t>
              </a:r>
              <a:r>
                <a:rPr lang="en-US" altLang="zh-CN" sz="1200"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S</a:t>
              </a:r>
              <a:r>
                <a:rPr lang="en-US" altLang="zh-CN" sz="1200"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为常量</a:t>
              </a:r>
              <a:endParaRPr lang="zh-CN" altLang="en-US" sz="12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lide(fromBottom)">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34"/>
                                        </p:tgtEl>
                                        <p:attrNameLst>
                                          <p:attrName>style.visibility</p:attrName>
                                        </p:attrNameLst>
                                      </p:cBhvr>
                                      <p:to>
                                        <p:strVal val="visible"/>
                                      </p:to>
                                    </p:set>
                                    <p:animEffect transition="in" filter="slide(fromBottom)">
                                      <p:cBhvr>
                                        <p:cTn id="12" dur="1000"/>
                                        <p:tgtEl>
                                          <p:spTgt spid="34"/>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4"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slide(fromBottom)">
                                      <p:cBhvr>
                                        <p:cTn id="17" dur="10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slide(fromTop)">
                                      <p:cBhvr>
                                        <p:cTn id="22" dur="10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1"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slide(fromTop)">
                                      <p:cBhvr>
                                        <p:cTn id="27" dur="1000"/>
                                        <p:tgtEl>
                                          <p:spTgt spid="33"/>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1" fill="hold" grpId="0" nodeType="clickEffect">
                                  <p:stCondLst>
                                    <p:cond delay="0"/>
                                  </p:stCondLst>
                                  <p:childTnLst>
                                    <p:set>
                                      <p:cBhvr>
                                        <p:cTn id="31" dur="1" fill="hold">
                                          <p:stCondLst>
                                            <p:cond delay="0"/>
                                          </p:stCondLst>
                                        </p:cTn>
                                        <p:tgtEl>
                                          <p:spTgt spid="32"/>
                                        </p:tgtEl>
                                        <p:attrNameLst>
                                          <p:attrName>style.visibility</p:attrName>
                                        </p:attrNameLst>
                                      </p:cBhvr>
                                      <p:to>
                                        <p:strVal val="visible"/>
                                      </p:to>
                                    </p:set>
                                    <p:animEffect transition="in" filter="slide(fromTop)">
                                      <p:cBhvr>
                                        <p:cTn id="32" dur="1000"/>
                                        <p:tgtEl>
                                          <p:spTgt spid="3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up)">
                                      <p:cBhvr>
                                        <p:cTn id="37" dur="1000"/>
                                        <p:tgtEl>
                                          <p:spTgt spid="8"/>
                                        </p:tgtEl>
                                      </p:cBhvr>
                                    </p:animEffect>
                                  </p:childTnLst>
                                </p:cTn>
                              </p:par>
                            </p:childTnLst>
                          </p:cTn>
                        </p:par>
                      </p:childTnLst>
                    </p:cTn>
                  </p:par>
                  <p:par>
                    <p:cTn id="38" fill="hold">
                      <p:stCondLst>
                        <p:cond delay="indefinite"/>
                      </p:stCondLst>
                      <p:childTnLst>
                        <p:par>
                          <p:cTn id="39" fill="hold">
                            <p:stCondLst>
                              <p:cond delay="0"/>
                            </p:stCondLst>
                            <p:childTnLst>
                              <p:par>
                                <p:cTn id="40" presetID="12" presetClass="entr" presetSubtype="8" fill="hold" grpId="0" nodeType="click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slide(fromLeft)">
                                      <p:cBhvr>
                                        <p:cTn id="42" dur="1000"/>
                                        <p:tgtEl>
                                          <p:spTgt spid="46"/>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8"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slide(fromLeft)">
                                      <p:cBhvr>
                                        <p:cTn id="47" dur="1000"/>
                                        <p:tgtEl>
                                          <p:spTgt spid="4"/>
                                        </p:tgtEl>
                                      </p:cBhvr>
                                    </p:animEffect>
                                  </p:childTnLst>
                                </p:cTn>
                              </p:par>
                            </p:childTnLst>
                          </p:cTn>
                        </p:par>
                        <p:par>
                          <p:cTn id="48" fill="hold">
                            <p:stCondLst>
                              <p:cond delay="1000"/>
                            </p:stCondLst>
                            <p:childTnLst>
                              <p:par>
                                <p:cTn id="49" presetID="22" presetClass="entr" presetSubtype="8" fill="hold" grpId="0" nodeType="afterEffect">
                                  <p:stCondLst>
                                    <p:cond delay="0"/>
                                  </p:stCondLst>
                                  <p:childTnLst>
                                    <p:set>
                                      <p:cBhvr>
                                        <p:cTn id="50" dur="1" fill="hold">
                                          <p:stCondLst>
                                            <p:cond delay="0"/>
                                          </p:stCondLst>
                                        </p:cTn>
                                        <p:tgtEl>
                                          <p:spTgt spid="41"/>
                                        </p:tgtEl>
                                        <p:attrNameLst>
                                          <p:attrName>style.visibility</p:attrName>
                                        </p:attrNameLst>
                                      </p:cBhvr>
                                      <p:to>
                                        <p:strVal val="visible"/>
                                      </p:to>
                                    </p:set>
                                    <p:animEffect transition="in" filter="wipe(left)">
                                      <p:cBhvr>
                                        <p:cTn id="51" dur="1000"/>
                                        <p:tgtEl>
                                          <p:spTgt spid="41"/>
                                        </p:tgtEl>
                                      </p:cBhvr>
                                    </p:animEffect>
                                  </p:childTnLst>
                                </p:cTn>
                              </p:par>
                            </p:childTnLst>
                          </p:cTn>
                        </p:par>
                      </p:childTnLst>
                    </p:cTn>
                  </p:par>
                  <p:par>
                    <p:cTn id="52" fill="hold">
                      <p:stCondLst>
                        <p:cond delay="indefinite"/>
                      </p:stCondLst>
                      <p:childTnLst>
                        <p:par>
                          <p:cTn id="53" fill="hold">
                            <p:stCondLst>
                              <p:cond delay="0"/>
                            </p:stCondLst>
                            <p:childTnLst>
                              <p:par>
                                <p:cTn id="54" presetID="12" presetClass="entr" presetSubtype="8" fill="hold" grpId="0" nodeType="clickEffect">
                                  <p:stCondLst>
                                    <p:cond delay="0"/>
                                  </p:stCondLst>
                                  <p:childTnLst>
                                    <p:set>
                                      <p:cBhvr>
                                        <p:cTn id="55" dur="1" fill="hold">
                                          <p:stCondLst>
                                            <p:cond delay="0"/>
                                          </p:stCondLst>
                                        </p:cTn>
                                        <p:tgtEl>
                                          <p:spTgt spid="50"/>
                                        </p:tgtEl>
                                        <p:attrNameLst>
                                          <p:attrName>style.visibility</p:attrName>
                                        </p:attrNameLst>
                                      </p:cBhvr>
                                      <p:to>
                                        <p:strVal val="visible"/>
                                      </p:to>
                                    </p:set>
                                    <p:animEffect transition="in" filter="slide(fromLeft)">
                                      <p:cBhvr>
                                        <p:cTn id="56" dur="1000"/>
                                        <p:tgtEl>
                                          <p:spTgt spid="50"/>
                                        </p:tgtEl>
                                      </p:cBhvr>
                                    </p:animEffect>
                                  </p:childTnLst>
                                </p:cTn>
                              </p:par>
                            </p:childTnLst>
                          </p:cTn>
                        </p:par>
                      </p:childTnLst>
                    </p:cTn>
                  </p:par>
                  <p:par>
                    <p:cTn id="57" fill="hold">
                      <p:stCondLst>
                        <p:cond delay="indefinite"/>
                      </p:stCondLst>
                      <p:childTnLst>
                        <p:par>
                          <p:cTn id="58" fill="hold">
                            <p:stCondLst>
                              <p:cond delay="0"/>
                            </p:stCondLst>
                            <p:childTnLst>
                              <p:par>
                                <p:cTn id="59" presetID="22" presetClass="exit" presetSubtype="8" fill="hold" grpId="1" nodeType="clickEffect">
                                  <p:stCondLst>
                                    <p:cond delay="0"/>
                                  </p:stCondLst>
                                  <p:childTnLst>
                                    <p:animEffect transition="out" filter="wipe(left)">
                                      <p:cBhvr>
                                        <p:cTn id="60" dur="1000"/>
                                        <p:tgtEl>
                                          <p:spTgt spid="41"/>
                                        </p:tgtEl>
                                      </p:cBhvr>
                                    </p:animEffect>
                                    <p:set>
                                      <p:cBhvr>
                                        <p:cTn id="61" dur="1" fill="hold">
                                          <p:stCondLst>
                                            <p:cond delay="999"/>
                                          </p:stCondLst>
                                        </p:cTn>
                                        <p:tgtEl>
                                          <p:spTgt spid="41"/>
                                        </p:tgtEl>
                                        <p:attrNameLst>
                                          <p:attrName>style.visibility</p:attrName>
                                        </p:attrNameLst>
                                      </p:cBhvr>
                                      <p:to>
                                        <p:strVal val="hidden"/>
                                      </p:to>
                                    </p:set>
                                  </p:childTnLst>
                                </p:cTn>
                              </p:par>
                            </p:childTnLst>
                          </p:cTn>
                        </p:par>
                        <p:par>
                          <p:cTn id="62" fill="hold">
                            <p:stCondLst>
                              <p:cond delay="1000"/>
                            </p:stCondLst>
                            <p:childTnLst>
                              <p:par>
                                <p:cTn id="63" presetID="22" presetClass="entr" presetSubtype="8" fill="hold" grpId="0" nodeType="afterEffect">
                                  <p:stCondLst>
                                    <p:cond delay="0"/>
                                  </p:stCondLst>
                                  <p:childTnLst>
                                    <p:set>
                                      <p:cBhvr>
                                        <p:cTn id="64" dur="1" fill="hold">
                                          <p:stCondLst>
                                            <p:cond delay="0"/>
                                          </p:stCondLst>
                                        </p:cTn>
                                        <p:tgtEl>
                                          <p:spTgt spid="47"/>
                                        </p:tgtEl>
                                        <p:attrNameLst>
                                          <p:attrName>style.visibility</p:attrName>
                                        </p:attrNameLst>
                                      </p:cBhvr>
                                      <p:to>
                                        <p:strVal val="visible"/>
                                      </p:to>
                                    </p:set>
                                    <p:animEffect transition="in" filter="wipe(left)">
                                      <p:cBhvr>
                                        <p:cTn id="65" dur="10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4" grpId="0"/>
      <p:bldP spid="41" grpId="0" animBg="1"/>
      <p:bldP spid="41" grpId="1" animBg="1"/>
      <p:bldP spid="46" grpId="0" animBg="1"/>
      <p:bldP spid="47" grpId="0" animBg="1"/>
      <p:bldP spid="50" grpId="0" animBg="1"/>
      <p:bldP spid="33" grpId="0" animBg="1"/>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7"/>
          <p:cNvSpPr>
            <a:spLocks noChangeArrowheads="1"/>
          </p:cNvSpPr>
          <p:nvPr/>
        </p:nvSpPr>
        <p:spPr bwMode="auto">
          <a:xfrm>
            <a:off x="577511" y="1237292"/>
            <a:ext cx="3018212" cy="369332"/>
          </a:xfrm>
          <a:prstGeom prst="rect">
            <a:avLst/>
          </a:prstGeom>
          <a:noFill/>
          <a:ln w="9525" algn="ctr">
            <a:noFill/>
            <a:miter lim="800000"/>
          </a:ln>
          <a:effectLst/>
        </p:spPr>
        <p:txBody>
          <a:bodyPr wrap="square" lIns="0" rIns="0">
            <a:spAutoFit/>
          </a:bodyPr>
          <a:lstStyle/>
          <a:p>
            <a:pPr>
              <a:defRPr/>
            </a:pPr>
            <a:r>
              <a:rPr lang="en-US" altLang="zh-CN" b="1" dirty="0">
                <a:solidFill>
                  <a:srgbClr val="6600FF"/>
                </a:solidFill>
                <a:latin typeface="黑体" panose="02010609060101010101" pitchFamily="49" charset="-122"/>
                <a:ea typeface="黑体" panose="02010609060101010101" pitchFamily="49" charset="-122"/>
              </a:rPr>
              <a:t>2</a:t>
            </a:r>
            <a:r>
              <a:rPr lang="zh-CN" altLang="en-US" b="1" dirty="0">
                <a:solidFill>
                  <a:srgbClr val="6600FF"/>
                </a:solidFill>
                <a:latin typeface="黑体" panose="02010609060101010101" pitchFamily="49" charset="-122"/>
                <a:ea typeface="黑体" panose="02010609060101010101" pitchFamily="49" charset="-122"/>
              </a:rPr>
              <a:t>、实现组合逻辑函数</a:t>
            </a:r>
            <a:endParaRPr lang="zh-CN" altLang="en-US" b="1" dirty="0">
              <a:solidFill>
                <a:srgbClr val="6600FF"/>
              </a:solidFill>
              <a:latin typeface="黑体" panose="02010609060101010101" pitchFamily="49" charset="-122"/>
              <a:ea typeface="黑体" panose="02010609060101010101" pitchFamily="49" charset="-122"/>
            </a:endParaRPr>
          </a:p>
        </p:txBody>
      </p:sp>
      <p:grpSp>
        <p:nvGrpSpPr>
          <p:cNvPr id="2" name="组合 24"/>
          <p:cNvGrpSpPr/>
          <p:nvPr/>
        </p:nvGrpSpPr>
        <p:grpSpPr>
          <a:xfrm>
            <a:off x="628532" y="1616150"/>
            <a:ext cx="7302618" cy="517450"/>
            <a:chOff x="545982" y="4137100"/>
            <a:chExt cx="7302618" cy="517450"/>
          </a:xfrm>
        </p:grpSpPr>
        <p:sp>
          <p:nvSpPr>
            <p:cNvPr id="26" name="圆角矩形 25"/>
            <p:cNvSpPr/>
            <p:nvPr/>
          </p:nvSpPr>
          <p:spPr>
            <a:xfrm>
              <a:off x="712105" y="4276419"/>
              <a:ext cx="6926945" cy="378131"/>
            </a:xfrm>
            <a:prstGeom prst="roundRect">
              <a:avLst>
                <a:gd name="adj" fmla="val 4386"/>
              </a:avLst>
            </a:prstGeom>
            <a:solidFill>
              <a:schemeClr val="bg1"/>
            </a:solidFill>
            <a:ln w="28575">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8900"/>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27" name="矩形 26"/>
            <p:cNvSpPr/>
            <p:nvPr/>
          </p:nvSpPr>
          <p:spPr>
            <a:xfrm>
              <a:off x="865569" y="4304609"/>
              <a:ext cx="6983031" cy="307777"/>
            </a:xfrm>
            <a:prstGeom prst="rect">
              <a:avLst/>
            </a:prstGeom>
          </p:spPr>
          <p:txBody>
            <a:bodyPr wrap="square">
              <a:spAutoFit/>
            </a:bodyPr>
            <a:lstStyle/>
            <a:p>
              <a:pPr marL="984250" indent="-984250"/>
              <a:r>
                <a:rPr lang="zh-CN" altLang="en-US" sz="1400" b="1" dirty="0">
                  <a:solidFill>
                    <a:srgbClr val="002060"/>
                  </a:solidFill>
                  <a:latin typeface="微软雅黑" panose="020B0503020204020204" pitchFamily="34" charset="-122"/>
                  <a:ea typeface="微软雅黑" panose="020B0503020204020204" pitchFamily="34" charset="-122"/>
                </a:rPr>
                <a:t>如何用数据选择器实现一个变量数少于或超过数据选择器地址数的组合逻辑函数？</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pic>
          <p:nvPicPr>
            <p:cNvPr id="28" name="Picture 6" descr="http://img2.imgtn.bdimg.com/it/u=2409490321,577685329&amp;fm=200&amp;gp=0.jpg"/>
            <p:cNvPicPr>
              <a:picLocks noChangeAspect="1" noChangeArrowheads="1"/>
            </p:cNvPicPr>
            <p:nvPr/>
          </p:nvPicPr>
          <p:blipFill>
            <a:blip r:embed="rId1" cstate="print"/>
            <a:srcRect l="11058" t="9628" r="11439" b="12583"/>
            <a:stretch>
              <a:fillRect/>
            </a:stretch>
          </p:blipFill>
          <p:spPr bwMode="auto">
            <a:xfrm>
              <a:off x="545982" y="4137100"/>
              <a:ext cx="381000" cy="382406"/>
            </a:xfrm>
            <a:prstGeom prst="rect">
              <a:avLst/>
            </a:prstGeom>
            <a:noFill/>
          </p:spPr>
        </p:pic>
      </p:grpSp>
      <p:sp>
        <p:nvSpPr>
          <p:cNvPr id="34" name="矩形 33"/>
          <p:cNvSpPr/>
          <p:nvPr/>
        </p:nvSpPr>
        <p:spPr>
          <a:xfrm>
            <a:off x="666750" y="2261285"/>
            <a:ext cx="5588000" cy="369332"/>
          </a:xfrm>
          <a:prstGeom prst="rect">
            <a:avLst/>
          </a:prstGeom>
        </p:spPr>
        <p:txBody>
          <a:bodyPr wrap="square">
            <a:spAutoFit/>
          </a:bodyPr>
          <a:lstStyle/>
          <a:p>
            <a:r>
              <a:rPr lang="en-US" altLang="zh-CN" b="1" dirty="0">
                <a:solidFill>
                  <a:srgbClr val="0000FF"/>
                </a:solidFill>
                <a:latin typeface="微软雅黑" panose="020B0503020204020204" pitchFamily="34" charset="-122"/>
                <a:ea typeface="微软雅黑" panose="020B0503020204020204" pitchFamily="34" charset="-122"/>
              </a:rPr>
              <a:t>(2) </a:t>
            </a:r>
            <a:r>
              <a:rPr lang="zh-CN" altLang="en-US" b="1" dirty="0">
                <a:solidFill>
                  <a:srgbClr val="0000FF"/>
                </a:solidFill>
                <a:latin typeface="微软雅黑" panose="020B0503020204020204" pitchFamily="34" charset="-122"/>
                <a:ea typeface="微软雅黑" panose="020B0503020204020204" pitchFamily="34" charset="-122"/>
              </a:rPr>
              <a:t>变量数</a:t>
            </a:r>
            <a:r>
              <a:rPr lang="zh-CN" altLang="en-US" b="1" dirty="0">
                <a:solidFill>
                  <a:srgbClr val="CC00CC"/>
                </a:solidFill>
                <a:latin typeface="微软雅黑" panose="020B0503020204020204" pitchFamily="34" charset="-122"/>
                <a:ea typeface="微软雅黑" panose="020B0503020204020204" pitchFamily="34" charset="-122"/>
              </a:rPr>
              <a:t>超过</a:t>
            </a:r>
            <a:r>
              <a:rPr lang="zh-CN" altLang="en-US" b="1" dirty="0">
                <a:solidFill>
                  <a:srgbClr val="0000FF"/>
                </a:solidFill>
                <a:latin typeface="微软雅黑" panose="020B0503020204020204" pitchFamily="34" charset="-122"/>
                <a:ea typeface="微软雅黑" panose="020B0503020204020204" pitchFamily="34" charset="-122"/>
              </a:rPr>
              <a:t>数据选择器地址数的组合逻辑函数</a:t>
            </a:r>
            <a:endParaRPr lang="zh-CN" altLang="en-US" dirty="0">
              <a:solidFill>
                <a:srgbClr val="0000FF"/>
              </a:solidFill>
            </a:endParaRPr>
          </a:p>
        </p:txBody>
      </p:sp>
      <p:grpSp>
        <p:nvGrpSpPr>
          <p:cNvPr id="3" name="组合 37"/>
          <p:cNvGrpSpPr/>
          <p:nvPr/>
        </p:nvGrpSpPr>
        <p:grpSpPr>
          <a:xfrm>
            <a:off x="1583477" y="2838085"/>
            <a:ext cx="1080000" cy="1492615"/>
            <a:chOff x="1583477" y="2838085"/>
            <a:chExt cx="1080000" cy="1492615"/>
          </a:xfrm>
        </p:grpSpPr>
        <p:sp>
          <p:nvSpPr>
            <p:cNvPr id="20" name="五边形 19"/>
            <p:cNvSpPr/>
            <p:nvPr/>
          </p:nvSpPr>
          <p:spPr>
            <a:xfrm>
              <a:off x="1583477" y="2838085"/>
              <a:ext cx="1080000" cy="432000"/>
            </a:xfrm>
            <a:prstGeom prst="homePlate">
              <a:avLst>
                <a:gd name="adj" fmla="val 31259"/>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latin typeface="微软雅黑" panose="020B0503020204020204" pitchFamily="34" charset="-122"/>
                  <a:ea typeface="微软雅黑" panose="020B0503020204020204" pitchFamily="34" charset="-122"/>
                </a:rPr>
                <a:t>4 </a:t>
              </a:r>
              <a:r>
                <a:rPr lang="zh-CN" altLang="en-US" sz="1600" dirty="0">
                  <a:latin typeface="微软雅黑" panose="020B0503020204020204" pitchFamily="34" charset="-122"/>
                  <a:ea typeface="微软雅黑" panose="020B0503020204020204" pitchFamily="34" charset="-122"/>
                </a:rPr>
                <a:t>选 </a:t>
              </a:r>
              <a:r>
                <a:rPr lang="en-US" altLang="zh-CN" sz="1600" dirty="0">
                  <a:latin typeface="微软雅黑" panose="020B0503020204020204" pitchFamily="34" charset="-122"/>
                  <a:ea typeface="微软雅黑" panose="020B0503020204020204" pitchFamily="34" charset="-122"/>
                </a:rPr>
                <a:t>1</a:t>
              </a:r>
              <a:endParaRPr lang="zh-CN" altLang="en-US" sz="1600" dirty="0">
                <a:latin typeface="微软雅黑" panose="020B0503020204020204" pitchFamily="34" charset="-122"/>
                <a:ea typeface="微软雅黑" panose="020B0503020204020204" pitchFamily="34" charset="-122"/>
              </a:endParaRPr>
            </a:p>
          </p:txBody>
        </p:sp>
        <p:sp>
          <p:nvSpPr>
            <p:cNvPr id="25" name="下箭头 24"/>
            <p:cNvSpPr/>
            <p:nvPr/>
          </p:nvSpPr>
          <p:spPr>
            <a:xfrm>
              <a:off x="1881161" y="3308350"/>
              <a:ext cx="484632" cy="5461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圆角矩形 29"/>
            <p:cNvSpPr/>
            <p:nvPr/>
          </p:nvSpPr>
          <p:spPr>
            <a:xfrm>
              <a:off x="1673477" y="3873500"/>
              <a:ext cx="900000"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400" dirty="0">
                  <a:latin typeface="黑体" panose="02010609060101010101" pitchFamily="49" charset="-122"/>
                  <a:ea typeface="黑体" panose="02010609060101010101" pitchFamily="49" charset="-122"/>
                </a:rPr>
                <a:t>两变量逻辑函数</a:t>
              </a:r>
              <a:endParaRPr lang="zh-CN" altLang="en-US" sz="1400" dirty="0">
                <a:latin typeface="黑体" panose="02010609060101010101" pitchFamily="49" charset="-122"/>
                <a:ea typeface="黑体" panose="02010609060101010101" pitchFamily="49" charset="-122"/>
              </a:endParaRPr>
            </a:p>
          </p:txBody>
        </p:sp>
      </p:grpSp>
      <p:grpSp>
        <p:nvGrpSpPr>
          <p:cNvPr id="4" name="组合 39"/>
          <p:cNvGrpSpPr/>
          <p:nvPr/>
        </p:nvGrpSpPr>
        <p:grpSpPr>
          <a:xfrm>
            <a:off x="2566507" y="2838085"/>
            <a:ext cx="1080000" cy="1492615"/>
            <a:chOff x="2566507" y="2838085"/>
            <a:chExt cx="1080000" cy="1492615"/>
          </a:xfrm>
        </p:grpSpPr>
        <p:sp>
          <p:nvSpPr>
            <p:cNvPr id="21" name="燕尾形 20"/>
            <p:cNvSpPr/>
            <p:nvPr/>
          </p:nvSpPr>
          <p:spPr>
            <a:xfrm>
              <a:off x="2566507" y="2838085"/>
              <a:ext cx="1080000" cy="432000"/>
            </a:xfrm>
            <a:prstGeom prst="chevron">
              <a:avLst>
                <a:gd name="adj" fmla="val 30155"/>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latin typeface="微软雅黑" panose="020B0503020204020204" pitchFamily="34" charset="-122"/>
                  <a:ea typeface="微软雅黑" panose="020B0503020204020204" pitchFamily="34" charset="-122"/>
                </a:rPr>
                <a:t>8 </a:t>
              </a:r>
              <a:r>
                <a:rPr lang="zh-CN" altLang="en-US" sz="1600" dirty="0">
                  <a:latin typeface="微软雅黑" panose="020B0503020204020204" pitchFamily="34" charset="-122"/>
                  <a:ea typeface="微软雅黑" panose="020B0503020204020204" pitchFamily="34" charset="-122"/>
                </a:rPr>
                <a:t>选 </a:t>
              </a:r>
              <a:r>
                <a:rPr lang="en-US" altLang="zh-CN" sz="1600" dirty="0">
                  <a:latin typeface="微软雅黑" panose="020B0503020204020204" pitchFamily="34" charset="-122"/>
                  <a:ea typeface="微软雅黑" panose="020B0503020204020204" pitchFamily="34" charset="-122"/>
                </a:rPr>
                <a:t>1</a:t>
              </a:r>
              <a:endParaRPr lang="zh-CN" altLang="en-US" sz="1600" dirty="0">
                <a:latin typeface="微软雅黑" panose="020B0503020204020204" pitchFamily="34" charset="-122"/>
                <a:ea typeface="微软雅黑" panose="020B0503020204020204" pitchFamily="34" charset="-122"/>
              </a:endParaRPr>
            </a:p>
          </p:txBody>
        </p:sp>
        <p:sp>
          <p:nvSpPr>
            <p:cNvPr id="31" name="圆角矩形 30"/>
            <p:cNvSpPr/>
            <p:nvPr/>
          </p:nvSpPr>
          <p:spPr>
            <a:xfrm>
              <a:off x="2656507" y="3873500"/>
              <a:ext cx="900000"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400" dirty="0">
                  <a:latin typeface="黑体" panose="02010609060101010101" pitchFamily="49" charset="-122"/>
                  <a:ea typeface="黑体" panose="02010609060101010101" pitchFamily="49" charset="-122"/>
                </a:rPr>
                <a:t>三变量逻辑函数</a:t>
              </a:r>
              <a:endParaRPr lang="zh-CN" altLang="en-US" sz="1400" dirty="0">
                <a:latin typeface="黑体" panose="02010609060101010101" pitchFamily="49" charset="-122"/>
                <a:ea typeface="黑体" panose="02010609060101010101" pitchFamily="49" charset="-122"/>
              </a:endParaRPr>
            </a:p>
          </p:txBody>
        </p:sp>
        <p:sp>
          <p:nvSpPr>
            <p:cNvPr id="33" name="下箭头 32"/>
            <p:cNvSpPr/>
            <p:nvPr/>
          </p:nvSpPr>
          <p:spPr>
            <a:xfrm>
              <a:off x="2864191" y="3308350"/>
              <a:ext cx="484632" cy="5461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40"/>
          <p:cNvGrpSpPr/>
          <p:nvPr/>
        </p:nvGrpSpPr>
        <p:grpSpPr>
          <a:xfrm>
            <a:off x="3549537" y="2836498"/>
            <a:ext cx="1080000" cy="1494202"/>
            <a:chOff x="3549537" y="2836498"/>
            <a:chExt cx="1080000" cy="1494202"/>
          </a:xfrm>
        </p:grpSpPr>
        <p:sp>
          <p:nvSpPr>
            <p:cNvPr id="22" name="燕尾形 21"/>
            <p:cNvSpPr/>
            <p:nvPr/>
          </p:nvSpPr>
          <p:spPr>
            <a:xfrm>
              <a:off x="3549537" y="2836498"/>
              <a:ext cx="1080000" cy="432000"/>
            </a:xfrm>
            <a:prstGeom prst="chevron">
              <a:avLst>
                <a:gd name="adj" fmla="val 30155"/>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latin typeface="微软雅黑" panose="020B0503020204020204" pitchFamily="34" charset="-122"/>
                  <a:ea typeface="微软雅黑" panose="020B0503020204020204" pitchFamily="34" charset="-122"/>
                </a:rPr>
                <a:t>16 </a:t>
              </a:r>
              <a:r>
                <a:rPr lang="zh-CN" altLang="en-US" sz="1600" dirty="0">
                  <a:latin typeface="微软雅黑" panose="020B0503020204020204" pitchFamily="34" charset="-122"/>
                  <a:ea typeface="微软雅黑" panose="020B0503020204020204" pitchFamily="34" charset="-122"/>
                </a:rPr>
                <a:t>选 </a:t>
              </a:r>
              <a:r>
                <a:rPr lang="en-US" altLang="zh-CN" sz="1600" dirty="0">
                  <a:latin typeface="微软雅黑" panose="020B0503020204020204" pitchFamily="34" charset="-122"/>
                  <a:ea typeface="微软雅黑" panose="020B0503020204020204" pitchFamily="34" charset="-122"/>
                </a:rPr>
                <a:t>1</a:t>
              </a:r>
              <a:endParaRPr lang="zh-CN" altLang="en-US" sz="1600" dirty="0">
                <a:latin typeface="微软雅黑" panose="020B0503020204020204" pitchFamily="34" charset="-122"/>
                <a:ea typeface="微软雅黑" panose="020B0503020204020204" pitchFamily="34" charset="-122"/>
              </a:endParaRPr>
            </a:p>
          </p:txBody>
        </p:sp>
        <p:sp>
          <p:nvSpPr>
            <p:cNvPr id="32" name="圆角矩形 31"/>
            <p:cNvSpPr/>
            <p:nvPr/>
          </p:nvSpPr>
          <p:spPr>
            <a:xfrm>
              <a:off x="3639537" y="3873500"/>
              <a:ext cx="900000" cy="4572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zh-CN" altLang="en-US" sz="1400" dirty="0">
                  <a:latin typeface="黑体" panose="02010609060101010101" pitchFamily="49" charset="-122"/>
                  <a:ea typeface="黑体" panose="02010609060101010101" pitchFamily="49" charset="-122"/>
                </a:rPr>
                <a:t>四变量逻辑函数</a:t>
              </a:r>
              <a:endParaRPr lang="zh-CN" altLang="en-US" sz="1400" dirty="0">
                <a:latin typeface="黑体" panose="02010609060101010101" pitchFamily="49" charset="-122"/>
                <a:ea typeface="黑体" panose="02010609060101010101" pitchFamily="49" charset="-122"/>
              </a:endParaRPr>
            </a:p>
          </p:txBody>
        </p:sp>
        <p:sp>
          <p:nvSpPr>
            <p:cNvPr id="35" name="下箭头 34"/>
            <p:cNvSpPr/>
            <p:nvPr/>
          </p:nvSpPr>
          <p:spPr>
            <a:xfrm>
              <a:off x="3847221" y="3308350"/>
              <a:ext cx="484632" cy="54610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下弧形箭头 22"/>
          <p:cNvSpPr/>
          <p:nvPr/>
        </p:nvSpPr>
        <p:spPr>
          <a:xfrm>
            <a:off x="1949602" y="3208232"/>
            <a:ext cx="1155548" cy="341418"/>
          </a:xfrm>
          <a:prstGeom prst="curved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4" name="下弧形箭头 23"/>
          <p:cNvSpPr/>
          <p:nvPr/>
        </p:nvSpPr>
        <p:spPr>
          <a:xfrm>
            <a:off x="3105757" y="3208232"/>
            <a:ext cx="1155548" cy="341418"/>
          </a:xfrm>
          <a:prstGeom prst="curvedUpArrow">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pSp>
        <p:nvGrpSpPr>
          <p:cNvPr id="7" name="组合 42"/>
          <p:cNvGrpSpPr/>
          <p:nvPr/>
        </p:nvGrpSpPr>
        <p:grpSpPr>
          <a:xfrm>
            <a:off x="4851668" y="2734117"/>
            <a:ext cx="3117580" cy="1183833"/>
            <a:chOff x="4902468" y="2918267"/>
            <a:chExt cx="3117580" cy="1183833"/>
          </a:xfrm>
        </p:grpSpPr>
        <p:sp>
          <p:nvSpPr>
            <p:cNvPr id="39" name="圆角矩形 38"/>
            <p:cNvSpPr/>
            <p:nvPr/>
          </p:nvSpPr>
          <p:spPr>
            <a:xfrm>
              <a:off x="5011054" y="3069919"/>
              <a:ext cx="3008994" cy="1032181"/>
            </a:xfrm>
            <a:prstGeom prst="roundRect">
              <a:avLst>
                <a:gd name="adj" fmla="val 4386"/>
              </a:avLst>
            </a:prstGeom>
            <a:solidFill>
              <a:schemeClr val="bg1"/>
            </a:solidFill>
            <a:ln w="28575">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8900">
                <a:lnSpc>
                  <a:spcPct val="125000"/>
                </a:lnSpc>
              </a:pPr>
              <a:r>
                <a:rPr lang="zh-CN" altLang="en-US" sz="1600" dirty="0">
                  <a:solidFill>
                    <a:schemeClr val="tx1"/>
                  </a:solidFill>
                  <a:latin typeface="微软雅黑" panose="020B0503020204020204" pitchFamily="34" charset="-122"/>
                  <a:ea typeface="微软雅黑" panose="020B0503020204020204" pitchFamily="34" charset="-122"/>
                </a:rPr>
                <a:t> 通过数据选择器的字扩展方式可以实现变量数超过数据选择器地址数的组合逻辑函数。</a:t>
              </a:r>
              <a:endParaRPr lang="zh-CN" altLang="en-US" sz="1600" dirty="0">
                <a:solidFill>
                  <a:schemeClr val="tx1"/>
                </a:solidFill>
                <a:latin typeface="微软雅黑" panose="020B0503020204020204" pitchFamily="34" charset="-122"/>
                <a:ea typeface="微软雅黑" panose="020B0503020204020204" pitchFamily="34" charset="-122"/>
              </a:endParaRPr>
            </a:p>
          </p:txBody>
        </p:sp>
        <p:pic>
          <p:nvPicPr>
            <p:cNvPr id="42" name="Picture 5"/>
            <p:cNvPicPr>
              <a:picLocks noChangeAspect="1" noChangeArrowheads="1"/>
            </p:cNvPicPr>
            <p:nvPr/>
          </p:nvPicPr>
          <p:blipFill>
            <a:blip r:embed="rId2" cstate="print"/>
            <a:srcRect/>
            <a:stretch>
              <a:fillRect/>
            </a:stretch>
          </p:blipFill>
          <p:spPr bwMode="auto">
            <a:xfrm>
              <a:off x="4902468" y="2918267"/>
              <a:ext cx="371060" cy="297180"/>
            </a:xfrm>
            <a:prstGeom prst="rect">
              <a:avLst/>
            </a:prstGeom>
            <a:noFill/>
            <a:ln w="9525">
              <a:noFill/>
              <a:miter lim="800000"/>
              <a:headEnd/>
              <a:tailEnd/>
            </a:ln>
          </p:spPr>
        </p:pic>
      </p:grpSp>
      <p:grpSp>
        <p:nvGrpSpPr>
          <p:cNvPr id="8" name="组合 24"/>
          <p:cNvGrpSpPr/>
          <p:nvPr/>
        </p:nvGrpSpPr>
        <p:grpSpPr>
          <a:xfrm>
            <a:off x="596782" y="4410150"/>
            <a:ext cx="7302618" cy="517450"/>
            <a:chOff x="545982" y="4137100"/>
            <a:chExt cx="7302618" cy="517450"/>
          </a:xfrm>
        </p:grpSpPr>
        <p:sp>
          <p:nvSpPr>
            <p:cNvPr id="49" name="圆角矩形 48"/>
            <p:cNvSpPr/>
            <p:nvPr/>
          </p:nvSpPr>
          <p:spPr>
            <a:xfrm>
              <a:off x="712105" y="4276419"/>
              <a:ext cx="5752195" cy="378131"/>
            </a:xfrm>
            <a:prstGeom prst="roundRect">
              <a:avLst>
                <a:gd name="adj" fmla="val 4386"/>
              </a:avLst>
            </a:prstGeom>
            <a:solidFill>
              <a:schemeClr val="bg1"/>
            </a:solidFill>
            <a:ln w="28575">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8900"/>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51" name="矩形 50"/>
            <p:cNvSpPr/>
            <p:nvPr/>
          </p:nvSpPr>
          <p:spPr>
            <a:xfrm>
              <a:off x="865569" y="4304609"/>
              <a:ext cx="6983031" cy="307777"/>
            </a:xfrm>
            <a:prstGeom prst="rect">
              <a:avLst/>
            </a:prstGeom>
          </p:spPr>
          <p:txBody>
            <a:bodyPr wrap="square">
              <a:spAutoFit/>
            </a:bodyPr>
            <a:lstStyle/>
            <a:p>
              <a:pPr marL="984250" indent="-984250"/>
              <a:r>
                <a:rPr lang="zh-CN" altLang="en-US" sz="1400" b="1" dirty="0">
                  <a:solidFill>
                    <a:srgbClr val="002060"/>
                  </a:solidFill>
                  <a:latin typeface="微软雅黑" panose="020B0503020204020204" pitchFamily="34" charset="-122"/>
                  <a:ea typeface="微软雅黑" panose="020B0503020204020204" pitchFamily="34" charset="-122"/>
                </a:rPr>
                <a:t>不扩展能否实现变量数超过数据选择器地址数的组合逻辑函数？ </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pic>
          <p:nvPicPr>
            <p:cNvPr id="52" name="Picture 6" descr="http://img2.imgtn.bdimg.com/it/u=2409490321,577685329&amp;fm=200&amp;gp=0.jpg"/>
            <p:cNvPicPr>
              <a:picLocks noChangeAspect="1" noChangeArrowheads="1"/>
            </p:cNvPicPr>
            <p:nvPr/>
          </p:nvPicPr>
          <p:blipFill>
            <a:blip r:embed="rId1" cstate="print"/>
            <a:srcRect l="11058" t="9628" r="11439" b="12583"/>
            <a:stretch>
              <a:fillRect/>
            </a:stretch>
          </p:blipFill>
          <p:spPr bwMode="auto">
            <a:xfrm>
              <a:off x="545982" y="4137100"/>
              <a:ext cx="381000" cy="382406"/>
            </a:xfrm>
            <a:prstGeom prst="rect">
              <a:avLst/>
            </a:prstGeom>
            <a:noFill/>
          </p:spPr>
        </p:pic>
      </p:grpSp>
      <p:grpSp>
        <p:nvGrpSpPr>
          <p:cNvPr id="9" name="组合 17"/>
          <p:cNvGrpSpPr/>
          <p:nvPr/>
        </p:nvGrpSpPr>
        <p:grpSpPr>
          <a:xfrm>
            <a:off x="392432" y="769746"/>
            <a:ext cx="4933552" cy="420971"/>
            <a:chOff x="670560" y="892917"/>
            <a:chExt cx="4933552" cy="420971"/>
          </a:xfrm>
        </p:grpSpPr>
        <p:sp>
          <p:nvSpPr>
            <p:cNvPr id="36" name="矩形 35"/>
            <p:cNvSpPr/>
            <p:nvPr/>
          </p:nvSpPr>
          <p:spPr>
            <a:xfrm>
              <a:off x="1035233" y="913778"/>
              <a:ext cx="4568879"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集成数据选择器的应用（</a:t>
              </a:r>
              <a:r>
                <a:rPr lang="en-US" altLang="zh-CN" sz="2000" b="1" dirty="0">
                  <a:solidFill>
                    <a:srgbClr val="FF00FF"/>
                  </a:solidFill>
                  <a:latin typeface="微软雅黑" panose="020B0503020204020204" pitchFamily="34" charset="-122"/>
                  <a:ea typeface="微软雅黑" panose="020B0503020204020204" pitchFamily="34" charset="-122"/>
                </a:rPr>
                <a:t>74151</a:t>
              </a:r>
              <a:r>
                <a:rPr lang="zh-CN" altLang="en-US" sz="2000" b="1" dirty="0">
                  <a:solidFill>
                    <a:srgbClr val="FF00FF"/>
                  </a:solidFill>
                  <a:latin typeface="微软雅黑" panose="020B0503020204020204" pitchFamily="34" charset="-122"/>
                  <a:ea typeface="微软雅黑" panose="020B0503020204020204" pitchFamily="34" charset="-122"/>
                </a:rPr>
                <a:t>为例</a:t>
              </a:r>
              <a:r>
                <a:rPr lang="zh-CN" altLang="en-US" sz="2000" b="1" dirty="0">
                  <a:solidFill>
                    <a:srgbClr val="002060"/>
                  </a:solidFill>
                  <a:latin typeface="微软雅黑" panose="020B0503020204020204" pitchFamily="34" charset="-122"/>
                  <a:ea typeface="微软雅黑" panose="020B0503020204020204" pitchFamily="34" charset="-122"/>
                </a:rPr>
                <a: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37"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grpId="0" nodeType="after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slide(fromBottom)">
                                      <p:cBhvr>
                                        <p:cTn id="7" dur="1000"/>
                                        <p:tgtEl>
                                          <p:spTgt spid="3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1000"/>
                                        <p:tgtEl>
                                          <p:spTgt spid="3"/>
                                        </p:tgtEl>
                                      </p:cBhvr>
                                    </p:animEffect>
                                  </p:childTnLst>
                                </p:cTn>
                              </p:par>
                            </p:childTnLst>
                          </p:cTn>
                        </p:par>
                        <p:par>
                          <p:cTn id="13" fill="hold">
                            <p:stCondLst>
                              <p:cond delay="1000"/>
                            </p:stCondLst>
                            <p:childTnLst>
                              <p:par>
                                <p:cTn id="14" presetID="22" presetClass="entr" presetSubtype="8" fill="hold" nodeType="after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wipe(left)">
                                      <p:cBhvr>
                                        <p:cTn id="16" dur="1000"/>
                                        <p:tgtEl>
                                          <p:spTgt spid="4"/>
                                        </p:tgtEl>
                                      </p:cBhvr>
                                    </p:animEffect>
                                  </p:childTnLst>
                                </p:cTn>
                              </p:par>
                            </p:childTnLst>
                          </p:cTn>
                        </p:par>
                        <p:par>
                          <p:cTn id="17" fill="hold">
                            <p:stCondLst>
                              <p:cond delay="2000"/>
                            </p:stCondLst>
                            <p:childTnLst>
                              <p:par>
                                <p:cTn id="18" presetID="22" presetClass="entr" presetSubtype="8"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1000"/>
                                        <p:tgtEl>
                                          <p:spTgt spid="5"/>
                                        </p:tgtEl>
                                      </p:cBhvr>
                                    </p:animEffect>
                                  </p:childTnLst>
                                </p:cTn>
                              </p:par>
                            </p:childTnLst>
                          </p:cTn>
                        </p:par>
                        <p:par>
                          <p:cTn id="21" fill="hold">
                            <p:stCondLst>
                              <p:cond delay="3000"/>
                            </p:stCondLst>
                            <p:childTnLst>
                              <p:par>
                                <p:cTn id="22" presetID="22" presetClass="entr" presetSubtype="8" fill="hold" grpId="0" nodeType="after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wipe(left)">
                                      <p:cBhvr>
                                        <p:cTn id="24" dur="1000"/>
                                        <p:tgtEl>
                                          <p:spTgt spid="23"/>
                                        </p:tgtEl>
                                      </p:cBhvr>
                                    </p:animEffect>
                                  </p:childTnLst>
                                </p:cTn>
                              </p:par>
                            </p:childTnLst>
                          </p:cTn>
                        </p:par>
                        <p:par>
                          <p:cTn id="25" fill="hold">
                            <p:stCondLst>
                              <p:cond delay="4000"/>
                            </p:stCondLst>
                            <p:childTnLst>
                              <p:par>
                                <p:cTn id="26" presetID="22" presetClass="entr" presetSubtype="8" fill="hold" grpId="0" nodeType="after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wipe(left)">
                                      <p:cBhvr>
                                        <p:cTn id="28" dur="1000"/>
                                        <p:tgtEl>
                                          <p:spTgt spid="24"/>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animEffect transition="in" filter="slide(fromLeft)">
                                      <p:cBhvr>
                                        <p:cTn id="33" dur="1000"/>
                                        <p:tgtEl>
                                          <p:spTgt spid="7"/>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slide(fromBottom)">
                                      <p:cBhvr>
                                        <p:cTn id="38"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p:bldP spid="23" grpId="0" animBg="1"/>
      <p:bldP spid="24" grpId="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9"/>
          <p:cNvGrpSpPr/>
          <p:nvPr/>
        </p:nvGrpSpPr>
        <p:grpSpPr>
          <a:xfrm>
            <a:off x="5424490" y="2539750"/>
            <a:ext cx="3167060" cy="2027488"/>
            <a:chOff x="804865" y="2730250"/>
            <a:chExt cx="3167060" cy="2027488"/>
          </a:xfrm>
        </p:grpSpPr>
        <p:pic>
          <p:nvPicPr>
            <p:cNvPr id="29719" name="Picture 23"/>
            <p:cNvPicPr>
              <a:picLocks noChangeAspect="1" noChangeArrowheads="1"/>
            </p:cNvPicPr>
            <p:nvPr/>
          </p:nvPicPr>
          <p:blipFill>
            <a:blip r:embed="rId1" cstate="print"/>
            <a:srcRect/>
            <a:stretch>
              <a:fillRect/>
            </a:stretch>
          </p:blipFill>
          <p:spPr bwMode="auto">
            <a:xfrm>
              <a:off x="804865" y="2730250"/>
              <a:ext cx="3167060" cy="2027488"/>
            </a:xfrm>
            <a:prstGeom prst="rect">
              <a:avLst/>
            </a:prstGeom>
            <a:noFill/>
            <a:ln w="9525">
              <a:noFill/>
              <a:miter lim="800000"/>
              <a:headEnd/>
              <a:tailEnd/>
            </a:ln>
          </p:spPr>
        </p:pic>
        <p:sp>
          <p:nvSpPr>
            <p:cNvPr id="18" name="矩形 17"/>
            <p:cNvSpPr/>
            <p:nvPr/>
          </p:nvSpPr>
          <p:spPr>
            <a:xfrm>
              <a:off x="948536" y="3025776"/>
              <a:ext cx="1376063" cy="1641475"/>
            </a:xfrm>
            <a:prstGeom prst="rect">
              <a:avLst/>
            </a:prstGeom>
          </p:spPr>
          <p:txBody>
            <a:bodyPr wrap="square" lIns="0" tIns="0" rIns="0" bIns="0">
              <a:spAutoFit/>
            </a:bodyPr>
            <a:lstStyle/>
            <a:p>
              <a:pPr>
                <a:lnSpc>
                  <a:spcPts val="1600"/>
                </a:lnSpc>
              </a:pPr>
              <a:r>
                <a:rPr lang="en-US" altLang="zh-CN" sz="1400" b="1" dirty="0">
                  <a:latin typeface="Times New Roman" panose="02020603050405020304" pitchFamily="18" charset="0"/>
                  <a:cs typeface="Times New Roman" panose="02020603050405020304" pitchFamily="18" charset="0"/>
                </a:rPr>
                <a:t>0    0    0    0      1</a:t>
              </a:r>
              <a:endParaRPr lang="en-US" altLang="zh-CN" sz="1400" b="1" dirty="0">
                <a:latin typeface="Times New Roman" panose="02020603050405020304" pitchFamily="18" charset="0"/>
                <a:cs typeface="Times New Roman" panose="02020603050405020304" pitchFamily="18" charset="0"/>
              </a:endParaRPr>
            </a:p>
            <a:p>
              <a:pPr>
                <a:lnSpc>
                  <a:spcPts val="1600"/>
                </a:lnSpc>
              </a:pPr>
              <a:r>
                <a:rPr lang="en-US" altLang="zh-CN" sz="1400" b="1" dirty="0">
                  <a:latin typeface="Times New Roman" panose="02020603050405020304" pitchFamily="18" charset="0"/>
                  <a:cs typeface="Times New Roman" panose="02020603050405020304" pitchFamily="18" charset="0"/>
                </a:rPr>
                <a:t>0    0    0    1      1</a:t>
              </a:r>
              <a:endParaRPr lang="en-US" altLang="zh-CN" sz="1400" b="1" dirty="0">
                <a:latin typeface="Times New Roman" panose="02020603050405020304" pitchFamily="18" charset="0"/>
                <a:cs typeface="Times New Roman" panose="02020603050405020304" pitchFamily="18" charset="0"/>
              </a:endParaRPr>
            </a:p>
            <a:p>
              <a:pPr>
                <a:lnSpc>
                  <a:spcPts val="1600"/>
                </a:lnSpc>
              </a:pPr>
              <a:r>
                <a:rPr lang="en-US" altLang="zh-CN" sz="1400" b="1" dirty="0">
                  <a:latin typeface="Times New Roman" panose="02020603050405020304" pitchFamily="18" charset="0"/>
                  <a:cs typeface="Times New Roman" panose="02020603050405020304" pitchFamily="18" charset="0"/>
                </a:rPr>
                <a:t>0    0    1    0      0</a:t>
              </a:r>
              <a:endParaRPr lang="en-US" altLang="zh-CN" sz="1400" b="1" dirty="0">
                <a:latin typeface="Times New Roman" panose="02020603050405020304" pitchFamily="18" charset="0"/>
                <a:cs typeface="Times New Roman" panose="02020603050405020304" pitchFamily="18" charset="0"/>
              </a:endParaRPr>
            </a:p>
            <a:p>
              <a:pPr>
                <a:lnSpc>
                  <a:spcPts val="1600"/>
                </a:lnSpc>
              </a:pPr>
              <a:r>
                <a:rPr lang="en-US" altLang="zh-CN" sz="1400" b="1" dirty="0">
                  <a:latin typeface="Times New Roman" panose="02020603050405020304" pitchFamily="18" charset="0"/>
                  <a:cs typeface="Times New Roman" panose="02020603050405020304" pitchFamily="18" charset="0"/>
                </a:rPr>
                <a:t>0    0    1    1      0</a:t>
              </a:r>
              <a:endParaRPr lang="en-US" altLang="zh-CN" sz="1400" b="1" dirty="0">
                <a:latin typeface="Times New Roman" panose="02020603050405020304" pitchFamily="18" charset="0"/>
                <a:cs typeface="Times New Roman" panose="02020603050405020304" pitchFamily="18" charset="0"/>
              </a:endParaRPr>
            </a:p>
            <a:p>
              <a:pPr>
                <a:lnSpc>
                  <a:spcPts val="1600"/>
                </a:lnSpc>
              </a:pPr>
              <a:r>
                <a:rPr lang="en-US" altLang="zh-CN" sz="1400" b="1" dirty="0">
                  <a:latin typeface="Times New Roman" panose="02020603050405020304" pitchFamily="18" charset="0"/>
                  <a:cs typeface="Times New Roman" panose="02020603050405020304" pitchFamily="18" charset="0"/>
                </a:rPr>
                <a:t>0    1    0    0      0</a:t>
              </a:r>
              <a:endParaRPr lang="en-US" altLang="zh-CN" sz="1400" b="1" dirty="0">
                <a:latin typeface="Times New Roman" panose="02020603050405020304" pitchFamily="18" charset="0"/>
                <a:cs typeface="Times New Roman" panose="02020603050405020304" pitchFamily="18" charset="0"/>
              </a:endParaRPr>
            </a:p>
            <a:p>
              <a:pPr>
                <a:lnSpc>
                  <a:spcPts val="1600"/>
                </a:lnSpc>
              </a:pPr>
              <a:r>
                <a:rPr lang="en-US" altLang="zh-CN" sz="1400" b="1" dirty="0">
                  <a:latin typeface="Times New Roman" panose="02020603050405020304" pitchFamily="18" charset="0"/>
                  <a:cs typeface="Times New Roman" panose="02020603050405020304" pitchFamily="18" charset="0"/>
                </a:rPr>
                <a:t>0    1    0    1      1</a:t>
              </a:r>
              <a:endParaRPr lang="en-US" altLang="zh-CN" sz="1400" b="1" dirty="0">
                <a:latin typeface="Times New Roman" panose="02020603050405020304" pitchFamily="18" charset="0"/>
                <a:cs typeface="Times New Roman" panose="02020603050405020304" pitchFamily="18" charset="0"/>
              </a:endParaRPr>
            </a:p>
            <a:p>
              <a:pPr>
                <a:lnSpc>
                  <a:spcPts val="1600"/>
                </a:lnSpc>
              </a:pPr>
              <a:r>
                <a:rPr lang="en-US" altLang="zh-CN" sz="1400" b="1" dirty="0">
                  <a:latin typeface="Times New Roman" panose="02020603050405020304" pitchFamily="18" charset="0"/>
                  <a:cs typeface="Times New Roman" panose="02020603050405020304" pitchFamily="18" charset="0"/>
                </a:rPr>
                <a:t>0    1    1    0      1</a:t>
              </a:r>
              <a:endParaRPr lang="en-US" altLang="zh-CN" sz="1400" b="1" dirty="0">
                <a:latin typeface="Times New Roman" panose="02020603050405020304" pitchFamily="18" charset="0"/>
                <a:cs typeface="Times New Roman" panose="02020603050405020304" pitchFamily="18" charset="0"/>
              </a:endParaRPr>
            </a:p>
            <a:p>
              <a:pPr>
                <a:lnSpc>
                  <a:spcPts val="1600"/>
                </a:lnSpc>
              </a:pPr>
              <a:r>
                <a:rPr lang="en-US" altLang="zh-CN" sz="1400" b="1" dirty="0">
                  <a:latin typeface="Times New Roman" panose="02020603050405020304" pitchFamily="18" charset="0"/>
                  <a:cs typeface="Times New Roman" panose="02020603050405020304" pitchFamily="18" charset="0"/>
                </a:rPr>
                <a:t>0    1    1    1      0</a:t>
              </a:r>
              <a:endParaRPr lang="en-US" altLang="zh-CN" sz="1400" b="1" dirty="0">
                <a:latin typeface="Times New Roman" panose="02020603050405020304" pitchFamily="18" charset="0"/>
                <a:cs typeface="Times New Roman" panose="02020603050405020304" pitchFamily="18" charset="0"/>
              </a:endParaRPr>
            </a:p>
          </p:txBody>
        </p:sp>
        <p:sp>
          <p:nvSpPr>
            <p:cNvPr id="22" name="矩形 21"/>
            <p:cNvSpPr/>
            <p:nvPr/>
          </p:nvSpPr>
          <p:spPr>
            <a:xfrm>
              <a:off x="880386" y="2741628"/>
              <a:ext cx="1436162" cy="282257"/>
            </a:xfrm>
            <a:prstGeom prst="rect">
              <a:avLst/>
            </a:prstGeom>
          </p:spPr>
          <p:txBody>
            <a:bodyPr wrap="none">
              <a:spAutoFit/>
            </a:bodyPr>
            <a:lstStyle/>
            <a:p>
              <a:pPr>
                <a:lnSpc>
                  <a:spcPts val="1600"/>
                </a:lnSpc>
              </a:pPr>
              <a:r>
                <a:rPr lang="en-US" altLang="zh-CN" sz="1200" b="1" dirty="0">
                  <a:latin typeface="Times New Roman" panose="02020603050405020304" pitchFamily="18" charset="0"/>
                  <a:cs typeface="Times New Roman" panose="02020603050405020304" pitchFamily="18" charset="0"/>
                </a:rPr>
                <a:t>A    B    C    D       </a:t>
              </a:r>
              <a:r>
                <a:rPr lang="en-US" altLang="zh-CN" sz="1200" b="1" i="1" dirty="0">
                  <a:latin typeface="Times New Roman" panose="02020603050405020304" pitchFamily="18" charset="0"/>
                  <a:cs typeface="Times New Roman" panose="02020603050405020304" pitchFamily="18" charset="0"/>
                </a:rPr>
                <a:t>L</a:t>
              </a:r>
              <a:endParaRPr lang="en-US" altLang="zh-CN" sz="1200" b="1" i="1" dirty="0">
                <a:latin typeface="Times New Roman" panose="02020603050405020304" pitchFamily="18" charset="0"/>
                <a:cs typeface="Times New Roman" panose="02020603050405020304" pitchFamily="18" charset="0"/>
              </a:endParaRPr>
            </a:p>
          </p:txBody>
        </p:sp>
        <p:sp>
          <p:nvSpPr>
            <p:cNvPr id="24" name="矩形 23"/>
            <p:cNvSpPr/>
            <p:nvPr/>
          </p:nvSpPr>
          <p:spPr>
            <a:xfrm>
              <a:off x="2475687" y="2741628"/>
              <a:ext cx="1436162" cy="282257"/>
            </a:xfrm>
            <a:prstGeom prst="rect">
              <a:avLst/>
            </a:prstGeom>
          </p:spPr>
          <p:txBody>
            <a:bodyPr wrap="none">
              <a:spAutoFit/>
            </a:bodyPr>
            <a:lstStyle/>
            <a:p>
              <a:pPr>
                <a:lnSpc>
                  <a:spcPts val="1600"/>
                </a:lnSpc>
              </a:pPr>
              <a:r>
                <a:rPr lang="en-US" altLang="zh-CN" sz="1200" b="1" dirty="0">
                  <a:latin typeface="Times New Roman" panose="02020603050405020304" pitchFamily="18" charset="0"/>
                  <a:cs typeface="Times New Roman" panose="02020603050405020304" pitchFamily="18" charset="0"/>
                </a:rPr>
                <a:t>A    B    C    D       </a:t>
              </a:r>
              <a:r>
                <a:rPr lang="en-US" altLang="zh-CN" sz="1200" b="1" i="1" dirty="0">
                  <a:latin typeface="Times New Roman" panose="02020603050405020304" pitchFamily="18" charset="0"/>
                  <a:cs typeface="Times New Roman" panose="02020603050405020304" pitchFamily="18" charset="0"/>
                </a:rPr>
                <a:t>L</a:t>
              </a:r>
              <a:endParaRPr lang="en-US" altLang="zh-CN" sz="1200" b="1" i="1" dirty="0">
                <a:latin typeface="Times New Roman" panose="02020603050405020304" pitchFamily="18" charset="0"/>
                <a:cs typeface="Times New Roman" panose="02020603050405020304" pitchFamily="18" charset="0"/>
              </a:endParaRPr>
            </a:p>
          </p:txBody>
        </p:sp>
        <p:sp>
          <p:nvSpPr>
            <p:cNvPr id="25" name="矩形 24"/>
            <p:cNvSpPr/>
            <p:nvPr/>
          </p:nvSpPr>
          <p:spPr>
            <a:xfrm>
              <a:off x="2558333" y="3025776"/>
              <a:ext cx="1376063" cy="1641475"/>
            </a:xfrm>
            <a:prstGeom prst="rect">
              <a:avLst/>
            </a:prstGeom>
          </p:spPr>
          <p:txBody>
            <a:bodyPr wrap="square" lIns="0" tIns="0" rIns="0" bIns="0">
              <a:spAutoFit/>
            </a:bodyPr>
            <a:lstStyle/>
            <a:p>
              <a:pPr>
                <a:lnSpc>
                  <a:spcPts val="1600"/>
                </a:lnSpc>
              </a:pPr>
              <a:r>
                <a:rPr lang="en-US" altLang="zh-CN" sz="1400" b="1" dirty="0">
                  <a:latin typeface="Times New Roman" panose="02020603050405020304" pitchFamily="18" charset="0"/>
                  <a:cs typeface="Times New Roman" panose="02020603050405020304" pitchFamily="18" charset="0"/>
                </a:rPr>
                <a:t>1    0    0    0      0</a:t>
              </a:r>
              <a:endParaRPr lang="en-US" altLang="zh-CN" sz="1400" b="1" dirty="0">
                <a:latin typeface="Times New Roman" panose="02020603050405020304" pitchFamily="18" charset="0"/>
                <a:cs typeface="Times New Roman" panose="02020603050405020304" pitchFamily="18" charset="0"/>
              </a:endParaRPr>
            </a:p>
            <a:p>
              <a:pPr>
                <a:lnSpc>
                  <a:spcPts val="1600"/>
                </a:lnSpc>
              </a:pPr>
              <a:r>
                <a:rPr lang="en-US" altLang="zh-CN" sz="1400" b="1" dirty="0">
                  <a:latin typeface="Times New Roman" panose="02020603050405020304" pitchFamily="18" charset="0"/>
                  <a:cs typeface="Times New Roman" panose="02020603050405020304" pitchFamily="18" charset="0"/>
                </a:rPr>
                <a:t>1    0    0    1      0</a:t>
              </a:r>
              <a:endParaRPr lang="en-US" altLang="zh-CN" sz="1400" b="1" dirty="0">
                <a:latin typeface="Times New Roman" panose="02020603050405020304" pitchFamily="18" charset="0"/>
                <a:cs typeface="Times New Roman" panose="02020603050405020304" pitchFamily="18" charset="0"/>
              </a:endParaRPr>
            </a:p>
            <a:p>
              <a:pPr>
                <a:lnSpc>
                  <a:spcPts val="1600"/>
                </a:lnSpc>
              </a:pPr>
              <a:r>
                <a:rPr lang="en-US" altLang="zh-CN" sz="1400" b="1" dirty="0">
                  <a:latin typeface="Times New Roman" panose="02020603050405020304" pitchFamily="18" charset="0"/>
                  <a:cs typeface="Times New Roman" panose="02020603050405020304" pitchFamily="18" charset="0"/>
                </a:rPr>
                <a:t>1    0    1    0      1</a:t>
              </a:r>
              <a:endParaRPr lang="en-US" altLang="zh-CN" sz="1400" b="1" dirty="0">
                <a:latin typeface="Times New Roman" panose="02020603050405020304" pitchFamily="18" charset="0"/>
                <a:cs typeface="Times New Roman" panose="02020603050405020304" pitchFamily="18" charset="0"/>
              </a:endParaRPr>
            </a:p>
            <a:p>
              <a:pPr>
                <a:lnSpc>
                  <a:spcPts val="1600"/>
                </a:lnSpc>
              </a:pPr>
              <a:r>
                <a:rPr lang="en-US" altLang="zh-CN" sz="1400" b="1" dirty="0">
                  <a:latin typeface="Times New Roman" panose="02020603050405020304" pitchFamily="18" charset="0"/>
                  <a:cs typeface="Times New Roman" panose="02020603050405020304" pitchFamily="18" charset="0"/>
                </a:rPr>
                <a:t>1    0    1    1      0</a:t>
              </a:r>
              <a:endParaRPr lang="en-US" altLang="zh-CN" sz="1400" b="1" dirty="0">
                <a:latin typeface="Times New Roman" panose="02020603050405020304" pitchFamily="18" charset="0"/>
                <a:cs typeface="Times New Roman" panose="02020603050405020304" pitchFamily="18" charset="0"/>
              </a:endParaRPr>
            </a:p>
            <a:p>
              <a:pPr>
                <a:lnSpc>
                  <a:spcPts val="1600"/>
                </a:lnSpc>
              </a:pPr>
              <a:r>
                <a:rPr lang="en-US" altLang="zh-CN" sz="1400" b="1" dirty="0">
                  <a:latin typeface="Times New Roman" panose="02020603050405020304" pitchFamily="18" charset="0"/>
                  <a:cs typeface="Times New Roman" panose="02020603050405020304" pitchFamily="18" charset="0"/>
                </a:rPr>
                <a:t>1    1    0    0      0</a:t>
              </a:r>
              <a:endParaRPr lang="en-US" altLang="zh-CN" sz="1400" b="1" dirty="0">
                <a:latin typeface="Times New Roman" panose="02020603050405020304" pitchFamily="18" charset="0"/>
                <a:cs typeface="Times New Roman" panose="02020603050405020304" pitchFamily="18" charset="0"/>
              </a:endParaRPr>
            </a:p>
            <a:p>
              <a:pPr>
                <a:lnSpc>
                  <a:spcPts val="1600"/>
                </a:lnSpc>
              </a:pPr>
              <a:r>
                <a:rPr lang="en-US" altLang="zh-CN" sz="1400" b="1" dirty="0">
                  <a:latin typeface="Times New Roman" panose="02020603050405020304" pitchFamily="18" charset="0"/>
                  <a:cs typeface="Times New Roman" panose="02020603050405020304" pitchFamily="18" charset="0"/>
                </a:rPr>
                <a:t>1    1    0    1      1</a:t>
              </a:r>
              <a:endParaRPr lang="en-US" altLang="zh-CN" sz="1400" b="1" dirty="0">
                <a:latin typeface="Times New Roman" panose="02020603050405020304" pitchFamily="18" charset="0"/>
                <a:cs typeface="Times New Roman" panose="02020603050405020304" pitchFamily="18" charset="0"/>
              </a:endParaRPr>
            </a:p>
            <a:p>
              <a:pPr>
                <a:lnSpc>
                  <a:spcPts val="1600"/>
                </a:lnSpc>
              </a:pPr>
              <a:r>
                <a:rPr lang="en-US" altLang="zh-CN" sz="1400" b="1" dirty="0">
                  <a:latin typeface="Times New Roman" panose="02020603050405020304" pitchFamily="18" charset="0"/>
                  <a:cs typeface="Times New Roman" panose="02020603050405020304" pitchFamily="18" charset="0"/>
                </a:rPr>
                <a:t>1    1    1    0      1</a:t>
              </a:r>
              <a:endParaRPr lang="en-US" altLang="zh-CN" sz="1400" b="1" dirty="0">
                <a:latin typeface="Times New Roman" panose="02020603050405020304" pitchFamily="18" charset="0"/>
                <a:cs typeface="Times New Roman" panose="02020603050405020304" pitchFamily="18" charset="0"/>
              </a:endParaRPr>
            </a:p>
            <a:p>
              <a:pPr>
                <a:lnSpc>
                  <a:spcPts val="1600"/>
                </a:lnSpc>
              </a:pPr>
              <a:r>
                <a:rPr lang="en-US" altLang="zh-CN" sz="1400" b="1" dirty="0">
                  <a:latin typeface="Times New Roman" panose="02020603050405020304" pitchFamily="18" charset="0"/>
                  <a:cs typeface="Times New Roman" panose="02020603050405020304" pitchFamily="18" charset="0"/>
                </a:rPr>
                <a:t>1    1    1    1      1</a:t>
              </a:r>
              <a:endParaRPr lang="en-US" altLang="zh-CN" sz="1400" b="1" dirty="0">
                <a:latin typeface="Times New Roman" panose="02020603050405020304" pitchFamily="18" charset="0"/>
                <a:cs typeface="Times New Roman" panose="02020603050405020304" pitchFamily="18" charset="0"/>
              </a:endParaRPr>
            </a:p>
          </p:txBody>
        </p:sp>
      </p:grpSp>
      <p:grpSp>
        <p:nvGrpSpPr>
          <p:cNvPr id="3" name="组合 75"/>
          <p:cNvGrpSpPr/>
          <p:nvPr/>
        </p:nvGrpSpPr>
        <p:grpSpPr>
          <a:xfrm>
            <a:off x="5511165" y="4079240"/>
            <a:ext cx="1365886" cy="378460"/>
            <a:chOff x="5511165" y="3250565"/>
            <a:chExt cx="1365886" cy="378460"/>
          </a:xfrm>
        </p:grpSpPr>
        <p:sp>
          <p:nvSpPr>
            <p:cNvPr id="77" name="圆角矩形 76"/>
            <p:cNvSpPr/>
            <p:nvPr/>
          </p:nvSpPr>
          <p:spPr>
            <a:xfrm>
              <a:off x="5511165" y="3250565"/>
              <a:ext cx="756285" cy="378460"/>
            </a:xfrm>
            <a:prstGeom prst="roundRect">
              <a:avLst>
                <a:gd name="adj" fmla="val 7018"/>
              </a:avLst>
            </a:prstGeom>
            <a:solidFill>
              <a:srgbClr val="FFFF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圆角矩形 77"/>
            <p:cNvSpPr/>
            <p:nvPr/>
          </p:nvSpPr>
          <p:spPr>
            <a:xfrm>
              <a:off x="6301741" y="3250565"/>
              <a:ext cx="575310" cy="378460"/>
            </a:xfrm>
            <a:prstGeom prst="roundRect">
              <a:avLst>
                <a:gd name="adj" fmla="val 7018"/>
              </a:avLst>
            </a:prstGeom>
            <a:solidFill>
              <a:srgbClr val="FFFF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78"/>
          <p:cNvGrpSpPr/>
          <p:nvPr/>
        </p:nvGrpSpPr>
        <p:grpSpPr>
          <a:xfrm>
            <a:off x="5511165" y="3666490"/>
            <a:ext cx="1365886" cy="378460"/>
            <a:chOff x="5511165" y="2840990"/>
            <a:chExt cx="1365886" cy="378460"/>
          </a:xfrm>
        </p:grpSpPr>
        <p:sp>
          <p:nvSpPr>
            <p:cNvPr id="80" name="圆角矩形 79"/>
            <p:cNvSpPr/>
            <p:nvPr/>
          </p:nvSpPr>
          <p:spPr>
            <a:xfrm>
              <a:off x="5511165" y="2840990"/>
              <a:ext cx="756285" cy="378460"/>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1" name="圆角矩形 80"/>
            <p:cNvSpPr/>
            <p:nvPr/>
          </p:nvSpPr>
          <p:spPr>
            <a:xfrm>
              <a:off x="6301741" y="2840990"/>
              <a:ext cx="575310" cy="378460"/>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 name="组合 71"/>
          <p:cNvGrpSpPr/>
          <p:nvPr/>
        </p:nvGrpSpPr>
        <p:grpSpPr>
          <a:xfrm>
            <a:off x="5511165" y="3253740"/>
            <a:ext cx="1365886" cy="378460"/>
            <a:chOff x="5511165" y="3250565"/>
            <a:chExt cx="1365886" cy="378460"/>
          </a:xfrm>
        </p:grpSpPr>
        <p:sp>
          <p:nvSpPr>
            <p:cNvPr id="67" name="圆角矩形 66"/>
            <p:cNvSpPr/>
            <p:nvPr/>
          </p:nvSpPr>
          <p:spPr>
            <a:xfrm>
              <a:off x="5511165" y="3250565"/>
              <a:ext cx="756285" cy="378460"/>
            </a:xfrm>
            <a:prstGeom prst="roundRect">
              <a:avLst>
                <a:gd name="adj" fmla="val 7018"/>
              </a:avLst>
            </a:prstGeom>
            <a:solidFill>
              <a:srgbClr val="FFFF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圆角矩形 67"/>
            <p:cNvSpPr/>
            <p:nvPr/>
          </p:nvSpPr>
          <p:spPr>
            <a:xfrm>
              <a:off x="6301741" y="3250565"/>
              <a:ext cx="575310" cy="378460"/>
            </a:xfrm>
            <a:prstGeom prst="roundRect">
              <a:avLst>
                <a:gd name="adj" fmla="val 7018"/>
              </a:avLst>
            </a:prstGeom>
            <a:solidFill>
              <a:srgbClr val="FFFF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 name="组合 87"/>
          <p:cNvGrpSpPr/>
          <p:nvPr/>
        </p:nvGrpSpPr>
        <p:grpSpPr>
          <a:xfrm>
            <a:off x="7092315" y="4082415"/>
            <a:ext cx="1365886" cy="378460"/>
            <a:chOff x="5511165" y="3250565"/>
            <a:chExt cx="1365886" cy="378460"/>
          </a:xfrm>
        </p:grpSpPr>
        <p:sp>
          <p:nvSpPr>
            <p:cNvPr id="89" name="圆角矩形 88"/>
            <p:cNvSpPr/>
            <p:nvPr/>
          </p:nvSpPr>
          <p:spPr>
            <a:xfrm>
              <a:off x="5511165" y="3250565"/>
              <a:ext cx="756285" cy="378460"/>
            </a:xfrm>
            <a:prstGeom prst="roundRect">
              <a:avLst>
                <a:gd name="adj" fmla="val 7018"/>
              </a:avLst>
            </a:prstGeom>
            <a:solidFill>
              <a:srgbClr val="FFFF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圆角矩形 89"/>
            <p:cNvSpPr/>
            <p:nvPr/>
          </p:nvSpPr>
          <p:spPr>
            <a:xfrm>
              <a:off x="6301741" y="3250565"/>
              <a:ext cx="575310" cy="378460"/>
            </a:xfrm>
            <a:prstGeom prst="roundRect">
              <a:avLst>
                <a:gd name="adj" fmla="val 7018"/>
              </a:avLst>
            </a:prstGeom>
            <a:solidFill>
              <a:srgbClr val="FFFF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70"/>
          <p:cNvGrpSpPr/>
          <p:nvPr/>
        </p:nvGrpSpPr>
        <p:grpSpPr>
          <a:xfrm>
            <a:off x="5511165" y="2840990"/>
            <a:ext cx="1365886" cy="378460"/>
            <a:chOff x="5511165" y="2840990"/>
            <a:chExt cx="1365886" cy="378460"/>
          </a:xfrm>
        </p:grpSpPr>
        <p:sp>
          <p:nvSpPr>
            <p:cNvPr id="63" name="圆角矩形 62"/>
            <p:cNvSpPr/>
            <p:nvPr/>
          </p:nvSpPr>
          <p:spPr>
            <a:xfrm>
              <a:off x="5511165" y="2840990"/>
              <a:ext cx="756285" cy="378460"/>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圆角矩形 63"/>
            <p:cNvSpPr/>
            <p:nvPr/>
          </p:nvSpPr>
          <p:spPr>
            <a:xfrm>
              <a:off x="6301741" y="2840990"/>
              <a:ext cx="575310" cy="378460"/>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84"/>
          <p:cNvGrpSpPr/>
          <p:nvPr/>
        </p:nvGrpSpPr>
        <p:grpSpPr>
          <a:xfrm>
            <a:off x="7092315" y="3256915"/>
            <a:ext cx="1365886" cy="378460"/>
            <a:chOff x="5511165" y="3250565"/>
            <a:chExt cx="1365886" cy="378460"/>
          </a:xfrm>
        </p:grpSpPr>
        <p:sp>
          <p:nvSpPr>
            <p:cNvPr id="86" name="圆角矩形 85"/>
            <p:cNvSpPr/>
            <p:nvPr/>
          </p:nvSpPr>
          <p:spPr>
            <a:xfrm>
              <a:off x="5511165" y="3250565"/>
              <a:ext cx="756285" cy="378460"/>
            </a:xfrm>
            <a:prstGeom prst="roundRect">
              <a:avLst>
                <a:gd name="adj" fmla="val 7018"/>
              </a:avLst>
            </a:prstGeom>
            <a:solidFill>
              <a:srgbClr val="FFFF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圆角矩形 86"/>
            <p:cNvSpPr/>
            <p:nvPr/>
          </p:nvSpPr>
          <p:spPr>
            <a:xfrm>
              <a:off x="6301741" y="3250565"/>
              <a:ext cx="575310" cy="378460"/>
            </a:xfrm>
            <a:prstGeom prst="roundRect">
              <a:avLst>
                <a:gd name="adj" fmla="val 7018"/>
              </a:avLst>
            </a:prstGeom>
            <a:solidFill>
              <a:srgbClr val="FFFF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7" name="Rectangle 27"/>
          <p:cNvSpPr>
            <a:spLocks noChangeArrowheads="1"/>
          </p:cNvSpPr>
          <p:nvPr/>
        </p:nvSpPr>
        <p:spPr bwMode="auto">
          <a:xfrm>
            <a:off x="577511" y="1237292"/>
            <a:ext cx="3018212" cy="369332"/>
          </a:xfrm>
          <a:prstGeom prst="rect">
            <a:avLst/>
          </a:prstGeom>
          <a:noFill/>
          <a:ln w="9525" algn="ctr">
            <a:noFill/>
            <a:miter lim="800000"/>
          </a:ln>
          <a:effectLst/>
        </p:spPr>
        <p:txBody>
          <a:bodyPr wrap="square" lIns="0" rIns="0">
            <a:spAutoFit/>
          </a:bodyPr>
          <a:lstStyle/>
          <a:p>
            <a:pPr>
              <a:defRPr/>
            </a:pPr>
            <a:r>
              <a:rPr lang="en-US" altLang="zh-CN" b="1" dirty="0">
                <a:solidFill>
                  <a:srgbClr val="6600FF"/>
                </a:solidFill>
                <a:latin typeface="黑体" panose="02010609060101010101" pitchFamily="49" charset="-122"/>
                <a:ea typeface="黑体" panose="02010609060101010101" pitchFamily="49" charset="-122"/>
              </a:rPr>
              <a:t>2</a:t>
            </a:r>
            <a:r>
              <a:rPr lang="zh-CN" altLang="en-US" b="1" dirty="0">
                <a:solidFill>
                  <a:srgbClr val="6600FF"/>
                </a:solidFill>
                <a:latin typeface="黑体" panose="02010609060101010101" pitchFamily="49" charset="-122"/>
                <a:ea typeface="黑体" panose="02010609060101010101" pitchFamily="49" charset="-122"/>
              </a:rPr>
              <a:t>、实现组合逻辑函数</a:t>
            </a:r>
            <a:endParaRPr lang="zh-CN" altLang="en-US" b="1" dirty="0">
              <a:solidFill>
                <a:srgbClr val="6600FF"/>
              </a:solidFill>
              <a:latin typeface="黑体" panose="02010609060101010101" pitchFamily="49" charset="-122"/>
              <a:ea typeface="黑体" panose="02010609060101010101" pitchFamily="49" charset="-122"/>
            </a:endParaRPr>
          </a:p>
        </p:txBody>
      </p:sp>
      <p:grpSp>
        <p:nvGrpSpPr>
          <p:cNvPr id="9" name="组合 47"/>
          <p:cNvGrpSpPr/>
          <p:nvPr/>
        </p:nvGrpSpPr>
        <p:grpSpPr>
          <a:xfrm>
            <a:off x="490180" y="1661311"/>
            <a:ext cx="7378613" cy="724702"/>
            <a:chOff x="464780" y="1699411"/>
            <a:chExt cx="7378613" cy="724702"/>
          </a:xfrm>
        </p:grpSpPr>
        <p:grpSp>
          <p:nvGrpSpPr>
            <p:cNvPr id="10" name="组合 30"/>
            <p:cNvGrpSpPr/>
            <p:nvPr/>
          </p:nvGrpSpPr>
          <p:grpSpPr>
            <a:xfrm>
              <a:off x="464780" y="1699411"/>
              <a:ext cx="7378613" cy="374630"/>
              <a:chOff x="369777" y="1347760"/>
              <a:chExt cx="7378613" cy="374630"/>
            </a:xfrm>
          </p:grpSpPr>
          <p:sp>
            <p:nvSpPr>
              <p:cNvPr id="54" name="TextBox 53"/>
              <p:cNvSpPr txBox="1"/>
              <p:nvPr/>
            </p:nvSpPr>
            <p:spPr>
              <a:xfrm>
                <a:off x="723710" y="1350409"/>
                <a:ext cx="7024680" cy="369332"/>
              </a:xfrm>
              <a:prstGeom prst="rect">
                <a:avLst/>
              </a:prstGeom>
              <a:noFill/>
            </p:spPr>
            <p:txBody>
              <a:bodyPr wrap="none" rtlCol="0">
                <a:spAutoFit/>
              </a:bodyPr>
              <a:lstStyle/>
              <a:p>
                <a:r>
                  <a:rPr lang="zh-CN" altLang="en-US" b="1" dirty="0">
                    <a:solidFill>
                      <a:srgbClr val="CC00CC"/>
                    </a:solidFill>
                    <a:latin typeface="黑体" panose="02010609060101010101" pitchFamily="49" charset="-122"/>
                    <a:ea typeface="黑体" panose="02010609060101010101" pitchFamily="49" charset="-122"/>
                  </a:rPr>
                  <a:t>例</a:t>
                </a:r>
                <a:r>
                  <a:rPr lang="en-US" altLang="zh-CN" b="1" dirty="0">
                    <a:solidFill>
                      <a:srgbClr val="CC00CC"/>
                    </a:solidFill>
                    <a:latin typeface="黑体" panose="02010609060101010101" pitchFamily="49" charset="-122"/>
                    <a:ea typeface="黑体" panose="02010609060101010101" pitchFamily="49" charset="-122"/>
                  </a:rPr>
                  <a:t>3</a:t>
                </a:r>
                <a:r>
                  <a:rPr lang="zh-CN" altLang="en-US" b="1" dirty="0">
                    <a:solidFill>
                      <a:srgbClr val="CC00CC"/>
                    </a:solidFill>
                    <a:latin typeface="黑体" panose="02010609060101010101" pitchFamily="49" charset="-122"/>
                    <a:ea typeface="黑体" panose="02010609060101010101" pitchFamily="49" charset="-122"/>
                  </a:rPr>
                  <a:t>：</a:t>
                </a:r>
                <a:r>
                  <a:rPr lang="zh-CN" altLang="en-US" sz="1600" dirty="0">
                    <a:latin typeface="黑体" panose="02010609060101010101" pitchFamily="49" charset="-122"/>
                    <a:ea typeface="黑体" panose="02010609060101010101" pitchFamily="49" charset="-122"/>
                  </a:rPr>
                  <a:t>用一片</a:t>
                </a:r>
                <a:r>
                  <a:rPr lang="en-US" altLang="zh-CN" sz="1600" dirty="0">
                    <a:latin typeface="黑体" panose="02010609060101010101" pitchFamily="49" charset="-122"/>
                    <a:ea typeface="黑体" panose="02010609060101010101" pitchFamily="49" charset="-122"/>
                  </a:rPr>
                  <a:t>8</a:t>
                </a:r>
                <a:r>
                  <a:rPr lang="zh-CN" altLang="en-US" sz="1600" dirty="0">
                    <a:latin typeface="黑体" panose="02010609060101010101" pitchFamily="49" charset="-122"/>
                    <a:ea typeface="黑体" panose="02010609060101010101" pitchFamily="49" charset="-122"/>
                  </a:rPr>
                  <a:t>选</a:t>
                </a:r>
                <a:r>
                  <a:rPr lang="en-US" altLang="zh-CN" sz="1600" dirty="0">
                    <a:latin typeface="黑体" panose="02010609060101010101" pitchFamily="49" charset="-122"/>
                    <a:ea typeface="黑体" panose="02010609060101010101" pitchFamily="49" charset="-122"/>
                  </a:rPr>
                  <a:t>1</a:t>
                </a:r>
                <a:r>
                  <a:rPr lang="zh-CN" altLang="en-US" sz="1600" dirty="0">
                    <a:latin typeface="黑体" panose="02010609060101010101" pitchFamily="49" charset="-122"/>
                    <a:ea typeface="黑体" panose="02010609060101010101" pitchFamily="49" charset="-122"/>
                  </a:rPr>
                  <a:t>数据选择器</a:t>
                </a:r>
                <a:r>
                  <a:rPr lang="en-US" altLang="zh-CN" sz="1600" dirty="0">
                    <a:latin typeface="黑体" panose="02010609060101010101" pitchFamily="49" charset="-122"/>
                    <a:ea typeface="黑体" panose="02010609060101010101" pitchFamily="49" charset="-122"/>
                  </a:rPr>
                  <a:t>74151</a:t>
                </a:r>
                <a:r>
                  <a:rPr lang="zh-CN" altLang="en-US" sz="1600" dirty="0">
                    <a:latin typeface="黑体" panose="02010609060101010101" pitchFamily="49" charset="-122"/>
                    <a:ea typeface="黑体" panose="02010609060101010101" pitchFamily="49" charset="-122"/>
                  </a:rPr>
                  <a:t>及必要的门电路实现如下四变量逻辑函数</a:t>
                </a:r>
                <a:endParaRPr lang="zh-CN" altLang="en-US" sz="1600" dirty="0">
                  <a:solidFill>
                    <a:srgbClr val="6600FF"/>
                  </a:solidFill>
                  <a:latin typeface="黑体" panose="02010609060101010101" pitchFamily="49" charset="-122"/>
                  <a:ea typeface="黑体" panose="02010609060101010101" pitchFamily="49" charset="-122"/>
                </a:endParaRPr>
              </a:p>
            </p:txBody>
          </p:sp>
          <p:pic>
            <p:nvPicPr>
              <p:cNvPr id="55" name="Picture 4"/>
              <p:cNvPicPr>
                <a:picLocks noChangeAspect="1" noChangeArrowheads="1"/>
              </p:cNvPicPr>
              <p:nvPr/>
            </p:nvPicPr>
            <p:blipFill>
              <a:blip r:embed="rId2" cstate="print"/>
              <a:srcRect/>
              <a:stretch>
                <a:fillRect/>
              </a:stretch>
            </p:blipFill>
            <p:spPr bwMode="auto">
              <a:xfrm>
                <a:off x="369777" y="1347760"/>
                <a:ext cx="373669" cy="374630"/>
              </a:xfrm>
              <a:prstGeom prst="rect">
                <a:avLst/>
              </a:prstGeom>
              <a:noFill/>
              <a:ln w="9525">
                <a:noFill/>
                <a:miter lim="800000"/>
                <a:headEnd/>
                <a:tailEnd/>
              </a:ln>
            </p:spPr>
          </p:pic>
        </p:grpSp>
        <p:graphicFrame>
          <p:nvGraphicFramePr>
            <p:cNvPr id="50" name="Object 27"/>
            <p:cNvGraphicFramePr>
              <a:graphicFrameLocks noChangeAspect="1"/>
            </p:cNvGraphicFramePr>
            <p:nvPr/>
          </p:nvGraphicFramePr>
          <p:xfrm>
            <a:off x="1455738" y="2052638"/>
            <a:ext cx="3746500" cy="371475"/>
          </p:xfrm>
          <a:graphic>
            <a:graphicData uri="http://schemas.openxmlformats.org/presentationml/2006/ole">
              <mc:AlternateContent xmlns:mc="http://schemas.openxmlformats.org/markup-compatibility/2006">
                <mc:Choice xmlns:v="urn:schemas-microsoft-com:vml" Requires="v">
                  <p:oleObj spid="_x0000_s60466" name="Equation" r:id="rId3" imgW="61569600" imgH="6096000" progId="Equation.DSMT4">
                    <p:embed/>
                  </p:oleObj>
                </mc:Choice>
                <mc:Fallback>
                  <p:oleObj name="Equation" r:id="rId3" imgW="61569600" imgH="6096000" progId="Equation.DSMT4">
                    <p:embed/>
                    <p:pic>
                      <p:nvPicPr>
                        <p:cNvPr id="0" name="Object 2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5738" y="2052638"/>
                          <a:ext cx="3746500" cy="371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1" name="组合 17"/>
          <p:cNvGrpSpPr/>
          <p:nvPr/>
        </p:nvGrpSpPr>
        <p:grpSpPr>
          <a:xfrm>
            <a:off x="392432" y="769746"/>
            <a:ext cx="4933552" cy="420971"/>
            <a:chOff x="670560" y="892917"/>
            <a:chExt cx="4933552" cy="420971"/>
          </a:xfrm>
        </p:grpSpPr>
        <p:sp>
          <p:nvSpPr>
            <p:cNvPr id="57" name="矩形 56"/>
            <p:cNvSpPr/>
            <p:nvPr/>
          </p:nvSpPr>
          <p:spPr>
            <a:xfrm>
              <a:off x="1035233" y="913778"/>
              <a:ext cx="4568879"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集成数据选择器的应用（</a:t>
              </a:r>
              <a:r>
                <a:rPr lang="en-US" altLang="zh-CN" sz="2000" b="1" dirty="0">
                  <a:solidFill>
                    <a:srgbClr val="FF00FF"/>
                  </a:solidFill>
                  <a:latin typeface="微软雅黑" panose="020B0503020204020204" pitchFamily="34" charset="-122"/>
                  <a:ea typeface="微软雅黑" panose="020B0503020204020204" pitchFamily="34" charset="-122"/>
                </a:rPr>
                <a:t>74151</a:t>
              </a:r>
              <a:r>
                <a:rPr lang="zh-CN" altLang="en-US" sz="2000" b="1" dirty="0">
                  <a:solidFill>
                    <a:srgbClr val="FF00FF"/>
                  </a:solidFill>
                  <a:latin typeface="微软雅黑" panose="020B0503020204020204" pitchFamily="34" charset="-122"/>
                  <a:ea typeface="微软雅黑" panose="020B0503020204020204" pitchFamily="34" charset="-122"/>
                </a:rPr>
                <a:t>为例</a:t>
              </a:r>
              <a:r>
                <a:rPr lang="zh-CN" altLang="en-US" sz="2000" b="1" dirty="0">
                  <a:solidFill>
                    <a:srgbClr val="002060"/>
                  </a:solidFill>
                  <a:latin typeface="微软雅黑" panose="020B0503020204020204" pitchFamily="34" charset="-122"/>
                  <a:ea typeface="微软雅黑" panose="020B0503020204020204" pitchFamily="34" charset="-122"/>
                </a:rPr>
                <a: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58" name="Picture 3"/>
            <p:cNvPicPr>
              <a:picLocks noChangeAspect="1" noChangeArrowheads="1"/>
            </p:cNvPicPr>
            <p:nvPr/>
          </p:nvPicPr>
          <p:blipFill>
            <a:blip r:embed="rId5"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14" name="组合 10"/>
          <p:cNvGrpSpPr/>
          <p:nvPr/>
        </p:nvGrpSpPr>
        <p:grpSpPr>
          <a:xfrm>
            <a:off x="499466" y="2368453"/>
            <a:ext cx="833584" cy="369332"/>
            <a:chOff x="4330854" y="1354964"/>
            <a:chExt cx="833584" cy="369332"/>
          </a:xfrm>
        </p:grpSpPr>
        <p:sp>
          <p:nvSpPr>
            <p:cNvPr id="12" name="矩形 11"/>
            <p:cNvSpPr/>
            <p:nvPr/>
          </p:nvSpPr>
          <p:spPr>
            <a:xfrm>
              <a:off x="4633523" y="1354964"/>
              <a:ext cx="530915" cy="369332"/>
            </a:xfrm>
            <a:prstGeom prst="rect">
              <a:avLst/>
            </a:prstGeom>
          </p:spPr>
          <p:txBody>
            <a:bodyPr wrap="none">
              <a:spAutoFit/>
            </a:bodyPr>
            <a:lstStyle/>
            <a:p>
              <a:r>
                <a:rPr lang="zh-CN" altLang="en-US" b="1" dirty="0">
                  <a:solidFill>
                    <a:srgbClr val="CC00CC"/>
                  </a:solidFill>
                  <a:latin typeface="黑体" panose="02010609060101010101" pitchFamily="49" charset="-122"/>
                  <a:ea typeface="黑体" panose="02010609060101010101" pitchFamily="49" charset="-122"/>
                </a:rPr>
                <a:t>解</a:t>
              </a:r>
              <a:r>
                <a:rPr lang="en-US" altLang="zh-CN" b="1" dirty="0">
                  <a:solidFill>
                    <a:srgbClr val="CC00CC"/>
                  </a:solidFill>
                  <a:latin typeface="黑体" panose="02010609060101010101" pitchFamily="49" charset="-122"/>
                  <a:ea typeface="黑体" panose="02010609060101010101" pitchFamily="49" charset="-122"/>
                  <a:sym typeface="Wingdings" panose="05000000000000000000" pitchFamily="2" charset="2"/>
                </a:rPr>
                <a:t>:</a:t>
              </a:r>
              <a:endParaRPr lang="zh-CN" altLang="en-US" b="1" dirty="0">
                <a:solidFill>
                  <a:srgbClr val="CC00CC"/>
                </a:solidFill>
                <a:latin typeface="黑体" panose="02010609060101010101" pitchFamily="49" charset="-122"/>
                <a:ea typeface="黑体" panose="02010609060101010101" pitchFamily="49" charset="-122"/>
              </a:endParaRPr>
            </a:p>
          </p:txBody>
        </p:sp>
        <p:pic>
          <p:nvPicPr>
            <p:cNvPr id="13" name="Picture 5"/>
            <p:cNvPicPr>
              <a:picLocks noChangeAspect="1" noChangeArrowheads="1"/>
            </p:cNvPicPr>
            <p:nvPr/>
          </p:nvPicPr>
          <p:blipFill>
            <a:blip r:embed="rId6" cstate="print"/>
            <a:srcRect/>
            <a:stretch>
              <a:fillRect/>
            </a:stretch>
          </p:blipFill>
          <p:spPr bwMode="auto">
            <a:xfrm>
              <a:off x="4330854" y="1369617"/>
              <a:ext cx="348489" cy="340027"/>
            </a:xfrm>
            <a:prstGeom prst="rect">
              <a:avLst/>
            </a:prstGeom>
            <a:noFill/>
            <a:ln w="9525">
              <a:noFill/>
              <a:miter lim="800000"/>
              <a:headEnd/>
              <a:tailEnd/>
            </a:ln>
          </p:spPr>
        </p:pic>
      </p:grpSp>
      <p:sp>
        <p:nvSpPr>
          <p:cNvPr id="38" name="圆角矩形 37"/>
          <p:cNvSpPr/>
          <p:nvPr/>
        </p:nvSpPr>
        <p:spPr>
          <a:xfrm>
            <a:off x="542925" y="3043685"/>
            <a:ext cx="2305049" cy="1547366"/>
          </a:xfrm>
          <a:prstGeom prst="roundRect">
            <a:avLst>
              <a:gd name="adj" fmla="val 4849"/>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tIns="144000" bIns="0" rtlCol="0" anchor="ctr"/>
          <a:lstStyle/>
          <a:p>
            <a:r>
              <a:rPr lang="zh-CN" altLang="zh-CN" sz="1600" b="1" dirty="0">
                <a:solidFill>
                  <a:schemeClr val="tx1"/>
                </a:solidFill>
                <a:latin typeface="Times New Roman" panose="02020603050405020304" pitchFamily="18" charset="0"/>
                <a:ea typeface="楷体_GB2312" pitchFamily="49" charset="-122"/>
                <a:cs typeface="Times New Roman" panose="02020603050405020304" pitchFamily="18" charset="0"/>
              </a:rPr>
              <a:t>找出逻辑函数在其中三个输入变量</a:t>
            </a:r>
            <a:r>
              <a:rPr lang="en-US" altLang="zh-CN" sz="1600" b="1" dirty="0">
                <a:solidFill>
                  <a:schemeClr val="tx1"/>
                </a:solidFill>
                <a:latin typeface="Times New Roman" panose="02020603050405020304" pitchFamily="18" charset="0"/>
                <a:ea typeface="楷体_GB2312" pitchFamily="49" charset="-122"/>
                <a:cs typeface="Times New Roman" panose="02020603050405020304" pitchFamily="18" charset="0"/>
              </a:rPr>
              <a:t>A</a:t>
            </a:r>
            <a:r>
              <a:rPr lang="zh-CN" altLang="zh-CN" sz="1600" b="1"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itchFamily="49" charset="-122"/>
                <a:cs typeface="Times New Roman" panose="02020603050405020304" pitchFamily="18" charset="0"/>
              </a:rPr>
              <a:t>B</a:t>
            </a:r>
            <a:r>
              <a:rPr lang="zh-CN" altLang="zh-CN" sz="1600" b="1" dirty="0">
                <a:solidFill>
                  <a:schemeClr val="tx1"/>
                </a:solidFill>
                <a:latin typeface="Times New Roman" panose="02020603050405020304" pitchFamily="18" charset="0"/>
                <a:ea typeface="楷体_GB2312" pitchFamily="49" charset="-122"/>
                <a:cs typeface="Times New Roman" panose="02020603050405020304" pitchFamily="18" charset="0"/>
              </a:rPr>
              <a:t>、</a:t>
            </a:r>
            <a:r>
              <a:rPr lang="en-US" altLang="zh-CN" sz="1600" b="1" dirty="0">
                <a:solidFill>
                  <a:schemeClr val="tx1"/>
                </a:solidFill>
                <a:latin typeface="Times New Roman" panose="02020603050405020304" pitchFamily="18" charset="0"/>
                <a:ea typeface="楷体_GB2312" pitchFamily="49" charset="-122"/>
                <a:cs typeface="Times New Roman" panose="02020603050405020304" pitchFamily="18" charset="0"/>
              </a:rPr>
              <a:t>C</a:t>
            </a:r>
            <a:r>
              <a:rPr lang="zh-CN" altLang="zh-CN" sz="1600" b="1" dirty="0">
                <a:solidFill>
                  <a:schemeClr val="tx1"/>
                </a:solidFill>
                <a:latin typeface="Times New Roman" panose="02020603050405020304" pitchFamily="18" charset="0"/>
                <a:ea typeface="楷体_GB2312" pitchFamily="49" charset="-122"/>
                <a:cs typeface="Times New Roman" panose="02020603050405020304" pitchFamily="18" charset="0"/>
              </a:rPr>
              <a:t>不同取值组合下输出</a:t>
            </a:r>
            <a:r>
              <a:rPr lang="en-US" altLang="zh-CN" sz="1600" b="1" i="1" dirty="0">
                <a:solidFill>
                  <a:schemeClr val="tx1"/>
                </a:solidFill>
                <a:latin typeface="Times New Roman" panose="02020603050405020304" pitchFamily="18" charset="0"/>
                <a:ea typeface="楷体_GB2312" pitchFamily="49" charset="-122"/>
                <a:cs typeface="Times New Roman" panose="02020603050405020304" pitchFamily="18" charset="0"/>
              </a:rPr>
              <a:t>L</a:t>
            </a:r>
            <a:r>
              <a:rPr lang="zh-CN" altLang="zh-CN" sz="1600" b="1" dirty="0">
                <a:solidFill>
                  <a:schemeClr val="tx1"/>
                </a:solidFill>
                <a:latin typeface="Times New Roman" panose="02020603050405020304" pitchFamily="18" charset="0"/>
                <a:ea typeface="楷体_GB2312" pitchFamily="49" charset="-122"/>
                <a:cs typeface="Times New Roman" panose="02020603050405020304" pitchFamily="18" charset="0"/>
              </a:rPr>
              <a:t>与剩余一个变量</a:t>
            </a:r>
            <a:r>
              <a:rPr lang="en-US" altLang="zh-CN" sz="1600" b="1" dirty="0">
                <a:solidFill>
                  <a:schemeClr val="tx1"/>
                </a:solidFill>
                <a:latin typeface="Times New Roman" panose="02020603050405020304" pitchFamily="18" charset="0"/>
                <a:ea typeface="楷体_GB2312" pitchFamily="49" charset="-122"/>
                <a:cs typeface="Times New Roman" panose="02020603050405020304" pitchFamily="18" charset="0"/>
              </a:rPr>
              <a:t>D</a:t>
            </a:r>
            <a:r>
              <a:rPr lang="zh-CN" altLang="zh-CN" sz="1600" b="1" dirty="0">
                <a:solidFill>
                  <a:schemeClr val="tx1"/>
                </a:solidFill>
                <a:latin typeface="Times New Roman" panose="02020603050405020304" pitchFamily="18" charset="0"/>
                <a:ea typeface="楷体_GB2312" pitchFamily="49" charset="-122"/>
                <a:cs typeface="Times New Roman" panose="02020603050405020304" pitchFamily="18" charset="0"/>
              </a:rPr>
              <a:t>之间的逻辑关系</a:t>
            </a:r>
            <a:r>
              <a:rPr lang="zh-CN" altLang="en-US" sz="1600" b="1" dirty="0">
                <a:solidFill>
                  <a:schemeClr val="tx1"/>
                </a:solidFill>
                <a:latin typeface="Times New Roman" panose="02020603050405020304" pitchFamily="18" charset="0"/>
                <a:ea typeface="楷体_GB2312" pitchFamily="49" charset="-122"/>
                <a:cs typeface="Times New Roman" panose="02020603050405020304" pitchFamily="18" charset="0"/>
              </a:rPr>
              <a:t>。</a:t>
            </a:r>
            <a:endParaRPr lang="zh-CN" altLang="en-US" sz="1600" b="1" dirty="0">
              <a:solidFill>
                <a:schemeClr val="tx1"/>
              </a:solidFill>
              <a:latin typeface="Times New Roman" panose="02020603050405020304" pitchFamily="18" charset="0"/>
              <a:ea typeface="楷体_GB2312" pitchFamily="49" charset="-122"/>
              <a:cs typeface="Times New Roman" panose="02020603050405020304" pitchFamily="18" charset="0"/>
            </a:endParaRPr>
          </a:p>
        </p:txBody>
      </p:sp>
      <p:sp>
        <p:nvSpPr>
          <p:cNvPr id="37" name="圆角矩形 36"/>
          <p:cNvSpPr/>
          <p:nvPr/>
        </p:nvSpPr>
        <p:spPr>
          <a:xfrm>
            <a:off x="911519" y="2791818"/>
            <a:ext cx="1584031" cy="418107"/>
          </a:xfrm>
          <a:prstGeom prst="roundRect">
            <a:avLst/>
          </a:prstGeom>
          <a:solidFill>
            <a:srgbClr val="FFFF00"/>
          </a:solidFill>
          <a:ln>
            <a:solidFill>
              <a:srgbClr val="FF00FF"/>
            </a:solidFill>
          </a:ln>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lstStyle/>
          <a:p>
            <a:pPr algn="ctr"/>
            <a:r>
              <a:rPr lang="zh-CN" altLang="en-US" sz="1600" dirty="0">
                <a:solidFill>
                  <a:srgbClr val="FF0000"/>
                </a:solidFill>
                <a:latin typeface="黑体" panose="02010609060101010101" pitchFamily="49" charset="-122"/>
                <a:ea typeface="黑体" panose="02010609060101010101" pitchFamily="49" charset="-122"/>
              </a:rPr>
              <a:t>真值表降维法</a:t>
            </a:r>
            <a:endParaRPr lang="zh-CN" altLang="en-US" sz="1600" dirty="0">
              <a:solidFill>
                <a:srgbClr val="FF0000"/>
              </a:solidFill>
            </a:endParaRPr>
          </a:p>
        </p:txBody>
      </p:sp>
      <p:grpSp>
        <p:nvGrpSpPr>
          <p:cNvPr id="15" name="组合 110"/>
          <p:cNvGrpSpPr/>
          <p:nvPr/>
        </p:nvGrpSpPr>
        <p:grpSpPr>
          <a:xfrm>
            <a:off x="3138488" y="2498523"/>
            <a:ext cx="1500187" cy="2210002"/>
            <a:chOff x="3138488" y="2498523"/>
            <a:chExt cx="1500187" cy="2210002"/>
          </a:xfrm>
        </p:grpSpPr>
        <p:pic>
          <p:nvPicPr>
            <p:cNvPr id="29721" name="Picture 25"/>
            <p:cNvPicPr>
              <a:picLocks noChangeAspect="1" noChangeArrowheads="1"/>
            </p:cNvPicPr>
            <p:nvPr/>
          </p:nvPicPr>
          <p:blipFill>
            <a:blip r:embed="rId7" cstate="print"/>
            <a:srcRect/>
            <a:stretch>
              <a:fillRect/>
            </a:stretch>
          </p:blipFill>
          <p:spPr bwMode="auto">
            <a:xfrm>
              <a:off x="3138488" y="2498523"/>
              <a:ext cx="1500187" cy="2210002"/>
            </a:xfrm>
            <a:prstGeom prst="rect">
              <a:avLst/>
            </a:prstGeom>
            <a:noFill/>
            <a:ln w="9525">
              <a:noFill/>
              <a:miter lim="800000"/>
              <a:headEnd/>
              <a:tailEnd/>
            </a:ln>
          </p:spPr>
        </p:pic>
        <p:sp>
          <p:nvSpPr>
            <p:cNvPr id="65" name="矩形 64"/>
            <p:cNvSpPr/>
            <p:nvPr/>
          </p:nvSpPr>
          <p:spPr>
            <a:xfrm>
              <a:off x="3204486" y="2525728"/>
              <a:ext cx="1426737" cy="297517"/>
            </a:xfrm>
            <a:prstGeom prst="rect">
              <a:avLst/>
            </a:prstGeom>
          </p:spPr>
          <p:txBody>
            <a:bodyPr wrap="none">
              <a:spAutoFit/>
            </a:bodyPr>
            <a:lstStyle/>
            <a:p>
              <a:pPr>
                <a:lnSpc>
                  <a:spcPts val="1600"/>
                </a:lnSpc>
              </a:pPr>
              <a:r>
                <a:rPr lang="en-US" altLang="zh-CN" sz="1400" b="1" dirty="0">
                  <a:latin typeface="Times New Roman" panose="02020603050405020304" pitchFamily="18" charset="0"/>
                  <a:cs typeface="Times New Roman" panose="02020603050405020304" pitchFamily="18" charset="0"/>
                </a:rPr>
                <a:t>A      B     C     </a:t>
              </a:r>
              <a:r>
                <a:rPr lang="en-US" altLang="zh-CN" sz="1400" b="1" i="1" dirty="0">
                  <a:latin typeface="Times New Roman" panose="02020603050405020304" pitchFamily="18" charset="0"/>
                  <a:cs typeface="Times New Roman" panose="02020603050405020304" pitchFamily="18" charset="0"/>
                </a:rPr>
                <a:t>L</a:t>
              </a:r>
              <a:endParaRPr lang="en-US" altLang="zh-CN" sz="1400" b="1" i="1" dirty="0">
                <a:latin typeface="Times New Roman" panose="02020603050405020304" pitchFamily="18" charset="0"/>
                <a:cs typeface="Times New Roman" panose="02020603050405020304" pitchFamily="18" charset="0"/>
              </a:endParaRPr>
            </a:p>
          </p:txBody>
        </p:sp>
      </p:grpSp>
      <p:sp>
        <p:nvSpPr>
          <p:cNvPr id="66" name="矩形 65"/>
          <p:cNvSpPr/>
          <p:nvPr/>
        </p:nvSpPr>
        <p:spPr>
          <a:xfrm>
            <a:off x="3181351" y="2794000"/>
            <a:ext cx="1440000" cy="205184"/>
          </a:xfrm>
          <a:prstGeom prst="rect">
            <a:avLst/>
          </a:prstGeom>
          <a:solidFill>
            <a:srgbClr val="CC00CC">
              <a:alpha val="20000"/>
            </a:srgbClr>
          </a:solidFill>
        </p:spPr>
        <p:txBody>
          <a:bodyPr wrap="square" lIns="0" tIns="0" rIns="0" bIns="0">
            <a:spAutoFit/>
          </a:bodyPr>
          <a:lstStyle/>
          <a:p>
            <a:pPr>
              <a:lnSpc>
                <a:spcPts val="1600"/>
              </a:lnSpc>
            </a:pPr>
            <a:r>
              <a:rPr lang="en-US" altLang="zh-CN" sz="1400" b="1" dirty="0">
                <a:latin typeface="Times New Roman" panose="02020603050405020304" pitchFamily="18" charset="0"/>
                <a:cs typeface="Times New Roman" panose="02020603050405020304" pitchFamily="18" charset="0"/>
              </a:rPr>
              <a:t>   0      0      0      1</a:t>
            </a:r>
            <a:endParaRPr lang="en-US" altLang="zh-CN" sz="1400" b="1" dirty="0">
              <a:latin typeface="Times New Roman" panose="02020603050405020304" pitchFamily="18" charset="0"/>
              <a:cs typeface="Times New Roman" panose="02020603050405020304" pitchFamily="18" charset="0"/>
            </a:endParaRPr>
          </a:p>
        </p:txBody>
      </p:sp>
      <p:grpSp>
        <p:nvGrpSpPr>
          <p:cNvPr id="16" name="组合 81"/>
          <p:cNvGrpSpPr/>
          <p:nvPr/>
        </p:nvGrpSpPr>
        <p:grpSpPr>
          <a:xfrm>
            <a:off x="7092315" y="2844165"/>
            <a:ext cx="1365886" cy="378460"/>
            <a:chOff x="5511165" y="2840990"/>
            <a:chExt cx="1365886" cy="378460"/>
          </a:xfrm>
        </p:grpSpPr>
        <p:sp>
          <p:nvSpPr>
            <p:cNvPr id="83" name="圆角矩形 82"/>
            <p:cNvSpPr/>
            <p:nvPr/>
          </p:nvSpPr>
          <p:spPr>
            <a:xfrm>
              <a:off x="5511165" y="2840990"/>
              <a:ext cx="756285" cy="378460"/>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圆角矩形 83"/>
            <p:cNvSpPr/>
            <p:nvPr/>
          </p:nvSpPr>
          <p:spPr>
            <a:xfrm>
              <a:off x="6301741" y="2840990"/>
              <a:ext cx="575310" cy="378460"/>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7" name="组合 90"/>
          <p:cNvGrpSpPr/>
          <p:nvPr/>
        </p:nvGrpSpPr>
        <p:grpSpPr>
          <a:xfrm>
            <a:off x="7092315" y="3669665"/>
            <a:ext cx="1365886" cy="378460"/>
            <a:chOff x="5511165" y="2840990"/>
            <a:chExt cx="1365886" cy="378460"/>
          </a:xfrm>
        </p:grpSpPr>
        <p:sp>
          <p:nvSpPr>
            <p:cNvPr id="92" name="圆角矩形 91"/>
            <p:cNvSpPr/>
            <p:nvPr/>
          </p:nvSpPr>
          <p:spPr>
            <a:xfrm>
              <a:off x="5511165" y="2840990"/>
              <a:ext cx="756285" cy="378460"/>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3" name="圆角矩形 92"/>
            <p:cNvSpPr/>
            <p:nvPr/>
          </p:nvSpPr>
          <p:spPr>
            <a:xfrm>
              <a:off x="6301741" y="2840990"/>
              <a:ext cx="575310" cy="378460"/>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7" name="矩形 96"/>
          <p:cNvSpPr/>
          <p:nvPr/>
        </p:nvSpPr>
        <p:spPr>
          <a:xfrm>
            <a:off x="3181351" y="3713844"/>
            <a:ext cx="1440000" cy="205184"/>
          </a:xfrm>
          <a:prstGeom prst="rect">
            <a:avLst/>
          </a:prstGeom>
          <a:solidFill>
            <a:srgbClr val="CC00CC">
              <a:alpha val="20000"/>
            </a:srgbClr>
          </a:solidFill>
        </p:spPr>
        <p:txBody>
          <a:bodyPr wrap="square" lIns="0" tIns="0" rIns="0" bIns="0">
            <a:spAutoFit/>
          </a:bodyPr>
          <a:lstStyle/>
          <a:p>
            <a:pPr>
              <a:lnSpc>
                <a:spcPts val="1600"/>
              </a:lnSpc>
            </a:pPr>
            <a:r>
              <a:rPr lang="en-US" altLang="zh-CN" sz="1400" b="1" dirty="0">
                <a:latin typeface="Times New Roman" panose="02020603050405020304" pitchFamily="18" charset="0"/>
                <a:cs typeface="Times New Roman" panose="02020603050405020304" pitchFamily="18" charset="0"/>
              </a:rPr>
              <a:t>   1      0      0      0</a:t>
            </a:r>
            <a:endParaRPr lang="en-US" altLang="zh-CN" sz="1400" b="1" dirty="0">
              <a:latin typeface="Times New Roman" panose="02020603050405020304" pitchFamily="18" charset="0"/>
              <a:cs typeface="Times New Roman" panose="02020603050405020304" pitchFamily="18" charset="0"/>
            </a:endParaRPr>
          </a:p>
        </p:txBody>
      </p:sp>
      <p:sp>
        <p:nvSpPr>
          <p:cNvPr id="100" name="矩形 99"/>
          <p:cNvSpPr/>
          <p:nvPr/>
        </p:nvSpPr>
        <p:spPr>
          <a:xfrm>
            <a:off x="3181351" y="4403725"/>
            <a:ext cx="1440000" cy="205184"/>
          </a:xfrm>
          <a:prstGeom prst="rect">
            <a:avLst/>
          </a:prstGeom>
          <a:solidFill>
            <a:srgbClr val="FFFF00">
              <a:alpha val="20000"/>
            </a:srgbClr>
          </a:solidFill>
        </p:spPr>
        <p:txBody>
          <a:bodyPr wrap="square" lIns="0" tIns="0" rIns="0" bIns="0">
            <a:spAutoFit/>
          </a:bodyPr>
          <a:lstStyle/>
          <a:p>
            <a:pPr>
              <a:lnSpc>
                <a:spcPts val="1600"/>
              </a:lnSpc>
            </a:pPr>
            <a:r>
              <a:rPr lang="en-US" altLang="zh-CN" sz="1400" b="1" dirty="0">
                <a:latin typeface="Times New Roman" panose="02020603050405020304" pitchFamily="18" charset="0"/>
                <a:cs typeface="Times New Roman" panose="02020603050405020304" pitchFamily="18" charset="0"/>
              </a:rPr>
              <a:t>   1      1      1      1</a:t>
            </a:r>
            <a:endParaRPr lang="en-US" altLang="zh-CN" sz="1400" b="1" dirty="0">
              <a:latin typeface="Times New Roman" panose="02020603050405020304" pitchFamily="18" charset="0"/>
              <a:cs typeface="Times New Roman" panose="02020603050405020304" pitchFamily="18" charset="0"/>
            </a:endParaRPr>
          </a:p>
        </p:txBody>
      </p:sp>
      <p:sp>
        <p:nvSpPr>
          <p:cNvPr id="94" name="矩形 93"/>
          <p:cNvSpPr/>
          <p:nvPr/>
        </p:nvSpPr>
        <p:spPr>
          <a:xfrm>
            <a:off x="3181351" y="3023961"/>
            <a:ext cx="1440000" cy="205184"/>
          </a:xfrm>
          <a:prstGeom prst="rect">
            <a:avLst/>
          </a:prstGeom>
          <a:solidFill>
            <a:srgbClr val="FFFF00">
              <a:alpha val="20000"/>
            </a:srgbClr>
          </a:solidFill>
        </p:spPr>
        <p:txBody>
          <a:bodyPr wrap="square" lIns="0" tIns="0" rIns="0" bIns="0">
            <a:spAutoFit/>
          </a:bodyPr>
          <a:lstStyle/>
          <a:p>
            <a:pPr>
              <a:lnSpc>
                <a:spcPts val="1600"/>
              </a:lnSpc>
            </a:pPr>
            <a:r>
              <a:rPr lang="en-US" altLang="zh-CN" sz="1400" b="1" dirty="0">
                <a:latin typeface="Times New Roman" panose="02020603050405020304" pitchFamily="18" charset="0"/>
                <a:cs typeface="Times New Roman" panose="02020603050405020304" pitchFamily="18" charset="0"/>
              </a:rPr>
              <a:t>   0      0      1      0         </a:t>
            </a:r>
            <a:endParaRPr lang="en-US" altLang="zh-CN" sz="1400" b="1" dirty="0">
              <a:latin typeface="Times New Roman" panose="02020603050405020304" pitchFamily="18" charset="0"/>
              <a:cs typeface="Times New Roman" panose="02020603050405020304" pitchFamily="18" charset="0"/>
            </a:endParaRPr>
          </a:p>
        </p:txBody>
      </p:sp>
      <p:grpSp>
        <p:nvGrpSpPr>
          <p:cNvPr id="19" name="组合 102"/>
          <p:cNvGrpSpPr/>
          <p:nvPr/>
        </p:nvGrpSpPr>
        <p:grpSpPr>
          <a:xfrm>
            <a:off x="3181351" y="3937000"/>
            <a:ext cx="1440000" cy="211989"/>
            <a:chOff x="3390901" y="4076700"/>
            <a:chExt cx="1440000" cy="211989"/>
          </a:xfrm>
        </p:grpSpPr>
        <p:sp>
          <p:nvSpPr>
            <p:cNvPr id="98" name="矩形 97"/>
            <p:cNvSpPr/>
            <p:nvPr/>
          </p:nvSpPr>
          <p:spPr>
            <a:xfrm>
              <a:off x="3390901" y="4083505"/>
              <a:ext cx="1440000" cy="205184"/>
            </a:xfrm>
            <a:prstGeom prst="rect">
              <a:avLst/>
            </a:prstGeom>
            <a:solidFill>
              <a:srgbClr val="FFFF00">
                <a:alpha val="20000"/>
              </a:srgbClr>
            </a:solidFill>
          </p:spPr>
          <p:txBody>
            <a:bodyPr wrap="square" lIns="0" tIns="0" rIns="0" bIns="0">
              <a:spAutoFit/>
            </a:bodyPr>
            <a:lstStyle/>
            <a:p>
              <a:pPr>
                <a:lnSpc>
                  <a:spcPts val="1600"/>
                </a:lnSpc>
              </a:pPr>
              <a:r>
                <a:rPr lang="en-US" altLang="zh-CN" sz="1400" b="1" dirty="0">
                  <a:latin typeface="Times New Roman" panose="02020603050405020304" pitchFamily="18" charset="0"/>
                  <a:cs typeface="Times New Roman" panose="02020603050405020304" pitchFamily="18" charset="0"/>
                </a:rPr>
                <a:t>   1      0      1</a:t>
              </a:r>
              <a:endParaRPr lang="en-US" altLang="zh-CN" sz="1400" b="1" dirty="0">
                <a:latin typeface="Times New Roman" panose="02020603050405020304" pitchFamily="18" charset="0"/>
                <a:cs typeface="Times New Roman" panose="02020603050405020304" pitchFamily="18" charset="0"/>
              </a:endParaRPr>
            </a:p>
          </p:txBody>
        </p:sp>
        <p:graphicFrame>
          <p:nvGraphicFramePr>
            <p:cNvPr id="29723" name="Object 27"/>
            <p:cNvGraphicFramePr>
              <a:graphicFrameLocks noChangeAspect="1"/>
            </p:cNvGraphicFramePr>
            <p:nvPr/>
          </p:nvGraphicFramePr>
          <p:xfrm>
            <a:off x="4546600" y="4076700"/>
            <a:ext cx="165100" cy="203200"/>
          </p:xfrm>
          <a:graphic>
            <a:graphicData uri="http://schemas.openxmlformats.org/presentationml/2006/ole">
              <mc:AlternateContent xmlns:mc="http://schemas.openxmlformats.org/markup-compatibility/2006">
                <mc:Choice xmlns:v="urn:schemas-microsoft-com:vml" Requires="v">
                  <p:oleObj spid="_x0000_s60467" name="Equation" r:id="rId8" imgW="3962400" imgH="4876800" progId="Equation.DSMT4">
                    <p:embed/>
                  </p:oleObj>
                </mc:Choice>
                <mc:Fallback>
                  <p:oleObj name="Equation" r:id="rId8" imgW="3962400" imgH="4876800" progId="Equation.DSMT4">
                    <p:embed/>
                    <p:pic>
                      <p:nvPicPr>
                        <p:cNvPr id="0" name="Object 2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46600" y="4076700"/>
                          <a:ext cx="165100" cy="20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0" name="组合 101"/>
          <p:cNvGrpSpPr/>
          <p:nvPr/>
        </p:nvGrpSpPr>
        <p:grpSpPr>
          <a:xfrm>
            <a:off x="3181351" y="3253922"/>
            <a:ext cx="1440000" cy="205184"/>
            <a:chOff x="3390901" y="3393622"/>
            <a:chExt cx="1440000" cy="205184"/>
          </a:xfrm>
        </p:grpSpPr>
        <p:sp>
          <p:nvSpPr>
            <p:cNvPr id="95" name="矩形 94"/>
            <p:cNvSpPr/>
            <p:nvPr/>
          </p:nvSpPr>
          <p:spPr>
            <a:xfrm>
              <a:off x="3390901" y="3393622"/>
              <a:ext cx="1440000" cy="205184"/>
            </a:xfrm>
            <a:prstGeom prst="rect">
              <a:avLst/>
            </a:prstGeom>
            <a:solidFill>
              <a:srgbClr val="CC00CC">
                <a:alpha val="20000"/>
              </a:srgbClr>
            </a:solidFill>
          </p:spPr>
          <p:txBody>
            <a:bodyPr wrap="square" lIns="0" tIns="0" rIns="0" bIns="0">
              <a:spAutoFit/>
            </a:bodyPr>
            <a:lstStyle/>
            <a:p>
              <a:pPr>
                <a:lnSpc>
                  <a:spcPts val="1600"/>
                </a:lnSpc>
              </a:pPr>
              <a:r>
                <a:rPr lang="en-US" altLang="zh-CN" sz="1400" b="1" dirty="0">
                  <a:latin typeface="Times New Roman" panose="02020603050405020304" pitchFamily="18" charset="0"/>
                  <a:cs typeface="Times New Roman" panose="02020603050405020304" pitchFamily="18" charset="0"/>
                </a:rPr>
                <a:t>   0      1      0</a:t>
              </a:r>
              <a:endParaRPr lang="en-US" altLang="zh-CN" sz="1400" b="1" dirty="0">
                <a:latin typeface="Times New Roman" panose="02020603050405020304" pitchFamily="18" charset="0"/>
                <a:cs typeface="Times New Roman" panose="02020603050405020304" pitchFamily="18" charset="0"/>
              </a:endParaRPr>
            </a:p>
          </p:txBody>
        </p:sp>
        <p:graphicFrame>
          <p:nvGraphicFramePr>
            <p:cNvPr id="29724" name="Object 28"/>
            <p:cNvGraphicFramePr>
              <a:graphicFrameLocks noChangeAspect="1"/>
            </p:cNvGraphicFramePr>
            <p:nvPr/>
          </p:nvGraphicFramePr>
          <p:xfrm>
            <a:off x="4546600" y="3403600"/>
            <a:ext cx="165100" cy="165100"/>
          </p:xfrm>
          <a:graphic>
            <a:graphicData uri="http://schemas.openxmlformats.org/presentationml/2006/ole">
              <mc:AlternateContent xmlns:mc="http://schemas.openxmlformats.org/markup-compatibility/2006">
                <mc:Choice xmlns:v="urn:schemas-microsoft-com:vml" Requires="v">
                  <p:oleObj spid="_x0000_s60468" name="Equation" r:id="rId10" imgW="3962400" imgH="3962400" progId="Equation.DSMT4">
                    <p:embed/>
                  </p:oleObj>
                </mc:Choice>
                <mc:Fallback>
                  <p:oleObj name="Equation" r:id="rId10" imgW="3962400" imgH="3962400" progId="Equation.DSMT4">
                    <p:embed/>
                    <p:pic>
                      <p:nvPicPr>
                        <p:cNvPr id="0" name="Object 2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46600" y="3403600"/>
                          <a:ext cx="165100" cy="16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1" name="组合 103"/>
          <p:cNvGrpSpPr/>
          <p:nvPr/>
        </p:nvGrpSpPr>
        <p:grpSpPr>
          <a:xfrm>
            <a:off x="3181351" y="4173766"/>
            <a:ext cx="1440000" cy="205184"/>
            <a:chOff x="3390901" y="4313466"/>
            <a:chExt cx="1440000" cy="205184"/>
          </a:xfrm>
        </p:grpSpPr>
        <p:sp>
          <p:nvSpPr>
            <p:cNvPr id="99" name="矩形 98"/>
            <p:cNvSpPr/>
            <p:nvPr/>
          </p:nvSpPr>
          <p:spPr>
            <a:xfrm>
              <a:off x="3390901" y="4313466"/>
              <a:ext cx="1440000" cy="205184"/>
            </a:xfrm>
            <a:prstGeom prst="rect">
              <a:avLst/>
            </a:prstGeom>
            <a:solidFill>
              <a:srgbClr val="CC00CC">
                <a:alpha val="20000"/>
              </a:srgbClr>
            </a:solidFill>
          </p:spPr>
          <p:txBody>
            <a:bodyPr wrap="square" lIns="0" tIns="0" rIns="0" bIns="0">
              <a:spAutoFit/>
            </a:bodyPr>
            <a:lstStyle/>
            <a:p>
              <a:pPr>
                <a:lnSpc>
                  <a:spcPts val="1600"/>
                </a:lnSpc>
              </a:pPr>
              <a:r>
                <a:rPr lang="en-US" altLang="zh-CN" sz="1400" b="1" dirty="0">
                  <a:latin typeface="Times New Roman" panose="02020603050405020304" pitchFamily="18" charset="0"/>
                  <a:cs typeface="Times New Roman" panose="02020603050405020304" pitchFamily="18" charset="0"/>
                </a:rPr>
                <a:t>   1      1      0</a:t>
              </a:r>
              <a:endParaRPr lang="en-US" altLang="zh-CN" sz="1400" b="1" dirty="0">
                <a:latin typeface="Times New Roman" panose="02020603050405020304" pitchFamily="18" charset="0"/>
                <a:cs typeface="Times New Roman" panose="02020603050405020304" pitchFamily="18" charset="0"/>
              </a:endParaRPr>
            </a:p>
          </p:txBody>
        </p:sp>
        <p:graphicFrame>
          <p:nvGraphicFramePr>
            <p:cNvPr id="29725" name="Object 29"/>
            <p:cNvGraphicFramePr>
              <a:graphicFrameLocks noChangeAspect="1"/>
            </p:cNvGraphicFramePr>
            <p:nvPr/>
          </p:nvGraphicFramePr>
          <p:xfrm>
            <a:off x="4546600" y="4337050"/>
            <a:ext cx="165100" cy="165100"/>
          </p:xfrm>
          <a:graphic>
            <a:graphicData uri="http://schemas.openxmlformats.org/presentationml/2006/ole">
              <mc:AlternateContent xmlns:mc="http://schemas.openxmlformats.org/markup-compatibility/2006">
                <mc:Choice xmlns:v="urn:schemas-microsoft-com:vml" Requires="v">
                  <p:oleObj spid="_x0000_s60469" name="Equation" r:id="rId12" imgW="165100" imgH="165100" progId="Equation.DSMT4">
                    <p:embed/>
                  </p:oleObj>
                </mc:Choice>
                <mc:Fallback>
                  <p:oleObj name="Equation" r:id="rId12" imgW="165100" imgH="165100" progId="Equation.DSMT4">
                    <p:embed/>
                    <p:pic>
                      <p:nvPicPr>
                        <p:cNvPr id="0" name="Object 2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46600" y="4337050"/>
                          <a:ext cx="165100" cy="16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05" name="表格 104"/>
          <p:cNvGraphicFramePr>
            <a:graphicFrameLocks noGrp="1"/>
          </p:cNvGraphicFramePr>
          <p:nvPr/>
        </p:nvGraphicFramePr>
        <p:xfrm>
          <a:off x="4527550" y="2749550"/>
          <a:ext cx="392099" cy="1885952"/>
        </p:xfrm>
        <a:graphic>
          <a:graphicData uri="http://schemas.openxmlformats.org/drawingml/2006/table">
            <a:tbl>
              <a:tblPr/>
              <a:tblGrid>
                <a:gridCol w="392099"/>
              </a:tblGrid>
              <a:tr h="235744">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w="12700" cap="flat" cmpd="sng" algn="ctr">
                      <a:noFill/>
                      <a:prstDash val="solid"/>
                      <a:round/>
                      <a:headEnd type="none" w="med" len="med"/>
                      <a:tailEnd type="none" w="med" len="med"/>
                    </a:lnT>
                    <a:lnB>
                      <a:noFill/>
                    </a:lnB>
                    <a:lnTlToBr>
                      <a:noFill/>
                    </a:lnTlToBr>
                    <a:lnBlToTr>
                      <a:noFill/>
                    </a:lnBlToTr>
                    <a:noFill/>
                  </a:tcPr>
                </a:tc>
              </a:tr>
              <a:tr h="235744">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r>
              <a:tr h="235744">
                <a:tc>
                  <a:txBody>
                    <a:bodyPr/>
                    <a:lstStyle/>
                    <a:p>
                      <a:pPr marL="0" marR="0" lvl="0" indent="0" algn="ctr" defTabSz="914400" rtl="0" eaLnBrk="0" fontAlgn="base" latinLnBrk="0" hangingPunct="0">
                        <a:lnSpc>
                          <a:spcPts val="1600"/>
                        </a:lnSpc>
                        <a:spcBef>
                          <a:spcPct val="0"/>
                        </a:spcBef>
                        <a:spcAft>
                          <a:spcPct val="0"/>
                        </a:spcAft>
                        <a:buClrTx/>
                        <a:buSzTx/>
                        <a:buFontTx/>
                        <a:buNone/>
                        <a:defRPr/>
                      </a:pPr>
                      <a:r>
                        <a:rPr kumimoji="0" lang="en-US" altLang="zh-CN" sz="1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1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r>
              <a:tr h="235744">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r>
              <a:tr h="235744">
                <a:tc>
                  <a:txBody>
                    <a:bodyPr/>
                    <a:lstStyle/>
                    <a:p>
                      <a:pPr marL="0" marR="0" lvl="0" indent="0" algn="ctr" defTabSz="914400" rtl="0" eaLnBrk="0" fontAlgn="base" latinLnBrk="0" hangingPunct="0">
                        <a:lnSpc>
                          <a:spcPts val="1600"/>
                        </a:lnSpc>
                        <a:spcBef>
                          <a:spcPct val="0"/>
                        </a:spcBef>
                        <a:spcAft>
                          <a:spcPct val="0"/>
                        </a:spcAft>
                        <a:buClrTx/>
                        <a:buSzTx/>
                        <a:buFontTx/>
                        <a:buNone/>
                        <a:defRPr/>
                      </a:pPr>
                      <a:r>
                        <a:rPr kumimoji="0" lang="en-US" altLang="zh-CN" sz="1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1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r>
              <a:tr h="235744">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r>
              <a:tr h="235744">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r>
              <a:tr h="235744">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400" b="1" i="0" u="none" strike="noStrike" cap="none" normalizeH="0" baseline="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1400" b="1" i="0" u="none" strike="noStrike" cap="none" normalizeH="0" baseline="-25000" dirty="0">
                        <a:ln>
                          <a:noFill/>
                        </a:ln>
                        <a:solidFill>
                          <a:srgbClr val="0000FF"/>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0" marR="0" marT="0" marB="0" anchor="ctr" horzOverflow="overflow">
                    <a:lnL>
                      <a:noFill/>
                    </a:lnL>
                    <a:lnR>
                      <a:noFill/>
                    </a:lnR>
                    <a:lnT>
                      <a:noFill/>
                    </a:lnT>
                    <a:lnB>
                      <a:noFill/>
                    </a:lnB>
                    <a:lnTlToBr>
                      <a:noFill/>
                    </a:lnTlToBr>
                    <a:lnBlToTr>
                      <a:noFill/>
                    </a:lnBlToTr>
                    <a:noFill/>
                  </a:tcPr>
                </a:tc>
              </a:tr>
            </a:tbl>
          </a:graphicData>
        </a:graphic>
      </p:graphicFrame>
      <p:grpSp>
        <p:nvGrpSpPr>
          <p:cNvPr id="23" name="组合 69"/>
          <p:cNvGrpSpPr/>
          <p:nvPr/>
        </p:nvGrpSpPr>
        <p:grpSpPr>
          <a:xfrm>
            <a:off x="3181351" y="3479800"/>
            <a:ext cx="1440000" cy="209267"/>
            <a:chOff x="3181351" y="3479800"/>
            <a:chExt cx="1440000" cy="209267"/>
          </a:xfrm>
        </p:grpSpPr>
        <p:sp>
          <p:nvSpPr>
            <p:cNvPr id="96" name="矩形 95"/>
            <p:cNvSpPr/>
            <p:nvPr/>
          </p:nvSpPr>
          <p:spPr>
            <a:xfrm>
              <a:off x="3181351" y="3483883"/>
              <a:ext cx="1440000" cy="205184"/>
            </a:xfrm>
            <a:prstGeom prst="rect">
              <a:avLst/>
            </a:prstGeom>
            <a:solidFill>
              <a:srgbClr val="FFFF00">
                <a:alpha val="20000"/>
              </a:srgbClr>
            </a:solidFill>
          </p:spPr>
          <p:txBody>
            <a:bodyPr wrap="square" lIns="0" tIns="0" rIns="0" bIns="0">
              <a:spAutoFit/>
            </a:bodyPr>
            <a:lstStyle/>
            <a:p>
              <a:pPr>
                <a:lnSpc>
                  <a:spcPts val="1600"/>
                </a:lnSpc>
              </a:pPr>
              <a:r>
                <a:rPr lang="en-US" altLang="zh-CN" sz="1400" b="1" dirty="0">
                  <a:latin typeface="Times New Roman" panose="02020603050405020304" pitchFamily="18" charset="0"/>
                  <a:cs typeface="Times New Roman" panose="02020603050405020304" pitchFamily="18" charset="0"/>
                </a:rPr>
                <a:t>   0      1      1</a:t>
              </a:r>
              <a:endParaRPr lang="en-US" altLang="zh-CN" sz="1400" b="1" dirty="0">
                <a:latin typeface="Times New Roman" panose="02020603050405020304" pitchFamily="18" charset="0"/>
                <a:cs typeface="Times New Roman" panose="02020603050405020304" pitchFamily="18" charset="0"/>
              </a:endParaRPr>
            </a:p>
          </p:txBody>
        </p:sp>
        <p:graphicFrame>
          <p:nvGraphicFramePr>
            <p:cNvPr id="69" name="Object 26"/>
            <p:cNvGraphicFramePr>
              <a:graphicFrameLocks noChangeAspect="1"/>
            </p:cNvGraphicFramePr>
            <p:nvPr/>
          </p:nvGraphicFramePr>
          <p:xfrm>
            <a:off x="4337050" y="3479800"/>
            <a:ext cx="165100" cy="203200"/>
          </p:xfrm>
          <a:graphic>
            <a:graphicData uri="http://schemas.openxmlformats.org/presentationml/2006/ole">
              <mc:AlternateContent xmlns:mc="http://schemas.openxmlformats.org/markup-compatibility/2006">
                <mc:Choice xmlns:v="urn:schemas-microsoft-com:vml" Requires="v">
                  <p:oleObj spid="_x0000_s60470" name="Equation" r:id="rId14" imgW="165100" imgH="203200" progId="Equation.DSMT4">
                    <p:embed/>
                  </p:oleObj>
                </mc:Choice>
                <mc:Fallback>
                  <p:oleObj name="Equation" r:id="rId14" imgW="165100" imgH="203200" progId="Equation.DSMT4">
                    <p:embed/>
                    <p:pic>
                      <p:nvPicPr>
                        <p:cNvPr id="0" name="Object 2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337050" y="3479800"/>
                          <a:ext cx="165100" cy="20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110" name="左箭头 109"/>
          <p:cNvSpPr/>
          <p:nvPr/>
        </p:nvSpPr>
        <p:spPr>
          <a:xfrm>
            <a:off x="4688954" y="3264195"/>
            <a:ext cx="669853" cy="484632"/>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2" name="组合 72"/>
          <p:cNvGrpSpPr/>
          <p:nvPr/>
        </p:nvGrpSpPr>
        <p:grpSpPr>
          <a:xfrm>
            <a:off x="5260962" y="2425698"/>
            <a:ext cx="3455670" cy="2362201"/>
            <a:chOff x="5440680" y="2216149"/>
            <a:chExt cx="2979419" cy="1961920"/>
          </a:xfrm>
        </p:grpSpPr>
        <p:sp>
          <p:nvSpPr>
            <p:cNvPr id="73" name="圆角矩形 72"/>
            <p:cNvSpPr/>
            <p:nvPr/>
          </p:nvSpPr>
          <p:spPr>
            <a:xfrm>
              <a:off x="5440680" y="2216149"/>
              <a:ext cx="2979419" cy="1961920"/>
            </a:xfrm>
            <a:prstGeom prst="roundRect">
              <a:avLst>
                <a:gd name="adj" fmla="val 7462"/>
              </a:avLst>
            </a:prstGeom>
            <a:solidFill>
              <a:schemeClr val="bg1"/>
            </a:solidFill>
            <a:effectLst>
              <a:glow rad="63500">
                <a:schemeClr val="accent1">
                  <a:satMod val="175000"/>
                  <a:alpha val="40000"/>
                </a:schemeClr>
              </a:glow>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6" name="Object 11"/>
            <p:cNvGraphicFramePr>
              <a:graphicFrameLocks noChangeAspect="1"/>
            </p:cNvGraphicFramePr>
            <p:nvPr/>
          </p:nvGraphicFramePr>
          <p:xfrm>
            <a:off x="5638870" y="2289985"/>
            <a:ext cx="2578659" cy="1782604"/>
          </p:xfrm>
          <a:graphic>
            <a:graphicData uri="http://schemas.openxmlformats.org/presentationml/2006/ole">
              <mc:AlternateContent xmlns:mc="http://schemas.openxmlformats.org/markup-compatibility/2006">
                <mc:Choice xmlns:v="urn:schemas-microsoft-com:vml" Requires="v">
                  <p:oleObj spid="_x0000_s60471" name="Visio" r:id="rId16" imgW="1371600" imgH="1167130" progId="Visio.Drawing.11">
                    <p:embed/>
                  </p:oleObj>
                </mc:Choice>
                <mc:Fallback>
                  <p:oleObj name="Visio" r:id="rId16" imgW="1371600" imgH="1167130" progId="Visio.Drawing.11">
                    <p:embed/>
                    <p:pic>
                      <p:nvPicPr>
                        <p:cNvPr id="0" name="Object 1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638870" y="2289985"/>
                          <a:ext cx="2578659" cy="1782604"/>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sp>
        <p:nvSpPr>
          <p:cNvPr id="79" name="圆角矩形 78"/>
          <p:cNvSpPr/>
          <p:nvPr/>
        </p:nvSpPr>
        <p:spPr>
          <a:xfrm>
            <a:off x="5535283" y="3813498"/>
            <a:ext cx="2889250" cy="819785"/>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slide(fromBottom)">
                                      <p:cBhvr>
                                        <p:cTn id="7" dur="10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nodeType="clickEffect">
                                  <p:stCondLst>
                                    <p:cond delay="0"/>
                                  </p:stCondLst>
                                  <p:childTnLst>
                                    <p:set>
                                      <p:cBhvr>
                                        <p:cTn id="11" dur="1" fill="hold">
                                          <p:stCondLst>
                                            <p:cond delay="0"/>
                                          </p:stCondLst>
                                        </p:cTn>
                                        <p:tgtEl>
                                          <p:spTgt spid="14"/>
                                        </p:tgtEl>
                                        <p:attrNameLst>
                                          <p:attrName>style.visibility</p:attrName>
                                        </p:attrNameLst>
                                      </p:cBhvr>
                                      <p:to>
                                        <p:strVal val="visible"/>
                                      </p:to>
                                    </p:set>
                                    <p:animEffect transition="in" filter="slide(fromBottom)">
                                      <p:cBhvr>
                                        <p:cTn id="12" dur="1000"/>
                                        <p:tgtEl>
                                          <p:spTgt spid="14"/>
                                        </p:tgtEl>
                                      </p:cBhvr>
                                    </p:animEffect>
                                  </p:childTnLst>
                                </p:cTn>
                              </p:par>
                            </p:childTnLst>
                          </p:cTn>
                        </p:par>
                        <p:par>
                          <p:cTn id="13" fill="hold">
                            <p:stCondLst>
                              <p:cond delay="1000"/>
                            </p:stCondLst>
                            <p:childTnLst>
                              <p:par>
                                <p:cTn id="14" presetID="12" presetClass="entr" presetSubtype="1" fill="hold" grpId="0" nodeType="afterEffect">
                                  <p:stCondLst>
                                    <p:cond delay="0"/>
                                  </p:stCondLst>
                                  <p:childTnLst>
                                    <p:set>
                                      <p:cBhvr>
                                        <p:cTn id="15" dur="1" fill="hold">
                                          <p:stCondLst>
                                            <p:cond delay="0"/>
                                          </p:stCondLst>
                                        </p:cTn>
                                        <p:tgtEl>
                                          <p:spTgt spid="37"/>
                                        </p:tgtEl>
                                        <p:attrNameLst>
                                          <p:attrName>style.visibility</p:attrName>
                                        </p:attrNameLst>
                                      </p:cBhvr>
                                      <p:to>
                                        <p:strVal val="visible"/>
                                      </p:to>
                                    </p:set>
                                    <p:animEffect transition="in" filter="slide(fromTop)">
                                      <p:cBhvr>
                                        <p:cTn id="16" dur="1000"/>
                                        <p:tgtEl>
                                          <p:spTgt spid="37"/>
                                        </p:tgtEl>
                                      </p:cBhvr>
                                    </p:animEffect>
                                  </p:childTnLst>
                                </p:cTn>
                              </p:par>
                            </p:childTnLst>
                          </p:cTn>
                        </p:par>
                        <p:par>
                          <p:cTn id="17" fill="hold">
                            <p:stCondLst>
                              <p:cond delay="2000"/>
                            </p:stCondLst>
                            <p:childTnLst>
                              <p:par>
                                <p:cTn id="18" presetID="9" presetClass="entr" presetSubtype="0"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dissolve">
                                      <p:cBhvr>
                                        <p:cTn id="20" dur="1000"/>
                                        <p:tgtEl>
                                          <p:spTgt spid="2"/>
                                        </p:tgtEl>
                                      </p:cBhvr>
                                    </p:animEffect>
                                  </p:childTnLst>
                                </p:cTn>
                              </p:par>
                            </p:childTnLst>
                          </p:cTn>
                        </p:par>
                      </p:childTnLst>
                    </p:cTn>
                  </p:par>
                  <p:par>
                    <p:cTn id="21" fill="hold">
                      <p:stCondLst>
                        <p:cond delay="indefinite"/>
                      </p:stCondLst>
                      <p:childTnLst>
                        <p:par>
                          <p:cTn id="22" fill="hold">
                            <p:stCondLst>
                              <p:cond delay="0"/>
                            </p:stCondLst>
                            <p:childTnLst>
                              <p:par>
                                <p:cTn id="23" presetID="12" presetClass="entr" presetSubtype="2" fill="hold" grpId="0" nodeType="clickEffect">
                                  <p:stCondLst>
                                    <p:cond delay="0"/>
                                  </p:stCondLst>
                                  <p:childTnLst>
                                    <p:set>
                                      <p:cBhvr>
                                        <p:cTn id="24" dur="1" fill="hold">
                                          <p:stCondLst>
                                            <p:cond delay="0"/>
                                          </p:stCondLst>
                                        </p:cTn>
                                        <p:tgtEl>
                                          <p:spTgt spid="110"/>
                                        </p:tgtEl>
                                        <p:attrNameLst>
                                          <p:attrName>style.visibility</p:attrName>
                                        </p:attrNameLst>
                                      </p:cBhvr>
                                      <p:to>
                                        <p:strVal val="visible"/>
                                      </p:to>
                                    </p:set>
                                    <p:animEffect transition="in" filter="slide(fromRight)">
                                      <p:cBhvr>
                                        <p:cTn id="25" dur="1000"/>
                                        <p:tgtEl>
                                          <p:spTgt spid="110"/>
                                        </p:tgtEl>
                                      </p:cBhvr>
                                    </p:animEffect>
                                  </p:childTnLst>
                                </p:cTn>
                              </p:par>
                            </p:childTnLst>
                          </p:cTn>
                        </p:par>
                        <p:par>
                          <p:cTn id="26" fill="hold">
                            <p:stCondLst>
                              <p:cond delay="1000"/>
                            </p:stCondLst>
                            <p:childTnLst>
                              <p:par>
                                <p:cTn id="27" presetID="12" presetClass="entr" presetSubtype="2" fill="hold"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slide(fromRight)">
                                      <p:cBhvr>
                                        <p:cTn id="29" dur="1000"/>
                                        <p:tgtEl>
                                          <p:spTgt spid="15"/>
                                        </p:tgtEl>
                                      </p:cBhvr>
                                    </p:animEffect>
                                  </p:childTnLst>
                                </p:cTn>
                              </p:par>
                            </p:childTnLst>
                          </p:cTn>
                        </p:par>
                        <p:par>
                          <p:cTn id="30" fill="hold">
                            <p:stCondLst>
                              <p:cond delay="2000"/>
                            </p:stCondLst>
                            <p:childTnLst>
                              <p:par>
                                <p:cTn id="31" presetID="22" presetClass="entr" presetSubtype="1" fill="hold" grpId="0" nodeType="afterEffect">
                                  <p:stCondLst>
                                    <p:cond delay="0"/>
                                  </p:stCondLst>
                                  <p:childTnLst>
                                    <p:set>
                                      <p:cBhvr>
                                        <p:cTn id="32" dur="1" fill="hold">
                                          <p:stCondLst>
                                            <p:cond delay="0"/>
                                          </p:stCondLst>
                                        </p:cTn>
                                        <p:tgtEl>
                                          <p:spTgt spid="38"/>
                                        </p:tgtEl>
                                        <p:attrNameLst>
                                          <p:attrName>style.visibility</p:attrName>
                                        </p:attrNameLst>
                                      </p:cBhvr>
                                      <p:to>
                                        <p:strVal val="visible"/>
                                      </p:to>
                                    </p:set>
                                    <p:animEffect transition="in" filter="wipe(up)">
                                      <p:cBhvr>
                                        <p:cTn id="33" dur="1000"/>
                                        <p:tgtEl>
                                          <p:spTgt spid="3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nodeType="click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left)">
                                      <p:cBhvr>
                                        <p:cTn id="38" dur="1000"/>
                                        <p:tgtEl>
                                          <p:spTgt spid="7"/>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66"/>
                                        </p:tgtEl>
                                        <p:attrNameLst>
                                          <p:attrName>style.visibility</p:attrName>
                                        </p:attrNameLst>
                                      </p:cBhvr>
                                      <p:to>
                                        <p:strVal val="visible"/>
                                      </p:to>
                                    </p:set>
                                    <p:animEffect transition="in" filter="wipe(left)">
                                      <p:cBhvr>
                                        <p:cTn id="43" dur="1000"/>
                                        <p:tgtEl>
                                          <p:spTgt spid="66"/>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wipe(left)">
                                      <p:cBhvr>
                                        <p:cTn id="48" dur="1000"/>
                                        <p:tgtEl>
                                          <p:spTgt spid="5"/>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94"/>
                                        </p:tgtEl>
                                        <p:attrNameLst>
                                          <p:attrName>style.visibility</p:attrName>
                                        </p:attrNameLst>
                                      </p:cBhvr>
                                      <p:to>
                                        <p:strVal val="visible"/>
                                      </p:to>
                                    </p:set>
                                    <p:animEffect transition="in" filter="wipe(left)">
                                      <p:cBhvr>
                                        <p:cTn id="53" dur="1000"/>
                                        <p:tgtEl>
                                          <p:spTgt spid="94"/>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4"/>
                                        </p:tgtEl>
                                        <p:attrNameLst>
                                          <p:attrName>style.visibility</p:attrName>
                                        </p:attrNameLst>
                                      </p:cBhvr>
                                      <p:to>
                                        <p:strVal val="visible"/>
                                      </p:to>
                                    </p:set>
                                    <p:animEffect transition="in" filter="wipe(left)">
                                      <p:cBhvr>
                                        <p:cTn id="58" dur="1000"/>
                                        <p:tgtEl>
                                          <p:spTgt spid="4"/>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wipe(left)">
                                      <p:cBhvr>
                                        <p:cTn id="63" dur="1000"/>
                                        <p:tgtEl>
                                          <p:spTgt spid="20"/>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3"/>
                                        </p:tgtEl>
                                        <p:attrNameLst>
                                          <p:attrName>style.visibility</p:attrName>
                                        </p:attrNameLst>
                                      </p:cBhvr>
                                      <p:to>
                                        <p:strVal val="visible"/>
                                      </p:to>
                                    </p:set>
                                    <p:animEffect transition="in" filter="wipe(left)">
                                      <p:cBhvr>
                                        <p:cTn id="68" dur="1000"/>
                                        <p:tgtEl>
                                          <p:spTgt spid="3"/>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wipe(left)">
                                      <p:cBhvr>
                                        <p:cTn id="73" dur="1000"/>
                                        <p:tgtEl>
                                          <p:spTgt spid="23"/>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nodeType="clickEffect">
                                  <p:stCondLst>
                                    <p:cond delay="0"/>
                                  </p:stCondLst>
                                  <p:childTnLst>
                                    <p:set>
                                      <p:cBhvr>
                                        <p:cTn id="77" dur="1" fill="hold">
                                          <p:stCondLst>
                                            <p:cond delay="0"/>
                                          </p:stCondLst>
                                        </p:cTn>
                                        <p:tgtEl>
                                          <p:spTgt spid="16"/>
                                        </p:tgtEl>
                                        <p:attrNameLst>
                                          <p:attrName>style.visibility</p:attrName>
                                        </p:attrNameLst>
                                      </p:cBhvr>
                                      <p:to>
                                        <p:strVal val="visible"/>
                                      </p:to>
                                    </p:set>
                                    <p:animEffect transition="in" filter="wipe(left)">
                                      <p:cBhvr>
                                        <p:cTn id="78" dur="500"/>
                                        <p:tgtEl>
                                          <p:spTgt spid="16"/>
                                        </p:tgtEl>
                                      </p:cBhvr>
                                    </p:animEffect>
                                  </p:childTnLst>
                                </p:cTn>
                              </p:par>
                            </p:childTnLst>
                          </p:cTn>
                        </p:par>
                        <p:par>
                          <p:cTn id="79" fill="hold">
                            <p:stCondLst>
                              <p:cond delay="500"/>
                            </p:stCondLst>
                            <p:childTnLst>
                              <p:par>
                                <p:cTn id="80" presetID="22" presetClass="entr" presetSubtype="8" fill="hold" grpId="0" nodeType="afterEffect">
                                  <p:stCondLst>
                                    <p:cond delay="0"/>
                                  </p:stCondLst>
                                  <p:childTnLst>
                                    <p:set>
                                      <p:cBhvr>
                                        <p:cTn id="81" dur="1" fill="hold">
                                          <p:stCondLst>
                                            <p:cond delay="0"/>
                                          </p:stCondLst>
                                        </p:cTn>
                                        <p:tgtEl>
                                          <p:spTgt spid="97"/>
                                        </p:tgtEl>
                                        <p:attrNameLst>
                                          <p:attrName>style.visibility</p:attrName>
                                        </p:attrNameLst>
                                      </p:cBhvr>
                                      <p:to>
                                        <p:strVal val="visible"/>
                                      </p:to>
                                    </p:set>
                                    <p:animEffect transition="in" filter="wipe(left)">
                                      <p:cBhvr>
                                        <p:cTn id="82" dur="500"/>
                                        <p:tgtEl>
                                          <p:spTgt spid="97"/>
                                        </p:tgtEl>
                                      </p:cBhvr>
                                    </p:animEffect>
                                  </p:childTnLst>
                                </p:cTn>
                              </p:par>
                            </p:childTnLst>
                          </p:cTn>
                        </p:par>
                        <p:par>
                          <p:cTn id="83" fill="hold">
                            <p:stCondLst>
                              <p:cond delay="1000"/>
                            </p:stCondLst>
                            <p:childTnLst>
                              <p:par>
                                <p:cTn id="84" presetID="22" presetClass="entr" presetSubtype="8" fill="hold" nodeType="afterEffect">
                                  <p:stCondLst>
                                    <p:cond delay="0"/>
                                  </p:stCondLst>
                                  <p:childTnLst>
                                    <p:set>
                                      <p:cBhvr>
                                        <p:cTn id="85" dur="1" fill="hold">
                                          <p:stCondLst>
                                            <p:cond delay="0"/>
                                          </p:stCondLst>
                                        </p:cTn>
                                        <p:tgtEl>
                                          <p:spTgt spid="8"/>
                                        </p:tgtEl>
                                        <p:attrNameLst>
                                          <p:attrName>style.visibility</p:attrName>
                                        </p:attrNameLst>
                                      </p:cBhvr>
                                      <p:to>
                                        <p:strVal val="visible"/>
                                      </p:to>
                                    </p:set>
                                    <p:animEffect transition="in" filter="wipe(left)">
                                      <p:cBhvr>
                                        <p:cTn id="86" dur="500"/>
                                        <p:tgtEl>
                                          <p:spTgt spid="8"/>
                                        </p:tgtEl>
                                      </p:cBhvr>
                                    </p:animEffect>
                                  </p:childTnLst>
                                </p:cTn>
                              </p:par>
                            </p:childTnLst>
                          </p:cTn>
                        </p:par>
                        <p:par>
                          <p:cTn id="87" fill="hold">
                            <p:stCondLst>
                              <p:cond delay="1500"/>
                            </p:stCondLst>
                            <p:childTnLst>
                              <p:par>
                                <p:cTn id="88" presetID="22" presetClass="entr" presetSubtype="8" fill="hold" nodeType="afterEffect">
                                  <p:stCondLst>
                                    <p:cond delay="0"/>
                                  </p:stCondLst>
                                  <p:childTnLst>
                                    <p:set>
                                      <p:cBhvr>
                                        <p:cTn id="89" dur="1" fill="hold">
                                          <p:stCondLst>
                                            <p:cond delay="0"/>
                                          </p:stCondLst>
                                        </p:cTn>
                                        <p:tgtEl>
                                          <p:spTgt spid="19"/>
                                        </p:tgtEl>
                                        <p:attrNameLst>
                                          <p:attrName>style.visibility</p:attrName>
                                        </p:attrNameLst>
                                      </p:cBhvr>
                                      <p:to>
                                        <p:strVal val="visible"/>
                                      </p:to>
                                    </p:set>
                                    <p:animEffect transition="in" filter="wipe(left)">
                                      <p:cBhvr>
                                        <p:cTn id="90" dur="500"/>
                                        <p:tgtEl>
                                          <p:spTgt spid="19"/>
                                        </p:tgtEl>
                                      </p:cBhvr>
                                    </p:animEffect>
                                  </p:childTnLst>
                                </p:cTn>
                              </p:par>
                            </p:childTnLst>
                          </p:cTn>
                        </p:par>
                        <p:par>
                          <p:cTn id="91" fill="hold">
                            <p:stCondLst>
                              <p:cond delay="2000"/>
                            </p:stCondLst>
                            <p:childTnLst>
                              <p:par>
                                <p:cTn id="92" presetID="22" presetClass="entr" presetSubtype="8" fill="hold" nodeType="afterEffect">
                                  <p:stCondLst>
                                    <p:cond delay="0"/>
                                  </p:stCondLst>
                                  <p:childTnLst>
                                    <p:set>
                                      <p:cBhvr>
                                        <p:cTn id="93" dur="1" fill="hold">
                                          <p:stCondLst>
                                            <p:cond delay="0"/>
                                          </p:stCondLst>
                                        </p:cTn>
                                        <p:tgtEl>
                                          <p:spTgt spid="17"/>
                                        </p:tgtEl>
                                        <p:attrNameLst>
                                          <p:attrName>style.visibility</p:attrName>
                                        </p:attrNameLst>
                                      </p:cBhvr>
                                      <p:to>
                                        <p:strVal val="visible"/>
                                      </p:to>
                                    </p:set>
                                    <p:animEffect transition="in" filter="wipe(left)">
                                      <p:cBhvr>
                                        <p:cTn id="94" dur="500"/>
                                        <p:tgtEl>
                                          <p:spTgt spid="17"/>
                                        </p:tgtEl>
                                      </p:cBhvr>
                                    </p:animEffect>
                                  </p:childTnLst>
                                </p:cTn>
                              </p:par>
                            </p:childTnLst>
                          </p:cTn>
                        </p:par>
                        <p:par>
                          <p:cTn id="95" fill="hold">
                            <p:stCondLst>
                              <p:cond delay="2500"/>
                            </p:stCondLst>
                            <p:childTnLst>
                              <p:par>
                                <p:cTn id="96" presetID="22" presetClass="entr" presetSubtype="8" fill="hold" nodeType="afterEffect">
                                  <p:stCondLst>
                                    <p:cond delay="0"/>
                                  </p:stCondLst>
                                  <p:childTnLst>
                                    <p:set>
                                      <p:cBhvr>
                                        <p:cTn id="97" dur="1" fill="hold">
                                          <p:stCondLst>
                                            <p:cond delay="0"/>
                                          </p:stCondLst>
                                        </p:cTn>
                                        <p:tgtEl>
                                          <p:spTgt spid="21"/>
                                        </p:tgtEl>
                                        <p:attrNameLst>
                                          <p:attrName>style.visibility</p:attrName>
                                        </p:attrNameLst>
                                      </p:cBhvr>
                                      <p:to>
                                        <p:strVal val="visible"/>
                                      </p:to>
                                    </p:set>
                                    <p:animEffect transition="in" filter="wipe(left)">
                                      <p:cBhvr>
                                        <p:cTn id="98" dur="500"/>
                                        <p:tgtEl>
                                          <p:spTgt spid="21"/>
                                        </p:tgtEl>
                                      </p:cBhvr>
                                    </p:animEffect>
                                  </p:childTnLst>
                                </p:cTn>
                              </p:par>
                            </p:childTnLst>
                          </p:cTn>
                        </p:par>
                        <p:par>
                          <p:cTn id="99" fill="hold">
                            <p:stCondLst>
                              <p:cond delay="3000"/>
                            </p:stCondLst>
                            <p:childTnLst>
                              <p:par>
                                <p:cTn id="100" presetID="22" presetClass="entr" presetSubtype="8" fill="hold" nodeType="afterEffect">
                                  <p:stCondLst>
                                    <p:cond delay="0"/>
                                  </p:stCondLst>
                                  <p:childTnLst>
                                    <p:set>
                                      <p:cBhvr>
                                        <p:cTn id="101" dur="1" fill="hold">
                                          <p:stCondLst>
                                            <p:cond delay="0"/>
                                          </p:stCondLst>
                                        </p:cTn>
                                        <p:tgtEl>
                                          <p:spTgt spid="6"/>
                                        </p:tgtEl>
                                        <p:attrNameLst>
                                          <p:attrName>style.visibility</p:attrName>
                                        </p:attrNameLst>
                                      </p:cBhvr>
                                      <p:to>
                                        <p:strVal val="visible"/>
                                      </p:to>
                                    </p:set>
                                    <p:animEffect transition="in" filter="wipe(left)">
                                      <p:cBhvr>
                                        <p:cTn id="102" dur="500"/>
                                        <p:tgtEl>
                                          <p:spTgt spid="6"/>
                                        </p:tgtEl>
                                      </p:cBhvr>
                                    </p:animEffect>
                                  </p:childTnLst>
                                </p:cTn>
                              </p:par>
                            </p:childTnLst>
                          </p:cTn>
                        </p:par>
                        <p:par>
                          <p:cTn id="103" fill="hold">
                            <p:stCondLst>
                              <p:cond delay="3500"/>
                            </p:stCondLst>
                            <p:childTnLst>
                              <p:par>
                                <p:cTn id="104" presetID="22" presetClass="entr" presetSubtype="8" fill="hold" grpId="0" nodeType="afterEffect">
                                  <p:stCondLst>
                                    <p:cond delay="0"/>
                                  </p:stCondLst>
                                  <p:childTnLst>
                                    <p:set>
                                      <p:cBhvr>
                                        <p:cTn id="105" dur="1" fill="hold">
                                          <p:stCondLst>
                                            <p:cond delay="0"/>
                                          </p:stCondLst>
                                        </p:cTn>
                                        <p:tgtEl>
                                          <p:spTgt spid="100"/>
                                        </p:tgtEl>
                                        <p:attrNameLst>
                                          <p:attrName>style.visibility</p:attrName>
                                        </p:attrNameLst>
                                      </p:cBhvr>
                                      <p:to>
                                        <p:strVal val="visible"/>
                                      </p:to>
                                    </p:set>
                                    <p:animEffect transition="in" filter="wipe(left)">
                                      <p:cBhvr>
                                        <p:cTn id="106" dur="500"/>
                                        <p:tgtEl>
                                          <p:spTgt spid="100"/>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xit" presetSubtype="0" fill="hold" grpId="1" nodeType="clickEffect">
                                  <p:stCondLst>
                                    <p:cond delay="0"/>
                                  </p:stCondLst>
                                  <p:childTnLst>
                                    <p:set>
                                      <p:cBhvr>
                                        <p:cTn id="110" dur="1" fill="hold">
                                          <p:stCondLst>
                                            <p:cond delay="0"/>
                                          </p:stCondLst>
                                        </p:cTn>
                                        <p:tgtEl>
                                          <p:spTgt spid="110"/>
                                        </p:tgtEl>
                                        <p:attrNameLst>
                                          <p:attrName>style.visibility</p:attrName>
                                        </p:attrNameLst>
                                      </p:cBhvr>
                                      <p:to>
                                        <p:strVal val="hidden"/>
                                      </p:to>
                                    </p:set>
                                  </p:childTnLst>
                                </p:cTn>
                              </p:par>
                            </p:childTnLst>
                          </p:cTn>
                        </p:par>
                        <p:par>
                          <p:cTn id="111" fill="hold">
                            <p:stCondLst>
                              <p:cond delay="0"/>
                            </p:stCondLst>
                            <p:childTnLst>
                              <p:par>
                                <p:cTn id="112" presetID="12" presetClass="entr" presetSubtype="2" fill="hold" nodeType="afterEffect">
                                  <p:stCondLst>
                                    <p:cond delay="0"/>
                                  </p:stCondLst>
                                  <p:childTnLst>
                                    <p:set>
                                      <p:cBhvr>
                                        <p:cTn id="113" dur="1" fill="hold">
                                          <p:stCondLst>
                                            <p:cond delay="0"/>
                                          </p:stCondLst>
                                        </p:cTn>
                                        <p:tgtEl>
                                          <p:spTgt spid="105"/>
                                        </p:tgtEl>
                                        <p:attrNameLst>
                                          <p:attrName>style.visibility</p:attrName>
                                        </p:attrNameLst>
                                      </p:cBhvr>
                                      <p:to>
                                        <p:strVal val="visible"/>
                                      </p:to>
                                    </p:set>
                                    <p:animEffect transition="in" filter="slide(fromRight)">
                                      <p:cBhvr>
                                        <p:cTn id="114" dur="1000"/>
                                        <p:tgtEl>
                                          <p:spTgt spid="105"/>
                                        </p:tgtEl>
                                      </p:cBhvr>
                                    </p:animEffect>
                                  </p:childTnLst>
                                </p:cTn>
                              </p:par>
                            </p:childTnLst>
                          </p:cTn>
                        </p:par>
                      </p:childTnLst>
                    </p:cTn>
                  </p:par>
                  <p:par>
                    <p:cTn id="115" fill="hold">
                      <p:stCondLst>
                        <p:cond delay="indefinite"/>
                      </p:stCondLst>
                      <p:childTnLst>
                        <p:par>
                          <p:cTn id="116" fill="hold">
                            <p:stCondLst>
                              <p:cond delay="0"/>
                            </p:stCondLst>
                            <p:childTnLst>
                              <p:par>
                                <p:cTn id="117" presetID="22" presetClass="entr" presetSubtype="4" fill="hold" nodeType="clickEffect">
                                  <p:stCondLst>
                                    <p:cond delay="0"/>
                                  </p:stCondLst>
                                  <p:childTnLst>
                                    <p:set>
                                      <p:cBhvr>
                                        <p:cTn id="118" dur="1" fill="hold">
                                          <p:stCondLst>
                                            <p:cond delay="0"/>
                                          </p:stCondLst>
                                        </p:cTn>
                                        <p:tgtEl>
                                          <p:spTgt spid="72"/>
                                        </p:tgtEl>
                                        <p:attrNameLst>
                                          <p:attrName>style.visibility</p:attrName>
                                        </p:attrNameLst>
                                      </p:cBhvr>
                                      <p:to>
                                        <p:strVal val="visible"/>
                                      </p:to>
                                    </p:set>
                                    <p:animEffect transition="in" filter="wipe(down)">
                                      <p:cBhvr>
                                        <p:cTn id="119" dur="500"/>
                                        <p:tgtEl>
                                          <p:spTgt spid="72"/>
                                        </p:tgtEl>
                                      </p:cBhvr>
                                    </p:animEffect>
                                  </p:childTnLst>
                                </p:cTn>
                              </p:par>
                            </p:childTnLst>
                          </p:cTn>
                        </p:par>
                      </p:childTnLst>
                    </p:cTn>
                  </p:par>
                  <p:par>
                    <p:cTn id="120" fill="hold">
                      <p:stCondLst>
                        <p:cond delay="indefinite"/>
                      </p:stCondLst>
                      <p:childTnLst>
                        <p:par>
                          <p:cTn id="121" fill="hold">
                            <p:stCondLst>
                              <p:cond delay="0"/>
                            </p:stCondLst>
                            <p:childTnLst>
                              <p:par>
                                <p:cTn id="122" presetID="22" presetClass="entr" presetSubtype="1" fill="hold" grpId="0" nodeType="clickEffect">
                                  <p:stCondLst>
                                    <p:cond delay="0"/>
                                  </p:stCondLst>
                                  <p:childTnLst>
                                    <p:set>
                                      <p:cBhvr>
                                        <p:cTn id="123" dur="1" fill="hold">
                                          <p:stCondLst>
                                            <p:cond delay="0"/>
                                          </p:stCondLst>
                                        </p:cTn>
                                        <p:tgtEl>
                                          <p:spTgt spid="79"/>
                                        </p:tgtEl>
                                        <p:attrNameLst>
                                          <p:attrName>style.visibility</p:attrName>
                                        </p:attrNameLst>
                                      </p:cBhvr>
                                      <p:to>
                                        <p:strVal val="visible"/>
                                      </p:to>
                                    </p:set>
                                    <p:animEffect transition="in" filter="wipe(up)">
                                      <p:cBhvr>
                                        <p:cTn id="124" dur="10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animBg="1"/>
      <p:bldP spid="37" grpId="0" animBg="1"/>
      <p:bldP spid="66" grpId="0" animBg="1"/>
      <p:bldP spid="97" grpId="0" animBg="1"/>
      <p:bldP spid="100" grpId="0" animBg="1"/>
      <p:bldP spid="94" grpId="0" animBg="1"/>
      <p:bldP spid="110" grpId="0" animBg="1"/>
      <p:bldP spid="110" grpId="1" animBg="1"/>
      <p:bldP spid="79"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61"/>
          <p:cNvGrpSpPr/>
          <p:nvPr/>
        </p:nvGrpSpPr>
        <p:grpSpPr>
          <a:xfrm>
            <a:off x="654318" y="2334067"/>
            <a:ext cx="2355582" cy="1183833"/>
            <a:chOff x="4902468" y="2918267"/>
            <a:chExt cx="2355582" cy="1183833"/>
          </a:xfrm>
        </p:grpSpPr>
        <p:sp>
          <p:nvSpPr>
            <p:cNvPr id="63" name="圆角矩形 62"/>
            <p:cNvSpPr/>
            <p:nvPr/>
          </p:nvSpPr>
          <p:spPr>
            <a:xfrm>
              <a:off x="5011054" y="3069919"/>
              <a:ext cx="2246996" cy="1032181"/>
            </a:xfrm>
            <a:prstGeom prst="roundRect">
              <a:avLst>
                <a:gd name="adj" fmla="val 4386"/>
              </a:avLst>
            </a:prstGeom>
            <a:solidFill>
              <a:schemeClr val="bg1"/>
            </a:solidFill>
            <a:ln w="28575">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600" dirty="0">
                  <a:solidFill>
                    <a:schemeClr val="tx1"/>
                  </a:solidFill>
                  <a:latin typeface="黑体" panose="02010609060101010101" pitchFamily="49" charset="-122"/>
                  <a:ea typeface="黑体" panose="02010609060101010101" pitchFamily="49" charset="-122"/>
                </a:rPr>
                <a:t>一个数据选择器只能实现一个逻辑函数。实现多输出逻辑函数需要多片数据选择器。</a:t>
              </a:r>
              <a:endParaRPr lang="zh-CN" altLang="en-US" sz="1600" dirty="0">
                <a:solidFill>
                  <a:schemeClr val="tx1"/>
                </a:solidFill>
                <a:latin typeface="微软雅黑" panose="020B0503020204020204" pitchFamily="34" charset="-122"/>
                <a:ea typeface="微软雅黑" panose="020B0503020204020204" pitchFamily="34" charset="-122"/>
              </a:endParaRPr>
            </a:p>
          </p:txBody>
        </p:sp>
        <p:pic>
          <p:nvPicPr>
            <p:cNvPr id="64" name="Picture 5"/>
            <p:cNvPicPr>
              <a:picLocks noChangeAspect="1" noChangeArrowheads="1"/>
            </p:cNvPicPr>
            <p:nvPr/>
          </p:nvPicPr>
          <p:blipFill>
            <a:blip r:embed="rId1" cstate="print"/>
            <a:srcRect/>
            <a:stretch>
              <a:fillRect/>
            </a:stretch>
          </p:blipFill>
          <p:spPr bwMode="auto">
            <a:xfrm>
              <a:off x="4902468" y="2918267"/>
              <a:ext cx="371060" cy="297180"/>
            </a:xfrm>
            <a:prstGeom prst="rect">
              <a:avLst/>
            </a:prstGeom>
            <a:noFill/>
            <a:ln w="9525">
              <a:noFill/>
              <a:miter lim="800000"/>
              <a:headEnd/>
              <a:tailEnd/>
            </a:ln>
          </p:spPr>
        </p:pic>
      </p:grpSp>
      <p:sp>
        <p:nvSpPr>
          <p:cNvPr id="47" name="Rectangle 27"/>
          <p:cNvSpPr>
            <a:spLocks noChangeArrowheads="1"/>
          </p:cNvSpPr>
          <p:nvPr/>
        </p:nvSpPr>
        <p:spPr bwMode="auto">
          <a:xfrm>
            <a:off x="577511" y="1237292"/>
            <a:ext cx="3018212" cy="369332"/>
          </a:xfrm>
          <a:prstGeom prst="rect">
            <a:avLst/>
          </a:prstGeom>
          <a:noFill/>
          <a:ln w="9525" algn="ctr">
            <a:noFill/>
            <a:miter lim="800000"/>
          </a:ln>
          <a:effectLst/>
        </p:spPr>
        <p:txBody>
          <a:bodyPr wrap="square" lIns="0" rIns="0">
            <a:spAutoFit/>
          </a:bodyPr>
          <a:lstStyle/>
          <a:p>
            <a:pPr>
              <a:defRPr/>
            </a:pPr>
            <a:r>
              <a:rPr lang="en-US" altLang="zh-CN" b="1" dirty="0">
                <a:solidFill>
                  <a:srgbClr val="6600FF"/>
                </a:solidFill>
                <a:latin typeface="黑体" panose="02010609060101010101" pitchFamily="49" charset="-122"/>
                <a:ea typeface="黑体" panose="02010609060101010101" pitchFamily="49" charset="-122"/>
              </a:rPr>
              <a:t>2</a:t>
            </a:r>
            <a:r>
              <a:rPr lang="zh-CN" altLang="en-US" b="1" dirty="0">
                <a:solidFill>
                  <a:srgbClr val="6600FF"/>
                </a:solidFill>
                <a:latin typeface="黑体" panose="02010609060101010101" pitchFamily="49" charset="-122"/>
                <a:ea typeface="黑体" panose="02010609060101010101" pitchFamily="49" charset="-122"/>
              </a:rPr>
              <a:t>、实现组合逻辑函数</a:t>
            </a:r>
            <a:endParaRPr lang="zh-CN" altLang="en-US" b="1" dirty="0">
              <a:solidFill>
                <a:srgbClr val="6600FF"/>
              </a:solidFill>
              <a:latin typeface="黑体" panose="02010609060101010101" pitchFamily="49" charset="-122"/>
              <a:ea typeface="黑体" panose="02010609060101010101" pitchFamily="49" charset="-122"/>
            </a:endParaRPr>
          </a:p>
        </p:txBody>
      </p:sp>
      <p:grpSp>
        <p:nvGrpSpPr>
          <p:cNvPr id="3" name="组合 17"/>
          <p:cNvGrpSpPr/>
          <p:nvPr/>
        </p:nvGrpSpPr>
        <p:grpSpPr>
          <a:xfrm>
            <a:off x="392432" y="769746"/>
            <a:ext cx="4933552" cy="420971"/>
            <a:chOff x="670560" y="892917"/>
            <a:chExt cx="4933552" cy="420971"/>
          </a:xfrm>
        </p:grpSpPr>
        <p:sp>
          <p:nvSpPr>
            <p:cNvPr id="57" name="矩形 56"/>
            <p:cNvSpPr/>
            <p:nvPr/>
          </p:nvSpPr>
          <p:spPr>
            <a:xfrm>
              <a:off x="1035233" y="913778"/>
              <a:ext cx="4568879"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集成数据选择器的应用（</a:t>
              </a:r>
              <a:r>
                <a:rPr lang="en-US" altLang="zh-CN" sz="2000" b="1" dirty="0">
                  <a:solidFill>
                    <a:srgbClr val="FF00FF"/>
                  </a:solidFill>
                  <a:latin typeface="微软雅黑" panose="020B0503020204020204" pitchFamily="34" charset="-122"/>
                  <a:ea typeface="微软雅黑" panose="020B0503020204020204" pitchFamily="34" charset="-122"/>
                </a:rPr>
                <a:t>74151</a:t>
              </a:r>
              <a:r>
                <a:rPr lang="zh-CN" altLang="en-US" sz="2000" b="1" dirty="0">
                  <a:solidFill>
                    <a:srgbClr val="FF00FF"/>
                  </a:solidFill>
                  <a:latin typeface="微软雅黑" panose="020B0503020204020204" pitchFamily="34" charset="-122"/>
                  <a:ea typeface="微软雅黑" panose="020B0503020204020204" pitchFamily="34" charset="-122"/>
                </a:rPr>
                <a:t>为例</a:t>
              </a:r>
              <a:r>
                <a:rPr lang="zh-CN" altLang="en-US" sz="2000" b="1" dirty="0">
                  <a:solidFill>
                    <a:srgbClr val="002060"/>
                  </a:solidFill>
                  <a:latin typeface="微软雅黑" panose="020B0503020204020204" pitchFamily="34" charset="-122"/>
                  <a:ea typeface="微软雅黑" panose="020B0503020204020204" pitchFamily="34" charset="-122"/>
                </a:rPr>
                <a: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58" name="Picture 3"/>
            <p:cNvPicPr>
              <a:picLocks noChangeAspect="1" noChangeArrowheads="1"/>
            </p:cNvPicPr>
            <p:nvPr/>
          </p:nvPicPr>
          <p:blipFill>
            <a:blip r:embed="rId2"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4" name="组合 72"/>
          <p:cNvGrpSpPr/>
          <p:nvPr/>
        </p:nvGrpSpPr>
        <p:grpSpPr>
          <a:xfrm>
            <a:off x="628532" y="1616150"/>
            <a:ext cx="7302618" cy="517450"/>
            <a:chOff x="545982" y="4137100"/>
            <a:chExt cx="7302618" cy="517450"/>
          </a:xfrm>
        </p:grpSpPr>
        <p:sp>
          <p:nvSpPr>
            <p:cNvPr id="74" name="圆角矩形 73"/>
            <p:cNvSpPr/>
            <p:nvPr/>
          </p:nvSpPr>
          <p:spPr>
            <a:xfrm>
              <a:off x="712105" y="4276419"/>
              <a:ext cx="4920345" cy="378131"/>
            </a:xfrm>
            <a:prstGeom prst="roundRect">
              <a:avLst>
                <a:gd name="adj" fmla="val 4386"/>
              </a:avLst>
            </a:prstGeom>
            <a:solidFill>
              <a:schemeClr val="bg1"/>
            </a:solidFill>
            <a:ln w="28575">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8900"/>
              <a:endParaRPr lang="zh-CN" altLang="en-US" sz="1600" dirty="0">
                <a:solidFill>
                  <a:schemeClr val="tx1"/>
                </a:solidFill>
                <a:latin typeface="微软雅黑" panose="020B0503020204020204" pitchFamily="34" charset="-122"/>
                <a:ea typeface="微软雅黑" panose="020B0503020204020204" pitchFamily="34" charset="-122"/>
              </a:endParaRPr>
            </a:p>
          </p:txBody>
        </p:sp>
        <p:sp>
          <p:nvSpPr>
            <p:cNvPr id="75" name="矩形 74"/>
            <p:cNvSpPr/>
            <p:nvPr/>
          </p:nvSpPr>
          <p:spPr>
            <a:xfrm>
              <a:off x="865569" y="4304609"/>
              <a:ext cx="6983031" cy="307777"/>
            </a:xfrm>
            <a:prstGeom prst="rect">
              <a:avLst/>
            </a:prstGeom>
          </p:spPr>
          <p:txBody>
            <a:bodyPr wrap="square">
              <a:spAutoFit/>
            </a:bodyPr>
            <a:lstStyle/>
            <a:p>
              <a:pPr marL="984250" indent="-984250"/>
              <a:r>
                <a:rPr lang="zh-CN" altLang="en-US" sz="1400" b="1" dirty="0">
                  <a:solidFill>
                    <a:srgbClr val="002060"/>
                  </a:solidFill>
                  <a:latin typeface="微软雅黑" panose="020B0503020204020204" pitchFamily="34" charset="-122"/>
                  <a:ea typeface="微软雅黑" panose="020B0503020204020204" pitchFamily="34" charset="-122"/>
                </a:rPr>
                <a:t>如何用数据选择器实现一个具有多输出的组合逻辑函数？</a:t>
              </a:r>
              <a:endParaRPr lang="zh-CN" altLang="en-US" sz="1400" b="1" dirty="0">
                <a:solidFill>
                  <a:srgbClr val="002060"/>
                </a:solidFill>
                <a:latin typeface="微软雅黑" panose="020B0503020204020204" pitchFamily="34" charset="-122"/>
                <a:ea typeface="微软雅黑" panose="020B0503020204020204" pitchFamily="34" charset="-122"/>
              </a:endParaRPr>
            </a:p>
          </p:txBody>
        </p:sp>
        <p:pic>
          <p:nvPicPr>
            <p:cNvPr id="76" name="Picture 6" descr="http://img2.imgtn.bdimg.com/it/u=2409490321,577685329&amp;fm=200&amp;gp=0.jpg"/>
            <p:cNvPicPr>
              <a:picLocks noChangeAspect="1" noChangeArrowheads="1"/>
            </p:cNvPicPr>
            <p:nvPr/>
          </p:nvPicPr>
          <p:blipFill>
            <a:blip r:embed="rId3" cstate="print"/>
            <a:srcRect l="11058" t="9628" r="11439" b="12583"/>
            <a:stretch>
              <a:fillRect/>
            </a:stretch>
          </p:blipFill>
          <p:spPr bwMode="auto">
            <a:xfrm>
              <a:off x="545982" y="4137100"/>
              <a:ext cx="381000" cy="382406"/>
            </a:xfrm>
            <a:prstGeom prst="rect">
              <a:avLst/>
            </a:prstGeom>
            <a:noFill/>
          </p:spPr>
        </p:pic>
      </p:grpSp>
      <p:grpSp>
        <p:nvGrpSpPr>
          <p:cNvPr id="5" name="组合 142"/>
          <p:cNvGrpSpPr/>
          <p:nvPr/>
        </p:nvGrpSpPr>
        <p:grpSpPr>
          <a:xfrm>
            <a:off x="3651250" y="3448051"/>
            <a:ext cx="2343150" cy="628650"/>
            <a:chOff x="1460500" y="3511550"/>
            <a:chExt cx="2724150" cy="774701"/>
          </a:xfrm>
        </p:grpSpPr>
        <p:graphicFrame>
          <p:nvGraphicFramePr>
            <p:cNvPr id="23" name="Object 11"/>
            <p:cNvGraphicFramePr>
              <a:graphicFrameLocks noChangeAspect="1"/>
            </p:cNvGraphicFramePr>
            <p:nvPr/>
          </p:nvGraphicFramePr>
          <p:xfrm>
            <a:off x="1460500" y="3511550"/>
            <a:ext cx="2724150" cy="698500"/>
          </p:xfrm>
          <a:graphic>
            <a:graphicData uri="http://schemas.openxmlformats.org/presentationml/2006/ole">
              <mc:AlternateContent xmlns:mc="http://schemas.openxmlformats.org/markup-compatibility/2006">
                <mc:Choice xmlns:v="urn:schemas-microsoft-com:vml" Requires="v">
                  <p:oleObj spid="_x0000_s61474" name="Visio" r:id="rId4" imgW="1371600" imgH="418465" progId="Visio.Drawing.11">
                    <p:embed/>
                  </p:oleObj>
                </mc:Choice>
                <mc:Fallback>
                  <p:oleObj name="Visio" r:id="rId4" imgW="1371600" imgH="418465" progId="Visio.Drawing.11">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60500" y="3511550"/>
                          <a:ext cx="2724150" cy="6985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sp>
          <p:nvSpPr>
            <p:cNvPr id="141" name="圆角矩形 140"/>
            <p:cNvSpPr/>
            <p:nvPr/>
          </p:nvSpPr>
          <p:spPr>
            <a:xfrm>
              <a:off x="1619250" y="3783965"/>
              <a:ext cx="2533650" cy="502286"/>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6" name="组合 141"/>
          <p:cNvGrpSpPr/>
          <p:nvPr/>
        </p:nvGrpSpPr>
        <p:grpSpPr>
          <a:xfrm>
            <a:off x="6375400" y="3448051"/>
            <a:ext cx="2343150" cy="628650"/>
            <a:chOff x="4591050" y="3511550"/>
            <a:chExt cx="2724150" cy="774701"/>
          </a:xfrm>
        </p:grpSpPr>
        <p:graphicFrame>
          <p:nvGraphicFramePr>
            <p:cNvPr id="28" name="Object 13"/>
            <p:cNvGraphicFramePr>
              <a:graphicFrameLocks noChangeAspect="1"/>
            </p:cNvGraphicFramePr>
            <p:nvPr/>
          </p:nvGraphicFramePr>
          <p:xfrm>
            <a:off x="4591050" y="3511550"/>
            <a:ext cx="2724150" cy="698500"/>
          </p:xfrm>
          <a:graphic>
            <a:graphicData uri="http://schemas.openxmlformats.org/presentationml/2006/ole">
              <mc:AlternateContent xmlns:mc="http://schemas.openxmlformats.org/markup-compatibility/2006">
                <mc:Choice xmlns:v="urn:schemas-microsoft-com:vml" Requires="v">
                  <p:oleObj spid="_x0000_s61475" name="Visio" r:id="rId6" imgW="1371600" imgH="418465" progId="Visio.Drawing.11">
                    <p:embed/>
                  </p:oleObj>
                </mc:Choice>
                <mc:Fallback>
                  <p:oleObj name="Visio" r:id="rId6" imgW="1371600" imgH="418465" progId="Visio.Drawing.11">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91050" y="3511550"/>
                          <a:ext cx="2724150" cy="6985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sp>
          <p:nvSpPr>
            <p:cNvPr id="140" name="圆角矩形 139"/>
            <p:cNvSpPr/>
            <p:nvPr/>
          </p:nvSpPr>
          <p:spPr>
            <a:xfrm>
              <a:off x="4781550" y="3783965"/>
              <a:ext cx="2533650" cy="502286"/>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 name="组合 70"/>
          <p:cNvGrpSpPr/>
          <p:nvPr/>
        </p:nvGrpSpPr>
        <p:grpSpPr>
          <a:xfrm>
            <a:off x="3651250" y="2286000"/>
            <a:ext cx="5067300" cy="1358323"/>
            <a:chOff x="3651250" y="2286000"/>
            <a:chExt cx="5067300" cy="1358323"/>
          </a:xfrm>
        </p:grpSpPr>
        <p:graphicFrame>
          <p:nvGraphicFramePr>
            <p:cNvPr id="27" name="Object 11"/>
            <p:cNvGraphicFramePr>
              <a:graphicFrameLocks noChangeAspect="1"/>
            </p:cNvGraphicFramePr>
            <p:nvPr/>
          </p:nvGraphicFramePr>
          <p:xfrm>
            <a:off x="6375400" y="2508250"/>
            <a:ext cx="2343150" cy="1136073"/>
          </p:xfrm>
          <a:graphic>
            <a:graphicData uri="http://schemas.openxmlformats.org/presentationml/2006/ole">
              <mc:AlternateContent xmlns:mc="http://schemas.openxmlformats.org/markup-compatibility/2006">
                <mc:Choice xmlns:v="urn:schemas-microsoft-com:vml" Requires="v">
                  <p:oleObj spid="_x0000_s61476" name="Visio" r:id="rId8" imgW="1371600" imgH="778510" progId="Visio.Drawing.11">
                    <p:embed/>
                  </p:oleObj>
                </mc:Choice>
                <mc:Fallback>
                  <p:oleObj name="Visio" r:id="rId8" imgW="1371600" imgH="778510" progId="Visio.Drawing.11">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75400" y="2508250"/>
                          <a:ext cx="2343150" cy="113607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aphicFrame>
          <p:nvGraphicFramePr>
            <p:cNvPr id="85" name="Object 11"/>
            <p:cNvGraphicFramePr>
              <a:graphicFrameLocks noChangeAspect="1"/>
            </p:cNvGraphicFramePr>
            <p:nvPr/>
          </p:nvGraphicFramePr>
          <p:xfrm>
            <a:off x="3651250" y="2508250"/>
            <a:ext cx="2343150" cy="1136073"/>
          </p:xfrm>
          <a:graphic>
            <a:graphicData uri="http://schemas.openxmlformats.org/presentationml/2006/ole">
              <mc:AlternateContent xmlns:mc="http://schemas.openxmlformats.org/markup-compatibility/2006">
                <mc:Choice xmlns:v="urn:schemas-microsoft-com:vml" Requires="v">
                  <p:oleObj spid="_x0000_s61477" name="Visio" r:id="rId10" imgW="1371600" imgH="778510" progId="Visio.Drawing.11">
                    <p:embed/>
                  </p:oleObj>
                </mc:Choice>
                <mc:Fallback>
                  <p:oleObj name="Visio" r:id="rId10" imgW="1371600" imgH="778510" progId="Visio.Drawing.11">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51250" y="2508250"/>
                          <a:ext cx="2343150" cy="113607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nvGrpSpPr>
            <p:cNvPr id="8" name="组合 134"/>
            <p:cNvGrpSpPr/>
            <p:nvPr/>
          </p:nvGrpSpPr>
          <p:grpSpPr>
            <a:xfrm>
              <a:off x="4860290" y="2286000"/>
              <a:ext cx="334010" cy="276999"/>
              <a:chOff x="2910840" y="2241550"/>
              <a:chExt cx="334010" cy="276999"/>
            </a:xfrm>
          </p:grpSpPr>
          <p:sp>
            <p:nvSpPr>
              <p:cNvPr id="133" name="TextBox 132"/>
              <p:cNvSpPr txBox="1"/>
              <p:nvPr/>
            </p:nvSpPr>
            <p:spPr>
              <a:xfrm>
                <a:off x="2915147" y="2241550"/>
                <a:ext cx="298479" cy="276999"/>
              </a:xfrm>
              <a:prstGeom prst="rect">
                <a:avLst/>
              </a:prstGeom>
              <a:noFill/>
            </p:spPr>
            <p:txBody>
              <a:bodyPr wrap="none" rtlCol="0">
                <a:spAutoFit/>
              </a:bodyPr>
              <a:lstStyle/>
              <a:p>
                <a:pPr algn="ctr"/>
                <a:r>
                  <a:rPr lang="en-US" altLang="zh-CN" sz="1200" b="1" i="1" dirty="0">
                    <a:latin typeface="Times New Roman" panose="02020603050405020304" pitchFamily="18" charset="0"/>
                    <a:cs typeface="Times New Roman" panose="02020603050405020304" pitchFamily="18" charset="0"/>
                  </a:rPr>
                  <a:t>S</a:t>
                </a:r>
                <a:r>
                  <a:rPr lang="en-US" altLang="zh-CN" sz="1200" b="1" baseline="-25000" dirty="0">
                    <a:latin typeface="Times New Roman" panose="02020603050405020304" pitchFamily="18" charset="0"/>
                    <a:cs typeface="Times New Roman" panose="02020603050405020304" pitchFamily="18" charset="0"/>
                  </a:rPr>
                  <a:t>i</a:t>
                </a:r>
                <a:endParaRPr lang="en-US" altLang="zh-CN" sz="1200" b="1" baseline="-25000" dirty="0">
                  <a:latin typeface="Times New Roman" panose="02020603050405020304" pitchFamily="18" charset="0"/>
                  <a:cs typeface="Times New Roman" panose="02020603050405020304" pitchFamily="18" charset="0"/>
                </a:endParaRPr>
              </a:p>
            </p:txBody>
          </p:sp>
          <p:sp>
            <p:nvSpPr>
              <p:cNvPr id="134" name="圆角矩形 133"/>
              <p:cNvSpPr/>
              <p:nvPr/>
            </p:nvSpPr>
            <p:spPr>
              <a:xfrm>
                <a:off x="2910840" y="2269490"/>
                <a:ext cx="334010" cy="245110"/>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138"/>
            <p:cNvGrpSpPr/>
            <p:nvPr/>
          </p:nvGrpSpPr>
          <p:grpSpPr>
            <a:xfrm>
              <a:off x="7586280" y="2286000"/>
              <a:ext cx="338520" cy="276999"/>
              <a:chOff x="6024180" y="2209800"/>
              <a:chExt cx="338520" cy="276999"/>
            </a:xfrm>
          </p:grpSpPr>
          <p:sp>
            <p:nvSpPr>
              <p:cNvPr id="137" name="TextBox 136"/>
              <p:cNvSpPr txBox="1"/>
              <p:nvPr/>
            </p:nvSpPr>
            <p:spPr>
              <a:xfrm>
                <a:off x="6024180" y="2209800"/>
                <a:ext cx="316113" cy="276999"/>
              </a:xfrm>
              <a:prstGeom prst="rect">
                <a:avLst/>
              </a:prstGeom>
              <a:noFill/>
            </p:spPr>
            <p:txBody>
              <a:bodyPr wrap="none" rtlCol="0">
                <a:spAutoFit/>
              </a:bodyPr>
              <a:lstStyle/>
              <a:p>
                <a:pPr algn="ctr"/>
                <a:r>
                  <a:rPr lang="en-US" altLang="zh-CN" sz="1200" b="1" i="1" dirty="0" err="1">
                    <a:latin typeface="Times New Roman" panose="02020603050405020304" pitchFamily="18" charset="0"/>
                    <a:cs typeface="Times New Roman" panose="02020603050405020304" pitchFamily="18" charset="0"/>
                  </a:rPr>
                  <a:t>C</a:t>
                </a:r>
                <a:r>
                  <a:rPr lang="en-US" altLang="zh-CN" sz="1200" b="1" baseline="-25000" dirty="0" err="1">
                    <a:latin typeface="Times New Roman" panose="02020603050405020304" pitchFamily="18" charset="0"/>
                    <a:cs typeface="Times New Roman" panose="02020603050405020304" pitchFamily="18" charset="0"/>
                  </a:rPr>
                  <a:t>i</a:t>
                </a:r>
                <a:endParaRPr lang="en-US" altLang="zh-CN" sz="1200" b="1" baseline="-25000" dirty="0">
                  <a:latin typeface="Times New Roman" panose="02020603050405020304" pitchFamily="18" charset="0"/>
                  <a:cs typeface="Times New Roman" panose="02020603050405020304" pitchFamily="18" charset="0"/>
                </a:endParaRPr>
              </a:p>
            </p:txBody>
          </p:sp>
          <p:sp>
            <p:nvSpPr>
              <p:cNvPr id="138" name="圆角矩形 137"/>
              <p:cNvSpPr/>
              <p:nvPr/>
            </p:nvSpPr>
            <p:spPr>
              <a:xfrm>
                <a:off x="6028690" y="2231390"/>
                <a:ext cx="334010" cy="245110"/>
              </a:xfrm>
              <a:prstGeom prst="roundRect">
                <a:avLst>
                  <a:gd name="adj" fmla="val 7018"/>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10" name="组合 143"/>
          <p:cNvGrpSpPr/>
          <p:nvPr/>
        </p:nvGrpSpPr>
        <p:grpSpPr>
          <a:xfrm>
            <a:off x="6946068" y="813794"/>
            <a:ext cx="1702154" cy="1281483"/>
            <a:chOff x="7155618" y="3772894"/>
            <a:chExt cx="1702154" cy="1281483"/>
          </a:xfrm>
        </p:grpSpPr>
        <p:grpSp>
          <p:nvGrpSpPr>
            <p:cNvPr id="11" name="组合 89"/>
            <p:cNvGrpSpPr/>
            <p:nvPr/>
          </p:nvGrpSpPr>
          <p:grpSpPr>
            <a:xfrm>
              <a:off x="7155618" y="3919984"/>
              <a:ext cx="1702154" cy="1134393"/>
              <a:chOff x="6952842" y="3741064"/>
              <a:chExt cx="1702154" cy="1134393"/>
            </a:xfrm>
          </p:grpSpPr>
          <p:sp>
            <p:nvSpPr>
              <p:cNvPr id="147" name="圆角矩形 146"/>
              <p:cNvSpPr/>
              <p:nvPr/>
            </p:nvSpPr>
            <p:spPr>
              <a:xfrm>
                <a:off x="6952842" y="3741064"/>
                <a:ext cx="1702154" cy="1134393"/>
              </a:xfrm>
              <a:prstGeom prst="roundRect">
                <a:avLst>
                  <a:gd name="adj" fmla="val 4849"/>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 name="组合 85"/>
              <p:cNvGrpSpPr/>
              <p:nvPr/>
            </p:nvGrpSpPr>
            <p:grpSpPr>
              <a:xfrm>
                <a:off x="7390751" y="4306866"/>
                <a:ext cx="864000" cy="336605"/>
                <a:chOff x="7343039" y="4306866"/>
                <a:chExt cx="864000" cy="336605"/>
              </a:xfrm>
            </p:grpSpPr>
            <p:cxnSp>
              <p:nvCxnSpPr>
                <p:cNvPr id="153" name="直接连接符 152"/>
                <p:cNvCxnSpPr/>
                <p:nvPr/>
              </p:nvCxnSpPr>
              <p:spPr>
                <a:xfrm>
                  <a:off x="7343039" y="4643471"/>
                  <a:ext cx="864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a:off x="7343039" y="4306866"/>
                  <a:ext cx="864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7343039" y="4475169"/>
                  <a:ext cx="576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49" name="Rectangle 7"/>
              <p:cNvSpPr>
                <a:spLocks noChangeArrowheads="1"/>
              </p:cNvSpPr>
              <p:nvPr/>
            </p:nvSpPr>
            <p:spPr bwMode="auto">
              <a:xfrm>
                <a:off x="7627914" y="4189670"/>
                <a:ext cx="430733" cy="579798"/>
              </a:xfrm>
              <a:prstGeom prst="rect">
                <a:avLst/>
              </a:prstGeom>
              <a:solidFill>
                <a:srgbClr val="FFFF00"/>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Ʃ</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150" name="TextBox 149"/>
              <p:cNvSpPr txBox="1"/>
              <p:nvPr/>
            </p:nvSpPr>
            <p:spPr>
              <a:xfrm>
                <a:off x="7657143" y="4534907"/>
                <a:ext cx="385638" cy="169277"/>
              </a:xfrm>
              <a:prstGeom prst="rect">
                <a:avLst/>
              </a:prstGeom>
              <a:noFill/>
            </p:spPr>
            <p:txBody>
              <a:bodyPr wrap="square" lIns="0" tIns="0" rIns="0" bIns="0" rtlCol="0">
                <a:spAutoFit/>
              </a:bodyPr>
              <a:lstStyle/>
              <a:p>
                <a:r>
                  <a:rPr lang="en-US" altLang="zh-CN" sz="1100" b="1" dirty="0">
                    <a:latin typeface="宋体" panose="02010600030101010101" pitchFamily="2" charset="-122"/>
                    <a:ea typeface="宋体" panose="02010600030101010101" pitchFamily="2" charset="-122"/>
                    <a:cs typeface="Times New Roman" panose="02020603050405020304" pitchFamily="18" charset="0"/>
                  </a:rPr>
                  <a:t>CI CO</a:t>
                </a:r>
                <a:endParaRPr lang="zh-CN" altLang="en-US" sz="11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151" name="TextBox 150"/>
              <p:cNvSpPr txBox="1"/>
              <p:nvPr/>
            </p:nvSpPr>
            <p:spPr>
              <a:xfrm>
                <a:off x="7083263" y="4162921"/>
                <a:ext cx="279095" cy="577081"/>
              </a:xfrm>
              <a:prstGeom prst="rect">
                <a:avLst/>
              </a:prstGeom>
              <a:noFill/>
            </p:spPr>
            <p:txBody>
              <a:bodyPr wrap="square" lIns="0" tIns="0" rIns="0" bIns="0" rtlCol="0">
                <a:spAutoFit/>
              </a:bodyPr>
              <a:lstStyle/>
              <a:p>
                <a:pPr algn="r">
                  <a:lnSpc>
                    <a:spcPts val="1500"/>
                  </a:lnSpc>
                </a:pPr>
                <a:r>
                  <a:rPr lang="en-US" altLang="zh-CN" sz="1400" b="1" i="1" dirty="0">
                    <a:latin typeface="Times New Roman" panose="02020603050405020304" pitchFamily="18" charset="0"/>
                    <a:cs typeface="Times New Roman" panose="02020603050405020304" pitchFamily="18" charset="0"/>
                  </a:rPr>
                  <a:t>A</a:t>
                </a:r>
                <a:r>
                  <a:rPr lang="en-US" altLang="zh-CN" sz="1400" b="1" baseline="-25000" dirty="0">
                    <a:latin typeface="Times New Roman" panose="02020603050405020304" pitchFamily="18" charset="0"/>
                    <a:cs typeface="Times New Roman" panose="02020603050405020304" pitchFamily="18" charset="0"/>
                  </a:rPr>
                  <a:t>i</a:t>
                </a:r>
                <a:endParaRPr lang="en-US" altLang="zh-CN" sz="1400" b="1" baseline="-25000" dirty="0">
                  <a:latin typeface="Times New Roman" panose="02020603050405020304" pitchFamily="18" charset="0"/>
                  <a:cs typeface="Times New Roman" panose="02020603050405020304" pitchFamily="18" charset="0"/>
                </a:endParaRPr>
              </a:p>
              <a:p>
                <a:pPr algn="r">
                  <a:lnSpc>
                    <a:spcPts val="1500"/>
                  </a:lnSpc>
                </a:pPr>
                <a:r>
                  <a:rPr lang="en-US" altLang="zh-CN" sz="1400" b="1" i="1" dirty="0">
                    <a:latin typeface="Times New Roman" panose="02020603050405020304" pitchFamily="18" charset="0"/>
                    <a:cs typeface="Times New Roman" panose="02020603050405020304" pitchFamily="18" charset="0"/>
                  </a:rPr>
                  <a:t>B</a:t>
                </a:r>
                <a:r>
                  <a:rPr lang="en-US" altLang="zh-CN" sz="1400" b="1" baseline="-25000" dirty="0">
                    <a:latin typeface="Times New Roman" panose="02020603050405020304" pitchFamily="18" charset="0"/>
                    <a:cs typeface="Times New Roman" panose="02020603050405020304" pitchFamily="18" charset="0"/>
                  </a:rPr>
                  <a:t>i</a:t>
                </a:r>
                <a:endParaRPr lang="en-US" altLang="zh-CN" sz="1400" b="1" baseline="-25000" dirty="0">
                  <a:latin typeface="Times New Roman" panose="02020603050405020304" pitchFamily="18" charset="0"/>
                  <a:cs typeface="Times New Roman" panose="02020603050405020304" pitchFamily="18" charset="0"/>
                </a:endParaRPr>
              </a:p>
              <a:p>
                <a:pPr algn="r">
                  <a:lnSpc>
                    <a:spcPts val="1500"/>
                  </a:lnSpc>
                </a:pPr>
                <a:r>
                  <a:rPr lang="en-US" altLang="zh-CN" sz="1400" b="1" i="1" dirty="0">
                    <a:latin typeface="Times New Roman" panose="02020603050405020304" pitchFamily="18" charset="0"/>
                    <a:cs typeface="Times New Roman" panose="02020603050405020304" pitchFamily="18" charset="0"/>
                  </a:rPr>
                  <a:t>C</a:t>
                </a:r>
                <a:r>
                  <a:rPr lang="en-US" altLang="zh-CN" sz="1400" b="1" baseline="-25000" dirty="0">
                    <a:latin typeface="Times New Roman" panose="02020603050405020304" pitchFamily="18" charset="0"/>
                    <a:cs typeface="Times New Roman" panose="02020603050405020304" pitchFamily="18" charset="0"/>
                  </a:rPr>
                  <a:t>i-1</a:t>
                </a:r>
                <a:endParaRPr lang="en-US" altLang="zh-CN" sz="1400" b="1" i="1" dirty="0">
                  <a:latin typeface="Times New Roman" panose="02020603050405020304" pitchFamily="18" charset="0"/>
                  <a:cs typeface="Times New Roman" panose="02020603050405020304" pitchFamily="18" charset="0"/>
                </a:endParaRPr>
              </a:p>
            </p:txBody>
          </p:sp>
          <p:sp>
            <p:nvSpPr>
              <p:cNvPr id="152" name="TextBox 151"/>
              <p:cNvSpPr txBox="1"/>
              <p:nvPr/>
            </p:nvSpPr>
            <p:spPr>
              <a:xfrm>
                <a:off x="8277285" y="4196048"/>
                <a:ext cx="279095" cy="538609"/>
              </a:xfrm>
              <a:prstGeom prst="rect">
                <a:avLst/>
              </a:prstGeom>
              <a:noFill/>
            </p:spPr>
            <p:txBody>
              <a:bodyPr wrap="square" lIns="0" tIns="0" rIns="0" bIns="0" rtlCol="0">
                <a:spAutoFit/>
              </a:bodyPr>
              <a:lstStyle/>
              <a:p>
                <a:pPr>
                  <a:lnSpc>
                    <a:spcPts val="1400"/>
                  </a:lnSpc>
                </a:pPr>
                <a:r>
                  <a:rPr lang="en-US" altLang="zh-CN" sz="1400" b="1" i="1" dirty="0">
                    <a:latin typeface="Times New Roman" panose="02020603050405020304" pitchFamily="18" charset="0"/>
                    <a:cs typeface="Times New Roman" panose="02020603050405020304" pitchFamily="18" charset="0"/>
                  </a:rPr>
                  <a:t>S</a:t>
                </a:r>
                <a:r>
                  <a:rPr lang="en-US" altLang="zh-CN" sz="1400" b="1" baseline="-25000" dirty="0">
                    <a:latin typeface="Times New Roman" panose="02020603050405020304" pitchFamily="18" charset="0"/>
                    <a:cs typeface="Times New Roman" panose="02020603050405020304" pitchFamily="18" charset="0"/>
                  </a:rPr>
                  <a:t>i</a:t>
                </a:r>
                <a:endParaRPr lang="en-US" altLang="zh-CN" sz="1400" b="1" baseline="-25000" dirty="0">
                  <a:latin typeface="Times New Roman" panose="02020603050405020304" pitchFamily="18" charset="0"/>
                  <a:cs typeface="Times New Roman" panose="02020603050405020304" pitchFamily="18" charset="0"/>
                </a:endParaRPr>
              </a:p>
              <a:p>
                <a:pPr>
                  <a:lnSpc>
                    <a:spcPts val="1400"/>
                  </a:lnSpc>
                </a:pPr>
                <a:endParaRPr lang="en-US" altLang="zh-CN" sz="1400" b="1" i="1" dirty="0">
                  <a:latin typeface="Times New Roman" panose="02020603050405020304" pitchFamily="18" charset="0"/>
                  <a:cs typeface="Times New Roman" panose="02020603050405020304" pitchFamily="18" charset="0"/>
                </a:endParaRPr>
              </a:p>
              <a:p>
                <a:pPr>
                  <a:lnSpc>
                    <a:spcPts val="1400"/>
                  </a:lnSpc>
                </a:pPr>
                <a:r>
                  <a:rPr lang="en-US" altLang="zh-CN" sz="1400" b="1" i="1" dirty="0" err="1">
                    <a:latin typeface="Times New Roman" panose="02020603050405020304" pitchFamily="18" charset="0"/>
                    <a:cs typeface="Times New Roman" panose="02020603050405020304" pitchFamily="18" charset="0"/>
                  </a:rPr>
                  <a:t>C</a:t>
                </a:r>
                <a:r>
                  <a:rPr lang="en-US" altLang="zh-CN" sz="1400" b="1" baseline="-25000" dirty="0" err="1">
                    <a:latin typeface="Times New Roman" panose="02020603050405020304" pitchFamily="18" charset="0"/>
                    <a:cs typeface="Times New Roman" panose="02020603050405020304" pitchFamily="18" charset="0"/>
                  </a:rPr>
                  <a:t>i</a:t>
                </a:r>
                <a:endParaRPr lang="en-US" altLang="zh-CN" sz="1400" b="1" i="1" dirty="0">
                  <a:latin typeface="Times New Roman" panose="02020603050405020304" pitchFamily="18" charset="0"/>
                  <a:cs typeface="Times New Roman" panose="02020603050405020304" pitchFamily="18" charset="0"/>
                </a:endParaRPr>
              </a:p>
            </p:txBody>
          </p:sp>
        </p:grpSp>
        <p:sp>
          <p:nvSpPr>
            <p:cNvPr id="146" name="圆角矩形 145"/>
            <p:cNvSpPr/>
            <p:nvPr/>
          </p:nvSpPr>
          <p:spPr>
            <a:xfrm>
              <a:off x="7380150" y="3772894"/>
              <a:ext cx="1155588" cy="27829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lstStyle/>
            <a:p>
              <a:pPr algn="ctr"/>
              <a:r>
                <a:rPr lang="zh-CN" altLang="en-US" sz="1400" dirty="0">
                  <a:latin typeface="黑体" panose="02010609060101010101" pitchFamily="49" charset="-122"/>
                  <a:ea typeface="黑体" panose="02010609060101010101" pitchFamily="49" charset="-122"/>
                </a:rPr>
                <a:t>全加器</a:t>
              </a:r>
              <a:endParaRPr lang="zh-CN" altLang="en-US" sz="1400" dirty="0">
                <a:latin typeface="黑体" panose="02010609060101010101" pitchFamily="49" charset="-122"/>
                <a:ea typeface="黑体" panose="02010609060101010101" pitchFamily="49" charset="-122"/>
              </a:endParaRPr>
            </a:p>
          </p:txBody>
        </p:sp>
      </p:grpSp>
      <p:grpSp>
        <p:nvGrpSpPr>
          <p:cNvPr id="13" name="组合 64"/>
          <p:cNvGrpSpPr/>
          <p:nvPr/>
        </p:nvGrpSpPr>
        <p:grpSpPr>
          <a:xfrm>
            <a:off x="6466544" y="3321049"/>
            <a:ext cx="275008" cy="154167"/>
            <a:chOff x="1608794" y="4015111"/>
            <a:chExt cx="275008" cy="247506"/>
          </a:xfrm>
        </p:grpSpPr>
        <p:cxnSp>
          <p:nvCxnSpPr>
            <p:cNvPr id="66" name="肘形连接符 65"/>
            <p:cNvCxnSpPr/>
            <p:nvPr/>
          </p:nvCxnSpPr>
          <p:spPr>
            <a:xfrm rot="5400000">
              <a:off x="1660359" y="4039173"/>
              <a:ext cx="247506" cy="199381"/>
            </a:xfrm>
            <a:prstGeom prst="bentConnector3">
              <a:avLst>
                <a:gd name="adj1" fmla="val 1"/>
              </a:avLst>
            </a:prstGeom>
            <a:ln w="28575"/>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1608794" y="4255741"/>
              <a:ext cx="180000" cy="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14" name="组合 67"/>
          <p:cNvGrpSpPr/>
          <p:nvPr/>
        </p:nvGrpSpPr>
        <p:grpSpPr>
          <a:xfrm>
            <a:off x="3736044" y="3321049"/>
            <a:ext cx="275008" cy="154167"/>
            <a:chOff x="1608794" y="4015111"/>
            <a:chExt cx="275008" cy="247506"/>
          </a:xfrm>
        </p:grpSpPr>
        <p:cxnSp>
          <p:nvCxnSpPr>
            <p:cNvPr id="69" name="肘形连接符 68"/>
            <p:cNvCxnSpPr/>
            <p:nvPr/>
          </p:nvCxnSpPr>
          <p:spPr>
            <a:xfrm rot="5400000">
              <a:off x="1660359" y="4039173"/>
              <a:ext cx="247506" cy="199381"/>
            </a:xfrm>
            <a:prstGeom prst="bentConnector3">
              <a:avLst>
                <a:gd name="adj1" fmla="val 1"/>
              </a:avLst>
            </a:prstGeom>
            <a:ln w="28575"/>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1608794" y="4255741"/>
              <a:ext cx="180000" cy="0"/>
            </a:xfrm>
            <a:prstGeom prst="line">
              <a:avLst/>
            </a:prstGeom>
            <a:ln w="28575"/>
          </p:spPr>
          <p:style>
            <a:lnRef idx="1">
              <a:schemeClr val="accent1"/>
            </a:lnRef>
            <a:fillRef idx="0">
              <a:schemeClr val="accent1"/>
            </a:fillRef>
            <a:effectRef idx="0">
              <a:schemeClr val="accent1"/>
            </a:effectRef>
            <a:fontRef idx="minor">
              <a:schemeClr val="tx1"/>
            </a:fontRef>
          </p:style>
        </p:cxnSp>
      </p:grpSp>
      <p:grpSp>
        <p:nvGrpSpPr>
          <p:cNvPr id="15" name="组合 71"/>
          <p:cNvGrpSpPr/>
          <p:nvPr/>
        </p:nvGrpSpPr>
        <p:grpSpPr>
          <a:xfrm>
            <a:off x="2999740" y="2826519"/>
            <a:ext cx="3750310" cy="1739131"/>
            <a:chOff x="2999740" y="2826519"/>
            <a:chExt cx="3750310" cy="1739131"/>
          </a:xfrm>
        </p:grpSpPr>
        <p:sp>
          <p:nvSpPr>
            <p:cNvPr id="130" name="圆角矩形 129"/>
            <p:cNvSpPr/>
            <p:nvPr/>
          </p:nvSpPr>
          <p:spPr>
            <a:xfrm>
              <a:off x="2999740" y="3958590"/>
              <a:ext cx="334010" cy="607060"/>
            </a:xfrm>
            <a:prstGeom prst="roundRect">
              <a:avLst>
                <a:gd name="adj" fmla="val 7018"/>
              </a:avLst>
            </a:prstGeom>
            <a:solidFill>
              <a:srgbClr val="CC00CC">
                <a:alpha val="20000"/>
              </a:srgbClr>
            </a:solidFill>
            <a:scene3d>
              <a:camera prst="isometricOffAxis1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lnSpc>
                  <a:spcPts val="1200"/>
                </a:lnSpc>
              </a:pPr>
              <a:r>
                <a:rPr lang="en-US" altLang="zh-CN" sz="1400" dirty="0">
                  <a:solidFill>
                    <a:schemeClr val="tx1"/>
                  </a:solidFill>
                  <a:latin typeface="Times New Roman" panose="02020603050405020304" pitchFamily="18" charset="0"/>
                  <a:cs typeface="Times New Roman" panose="02020603050405020304" pitchFamily="18" charset="0"/>
                </a:rPr>
                <a:t>A</a:t>
              </a:r>
              <a:r>
                <a:rPr lang="en-US" altLang="zh-CN" sz="1400" baseline="-25000" dirty="0">
                  <a:solidFill>
                    <a:schemeClr val="tx1"/>
                  </a:solidFill>
                  <a:latin typeface="Times New Roman" panose="02020603050405020304" pitchFamily="18" charset="0"/>
                  <a:cs typeface="Times New Roman" panose="02020603050405020304" pitchFamily="18" charset="0"/>
                </a:rPr>
                <a:t>i</a:t>
              </a:r>
              <a:endParaRPr lang="en-US" altLang="zh-CN" sz="1400" baseline="-25000" dirty="0">
                <a:solidFill>
                  <a:schemeClr val="tx1"/>
                </a:solidFill>
                <a:latin typeface="Times New Roman" panose="02020603050405020304" pitchFamily="18" charset="0"/>
                <a:cs typeface="Times New Roman" panose="02020603050405020304" pitchFamily="18" charset="0"/>
              </a:endParaRPr>
            </a:p>
            <a:p>
              <a:pPr algn="ctr">
                <a:lnSpc>
                  <a:spcPts val="1200"/>
                </a:lnSpc>
              </a:pPr>
              <a:r>
                <a:rPr lang="en-US" altLang="zh-CN" sz="1400" dirty="0">
                  <a:solidFill>
                    <a:schemeClr val="tx1"/>
                  </a:solidFill>
                  <a:latin typeface="Times New Roman" panose="02020603050405020304" pitchFamily="18" charset="0"/>
                  <a:cs typeface="Times New Roman" panose="02020603050405020304" pitchFamily="18" charset="0"/>
                </a:rPr>
                <a:t>B</a:t>
              </a:r>
              <a:r>
                <a:rPr lang="en-US" altLang="zh-CN" sz="1400" baseline="-25000" dirty="0">
                  <a:solidFill>
                    <a:schemeClr val="tx1"/>
                  </a:solidFill>
                  <a:latin typeface="Times New Roman" panose="02020603050405020304" pitchFamily="18" charset="0"/>
                  <a:cs typeface="Times New Roman" panose="02020603050405020304" pitchFamily="18" charset="0"/>
                </a:rPr>
                <a:t>i</a:t>
              </a:r>
              <a:endParaRPr lang="en-US" altLang="zh-CN" sz="1400" baseline="-25000" dirty="0">
                <a:solidFill>
                  <a:schemeClr val="tx1"/>
                </a:solidFill>
                <a:latin typeface="Times New Roman" panose="02020603050405020304" pitchFamily="18" charset="0"/>
                <a:cs typeface="Times New Roman" panose="02020603050405020304" pitchFamily="18" charset="0"/>
              </a:endParaRPr>
            </a:p>
            <a:p>
              <a:pPr algn="ctr">
                <a:lnSpc>
                  <a:spcPts val="1200"/>
                </a:lnSpc>
              </a:pPr>
              <a:r>
                <a:rPr lang="en-US" altLang="zh-CN" sz="1400" dirty="0">
                  <a:solidFill>
                    <a:schemeClr val="tx1"/>
                  </a:solidFill>
                  <a:latin typeface="Times New Roman" panose="02020603050405020304" pitchFamily="18" charset="0"/>
                  <a:cs typeface="Times New Roman" panose="02020603050405020304" pitchFamily="18" charset="0"/>
                </a:rPr>
                <a:t>C</a:t>
              </a:r>
              <a:r>
                <a:rPr lang="en-US" altLang="zh-CN" sz="1400" baseline="-25000" dirty="0">
                  <a:solidFill>
                    <a:schemeClr val="tx1"/>
                  </a:solidFill>
                  <a:latin typeface="Times New Roman" panose="02020603050405020304" pitchFamily="18" charset="0"/>
                  <a:cs typeface="Times New Roman" panose="02020603050405020304" pitchFamily="18" charset="0"/>
                </a:rPr>
                <a:t>i-1</a:t>
              </a:r>
              <a:endParaRPr lang="zh-CN" altLang="en-US" sz="1400" baseline="-25000" dirty="0">
                <a:solidFill>
                  <a:schemeClr val="tx1"/>
                </a:solidFill>
                <a:latin typeface="Times New Roman" panose="02020603050405020304" pitchFamily="18" charset="0"/>
                <a:cs typeface="Times New Roman" panose="02020603050405020304" pitchFamily="18" charset="0"/>
              </a:endParaRPr>
            </a:p>
          </p:txBody>
        </p:sp>
        <p:grpSp>
          <p:nvGrpSpPr>
            <p:cNvPr id="16" name="组合 127"/>
            <p:cNvGrpSpPr/>
            <p:nvPr/>
          </p:nvGrpSpPr>
          <p:grpSpPr>
            <a:xfrm>
              <a:off x="3302001" y="2826519"/>
              <a:ext cx="3448049" cy="1586731"/>
              <a:chOff x="895394" y="2909068"/>
              <a:chExt cx="3958943" cy="1885181"/>
            </a:xfrm>
          </p:grpSpPr>
          <p:cxnSp>
            <p:nvCxnSpPr>
              <p:cNvPr id="102" name="直接连接符 101"/>
              <p:cNvCxnSpPr/>
              <p:nvPr/>
            </p:nvCxnSpPr>
            <p:spPr>
              <a:xfrm flipH="1">
                <a:off x="895394" y="4501548"/>
                <a:ext cx="3312000" cy="794"/>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flipV="1">
                <a:off x="895396" y="4650701"/>
                <a:ext cx="345600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flipV="1">
                <a:off x="895396" y="4788669"/>
                <a:ext cx="3600000" cy="0"/>
              </a:xfrm>
              <a:prstGeom prst="line">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6" name="肘形连接符 105"/>
              <p:cNvCxnSpPr/>
              <p:nvPr/>
            </p:nvCxnSpPr>
            <p:spPr>
              <a:xfrm rot="5400000">
                <a:off x="3729297" y="3377122"/>
                <a:ext cx="1593081" cy="656974"/>
              </a:xfrm>
              <a:prstGeom prst="bentConnector3">
                <a:avLst>
                  <a:gd name="adj1" fmla="val -224"/>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7" name="肘形连接符 106"/>
              <p:cNvCxnSpPr/>
              <p:nvPr/>
            </p:nvCxnSpPr>
            <p:spPr>
              <a:xfrm rot="5400000">
                <a:off x="3806366" y="3606585"/>
                <a:ext cx="1572299" cy="510930"/>
              </a:xfrm>
              <a:prstGeom prst="bentConnector3">
                <a:avLst>
                  <a:gd name="adj1" fmla="val -887"/>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8" name="肘形连接符 107"/>
              <p:cNvCxnSpPr/>
              <p:nvPr/>
            </p:nvCxnSpPr>
            <p:spPr>
              <a:xfrm rot="5400000">
                <a:off x="3886610" y="3826523"/>
                <a:ext cx="1570567" cy="364886"/>
              </a:xfrm>
              <a:prstGeom prst="bentConnector3">
                <a:avLst>
                  <a:gd name="adj1" fmla="val -539"/>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09" name="肘形连接符 108"/>
              <p:cNvCxnSpPr/>
              <p:nvPr/>
            </p:nvCxnSpPr>
            <p:spPr>
              <a:xfrm rot="5400000">
                <a:off x="576522" y="3399347"/>
                <a:ext cx="1586731" cy="606174"/>
              </a:xfrm>
              <a:prstGeom prst="bentConnector3">
                <a:avLst>
                  <a:gd name="adj1" fmla="val -424"/>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10" name="肘形连接符 109"/>
              <p:cNvCxnSpPr/>
              <p:nvPr/>
            </p:nvCxnSpPr>
            <p:spPr>
              <a:xfrm rot="5400000">
                <a:off x="631366" y="3625635"/>
                <a:ext cx="1584999" cy="472830"/>
              </a:xfrm>
              <a:prstGeom prst="bentConnector3">
                <a:avLst>
                  <a:gd name="adj1" fmla="val -479"/>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11" name="肘形连接符 110"/>
              <p:cNvCxnSpPr/>
              <p:nvPr/>
            </p:nvCxnSpPr>
            <p:spPr>
              <a:xfrm rot="5400000">
                <a:off x="714785" y="3823348"/>
                <a:ext cx="1557867" cy="358536"/>
              </a:xfrm>
              <a:prstGeom prst="bentConnector3">
                <a:avLst>
                  <a:gd name="adj1" fmla="val -136"/>
                </a:avLst>
              </a:prstGeom>
              <a:ln w="28575">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a:off x="1310880" y="4776980"/>
                <a:ext cx="36000" cy="0"/>
              </a:xfrm>
              <a:prstGeom prst="line">
                <a:avLst/>
              </a:prstGeom>
              <a:ln w="28575">
                <a:solidFill>
                  <a:srgbClr val="0070C0"/>
                </a:solidFill>
                <a:headEnd type="ova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1190230" y="4653155"/>
                <a:ext cx="36000" cy="0"/>
              </a:xfrm>
              <a:prstGeom prst="line">
                <a:avLst/>
              </a:prstGeom>
              <a:ln w="28575">
                <a:solidFill>
                  <a:srgbClr val="0070C0"/>
                </a:solidFill>
                <a:headEnd type="ova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1069580" y="4497580"/>
                <a:ext cx="36000" cy="0"/>
              </a:xfrm>
              <a:prstGeom prst="line">
                <a:avLst/>
              </a:prstGeom>
              <a:ln w="28575">
                <a:solidFill>
                  <a:srgbClr val="0070C0"/>
                </a:solidFill>
                <a:headEnd type="oval"/>
              </a:ln>
            </p:spPr>
            <p:style>
              <a:lnRef idx="1">
                <a:schemeClr val="accent1"/>
              </a:lnRef>
              <a:fillRef idx="0">
                <a:schemeClr val="accent1"/>
              </a:fillRef>
              <a:effectRef idx="0">
                <a:schemeClr val="accent1"/>
              </a:effectRef>
              <a:fontRef idx="minor">
                <a:schemeClr val="tx1"/>
              </a:fontRef>
            </p:style>
          </p:cxnSp>
        </p:grpSp>
      </p:grpSp>
      <p:grpSp>
        <p:nvGrpSpPr>
          <p:cNvPr id="17" name="组合 76"/>
          <p:cNvGrpSpPr/>
          <p:nvPr/>
        </p:nvGrpSpPr>
        <p:grpSpPr>
          <a:xfrm>
            <a:off x="692418" y="4524817"/>
            <a:ext cx="7905482" cy="707583"/>
            <a:chOff x="4902468" y="2918267"/>
            <a:chExt cx="7905482" cy="707583"/>
          </a:xfrm>
        </p:grpSpPr>
        <p:sp>
          <p:nvSpPr>
            <p:cNvPr id="78" name="圆角矩形 77"/>
            <p:cNvSpPr/>
            <p:nvPr/>
          </p:nvSpPr>
          <p:spPr>
            <a:xfrm>
              <a:off x="5011054" y="3069919"/>
              <a:ext cx="7796896" cy="555931"/>
            </a:xfrm>
            <a:prstGeom prst="roundRect">
              <a:avLst>
                <a:gd name="adj" fmla="val 4386"/>
              </a:avLst>
            </a:prstGeom>
            <a:solidFill>
              <a:schemeClr val="bg1"/>
            </a:solidFill>
            <a:ln w="28575">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266700"/>
              <a:r>
                <a:rPr lang="zh-CN" altLang="zh-CN" sz="1600" dirty="0">
                  <a:solidFill>
                    <a:schemeClr val="tx1"/>
                  </a:solidFill>
                  <a:latin typeface="黑体" panose="02010609060101010101" pitchFamily="49" charset="-122"/>
                  <a:ea typeface="黑体" panose="02010609060101010101" pitchFamily="49" charset="-122"/>
                </a:rPr>
                <a:t>利用数据选择器实现一个具有多输出的组合逻辑函数，需要对数据选择器进行位扩展</a:t>
              </a:r>
              <a:r>
                <a:rPr lang="zh-CN" altLang="en-US" sz="1600" dirty="0">
                  <a:solidFill>
                    <a:schemeClr val="tx1"/>
                  </a:solidFill>
                  <a:latin typeface="黑体" panose="02010609060101010101" pitchFamily="49" charset="-122"/>
                  <a:ea typeface="黑体" panose="02010609060101010101" pitchFamily="49" charset="-122"/>
                </a:rPr>
                <a:t>，</a:t>
              </a:r>
              <a:r>
                <a:rPr lang="zh-CN" altLang="zh-CN" sz="1600" dirty="0">
                  <a:solidFill>
                    <a:schemeClr val="tx1"/>
                  </a:solidFill>
                  <a:latin typeface="黑体" panose="02010609060101010101" pitchFamily="49" charset="-122"/>
                  <a:ea typeface="黑体" panose="02010609060101010101" pitchFamily="49" charset="-122"/>
                </a:rPr>
                <a:t>再按各输出与输入的关系确定电路的连接</a:t>
              </a:r>
              <a:r>
                <a:rPr lang="zh-CN" altLang="en-US" sz="1600" dirty="0">
                  <a:solidFill>
                    <a:schemeClr val="tx1"/>
                  </a:solidFill>
                  <a:latin typeface="黑体" panose="02010609060101010101" pitchFamily="49" charset="-122"/>
                  <a:ea typeface="黑体" panose="02010609060101010101" pitchFamily="49" charset="-122"/>
                </a:rPr>
                <a:t>。</a:t>
              </a:r>
              <a:endParaRPr lang="zh-CN" altLang="en-US" sz="1600" dirty="0">
                <a:solidFill>
                  <a:schemeClr val="tx1"/>
                </a:solidFill>
                <a:latin typeface="黑体" panose="02010609060101010101" pitchFamily="49" charset="-122"/>
                <a:ea typeface="黑体" panose="02010609060101010101" pitchFamily="49" charset="-122"/>
              </a:endParaRPr>
            </a:p>
          </p:txBody>
        </p:sp>
        <p:pic>
          <p:nvPicPr>
            <p:cNvPr id="79" name="Picture 5"/>
            <p:cNvPicPr>
              <a:picLocks noChangeAspect="1" noChangeArrowheads="1"/>
            </p:cNvPicPr>
            <p:nvPr/>
          </p:nvPicPr>
          <p:blipFill>
            <a:blip r:embed="rId1" cstate="print"/>
            <a:srcRect/>
            <a:stretch>
              <a:fillRect/>
            </a:stretch>
          </p:blipFill>
          <p:spPr bwMode="auto">
            <a:xfrm>
              <a:off x="4902468" y="2918267"/>
              <a:ext cx="371060" cy="297180"/>
            </a:xfrm>
            <a:prstGeom prst="rect">
              <a:avLst/>
            </a:prstGeom>
            <a:noFill/>
            <a:ln w="9525">
              <a:noFill/>
              <a:miter lim="800000"/>
              <a:headEnd/>
              <a:tailEnd/>
            </a:ln>
          </p:spPr>
        </p:pic>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Bottom)">
                                      <p:cBhvr>
                                        <p:cTn id="7" dur="500"/>
                                        <p:tgtEl>
                                          <p:spTgt spid="4"/>
                                        </p:tgtEl>
                                      </p:cBhvr>
                                    </p:animEffect>
                                  </p:childTnLst>
                                </p:cTn>
                              </p:par>
                            </p:childTnLst>
                          </p:cTn>
                        </p:par>
                        <p:par>
                          <p:cTn id="8" fill="hold">
                            <p:stCondLst>
                              <p:cond delay="500"/>
                            </p:stCondLst>
                            <p:childTnLst>
                              <p:par>
                                <p:cTn id="9" presetID="12" presetClass="entr" presetSubtype="4"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slide(fromBottom)">
                                      <p:cBhvr>
                                        <p:cTn id="11" dur="10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8" fill="hold" nodeType="click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slide(fromLeft)">
                                      <p:cBhvr>
                                        <p:cTn id="16" dur="1000"/>
                                        <p:tgtEl>
                                          <p:spTgt spid="2"/>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slide(fromBottom)">
                                      <p:cBhvr>
                                        <p:cTn id="21" dur="10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wipe(left)">
                                      <p:cBhvr>
                                        <p:cTn id="26" dur="1000"/>
                                        <p:tgtEl>
                                          <p:spTgt spid="15"/>
                                        </p:tgtEl>
                                      </p:cBhvr>
                                    </p:animEffect>
                                  </p:childTnLst>
                                </p:cTn>
                              </p:par>
                            </p:childTnLst>
                          </p:cTn>
                        </p:par>
                        <p:par>
                          <p:cTn id="27" fill="hold">
                            <p:stCondLst>
                              <p:cond delay="1000"/>
                            </p:stCondLst>
                            <p:childTnLst>
                              <p:par>
                                <p:cTn id="28" presetID="22" presetClass="entr" presetSubtype="2" fill="hold"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wipe(right)">
                                      <p:cBhvr>
                                        <p:cTn id="30" dur="1000"/>
                                        <p:tgtEl>
                                          <p:spTgt spid="14"/>
                                        </p:tgtEl>
                                      </p:cBhvr>
                                    </p:animEffect>
                                  </p:childTnLst>
                                </p:cTn>
                              </p:par>
                              <p:par>
                                <p:cTn id="31" presetID="22" presetClass="entr" presetSubtype="2" fill="hold"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right)">
                                      <p:cBhvr>
                                        <p:cTn id="33" dur="1000"/>
                                        <p:tgtEl>
                                          <p:spTgt spid="13"/>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1" fill="hold" nodeType="click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slide(fromTop)">
                                      <p:cBhvr>
                                        <p:cTn id="38" dur="1000"/>
                                        <p:tgtEl>
                                          <p:spTgt spid="5"/>
                                        </p:tgtEl>
                                      </p:cBhvr>
                                    </p:animEffect>
                                  </p:childTnLst>
                                </p:cTn>
                              </p:par>
                            </p:childTnLst>
                          </p:cTn>
                        </p:par>
                        <p:par>
                          <p:cTn id="39" fill="hold">
                            <p:stCondLst>
                              <p:cond delay="1000"/>
                            </p:stCondLst>
                            <p:childTnLst>
                              <p:par>
                                <p:cTn id="40" presetID="12" presetClass="entr" presetSubtype="1" fill="hold" nodeType="after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slide(fromTop)">
                                      <p:cBhvr>
                                        <p:cTn id="42" dur="1000"/>
                                        <p:tgtEl>
                                          <p:spTgt spid="6"/>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4" fill="hold" nodeType="click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slide(fromBottom)">
                                      <p:cBhvr>
                                        <p:cTn id="47"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7" name="组合 16"/>
          <p:cNvGrpSpPr/>
          <p:nvPr/>
        </p:nvGrpSpPr>
        <p:grpSpPr>
          <a:xfrm>
            <a:off x="816410" y="1451187"/>
            <a:ext cx="1371600" cy="760000"/>
            <a:chOff x="910590" y="1565910"/>
            <a:chExt cx="1371600" cy="684000"/>
          </a:xfrm>
        </p:grpSpPr>
        <p:grpSp>
          <p:nvGrpSpPr>
            <p:cNvPr id="18" name="组合 17"/>
            <p:cNvGrpSpPr/>
            <p:nvPr/>
          </p:nvGrpSpPr>
          <p:grpSpPr>
            <a:xfrm>
              <a:off x="910590" y="1699260"/>
              <a:ext cx="1371600" cy="99060"/>
              <a:chOff x="910590" y="1699260"/>
              <a:chExt cx="1371600" cy="99060"/>
            </a:xfrm>
          </p:grpSpPr>
          <p:cxnSp>
            <p:nvCxnSpPr>
              <p:cNvPr id="22" name="直接连接符 21"/>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3" name="直接连接符 22"/>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19" name="组合 18"/>
            <p:cNvGrpSpPr/>
            <p:nvPr/>
          </p:nvGrpSpPr>
          <p:grpSpPr>
            <a:xfrm rot="5400000">
              <a:off x="728610" y="1866000"/>
              <a:ext cx="684000" cy="83820"/>
              <a:chOff x="910590" y="1699260"/>
              <a:chExt cx="1371600" cy="99060"/>
            </a:xfrm>
          </p:grpSpPr>
          <p:cxnSp>
            <p:nvCxnSpPr>
              <p:cNvPr id="20" name="直接连接符 19"/>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1" name="直接连接符 20"/>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24" name="组合 23"/>
          <p:cNvGrpSpPr/>
          <p:nvPr/>
        </p:nvGrpSpPr>
        <p:grpSpPr>
          <a:xfrm rot="10800000">
            <a:off x="6587490" y="3556000"/>
            <a:ext cx="1371600" cy="760000"/>
            <a:chOff x="910590" y="1565910"/>
            <a:chExt cx="1371600" cy="684000"/>
          </a:xfrm>
        </p:grpSpPr>
        <p:grpSp>
          <p:nvGrpSpPr>
            <p:cNvPr id="26" name="组合 35"/>
            <p:cNvGrpSpPr/>
            <p:nvPr/>
          </p:nvGrpSpPr>
          <p:grpSpPr>
            <a:xfrm>
              <a:off x="910590" y="1699260"/>
              <a:ext cx="1371600" cy="99060"/>
              <a:chOff x="910590" y="1699260"/>
              <a:chExt cx="1371600" cy="99060"/>
            </a:xfrm>
          </p:grpSpPr>
          <p:cxnSp>
            <p:nvCxnSpPr>
              <p:cNvPr id="31" name="直接连接符 30"/>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2" name="直接连接符 3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27" name="组合 36"/>
            <p:cNvGrpSpPr/>
            <p:nvPr/>
          </p:nvGrpSpPr>
          <p:grpSpPr>
            <a:xfrm rot="5400000">
              <a:off x="728610" y="1866000"/>
              <a:ext cx="684000" cy="83820"/>
              <a:chOff x="910590" y="1699260"/>
              <a:chExt cx="1371600" cy="99060"/>
            </a:xfrm>
          </p:grpSpPr>
          <p:cxnSp>
            <p:nvCxnSpPr>
              <p:cNvPr id="28" name="直接连接符 27"/>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0" name="直接连接符 2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33" name="文本框 6"/>
          <p:cNvSpPr txBox="1"/>
          <p:nvPr/>
        </p:nvSpPr>
        <p:spPr>
          <a:xfrm>
            <a:off x="1140259" y="1917798"/>
            <a:ext cx="6498792" cy="1823576"/>
          </a:xfrm>
          <a:prstGeom prst="rect">
            <a:avLst/>
          </a:prstGeom>
          <a:noFill/>
        </p:spPr>
        <p:txBody>
          <a:bodyPr wrap="square" rtlCol="0">
            <a:spAutoFit/>
          </a:bodyPr>
          <a:lstStyle/>
          <a:p>
            <a:pPr algn="ctr">
              <a:lnSpc>
                <a:spcPct val="125000"/>
              </a:lnSpc>
            </a:pP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4</a:t>
            </a: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 组合逻辑电路</a:t>
            </a:r>
            <a:endPar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a:p>
            <a:pPr algn="ctr">
              <a:lnSpc>
                <a:spcPct val="125000"/>
              </a:lnSpc>
            </a:pPr>
            <a:r>
              <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4.4 </a:t>
            </a:r>
            <a:r>
              <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典型组合逻辑集成电路</a:t>
            </a:r>
            <a:endPar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a:p>
            <a:pPr algn="ctr">
              <a:lnSpc>
                <a:spcPct val="125000"/>
              </a:lnSpc>
              <a:spcBef>
                <a:spcPts val="600"/>
              </a:spcBef>
            </a:pPr>
            <a:r>
              <a:rPr lang="en-US" altLang="zh-CN" sz="2400" dirty="0">
                <a:ln w="0"/>
                <a:solidFill>
                  <a:schemeClr val="accent1"/>
                </a:solidFill>
                <a:effectLst>
                  <a:outerShdw blurRad="38100" dist="25400" dir="5400000" algn="ctr" rotWithShape="0">
                    <a:srgbClr val="6E747A">
                      <a:alpha val="43000"/>
                    </a:srgbClr>
                  </a:outerShdw>
                </a:effectLst>
                <a:latin typeface="方正粗黑宋简体" panose="02000000000000000000" pitchFamily="2" charset="-122"/>
                <a:ea typeface="方正粗黑宋简体" panose="02000000000000000000" pitchFamily="2" charset="-122"/>
              </a:rPr>
              <a:t>4.4.4 </a:t>
            </a:r>
            <a:r>
              <a:rPr lang="zh-CN" altLang="en-US" sz="2400" dirty="0">
                <a:ln w="0"/>
                <a:solidFill>
                  <a:schemeClr val="accent1"/>
                </a:solidFill>
                <a:effectLst>
                  <a:outerShdw blurRad="38100" dist="25400" dir="5400000" algn="ctr" rotWithShape="0">
                    <a:srgbClr val="6E747A">
                      <a:alpha val="43000"/>
                    </a:srgbClr>
                  </a:outerShdw>
                </a:effectLst>
                <a:latin typeface="方正粗黑宋简体" panose="02000000000000000000" pitchFamily="2" charset="-122"/>
                <a:ea typeface="方正粗黑宋简体" panose="02000000000000000000" pitchFamily="2" charset="-122"/>
              </a:rPr>
              <a:t>数值比较器</a:t>
            </a:r>
            <a:endParaRPr lang="zh-CN" altLang="en-US" sz="2400" dirty="0">
              <a:ln w="0"/>
              <a:solidFill>
                <a:schemeClr val="accent1"/>
              </a:solidFill>
              <a:effectLst>
                <a:outerShdw blurRad="38100" dist="25400" dir="5400000" algn="ctr" rotWithShape="0">
                  <a:srgbClr val="6E747A">
                    <a:alpha val="43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组合 17"/>
          <p:cNvGrpSpPr/>
          <p:nvPr/>
        </p:nvGrpSpPr>
        <p:grpSpPr>
          <a:xfrm>
            <a:off x="392432" y="769746"/>
            <a:ext cx="3114144" cy="420971"/>
            <a:chOff x="670560" y="892917"/>
            <a:chExt cx="3114144" cy="420971"/>
          </a:xfrm>
        </p:grpSpPr>
        <p:sp>
          <p:nvSpPr>
            <p:cNvPr id="70" name="矩形 69"/>
            <p:cNvSpPr/>
            <p:nvPr/>
          </p:nvSpPr>
          <p:spPr>
            <a:xfrm>
              <a:off x="1035233" y="913778"/>
              <a:ext cx="2749471"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数值比较器的基本概念</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7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103" name="Rectangle 8"/>
          <p:cNvSpPr>
            <a:spLocks noChangeArrowheads="1"/>
          </p:cNvSpPr>
          <p:nvPr/>
        </p:nvSpPr>
        <p:spPr bwMode="auto">
          <a:xfrm>
            <a:off x="781050" y="1290638"/>
            <a:ext cx="8007350" cy="784830"/>
          </a:xfrm>
          <a:prstGeom prst="rect">
            <a:avLst/>
          </a:prstGeom>
          <a:noFill/>
          <a:ln w="9525">
            <a:noFill/>
            <a:miter lim="800000"/>
          </a:ln>
        </p:spPr>
        <p:txBody>
          <a:bodyPr wrap="square">
            <a:spAutoFit/>
          </a:bodyPr>
          <a:lstStyle/>
          <a:p>
            <a:pPr marL="1168400" indent="-1168400" eaLnBrk="0" hangingPunct="0">
              <a:lnSpc>
                <a:spcPct val="125000"/>
              </a:lnSpc>
            </a:pPr>
            <a:r>
              <a:rPr lang="zh-CN" altLang="en-US" b="1" dirty="0">
                <a:solidFill>
                  <a:srgbClr val="FF0000"/>
                </a:solidFill>
                <a:latin typeface="微软雅黑" panose="020B0503020204020204" pitchFamily="34" charset="-122"/>
                <a:ea typeface="微软雅黑" panose="020B0503020204020204" pitchFamily="34" charset="-122"/>
              </a:rPr>
              <a:t>数值比较器</a:t>
            </a:r>
            <a:r>
              <a:rPr lang="zh-CN" altLang="en-US" dirty="0">
                <a:solidFill>
                  <a:srgbClr val="FF0000"/>
                </a:solidFill>
                <a:latin typeface="微软雅黑" panose="020B0503020204020204" pitchFamily="34" charset="-122"/>
                <a:ea typeface="微软雅黑" panose="020B0503020204020204" pitchFamily="34" charset="-122"/>
              </a:rPr>
              <a:t>：</a:t>
            </a:r>
            <a:r>
              <a:rPr lang="zh-CN" altLang="zh-CN" dirty="0">
                <a:solidFill>
                  <a:srgbClr val="000000"/>
                </a:solidFill>
                <a:latin typeface="微软雅黑" panose="020B0503020204020204" pitchFamily="34" charset="-122"/>
                <a:ea typeface="微软雅黑" panose="020B0503020204020204" pitchFamily="34" charset="-122"/>
              </a:rPr>
              <a:t>能够对两个二进制进行比较并判定其大小关系的逻辑电路</a:t>
            </a:r>
            <a:r>
              <a:rPr lang="zh-CN" altLang="en-US" dirty="0">
                <a:solidFill>
                  <a:srgbClr val="000000"/>
                </a:solidFill>
                <a:latin typeface="微软雅黑" panose="020B0503020204020204" pitchFamily="34" charset="-122"/>
                <a:ea typeface="微软雅黑" panose="020B0503020204020204" pitchFamily="34" charset="-122"/>
              </a:rPr>
              <a:t>。</a:t>
            </a:r>
            <a:endParaRPr lang="en-US" altLang="zh-CN" dirty="0">
              <a:solidFill>
                <a:srgbClr val="000000"/>
              </a:solidFill>
              <a:latin typeface="微软雅黑" panose="020B0503020204020204" pitchFamily="34" charset="-122"/>
              <a:ea typeface="微软雅黑" panose="020B0503020204020204" pitchFamily="34" charset="-122"/>
            </a:endParaRPr>
          </a:p>
          <a:p>
            <a:pPr marL="1168400" indent="-1168400" eaLnBrk="0" hangingPunct="0">
              <a:lnSpc>
                <a:spcPct val="125000"/>
              </a:lnSpc>
            </a:pP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比较结果有三种情况，即：</a:t>
            </a:r>
            <a:r>
              <a:rPr lang="en-US" altLang="zh-CN"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endParaRPr lang="zh-CN" altLang="en-US" dirty="0">
              <a:solidFill>
                <a:srgbClr val="000000"/>
              </a:solidFill>
              <a:latin typeface="微软雅黑" panose="020B0503020204020204" pitchFamily="34" charset="-122"/>
              <a:ea typeface="微软雅黑" panose="020B0503020204020204" pitchFamily="34" charset="-122"/>
            </a:endParaRPr>
          </a:p>
        </p:txBody>
      </p:sp>
      <p:grpSp>
        <p:nvGrpSpPr>
          <p:cNvPr id="106" name="组合 17"/>
          <p:cNvGrpSpPr/>
          <p:nvPr/>
        </p:nvGrpSpPr>
        <p:grpSpPr>
          <a:xfrm>
            <a:off x="449582" y="2261996"/>
            <a:ext cx="2344702" cy="420971"/>
            <a:chOff x="670560" y="892917"/>
            <a:chExt cx="2344702" cy="420971"/>
          </a:xfrm>
        </p:grpSpPr>
        <p:sp>
          <p:nvSpPr>
            <p:cNvPr id="107" name="矩形 106"/>
            <p:cNvSpPr/>
            <p:nvPr/>
          </p:nvSpPr>
          <p:spPr>
            <a:xfrm>
              <a:off x="1035233" y="913778"/>
              <a:ext cx="1980029"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一位数值比较器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108"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aphicFrame>
        <p:nvGraphicFramePr>
          <p:cNvPr id="111" name="Group 5"/>
          <p:cNvGraphicFramePr>
            <a:graphicFrameLocks noGrp="1"/>
          </p:cNvGraphicFramePr>
          <p:nvPr/>
        </p:nvGraphicFramePr>
        <p:xfrm>
          <a:off x="931863" y="2817756"/>
          <a:ext cx="2325688" cy="1843144"/>
        </p:xfrm>
        <a:graphic>
          <a:graphicData uri="http://schemas.openxmlformats.org/drawingml/2006/table">
            <a:tbl>
              <a:tblPr/>
              <a:tblGrid>
                <a:gridCol w="414933"/>
                <a:gridCol w="369039"/>
                <a:gridCol w="535760"/>
                <a:gridCol w="521711"/>
                <a:gridCol w="484245"/>
              </a:tblGrid>
              <a:tr h="335155">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楷体_GB2312" pitchFamily="49" charset="-122"/>
                        </a:rPr>
                        <a:t>输  入</a:t>
                      </a:r>
                      <a:endParaRPr kumimoji="0" lang="zh-CN" altLang="en-US"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hMerge="1">
                  <a:tcPr/>
                </a:tc>
                <a:tc gridSpan="3">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600" b="1" i="0" u="none" strike="noStrike" cap="none" normalizeH="0" baseline="0" dirty="0">
                          <a:ln>
                            <a:noFill/>
                          </a:ln>
                          <a:solidFill>
                            <a:srgbClr val="000000"/>
                          </a:solidFill>
                          <a:effectLst/>
                          <a:latin typeface="Arial" panose="020B0604020202020204" pitchFamily="34" charset="0"/>
                          <a:ea typeface="楷体_GB2312" pitchFamily="49" charset="-122"/>
                        </a:rPr>
                        <a:t>输  出</a:t>
                      </a:r>
                      <a:endParaRPr kumimoji="0" lang="zh-CN" altLang="en-US"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miter lim="800000"/>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hMerge="1">
                  <a:tcPr/>
                </a:tc>
                <a:tc hMerge="1">
                  <a:tcPr/>
                </a:tc>
              </a:tr>
              <a:tr h="305085">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B</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a:noFill/>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F</a:t>
                      </a:r>
                      <a:r>
                        <a:rPr kumimoji="0" lang="en-US" altLang="zh-CN" sz="1600" b="1" i="0" u="none" strike="noStrike" cap="none" normalizeH="0" baseline="-30000">
                          <a:ln>
                            <a:noFill/>
                          </a:ln>
                          <a:solidFill>
                            <a:srgbClr val="000000"/>
                          </a:solidFill>
                          <a:effectLst/>
                          <a:latin typeface="Arial" panose="020B0604020202020204" pitchFamily="34" charset="0"/>
                          <a:ea typeface="楷体_GB2312" pitchFamily="49" charset="-122"/>
                        </a:rPr>
                        <a:t>A&gt;B</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miter lim="800000"/>
                      <a:headEnd type="none" w="med" len="med"/>
                      <a:tailEnd type="none" w="med" len="med"/>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F</a:t>
                      </a:r>
                      <a:r>
                        <a:rPr kumimoji="0" lang="en-US" altLang="zh-CN" sz="1600" b="1" i="0" u="none" strike="noStrike" cap="none" normalizeH="0" baseline="-30000">
                          <a:ln>
                            <a:noFill/>
                          </a:ln>
                          <a:solidFill>
                            <a:srgbClr val="000000"/>
                          </a:solidFill>
                          <a:effectLst/>
                          <a:latin typeface="Arial" panose="020B0604020202020204" pitchFamily="34" charset="0"/>
                          <a:ea typeface="楷体_GB2312" pitchFamily="49" charset="-122"/>
                        </a:rPr>
                        <a:t>A&lt;B</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F</a:t>
                      </a:r>
                      <a:r>
                        <a:rPr kumimoji="0" lang="en-US" altLang="zh-CN" sz="1600" b="1" i="0" u="none" strike="noStrike" cap="none" normalizeH="0" baseline="-30000">
                          <a:ln>
                            <a:noFill/>
                          </a:ln>
                          <a:solidFill>
                            <a:srgbClr val="000000"/>
                          </a:solidFill>
                          <a:effectLst/>
                          <a:latin typeface="Arial" panose="020B0604020202020204" pitchFamily="34" charset="0"/>
                          <a:ea typeface="楷体_GB2312" pitchFamily="49" charset="-122"/>
                        </a:rPr>
                        <a:t>A=B</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chemeClr val="bg1"/>
                    </a:solidFill>
                  </a:tcPr>
                </a:tc>
              </a:tr>
              <a:tr h="306277">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a:noFill/>
                    </a:lnR>
                    <a:lnT w="12700" cap="flat" cmpd="sng" algn="ctr">
                      <a:solidFill>
                        <a:srgbClr val="000000"/>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a:noFill/>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miter lim="800000"/>
                      <a:headEnd type="none" w="med" len="med"/>
                      <a:tailEnd type="none" w="med" len="med"/>
                    </a:lnL>
                    <a:lnR>
                      <a:noFill/>
                    </a:lnR>
                    <a:lnT w="12700" cap="flat" cmpd="sng" algn="ctr">
                      <a:solidFill>
                        <a:srgbClr val="000000"/>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horzOverflow="overflow">
                    <a:lnL>
                      <a:noFill/>
                    </a:lnL>
                    <a:lnR>
                      <a:noFill/>
                    </a:lnR>
                    <a:lnT w="12700" cap="flat" cmpd="sng" algn="ctr">
                      <a:solidFill>
                        <a:srgbClr val="000000"/>
                      </a:solidFill>
                      <a:prstDash val="solid"/>
                      <a:miter lim="800000"/>
                      <a:headEnd type="none" w="med" len="med"/>
                      <a:tailEnd type="none" w="med" len="med"/>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horzOverflow="overflow">
                    <a:lnL>
                      <a:noFill/>
                    </a:lnL>
                    <a:lnR w="12700" cap="flat" cmpd="sng" algn="ctr">
                      <a:solidFill>
                        <a:schemeClr val="tx1"/>
                      </a:solidFill>
                      <a:prstDash val="solid"/>
                      <a:round/>
                      <a:headEnd type="none" w="med" len="med"/>
                      <a:tailEnd type="none" w="med" len="med"/>
                    </a:lnR>
                    <a:lnT w="12700" cap="flat" cmpd="sng" algn="ctr">
                      <a:solidFill>
                        <a:srgbClr val="000000"/>
                      </a:solidFill>
                      <a:prstDash val="solid"/>
                      <a:miter lim="800000"/>
                      <a:headEnd type="none" w="med" len="med"/>
                      <a:tailEnd type="none" w="med" len="med"/>
                    </a:lnT>
                    <a:lnB>
                      <a:noFill/>
                    </a:lnB>
                    <a:lnTlToBr>
                      <a:noFill/>
                    </a:lnTlToBr>
                    <a:lnBlToTr>
                      <a:noFill/>
                    </a:lnBlToTr>
                    <a:solidFill>
                      <a:schemeClr val="bg1"/>
                    </a:solidFill>
                  </a:tcPr>
                </a:tc>
              </a:tr>
              <a:tr h="306277">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a:noFill/>
                    </a:lnL>
                    <a:lnR w="12700" cap="flat" cmpd="sng" algn="ctr">
                      <a:solidFill>
                        <a:srgbClr val="000000"/>
                      </a:solidFill>
                      <a:prstDash val="solid"/>
                      <a:miter lim="800000"/>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miter lim="800000"/>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r>
              <a:tr h="305085">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a:noFill/>
                    </a:lnL>
                    <a:lnR w="12700" cap="flat" cmpd="sng" algn="ctr">
                      <a:solidFill>
                        <a:srgbClr val="000000"/>
                      </a:solidFill>
                      <a:prstDash val="solid"/>
                      <a:miter lim="800000"/>
                      <a:headEnd type="none" w="med" len="med"/>
                      <a:tailEnd type="none" w="med" len="med"/>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miter lim="800000"/>
                      <a:headEnd type="none" w="med" len="med"/>
                      <a:tailEnd type="none" w="med" len="med"/>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horzOverflow="overflow">
                    <a:lnL>
                      <a:noFill/>
                    </a:lnL>
                    <a:lnR>
                      <a:noFill/>
                    </a:lnR>
                    <a:lnT>
                      <a:noFill/>
                    </a:lnT>
                    <a:lnB>
                      <a:noFill/>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horzOverflow="overflow">
                    <a:lnL>
                      <a:noFill/>
                    </a:lnL>
                    <a:lnR w="12700" cap="flat" cmpd="sng" algn="ctr">
                      <a:solidFill>
                        <a:schemeClr val="tx1"/>
                      </a:solidFill>
                      <a:prstDash val="solid"/>
                      <a:round/>
                      <a:headEnd type="none" w="med" len="med"/>
                      <a:tailEnd type="none" w="med" len="med"/>
                    </a:lnR>
                    <a:lnT>
                      <a:noFill/>
                    </a:lnT>
                    <a:lnB>
                      <a:noFill/>
                    </a:lnB>
                    <a:lnTlToBr>
                      <a:noFill/>
                    </a:lnTlToBr>
                    <a:lnBlToTr>
                      <a:noFill/>
                    </a:lnBlToTr>
                    <a:solidFill>
                      <a:schemeClr val="bg1"/>
                    </a:solidFill>
                  </a:tcPr>
                </a:tc>
              </a:tr>
              <a:tr h="285265">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chemeClr val="tx1"/>
                      </a:solidFill>
                      <a:prstDash val="solid"/>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a:noFill/>
                    </a:lnL>
                    <a:lnR w="12700" cap="flat" cmpd="sng" algn="ctr">
                      <a:solidFill>
                        <a:srgbClr val="000000"/>
                      </a:solidFill>
                      <a:prstDash val="solid"/>
                      <a:miter lim="800000"/>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miter lim="800000"/>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grpSp>
        <p:nvGrpSpPr>
          <p:cNvPr id="117" name="组合 116"/>
          <p:cNvGrpSpPr/>
          <p:nvPr/>
        </p:nvGrpSpPr>
        <p:grpSpPr>
          <a:xfrm>
            <a:off x="3421380" y="2817756"/>
            <a:ext cx="1906270" cy="1843144"/>
            <a:chOff x="3421380" y="2817756"/>
            <a:chExt cx="1906270" cy="1843144"/>
          </a:xfrm>
        </p:grpSpPr>
        <p:sp>
          <p:nvSpPr>
            <p:cNvPr id="116" name="圆角矩形 115"/>
            <p:cNvSpPr/>
            <p:nvPr/>
          </p:nvSpPr>
          <p:spPr>
            <a:xfrm>
              <a:off x="3421380" y="2817756"/>
              <a:ext cx="1906270" cy="1843144"/>
            </a:xfrm>
            <a:prstGeom prst="roundRect">
              <a:avLst>
                <a:gd name="adj" fmla="val 10481"/>
              </a:avLst>
            </a:prstGeom>
            <a:solidFill>
              <a:schemeClr val="accent2">
                <a:lumMod val="20000"/>
                <a:lumOff val="80000"/>
              </a:schemeClr>
            </a:solidFill>
            <a:ln w="28575">
              <a:solidFill>
                <a:srgbClr val="CC00CC"/>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52618" name="Object 42"/>
            <p:cNvGraphicFramePr>
              <a:graphicFrameLocks noChangeAspect="1"/>
            </p:cNvGraphicFramePr>
            <p:nvPr/>
          </p:nvGraphicFramePr>
          <p:xfrm>
            <a:off x="3613688" y="2917943"/>
            <a:ext cx="1090612" cy="387350"/>
          </p:xfrm>
          <a:graphic>
            <a:graphicData uri="http://schemas.openxmlformats.org/presentationml/2006/ole">
              <mc:AlternateContent xmlns:mc="http://schemas.openxmlformats.org/markup-compatibility/2006">
                <mc:Choice xmlns:v="urn:schemas-microsoft-com:vml" Requires="v">
                  <p:oleObj spid="_x0000_s62494" name="Equation" r:id="rId2" imgW="685800" imgH="241300" progId="Equation.DSMT4">
                    <p:embed/>
                  </p:oleObj>
                </mc:Choice>
                <mc:Fallback>
                  <p:oleObj name="Equation" r:id="rId2" imgW="685800" imgH="241300" progId="Equation.DSMT4">
                    <p:embed/>
                    <p:pic>
                      <p:nvPicPr>
                        <p:cNvPr id="0" name="Object 4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13688" y="2917943"/>
                          <a:ext cx="1090612"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2619" name="Object 43"/>
            <p:cNvGraphicFramePr>
              <a:graphicFrameLocks noChangeAspect="1"/>
            </p:cNvGraphicFramePr>
            <p:nvPr/>
          </p:nvGraphicFramePr>
          <p:xfrm>
            <a:off x="3603650" y="3323816"/>
            <a:ext cx="1077913" cy="376238"/>
          </p:xfrm>
          <a:graphic>
            <a:graphicData uri="http://schemas.openxmlformats.org/presentationml/2006/ole">
              <mc:AlternateContent xmlns:mc="http://schemas.openxmlformats.org/markup-compatibility/2006">
                <mc:Choice xmlns:v="urn:schemas-microsoft-com:vml" Requires="v">
                  <p:oleObj spid="_x0000_s62495" name="Equation" r:id="rId4" imgW="673100" imgH="241300" progId="Equation.DSMT4">
                    <p:embed/>
                  </p:oleObj>
                </mc:Choice>
                <mc:Fallback>
                  <p:oleObj name="Equation" r:id="rId4" imgW="673100" imgH="241300" progId="Equation.DSMT4">
                    <p:embed/>
                    <p:pic>
                      <p:nvPicPr>
                        <p:cNvPr id="0" name="Object 4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03650" y="3323816"/>
                          <a:ext cx="1077913" cy="376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2620" name="Object 44"/>
            <p:cNvGraphicFramePr>
              <a:graphicFrameLocks noChangeAspect="1"/>
            </p:cNvGraphicFramePr>
            <p:nvPr/>
          </p:nvGraphicFramePr>
          <p:xfrm>
            <a:off x="3613688" y="3723578"/>
            <a:ext cx="1700454" cy="772796"/>
          </p:xfrm>
          <a:graphic>
            <a:graphicData uri="http://schemas.openxmlformats.org/presentationml/2006/ole">
              <mc:AlternateContent xmlns:mc="http://schemas.openxmlformats.org/markup-compatibility/2006">
                <mc:Choice xmlns:v="urn:schemas-microsoft-com:vml" Requires="v">
                  <p:oleObj spid="_x0000_s62496" name="Equation" r:id="rId6" imgW="26822400" imgH="12192000" progId="Equation.DSMT4">
                    <p:embed/>
                  </p:oleObj>
                </mc:Choice>
                <mc:Fallback>
                  <p:oleObj name="Equation" r:id="rId6" imgW="26822400" imgH="12192000" progId="Equation.DSMT4">
                    <p:embed/>
                    <p:pic>
                      <p:nvPicPr>
                        <p:cNvPr id="0" name="Object 44"/>
                        <p:cNvPicPr>
                          <a:picLocks noChangeAspect="1" noChangeArrowheads="1"/>
                        </p:cNvPicPr>
                        <p:nvPr/>
                      </p:nvPicPr>
                      <p:blipFill>
                        <a:blip r:embed="rId7"/>
                        <a:srcRect/>
                        <a:stretch>
                          <a:fillRect/>
                        </a:stretch>
                      </p:blipFill>
                      <p:spPr bwMode="auto">
                        <a:xfrm>
                          <a:off x="3613688" y="3723578"/>
                          <a:ext cx="1700454" cy="772796"/>
                        </a:xfrm>
                        <a:prstGeom prst="rect">
                          <a:avLst/>
                        </a:prstGeom>
                        <a:noFill/>
                      </p:spPr>
                    </p:pic>
                  </p:oleObj>
                </mc:Fallback>
              </mc:AlternateContent>
            </a:graphicData>
          </a:graphic>
        </p:graphicFrame>
      </p:grpSp>
      <p:grpSp>
        <p:nvGrpSpPr>
          <p:cNvPr id="115" name="组合 114"/>
          <p:cNvGrpSpPr/>
          <p:nvPr/>
        </p:nvGrpSpPr>
        <p:grpSpPr>
          <a:xfrm>
            <a:off x="5485130" y="2817756"/>
            <a:ext cx="3074670" cy="1843144"/>
            <a:chOff x="5040630" y="2858770"/>
            <a:chExt cx="3074670" cy="1548130"/>
          </a:xfrm>
        </p:grpSpPr>
        <p:sp>
          <p:nvSpPr>
            <p:cNvPr id="113" name="圆角矩形 112"/>
            <p:cNvSpPr/>
            <p:nvPr/>
          </p:nvSpPr>
          <p:spPr>
            <a:xfrm>
              <a:off x="5040630" y="2858770"/>
              <a:ext cx="3074670" cy="1548130"/>
            </a:xfrm>
            <a:prstGeom prst="roundRect">
              <a:avLst>
                <a:gd name="adj" fmla="val 10481"/>
              </a:avLst>
            </a:prstGeom>
            <a:solidFill>
              <a:schemeClr val="accent2">
                <a:lumMod val="20000"/>
                <a:lumOff val="80000"/>
              </a:schemeClr>
            </a:solidFill>
            <a:ln w="28575">
              <a:solidFill>
                <a:srgbClr val="CC00CC"/>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52622" name="Object 46"/>
            <p:cNvGraphicFramePr>
              <a:graphicFrameLocks noChangeAspect="1"/>
            </p:cNvGraphicFramePr>
            <p:nvPr/>
          </p:nvGraphicFramePr>
          <p:xfrm>
            <a:off x="5111749" y="3073400"/>
            <a:ext cx="2926567" cy="1060450"/>
          </p:xfrm>
          <a:graphic>
            <a:graphicData uri="http://schemas.openxmlformats.org/presentationml/2006/ole">
              <mc:AlternateContent xmlns:mc="http://schemas.openxmlformats.org/markup-compatibility/2006">
                <mc:Choice xmlns:v="urn:schemas-microsoft-com:vml" Requires="v">
                  <p:oleObj spid="_x0000_s62497" name="Visio" r:id="rId8" imgW="2364105" imgH="865505" progId="Visio.Drawing.11">
                    <p:embed/>
                  </p:oleObj>
                </mc:Choice>
                <mc:Fallback>
                  <p:oleObj name="Visio" r:id="rId8" imgW="2364105" imgH="865505" progId="Visio.Drawing.11">
                    <p:embed/>
                    <p:pic>
                      <p:nvPicPr>
                        <p:cNvPr id="0" name="Object 4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11749" y="3073400"/>
                          <a:ext cx="2926567" cy="1060450"/>
                        </a:xfrm>
                        <a:prstGeom prst="rect">
                          <a:avLst/>
                        </a:prstGeom>
                        <a:noFill/>
                        <a:extLst>
                          <a:ext uri="{909E8E84-426E-40DD-AFC4-6F175D3DCCD1}">
                            <a14:hiddenFill xmlns:a14="http://schemas.microsoft.com/office/drawing/2010/main">
                              <a:solidFill>
                                <a:schemeClr val="accent1"/>
                              </a:solidFill>
                            </a14:hiddenFill>
                          </a:ext>
                        </a:extLst>
                      </p:spPr>
                    </p:pic>
                  </p:oleObj>
                </mc:Fallback>
              </mc:AlternateContent>
            </a:graphicData>
          </a:graphic>
        </p:graphicFrame>
      </p:grpSp>
      <p:sp>
        <p:nvSpPr>
          <p:cNvPr id="19" name="矩形 18"/>
          <p:cNvSpPr/>
          <p:nvPr/>
        </p:nvSpPr>
        <p:spPr>
          <a:xfrm>
            <a:off x="2686621" y="2301573"/>
            <a:ext cx="4532010" cy="369332"/>
          </a:xfrm>
          <a:prstGeom prst="rect">
            <a:avLst/>
          </a:prstGeom>
        </p:spPr>
        <p:txBody>
          <a:bodyPr wrap="none">
            <a:spAutoFit/>
          </a:bodyPr>
          <a:lstStyle/>
          <a:p>
            <a:r>
              <a:rPr lang="en-US" altLang="zh-CN"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实现两个</a:t>
            </a:r>
            <a:r>
              <a:rPr lang="en-US" altLang="zh-CN"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位二进制数</a:t>
            </a:r>
            <a:r>
              <a:rPr lang="en-US" altLang="zh-CN"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b="1"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的大小比较</a:t>
            </a:r>
            <a:endParaRPr lang="zh-CN" altLang="en-US" dirty="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nodeType="click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slide(fromBottom)">
                                      <p:cBhvr>
                                        <p:cTn id="7" dur="1000"/>
                                        <p:tgtEl>
                                          <p:spTgt spid="106"/>
                                        </p:tgtEl>
                                      </p:cBhvr>
                                    </p:animEffect>
                                  </p:childTnLst>
                                </p:cTn>
                              </p:par>
                            </p:childTnLst>
                          </p:cTn>
                        </p:par>
                        <p:par>
                          <p:cTn id="8" fill="hold">
                            <p:stCondLst>
                              <p:cond delay="1000"/>
                            </p:stCondLst>
                            <p:childTnLst>
                              <p:par>
                                <p:cTn id="9" presetID="22" presetClass="entr" presetSubtype="8" fill="hold" grpId="0"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1000"/>
                                        <p:tgtEl>
                                          <p:spTgt spid="19"/>
                                        </p:tgtEl>
                                      </p:cBhvr>
                                    </p:animEffect>
                                  </p:childTnLst>
                                </p:cTn>
                              </p:par>
                            </p:childTnLst>
                          </p:cTn>
                        </p:par>
                        <p:par>
                          <p:cTn id="12" fill="hold">
                            <p:stCondLst>
                              <p:cond delay="2000"/>
                            </p:stCondLst>
                            <p:childTnLst>
                              <p:par>
                                <p:cTn id="13" presetID="22" presetClass="entr" presetSubtype="1" fill="hold" nodeType="afterEffect">
                                  <p:stCondLst>
                                    <p:cond delay="0"/>
                                  </p:stCondLst>
                                  <p:childTnLst>
                                    <p:set>
                                      <p:cBhvr>
                                        <p:cTn id="14" dur="1" fill="hold">
                                          <p:stCondLst>
                                            <p:cond delay="0"/>
                                          </p:stCondLst>
                                        </p:cTn>
                                        <p:tgtEl>
                                          <p:spTgt spid="111"/>
                                        </p:tgtEl>
                                        <p:attrNameLst>
                                          <p:attrName>style.visibility</p:attrName>
                                        </p:attrNameLst>
                                      </p:cBhvr>
                                      <p:to>
                                        <p:strVal val="visible"/>
                                      </p:to>
                                    </p:set>
                                    <p:animEffect transition="in" filter="wipe(up)">
                                      <p:cBhvr>
                                        <p:cTn id="15" dur="1000"/>
                                        <p:tgtEl>
                                          <p:spTgt spid="111"/>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117"/>
                                        </p:tgtEl>
                                        <p:attrNameLst>
                                          <p:attrName>style.visibility</p:attrName>
                                        </p:attrNameLst>
                                      </p:cBhvr>
                                      <p:to>
                                        <p:strVal val="visible"/>
                                      </p:to>
                                    </p:set>
                                    <p:animEffect transition="in" filter="wipe(left)">
                                      <p:cBhvr>
                                        <p:cTn id="20" dur="1000"/>
                                        <p:tgtEl>
                                          <p:spTgt spid="11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15"/>
                                        </p:tgtEl>
                                        <p:attrNameLst>
                                          <p:attrName>style.visibility</p:attrName>
                                        </p:attrNameLst>
                                      </p:cBhvr>
                                      <p:to>
                                        <p:strVal val="visible"/>
                                      </p:to>
                                    </p:set>
                                    <p:animEffect transition="in" filter="wipe(left)">
                                      <p:cBhvr>
                                        <p:cTn id="25" dur="1000"/>
                                        <p:tgtEl>
                                          <p:spTgt spid="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3" name="组合 17"/>
          <p:cNvGrpSpPr/>
          <p:nvPr/>
        </p:nvGrpSpPr>
        <p:grpSpPr>
          <a:xfrm>
            <a:off x="392432" y="769746"/>
            <a:ext cx="2344702" cy="420971"/>
            <a:chOff x="670560" y="892917"/>
            <a:chExt cx="2344702" cy="420971"/>
          </a:xfrm>
        </p:grpSpPr>
        <p:sp>
          <p:nvSpPr>
            <p:cNvPr id="224" name="矩形 223"/>
            <p:cNvSpPr/>
            <p:nvPr/>
          </p:nvSpPr>
          <p:spPr>
            <a:xfrm>
              <a:off x="1035233" y="913778"/>
              <a:ext cx="1980029"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两位数值比较器</a:t>
              </a:r>
              <a:endParaRPr lang="zh-CN" altLang="en-US" sz="2000" b="1" dirty="0">
                <a:solidFill>
                  <a:srgbClr val="FF00FF"/>
                </a:solidFill>
                <a:latin typeface="Times New Roman" panose="02020603050405020304" pitchFamily="18" charset="0"/>
                <a:cs typeface="Times New Roman" panose="02020603050405020304" pitchFamily="18" charset="0"/>
              </a:endParaRPr>
            </a:p>
          </p:txBody>
        </p:sp>
        <p:pic>
          <p:nvPicPr>
            <p:cNvPr id="229"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aphicFrame>
        <p:nvGraphicFramePr>
          <p:cNvPr id="230" name="Group 57"/>
          <p:cNvGraphicFramePr>
            <a:graphicFrameLocks noGrp="1"/>
          </p:cNvGraphicFramePr>
          <p:nvPr/>
        </p:nvGraphicFramePr>
        <p:xfrm>
          <a:off x="615948" y="2174601"/>
          <a:ext cx="3790952" cy="1998717"/>
        </p:xfrm>
        <a:graphic>
          <a:graphicData uri="http://schemas.openxmlformats.org/drawingml/2006/table">
            <a:tbl>
              <a:tblPr/>
              <a:tblGrid>
                <a:gridCol w="485969"/>
                <a:gridCol w="546530"/>
                <a:gridCol w="485969"/>
                <a:gridCol w="484493"/>
                <a:gridCol w="562441"/>
                <a:gridCol w="533400"/>
                <a:gridCol w="692150"/>
              </a:tblGrid>
              <a:tr h="331732">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chemeClr val="tx1">
                          <a:lumMod val="10000"/>
                        </a:schemeClr>
                      </a:solidFill>
                      <a:prstDash val="solid"/>
                      <a:round/>
                      <a:headEnd type="none" w="med" len="med"/>
                      <a:tailEnd type="none" w="med" len="med"/>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B</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a:noFill/>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miter lim="800000"/>
                      <a:headEnd type="none" w="med" len="med"/>
                      <a:tailEnd type="none" w="med" len="med"/>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B</a:t>
                      </a:r>
                      <a:r>
                        <a:rPr kumimoji="0" lang="en-US" altLang="zh-CN" sz="1600" b="1" i="0" u="none" strike="noStrike" cap="none" normalizeH="0" baseline="-3000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a:noFill/>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F</a:t>
                      </a:r>
                      <a:r>
                        <a:rPr kumimoji="0" lang="en-US" altLang="zh-CN" sz="1600" b="1" i="0" u="none" strike="noStrike" cap="none" normalizeH="0" baseline="-30000">
                          <a:ln>
                            <a:noFill/>
                          </a:ln>
                          <a:solidFill>
                            <a:srgbClr val="000000"/>
                          </a:solidFill>
                          <a:effectLst/>
                          <a:latin typeface="Arial" panose="020B0604020202020204" pitchFamily="34" charset="0"/>
                          <a:ea typeface="楷体_GB2312" pitchFamily="49" charset="-122"/>
                        </a:rPr>
                        <a:t>A&gt;B</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miter lim="800000"/>
                      <a:headEnd type="none" w="med" len="med"/>
                      <a:tailEnd type="none" w="med" len="med"/>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F</a:t>
                      </a:r>
                      <a:r>
                        <a:rPr kumimoji="0" lang="en-US" altLang="zh-CN" sz="1600" b="1" i="0" u="none" strike="noStrike" cap="none" normalizeH="0" baseline="-30000">
                          <a:ln>
                            <a:noFill/>
                          </a:ln>
                          <a:solidFill>
                            <a:srgbClr val="000000"/>
                          </a:solidFill>
                          <a:effectLst/>
                          <a:latin typeface="Arial" panose="020B0604020202020204" pitchFamily="34" charset="0"/>
                          <a:ea typeface="楷体_GB2312" pitchFamily="49" charset="-122"/>
                        </a:rPr>
                        <a:t>A&lt;B</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a:noFill/>
                    </a:lnL>
                    <a:lnR>
                      <a:noFill/>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F</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A=B</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a:noFill/>
                    </a:lnL>
                    <a:lnR w="12700" cap="flat" cmpd="sng" algn="ctr">
                      <a:solidFill>
                        <a:schemeClr val="tx1">
                          <a:lumMod val="10000"/>
                        </a:schemeClr>
                      </a:solidFill>
                      <a:prstDash val="solid"/>
                      <a:round/>
                      <a:headEnd type="none" w="med" len="med"/>
                      <a:tailEnd type="none" w="med" len="med"/>
                    </a:lnR>
                    <a:lnT w="12700" cap="flat" cmpd="sng" algn="ctr">
                      <a:solidFill>
                        <a:srgbClr val="000000"/>
                      </a:solidFill>
                      <a:prstDash val="solid"/>
                      <a:miter lim="800000"/>
                      <a:headEnd type="none" w="med" len="med"/>
                      <a:tailEnd type="none" w="med" len="med"/>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r>
              <a:tr h="331732">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1</a:t>
                      </a: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 &gt; B</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chemeClr val="tx1">
                          <a:lumMod val="10000"/>
                        </a:schemeClr>
                      </a:solidFill>
                      <a:prstDash val="solid"/>
                      <a:round/>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a:noFill/>
                    </a:lnB>
                    <a:lnTlToBr>
                      <a:noFill/>
                    </a:lnTlToBr>
                    <a:lnBlToTr>
                      <a:noFill/>
                    </a:lnBlToTr>
                    <a:solidFill>
                      <a:srgbClr val="FFFFFF"/>
                    </a:solidFill>
                  </a:tcPr>
                </a:tc>
                <a:tc hMerge="1">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w="12700" cap="flat" cmpd="sng" algn="ctr">
                      <a:solidFill>
                        <a:srgbClr val="000000"/>
                      </a:solidFill>
                      <a:prstDash val="solid"/>
                      <a:miter lim="800000"/>
                      <a:headEnd type="none" w="med" len="med"/>
                      <a:tailEnd type="none" w="med" len="med"/>
                    </a:lnT>
                    <a:lnB>
                      <a:noFill/>
                    </a:lnB>
                    <a:lnTlToBr>
                      <a:noFill/>
                    </a:lnTlToBr>
                    <a:lnBlToTr>
                      <a:noFill/>
                    </a:lnBlToTr>
                    <a:solidFill>
                      <a:srgbClr val="FFFFFF"/>
                    </a:solidFill>
                  </a:tcPr>
                </a:tc>
                <a:tc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miter lim="800000"/>
                      <a:headEnd type="none" w="med" len="med"/>
                      <a:tailEnd type="none" w="med" len="med"/>
                    </a:lnL>
                    <a:lnR>
                      <a:noFill/>
                    </a:lnR>
                    <a:lnT w="12700" cap="flat" cmpd="sng" algn="ctr">
                      <a:solidFill>
                        <a:srgbClr val="000000"/>
                      </a:solidFill>
                      <a:prstDash val="solid"/>
                      <a:miter lim="800000"/>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a:noFill/>
                    </a:lnL>
                    <a:lnR>
                      <a:noFill/>
                    </a:lnR>
                    <a:lnT w="12700" cap="flat" cmpd="sng" algn="ctr">
                      <a:solidFill>
                        <a:srgbClr val="000000"/>
                      </a:solidFill>
                      <a:prstDash val="solid"/>
                      <a:miter lim="800000"/>
                      <a:headEnd type="none" w="med" len="med"/>
                      <a:tailEnd type="none" w="med" len="med"/>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a:noFill/>
                    </a:lnL>
                    <a:lnR w="12700" cap="flat" cmpd="sng" algn="ctr">
                      <a:solidFill>
                        <a:schemeClr val="tx1">
                          <a:lumMod val="10000"/>
                        </a:schemeClr>
                      </a:solidFill>
                      <a:prstDash val="solid"/>
                      <a:round/>
                      <a:headEnd type="none" w="med" len="med"/>
                      <a:tailEnd type="none" w="med" len="med"/>
                    </a:lnR>
                    <a:lnT w="12700" cap="flat" cmpd="sng" algn="ctr">
                      <a:solidFill>
                        <a:srgbClr val="000000"/>
                      </a:solidFill>
                      <a:prstDash val="solid"/>
                      <a:miter lim="800000"/>
                      <a:headEnd type="none" w="med" len="med"/>
                      <a:tailEnd type="none" w="med" len="med"/>
                    </a:lnT>
                    <a:lnB>
                      <a:noFill/>
                    </a:lnB>
                    <a:lnTlToBr>
                      <a:noFill/>
                    </a:lnTlToBr>
                    <a:lnBlToTr>
                      <a:noFill/>
                    </a:lnBlToTr>
                    <a:solidFill>
                      <a:srgbClr val="FFFFFF"/>
                    </a:solidFill>
                  </a:tcPr>
                </a:tc>
              </a:tr>
              <a:tr h="331732">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1</a:t>
                      </a: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 &lt; B</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chemeClr val="tx1">
                          <a:lumMod val="10000"/>
                        </a:schemeClr>
                      </a:solidFill>
                      <a:prstDash val="solid"/>
                      <a:round/>
                      <a:headEnd type="none" w="med" len="med"/>
                      <a:tailEnd type="none" w="med" len="med"/>
                    </a:lnL>
                    <a:lnR w="12700" cap="flat" cmpd="sng" algn="ctr">
                      <a:solidFill>
                        <a:srgbClr val="000000"/>
                      </a:solidFill>
                      <a:prstDash val="solid"/>
                      <a:miter lim="800000"/>
                      <a:headEnd type="none" w="med" len="med"/>
                      <a:tailEnd type="none" w="med" len="med"/>
                    </a:lnR>
                    <a:lnT>
                      <a:noFill/>
                    </a:lnT>
                    <a:lnB>
                      <a:noFill/>
                    </a:lnB>
                    <a:lnTlToBr>
                      <a:noFill/>
                    </a:lnTlToBr>
                    <a:lnBlToTr>
                      <a:noFill/>
                    </a:lnBlToTr>
                    <a:solidFill>
                      <a:srgbClr val="FFFFFF"/>
                    </a:solidFill>
                  </a:tcPr>
                </a:tc>
                <a:tc hMerge="1">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a:noFill/>
                    </a:lnT>
                    <a:lnB>
                      <a:noFill/>
                    </a:lnB>
                    <a:lnTlToBr>
                      <a:noFill/>
                    </a:lnTlToBr>
                    <a:lnBlToTr>
                      <a:noFill/>
                    </a:lnBlToTr>
                    <a:solidFill>
                      <a:srgbClr val="FFFFFF"/>
                    </a:solidFill>
                  </a:tcPr>
                </a:tc>
                <a:tc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miter lim="800000"/>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a:noFill/>
                    </a:lnL>
                    <a:lnR w="12700" cap="flat" cmpd="sng" algn="ctr">
                      <a:solidFill>
                        <a:schemeClr val="tx1">
                          <a:lumMod val="10000"/>
                        </a:schemeClr>
                      </a:solidFill>
                      <a:prstDash val="solid"/>
                      <a:round/>
                      <a:headEnd type="none" w="med" len="med"/>
                      <a:tailEnd type="none" w="med" len="med"/>
                    </a:lnR>
                    <a:lnT>
                      <a:noFill/>
                    </a:lnT>
                    <a:lnB>
                      <a:noFill/>
                    </a:lnB>
                    <a:lnTlToBr>
                      <a:noFill/>
                    </a:lnTlToBr>
                    <a:lnBlToTr>
                      <a:noFill/>
                    </a:lnBlToTr>
                    <a:solidFill>
                      <a:srgbClr val="FFFFFF"/>
                    </a:solidFill>
                  </a:tcPr>
                </a:tc>
              </a:tr>
              <a:tr h="331732">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1</a:t>
                      </a: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 = B</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chemeClr val="tx1">
                          <a:lumMod val="10000"/>
                        </a:schemeClr>
                      </a:solidFill>
                      <a:prstDash val="solid"/>
                      <a:round/>
                      <a:headEnd type="none" w="med" len="med"/>
                      <a:tailEnd type="none" w="med" len="med"/>
                    </a:lnL>
                    <a:lnR w="12700" cap="flat" cmpd="sng" algn="ctr">
                      <a:solidFill>
                        <a:srgbClr val="000000"/>
                      </a:solidFill>
                      <a:prstDash val="solid"/>
                      <a:miter lim="800000"/>
                      <a:headEnd type="none" w="med" len="med"/>
                      <a:tailEnd type="none" w="med" len="med"/>
                    </a:lnR>
                    <a:lnT>
                      <a:noFill/>
                    </a:lnT>
                    <a:lnB>
                      <a:noFill/>
                    </a:lnB>
                    <a:lnTlToBr>
                      <a:noFill/>
                    </a:lnTlToBr>
                    <a:lnBlToTr>
                      <a:noFill/>
                    </a:lnBlToTr>
                    <a:solidFill>
                      <a:srgbClr val="FFFFFF"/>
                    </a:solidFill>
                  </a:tcPr>
                </a:tc>
                <a:tc hMerge="1">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0</a:t>
                      </a: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 &gt; B</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a:noFill/>
                    </a:lnT>
                    <a:lnB>
                      <a:noFill/>
                    </a:lnB>
                    <a:lnTlToBr>
                      <a:noFill/>
                    </a:lnTlToBr>
                    <a:lnBlToTr>
                      <a:noFill/>
                    </a:lnBlToTr>
                    <a:solidFill>
                      <a:srgbClr val="FFFFFF"/>
                    </a:solidFill>
                  </a:tcPr>
                </a:tc>
                <a:tc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miter lim="800000"/>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a:noFill/>
                    </a:lnL>
                    <a:lnR w="12700" cap="flat" cmpd="sng" algn="ctr">
                      <a:solidFill>
                        <a:schemeClr val="tx1">
                          <a:lumMod val="10000"/>
                        </a:schemeClr>
                      </a:solidFill>
                      <a:prstDash val="solid"/>
                      <a:round/>
                      <a:headEnd type="none" w="med" len="med"/>
                      <a:tailEnd type="none" w="med" len="med"/>
                    </a:lnR>
                    <a:lnT>
                      <a:noFill/>
                    </a:lnT>
                    <a:lnB>
                      <a:noFill/>
                    </a:lnB>
                    <a:lnTlToBr>
                      <a:noFill/>
                    </a:lnTlToBr>
                    <a:lnBlToTr>
                      <a:noFill/>
                    </a:lnBlToTr>
                    <a:solidFill>
                      <a:srgbClr val="FFFFFF"/>
                    </a:solidFill>
                  </a:tcPr>
                </a:tc>
              </a:tr>
              <a:tr h="348379">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A</a:t>
                      </a:r>
                      <a:r>
                        <a:rPr kumimoji="0" lang="en-US" altLang="zh-CN" sz="1600" b="1" i="0" u="none" strike="noStrike" cap="none" normalizeH="0" baseline="-30000">
                          <a:ln>
                            <a:noFill/>
                          </a:ln>
                          <a:solidFill>
                            <a:srgbClr val="000000"/>
                          </a:solidFill>
                          <a:effectLst/>
                          <a:latin typeface="Arial" panose="020B0604020202020204" pitchFamily="34" charset="0"/>
                          <a:ea typeface="楷体_GB2312" pitchFamily="49" charset="-122"/>
                        </a:rPr>
                        <a:t>1</a:t>
                      </a: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 = B</a:t>
                      </a:r>
                      <a:r>
                        <a:rPr kumimoji="0" lang="en-US" altLang="zh-CN" sz="1600" b="1" i="0" u="none" strike="noStrike" cap="none" normalizeH="0" baseline="-3000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chemeClr val="tx1">
                          <a:lumMod val="10000"/>
                        </a:schemeClr>
                      </a:solidFill>
                      <a:prstDash val="solid"/>
                      <a:round/>
                      <a:headEnd type="none" w="med" len="med"/>
                      <a:tailEnd type="none" w="med" len="med"/>
                    </a:lnL>
                    <a:lnR w="12700" cap="flat" cmpd="sng" algn="ctr">
                      <a:solidFill>
                        <a:srgbClr val="000000"/>
                      </a:solidFill>
                      <a:prstDash val="solid"/>
                      <a:miter lim="800000"/>
                      <a:headEnd type="none" w="med" len="med"/>
                      <a:tailEnd type="none" w="med" len="med"/>
                    </a:lnR>
                    <a:lnT>
                      <a:noFill/>
                    </a:lnT>
                    <a:lnB>
                      <a:noFill/>
                    </a:lnB>
                    <a:lnTlToBr>
                      <a:noFill/>
                    </a:lnTlToBr>
                    <a:lnBlToTr>
                      <a:noFill/>
                    </a:lnBlToTr>
                    <a:solidFill>
                      <a:srgbClr val="FFFFFF"/>
                    </a:solidFill>
                  </a:tcPr>
                </a:tc>
                <a:tc hMerge="1">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0</a:t>
                      </a: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 &lt; B</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a:noFill/>
                    </a:lnT>
                    <a:lnB>
                      <a:noFill/>
                    </a:lnB>
                    <a:lnTlToBr>
                      <a:noFill/>
                    </a:lnTlToBr>
                    <a:lnBlToTr>
                      <a:noFill/>
                    </a:lnBlToTr>
                    <a:solidFill>
                      <a:srgbClr val="FFFFFF"/>
                    </a:solidFill>
                  </a:tcPr>
                </a:tc>
                <a:tc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miter lim="800000"/>
                      <a:headEnd type="none" w="med" len="med"/>
                      <a:tailEnd type="none" w="med" len="med"/>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a:noFill/>
                    </a:lnL>
                    <a:lnR>
                      <a:noFill/>
                    </a:lnR>
                    <a:lnT>
                      <a:noFill/>
                    </a:lnT>
                    <a:lnB>
                      <a:noFill/>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a:noFill/>
                    </a:lnL>
                    <a:lnR w="12700" cap="flat" cmpd="sng" algn="ctr">
                      <a:solidFill>
                        <a:schemeClr val="tx1">
                          <a:lumMod val="10000"/>
                        </a:schemeClr>
                      </a:solidFill>
                      <a:prstDash val="solid"/>
                      <a:round/>
                      <a:headEnd type="none" w="med" len="med"/>
                      <a:tailEnd type="none" w="med" len="med"/>
                    </a:lnR>
                    <a:lnT>
                      <a:noFill/>
                    </a:lnT>
                    <a:lnB>
                      <a:noFill/>
                    </a:lnB>
                    <a:lnTlToBr>
                      <a:noFill/>
                    </a:lnTlToBr>
                    <a:lnBlToTr>
                      <a:noFill/>
                    </a:lnBlToTr>
                    <a:solidFill>
                      <a:srgbClr val="FFFFFF"/>
                    </a:solidFill>
                  </a:tcPr>
                </a:tc>
              </a:tr>
              <a:tr h="323410">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1</a:t>
                      </a: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 = B</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chemeClr val="tx1">
                          <a:lumMod val="10000"/>
                        </a:schemeClr>
                      </a:solidFill>
                      <a:prstDash val="solid"/>
                      <a:round/>
                      <a:headEnd type="none" w="med" len="med"/>
                      <a:tailEnd type="none" w="med" len="med"/>
                    </a:lnL>
                    <a:lnR w="12700" cap="flat" cmpd="sng" algn="ctr">
                      <a:solidFill>
                        <a:srgbClr val="000000"/>
                      </a:solidFill>
                      <a:prstDash val="solid"/>
                      <a:miter lim="800000"/>
                      <a:headEnd type="none" w="med" len="med"/>
                      <a:tailEnd type="none" w="med" len="med"/>
                    </a:lnR>
                    <a:lnT>
                      <a:noFill/>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hMerge="1">
                  <a:tcPr/>
                </a:tc>
                <a:tc gridSpan="2">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A</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0</a:t>
                      </a: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 = B</a:t>
                      </a:r>
                      <a:r>
                        <a:rPr kumimoji="0" lang="en-US" altLang="zh-CN" sz="1600" b="1" i="0" u="none" strike="noStrike" cap="none" normalizeH="0" baseline="-3000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miter lim="800000"/>
                      <a:headEnd type="none" w="med" len="med"/>
                      <a:tailEnd type="none" w="med" len="med"/>
                    </a:lnL>
                    <a:lnR w="12700" cap="flat" cmpd="sng" algn="ctr">
                      <a:solidFill>
                        <a:srgbClr val="000000"/>
                      </a:solidFill>
                      <a:prstDash val="solid"/>
                      <a:miter lim="800000"/>
                      <a:headEnd type="none" w="med" len="med"/>
                      <a:tailEnd type="none" w="med" len="med"/>
                    </a:lnR>
                    <a:lnT>
                      <a:noFill/>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hMerge="1">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miter lim="800000"/>
                      <a:headEnd type="none" w="med" len="med"/>
                      <a:tailEnd type="none" w="med" len="med"/>
                    </a:lnL>
                    <a:lnR>
                      <a:noFill/>
                    </a:lnR>
                    <a:lnT>
                      <a:noFill/>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a:noFill/>
                    </a:lnL>
                    <a:lnR>
                      <a:noFill/>
                    </a:lnR>
                    <a:lnT>
                      <a:noFill/>
                    </a:lnT>
                    <a:lnB w="12700" cap="flat" cmpd="sng" algn="ctr">
                      <a:solidFill>
                        <a:srgbClr val="000000"/>
                      </a:solidFill>
                      <a:prstDash val="solid"/>
                      <a:miter lim="800000"/>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rPr>
                        <a:t>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a:noFill/>
                    </a:lnL>
                    <a:lnR w="12700" cap="flat" cmpd="sng" algn="ctr">
                      <a:solidFill>
                        <a:schemeClr val="tx1">
                          <a:lumMod val="10000"/>
                        </a:schemeClr>
                      </a:solidFill>
                      <a:prstDash val="solid"/>
                      <a:round/>
                      <a:headEnd type="none" w="med" len="med"/>
                      <a:tailEnd type="none" w="med" len="med"/>
                    </a:lnR>
                    <a:lnT>
                      <a:noFill/>
                    </a:lnT>
                    <a:lnB w="12700" cap="flat" cmpd="sng" algn="ctr">
                      <a:solidFill>
                        <a:schemeClr val="tx1">
                          <a:lumMod val="10000"/>
                        </a:schemeClr>
                      </a:solidFill>
                      <a:prstDash val="solid"/>
                      <a:round/>
                      <a:headEnd type="none" w="med" len="med"/>
                      <a:tailEnd type="none" w="med" len="med"/>
                    </a:lnB>
                    <a:lnTlToBr>
                      <a:noFill/>
                    </a:lnTlToBr>
                    <a:lnBlToTr>
                      <a:noFill/>
                    </a:lnBlToTr>
                    <a:solidFill>
                      <a:srgbClr val="FFFFFF"/>
                    </a:solidFill>
                  </a:tcPr>
                </a:tc>
              </a:tr>
            </a:tbl>
          </a:graphicData>
        </a:graphic>
      </p:graphicFrame>
      <p:sp>
        <p:nvSpPr>
          <p:cNvPr id="275" name="圆角矩形 274"/>
          <p:cNvSpPr/>
          <p:nvPr/>
        </p:nvSpPr>
        <p:spPr>
          <a:xfrm>
            <a:off x="4931456" y="2174743"/>
            <a:ext cx="3105633" cy="2452260"/>
          </a:xfrm>
          <a:prstGeom prst="roundRect">
            <a:avLst>
              <a:gd name="adj" fmla="val 4974"/>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tabLst>
                <a:tab pos="-93345" algn="l"/>
                <a:tab pos="1679575" algn="l"/>
              </a:tabLst>
            </a:pPr>
            <a:endParaRPr lang="zh-CN" altLang="en-US" b="1" dirty="0">
              <a:solidFill>
                <a:schemeClr val="tx1"/>
              </a:solidFill>
              <a:latin typeface="Times New Roman" panose="02020603050405020304" pitchFamily="18" charset="0"/>
              <a:cs typeface="Times New Roman" panose="02020603050405020304" pitchFamily="18" charset="0"/>
            </a:endParaRPr>
          </a:p>
        </p:txBody>
      </p:sp>
      <p:grpSp>
        <p:nvGrpSpPr>
          <p:cNvPr id="18" name="组合 17"/>
          <p:cNvGrpSpPr/>
          <p:nvPr/>
        </p:nvGrpSpPr>
        <p:grpSpPr>
          <a:xfrm>
            <a:off x="798177" y="1364792"/>
            <a:ext cx="2076865" cy="379748"/>
            <a:chOff x="1057604" y="1235921"/>
            <a:chExt cx="2076865" cy="379748"/>
          </a:xfrm>
        </p:grpSpPr>
        <p:sp>
          <p:nvSpPr>
            <p:cNvPr id="17" name="圆角矩形 16"/>
            <p:cNvSpPr/>
            <p:nvPr/>
          </p:nvSpPr>
          <p:spPr>
            <a:xfrm>
              <a:off x="1057604" y="1245107"/>
              <a:ext cx="2070607" cy="370562"/>
            </a:xfrm>
            <a:prstGeom prst="roundRect">
              <a:avLst>
                <a:gd name="adj" fmla="val 22428"/>
              </a:avLst>
            </a:prstGeom>
            <a:solidFill>
              <a:schemeClr val="accent2">
                <a:lumMod val="20000"/>
                <a:lumOff val="80000"/>
              </a:schemeClr>
            </a:solidFill>
            <a:ln w="28575">
              <a:solidFill>
                <a:srgbClr val="CC00CC"/>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103144" y="1235921"/>
              <a:ext cx="2031325" cy="369332"/>
            </a:xfrm>
            <a:prstGeom prst="rect">
              <a:avLst/>
            </a:prstGeom>
          </p:spPr>
          <p:txBody>
            <a:bodyPr wrap="none">
              <a:spAutoFit/>
            </a:bodyPr>
            <a:lstStyle/>
            <a:p>
              <a:r>
                <a:rPr lang="en-US" altLang="zh-CN" b="1" dirty="0">
                  <a:solidFill>
                    <a:srgbClr val="0000FF"/>
                  </a:solidFill>
                  <a:latin typeface="Times New Roman" panose="02020603050405020304" pitchFamily="18" charset="0"/>
                  <a:cs typeface="Times New Roman" panose="02020603050405020304" pitchFamily="18" charset="0"/>
                </a:rPr>
                <a:t>A—A</a:t>
              </a:r>
              <a:r>
                <a:rPr lang="en-US" altLang="zh-CN" b="1" baseline="-25000" dirty="0">
                  <a:solidFill>
                    <a:srgbClr val="0000FF"/>
                  </a:solidFill>
                  <a:latin typeface="Times New Roman" panose="02020603050405020304" pitchFamily="18" charset="0"/>
                  <a:cs typeface="Times New Roman" panose="02020603050405020304" pitchFamily="18" charset="0"/>
                </a:rPr>
                <a:t>1</a:t>
              </a:r>
              <a:r>
                <a:rPr lang="en-US" altLang="zh-CN" b="1" dirty="0">
                  <a:solidFill>
                    <a:srgbClr val="0000FF"/>
                  </a:solidFill>
                  <a:latin typeface="Times New Roman" panose="02020603050405020304" pitchFamily="18" charset="0"/>
                  <a:cs typeface="Times New Roman" panose="02020603050405020304" pitchFamily="18" charset="0"/>
                </a:rPr>
                <a:t>A</a:t>
              </a:r>
              <a:r>
                <a:rPr lang="en-US" altLang="zh-CN" b="1" baseline="-25000" dirty="0">
                  <a:solidFill>
                    <a:srgbClr val="0000FF"/>
                  </a:solidFill>
                  <a:latin typeface="Times New Roman" panose="02020603050405020304" pitchFamily="18" charset="0"/>
                  <a:cs typeface="Times New Roman" panose="02020603050405020304" pitchFamily="18" charset="0"/>
                </a:rPr>
                <a:t>0</a:t>
              </a:r>
              <a:r>
                <a:rPr lang="en-US" altLang="zh-CN" b="1" dirty="0">
                  <a:solidFill>
                    <a:srgbClr val="0000FF"/>
                  </a:solidFill>
                  <a:latin typeface="Times New Roman" panose="02020603050405020304" pitchFamily="18" charset="0"/>
                  <a:cs typeface="Times New Roman" panose="02020603050405020304" pitchFamily="18" charset="0"/>
                </a:rPr>
                <a:t>  B—B</a:t>
              </a:r>
              <a:r>
                <a:rPr lang="en-US" altLang="zh-CN" b="1" baseline="-25000" dirty="0">
                  <a:solidFill>
                    <a:srgbClr val="0000FF"/>
                  </a:solidFill>
                  <a:latin typeface="Times New Roman" panose="02020603050405020304" pitchFamily="18" charset="0"/>
                  <a:cs typeface="Times New Roman" panose="02020603050405020304" pitchFamily="18" charset="0"/>
                </a:rPr>
                <a:t>1</a:t>
              </a:r>
              <a:r>
                <a:rPr lang="en-US" altLang="zh-CN" b="1" dirty="0">
                  <a:solidFill>
                    <a:srgbClr val="0000FF"/>
                  </a:solidFill>
                  <a:latin typeface="Times New Roman" panose="02020603050405020304" pitchFamily="18" charset="0"/>
                  <a:cs typeface="Times New Roman" panose="02020603050405020304" pitchFamily="18" charset="0"/>
                </a:rPr>
                <a:t>B</a:t>
              </a:r>
              <a:r>
                <a:rPr lang="en-US" altLang="zh-CN" b="1" baseline="-25000" dirty="0">
                  <a:solidFill>
                    <a:srgbClr val="0000FF"/>
                  </a:solidFill>
                  <a:latin typeface="Times New Roman" panose="02020603050405020304" pitchFamily="18" charset="0"/>
                  <a:cs typeface="Times New Roman" panose="02020603050405020304" pitchFamily="18" charset="0"/>
                </a:rPr>
                <a:t>0</a:t>
              </a:r>
              <a:endParaRPr lang="zh-CN" altLang="en-US" dirty="0">
                <a:solidFill>
                  <a:srgbClr val="0000FF"/>
                </a:solidFill>
              </a:endParaRPr>
            </a:p>
          </p:txBody>
        </p:sp>
      </p:grpSp>
      <p:grpSp>
        <p:nvGrpSpPr>
          <p:cNvPr id="22" name="组合 21"/>
          <p:cNvGrpSpPr/>
          <p:nvPr/>
        </p:nvGrpSpPr>
        <p:grpSpPr>
          <a:xfrm>
            <a:off x="3135092" y="1180911"/>
            <a:ext cx="3971272" cy="689149"/>
            <a:chOff x="3389467" y="1022003"/>
            <a:chExt cx="3971272" cy="683600"/>
          </a:xfrm>
        </p:grpSpPr>
        <p:sp>
          <p:nvSpPr>
            <p:cNvPr id="19" name="左大括号 18"/>
            <p:cNvSpPr/>
            <p:nvPr/>
          </p:nvSpPr>
          <p:spPr>
            <a:xfrm>
              <a:off x="3389467" y="1072031"/>
              <a:ext cx="151255" cy="633572"/>
            </a:xfrm>
            <a:prstGeom prst="leftBrace">
              <a:avLst>
                <a:gd name="adj1" fmla="val 84084"/>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矩形 19"/>
            <p:cNvSpPr/>
            <p:nvPr/>
          </p:nvSpPr>
          <p:spPr>
            <a:xfrm>
              <a:off x="3511608" y="1022003"/>
              <a:ext cx="3849131" cy="369331"/>
            </a:xfrm>
            <a:prstGeom prst="rect">
              <a:avLst/>
            </a:prstGeom>
          </p:spPr>
          <p:txBody>
            <a:bodyPr wrap="none">
              <a:spAutoFit/>
            </a:bodyPr>
            <a:lstStyle/>
            <a:p>
              <a:pPr lvl="0" eaLnBrk="0" fontAlgn="base" hangingPunct="0">
                <a:spcBef>
                  <a:spcPct val="0"/>
                </a:spcBef>
                <a:spcAft>
                  <a:spcPct val="0"/>
                </a:spcAft>
              </a:pPr>
              <a:r>
                <a:rPr lang="en-US" altLang="zh-CN" b="1" dirty="0">
                  <a:solidFill>
                    <a:srgbClr val="000000"/>
                  </a:solidFill>
                  <a:latin typeface="Arial" panose="020B0604020202020204" pitchFamily="34" charset="0"/>
                  <a:ea typeface="楷体_GB2312" pitchFamily="49" charset="-122"/>
                </a:rPr>
                <a:t>A</a:t>
              </a:r>
              <a:r>
                <a:rPr lang="en-US" altLang="zh-CN" b="1" baseline="-30000" dirty="0">
                  <a:solidFill>
                    <a:srgbClr val="000000"/>
                  </a:solidFill>
                  <a:latin typeface="Arial" panose="020B0604020202020204" pitchFamily="34" charset="0"/>
                  <a:ea typeface="楷体_GB2312" pitchFamily="49" charset="-122"/>
                </a:rPr>
                <a:t>1</a:t>
              </a:r>
              <a:r>
                <a:rPr lang="en-US" altLang="zh-CN" b="1" dirty="0">
                  <a:solidFill>
                    <a:srgbClr val="000000"/>
                  </a:solidFill>
                  <a:latin typeface="Arial" panose="020B0604020202020204" pitchFamily="34" charset="0"/>
                  <a:ea typeface="楷体_GB2312" pitchFamily="49" charset="-122"/>
                </a:rPr>
                <a:t> ≠ B</a:t>
              </a:r>
              <a:r>
                <a:rPr lang="en-US" altLang="zh-CN" b="1" baseline="-30000" dirty="0">
                  <a:solidFill>
                    <a:srgbClr val="000000"/>
                  </a:solidFill>
                  <a:latin typeface="Arial" panose="020B0604020202020204" pitchFamily="34" charset="0"/>
                  <a:ea typeface="楷体_GB2312" pitchFamily="49" charset="-122"/>
                </a:rPr>
                <a:t>1</a:t>
              </a:r>
              <a:r>
                <a:rPr lang="en-US" altLang="zh-CN" b="1" dirty="0">
                  <a:solidFill>
                    <a:srgbClr val="000000"/>
                  </a:solidFill>
                  <a:latin typeface="黑体" panose="02010609060101010101" pitchFamily="49" charset="-122"/>
                  <a:ea typeface="黑体" panose="02010609060101010101" pitchFamily="49" charset="-122"/>
                </a:rPr>
                <a:t>,</a:t>
              </a:r>
              <a:r>
                <a:rPr lang="zh-CN" altLang="en-US" b="1" dirty="0">
                  <a:solidFill>
                    <a:srgbClr val="000000"/>
                  </a:solidFill>
                  <a:latin typeface="Arial" panose="020B0604020202020204" pitchFamily="34" charset="0"/>
                  <a:ea typeface="楷体_GB2312" pitchFamily="49" charset="-122"/>
                </a:rPr>
                <a:t>比较结果为高位比较结果。</a:t>
              </a:r>
              <a:endParaRPr lang="en-US" altLang="zh-CN" b="1" dirty="0">
                <a:solidFill>
                  <a:srgbClr val="000000"/>
                </a:solidFill>
                <a:latin typeface="Arial" panose="020B0604020202020204" pitchFamily="34" charset="0"/>
                <a:ea typeface="楷体_GB2312" pitchFamily="49" charset="-122"/>
              </a:endParaRPr>
            </a:p>
          </p:txBody>
        </p:sp>
      </p:grpSp>
      <p:sp>
        <p:nvSpPr>
          <p:cNvPr id="21" name="矩形 20"/>
          <p:cNvSpPr/>
          <p:nvPr/>
        </p:nvSpPr>
        <p:spPr>
          <a:xfrm>
            <a:off x="3273593" y="1546443"/>
            <a:ext cx="3857146" cy="369332"/>
          </a:xfrm>
          <a:prstGeom prst="rect">
            <a:avLst/>
          </a:prstGeom>
        </p:spPr>
        <p:txBody>
          <a:bodyPr wrap="none">
            <a:spAutoFit/>
          </a:bodyPr>
          <a:lstStyle/>
          <a:p>
            <a:pPr lvl="0" eaLnBrk="0" fontAlgn="base" hangingPunct="0">
              <a:spcBef>
                <a:spcPct val="0"/>
              </a:spcBef>
              <a:spcAft>
                <a:spcPct val="0"/>
              </a:spcAft>
            </a:pPr>
            <a:r>
              <a:rPr lang="en-US" altLang="zh-CN" b="1" dirty="0">
                <a:solidFill>
                  <a:srgbClr val="000000"/>
                </a:solidFill>
                <a:latin typeface="Arial" panose="020B0604020202020204" pitchFamily="34" charset="0"/>
                <a:ea typeface="楷体_GB2312" pitchFamily="49" charset="-122"/>
              </a:rPr>
              <a:t>A</a:t>
            </a:r>
            <a:r>
              <a:rPr lang="en-US" altLang="zh-CN" b="1" baseline="-30000" dirty="0">
                <a:solidFill>
                  <a:srgbClr val="000000"/>
                </a:solidFill>
                <a:latin typeface="Arial" panose="020B0604020202020204" pitchFamily="34" charset="0"/>
                <a:ea typeface="楷体_GB2312" pitchFamily="49" charset="-122"/>
              </a:rPr>
              <a:t>1</a:t>
            </a:r>
            <a:r>
              <a:rPr lang="en-US" altLang="zh-CN" b="1" dirty="0">
                <a:solidFill>
                  <a:srgbClr val="000000"/>
                </a:solidFill>
                <a:latin typeface="Arial" panose="020B0604020202020204" pitchFamily="34" charset="0"/>
                <a:ea typeface="楷体_GB2312" pitchFamily="49" charset="-122"/>
              </a:rPr>
              <a:t> = B</a:t>
            </a:r>
            <a:r>
              <a:rPr lang="en-US" altLang="zh-CN" b="1" baseline="-30000" dirty="0">
                <a:solidFill>
                  <a:srgbClr val="000000"/>
                </a:solidFill>
                <a:latin typeface="Arial" panose="020B0604020202020204" pitchFamily="34" charset="0"/>
                <a:ea typeface="楷体_GB2312" pitchFamily="49" charset="-122"/>
              </a:rPr>
              <a:t>1</a:t>
            </a:r>
            <a:r>
              <a:rPr lang="en-US" altLang="zh-CN" b="1" dirty="0">
                <a:solidFill>
                  <a:srgbClr val="000000"/>
                </a:solidFill>
                <a:latin typeface="黑体" panose="02010609060101010101" pitchFamily="49" charset="-122"/>
                <a:ea typeface="黑体" panose="02010609060101010101" pitchFamily="49" charset="-122"/>
              </a:rPr>
              <a:t>,</a:t>
            </a:r>
            <a:r>
              <a:rPr lang="zh-CN" altLang="en-US" b="1" dirty="0">
                <a:solidFill>
                  <a:srgbClr val="000000"/>
                </a:solidFill>
                <a:latin typeface="Arial" panose="020B0604020202020204" pitchFamily="34" charset="0"/>
                <a:ea typeface="楷体_GB2312" pitchFamily="49" charset="-122"/>
              </a:rPr>
              <a:t>比较结果为低位比较结果。</a:t>
            </a:r>
            <a:endParaRPr lang="en-US" altLang="zh-CN" b="1" dirty="0">
              <a:solidFill>
                <a:srgbClr val="000000"/>
              </a:solidFill>
              <a:latin typeface="Arial" panose="020B0604020202020204" pitchFamily="34" charset="0"/>
              <a:ea typeface="楷体_GB2312" pitchFamily="49" charset="-122"/>
            </a:endParaRPr>
          </a:p>
        </p:txBody>
      </p:sp>
      <p:sp>
        <p:nvSpPr>
          <p:cNvPr id="23" name="圆角矩形 22"/>
          <p:cNvSpPr/>
          <p:nvPr/>
        </p:nvSpPr>
        <p:spPr>
          <a:xfrm>
            <a:off x="615977" y="2517338"/>
            <a:ext cx="3791018" cy="624609"/>
          </a:xfrm>
          <a:prstGeom prst="roundRect">
            <a:avLst>
              <a:gd name="adj" fmla="val 0"/>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圆角矩形 23"/>
          <p:cNvSpPr/>
          <p:nvPr/>
        </p:nvSpPr>
        <p:spPr>
          <a:xfrm>
            <a:off x="617123" y="3157876"/>
            <a:ext cx="3791018" cy="1015351"/>
          </a:xfrm>
          <a:prstGeom prst="roundRect">
            <a:avLst>
              <a:gd name="adj" fmla="val 0"/>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0" name="组合 29"/>
          <p:cNvGrpSpPr/>
          <p:nvPr/>
        </p:nvGrpSpPr>
        <p:grpSpPr>
          <a:xfrm>
            <a:off x="618268" y="2525360"/>
            <a:ext cx="3791018" cy="947748"/>
            <a:chOff x="618268" y="2188485"/>
            <a:chExt cx="3791018" cy="947748"/>
          </a:xfrm>
        </p:grpSpPr>
        <p:sp>
          <p:nvSpPr>
            <p:cNvPr id="27" name="圆角矩形 26"/>
            <p:cNvSpPr/>
            <p:nvPr/>
          </p:nvSpPr>
          <p:spPr>
            <a:xfrm>
              <a:off x="618268" y="2188485"/>
              <a:ext cx="3791018" cy="300334"/>
            </a:xfrm>
            <a:prstGeom prst="roundRect">
              <a:avLst>
                <a:gd name="adj" fmla="val 0"/>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圆角矩形 27"/>
            <p:cNvSpPr/>
            <p:nvPr/>
          </p:nvSpPr>
          <p:spPr>
            <a:xfrm>
              <a:off x="618268" y="2835899"/>
              <a:ext cx="3791018" cy="300334"/>
            </a:xfrm>
            <a:prstGeom prst="roundRect">
              <a:avLst>
                <a:gd name="adj" fmla="val 0"/>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1" name="组合 30"/>
          <p:cNvGrpSpPr/>
          <p:nvPr/>
        </p:nvGrpSpPr>
        <p:grpSpPr>
          <a:xfrm>
            <a:off x="612539" y="2863390"/>
            <a:ext cx="3791018" cy="947748"/>
            <a:chOff x="618268" y="2188485"/>
            <a:chExt cx="3791018" cy="947748"/>
          </a:xfrm>
        </p:grpSpPr>
        <p:sp>
          <p:nvSpPr>
            <p:cNvPr id="32" name="圆角矩形 31"/>
            <p:cNvSpPr/>
            <p:nvPr/>
          </p:nvSpPr>
          <p:spPr>
            <a:xfrm>
              <a:off x="618268" y="2188485"/>
              <a:ext cx="3791018" cy="300334"/>
            </a:xfrm>
            <a:prstGeom prst="roundRect">
              <a:avLst>
                <a:gd name="adj" fmla="val 0"/>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圆角矩形 32"/>
            <p:cNvSpPr/>
            <p:nvPr/>
          </p:nvSpPr>
          <p:spPr>
            <a:xfrm>
              <a:off x="618268" y="2835899"/>
              <a:ext cx="3791018" cy="300334"/>
            </a:xfrm>
            <a:prstGeom prst="roundRect">
              <a:avLst>
                <a:gd name="adj" fmla="val 0"/>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4" name="圆角矩形 33"/>
          <p:cNvSpPr/>
          <p:nvPr/>
        </p:nvSpPr>
        <p:spPr>
          <a:xfrm>
            <a:off x="619414" y="3854563"/>
            <a:ext cx="3791018" cy="300334"/>
          </a:xfrm>
          <a:prstGeom prst="roundRect">
            <a:avLst>
              <a:gd name="adj" fmla="val 0"/>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3011" name="Object 3"/>
          <p:cNvGraphicFramePr>
            <a:graphicFrameLocks noChangeAspect="1"/>
          </p:cNvGraphicFramePr>
          <p:nvPr/>
        </p:nvGraphicFramePr>
        <p:xfrm>
          <a:off x="5080304" y="3067679"/>
          <a:ext cx="2359025" cy="342900"/>
        </p:xfrm>
        <a:graphic>
          <a:graphicData uri="http://schemas.openxmlformats.org/presentationml/2006/ole">
            <mc:AlternateContent xmlns:mc="http://schemas.openxmlformats.org/markup-compatibility/2006">
              <mc:Choice xmlns:v="urn:schemas-microsoft-com:vml" Requires="v">
                <p:oleObj spid="_x0000_s63532" name="Equation" r:id="rId2" imgW="1663700" imgH="241300" progId="Equation.DSMT4">
                  <p:embed/>
                </p:oleObj>
              </mc:Choice>
              <mc:Fallback>
                <p:oleObj name="Equation" r:id="rId2" imgW="1663700" imgH="241300" progId="Equation.DSMT4">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80304" y="3067679"/>
                        <a:ext cx="2359025"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12" name="Object 4"/>
          <p:cNvGraphicFramePr>
            <a:graphicFrameLocks noChangeAspect="1"/>
          </p:cNvGraphicFramePr>
          <p:nvPr/>
        </p:nvGraphicFramePr>
        <p:xfrm>
          <a:off x="5080304" y="2319413"/>
          <a:ext cx="2359025" cy="341312"/>
        </p:xfrm>
        <a:graphic>
          <a:graphicData uri="http://schemas.openxmlformats.org/presentationml/2006/ole">
            <mc:AlternateContent xmlns:mc="http://schemas.openxmlformats.org/markup-compatibility/2006">
              <mc:Choice xmlns:v="urn:schemas-microsoft-com:vml" Requires="v">
                <p:oleObj spid="_x0000_s63533" name="Equation" r:id="rId4" imgW="1663700" imgH="241300" progId="Equation.DSMT4">
                  <p:embed/>
                </p:oleObj>
              </mc:Choice>
              <mc:Fallback>
                <p:oleObj name="Equation" r:id="rId4" imgW="1663700" imgH="24130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80304" y="2319413"/>
                        <a:ext cx="2359025" cy="341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15" name="Object 7"/>
          <p:cNvGraphicFramePr>
            <a:graphicFrameLocks noChangeAspect="1"/>
          </p:cNvGraphicFramePr>
          <p:nvPr/>
        </p:nvGraphicFramePr>
        <p:xfrm>
          <a:off x="5558295" y="2688722"/>
          <a:ext cx="1940211" cy="288000"/>
        </p:xfrm>
        <a:graphic>
          <a:graphicData uri="http://schemas.openxmlformats.org/presentationml/2006/ole">
            <mc:AlternateContent xmlns:mc="http://schemas.openxmlformats.org/markup-compatibility/2006">
              <mc:Choice xmlns:v="urn:schemas-microsoft-com:vml" Requires="v">
                <p:oleObj spid="_x0000_s63534" name="Equation" r:id="rId6" imgW="1625600" imgH="241300" progId="Equation.DSMT4">
                  <p:embed/>
                </p:oleObj>
              </mc:Choice>
              <mc:Fallback>
                <p:oleObj name="Equation" r:id="rId6" imgW="1625600" imgH="24130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58295" y="2688722"/>
                        <a:ext cx="1940211" cy="2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16" name="Object 8"/>
          <p:cNvGraphicFramePr>
            <a:graphicFrameLocks noChangeAspect="1"/>
          </p:cNvGraphicFramePr>
          <p:nvPr/>
        </p:nvGraphicFramePr>
        <p:xfrm>
          <a:off x="5558295" y="3451868"/>
          <a:ext cx="1940211" cy="288000"/>
        </p:xfrm>
        <a:graphic>
          <a:graphicData uri="http://schemas.openxmlformats.org/presentationml/2006/ole">
            <mc:AlternateContent xmlns:mc="http://schemas.openxmlformats.org/markup-compatibility/2006">
              <mc:Choice xmlns:v="urn:schemas-microsoft-com:vml" Requires="v">
                <p:oleObj spid="_x0000_s63535" name="Equation" r:id="rId8" imgW="1625600" imgH="241300" progId="Equation.DSMT4">
                  <p:embed/>
                </p:oleObj>
              </mc:Choice>
              <mc:Fallback>
                <p:oleObj name="Equation" r:id="rId8" imgW="1625600" imgH="241300"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58295" y="3451868"/>
                        <a:ext cx="1940211" cy="2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7" name="组合 46"/>
          <p:cNvGrpSpPr/>
          <p:nvPr/>
        </p:nvGrpSpPr>
        <p:grpSpPr>
          <a:xfrm>
            <a:off x="5080304" y="3817533"/>
            <a:ext cx="2712734" cy="624292"/>
            <a:chOff x="5080304" y="3817533"/>
            <a:chExt cx="2712734" cy="624292"/>
          </a:xfrm>
        </p:grpSpPr>
        <p:graphicFrame>
          <p:nvGraphicFramePr>
            <p:cNvPr id="43013" name="Object 5"/>
            <p:cNvGraphicFramePr>
              <a:graphicFrameLocks noChangeAspect="1"/>
            </p:cNvGraphicFramePr>
            <p:nvPr/>
          </p:nvGraphicFramePr>
          <p:xfrm>
            <a:off x="5080304" y="3817533"/>
            <a:ext cx="1709738" cy="342900"/>
          </p:xfrm>
          <a:graphic>
            <a:graphicData uri="http://schemas.openxmlformats.org/presentationml/2006/ole">
              <mc:AlternateContent xmlns:mc="http://schemas.openxmlformats.org/markup-compatibility/2006">
                <mc:Choice xmlns:v="urn:schemas-microsoft-com:vml" Requires="v">
                  <p:oleObj spid="_x0000_s63536" name="Equation" r:id="rId10" imgW="1206500" imgH="241300" progId="Equation.DSMT4">
                    <p:embed/>
                  </p:oleObj>
                </mc:Choice>
                <mc:Fallback>
                  <p:oleObj name="Equation" r:id="rId10" imgW="1206500" imgH="241300" progId="Equation.DSMT4">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80304" y="3817533"/>
                          <a:ext cx="170973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017" name="Object 9"/>
            <p:cNvGraphicFramePr>
              <a:graphicFrameLocks noChangeAspect="1"/>
            </p:cNvGraphicFramePr>
            <p:nvPr/>
          </p:nvGraphicFramePr>
          <p:xfrm>
            <a:off x="5594350" y="4152900"/>
            <a:ext cx="2198688" cy="288925"/>
          </p:xfrm>
          <a:graphic>
            <a:graphicData uri="http://schemas.openxmlformats.org/presentationml/2006/ole">
              <mc:AlternateContent xmlns:mc="http://schemas.openxmlformats.org/markup-compatibility/2006">
                <mc:Choice xmlns:v="urn:schemas-microsoft-com:vml" Requires="v">
                  <p:oleObj spid="_x0000_s63537" name="Equation" r:id="rId12" imgW="44196000" imgH="5791200" progId="Equation.DSMT4">
                    <p:embed/>
                  </p:oleObj>
                </mc:Choice>
                <mc:Fallback>
                  <p:oleObj name="Equation" r:id="rId12" imgW="44196000" imgH="5791200" progId="Equation.DSMT4">
                    <p:embed/>
                    <p:pic>
                      <p:nvPicPr>
                        <p:cNvPr id="0" name="Object 9"/>
                        <p:cNvPicPr>
                          <a:picLocks noChangeAspect="1" noChangeArrowheads="1"/>
                        </p:cNvPicPr>
                        <p:nvPr/>
                      </p:nvPicPr>
                      <p:blipFill>
                        <a:blip r:embed="rId13"/>
                        <a:srcRect/>
                        <a:stretch>
                          <a:fillRect/>
                        </a:stretch>
                      </p:blipFill>
                      <p:spPr bwMode="auto">
                        <a:xfrm>
                          <a:off x="5594350" y="4152900"/>
                          <a:ext cx="2198688"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Tree>
  </p:cSld>
  <p:clrMapOvr>
    <a:masterClrMapping/>
  </p:clrMapOvr>
  <p:transition spd="slow">
    <p:push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set>
                                      <p:cBhvr>
                                        <p:cTn id="6" dur="1" fill="hold">
                                          <p:stCondLst>
                                            <p:cond delay="0"/>
                                          </p:stCondLst>
                                        </p:cTn>
                                        <p:tgtEl>
                                          <p:spTgt spid="230"/>
                                        </p:tgtEl>
                                        <p:attrNameLst>
                                          <p:attrName>style.visibility</p:attrName>
                                        </p:attrNameLst>
                                      </p:cBhvr>
                                      <p:to>
                                        <p:strVal val="visible"/>
                                      </p:to>
                                    </p:set>
                                    <p:animEffect transition="in" filter="wipe(up)">
                                      <p:cBhvr>
                                        <p:cTn id="7" dur="1000"/>
                                        <p:tgtEl>
                                          <p:spTgt spid="230"/>
                                        </p:tgtEl>
                                      </p:cBhvr>
                                    </p:animEffect>
                                  </p:childTnLst>
                                </p:cTn>
                              </p:par>
                            </p:childTnLst>
                          </p:cTn>
                        </p:par>
                        <p:par>
                          <p:cTn id="8" fill="hold">
                            <p:stCondLst>
                              <p:cond delay="1000"/>
                            </p:stCondLst>
                            <p:childTnLst>
                              <p:par>
                                <p:cTn id="9" presetID="22" presetClass="entr" presetSubtype="1"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up)">
                                      <p:cBhvr>
                                        <p:cTn id="11" dur="1000"/>
                                        <p:tgtEl>
                                          <p:spTgt spid="23"/>
                                        </p:tgtEl>
                                      </p:cBhvr>
                                    </p:animEffect>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par>
                    <p:cTn id="12" fill="hold">
                      <p:stCondLst>
                        <p:cond delay="indefinite"/>
                      </p:stCondLst>
                      <p:childTnLst>
                        <p:par>
                          <p:cTn id="13" fill="hold">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wipe(up)">
                                      <p:cBhvr>
                                        <p:cTn id="16" dur="1000"/>
                                        <p:tgtEl>
                                          <p:spTgt spid="24"/>
                                        </p:tgtEl>
                                      </p:cBhvr>
                                    </p:animEffect>
                                  </p:childTnLst>
                                  <p:subTnLst>
                                    <p:set>
                                      <p:cBhvr override="childStyle">
                                        <p:cTn dur="1" fill="hold" display="0" masterRel="nextClick" afterEffect="1"/>
                                        <p:tgtEl>
                                          <p:spTgt spid="24"/>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22" presetClass="entr" presetSubtype="1" fill="hold" grpId="0" nodeType="clickEffect">
                                  <p:stCondLst>
                                    <p:cond delay="0"/>
                                  </p:stCondLst>
                                  <p:childTnLst>
                                    <p:set>
                                      <p:cBhvr>
                                        <p:cTn id="20" dur="1" fill="hold">
                                          <p:stCondLst>
                                            <p:cond delay="0"/>
                                          </p:stCondLst>
                                        </p:cTn>
                                        <p:tgtEl>
                                          <p:spTgt spid="275"/>
                                        </p:tgtEl>
                                        <p:attrNameLst>
                                          <p:attrName>style.visibility</p:attrName>
                                        </p:attrNameLst>
                                      </p:cBhvr>
                                      <p:to>
                                        <p:strVal val="visible"/>
                                      </p:to>
                                    </p:set>
                                    <p:animEffect transition="in" filter="wipe(up)">
                                      <p:cBhvr>
                                        <p:cTn id="21" dur="500"/>
                                        <p:tgtEl>
                                          <p:spTgt spid="275"/>
                                        </p:tgtEl>
                                      </p:cBhvr>
                                    </p:animEffect>
                                  </p:childTnLst>
                                </p:cTn>
                              </p:par>
                            </p:childTnLst>
                          </p:cTn>
                        </p:par>
                        <p:par>
                          <p:cTn id="22" fill="hold">
                            <p:stCondLst>
                              <p:cond delay="500"/>
                            </p:stCondLst>
                            <p:childTnLst>
                              <p:par>
                                <p:cTn id="23" presetID="22" presetClass="entr" presetSubtype="8" fill="hold" nodeType="afterEffect">
                                  <p:stCondLst>
                                    <p:cond delay="0"/>
                                  </p:stCondLst>
                                  <p:childTnLst>
                                    <p:set>
                                      <p:cBhvr>
                                        <p:cTn id="24" dur="1" fill="hold">
                                          <p:stCondLst>
                                            <p:cond delay="0"/>
                                          </p:stCondLst>
                                        </p:cTn>
                                        <p:tgtEl>
                                          <p:spTgt spid="30"/>
                                        </p:tgtEl>
                                        <p:attrNameLst>
                                          <p:attrName>style.visibility</p:attrName>
                                        </p:attrNameLst>
                                      </p:cBhvr>
                                      <p:to>
                                        <p:strVal val="visible"/>
                                      </p:to>
                                    </p:set>
                                    <p:animEffect transition="in" filter="wipe(left)">
                                      <p:cBhvr>
                                        <p:cTn id="25" dur="1000"/>
                                        <p:tgtEl>
                                          <p:spTgt spid="30"/>
                                        </p:tgtEl>
                                      </p:cBhvr>
                                    </p:animEffect>
                                  </p:childTnLst>
                                </p:cTn>
                              </p:par>
                            </p:childTnLst>
                          </p:cTn>
                        </p:par>
                        <p:par>
                          <p:cTn id="26" fill="hold">
                            <p:stCondLst>
                              <p:cond delay="1500"/>
                            </p:stCondLst>
                            <p:childTnLst>
                              <p:par>
                                <p:cTn id="27" presetID="12" presetClass="entr" presetSubtype="4" fill="hold" nodeType="afterEffect">
                                  <p:stCondLst>
                                    <p:cond delay="0"/>
                                  </p:stCondLst>
                                  <p:childTnLst>
                                    <p:set>
                                      <p:cBhvr>
                                        <p:cTn id="28" dur="1" fill="hold">
                                          <p:stCondLst>
                                            <p:cond delay="0"/>
                                          </p:stCondLst>
                                        </p:cTn>
                                        <p:tgtEl>
                                          <p:spTgt spid="43012"/>
                                        </p:tgtEl>
                                        <p:attrNameLst>
                                          <p:attrName>style.visibility</p:attrName>
                                        </p:attrNameLst>
                                      </p:cBhvr>
                                      <p:to>
                                        <p:strVal val="visible"/>
                                      </p:to>
                                    </p:set>
                                    <p:animEffect transition="in" filter="slide(fromBottom)">
                                      <p:cBhvr>
                                        <p:cTn id="29" dur="1000"/>
                                        <p:tgtEl>
                                          <p:spTgt spid="43012"/>
                                        </p:tgtEl>
                                      </p:cBhvr>
                                    </p:animEffect>
                                  </p:childTnLst>
                                </p:cTn>
                              </p:par>
                            </p:childTnLst>
                          </p:cTn>
                        </p:par>
                        <p:par>
                          <p:cTn id="30" fill="hold">
                            <p:stCondLst>
                              <p:cond delay="2500"/>
                            </p:stCondLst>
                            <p:childTnLst>
                              <p:par>
                                <p:cTn id="31" presetID="12" presetClass="entr" presetSubtype="4" fill="hold" nodeType="afterEffect">
                                  <p:stCondLst>
                                    <p:cond delay="0"/>
                                  </p:stCondLst>
                                  <p:childTnLst>
                                    <p:set>
                                      <p:cBhvr>
                                        <p:cTn id="32" dur="1" fill="hold">
                                          <p:stCondLst>
                                            <p:cond delay="0"/>
                                          </p:stCondLst>
                                        </p:cTn>
                                        <p:tgtEl>
                                          <p:spTgt spid="43015"/>
                                        </p:tgtEl>
                                        <p:attrNameLst>
                                          <p:attrName>style.visibility</p:attrName>
                                        </p:attrNameLst>
                                      </p:cBhvr>
                                      <p:to>
                                        <p:strVal val="visible"/>
                                      </p:to>
                                    </p:set>
                                    <p:animEffect transition="in" filter="slide(fromBottom)">
                                      <p:cBhvr>
                                        <p:cTn id="33" dur="1000"/>
                                        <p:tgtEl>
                                          <p:spTgt spid="43015"/>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xit" presetSubtype="0" fill="hold" nodeType="clickEffect">
                                  <p:stCondLst>
                                    <p:cond delay="0"/>
                                  </p:stCondLst>
                                  <p:childTnLst>
                                    <p:set>
                                      <p:cBhvr>
                                        <p:cTn id="37" dur="1" fill="hold">
                                          <p:stCondLst>
                                            <p:cond delay="0"/>
                                          </p:stCondLst>
                                        </p:cTn>
                                        <p:tgtEl>
                                          <p:spTgt spid="30"/>
                                        </p:tgtEl>
                                        <p:attrNameLst>
                                          <p:attrName>style.visibility</p:attrName>
                                        </p:attrNameLst>
                                      </p:cBhvr>
                                      <p:to>
                                        <p:strVal val="hidden"/>
                                      </p:to>
                                    </p:set>
                                  </p:childTnLst>
                                </p:cTn>
                              </p:par>
                            </p:childTnLst>
                          </p:cTn>
                        </p:par>
                        <p:par>
                          <p:cTn id="38" fill="hold">
                            <p:stCondLst>
                              <p:cond delay="0"/>
                            </p:stCondLst>
                            <p:childTnLst>
                              <p:par>
                                <p:cTn id="39" presetID="22" presetClass="entr" presetSubtype="8" fill="hold" nodeType="after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wipe(left)">
                                      <p:cBhvr>
                                        <p:cTn id="41" dur="1000"/>
                                        <p:tgtEl>
                                          <p:spTgt spid="31"/>
                                        </p:tgtEl>
                                      </p:cBhvr>
                                    </p:animEffect>
                                  </p:childTnLst>
                                </p:cTn>
                              </p:par>
                            </p:childTnLst>
                          </p:cTn>
                        </p:par>
                        <p:par>
                          <p:cTn id="42" fill="hold">
                            <p:stCondLst>
                              <p:cond delay="1000"/>
                            </p:stCondLst>
                            <p:childTnLst>
                              <p:par>
                                <p:cTn id="43" presetID="12" presetClass="entr" presetSubtype="4" fill="hold" nodeType="afterEffect">
                                  <p:stCondLst>
                                    <p:cond delay="0"/>
                                  </p:stCondLst>
                                  <p:childTnLst>
                                    <p:set>
                                      <p:cBhvr>
                                        <p:cTn id="44" dur="1" fill="hold">
                                          <p:stCondLst>
                                            <p:cond delay="0"/>
                                          </p:stCondLst>
                                        </p:cTn>
                                        <p:tgtEl>
                                          <p:spTgt spid="43011"/>
                                        </p:tgtEl>
                                        <p:attrNameLst>
                                          <p:attrName>style.visibility</p:attrName>
                                        </p:attrNameLst>
                                      </p:cBhvr>
                                      <p:to>
                                        <p:strVal val="visible"/>
                                      </p:to>
                                    </p:set>
                                    <p:animEffect transition="in" filter="slide(fromBottom)">
                                      <p:cBhvr>
                                        <p:cTn id="45" dur="1000"/>
                                        <p:tgtEl>
                                          <p:spTgt spid="43011"/>
                                        </p:tgtEl>
                                      </p:cBhvr>
                                    </p:animEffect>
                                  </p:childTnLst>
                                </p:cTn>
                              </p:par>
                            </p:childTnLst>
                          </p:cTn>
                        </p:par>
                        <p:par>
                          <p:cTn id="46" fill="hold">
                            <p:stCondLst>
                              <p:cond delay="2000"/>
                            </p:stCondLst>
                            <p:childTnLst>
                              <p:par>
                                <p:cTn id="47" presetID="12" presetClass="entr" presetSubtype="4" fill="hold" nodeType="afterEffect">
                                  <p:stCondLst>
                                    <p:cond delay="0"/>
                                  </p:stCondLst>
                                  <p:childTnLst>
                                    <p:set>
                                      <p:cBhvr>
                                        <p:cTn id="48" dur="1" fill="hold">
                                          <p:stCondLst>
                                            <p:cond delay="0"/>
                                          </p:stCondLst>
                                        </p:cTn>
                                        <p:tgtEl>
                                          <p:spTgt spid="43016"/>
                                        </p:tgtEl>
                                        <p:attrNameLst>
                                          <p:attrName>style.visibility</p:attrName>
                                        </p:attrNameLst>
                                      </p:cBhvr>
                                      <p:to>
                                        <p:strVal val="visible"/>
                                      </p:to>
                                    </p:set>
                                    <p:animEffect transition="in" filter="slide(fromBottom)">
                                      <p:cBhvr>
                                        <p:cTn id="49" dur="1000"/>
                                        <p:tgtEl>
                                          <p:spTgt spid="43016"/>
                                        </p:tgtEl>
                                      </p:cBhvr>
                                    </p:animEffec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nodeType="clickEffect">
                                  <p:stCondLst>
                                    <p:cond delay="0"/>
                                  </p:stCondLst>
                                  <p:childTnLst>
                                    <p:set>
                                      <p:cBhvr>
                                        <p:cTn id="53" dur="1" fill="hold">
                                          <p:stCondLst>
                                            <p:cond delay="0"/>
                                          </p:stCondLst>
                                        </p:cTn>
                                        <p:tgtEl>
                                          <p:spTgt spid="31"/>
                                        </p:tgtEl>
                                        <p:attrNameLst>
                                          <p:attrName>style.visibility</p:attrName>
                                        </p:attrNameLst>
                                      </p:cBhvr>
                                      <p:to>
                                        <p:strVal val="hidden"/>
                                      </p:to>
                                    </p:set>
                                  </p:childTnLst>
                                </p:cTn>
                              </p:par>
                            </p:childTnLst>
                          </p:cTn>
                        </p:par>
                        <p:par>
                          <p:cTn id="54" fill="hold">
                            <p:stCondLst>
                              <p:cond delay="0"/>
                            </p:stCondLst>
                            <p:childTnLst>
                              <p:par>
                                <p:cTn id="55" presetID="22" presetClass="entr" presetSubtype="8" fill="hold" grpId="0" nodeType="afterEffect">
                                  <p:stCondLst>
                                    <p:cond delay="0"/>
                                  </p:stCondLst>
                                  <p:childTnLst>
                                    <p:set>
                                      <p:cBhvr>
                                        <p:cTn id="56" dur="1" fill="hold">
                                          <p:stCondLst>
                                            <p:cond delay="0"/>
                                          </p:stCondLst>
                                        </p:cTn>
                                        <p:tgtEl>
                                          <p:spTgt spid="34"/>
                                        </p:tgtEl>
                                        <p:attrNameLst>
                                          <p:attrName>style.visibility</p:attrName>
                                        </p:attrNameLst>
                                      </p:cBhvr>
                                      <p:to>
                                        <p:strVal val="visible"/>
                                      </p:to>
                                    </p:set>
                                    <p:animEffect transition="in" filter="wipe(left)">
                                      <p:cBhvr>
                                        <p:cTn id="57" dur="1000"/>
                                        <p:tgtEl>
                                          <p:spTgt spid="34"/>
                                        </p:tgtEl>
                                      </p:cBhvr>
                                    </p:animEffect>
                                  </p:childTnLst>
                                </p:cTn>
                              </p:par>
                            </p:childTnLst>
                          </p:cTn>
                        </p:par>
                        <p:par>
                          <p:cTn id="58" fill="hold">
                            <p:stCondLst>
                              <p:cond delay="1000"/>
                            </p:stCondLst>
                            <p:childTnLst>
                              <p:par>
                                <p:cTn id="59" presetID="12" presetClass="entr" presetSubtype="4" fill="hold" nodeType="afterEffect">
                                  <p:stCondLst>
                                    <p:cond delay="0"/>
                                  </p:stCondLst>
                                  <p:childTnLst>
                                    <p:set>
                                      <p:cBhvr>
                                        <p:cTn id="60" dur="1" fill="hold">
                                          <p:stCondLst>
                                            <p:cond delay="0"/>
                                          </p:stCondLst>
                                        </p:cTn>
                                        <p:tgtEl>
                                          <p:spTgt spid="47"/>
                                        </p:tgtEl>
                                        <p:attrNameLst>
                                          <p:attrName>style.visibility</p:attrName>
                                        </p:attrNameLst>
                                      </p:cBhvr>
                                      <p:to>
                                        <p:strVal val="visible"/>
                                      </p:to>
                                    </p:set>
                                    <p:animEffect transition="in" filter="slide(fromBottom)">
                                      <p:cBhvr>
                                        <p:cTn id="61" dur="10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5" grpId="0" animBg="1"/>
      <p:bldP spid="23" grpId="0" animBg="1"/>
      <p:bldP spid="24" grpId="0" animBg="1"/>
      <p:bldP spid="34"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7"/>
          <p:cNvGrpSpPr/>
          <p:nvPr/>
        </p:nvGrpSpPr>
        <p:grpSpPr>
          <a:xfrm>
            <a:off x="392432" y="769746"/>
            <a:ext cx="2344702" cy="420971"/>
            <a:chOff x="670560" y="892917"/>
            <a:chExt cx="2344702" cy="420971"/>
          </a:xfrm>
        </p:grpSpPr>
        <p:sp>
          <p:nvSpPr>
            <p:cNvPr id="224" name="矩形 223"/>
            <p:cNvSpPr/>
            <p:nvPr/>
          </p:nvSpPr>
          <p:spPr>
            <a:xfrm>
              <a:off x="1035233" y="913778"/>
              <a:ext cx="1980029"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两位数值比较器</a:t>
              </a:r>
              <a:endParaRPr lang="zh-CN" altLang="en-US" sz="2000" b="1" dirty="0">
                <a:solidFill>
                  <a:srgbClr val="FF00FF"/>
                </a:solidFill>
                <a:latin typeface="Times New Roman" panose="02020603050405020304" pitchFamily="18" charset="0"/>
                <a:cs typeface="Times New Roman" panose="02020603050405020304" pitchFamily="18" charset="0"/>
              </a:endParaRPr>
            </a:p>
          </p:txBody>
        </p:sp>
        <p:pic>
          <p:nvPicPr>
            <p:cNvPr id="229"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3" name="组合 17"/>
          <p:cNvGrpSpPr/>
          <p:nvPr/>
        </p:nvGrpSpPr>
        <p:grpSpPr>
          <a:xfrm>
            <a:off x="906356" y="1380296"/>
            <a:ext cx="2076865" cy="379748"/>
            <a:chOff x="1057604" y="1235921"/>
            <a:chExt cx="2076865" cy="379748"/>
          </a:xfrm>
        </p:grpSpPr>
        <p:sp>
          <p:nvSpPr>
            <p:cNvPr id="17" name="圆角矩形 16"/>
            <p:cNvSpPr/>
            <p:nvPr/>
          </p:nvSpPr>
          <p:spPr>
            <a:xfrm>
              <a:off x="1057604" y="1245107"/>
              <a:ext cx="2070607" cy="370562"/>
            </a:xfrm>
            <a:prstGeom prst="roundRect">
              <a:avLst>
                <a:gd name="adj" fmla="val 22428"/>
              </a:avLst>
            </a:prstGeom>
            <a:solidFill>
              <a:schemeClr val="accent2">
                <a:lumMod val="20000"/>
                <a:lumOff val="80000"/>
              </a:schemeClr>
            </a:solidFill>
            <a:ln w="28575">
              <a:solidFill>
                <a:srgbClr val="CC00CC"/>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p:cNvSpPr/>
            <p:nvPr/>
          </p:nvSpPr>
          <p:spPr>
            <a:xfrm>
              <a:off x="1103144" y="1235921"/>
              <a:ext cx="2031325" cy="369332"/>
            </a:xfrm>
            <a:prstGeom prst="rect">
              <a:avLst/>
            </a:prstGeom>
          </p:spPr>
          <p:txBody>
            <a:bodyPr wrap="none">
              <a:spAutoFit/>
            </a:bodyPr>
            <a:lstStyle/>
            <a:p>
              <a:r>
                <a:rPr lang="en-US" altLang="zh-CN" b="1" dirty="0">
                  <a:solidFill>
                    <a:srgbClr val="0000FF"/>
                  </a:solidFill>
                  <a:latin typeface="Times New Roman" panose="02020603050405020304" pitchFamily="18" charset="0"/>
                  <a:cs typeface="Times New Roman" panose="02020603050405020304" pitchFamily="18" charset="0"/>
                </a:rPr>
                <a:t>A—A</a:t>
              </a:r>
              <a:r>
                <a:rPr lang="en-US" altLang="zh-CN" b="1" baseline="-25000" dirty="0">
                  <a:solidFill>
                    <a:srgbClr val="0000FF"/>
                  </a:solidFill>
                  <a:latin typeface="Times New Roman" panose="02020603050405020304" pitchFamily="18" charset="0"/>
                  <a:cs typeface="Times New Roman" panose="02020603050405020304" pitchFamily="18" charset="0"/>
                </a:rPr>
                <a:t>1</a:t>
              </a:r>
              <a:r>
                <a:rPr lang="en-US" altLang="zh-CN" b="1" dirty="0">
                  <a:solidFill>
                    <a:srgbClr val="0000FF"/>
                  </a:solidFill>
                  <a:latin typeface="Times New Roman" panose="02020603050405020304" pitchFamily="18" charset="0"/>
                  <a:cs typeface="Times New Roman" panose="02020603050405020304" pitchFamily="18" charset="0"/>
                </a:rPr>
                <a:t>A</a:t>
              </a:r>
              <a:r>
                <a:rPr lang="en-US" altLang="zh-CN" b="1" baseline="-25000" dirty="0">
                  <a:solidFill>
                    <a:srgbClr val="0000FF"/>
                  </a:solidFill>
                  <a:latin typeface="Times New Roman" panose="02020603050405020304" pitchFamily="18" charset="0"/>
                  <a:cs typeface="Times New Roman" panose="02020603050405020304" pitchFamily="18" charset="0"/>
                </a:rPr>
                <a:t>0</a:t>
              </a:r>
              <a:r>
                <a:rPr lang="en-US" altLang="zh-CN" b="1" dirty="0">
                  <a:solidFill>
                    <a:srgbClr val="0000FF"/>
                  </a:solidFill>
                  <a:latin typeface="Times New Roman" panose="02020603050405020304" pitchFamily="18" charset="0"/>
                  <a:cs typeface="Times New Roman" panose="02020603050405020304" pitchFamily="18" charset="0"/>
                </a:rPr>
                <a:t>  B—B</a:t>
              </a:r>
              <a:r>
                <a:rPr lang="en-US" altLang="zh-CN" b="1" baseline="-25000" dirty="0">
                  <a:solidFill>
                    <a:srgbClr val="0000FF"/>
                  </a:solidFill>
                  <a:latin typeface="Times New Roman" panose="02020603050405020304" pitchFamily="18" charset="0"/>
                  <a:cs typeface="Times New Roman" panose="02020603050405020304" pitchFamily="18" charset="0"/>
                </a:rPr>
                <a:t>1</a:t>
              </a:r>
              <a:r>
                <a:rPr lang="en-US" altLang="zh-CN" b="1" dirty="0">
                  <a:solidFill>
                    <a:srgbClr val="0000FF"/>
                  </a:solidFill>
                  <a:latin typeface="Times New Roman" panose="02020603050405020304" pitchFamily="18" charset="0"/>
                  <a:cs typeface="Times New Roman" panose="02020603050405020304" pitchFamily="18" charset="0"/>
                </a:rPr>
                <a:t>B</a:t>
              </a:r>
              <a:r>
                <a:rPr lang="en-US" altLang="zh-CN" b="1" baseline="-25000" dirty="0">
                  <a:solidFill>
                    <a:srgbClr val="0000FF"/>
                  </a:solidFill>
                  <a:latin typeface="Times New Roman" panose="02020603050405020304" pitchFamily="18" charset="0"/>
                  <a:cs typeface="Times New Roman" panose="02020603050405020304" pitchFamily="18" charset="0"/>
                </a:rPr>
                <a:t>0</a:t>
              </a:r>
              <a:endParaRPr lang="zh-CN" altLang="en-US" dirty="0">
                <a:solidFill>
                  <a:srgbClr val="0000FF"/>
                </a:solidFill>
              </a:endParaRPr>
            </a:p>
          </p:txBody>
        </p:sp>
      </p:grpSp>
      <p:grpSp>
        <p:nvGrpSpPr>
          <p:cNvPr id="4" name="组合 21"/>
          <p:cNvGrpSpPr/>
          <p:nvPr/>
        </p:nvGrpSpPr>
        <p:grpSpPr>
          <a:xfrm>
            <a:off x="3135092" y="1180911"/>
            <a:ext cx="3971272" cy="689149"/>
            <a:chOff x="3389467" y="1022003"/>
            <a:chExt cx="3971272" cy="683600"/>
          </a:xfrm>
        </p:grpSpPr>
        <p:sp>
          <p:nvSpPr>
            <p:cNvPr id="19" name="左大括号 18"/>
            <p:cNvSpPr/>
            <p:nvPr/>
          </p:nvSpPr>
          <p:spPr>
            <a:xfrm>
              <a:off x="3389467" y="1072031"/>
              <a:ext cx="151255" cy="633572"/>
            </a:xfrm>
            <a:prstGeom prst="leftBrace">
              <a:avLst>
                <a:gd name="adj1" fmla="val 84084"/>
                <a:gd name="adj2" fmla="val 50000"/>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0" name="矩形 19"/>
            <p:cNvSpPr/>
            <p:nvPr/>
          </p:nvSpPr>
          <p:spPr>
            <a:xfrm>
              <a:off x="3511608" y="1022003"/>
              <a:ext cx="3849131" cy="369331"/>
            </a:xfrm>
            <a:prstGeom prst="rect">
              <a:avLst/>
            </a:prstGeom>
          </p:spPr>
          <p:txBody>
            <a:bodyPr wrap="none">
              <a:spAutoFit/>
            </a:bodyPr>
            <a:lstStyle/>
            <a:p>
              <a:pPr lvl="0" eaLnBrk="0" fontAlgn="base" hangingPunct="0">
                <a:spcBef>
                  <a:spcPct val="0"/>
                </a:spcBef>
                <a:spcAft>
                  <a:spcPct val="0"/>
                </a:spcAft>
              </a:pPr>
              <a:r>
                <a:rPr lang="en-US" altLang="zh-CN" b="1" dirty="0">
                  <a:solidFill>
                    <a:srgbClr val="000000"/>
                  </a:solidFill>
                  <a:latin typeface="Arial" panose="020B0604020202020204" pitchFamily="34" charset="0"/>
                  <a:ea typeface="楷体_GB2312" pitchFamily="49" charset="-122"/>
                </a:rPr>
                <a:t>A</a:t>
              </a:r>
              <a:r>
                <a:rPr lang="en-US" altLang="zh-CN" b="1" baseline="-30000" dirty="0">
                  <a:solidFill>
                    <a:srgbClr val="000000"/>
                  </a:solidFill>
                  <a:latin typeface="Arial" panose="020B0604020202020204" pitchFamily="34" charset="0"/>
                  <a:ea typeface="楷体_GB2312" pitchFamily="49" charset="-122"/>
                </a:rPr>
                <a:t>1</a:t>
              </a:r>
              <a:r>
                <a:rPr lang="en-US" altLang="zh-CN" b="1" dirty="0">
                  <a:solidFill>
                    <a:srgbClr val="000000"/>
                  </a:solidFill>
                  <a:latin typeface="Arial" panose="020B0604020202020204" pitchFamily="34" charset="0"/>
                  <a:ea typeface="楷体_GB2312" pitchFamily="49" charset="-122"/>
                </a:rPr>
                <a:t> ≠ B</a:t>
              </a:r>
              <a:r>
                <a:rPr lang="en-US" altLang="zh-CN" b="1" baseline="-30000" dirty="0">
                  <a:solidFill>
                    <a:srgbClr val="000000"/>
                  </a:solidFill>
                  <a:latin typeface="Arial" panose="020B0604020202020204" pitchFamily="34" charset="0"/>
                  <a:ea typeface="楷体_GB2312" pitchFamily="49" charset="-122"/>
                </a:rPr>
                <a:t>1</a:t>
              </a:r>
              <a:r>
                <a:rPr lang="en-US" altLang="zh-CN" b="1" dirty="0">
                  <a:solidFill>
                    <a:srgbClr val="000000"/>
                  </a:solidFill>
                  <a:latin typeface="黑体" panose="02010609060101010101" pitchFamily="49" charset="-122"/>
                  <a:ea typeface="黑体" panose="02010609060101010101" pitchFamily="49" charset="-122"/>
                </a:rPr>
                <a:t>,</a:t>
              </a:r>
              <a:r>
                <a:rPr lang="zh-CN" altLang="en-US" b="1" dirty="0">
                  <a:solidFill>
                    <a:srgbClr val="000000"/>
                  </a:solidFill>
                  <a:latin typeface="Arial" panose="020B0604020202020204" pitchFamily="34" charset="0"/>
                  <a:ea typeface="楷体_GB2312" pitchFamily="49" charset="-122"/>
                </a:rPr>
                <a:t>比较结果为高位比较结果。</a:t>
              </a:r>
              <a:endParaRPr lang="en-US" altLang="zh-CN" b="1" dirty="0">
                <a:solidFill>
                  <a:srgbClr val="000000"/>
                </a:solidFill>
                <a:latin typeface="Arial" panose="020B0604020202020204" pitchFamily="34" charset="0"/>
                <a:ea typeface="楷体_GB2312" pitchFamily="49" charset="-122"/>
              </a:endParaRPr>
            </a:p>
          </p:txBody>
        </p:sp>
      </p:grpSp>
      <p:sp>
        <p:nvSpPr>
          <p:cNvPr id="21" name="矩形 20"/>
          <p:cNvSpPr/>
          <p:nvPr/>
        </p:nvSpPr>
        <p:spPr>
          <a:xfrm>
            <a:off x="3273593" y="1546443"/>
            <a:ext cx="3857146" cy="369332"/>
          </a:xfrm>
          <a:prstGeom prst="rect">
            <a:avLst/>
          </a:prstGeom>
        </p:spPr>
        <p:txBody>
          <a:bodyPr wrap="none">
            <a:spAutoFit/>
          </a:bodyPr>
          <a:lstStyle/>
          <a:p>
            <a:pPr lvl="0" eaLnBrk="0" fontAlgn="base" hangingPunct="0">
              <a:spcBef>
                <a:spcPct val="0"/>
              </a:spcBef>
              <a:spcAft>
                <a:spcPct val="0"/>
              </a:spcAft>
            </a:pPr>
            <a:r>
              <a:rPr lang="en-US" altLang="zh-CN" b="1" dirty="0">
                <a:solidFill>
                  <a:srgbClr val="000000"/>
                </a:solidFill>
                <a:latin typeface="Arial" panose="020B0604020202020204" pitchFamily="34" charset="0"/>
                <a:ea typeface="楷体_GB2312" pitchFamily="49" charset="-122"/>
              </a:rPr>
              <a:t>A</a:t>
            </a:r>
            <a:r>
              <a:rPr lang="en-US" altLang="zh-CN" b="1" baseline="-30000" dirty="0">
                <a:solidFill>
                  <a:srgbClr val="000000"/>
                </a:solidFill>
                <a:latin typeface="Arial" panose="020B0604020202020204" pitchFamily="34" charset="0"/>
                <a:ea typeface="楷体_GB2312" pitchFamily="49" charset="-122"/>
              </a:rPr>
              <a:t>1</a:t>
            </a:r>
            <a:r>
              <a:rPr lang="en-US" altLang="zh-CN" b="1" dirty="0">
                <a:solidFill>
                  <a:srgbClr val="000000"/>
                </a:solidFill>
                <a:latin typeface="Arial" panose="020B0604020202020204" pitchFamily="34" charset="0"/>
                <a:ea typeface="楷体_GB2312" pitchFamily="49" charset="-122"/>
              </a:rPr>
              <a:t> = B</a:t>
            </a:r>
            <a:r>
              <a:rPr lang="en-US" altLang="zh-CN" b="1" baseline="-30000" dirty="0">
                <a:solidFill>
                  <a:srgbClr val="000000"/>
                </a:solidFill>
                <a:latin typeface="Arial" panose="020B0604020202020204" pitchFamily="34" charset="0"/>
                <a:ea typeface="楷体_GB2312" pitchFamily="49" charset="-122"/>
              </a:rPr>
              <a:t>1</a:t>
            </a:r>
            <a:r>
              <a:rPr lang="en-US" altLang="zh-CN" b="1" dirty="0">
                <a:solidFill>
                  <a:srgbClr val="000000"/>
                </a:solidFill>
                <a:latin typeface="黑体" panose="02010609060101010101" pitchFamily="49" charset="-122"/>
                <a:ea typeface="黑体" panose="02010609060101010101" pitchFamily="49" charset="-122"/>
              </a:rPr>
              <a:t>,</a:t>
            </a:r>
            <a:r>
              <a:rPr lang="zh-CN" altLang="en-US" b="1" dirty="0">
                <a:solidFill>
                  <a:srgbClr val="000000"/>
                </a:solidFill>
                <a:latin typeface="Arial" panose="020B0604020202020204" pitchFamily="34" charset="0"/>
                <a:ea typeface="楷体_GB2312" pitchFamily="49" charset="-122"/>
              </a:rPr>
              <a:t>比较结果为低位比较结果。</a:t>
            </a:r>
            <a:endParaRPr lang="en-US" altLang="zh-CN" b="1" dirty="0">
              <a:solidFill>
                <a:srgbClr val="000000"/>
              </a:solidFill>
              <a:latin typeface="Arial" panose="020B0604020202020204" pitchFamily="34" charset="0"/>
              <a:ea typeface="楷体_GB2312" pitchFamily="49" charset="-122"/>
            </a:endParaRPr>
          </a:p>
        </p:txBody>
      </p:sp>
      <p:grpSp>
        <p:nvGrpSpPr>
          <p:cNvPr id="36" name="组合 276"/>
          <p:cNvGrpSpPr/>
          <p:nvPr/>
        </p:nvGrpSpPr>
        <p:grpSpPr>
          <a:xfrm>
            <a:off x="375813" y="2158354"/>
            <a:ext cx="4192270" cy="2468647"/>
            <a:chOff x="4583430" y="1601469"/>
            <a:chExt cx="4192270" cy="2468647"/>
          </a:xfrm>
        </p:grpSpPr>
        <p:sp>
          <p:nvSpPr>
            <p:cNvPr id="37" name="圆角矩形 36"/>
            <p:cNvSpPr/>
            <p:nvPr/>
          </p:nvSpPr>
          <p:spPr>
            <a:xfrm>
              <a:off x="4583430" y="1601469"/>
              <a:ext cx="4192270" cy="2468647"/>
            </a:xfrm>
            <a:prstGeom prst="roundRect">
              <a:avLst>
                <a:gd name="adj" fmla="val 7585"/>
              </a:avLst>
            </a:prstGeom>
            <a:solidFill>
              <a:schemeClr val="bg1"/>
            </a:solidFill>
            <a:ln w="28575">
              <a:solidFill>
                <a:srgbClr val="CC00CC"/>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8" name="Object 5"/>
            <p:cNvGraphicFramePr>
              <a:graphicFrameLocks noChangeAspect="1"/>
            </p:cNvGraphicFramePr>
            <p:nvPr/>
          </p:nvGraphicFramePr>
          <p:xfrm>
            <a:off x="4613275" y="1643590"/>
            <a:ext cx="4111625" cy="2325159"/>
          </p:xfrm>
          <a:graphic>
            <a:graphicData uri="http://schemas.openxmlformats.org/presentationml/2006/ole">
              <mc:AlternateContent xmlns:mc="http://schemas.openxmlformats.org/markup-compatibility/2006">
                <mc:Choice xmlns:v="urn:schemas-microsoft-com:vml" Requires="v">
                  <p:oleObj spid="_x0000_s64563" name="Visio" r:id="rId2" imgW="2587625" imgH="1653540" progId="Visio.Drawing.11">
                    <p:embed/>
                  </p:oleObj>
                </mc:Choice>
                <mc:Fallback>
                  <p:oleObj name="Visio" r:id="rId2" imgW="2587625" imgH="1653540" progId="Visio.Drawing.11">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b="11078"/>
                        <a:stretch>
                          <a:fillRect/>
                        </a:stretch>
                      </p:blipFill>
                      <p:spPr bwMode="auto">
                        <a:xfrm>
                          <a:off x="4613275" y="1643590"/>
                          <a:ext cx="4111625" cy="2325159"/>
                        </a:xfrm>
                        <a:prstGeom prst="rect">
                          <a:avLst/>
                        </a:prstGeom>
                        <a:noFill/>
                        <a:extLst>
                          <a:ext uri="{909E8E84-426E-40DD-AFC4-6F175D3DCCD1}">
                            <a14:hiddenFill xmlns:a14="http://schemas.microsoft.com/office/drawing/2010/main">
                              <a:solidFill>
                                <a:srgbClr val="FFFF00"/>
                              </a:solidFill>
                            </a14:hiddenFill>
                          </a:ext>
                        </a:extLst>
                      </p:spPr>
                    </p:pic>
                  </p:oleObj>
                </mc:Fallback>
              </mc:AlternateContent>
            </a:graphicData>
          </a:graphic>
        </p:graphicFrame>
      </p:grpSp>
      <p:sp>
        <p:nvSpPr>
          <p:cNvPr id="39" name="圆角矩形 38"/>
          <p:cNvSpPr/>
          <p:nvPr/>
        </p:nvSpPr>
        <p:spPr>
          <a:xfrm>
            <a:off x="995258" y="2353488"/>
            <a:ext cx="641036" cy="624609"/>
          </a:xfrm>
          <a:prstGeom prst="roundRect">
            <a:avLst>
              <a:gd name="adj" fmla="val 0"/>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圆角矩形 39"/>
          <p:cNvSpPr/>
          <p:nvPr/>
        </p:nvSpPr>
        <p:spPr>
          <a:xfrm>
            <a:off x="1003279" y="3434038"/>
            <a:ext cx="641036" cy="624609"/>
          </a:xfrm>
          <a:prstGeom prst="roundRect">
            <a:avLst>
              <a:gd name="adj" fmla="val 0"/>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圆角矩形 40"/>
          <p:cNvSpPr/>
          <p:nvPr/>
        </p:nvSpPr>
        <p:spPr>
          <a:xfrm>
            <a:off x="4931456" y="2174743"/>
            <a:ext cx="3105633" cy="2452260"/>
          </a:xfrm>
          <a:prstGeom prst="roundRect">
            <a:avLst>
              <a:gd name="adj" fmla="val 4974"/>
            </a:avLst>
          </a:prstGeom>
          <a:solidFill>
            <a:schemeClr val="bg1"/>
          </a:solid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25000"/>
              </a:lnSpc>
              <a:tabLst>
                <a:tab pos="-93345" algn="l"/>
                <a:tab pos="1679575" algn="l"/>
              </a:tabLst>
            </a:pPr>
            <a:endParaRPr lang="zh-CN" altLang="en-US" b="1" dirty="0">
              <a:solidFill>
                <a:schemeClr val="tx1"/>
              </a:solidFill>
              <a:latin typeface="Times New Roman" panose="02020603050405020304" pitchFamily="18" charset="0"/>
              <a:cs typeface="Times New Roman" panose="02020603050405020304" pitchFamily="18" charset="0"/>
            </a:endParaRPr>
          </a:p>
        </p:txBody>
      </p:sp>
      <p:graphicFrame>
        <p:nvGraphicFramePr>
          <p:cNvPr id="42" name="Object 3"/>
          <p:cNvGraphicFramePr>
            <a:graphicFrameLocks noChangeAspect="1"/>
          </p:cNvGraphicFramePr>
          <p:nvPr/>
        </p:nvGraphicFramePr>
        <p:xfrm>
          <a:off x="5080304" y="3067679"/>
          <a:ext cx="2359025" cy="342900"/>
        </p:xfrm>
        <a:graphic>
          <a:graphicData uri="http://schemas.openxmlformats.org/presentationml/2006/ole">
            <mc:AlternateContent xmlns:mc="http://schemas.openxmlformats.org/markup-compatibility/2006">
              <mc:Choice xmlns:v="urn:schemas-microsoft-com:vml" Requires="v">
                <p:oleObj spid="_x0000_s64564" name="Equation" r:id="rId4" imgW="1663700" imgH="241300" progId="Equation.DSMT4">
                  <p:embed/>
                </p:oleObj>
              </mc:Choice>
              <mc:Fallback>
                <p:oleObj name="Equation" r:id="rId4" imgW="1663700" imgH="241300" progId="Equation.DSMT4">
                  <p:embed/>
                  <p:pic>
                    <p:nvPicPr>
                      <p:cNvPr id="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80304" y="3067679"/>
                        <a:ext cx="2359025"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3" name="Object 4"/>
          <p:cNvGraphicFramePr>
            <a:graphicFrameLocks noChangeAspect="1"/>
          </p:cNvGraphicFramePr>
          <p:nvPr/>
        </p:nvGraphicFramePr>
        <p:xfrm>
          <a:off x="5080304" y="2319413"/>
          <a:ext cx="2359025" cy="341312"/>
        </p:xfrm>
        <a:graphic>
          <a:graphicData uri="http://schemas.openxmlformats.org/presentationml/2006/ole">
            <mc:AlternateContent xmlns:mc="http://schemas.openxmlformats.org/markup-compatibility/2006">
              <mc:Choice xmlns:v="urn:schemas-microsoft-com:vml" Requires="v">
                <p:oleObj spid="_x0000_s64565" name="Equation" r:id="rId6" imgW="1663700" imgH="241300" progId="Equation.DSMT4">
                  <p:embed/>
                </p:oleObj>
              </mc:Choice>
              <mc:Fallback>
                <p:oleObj name="Equation" r:id="rId6" imgW="1663700" imgH="241300" progId="Equation.DSMT4">
                  <p:embed/>
                  <p:pic>
                    <p:nvPicPr>
                      <p:cNvPr id="0"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80304" y="2319413"/>
                        <a:ext cx="2359025" cy="341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4" name="Object 7"/>
          <p:cNvGraphicFramePr>
            <a:graphicFrameLocks noChangeAspect="1"/>
          </p:cNvGraphicFramePr>
          <p:nvPr/>
        </p:nvGraphicFramePr>
        <p:xfrm>
          <a:off x="5558295" y="2688722"/>
          <a:ext cx="1940211" cy="288000"/>
        </p:xfrm>
        <a:graphic>
          <a:graphicData uri="http://schemas.openxmlformats.org/presentationml/2006/ole">
            <mc:AlternateContent xmlns:mc="http://schemas.openxmlformats.org/markup-compatibility/2006">
              <mc:Choice xmlns:v="urn:schemas-microsoft-com:vml" Requires="v">
                <p:oleObj spid="_x0000_s64566" name="Equation" r:id="rId8" imgW="1625600" imgH="241300" progId="Equation.DSMT4">
                  <p:embed/>
                </p:oleObj>
              </mc:Choice>
              <mc:Fallback>
                <p:oleObj name="Equation" r:id="rId8" imgW="1625600" imgH="241300" progId="Equation.DSMT4">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58295" y="2688722"/>
                        <a:ext cx="1940211" cy="2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5" name="Object 8"/>
          <p:cNvGraphicFramePr>
            <a:graphicFrameLocks noChangeAspect="1"/>
          </p:cNvGraphicFramePr>
          <p:nvPr/>
        </p:nvGraphicFramePr>
        <p:xfrm>
          <a:off x="5558295" y="3451868"/>
          <a:ext cx="1940211" cy="288000"/>
        </p:xfrm>
        <a:graphic>
          <a:graphicData uri="http://schemas.openxmlformats.org/presentationml/2006/ole">
            <mc:AlternateContent xmlns:mc="http://schemas.openxmlformats.org/markup-compatibility/2006">
              <mc:Choice xmlns:v="urn:schemas-microsoft-com:vml" Requires="v">
                <p:oleObj spid="_x0000_s64567" name="Equation" r:id="rId10" imgW="1625600" imgH="241300" progId="Equation.DSMT4">
                  <p:embed/>
                </p:oleObj>
              </mc:Choice>
              <mc:Fallback>
                <p:oleObj name="Equation" r:id="rId10" imgW="1625600" imgH="241300" progId="Equation.DSMT4">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558295" y="3451868"/>
                        <a:ext cx="1940211" cy="28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46" name="组合 45"/>
          <p:cNvGrpSpPr/>
          <p:nvPr/>
        </p:nvGrpSpPr>
        <p:grpSpPr>
          <a:xfrm>
            <a:off x="5080304" y="3817533"/>
            <a:ext cx="2714321" cy="624292"/>
            <a:chOff x="5080304" y="3817533"/>
            <a:chExt cx="2714321" cy="624292"/>
          </a:xfrm>
        </p:grpSpPr>
        <p:graphicFrame>
          <p:nvGraphicFramePr>
            <p:cNvPr id="47" name="Object 5"/>
            <p:cNvGraphicFramePr>
              <a:graphicFrameLocks noChangeAspect="1"/>
            </p:cNvGraphicFramePr>
            <p:nvPr/>
          </p:nvGraphicFramePr>
          <p:xfrm>
            <a:off x="5080304" y="3817533"/>
            <a:ext cx="1709738" cy="342900"/>
          </p:xfrm>
          <a:graphic>
            <a:graphicData uri="http://schemas.openxmlformats.org/presentationml/2006/ole">
              <mc:AlternateContent xmlns:mc="http://schemas.openxmlformats.org/markup-compatibility/2006">
                <mc:Choice xmlns:v="urn:schemas-microsoft-com:vml" Requires="v">
                  <p:oleObj spid="_x0000_s64568" name="Equation" r:id="rId12" imgW="1206500" imgH="241300" progId="Equation.DSMT4">
                    <p:embed/>
                  </p:oleObj>
                </mc:Choice>
                <mc:Fallback>
                  <p:oleObj name="Equation" r:id="rId12" imgW="1206500" imgH="241300" progId="Equation.DSMT4">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80304" y="3817533"/>
                          <a:ext cx="1709738" cy="342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8" name="Object 9"/>
            <p:cNvGraphicFramePr>
              <a:graphicFrameLocks noChangeAspect="1"/>
            </p:cNvGraphicFramePr>
            <p:nvPr/>
          </p:nvGraphicFramePr>
          <p:xfrm>
            <a:off x="5594350" y="4152900"/>
            <a:ext cx="2200275" cy="288925"/>
          </p:xfrm>
          <a:graphic>
            <a:graphicData uri="http://schemas.openxmlformats.org/presentationml/2006/ole">
              <mc:AlternateContent xmlns:mc="http://schemas.openxmlformats.org/markup-compatibility/2006">
                <mc:Choice xmlns:v="urn:schemas-microsoft-com:vml" Requires="v">
                  <p:oleObj spid="_x0000_s64569" name="Equation" r:id="rId14" imgW="44196000" imgH="5791200" progId="Equation.DSMT4">
                    <p:embed/>
                  </p:oleObj>
                </mc:Choice>
                <mc:Fallback>
                  <p:oleObj name="Equation" r:id="rId14" imgW="44196000" imgH="5791200" progId="Equation.DSMT4">
                    <p:embed/>
                    <p:pic>
                      <p:nvPicPr>
                        <p:cNvPr id="0" name="Object 9"/>
                        <p:cNvPicPr>
                          <a:picLocks noChangeAspect="1" noChangeArrowheads="1"/>
                        </p:cNvPicPr>
                        <p:nvPr/>
                      </p:nvPicPr>
                      <p:blipFill>
                        <a:blip r:embed="rId15"/>
                        <a:srcRect/>
                        <a:stretch>
                          <a:fillRect/>
                        </a:stretch>
                      </p:blipFill>
                      <p:spPr bwMode="auto">
                        <a:xfrm>
                          <a:off x="5594350" y="4152900"/>
                          <a:ext cx="2200275" cy="2889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50" name="圆角矩形 49"/>
          <p:cNvSpPr/>
          <p:nvPr/>
        </p:nvSpPr>
        <p:spPr>
          <a:xfrm>
            <a:off x="5006930" y="2285882"/>
            <a:ext cx="2908703" cy="711700"/>
          </a:xfrm>
          <a:prstGeom prst="roundRect">
            <a:avLst>
              <a:gd name="adj" fmla="val 15456"/>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8" name="组合 67"/>
          <p:cNvGrpSpPr/>
          <p:nvPr/>
        </p:nvGrpSpPr>
        <p:grpSpPr>
          <a:xfrm>
            <a:off x="1647931" y="2292615"/>
            <a:ext cx="2317971" cy="1241161"/>
            <a:chOff x="1643169" y="2292614"/>
            <a:chExt cx="2317971" cy="1241161"/>
          </a:xfrm>
        </p:grpSpPr>
        <p:cxnSp>
          <p:nvCxnSpPr>
            <p:cNvPr id="52" name="直接连接符 51"/>
            <p:cNvCxnSpPr/>
            <p:nvPr/>
          </p:nvCxnSpPr>
          <p:spPr>
            <a:xfrm flipV="1">
              <a:off x="1643169" y="2426941"/>
              <a:ext cx="1656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V="1">
              <a:off x="1644315" y="2661843"/>
              <a:ext cx="900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sp>
          <p:nvSpPr>
            <p:cNvPr id="55" name="圆角矩形 54"/>
            <p:cNvSpPr/>
            <p:nvPr/>
          </p:nvSpPr>
          <p:spPr>
            <a:xfrm>
              <a:off x="2550197" y="2521213"/>
              <a:ext cx="364883" cy="455350"/>
            </a:xfrm>
            <a:prstGeom prst="roundRect">
              <a:avLst>
                <a:gd name="adj" fmla="val 0"/>
              </a:avLst>
            </a:prstGeom>
            <a:solidFill>
              <a:srgbClr val="FF00FF">
                <a:alpha val="20000"/>
              </a:srgbClr>
            </a:solid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56" name="直接连接符 55"/>
            <p:cNvCxnSpPr/>
            <p:nvPr/>
          </p:nvCxnSpPr>
          <p:spPr>
            <a:xfrm>
              <a:off x="1649078" y="3533381"/>
              <a:ext cx="513097" cy="394"/>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9" name="肘形连接符 58"/>
            <p:cNvCxnSpPr/>
            <p:nvPr/>
          </p:nvCxnSpPr>
          <p:spPr>
            <a:xfrm rot="5400000" flipH="1" flipV="1">
              <a:off x="2002631" y="2997995"/>
              <a:ext cx="685800" cy="376237"/>
            </a:xfrm>
            <a:prstGeom prst="bentConnector3">
              <a:avLst>
                <a:gd name="adj1" fmla="val 100695"/>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61" name="肘形连接符 60"/>
            <p:cNvCxnSpPr/>
            <p:nvPr/>
          </p:nvCxnSpPr>
          <p:spPr>
            <a:xfrm flipV="1">
              <a:off x="3114675" y="2605090"/>
              <a:ext cx="176216" cy="142873"/>
            </a:xfrm>
            <a:prstGeom prst="bentConnector3">
              <a:avLst>
                <a:gd name="adj1" fmla="val -1351"/>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2911140" y="2752331"/>
              <a:ext cx="216000" cy="394"/>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sp>
          <p:nvSpPr>
            <p:cNvPr id="66" name="圆角矩形 65"/>
            <p:cNvSpPr/>
            <p:nvPr/>
          </p:nvSpPr>
          <p:spPr>
            <a:xfrm>
              <a:off x="3302673" y="2292614"/>
              <a:ext cx="364883" cy="455350"/>
            </a:xfrm>
            <a:prstGeom prst="roundRect">
              <a:avLst>
                <a:gd name="adj" fmla="val 0"/>
              </a:avLst>
            </a:prstGeom>
            <a:solidFill>
              <a:srgbClr val="FF00FF">
                <a:alpha val="20000"/>
              </a:srgbClr>
            </a:solid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7" name="直接连接符 66"/>
            <p:cNvCxnSpPr/>
            <p:nvPr/>
          </p:nvCxnSpPr>
          <p:spPr>
            <a:xfrm>
              <a:off x="3673140" y="2509444"/>
              <a:ext cx="288000" cy="394"/>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grpSp>
      <p:grpSp>
        <p:nvGrpSpPr>
          <p:cNvPr id="95" name="组合 94"/>
          <p:cNvGrpSpPr/>
          <p:nvPr/>
        </p:nvGrpSpPr>
        <p:grpSpPr>
          <a:xfrm>
            <a:off x="1636294" y="2665793"/>
            <a:ext cx="2292769" cy="1834770"/>
            <a:chOff x="1636294" y="2665793"/>
            <a:chExt cx="2292769" cy="1834770"/>
          </a:xfrm>
        </p:grpSpPr>
        <p:sp>
          <p:nvSpPr>
            <p:cNvPr id="85" name="圆角矩形 84"/>
            <p:cNvSpPr/>
            <p:nvPr/>
          </p:nvSpPr>
          <p:spPr>
            <a:xfrm>
              <a:off x="2578773" y="4045213"/>
              <a:ext cx="364883" cy="455350"/>
            </a:xfrm>
            <a:prstGeom prst="roundRect">
              <a:avLst>
                <a:gd name="adj" fmla="val 0"/>
              </a:avLst>
            </a:prstGeom>
            <a:solidFill>
              <a:srgbClr val="FF00FF">
                <a:alpha val="20000"/>
              </a:srgbClr>
            </a:solid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6" name="直接连接符 85"/>
            <p:cNvCxnSpPr/>
            <p:nvPr/>
          </p:nvCxnSpPr>
          <p:spPr>
            <a:xfrm flipV="1">
              <a:off x="2292015" y="4167187"/>
              <a:ext cx="288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87" name="肘形连接符 81"/>
            <p:cNvCxnSpPr>
              <a:endCxn id="39" idx="3"/>
            </p:cNvCxnSpPr>
            <p:nvPr/>
          </p:nvCxnSpPr>
          <p:spPr>
            <a:xfrm rot="16200000" flipV="1">
              <a:off x="1215213" y="3086874"/>
              <a:ext cx="1510920" cy="668758"/>
            </a:xfrm>
            <a:prstGeom prst="bentConnector2">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V="1">
              <a:off x="2096753" y="4362449"/>
              <a:ext cx="468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90" name="肘形连接符 81"/>
            <p:cNvCxnSpPr/>
            <p:nvPr/>
          </p:nvCxnSpPr>
          <p:spPr>
            <a:xfrm rot="16200000" flipV="1">
              <a:off x="1585914" y="3848099"/>
              <a:ext cx="590550" cy="447677"/>
            </a:xfrm>
            <a:prstGeom prst="bentConnector3">
              <a:avLst>
                <a:gd name="adj1" fmla="val 102419"/>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V="1">
              <a:off x="2954003" y="4262438"/>
              <a:ext cx="97506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grpSp>
      <p:sp>
        <p:nvSpPr>
          <p:cNvPr id="96" name="圆角矩形 95"/>
          <p:cNvSpPr/>
          <p:nvPr/>
        </p:nvSpPr>
        <p:spPr>
          <a:xfrm>
            <a:off x="5006930" y="3057049"/>
            <a:ext cx="2908703" cy="711700"/>
          </a:xfrm>
          <a:prstGeom prst="roundRect">
            <a:avLst>
              <a:gd name="adj" fmla="val 15456"/>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8" name="圆角矩形 97"/>
          <p:cNvSpPr/>
          <p:nvPr/>
        </p:nvSpPr>
        <p:spPr>
          <a:xfrm>
            <a:off x="4991028" y="3820864"/>
            <a:ext cx="2908703" cy="711700"/>
          </a:xfrm>
          <a:prstGeom prst="roundRect">
            <a:avLst>
              <a:gd name="adj" fmla="val 15456"/>
            </a:avLst>
          </a:prstGeom>
          <a:solidFill>
            <a:srgbClr val="FF00FF">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04" name="组合 103"/>
          <p:cNvGrpSpPr/>
          <p:nvPr/>
        </p:nvGrpSpPr>
        <p:grpSpPr>
          <a:xfrm>
            <a:off x="1636294" y="2661031"/>
            <a:ext cx="2310558" cy="1334709"/>
            <a:chOff x="1636294" y="2661031"/>
            <a:chExt cx="2310558" cy="1334709"/>
          </a:xfrm>
        </p:grpSpPr>
        <p:grpSp>
          <p:nvGrpSpPr>
            <p:cNvPr id="84" name="组合 83"/>
            <p:cNvGrpSpPr/>
            <p:nvPr/>
          </p:nvGrpSpPr>
          <p:grpSpPr>
            <a:xfrm>
              <a:off x="1636294" y="2661031"/>
              <a:ext cx="2310558" cy="1334709"/>
              <a:chOff x="1636294" y="2661030"/>
              <a:chExt cx="2310558" cy="1334709"/>
            </a:xfrm>
          </p:grpSpPr>
          <p:sp>
            <p:nvSpPr>
              <p:cNvPr id="69" name="圆角矩形 68"/>
              <p:cNvSpPr/>
              <p:nvPr/>
            </p:nvSpPr>
            <p:spPr>
              <a:xfrm>
                <a:off x="2554960" y="3397513"/>
                <a:ext cx="364883" cy="455350"/>
              </a:xfrm>
              <a:prstGeom prst="roundRect">
                <a:avLst>
                  <a:gd name="adj" fmla="val 0"/>
                </a:avLst>
              </a:prstGeom>
              <a:solidFill>
                <a:srgbClr val="FF00FF">
                  <a:alpha val="20000"/>
                </a:srgbClr>
              </a:solid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0" name="圆角矩形 69"/>
              <p:cNvSpPr/>
              <p:nvPr/>
            </p:nvSpPr>
            <p:spPr>
              <a:xfrm>
                <a:off x="3307434" y="3135576"/>
                <a:ext cx="364883" cy="455350"/>
              </a:xfrm>
              <a:prstGeom prst="roundRect">
                <a:avLst>
                  <a:gd name="adj" fmla="val 0"/>
                </a:avLst>
              </a:prstGeom>
              <a:solidFill>
                <a:srgbClr val="FF00FF">
                  <a:alpha val="20000"/>
                </a:srgbClr>
              </a:solid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71" name="直接连接符 70"/>
              <p:cNvCxnSpPr/>
              <p:nvPr/>
            </p:nvCxnSpPr>
            <p:spPr>
              <a:xfrm>
                <a:off x="3658852" y="3371456"/>
                <a:ext cx="288000" cy="394"/>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a:off x="1653841" y="3995343"/>
                <a:ext cx="513097" cy="394"/>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3" name="肘形连接符 72"/>
              <p:cNvCxnSpPr/>
              <p:nvPr/>
            </p:nvCxnSpPr>
            <p:spPr>
              <a:xfrm flipV="1">
                <a:off x="2166938" y="3709988"/>
                <a:ext cx="371478" cy="285751"/>
              </a:xfrm>
              <a:prstGeom prst="bentConnector3">
                <a:avLst>
                  <a:gd name="adj1" fmla="val 78205"/>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8" name="肘形连接符 77"/>
              <p:cNvCxnSpPr/>
              <p:nvPr/>
            </p:nvCxnSpPr>
            <p:spPr>
              <a:xfrm flipV="1">
                <a:off x="3124200" y="3467102"/>
                <a:ext cx="176216" cy="142873"/>
              </a:xfrm>
              <a:prstGeom prst="bentConnector3">
                <a:avLst>
                  <a:gd name="adj1" fmla="val -1351"/>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a:off x="2920665" y="3614343"/>
                <a:ext cx="216000" cy="394"/>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V="1">
                <a:off x="2292015" y="3524250"/>
                <a:ext cx="252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82" name="肘形连接符 81"/>
              <p:cNvCxnSpPr/>
              <p:nvPr/>
            </p:nvCxnSpPr>
            <p:spPr>
              <a:xfrm rot="16200000" flipV="1">
                <a:off x="1534300" y="2763024"/>
                <a:ext cx="872746" cy="668757"/>
              </a:xfrm>
              <a:prstGeom prst="bentConnector2">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grpSp>
        <p:cxnSp>
          <p:nvCxnSpPr>
            <p:cNvPr id="99" name="直接连接符 98"/>
            <p:cNvCxnSpPr/>
            <p:nvPr/>
          </p:nvCxnSpPr>
          <p:spPr>
            <a:xfrm flipV="1">
              <a:off x="1911014" y="3271838"/>
              <a:ext cx="1404000" cy="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0" name="肘形连接符 81"/>
            <p:cNvCxnSpPr/>
            <p:nvPr/>
          </p:nvCxnSpPr>
          <p:spPr>
            <a:xfrm rot="16200000" flipV="1">
              <a:off x="1604964" y="2952752"/>
              <a:ext cx="361949" cy="276224"/>
            </a:xfrm>
            <a:prstGeom prst="bentConnector3">
              <a:avLst>
                <a:gd name="adj1" fmla="val 107895"/>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2" fill="hold" nodeType="afterEffect">
                                  <p:stCondLst>
                                    <p:cond delay="0"/>
                                  </p:stCondLst>
                                  <p:childTnLst>
                                    <p:set>
                                      <p:cBhvr>
                                        <p:cTn id="6" dur="1" fill="hold">
                                          <p:stCondLst>
                                            <p:cond delay="0"/>
                                          </p:stCondLst>
                                        </p:cTn>
                                        <p:tgtEl>
                                          <p:spTgt spid="36"/>
                                        </p:tgtEl>
                                        <p:attrNameLst>
                                          <p:attrName>style.visibility</p:attrName>
                                        </p:attrNameLst>
                                      </p:cBhvr>
                                      <p:to>
                                        <p:strVal val="visible"/>
                                      </p:to>
                                    </p:set>
                                    <p:animEffect transition="in" filter="slide(fromRight)">
                                      <p:cBhvr>
                                        <p:cTn id="7" dur="1000"/>
                                        <p:tgtEl>
                                          <p:spTgt spid="36"/>
                                        </p:tgtEl>
                                      </p:cBhvr>
                                    </p:animEffect>
                                  </p:childTnLst>
                                </p:cTn>
                              </p:par>
                            </p:childTnLst>
                          </p:cTn>
                        </p:par>
                        <p:par>
                          <p:cTn id="8" fill="hold">
                            <p:stCondLst>
                              <p:cond delay="1000"/>
                            </p:stCondLst>
                            <p:childTnLst>
                              <p:par>
                                <p:cTn id="9" presetID="53" presetClass="entr" presetSubtype="16"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 calcmode="lin" valueType="num">
                                      <p:cBhvr>
                                        <p:cTn id="11" dur="1000" fill="hold"/>
                                        <p:tgtEl>
                                          <p:spTgt spid="39"/>
                                        </p:tgtEl>
                                        <p:attrNameLst>
                                          <p:attrName>ppt_w</p:attrName>
                                        </p:attrNameLst>
                                      </p:cBhvr>
                                      <p:tavLst>
                                        <p:tav tm="0">
                                          <p:val>
                                            <p:fltVal val="0"/>
                                          </p:val>
                                        </p:tav>
                                        <p:tav tm="100000">
                                          <p:val>
                                            <p:strVal val="#ppt_w"/>
                                          </p:val>
                                        </p:tav>
                                      </p:tavLst>
                                    </p:anim>
                                    <p:anim calcmode="lin" valueType="num">
                                      <p:cBhvr>
                                        <p:cTn id="12" dur="1000" fill="hold"/>
                                        <p:tgtEl>
                                          <p:spTgt spid="39"/>
                                        </p:tgtEl>
                                        <p:attrNameLst>
                                          <p:attrName>ppt_h</p:attrName>
                                        </p:attrNameLst>
                                      </p:cBhvr>
                                      <p:tavLst>
                                        <p:tav tm="0">
                                          <p:val>
                                            <p:fltVal val="0"/>
                                          </p:val>
                                        </p:tav>
                                        <p:tav tm="100000">
                                          <p:val>
                                            <p:strVal val="#ppt_h"/>
                                          </p:val>
                                        </p:tav>
                                      </p:tavLst>
                                    </p:anim>
                                    <p:animEffect transition="in" filter="fade">
                                      <p:cBhvr>
                                        <p:cTn id="13" dur="1000"/>
                                        <p:tgtEl>
                                          <p:spTgt spid="39"/>
                                        </p:tgtEl>
                                      </p:cBhvr>
                                    </p:animEffect>
                                  </p:childTnLst>
                                </p:cTn>
                              </p:par>
                              <p:par>
                                <p:cTn id="14" presetID="53" presetClass="entr" presetSubtype="16" fill="hold" grpId="0" nodeType="withEffect">
                                  <p:stCondLst>
                                    <p:cond delay="0"/>
                                  </p:stCondLst>
                                  <p:childTnLst>
                                    <p:set>
                                      <p:cBhvr>
                                        <p:cTn id="15" dur="1" fill="hold">
                                          <p:stCondLst>
                                            <p:cond delay="0"/>
                                          </p:stCondLst>
                                        </p:cTn>
                                        <p:tgtEl>
                                          <p:spTgt spid="40"/>
                                        </p:tgtEl>
                                        <p:attrNameLst>
                                          <p:attrName>style.visibility</p:attrName>
                                        </p:attrNameLst>
                                      </p:cBhvr>
                                      <p:to>
                                        <p:strVal val="visible"/>
                                      </p:to>
                                    </p:set>
                                    <p:anim calcmode="lin" valueType="num">
                                      <p:cBhvr>
                                        <p:cTn id="16" dur="1000" fill="hold"/>
                                        <p:tgtEl>
                                          <p:spTgt spid="40"/>
                                        </p:tgtEl>
                                        <p:attrNameLst>
                                          <p:attrName>ppt_w</p:attrName>
                                        </p:attrNameLst>
                                      </p:cBhvr>
                                      <p:tavLst>
                                        <p:tav tm="0">
                                          <p:val>
                                            <p:fltVal val="0"/>
                                          </p:val>
                                        </p:tav>
                                        <p:tav tm="100000">
                                          <p:val>
                                            <p:strVal val="#ppt_w"/>
                                          </p:val>
                                        </p:tav>
                                      </p:tavLst>
                                    </p:anim>
                                    <p:anim calcmode="lin" valueType="num">
                                      <p:cBhvr>
                                        <p:cTn id="17" dur="1000" fill="hold"/>
                                        <p:tgtEl>
                                          <p:spTgt spid="40"/>
                                        </p:tgtEl>
                                        <p:attrNameLst>
                                          <p:attrName>ppt_h</p:attrName>
                                        </p:attrNameLst>
                                      </p:cBhvr>
                                      <p:tavLst>
                                        <p:tav tm="0">
                                          <p:val>
                                            <p:fltVal val="0"/>
                                          </p:val>
                                        </p:tav>
                                        <p:tav tm="100000">
                                          <p:val>
                                            <p:strVal val="#ppt_h"/>
                                          </p:val>
                                        </p:tav>
                                      </p:tavLst>
                                    </p:anim>
                                    <p:animEffect transition="in" filter="fade">
                                      <p:cBhvr>
                                        <p:cTn id="18" dur="1000"/>
                                        <p:tgtEl>
                                          <p:spTgt spid="40"/>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grpId="0" nodeType="clickEffect">
                                  <p:stCondLst>
                                    <p:cond delay="0"/>
                                  </p:stCondLst>
                                  <p:childTnLst>
                                    <p:set>
                                      <p:cBhvr>
                                        <p:cTn id="22" dur="1" fill="hold">
                                          <p:stCondLst>
                                            <p:cond delay="0"/>
                                          </p:stCondLst>
                                        </p:cTn>
                                        <p:tgtEl>
                                          <p:spTgt spid="50"/>
                                        </p:tgtEl>
                                        <p:attrNameLst>
                                          <p:attrName>style.visibility</p:attrName>
                                        </p:attrNameLst>
                                      </p:cBhvr>
                                      <p:to>
                                        <p:strVal val="visible"/>
                                      </p:to>
                                    </p:set>
                                    <p:animEffect transition="in" filter="wipe(up)">
                                      <p:cBhvr>
                                        <p:cTn id="23" dur="1000"/>
                                        <p:tgtEl>
                                          <p:spTgt spid="50"/>
                                        </p:tgtEl>
                                      </p:cBhvr>
                                    </p:animEffect>
                                  </p:childTnLst>
                                </p:cTn>
                              </p:par>
                            </p:childTnLst>
                          </p:cTn>
                        </p:par>
                        <p:par>
                          <p:cTn id="24" fill="hold">
                            <p:stCondLst>
                              <p:cond delay="1000"/>
                            </p:stCondLst>
                            <p:childTnLst>
                              <p:par>
                                <p:cTn id="25" presetID="22" presetClass="entr" presetSubtype="8" fill="hold" nodeType="afterEffect">
                                  <p:stCondLst>
                                    <p:cond delay="0"/>
                                  </p:stCondLst>
                                  <p:childTnLst>
                                    <p:set>
                                      <p:cBhvr>
                                        <p:cTn id="26" dur="1" fill="hold">
                                          <p:stCondLst>
                                            <p:cond delay="0"/>
                                          </p:stCondLst>
                                        </p:cTn>
                                        <p:tgtEl>
                                          <p:spTgt spid="68"/>
                                        </p:tgtEl>
                                        <p:attrNameLst>
                                          <p:attrName>style.visibility</p:attrName>
                                        </p:attrNameLst>
                                      </p:cBhvr>
                                      <p:to>
                                        <p:strVal val="visible"/>
                                      </p:to>
                                    </p:set>
                                    <p:animEffect transition="in" filter="wipe(left)">
                                      <p:cBhvr>
                                        <p:cTn id="27" dur="1000"/>
                                        <p:tgtEl>
                                          <p:spTgt spid="6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grpId="0" nodeType="clickEffect">
                                  <p:stCondLst>
                                    <p:cond delay="0"/>
                                  </p:stCondLst>
                                  <p:childTnLst>
                                    <p:set>
                                      <p:cBhvr>
                                        <p:cTn id="31" dur="1" fill="hold">
                                          <p:stCondLst>
                                            <p:cond delay="0"/>
                                          </p:stCondLst>
                                        </p:cTn>
                                        <p:tgtEl>
                                          <p:spTgt spid="96"/>
                                        </p:tgtEl>
                                        <p:attrNameLst>
                                          <p:attrName>style.visibility</p:attrName>
                                        </p:attrNameLst>
                                      </p:cBhvr>
                                      <p:to>
                                        <p:strVal val="visible"/>
                                      </p:to>
                                    </p:set>
                                    <p:animEffect transition="in" filter="wipe(up)">
                                      <p:cBhvr>
                                        <p:cTn id="32" dur="1000"/>
                                        <p:tgtEl>
                                          <p:spTgt spid="96"/>
                                        </p:tgtEl>
                                      </p:cBhvr>
                                    </p:animEffect>
                                  </p:childTnLst>
                                </p:cTn>
                              </p:par>
                            </p:childTnLst>
                          </p:cTn>
                        </p:par>
                        <p:par>
                          <p:cTn id="33" fill="hold">
                            <p:stCondLst>
                              <p:cond delay="1000"/>
                            </p:stCondLst>
                            <p:childTnLst>
                              <p:par>
                                <p:cTn id="34" presetID="22" presetClass="entr" presetSubtype="8" fill="hold" nodeType="afterEffect">
                                  <p:stCondLst>
                                    <p:cond delay="0"/>
                                  </p:stCondLst>
                                  <p:childTnLst>
                                    <p:set>
                                      <p:cBhvr>
                                        <p:cTn id="35" dur="1" fill="hold">
                                          <p:stCondLst>
                                            <p:cond delay="0"/>
                                          </p:stCondLst>
                                        </p:cTn>
                                        <p:tgtEl>
                                          <p:spTgt spid="104"/>
                                        </p:tgtEl>
                                        <p:attrNameLst>
                                          <p:attrName>style.visibility</p:attrName>
                                        </p:attrNameLst>
                                      </p:cBhvr>
                                      <p:to>
                                        <p:strVal val="visible"/>
                                      </p:to>
                                    </p:set>
                                    <p:animEffect transition="in" filter="wipe(left)">
                                      <p:cBhvr>
                                        <p:cTn id="36" dur="1000"/>
                                        <p:tgtEl>
                                          <p:spTgt spid="104"/>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1" fill="hold" grpId="0" nodeType="clickEffect">
                                  <p:stCondLst>
                                    <p:cond delay="0"/>
                                  </p:stCondLst>
                                  <p:childTnLst>
                                    <p:set>
                                      <p:cBhvr>
                                        <p:cTn id="40" dur="1" fill="hold">
                                          <p:stCondLst>
                                            <p:cond delay="0"/>
                                          </p:stCondLst>
                                        </p:cTn>
                                        <p:tgtEl>
                                          <p:spTgt spid="98"/>
                                        </p:tgtEl>
                                        <p:attrNameLst>
                                          <p:attrName>style.visibility</p:attrName>
                                        </p:attrNameLst>
                                      </p:cBhvr>
                                      <p:to>
                                        <p:strVal val="visible"/>
                                      </p:to>
                                    </p:set>
                                    <p:animEffect transition="in" filter="wipe(up)">
                                      <p:cBhvr>
                                        <p:cTn id="41" dur="1000"/>
                                        <p:tgtEl>
                                          <p:spTgt spid="98"/>
                                        </p:tgtEl>
                                      </p:cBhvr>
                                    </p:animEffect>
                                  </p:childTnLst>
                                </p:cTn>
                              </p:par>
                            </p:childTnLst>
                          </p:cTn>
                        </p:par>
                        <p:par>
                          <p:cTn id="42" fill="hold">
                            <p:stCondLst>
                              <p:cond delay="1000"/>
                            </p:stCondLst>
                            <p:childTnLst>
                              <p:par>
                                <p:cTn id="43" presetID="22" presetClass="entr" presetSubtype="8" fill="hold" nodeType="afterEffect">
                                  <p:stCondLst>
                                    <p:cond delay="0"/>
                                  </p:stCondLst>
                                  <p:childTnLst>
                                    <p:set>
                                      <p:cBhvr>
                                        <p:cTn id="44" dur="1" fill="hold">
                                          <p:stCondLst>
                                            <p:cond delay="0"/>
                                          </p:stCondLst>
                                        </p:cTn>
                                        <p:tgtEl>
                                          <p:spTgt spid="95"/>
                                        </p:tgtEl>
                                        <p:attrNameLst>
                                          <p:attrName>style.visibility</p:attrName>
                                        </p:attrNameLst>
                                      </p:cBhvr>
                                      <p:to>
                                        <p:strVal val="visible"/>
                                      </p:to>
                                    </p:set>
                                    <p:animEffect transition="in" filter="wipe(left)">
                                      <p:cBhvr>
                                        <p:cTn id="45" dur="1000"/>
                                        <p:tgtEl>
                                          <p:spTgt spid="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0" grpId="0" animBg="1"/>
      <p:bldP spid="50" grpId="0" animBg="1"/>
      <p:bldP spid="96" grpId="0" animBg="1"/>
      <p:bldP spid="98"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4" name="Group 57"/>
          <p:cNvGraphicFramePr>
            <a:graphicFrameLocks noGrp="1"/>
          </p:cNvGraphicFramePr>
          <p:nvPr/>
        </p:nvGraphicFramePr>
        <p:xfrm>
          <a:off x="4661905" y="1427047"/>
          <a:ext cx="4176000" cy="3595246"/>
        </p:xfrm>
        <a:graphic>
          <a:graphicData uri="http://schemas.openxmlformats.org/drawingml/2006/table">
            <a:tbl>
              <a:tblPr/>
              <a:tblGrid>
                <a:gridCol w="504000"/>
                <a:gridCol w="504000"/>
                <a:gridCol w="504000"/>
                <a:gridCol w="504000"/>
                <a:gridCol w="360000"/>
                <a:gridCol w="360000"/>
                <a:gridCol w="360000"/>
                <a:gridCol w="360000"/>
                <a:gridCol w="360000"/>
                <a:gridCol w="360000"/>
              </a:tblGrid>
              <a:tr h="319246">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3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3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 </a:t>
                      </a:r>
                      <a:r>
                        <a:rPr kumimoji="0" lang="en-US" altLang="zh-CN" sz="13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3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3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3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3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 </a:t>
                      </a:r>
                      <a:r>
                        <a:rPr kumimoji="0" lang="en-US" altLang="zh-CN" sz="13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3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3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3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3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 </a:t>
                      </a:r>
                      <a:r>
                        <a:rPr kumimoji="0" lang="en-US" altLang="zh-CN" sz="13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3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3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3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3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 </a:t>
                      </a:r>
                      <a:r>
                        <a:rPr kumimoji="0" lang="en-US" altLang="zh-CN" sz="13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3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3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A&gt;B</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A&lt;B</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A=B</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F</a:t>
                      </a:r>
                      <a:r>
                        <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A&gt;B</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F</a:t>
                      </a:r>
                      <a:r>
                        <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A&lt;B</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F</a:t>
                      </a:r>
                      <a:r>
                        <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A=B</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&gt;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&gt;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&gt;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&gt;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25" name="组合 17"/>
          <p:cNvGrpSpPr/>
          <p:nvPr/>
        </p:nvGrpSpPr>
        <p:grpSpPr>
          <a:xfrm>
            <a:off x="392432" y="769746"/>
            <a:ext cx="4654630" cy="420971"/>
            <a:chOff x="670560" y="892917"/>
            <a:chExt cx="4654630" cy="420971"/>
          </a:xfrm>
        </p:grpSpPr>
        <p:sp>
          <p:nvSpPr>
            <p:cNvPr id="30" name="矩形 29"/>
            <p:cNvSpPr/>
            <p:nvPr/>
          </p:nvSpPr>
          <p:spPr>
            <a:xfrm>
              <a:off x="1035233" y="913778"/>
              <a:ext cx="4289957"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集成数值比较器及其应用</a:t>
              </a:r>
              <a:r>
                <a:rPr lang="zh-CN" altLang="en-US" sz="1600" b="1" dirty="0">
                  <a:solidFill>
                    <a:srgbClr val="FF00FF"/>
                  </a:solidFill>
                  <a:latin typeface="微软雅黑" panose="020B0503020204020204" pitchFamily="34" charset="-122"/>
                  <a:ea typeface="微软雅黑" panose="020B0503020204020204" pitchFamily="34" charset="-122"/>
                </a:rPr>
                <a:t>（</a:t>
              </a:r>
              <a:r>
                <a:rPr lang="en-US" altLang="zh-CN" sz="1600" b="1" dirty="0">
                  <a:solidFill>
                    <a:srgbClr val="FF00FF"/>
                  </a:solidFill>
                  <a:latin typeface="微软雅黑" panose="020B0503020204020204" pitchFamily="34" charset="-122"/>
                  <a:ea typeface="微软雅黑" panose="020B0503020204020204" pitchFamily="34" charset="-122"/>
                </a:rPr>
                <a:t>74HC85</a:t>
              </a:r>
              <a:r>
                <a:rPr lang="zh-CN" altLang="en-US" sz="1600" b="1" dirty="0">
                  <a:solidFill>
                    <a:srgbClr val="FF00FF"/>
                  </a:solidFill>
                  <a:latin typeface="微软雅黑" panose="020B0503020204020204" pitchFamily="34" charset="-122"/>
                  <a:ea typeface="微软雅黑" panose="020B0503020204020204" pitchFamily="34" charset="-122"/>
                </a:rPr>
                <a:t>） </a:t>
              </a:r>
              <a:endParaRPr lang="zh-CN" altLang="en-US" sz="1600" b="1" dirty="0">
                <a:solidFill>
                  <a:srgbClr val="FF00FF"/>
                </a:solidFill>
                <a:latin typeface="微软雅黑" panose="020B0503020204020204" pitchFamily="34" charset="-122"/>
                <a:ea typeface="微软雅黑" panose="020B0503020204020204" pitchFamily="34" charset="-122"/>
              </a:endParaRPr>
            </a:p>
          </p:txBody>
        </p:sp>
        <p:pic>
          <p:nvPicPr>
            <p:cNvPr id="33"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pic>
        <p:nvPicPr>
          <p:cNvPr id="55297" name="Picture 1"/>
          <p:cNvPicPr>
            <a:picLocks noChangeAspect="1" noChangeArrowheads="1"/>
          </p:cNvPicPr>
          <p:nvPr/>
        </p:nvPicPr>
        <p:blipFill>
          <a:blip r:embed="rId2" cstate="print"/>
          <a:srcRect t="6054" r="516" b="22738"/>
          <a:stretch>
            <a:fillRect/>
          </a:stretch>
        </p:blipFill>
        <p:spPr bwMode="auto">
          <a:xfrm>
            <a:off x="624971" y="1995588"/>
            <a:ext cx="3193805" cy="1410907"/>
          </a:xfrm>
          <a:prstGeom prst="rect">
            <a:avLst/>
          </a:prstGeom>
          <a:noFill/>
          <a:ln w="9525">
            <a:noFill/>
            <a:miter lim="800000"/>
            <a:headEnd/>
            <a:tailEnd/>
          </a:ln>
        </p:spPr>
      </p:pic>
      <p:grpSp>
        <p:nvGrpSpPr>
          <p:cNvPr id="7" name="组合 6"/>
          <p:cNvGrpSpPr/>
          <p:nvPr/>
        </p:nvGrpSpPr>
        <p:grpSpPr>
          <a:xfrm>
            <a:off x="1208500" y="1437019"/>
            <a:ext cx="1844832" cy="513061"/>
            <a:chOff x="1328674" y="1195737"/>
            <a:chExt cx="1058926" cy="513061"/>
          </a:xfrm>
        </p:grpSpPr>
        <p:sp>
          <p:nvSpPr>
            <p:cNvPr id="8" name="左大括号 7"/>
            <p:cNvSpPr/>
            <p:nvPr/>
          </p:nvSpPr>
          <p:spPr>
            <a:xfrm rot="5400000">
              <a:off x="1780851" y="1102049"/>
              <a:ext cx="154572" cy="1058926"/>
            </a:xfrm>
            <a:prstGeom prst="leftBrace">
              <a:avLst>
                <a:gd name="adj1" fmla="val 54563"/>
                <a:gd name="adj2" fmla="val 50000"/>
              </a:avLst>
            </a:prstGeom>
            <a:ln w="190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a:solidFill>
                    <a:sysClr val="windowText" lastClr="000000"/>
                  </a:solidFill>
                </a:ln>
              </a:endParaRPr>
            </a:p>
          </p:txBody>
        </p:sp>
        <p:sp>
          <p:nvSpPr>
            <p:cNvPr id="9" name="圆角矩形 8"/>
            <p:cNvSpPr/>
            <p:nvPr/>
          </p:nvSpPr>
          <p:spPr>
            <a:xfrm>
              <a:off x="1525484" y="1195737"/>
              <a:ext cx="667366" cy="294015"/>
            </a:xfrm>
            <a:prstGeom prst="roundRect">
              <a:avLst/>
            </a:prstGeom>
            <a:ln w="12700">
              <a:solidFill>
                <a:srgbClr val="0000FF"/>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结果输出端</a:t>
              </a:r>
              <a:endPar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10" name="组合 9"/>
          <p:cNvGrpSpPr/>
          <p:nvPr/>
        </p:nvGrpSpPr>
        <p:grpSpPr>
          <a:xfrm>
            <a:off x="744397" y="3453967"/>
            <a:ext cx="2598555" cy="767618"/>
            <a:chOff x="1091179" y="1037030"/>
            <a:chExt cx="1491560" cy="767618"/>
          </a:xfrm>
        </p:grpSpPr>
        <p:sp>
          <p:nvSpPr>
            <p:cNvPr id="11" name="左大括号 10"/>
            <p:cNvSpPr/>
            <p:nvPr/>
          </p:nvSpPr>
          <p:spPr>
            <a:xfrm rot="16200000">
              <a:off x="1737772" y="390437"/>
              <a:ext cx="198374" cy="1491560"/>
            </a:xfrm>
            <a:prstGeom prst="leftBrace">
              <a:avLst>
                <a:gd name="adj1" fmla="val 54563"/>
                <a:gd name="adj2" fmla="val 50000"/>
              </a:avLst>
            </a:prstGeom>
            <a:ln w="190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a:solidFill>
                    <a:sysClr val="windowText" lastClr="000000"/>
                  </a:solidFill>
                </a:ln>
              </a:endParaRPr>
            </a:p>
          </p:txBody>
        </p:sp>
        <p:sp>
          <p:nvSpPr>
            <p:cNvPr id="12" name="圆角矩形 11"/>
            <p:cNvSpPr/>
            <p:nvPr/>
          </p:nvSpPr>
          <p:spPr>
            <a:xfrm>
              <a:off x="1103155" y="1303872"/>
              <a:ext cx="1455839" cy="500776"/>
            </a:xfrm>
            <a:prstGeom prst="roundRect">
              <a:avLst/>
            </a:prstGeom>
            <a:ln w="12700">
              <a:solidFill>
                <a:srgbClr val="0000FF"/>
              </a:solidFill>
            </a:ln>
          </p:spPr>
          <p:style>
            <a:lnRef idx="1">
              <a:schemeClr val="accent2"/>
            </a:lnRef>
            <a:fillRef idx="2">
              <a:schemeClr val="accent2"/>
            </a:fillRef>
            <a:effectRef idx="1">
              <a:schemeClr val="accent2"/>
            </a:effectRef>
            <a:fontRef idx="minor">
              <a:schemeClr val="dk1"/>
            </a:fontRef>
          </p:style>
          <p:txBody>
            <a:bodyPr lIns="0" tIns="0" rIns="0" bIns="0" rtlCol="0" anchor="ctr"/>
            <a:lstStyle/>
            <a:p>
              <a:pPr algn="ctr"/>
              <a:r>
                <a:rPr lang="zh-CN" altLang="en-US" sz="1400" dirty="0">
                  <a:solidFill>
                    <a:srgbClr val="000000"/>
                  </a:solidFill>
                  <a:latin typeface="微软雅黑" panose="020B0503020204020204" pitchFamily="34" charset="-122"/>
                  <a:ea typeface="微软雅黑" panose="020B0503020204020204" pitchFamily="34" charset="-122"/>
                </a:rPr>
                <a:t>输入比较变量</a:t>
              </a:r>
              <a:endParaRPr lang="en-US" altLang="zh-CN" sz="1400" dirty="0">
                <a:solidFill>
                  <a:srgbClr val="000000"/>
                </a:solidFill>
                <a:latin typeface="微软雅黑" panose="020B0503020204020204" pitchFamily="34" charset="-122"/>
                <a:ea typeface="微软雅黑" panose="020B0503020204020204" pitchFamily="34" charset="-122"/>
              </a:endParaRPr>
            </a:p>
            <a:p>
              <a:pPr algn="ct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     </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B</a:t>
              </a:r>
              <a:r>
                <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1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3</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1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2</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1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1400" baseline="-250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rPr>
                <a:t>0</a:t>
              </a:r>
              <a:endParaRPr lang="zh-CN" altLang="en-US" sz="1400" dirty="0">
                <a:solidFill>
                  <a:srgbClr val="00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13" name="组合 12"/>
          <p:cNvGrpSpPr/>
          <p:nvPr/>
        </p:nvGrpSpPr>
        <p:grpSpPr>
          <a:xfrm>
            <a:off x="3818775" y="2127989"/>
            <a:ext cx="529598" cy="1137825"/>
            <a:chOff x="1259892" y="1519154"/>
            <a:chExt cx="303987" cy="1137825"/>
          </a:xfrm>
        </p:grpSpPr>
        <p:sp>
          <p:nvSpPr>
            <p:cNvPr id="14" name="左大括号 13"/>
            <p:cNvSpPr/>
            <p:nvPr/>
          </p:nvSpPr>
          <p:spPr>
            <a:xfrm rot="10800000">
              <a:off x="1259892" y="1784861"/>
              <a:ext cx="72617" cy="607318"/>
            </a:xfrm>
            <a:prstGeom prst="leftBrace">
              <a:avLst>
                <a:gd name="adj1" fmla="val 54563"/>
                <a:gd name="adj2" fmla="val 50000"/>
              </a:avLst>
            </a:prstGeom>
            <a:ln w="19050">
              <a:solidFill>
                <a:srgbClr val="00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ln>
                  <a:solidFill>
                    <a:sysClr val="windowText" lastClr="000000"/>
                  </a:solidFill>
                </a:ln>
              </a:endParaRPr>
            </a:p>
          </p:txBody>
        </p:sp>
        <p:sp>
          <p:nvSpPr>
            <p:cNvPr id="15" name="圆角矩形 14"/>
            <p:cNvSpPr/>
            <p:nvPr/>
          </p:nvSpPr>
          <p:spPr>
            <a:xfrm>
              <a:off x="1356853" y="1519154"/>
              <a:ext cx="207026" cy="1137825"/>
            </a:xfrm>
            <a:prstGeom prst="roundRect">
              <a:avLst/>
            </a:prstGeom>
            <a:ln w="12700">
              <a:solidFill>
                <a:srgbClr val="0000FF"/>
              </a:solidFill>
            </a:ln>
          </p:spPr>
          <p:style>
            <a:lnRef idx="1">
              <a:schemeClr val="accent2"/>
            </a:lnRef>
            <a:fillRef idx="2">
              <a:schemeClr val="accent2"/>
            </a:fillRef>
            <a:effectRef idx="1">
              <a:schemeClr val="accent2"/>
            </a:effectRef>
            <a:fontRef idx="minor">
              <a:schemeClr val="dk1"/>
            </a:fontRef>
          </p:style>
          <p:txBody>
            <a:bodyPr rtlCol="0" anchor="ctr"/>
            <a:lstStyle/>
            <a:p>
              <a:pPr algn="ctr"/>
              <a:r>
                <a:rPr lang="zh-CN" altLang="en-US"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级联输入端</a:t>
              </a:r>
              <a:endParaRPr lang="en-US" altLang="zh-CN" sz="14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20" name="圆角矩形 19"/>
          <p:cNvSpPr/>
          <p:nvPr/>
        </p:nvSpPr>
        <p:spPr>
          <a:xfrm>
            <a:off x="4675814" y="1753644"/>
            <a:ext cx="4158799" cy="494538"/>
          </a:xfrm>
          <a:prstGeom prst="roundRect">
            <a:avLst>
              <a:gd name="adj" fmla="val 0"/>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圆角矩形 20"/>
          <p:cNvSpPr/>
          <p:nvPr/>
        </p:nvSpPr>
        <p:spPr>
          <a:xfrm>
            <a:off x="4682000" y="3774471"/>
            <a:ext cx="1993805" cy="1244412"/>
          </a:xfrm>
          <a:prstGeom prst="roundRect">
            <a:avLst>
              <a:gd name="adj" fmla="val 0"/>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圆角矩形 21"/>
          <p:cNvSpPr/>
          <p:nvPr/>
        </p:nvSpPr>
        <p:spPr>
          <a:xfrm>
            <a:off x="6680815" y="4477460"/>
            <a:ext cx="2160674" cy="527673"/>
          </a:xfrm>
          <a:prstGeom prst="roundRect">
            <a:avLst>
              <a:gd name="adj" fmla="val 0"/>
            </a:avLst>
          </a:prstGeom>
          <a:solidFill>
            <a:srgbClr val="FFFF00">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圆角矩形 25"/>
          <p:cNvSpPr/>
          <p:nvPr/>
        </p:nvSpPr>
        <p:spPr>
          <a:xfrm>
            <a:off x="6685621" y="3768636"/>
            <a:ext cx="2155868" cy="699196"/>
          </a:xfrm>
          <a:prstGeom prst="roundRect">
            <a:avLst>
              <a:gd name="adj" fmla="val 0"/>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圆角矩形 27"/>
          <p:cNvSpPr/>
          <p:nvPr/>
        </p:nvSpPr>
        <p:spPr>
          <a:xfrm>
            <a:off x="4676960" y="2263554"/>
            <a:ext cx="4158799" cy="494538"/>
          </a:xfrm>
          <a:prstGeom prst="roundRect">
            <a:avLst>
              <a:gd name="adj" fmla="val 0"/>
            </a:avLst>
          </a:prstGeom>
          <a:solidFill>
            <a:schemeClr val="accent2">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圆角矩形 28"/>
          <p:cNvSpPr/>
          <p:nvPr/>
        </p:nvSpPr>
        <p:spPr>
          <a:xfrm>
            <a:off x="4676960" y="2765442"/>
            <a:ext cx="4158799" cy="494538"/>
          </a:xfrm>
          <a:prstGeom prst="roundRect">
            <a:avLst>
              <a:gd name="adj" fmla="val 0"/>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圆角矩形 30"/>
          <p:cNvSpPr/>
          <p:nvPr/>
        </p:nvSpPr>
        <p:spPr>
          <a:xfrm>
            <a:off x="4678106" y="3268477"/>
            <a:ext cx="4158799" cy="494538"/>
          </a:xfrm>
          <a:prstGeom prst="roundRect">
            <a:avLst>
              <a:gd name="adj" fmla="val 0"/>
            </a:avLst>
          </a:prstGeom>
          <a:solidFill>
            <a:schemeClr val="accent2">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up)">
                                      <p:cBhvr>
                                        <p:cTn id="7" dur="10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wipe(up)">
                                      <p:cBhvr>
                                        <p:cTn id="12" dur="10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wipe(up)">
                                      <p:cBhvr>
                                        <p:cTn id="17" dur="10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wipe(up)">
                                      <p:cBhvr>
                                        <p:cTn id="22" dur="1000"/>
                                        <p:tgtEl>
                                          <p:spTgt spid="29"/>
                                        </p:tgtEl>
                                      </p:cBhvr>
                                    </p:animEffect>
                                  </p:childTnLst>
                                </p:cTn>
                              </p:par>
                            </p:childTnLst>
                          </p:cTn>
                        </p:par>
                        <p:par>
                          <p:cTn id="23" fill="hold">
                            <p:stCondLst>
                              <p:cond delay="1000"/>
                            </p:stCondLst>
                            <p:childTnLst>
                              <p:par>
                                <p:cTn id="24" presetID="22" presetClass="entr" presetSubtype="1" fill="hold" grpId="0" nodeType="after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wipe(up)">
                                      <p:cBhvr>
                                        <p:cTn id="26" dur="1000"/>
                                        <p:tgtEl>
                                          <p:spTgt spid="31"/>
                                        </p:tgtEl>
                                      </p:cBhvr>
                                    </p:animEffect>
                                  </p:childTnLst>
                                </p:cTn>
                              </p:par>
                            </p:childTnLst>
                          </p:cTn>
                        </p:par>
                        <p:par>
                          <p:cTn id="27" fill="hold">
                            <p:stCondLst>
                              <p:cond delay="2000"/>
                            </p:stCondLst>
                            <p:childTnLst>
                              <p:par>
                                <p:cTn id="28" presetID="22" presetClass="entr" presetSubtype="8" fill="hold" grpId="0" nodeType="after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wipe(left)">
                                      <p:cBhvr>
                                        <p:cTn id="30" dur="1000"/>
                                        <p:tgtEl>
                                          <p:spTgt spid="21"/>
                                        </p:tgtEl>
                                      </p:cBhvr>
                                    </p:animEffect>
                                  </p:childTnLst>
                                </p:cTn>
                              </p:par>
                            </p:childTnLst>
                          </p:cTn>
                        </p:par>
                        <p:par>
                          <p:cTn id="31" fill="hold">
                            <p:stCondLst>
                              <p:cond delay="3000"/>
                            </p:stCondLst>
                            <p:childTnLst>
                              <p:par>
                                <p:cTn id="32" presetID="22" presetClass="entr" presetSubtype="8" fill="hold" grpId="0" nodeType="after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wipe(left)">
                                      <p:cBhvr>
                                        <p:cTn id="34" dur="1000"/>
                                        <p:tgtEl>
                                          <p:spTgt spid="22"/>
                                        </p:tgtEl>
                                      </p:cBhvr>
                                    </p:animEffect>
                                  </p:childTnLst>
                                </p:cTn>
                              </p:par>
                              <p:par>
                                <p:cTn id="35" presetID="22" presetClass="entr" presetSubtype="8"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left)">
                                      <p:cBhvr>
                                        <p:cTn id="37"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6" grpId="0" animBg="1"/>
      <p:bldP spid="28" grpId="0" animBg="1"/>
      <p:bldP spid="29" grpId="0" animBg="1"/>
      <p:bldP spid="31" grpId="0" animBg="1"/>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 name="圆角矩形 130"/>
          <p:cNvSpPr/>
          <p:nvPr/>
        </p:nvSpPr>
        <p:spPr>
          <a:xfrm>
            <a:off x="2200060" y="3709972"/>
            <a:ext cx="1430039" cy="302508"/>
          </a:xfrm>
          <a:prstGeom prst="roundRect">
            <a:avLst/>
          </a:prstGeom>
          <a:solidFill>
            <a:schemeClr val="bg1"/>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p:cNvGrpSpPr/>
          <p:nvPr/>
        </p:nvGrpSpPr>
        <p:grpSpPr>
          <a:xfrm>
            <a:off x="749400" y="1882187"/>
            <a:ext cx="3200000" cy="2104419"/>
            <a:chOff x="749400" y="1882187"/>
            <a:chExt cx="3200000" cy="2104419"/>
          </a:xfrm>
        </p:grpSpPr>
        <p:grpSp>
          <p:nvGrpSpPr>
            <p:cNvPr id="136" name="组合 135"/>
            <p:cNvGrpSpPr/>
            <p:nvPr/>
          </p:nvGrpSpPr>
          <p:grpSpPr>
            <a:xfrm>
              <a:off x="755595" y="1882187"/>
              <a:ext cx="3193805" cy="1799306"/>
              <a:chOff x="755595" y="1882187"/>
              <a:chExt cx="3193805" cy="1799306"/>
            </a:xfrm>
          </p:grpSpPr>
          <p:pic>
            <p:nvPicPr>
              <p:cNvPr id="118" name="Picture 1"/>
              <p:cNvPicPr>
                <a:picLocks noChangeAspect="1" noChangeArrowheads="1"/>
              </p:cNvPicPr>
              <p:nvPr/>
            </p:nvPicPr>
            <p:blipFill>
              <a:blip r:embed="rId1" cstate="print"/>
              <a:srcRect t="6054" r="516" b="22738"/>
              <a:stretch>
                <a:fillRect/>
              </a:stretch>
            </p:blipFill>
            <p:spPr bwMode="auto">
              <a:xfrm>
                <a:off x="755595" y="2270586"/>
                <a:ext cx="3193805" cy="1410907"/>
              </a:xfrm>
              <a:prstGeom prst="rect">
                <a:avLst/>
              </a:prstGeom>
              <a:noFill/>
              <a:ln w="9525">
                <a:noFill/>
                <a:miter lim="800000"/>
                <a:headEnd/>
                <a:tailEnd/>
              </a:ln>
            </p:spPr>
          </p:pic>
          <p:grpSp>
            <p:nvGrpSpPr>
              <p:cNvPr id="135" name="组合 134"/>
              <p:cNvGrpSpPr/>
              <p:nvPr/>
            </p:nvGrpSpPr>
            <p:grpSpPr>
              <a:xfrm>
                <a:off x="1038674" y="1882187"/>
                <a:ext cx="2412149" cy="352306"/>
                <a:chOff x="1038674" y="1882187"/>
                <a:chExt cx="2412149" cy="352306"/>
              </a:xfrm>
            </p:grpSpPr>
            <p:sp>
              <p:nvSpPr>
                <p:cNvPr id="132" name="矩形 131"/>
                <p:cNvSpPr/>
                <p:nvPr/>
              </p:nvSpPr>
              <p:spPr>
                <a:xfrm>
                  <a:off x="1038674" y="1882187"/>
                  <a:ext cx="590225" cy="338554"/>
                </a:xfrm>
                <a:prstGeom prst="rect">
                  <a:avLst/>
                </a:prstGeom>
              </p:spPr>
              <p:txBody>
                <a:bodyPr wrap="none">
                  <a:spAutoFit/>
                </a:bodyPr>
                <a:lstStyle/>
                <a:p>
                  <a:pPr lvl="0" algn="ctr" eaLnBrk="0" fontAlgn="base" hangingPunct="0">
                    <a:spcBef>
                      <a:spcPct val="0"/>
                    </a:spcBef>
                    <a:spcAft>
                      <a:spcPct val="0"/>
                    </a:spcAft>
                  </a:pPr>
                  <a:r>
                    <a:rPr lang="en-US" altLang="zh-CN" sz="1600" b="1" i="1" dirty="0">
                      <a:solidFill>
                        <a:srgbClr val="000000"/>
                      </a:solidFill>
                      <a:latin typeface="Times New Roman" panose="02020603050405020304" pitchFamily="18" charset="0"/>
                      <a:ea typeface="楷体_GB2312" pitchFamily="49" charset="-122"/>
                      <a:cs typeface="Times New Roman" panose="02020603050405020304" pitchFamily="18" charset="0"/>
                    </a:rPr>
                    <a:t>F</a:t>
                  </a:r>
                  <a:r>
                    <a:rPr lang="en-US" altLang="zh-CN" sz="1600" b="1"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A=B</a:t>
                  </a:r>
                  <a:endParaRPr lang="en-US" altLang="zh-CN" sz="1600" b="1"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
              <p:nvSpPr>
                <p:cNvPr id="133" name="矩形 132"/>
                <p:cNvSpPr/>
                <p:nvPr/>
              </p:nvSpPr>
              <p:spPr>
                <a:xfrm>
                  <a:off x="1949636" y="1895938"/>
                  <a:ext cx="590225" cy="338554"/>
                </a:xfrm>
                <a:prstGeom prst="rect">
                  <a:avLst/>
                </a:prstGeom>
              </p:spPr>
              <p:txBody>
                <a:bodyPr wrap="none">
                  <a:spAutoFit/>
                </a:bodyPr>
                <a:lstStyle/>
                <a:p>
                  <a:pPr lvl="0" algn="ctr" eaLnBrk="0" fontAlgn="base" hangingPunct="0">
                    <a:spcBef>
                      <a:spcPct val="0"/>
                    </a:spcBef>
                    <a:spcAft>
                      <a:spcPct val="0"/>
                    </a:spcAft>
                  </a:pPr>
                  <a:r>
                    <a:rPr lang="en-US" altLang="zh-CN" sz="1600" b="1" i="1" dirty="0">
                      <a:solidFill>
                        <a:srgbClr val="000000"/>
                      </a:solidFill>
                      <a:latin typeface="Times New Roman" panose="02020603050405020304" pitchFamily="18" charset="0"/>
                      <a:ea typeface="楷体_GB2312" pitchFamily="49" charset="-122"/>
                      <a:cs typeface="Times New Roman" panose="02020603050405020304" pitchFamily="18" charset="0"/>
                    </a:rPr>
                    <a:t>F</a:t>
                  </a:r>
                  <a:r>
                    <a:rPr lang="en-US" altLang="zh-CN" sz="1600" b="1"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A&lt;B</a:t>
                  </a:r>
                  <a:endParaRPr lang="en-US" altLang="zh-CN" sz="1600" b="1"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sp>
              <p:nvSpPr>
                <p:cNvPr id="134" name="矩形 133"/>
                <p:cNvSpPr/>
                <p:nvPr/>
              </p:nvSpPr>
              <p:spPr>
                <a:xfrm>
                  <a:off x="2860598" y="1895939"/>
                  <a:ext cx="590225" cy="338554"/>
                </a:xfrm>
                <a:prstGeom prst="rect">
                  <a:avLst/>
                </a:prstGeom>
              </p:spPr>
              <p:txBody>
                <a:bodyPr wrap="none">
                  <a:spAutoFit/>
                </a:bodyPr>
                <a:lstStyle/>
                <a:p>
                  <a:pPr lvl="0" algn="ctr" eaLnBrk="0" fontAlgn="base" hangingPunct="0">
                    <a:spcBef>
                      <a:spcPct val="0"/>
                    </a:spcBef>
                    <a:spcAft>
                      <a:spcPct val="0"/>
                    </a:spcAft>
                  </a:pPr>
                  <a:r>
                    <a:rPr lang="en-US" altLang="zh-CN" sz="1600" b="1" i="1" dirty="0">
                      <a:solidFill>
                        <a:srgbClr val="000000"/>
                      </a:solidFill>
                      <a:latin typeface="Times New Roman" panose="02020603050405020304" pitchFamily="18" charset="0"/>
                      <a:ea typeface="楷体_GB2312" pitchFamily="49" charset="-122"/>
                      <a:cs typeface="Times New Roman" panose="02020603050405020304" pitchFamily="18" charset="0"/>
                    </a:rPr>
                    <a:t>F</a:t>
                  </a:r>
                  <a:r>
                    <a:rPr lang="en-US" altLang="zh-CN" sz="1600" b="1"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A&gt;B</a:t>
                  </a:r>
                  <a:endParaRPr lang="en-US" altLang="zh-CN" sz="1600" b="1"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grpSp>
        </p:grpSp>
        <p:sp>
          <p:nvSpPr>
            <p:cNvPr id="123" name="矩形 122"/>
            <p:cNvSpPr/>
            <p:nvPr/>
          </p:nvSpPr>
          <p:spPr>
            <a:xfrm>
              <a:off x="749400" y="3648052"/>
              <a:ext cx="2963201" cy="338554"/>
            </a:xfrm>
            <a:prstGeom prst="rect">
              <a:avLst/>
            </a:prstGeom>
          </p:spPr>
          <p:txBody>
            <a:bodyPr wrap="square">
              <a:spAutoFit/>
            </a:bodyPr>
            <a:lstStyle/>
            <a:p>
              <a:pPr eaLnBrk="0" fontAlgn="base" hangingPunct="0">
                <a:spcBef>
                  <a:spcPct val="0"/>
                </a:spcBef>
                <a:spcAft>
                  <a:spcPct val="0"/>
                </a:spcAft>
                <a:defRPr/>
              </a:pPr>
              <a:r>
                <a:rPr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rPr>
                <a:t>B</a:t>
              </a:r>
              <a:r>
                <a:rPr lang="en-US" altLang="zh-CN" sz="1600" baseline="-25000" dirty="0">
                  <a:solidFill>
                    <a:srgbClr val="000000"/>
                  </a:solidFill>
                  <a:latin typeface="Times New Roman" panose="02020603050405020304" pitchFamily="18" charset="0"/>
                  <a:ea typeface="楷体_GB2312" pitchFamily="49" charset="-122"/>
                  <a:cs typeface="Times New Roman" panose="02020603050405020304" pitchFamily="18" charset="0"/>
                </a:rPr>
                <a:t>3</a:t>
              </a:r>
              <a:r>
                <a:rPr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rPr>
                <a:t> </a:t>
              </a:r>
              <a:r>
                <a:rPr lang="en-US" altLang="zh-CN" sz="1600" baseline="-25000" dirty="0">
                  <a:solidFill>
                    <a:srgbClr val="000000"/>
                  </a:solidFill>
                  <a:latin typeface="Times New Roman" panose="02020603050405020304" pitchFamily="18" charset="0"/>
                  <a:ea typeface="楷体_GB2312" pitchFamily="49" charset="-122"/>
                  <a:cs typeface="Times New Roman" panose="02020603050405020304" pitchFamily="18" charset="0"/>
                </a:rPr>
                <a:t>  </a:t>
              </a:r>
              <a:r>
                <a:rPr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rPr>
                <a:t>A</a:t>
              </a:r>
              <a:r>
                <a:rPr lang="en-US" altLang="zh-CN" sz="1600" baseline="-25000" dirty="0">
                  <a:solidFill>
                    <a:srgbClr val="000000"/>
                  </a:solidFill>
                  <a:latin typeface="Times New Roman" panose="02020603050405020304" pitchFamily="18" charset="0"/>
                  <a:ea typeface="楷体_GB2312" pitchFamily="49" charset="-122"/>
                  <a:cs typeface="Times New Roman" panose="02020603050405020304" pitchFamily="18" charset="0"/>
                </a:rPr>
                <a:t>3     </a:t>
              </a:r>
              <a:r>
                <a:rPr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rPr>
                <a:t>B</a:t>
              </a:r>
              <a:r>
                <a:rPr lang="en-US" altLang="zh-CN" sz="1600" baseline="-25000" dirty="0">
                  <a:solidFill>
                    <a:srgbClr val="000000"/>
                  </a:solidFill>
                  <a:latin typeface="Times New Roman" panose="02020603050405020304" pitchFamily="18" charset="0"/>
                  <a:ea typeface="楷体_GB2312" pitchFamily="49" charset="-122"/>
                  <a:cs typeface="Times New Roman" panose="02020603050405020304" pitchFamily="18" charset="0"/>
                </a:rPr>
                <a:t>2  </a:t>
              </a:r>
              <a:r>
                <a:rPr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rPr>
                <a:t> </a:t>
              </a:r>
              <a:r>
                <a:rPr lang="en-US" altLang="zh-CN" sz="1600" baseline="-25000" dirty="0">
                  <a:solidFill>
                    <a:srgbClr val="000000"/>
                  </a:solidFill>
                  <a:latin typeface="Times New Roman" panose="02020603050405020304" pitchFamily="18" charset="0"/>
                  <a:ea typeface="楷体_GB2312" pitchFamily="49" charset="-122"/>
                  <a:cs typeface="Times New Roman" panose="02020603050405020304" pitchFamily="18" charset="0"/>
                </a:rPr>
                <a:t> </a:t>
              </a:r>
              <a:r>
                <a:rPr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rPr>
                <a:t>A</a:t>
              </a:r>
              <a:r>
                <a:rPr lang="en-US" altLang="zh-CN" sz="1600" baseline="-25000" dirty="0">
                  <a:solidFill>
                    <a:srgbClr val="000000"/>
                  </a:solidFill>
                  <a:latin typeface="Times New Roman" panose="02020603050405020304" pitchFamily="18" charset="0"/>
                  <a:ea typeface="楷体_GB2312" pitchFamily="49" charset="-122"/>
                  <a:cs typeface="Times New Roman" panose="02020603050405020304" pitchFamily="18" charset="0"/>
                </a:rPr>
                <a:t>2       </a:t>
              </a:r>
              <a:r>
                <a:rPr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rPr>
                <a:t>B</a:t>
              </a:r>
              <a:r>
                <a:rPr lang="en-US" altLang="zh-CN" sz="1600" baseline="-25000" dirty="0">
                  <a:solidFill>
                    <a:srgbClr val="000000"/>
                  </a:solidFill>
                  <a:latin typeface="Times New Roman" panose="02020603050405020304" pitchFamily="18" charset="0"/>
                  <a:ea typeface="楷体_GB2312" pitchFamily="49" charset="-122"/>
                  <a:cs typeface="Times New Roman" panose="02020603050405020304" pitchFamily="18" charset="0"/>
                </a:rPr>
                <a:t>1 </a:t>
              </a:r>
              <a:r>
                <a:rPr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rPr>
                <a:t> </a:t>
              </a:r>
              <a:r>
                <a:rPr lang="en-US" altLang="zh-CN" sz="1600" baseline="-25000" dirty="0">
                  <a:solidFill>
                    <a:srgbClr val="000000"/>
                  </a:solidFill>
                  <a:latin typeface="Times New Roman" panose="02020603050405020304" pitchFamily="18" charset="0"/>
                  <a:ea typeface="楷体_GB2312" pitchFamily="49" charset="-122"/>
                  <a:cs typeface="Times New Roman" panose="02020603050405020304" pitchFamily="18" charset="0"/>
                </a:rPr>
                <a:t> </a:t>
              </a:r>
              <a:r>
                <a:rPr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rPr>
                <a:t>A</a:t>
              </a:r>
              <a:r>
                <a:rPr lang="en-US" altLang="zh-CN" sz="1600" baseline="-25000" dirty="0">
                  <a:solidFill>
                    <a:srgbClr val="000000"/>
                  </a:solidFill>
                  <a:latin typeface="Times New Roman" panose="02020603050405020304" pitchFamily="18" charset="0"/>
                  <a:ea typeface="楷体_GB2312" pitchFamily="49" charset="-122"/>
                  <a:cs typeface="Times New Roman" panose="02020603050405020304" pitchFamily="18" charset="0"/>
                </a:rPr>
                <a:t>1     </a:t>
              </a:r>
              <a:r>
                <a:rPr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rPr>
                <a:t>B</a:t>
              </a:r>
              <a:r>
                <a:rPr lang="en-US" altLang="zh-CN" sz="1600" baseline="-25000" dirty="0">
                  <a:solidFill>
                    <a:srgbClr val="000000"/>
                  </a:solidFill>
                  <a:latin typeface="Times New Roman" panose="02020603050405020304" pitchFamily="18" charset="0"/>
                  <a:ea typeface="楷体_GB2312" pitchFamily="49" charset="-122"/>
                  <a:cs typeface="Times New Roman" panose="02020603050405020304" pitchFamily="18" charset="0"/>
                </a:rPr>
                <a:t>0</a:t>
              </a:r>
              <a:r>
                <a:rPr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rPr>
                <a:t> </a:t>
              </a:r>
              <a:r>
                <a:rPr lang="en-US" altLang="zh-CN" sz="1600" baseline="-25000" dirty="0">
                  <a:solidFill>
                    <a:srgbClr val="000000"/>
                  </a:solidFill>
                  <a:latin typeface="Times New Roman" panose="02020603050405020304" pitchFamily="18" charset="0"/>
                  <a:ea typeface="楷体_GB2312" pitchFamily="49" charset="-122"/>
                  <a:cs typeface="Times New Roman" panose="02020603050405020304" pitchFamily="18" charset="0"/>
                </a:rPr>
                <a:t>   </a:t>
              </a:r>
              <a:r>
                <a:rPr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rPr>
                <a:t>A</a:t>
              </a:r>
              <a:r>
                <a:rPr lang="en-US" altLang="zh-CN" sz="1600" baseline="-25000" dirty="0">
                  <a:solidFill>
                    <a:srgbClr val="000000"/>
                  </a:solidFill>
                  <a:latin typeface="Times New Roman" panose="02020603050405020304" pitchFamily="18" charset="0"/>
                  <a:ea typeface="楷体_GB2312" pitchFamily="49" charset="-122"/>
                  <a:cs typeface="Times New Roman" panose="02020603050405020304" pitchFamily="18" charset="0"/>
                </a:rPr>
                <a:t>0</a:t>
              </a:r>
              <a:endParaRPr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grpSp>
      <p:graphicFrame>
        <p:nvGraphicFramePr>
          <p:cNvPr id="25" name="Group 57"/>
          <p:cNvGraphicFramePr>
            <a:graphicFrameLocks noGrp="1"/>
          </p:cNvGraphicFramePr>
          <p:nvPr/>
        </p:nvGraphicFramePr>
        <p:xfrm>
          <a:off x="4661905" y="1427047"/>
          <a:ext cx="4176000" cy="3595246"/>
        </p:xfrm>
        <a:graphic>
          <a:graphicData uri="http://schemas.openxmlformats.org/drawingml/2006/table">
            <a:tbl>
              <a:tblPr/>
              <a:tblGrid>
                <a:gridCol w="504000"/>
                <a:gridCol w="504000"/>
                <a:gridCol w="504000"/>
                <a:gridCol w="504000"/>
                <a:gridCol w="360000"/>
                <a:gridCol w="360000"/>
                <a:gridCol w="360000"/>
                <a:gridCol w="360000"/>
                <a:gridCol w="360000"/>
                <a:gridCol w="360000"/>
              </a:tblGrid>
              <a:tr h="319246">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3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3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 </a:t>
                      </a:r>
                      <a:r>
                        <a:rPr kumimoji="0" lang="en-US" altLang="zh-CN" sz="13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3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3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3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3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 </a:t>
                      </a:r>
                      <a:r>
                        <a:rPr kumimoji="0" lang="en-US" altLang="zh-CN" sz="13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3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3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3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3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 </a:t>
                      </a:r>
                      <a:r>
                        <a:rPr kumimoji="0" lang="en-US" altLang="zh-CN" sz="13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3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3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3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3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 </a:t>
                      </a:r>
                      <a:r>
                        <a:rPr kumimoji="0" lang="en-US" altLang="zh-CN" sz="13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300" b="1"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3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A&gt;B</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400" b="1" i="0" u="none" strike="noStrike" cap="none" normalizeH="0" baseline="-3000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A&lt;B</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A=B</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F</a:t>
                      </a:r>
                      <a:r>
                        <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A&gt;B</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F</a:t>
                      </a:r>
                      <a:r>
                        <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A&lt;B</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F</a:t>
                      </a:r>
                      <a:r>
                        <a:rPr kumimoji="0" lang="en-US" altLang="zh-CN" sz="14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A=B</a:t>
                      </a:r>
                      <a:endParaRPr kumimoji="0" lang="en-US" altLang="zh-CN" sz="14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66FFCC"/>
                    </a:solid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&gt;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a:noFill/>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&gt;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&gt;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&gt;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ysDash"/>
                      <a:round/>
                      <a:headEnd type="none" w="med" len="med"/>
                      <a:tailEnd type="none" w="med" len="med"/>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w="12700" cap="flat" cmpd="sng" algn="ctr">
                      <a:solidFill>
                        <a:schemeClr val="tx1"/>
                      </a:solidFill>
                      <a:prstDash val="sysDash"/>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noFill/>
                      <a:prstDash val="solid"/>
                      <a:round/>
                      <a:headEnd type="none" w="med" len="med"/>
                      <a:tailEnd type="none" w="med" len="med"/>
                    </a:lnB>
                    <a:lnTlToBr>
                      <a:noFill/>
                    </a:lnTlToBr>
                    <a:lnBlToTr>
                      <a:noFill/>
                    </a:lnBlToTr>
                    <a:noFill/>
                  </a:tcPr>
                </a:tc>
              </a:tr>
              <a:tr h="252000">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3</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2</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200" b="0" i="0" u="none" strike="noStrike" cap="none" normalizeH="0" baseline="-25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noFill/>
                      <a:prstDash val="solid"/>
                      <a:round/>
                      <a:headEnd type="none" w="med" len="med"/>
                      <a:tailEnd type="none" w="med" len="med"/>
                    </a:lnL>
                    <a:lnR w="12700" cap="flat" cmpd="sng" algn="ctr">
                      <a:solidFill>
                        <a:schemeClr val="tx1"/>
                      </a:solidFill>
                      <a:prstDash val="sysDash"/>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chemeClr val="tx1"/>
                      </a:solidFill>
                      <a:prstDash val="sysDash"/>
                      <a:round/>
                      <a:headEnd type="none" w="med" len="med"/>
                      <a:tailEnd type="none" w="med" len="med"/>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a:noFill/>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28575"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28575"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H</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no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L</a:t>
                      </a:r>
                      <a:endParaRPr kumimoji="0" lang="en-US" altLang="zh-CN" sz="1200" b="0"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a:noFill/>
                    </a:lnL>
                    <a:lnR w="12700" cap="flat" cmpd="sng" algn="ctr">
                      <a:solidFill>
                        <a:schemeClr val="tx1"/>
                      </a:solidFill>
                      <a:prstDash val="solid"/>
                      <a:round/>
                      <a:headEnd type="none" w="med" len="med"/>
                      <a:tailEnd type="none" w="med" len="med"/>
                    </a:lnR>
                    <a:lnT>
                      <a:noFill/>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pSp>
        <p:nvGrpSpPr>
          <p:cNvPr id="106" name="组合 17"/>
          <p:cNvGrpSpPr/>
          <p:nvPr/>
        </p:nvGrpSpPr>
        <p:grpSpPr>
          <a:xfrm>
            <a:off x="392432" y="769746"/>
            <a:ext cx="4654630" cy="420971"/>
            <a:chOff x="670560" y="892917"/>
            <a:chExt cx="4654630" cy="420971"/>
          </a:xfrm>
        </p:grpSpPr>
        <p:sp>
          <p:nvSpPr>
            <p:cNvPr id="109" name="矩形 108"/>
            <p:cNvSpPr/>
            <p:nvPr/>
          </p:nvSpPr>
          <p:spPr>
            <a:xfrm>
              <a:off x="1035233" y="913778"/>
              <a:ext cx="4289957"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集成数值比较器及其应用</a:t>
              </a:r>
              <a:r>
                <a:rPr lang="zh-CN" altLang="en-US" sz="1600" b="1" dirty="0">
                  <a:solidFill>
                    <a:srgbClr val="FF00FF"/>
                  </a:solidFill>
                  <a:latin typeface="微软雅黑" panose="020B0503020204020204" pitchFamily="34" charset="-122"/>
                  <a:ea typeface="微软雅黑" panose="020B0503020204020204" pitchFamily="34" charset="-122"/>
                </a:rPr>
                <a:t>（</a:t>
              </a:r>
              <a:r>
                <a:rPr lang="en-US" altLang="zh-CN" sz="1600" b="1" dirty="0">
                  <a:solidFill>
                    <a:srgbClr val="FF00FF"/>
                  </a:solidFill>
                  <a:latin typeface="微软雅黑" panose="020B0503020204020204" pitchFamily="34" charset="-122"/>
                  <a:ea typeface="微软雅黑" panose="020B0503020204020204" pitchFamily="34" charset="-122"/>
                </a:rPr>
                <a:t>74HC85</a:t>
              </a:r>
              <a:r>
                <a:rPr lang="zh-CN" altLang="en-US" sz="1600" b="1" dirty="0">
                  <a:solidFill>
                    <a:srgbClr val="FF00FF"/>
                  </a:solidFill>
                  <a:latin typeface="微软雅黑" panose="020B0503020204020204" pitchFamily="34" charset="-122"/>
                  <a:ea typeface="微软雅黑" panose="020B0503020204020204" pitchFamily="34" charset="-122"/>
                </a:rPr>
                <a:t>） </a:t>
              </a:r>
              <a:endParaRPr lang="zh-CN" altLang="en-US" sz="1600" b="1" dirty="0">
                <a:solidFill>
                  <a:srgbClr val="FF00FF"/>
                </a:solidFill>
                <a:latin typeface="微软雅黑" panose="020B0503020204020204" pitchFamily="34" charset="-122"/>
                <a:ea typeface="微软雅黑" panose="020B0503020204020204" pitchFamily="34" charset="-122"/>
              </a:endParaRPr>
            </a:p>
          </p:txBody>
        </p:sp>
        <p:pic>
          <p:nvPicPr>
            <p:cNvPr id="112" name="Picture 3"/>
            <p:cNvPicPr>
              <a:picLocks noChangeAspect="1" noChangeArrowheads="1"/>
            </p:cNvPicPr>
            <p:nvPr/>
          </p:nvPicPr>
          <p:blipFill>
            <a:blip r:embed="rId2"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113" name="Rectangle 5"/>
          <p:cNvSpPr>
            <a:spLocks noChangeArrowheads="1"/>
          </p:cNvSpPr>
          <p:nvPr/>
        </p:nvSpPr>
        <p:spPr bwMode="auto">
          <a:xfrm>
            <a:off x="391398" y="1293311"/>
            <a:ext cx="1518364" cy="338554"/>
          </a:xfrm>
          <a:prstGeom prst="rect">
            <a:avLst/>
          </a:prstGeom>
          <a:noFill/>
          <a:ln w="9525">
            <a:noFill/>
            <a:miter lim="800000"/>
          </a:ln>
        </p:spPr>
        <p:txBody>
          <a:bodyPr wrap="none">
            <a:spAutoFit/>
          </a:bodyPr>
          <a:lstStyle/>
          <a:p>
            <a:pPr algn="l"/>
            <a:r>
              <a:rPr lang="zh-CN"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）单片应用</a:t>
            </a:r>
            <a:endParaRPr lang="zh-CN"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7" name="圆角矩形 116"/>
          <p:cNvSpPr/>
          <p:nvPr/>
        </p:nvSpPr>
        <p:spPr>
          <a:xfrm>
            <a:off x="4678106" y="4272255"/>
            <a:ext cx="4158799" cy="251619"/>
          </a:xfrm>
          <a:prstGeom prst="roundRect">
            <a:avLst>
              <a:gd name="adj" fmla="val 0"/>
            </a:avLst>
          </a:prstGeom>
          <a:solidFill>
            <a:schemeClr val="accent2">
              <a:alpha val="2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22" name="组合 121"/>
          <p:cNvGrpSpPr/>
          <p:nvPr/>
        </p:nvGrpSpPr>
        <p:grpSpPr>
          <a:xfrm>
            <a:off x="3911980" y="2515502"/>
            <a:ext cx="247507" cy="859398"/>
            <a:chOff x="3788230" y="2185502"/>
            <a:chExt cx="247507" cy="859398"/>
          </a:xfrm>
        </p:grpSpPr>
        <p:sp>
          <p:nvSpPr>
            <p:cNvPr id="121" name="圆角矩形 120"/>
            <p:cNvSpPr/>
            <p:nvPr/>
          </p:nvSpPr>
          <p:spPr>
            <a:xfrm>
              <a:off x="3788230" y="2185502"/>
              <a:ext cx="247507" cy="859398"/>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0" name="矩形 119"/>
            <p:cNvSpPr/>
            <p:nvPr/>
          </p:nvSpPr>
          <p:spPr>
            <a:xfrm>
              <a:off x="3796567" y="2199703"/>
              <a:ext cx="230832" cy="830997"/>
            </a:xfrm>
            <a:prstGeom prst="rect">
              <a:avLst/>
            </a:prstGeom>
          </p:spPr>
          <p:txBody>
            <a:bodyPr wrap="none" lIns="0" tIns="0" rIns="0" bIns="0">
              <a:spAutoFit/>
            </a:bodyPr>
            <a:lstStyle/>
            <a:p>
              <a:pPr lvl="0" algn="ctr" eaLnBrk="0" fontAlgn="base" hangingPunct="0">
                <a:spcBef>
                  <a:spcPct val="0"/>
                </a:spcBef>
                <a:spcAft>
                  <a:spcPct val="0"/>
                </a:spcAft>
              </a:pPr>
              <a:r>
                <a:rPr lang="en-US" altLang="zh-CN" dirty="0">
                  <a:solidFill>
                    <a:srgbClr val="000000"/>
                  </a:solidFill>
                  <a:latin typeface="Times New Roman" panose="02020603050405020304" pitchFamily="18" charset="0"/>
                  <a:ea typeface="楷体_GB2312" pitchFamily="49" charset="-122"/>
                  <a:cs typeface="Times New Roman" panose="02020603050405020304" pitchFamily="18" charset="0"/>
                </a:rPr>
                <a:t>×</a:t>
              </a:r>
              <a:endParaRPr lang="en-US" altLang="zh-CN" dirty="0">
                <a:solidFill>
                  <a:srgbClr val="000000"/>
                </a:solidFill>
                <a:latin typeface="Times New Roman" panose="02020603050405020304" pitchFamily="18" charset="0"/>
                <a:ea typeface="楷体_GB2312" pitchFamily="49" charset="-122"/>
                <a:cs typeface="Times New Roman" panose="02020603050405020304" pitchFamily="18" charset="0"/>
              </a:endParaRPr>
            </a:p>
            <a:p>
              <a:pPr algn="ctr" eaLnBrk="0" fontAlgn="base" hangingPunct="0">
                <a:spcBef>
                  <a:spcPct val="0"/>
                </a:spcBef>
                <a:spcAft>
                  <a:spcPct val="0"/>
                </a:spcAft>
              </a:pPr>
              <a:r>
                <a:rPr lang="en-US" altLang="zh-CN" dirty="0">
                  <a:solidFill>
                    <a:srgbClr val="000000"/>
                  </a:solidFill>
                  <a:latin typeface="Times New Roman" panose="02020603050405020304" pitchFamily="18" charset="0"/>
                  <a:ea typeface="楷体_GB2312" pitchFamily="49" charset="-122"/>
                  <a:cs typeface="Times New Roman" panose="02020603050405020304" pitchFamily="18" charset="0"/>
                </a:rPr>
                <a:t>×</a:t>
              </a:r>
              <a:endParaRPr lang="en-US" altLang="zh-CN" dirty="0">
                <a:solidFill>
                  <a:srgbClr val="000000"/>
                </a:solidFill>
                <a:latin typeface="Times New Roman" panose="02020603050405020304" pitchFamily="18" charset="0"/>
                <a:ea typeface="楷体_GB2312" pitchFamily="49" charset="-122"/>
                <a:cs typeface="Times New Roman" panose="02020603050405020304" pitchFamily="18" charset="0"/>
              </a:endParaRPr>
            </a:p>
            <a:p>
              <a:pPr lvl="0" algn="ctr" eaLnBrk="0" fontAlgn="base" hangingPunct="0">
                <a:spcBef>
                  <a:spcPct val="0"/>
                </a:spcBef>
                <a:spcAft>
                  <a:spcPct val="0"/>
                </a:spcAft>
              </a:pPr>
              <a:r>
                <a:rPr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rPr>
                <a:t>1</a:t>
              </a:r>
              <a:endParaRPr lang="en-US" altLang="zh-CN" sz="1600"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grpSp>
      <p:grpSp>
        <p:nvGrpSpPr>
          <p:cNvPr id="125" name="组合 124"/>
          <p:cNvGrpSpPr/>
          <p:nvPr/>
        </p:nvGrpSpPr>
        <p:grpSpPr>
          <a:xfrm>
            <a:off x="749913" y="3710306"/>
            <a:ext cx="1377329" cy="309050"/>
            <a:chOff x="3787989" y="2185504"/>
            <a:chExt cx="247748" cy="604070"/>
          </a:xfrm>
        </p:grpSpPr>
        <p:sp>
          <p:nvSpPr>
            <p:cNvPr id="126" name="圆角矩形 125"/>
            <p:cNvSpPr/>
            <p:nvPr/>
          </p:nvSpPr>
          <p:spPr>
            <a:xfrm>
              <a:off x="3788230" y="2185504"/>
              <a:ext cx="247507" cy="604070"/>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7" name="矩形 126"/>
            <p:cNvSpPr/>
            <p:nvPr/>
          </p:nvSpPr>
          <p:spPr>
            <a:xfrm>
              <a:off x="3787989" y="2199700"/>
              <a:ext cx="244835" cy="562994"/>
            </a:xfrm>
            <a:prstGeom prst="rect">
              <a:avLst/>
            </a:prstGeom>
          </p:spPr>
          <p:txBody>
            <a:bodyPr wrap="square" lIns="0" tIns="0" rIns="0" bIns="0">
              <a:spAutoFit/>
            </a:bodyPr>
            <a:lstStyle/>
            <a:p>
              <a:pPr lvl="0" algn="ctr" eaLnBrk="0" fontAlgn="base" hangingPunct="0">
                <a:spcBef>
                  <a:spcPct val="0"/>
                </a:spcBef>
                <a:spcAft>
                  <a:spcPct val="0"/>
                </a:spcAft>
              </a:pPr>
              <a:r>
                <a:rPr lang="en-US" altLang="zh-CN" dirty="0">
                  <a:solidFill>
                    <a:srgbClr val="000000"/>
                  </a:solidFill>
                  <a:latin typeface="Times New Roman" panose="02020603050405020304" pitchFamily="18" charset="0"/>
                  <a:ea typeface="楷体_GB2312" pitchFamily="49" charset="-122"/>
                  <a:cs typeface="Times New Roman" panose="02020603050405020304" pitchFamily="18" charset="0"/>
                </a:rPr>
                <a:t>0     0    0     0</a:t>
              </a:r>
              <a:endParaRPr lang="en-US" altLang="zh-CN"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gr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31"/>
                                        </p:tgtEl>
                                        <p:attrNameLst>
                                          <p:attrName>style.visibility</p:attrName>
                                        </p:attrNameLst>
                                      </p:cBhvr>
                                      <p:to>
                                        <p:strVal val="visible"/>
                                      </p:to>
                                    </p:set>
                                    <p:animEffect transition="in" filter="fade">
                                      <p:cBhvr>
                                        <p:cTn id="7" dur="1000"/>
                                        <p:tgtEl>
                                          <p:spTgt spid="131"/>
                                        </p:tgtEl>
                                      </p:cBhvr>
                                    </p:animEffect>
                                    <p:anim calcmode="lin" valueType="num">
                                      <p:cBhvr>
                                        <p:cTn id="8" dur="1000" fill="hold"/>
                                        <p:tgtEl>
                                          <p:spTgt spid="131"/>
                                        </p:tgtEl>
                                        <p:attrNameLst>
                                          <p:attrName>ppt_x</p:attrName>
                                        </p:attrNameLst>
                                      </p:cBhvr>
                                      <p:tavLst>
                                        <p:tav tm="0">
                                          <p:val>
                                            <p:strVal val="#ppt_x"/>
                                          </p:val>
                                        </p:tav>
                                        <p:tav tm="100000">
                                          <p:val>
                                            <p:strVal val="#ppt_x"/>
                                          </p:val>
                                        </p:tav>
                                      </p:tavLst>
                                    </p:anim>
                                    <p:anim calcmode="lin" valueType="num">
                                      <p:cBhvr>
                                        <p:cTn id="9" dur="1000" fill="hold"/>
                                        <p:tgtEl>
                                          <p:spTgt spid="131"/>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25"/>
                                        </p:tgtEl>
                                        <p:attrNameLst>
                                          <p:attrName>style.visibility</p:attrName>
                                        </p:attrNameLst>
                                      </p:cBhvr>
                                      <p:to>
                                        <p:strVal val="visible"/>
                                      </p:to>
                                    </p:set>
                                    <p:animEffect transition="in" filter="fade">
                                      <p:cBhvr>
                                        <p:cTn id="12" dur="1000"/>
                                        <p:tgtEl>
                                          <p:spTgt spid="125"/>
                                        </p:tgtEl>
                                      </p:cBhvr>
                                    </p:animEffect>
                                    <p:anim calcmode="lin" valueType="num">
                                      <p:cBhvr>
                                        <p:cTn id="13" dur="1000" fill="hold"/>
                                        <p:tgtEl>
                                          <p:spTgt spid="125"/>
                                        </p:tgtEl>
                                        <p:attrNameLst>
                                          <p:attrName>ppt_x</p:attrName>
                                        </p:attrNameLst>
                                      </p:cBhvr>
                                      <p:tavLst>
                                        <p:tav tm="0">
                                          <p:val>
                                            <p:strVal val="#ppt_x"/>
                                          </p:val>
                                        </p:tav>
                                        <p:tav tm="100000">
                                          <p:val>
                                            <p:strVal val="#ppt_x"/>
                                          </p:val>
                                        </p:tav>
                                      </p:tavLst>
                                    </p:anim>
                                    <p:anim calcmode="lin" valueType="num">
                                      <p:cBhvr>
                                        <p:cTn id="14" dur="1000" fill="hold"/>
                                        <p:tgtEl>
                                          <p:spTgt spid="12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1"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 name="组合 17"/>
          <p:cNvGrpSpPr/>
          <p:nvPr/>
        </p:nvGrpSpPr>
        <p:grpSpPr>
          <a:xfrm>
            <a:off x="392432" y="769746"/>
            <a:ext cx="4654630" cy="420971"/>
            <a:chOff x="670560" y="892917"/>
            <a:chExt cx="4654630" cy="420971"/>
          </a:xfrm>
        </p:grpSpPr>
        <p:sp>
          <p:nvSpPr>
            <p:cNvPr id="42" name="矩形 41"/>
            <p:cNvSpPr/>
            <p:nvPr/>
          </p:nvSpPr>
          <p:spPr>
            <a:xfrm>
              <a:off x="1035233" y="913778"/>
              <a:ext cx="4289957"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集成数值比较器及其应用</a:t>
              </a:r>
              <a:r>
                <a:rPr lang="zh-CN" altLang="en-US" sz="1600" b="1" dirty="0">
                  <a:solidFill>
                    <a:srgbClr val="FF00FF"/>
                  </a:solidFill>
                  <a:latin typeface="微软雅黑" panose="020B0503020204020204" pitchFamily="34" charset="-122"/>
                  <a:ea typeface="微软雅黑" panose="020B0503020204020204" pitchFamily="34" charset="-122"/>
                </a:rPr>
                <a:t>（</a:t>
              </a:r>
              <a:r>
                <a:rPr lang="en-US" altLang="zh-CN" sz="1600" b="1" dirty="0">
                  <a:solidFill>
                    <a:srgbClr val="FF00FF"/>
                  </a:solidFill>
                  <a:latin typeface="微软雅黑" panose="020B0503020204020204" pitchFamily="34" charset="-122"/>
                  <a:ea typeface="微软雅黑" panose="020B0503020204020204" pitchFamily="34" charset="-122"/>
                </a:rPr>
                <a:t>74HC85</a:t>
              </a:r>
              <a:r>
                <a:rPr lang="zh-CN" altLang="en-US" sz="1600" b="1" dirty="0">
                  <a:solidFill>
                    <a:srgbClr val="FF00FF"/>
                  </a:solidFill>
                  <a:latin typeface="微软雅黑" panose="020B0503020204020204" pitchFamily="34" charset="-122"/>
                  <a:ea typeface="微软雅黑" panose="020B0503020204020204" pitchFamily="34" charset="-122"/>
                </a:rPr>
                <a:t>） </a:t>
              </a:r>
              <a:endParaRPr lang="zh-CN" altLang="en-US" sz="1600" b="1" dirty="0">
                <a:solidFill>
                  <a:srgbClr val="FF00FF"/>
                </a:solidFill>
                <a:latin typeface="微软雅黑" panose="020B0503020204020204" pitchFamily="34" charset="-122"/>
                <a:ea typeface="微软雅黑" panose="020B0503020204020204" pitchFamily="34" charset="-122"/>
              </a:endParaRPr>
            </a:p>
          </p:txBody>
        </p:sp>
        <p:pic>
          <p:nvPicPr>
            <p:cNvPr id="43"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45" name="Rectangle 5"/>
          <p:cNvSpPr>
            <a:spLocks noChangeArrowheads="1"/>
          </p:cNvSpPr>
          <p:nvPr/>
        </p:nvSpPr>
        <p:spPr bwMode="auto">
          <a:xfrm>
            <a:off x="391398" y="1293311"/>
            <a:ext cx="2749471" cy="338554"/>
          </a:xfrm>
          <a:prstGeom prst="rect">
            <a:avLst/>
          </a:prstGeom>
          <a:noFill/>
          <a:ln w="9525">
            <a:noFill/>
            <a:miter lim="800000"/>
          </a:ln>
        </p:spPr>
        <p:txBody>
          <a:bodyPr wrap="none">
            <a:spAutoFit/>
          </a:bodyPr>
          <a:lstStyle/>
          <a:p>
            <a:r>
              <a:rPr lang="zh-CN"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）数值比较器的位数扩展</a:t>
            </a:r>
            <a:endParaRPr lang="zh-CN"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91" name="组合 90"/>
          <p:cNvGrpSpPr/>
          <p:nvPr/>
        </p:nvGrpSpPr>
        <p:grpSpPr>
          <a:xfrm>
            <a:off x="1299412" y="1979602"/>
            <a:ext cx="6208294" cy="2331141"/>
            <a:chOff x="1299412" y="1979602"/>
            <a:chExt cx="6208294" cy="2331141"/>
          </a:xfrm>
        </p:grpSpPr>
        <p:sp>
          <p:nvSpPr>
            <p:cNvPr id="90" name="圆角矩形 89"/>
            <p:cNvSpPr/>
            <p:nvPr/>
          </p:nvSpPr>
          <p:spPr>
            <a:xfrm>
              <a:off x="1299412" y="1979602"/>
              <a:ext cx="6208294" cy="2331141"/>
            </a:xfrm>
            <a:prstGeom prst="roundRect">
              <a:avLst>
                <a:gd name="adj" fmla="val 7585"/>
              </a:avLst>
            </a:prstGeom>
            <a:solidFill>
              <a:schemeClr val="bg1"/>
            </a:solidFill>
            <a:ln w="28575">
              <a:solidFill>
                <a:srgbClr val="6600FF"/>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46" name="Picture 7"/>
            <p:cNvPicPr>
              <a:picLocks noChangeAspect="1" noChangeArrowheads="1"/>
            </p:cNvPicPr>
            <p:nvPr/>
          </p:nvPicPr>
          <p:blipFill>
            <a:blip r:embed="rId2" cstate="print"/>
            <a:srcRect r="2630"/>
            <a:stretch>
              <a:fillRect/>
            </a:stretch>
          </p:blipFill>
          <p:spPr bwMode="auto">
            <a:xfrm>
              <a:off x="1488053" y="2141944"/>
              <a:ext cx="5600268" cy="2059044"/>
            </a:xfrm>
            <a:prstGeom prst="rect">
              <a:avLst/>
            </a:prstGeom>
            <a:solidFill>
              <a:srgbClr val="FFFFFF"/>
            </a:solidFill>
            <a:ln w="9525">
              <a:noFill/>
              <a:miter lim="800000"/>
              <a:headEnd/>
              <a:tailEnd/>
            </a:ln>
          </p:spPr>
        </p:pic>
      </p:grpSp>
      <p:sp>
        <p:nvSpPr>
          <p:cNvPr id="50" name="圆角矩形 49"/>
          <p:cNvSpPr/>
          <p:nvPr/>
        </p:nvSpPr>
        <p:spPr>
          <a:xfrm>
            <a:off x="1534313" y="3858113"/>
            <a:ext cx="2178290" cy="349495"/>
          </a:xfrm>
          <a:prstGeom prst="roundRect">
            <a:avLst>
              <a:gd name="adj" fmla="val 23606"/>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圆角矩形 51"/>
          <p:cNvSpPr/>
          <p:nvPr/>
        </p:nvSpPr>
        <p:spPr>
          <a:xfrm>
            <a:off x="4491790" y="3858113"/>
            <a:ext cx="2178290" cy="349495"/>
          </a:xfrm>
          <a:prstGeom prst="roundRect">
            <a:avLst>
              <a:gd name="adj" fmla="val 15737"/>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圆角矩形 52"/>
          <p:cNvSpPr/>
          <p:nvPr/>
        </p:nvSpPr>
        <p:spPr>
          <a:xfrm>
            <a:off x="1671815" y="2119152"/>
            <a:ext cx="1840264" cy="349495"/>
          </a:xfrm>
          <a:prstGeom prst="roundRect">
            <a:avLst>
              <a:gd name="adj" fmla="val 15737"/>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5" name="组合 54"/>
          <p:cNvGrpSpPr/>
          <p:nvPr/>
        </p:nvGrpSpPr>
        <p:grpSpPr>
          <a:xfrm>
            <a:off x="6955400" y="2787705"/>
            <a:ext cx="422824" cy="784830"/>
            <a:chOff x="6995505" y="2547095"/>
            <a:chExt cx="422824" cy="784830"/>
          </a:xfrm>
        </p:grpSpPr>
        <p:sp>
          <p:nvSpPr>
            <p:cNvPr id="47" name="矩形 46"/>
            <p:cNvSpPr/>
            <p:nvPr/>
          </p:nvSpPr>
          <p:spPr>
            <a:xfrm>
              <a:off x="6995505" y="2547095"/>
              <a:ext cx="422824" cy="784830"/>
            </a:xfrm>
            <a:prstGeom prst="rect">
              <a:avLst/>
            </a:prstGeom>
          </p:spPr>
          <p:txBody>
            <a:bodyPr wrap="square">
              <a:spAutoFit/>
            </a:bodyPr>
            <a:lstStyle/>
            <a:p>
              <a:pPr lvl="0" algn="ctr" eaLnBrk="0" fontAlgn="base" hangingPunct="0">
                <a:lnSpc>
                  <a:spcPts val="1800"/>
                </a:lnSpc>
                <a:spcBef>
                  <a:spcPct val="0"/>
                </a:spcBef>
                <a:spcAft>
                  <a:spcPct val="0"/>
                </a:spcAft>
              </a:pPr>
              <a:r>
                <a:rPr lang="en-US" altLang="zh-CN" b="1" dirty="0">
                  <a:solidFill>
                    <a:srgbClr val="FF00FF"/>
                  </a:solidFill>
                  <a:latin typeface="Times New Roman" panose="02020603050405020304" pitchFamily="18" charset="0"/>
                  <a:ea typeface="楷体_GB2312" pitchFamily="49" charset="-122"/>
                  <a:cs typeface="Times New Roman" panose="02020603050405020304" pitchFamily="18" charset="0"/>
                </a:rPr>
                <a:t>×</a:t>
              </a:r>
              <a:endParaRPr lang="en-US" altLang="zh-CN" b="1" dirty="0">
                <a:solidFill>
                  <a:srgbClr val="FF00FF"/>
                </a:solidFill>
                <a:latin typeface="Times New Roman" panose="02020603050405020304" pitchFamily="18" charset="0"/>
                <a:ea typeface="楷体_GB2312" pitchFamily="49" charset="-122"/>
                <a:cs typeface="Times New Roman" panose="02020603050405020304" pitchFamily="18" charset="0"/>
              </a:endParaRPr>
            </a:p>
            <a:p>
              <a:pPr algn="ctr" eaLnBrk="0" fontAlgn="base" hangingPunct="0">
                <a:lnSpc>
                  <a:spcPts val="1800"/>
                </a:lnSpc>
                <a:spcBef>
                  <a:spcPct val="0"/>
                </a:spcBef>
                <a:spcAft>
                  <a:spcPct val="0"/>
                </a:spcAft>
              </a:pPr>
              <a:r>
                <a:rPr lang="en-US" altLang="zh-CN" b="1" dirty="0">
                  <a:solidFill>
                    <a:srgbClr val="FF00FF"/>
                  </a:solidFill>
                  <a:latin typeface="Times New Roman" panose="02020603050405020304" pitchFamily="18" charset="0"/>
                  <a:ea typeface="楷体_GB2312" pitchFamily="49" charset="-122"/>
                  <a:cs typeface="Times New Roman" panose="02020603050405020304" pitchFamily="18" charset="0"/>
                </a:rPr>
                <a:t>×</a:t>
              </a:r>
              <a:endParaRPr lang="en-US" altLang="zh-CN" b="1" dirty="0">
                <a:solidFill>
                  <a:srgbClr val="FF00FF"/>
                </a:solidFill>
                <a:latin typeface="Times New Roman" panose="02020603050405020304" pitchFamily="18" charset="0"/>
                <a:ea typeface="楷体_GB2312" pitchFamily="49" charset="-122"/>
                <a:cs typeface="Times New Roman" panose="02020603050405020304" pitchFamily="18" charset="0"/>
              </a:endParaRPr>
            </a:p>
            <a:p>
              <a:pPr lvl="0" algn="ctr" eaLnBrk="0" fontAlgn="base" hangingPunct="0">
                <a:lnSpc>
                  <a:spcPts val="1800"/>
                </a:lnSpc>
                <a:spcBef>
                  <a:spcPct val="0"/>
                </a:spcBef>
                <a:spcAft>
                  <a:spcPct val="0"/>
                </a:spcAft>
              </a:pPr>
              <a:r>
                <a:rPr lang="en-US" altLang="zh-CN" b="1" dirty="0">
                  <a:solidFill>
                    <a:srgbClr val="FF00FF"/>
                  </a:solidFill>
                  <a:latin typeface="Times New Roman" panose="02020603050405020304" pitchFamily="18" charset="0"/>
                  <a:ea typeface="楷体_GB2312" pitchFamily="49" charset="-122"/>
                  <a:cs typeface="Times New Roman" panose="02020603050405020304" pitchFamily="18" charset="0"/>
                </a:rPr>
                <a:t>1</a:t>
              </a:r>
              <a:endParaRPr lang="en-US" altLang="zh-CN" b="1" dirty="0">
                <a:solidFill>
                  <a:srgbClr val="FF00FF"/>
                </a:solidFill>
                <a:latin typeface="Times New Roman" panose="02020603050405020304" pitchFamily="18" charset="0"/>
                <a:ea typeface="楷体_GB2312" pitchFamily="49" charset="-122"/>
                <a:cs typeface="Times New Roman" panose="02020603050405020304" pitchFamily="18" charset="0"/>
              </a:endParaRPr>
            </a:p>
          </p:txBody>
        </p:sp>
        <p:sp>
          <p:nvSpPr>
            <p:cNvPr id="54" name="圆角矩形 53"/>
            <p:cNvSpPr/>
            <p:nvPr/>
          </p:nvSpPr>
          <p:spPr>
            <a:xfrm>
              <a:off x="7091755" y="2559855"/>
              <a:ext cx="257821" cy="698984"/>
            </a:xfrm>
            <a:prstGeom prst="roundRect">
              <a:avLst>
                <a:gd name="adj" fmla="val 15737"/>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0" name="组合 79"/>
          <p:cNvGrpSpPr/>
          <p:nvPr/>
        </p:nvGrpSpPr>
        <p:grpSpPr>
          <a:xfrm>
            <a:off x="3733229" y="2415477"/>
            <a:ext cx="2543819" cy="969401"/>
            <a:chOff x="3795104" y="2167977"/>
            <a:chExt cx="2543819" cy="969401"/>
          </a:xfrm>
        </p:grpSpPr>
        <p:cxnSp>
          <p:nvCxnSpPr>
            <p:cNvPr id="57" name="肘形连接符 56"/>
            <p:cNvCxnSpPr/>
            <p:nvPr/>
          </p:nvCxnSpPr>
          <p:spPr>
            <a:xfrm flipV="1">
              <a:off x="3795104" y="2172559"/>
              <a:ext cx="2543819" cy="556892"/>
            </a:xfrm>
            <a:prstGeom prst="bentConnector3">
              <a:avLst>
                <a:gd name="adj1" fmla="val 11351"/>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68" name="肘形连接符 67"/>
            <p:cNvCxnSpPr/>
            <p:nvPr/>
          </p:nvCxnSpPr>
          <p:spPr>
            <a:xfrm flipV="1">
              <a:off x="3803129" y="2276737"/>
              <a:ext cx="1951403" cy="647414"/>
            </a:xfrm>
            <a:prstGeom prst="bentConnector3">
              <a:avLst>
                <a:gd name="adj1" fmla="val 19348"/>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2" name="肘形连接符 71"/>
            <p:cNvCxnSpPr/>
            <p:nvPr/>
          </p:nvCxnSpPr>
          <p:spPr>
            <a:xfrm flipV="1">
              <a:off x="3797400" y="2358189"/>
              <a:ext cx="1297114" cy="779189"/>
            </a:xfrm>
            <a:prstGeom prst="bentConnector3">
              <a:avLst>
                <a:gd name="adj1" fmla="val 38339"/>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a:off x="5087638" y="2351315"/>
              <a:ext cx="0" cy="18000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a:off x="5762552" y="2269959"/>
              <a:ext cx="0" cy="25200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a:off x="6334338" y="2167977"/>
              <a:ext cx="0" cy="36000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grpSp>
      <p:sp>
        <p:nvSpPr>
          <p:cNvPr id="83" name="云形 82"/>
          <p:cNvSpPr/>
          <p:nvPr/>
        </p:nvSpPr>
        <p:spPr>
          <a:xfrm>
            <a:off x="3251963" y="1292541"/>
            <a:ext cx="2378816" cy="598142"/>
          </a:xfrm>
          <a:prstGeom prst="cloud">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rgbClr val="FFFF00"/>
                </a:solidFill>
                <a:latin typeface="微软雅黑" panose="020B0503020204020204" pitchFamily="34" charset="-122"/>
                <a:ea typeface="微软雅黑" panose="020B0503020204020204" pitchFamily="34" charset="-122"/>
              </a:rPr>
              <a:t>串联扩展方式</a:t>
            </a:r>
            <a:endParaRPr lang="zh-CN" altLang="en-US" dirty="0">
              <a:solidFill>
                <a:srgbClr val="FFFF00"/>
              </a:solidFill>
            </a:endParaRPr>
          </a:p>
        </p:txBody>
      </p:sp>
      <p:grpSp>
        <p:nvGrpSpPr>
          <p:cNvPr id="85" name="组合 84"/>
          <p:cNvGrpSpPr/>
          <p:nvPr/>
        </p:nvGrpSpPr>
        <p:grpSpPr>
          <a:xfrm>
            <a:off x="774247" y="4292439"/>
            <a:ext cx="7262850" cy="808950"/>
            <a:chOff x="3996990" y="2735180"/>
            <a:chExt cx="7040308" cy="887974"/>
          </a:xfrm>
        </p:grpSpPr>
        <p:sp>
          <p:nvSpPr>
            <p:cNvPr id="86" name="圆角矩形 85"/>
            <p:cNvSpPr/>
            <p:nvPr/>
          </p:nvSpPr>
          <p:spPr>
            <a:xfrm>
              <a:off x="4216387" y="2861114"/>
              <a:ext cx="6820911" cy="762040"/>
            </a:xfrm>
            <a:prstGeom prst="roundRect">
              <a:avLst>
                <a:gd name="adj" fmla="val 4386"/>
              </a:avLst>
            </a:prstGeom>
            <a:solidFill>
              <a:schemeClr val="bg1"/>
            </a:solidFill>
            <a:ln w="28575">
              <a:solidFill>
                <a:srgbClr val="CC00C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705"/>
              <a:r>
                <a:rPr lang="zh-CN" altLang="en-US" b="1" dirty="0">
                  <a:solidFill>
                    <a:srgbClr val="0000FF"/>
                  </a:solidFill>
                  <a:latin typeface="楷体" panose="02010609060101010101" pitchFamily="49" charset="-122"/>
                  <a:ea typeface="楷体" panose="02010609060101010101" pitchFamily="49" charset="-122"/>
                </a:rPr>
                <a:t>串联扩展中的比较结果是逐级传递的，级联芯片数越多，传递时间越长，工作速度越慢！</a:t>
              </a:r>
              <a:endParaRPr lang="zh-CN" altLang="en-US" b="1" dirty="0">
                <a:solidFill>
                  <a:srgbClr val="0000FF"/>
                </a:solidFill>
                <a:latin typeface="楷体" panose="02010609060101010101" pitchFamily="49" charset="-122"/>
                <a:ea typeface="楷体" panose="02010609060101010101" pitchFamily="49" charset="-122"/>
              </a:endParaRPr>
            </a:p>
          </p:txBody>
        </p:sp>
        <p:pic>
          <p:nvPicPr>
            <p:cNvPr id="89" name="Picture 32"/>
            <p:cNvPicPr>
              <a:picLocks noChangeAspect="1" noChangeArrowheads="1"/>
            </p:cNvPicPr>
            <p:nvPr/>
          </p:nvPicPr>
          <p:blipFill>
            <a:blip r:embed="rId3" cstate="print"/>
            <a:srcRect/>
            <a:stretch>
              <a:fillRect/>
            </a:stretch>
          </p:blipFill>
          <p:spPr bwMode="auto">
            <a:xfrm>
              <a:off x="3996990" y="2735180"/>
              <a:ext cx="412063" cy="441909"/>
            </a:xfrm>
            <a:prstGeom prst="rect">
              <a:avLst/>
            </a:prstGeom>
            <a:noFill/>
            <a:ln w="9525">
              <a:noFill/>
              <a:miter lim="800000"/>
              <a:headEnd/>
              <a:tailEnd/>
            </a:ln>
          </p:spPr>
        </p:pic>
      </p:grpSp>
    </p:spTree>
  </p:cSld>
  <p:clrMapOvr>
    <a:masterClrMapping/>
  </p:clrMapOvr>
  <p:transition spd="slow">
    <p:push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animEffect transition="in" filter="fade">
                                      <p:cBhvr>
                                        <p:cTn id="7" dur="2000"/>
                                        <p:tgtEl>
                                          <p:spTgt spid="50"/>
                                        </p:tgtEl>
                                      </p:cBhvr>
                                    </p:animEffect>
                                    <p:anim calcmode="lin" valueType="num">
                                      <p:cBhvr>
                                        <p:cTn id="8" dur="2000" fill="hold"/>
                                        <p:tgtEl>
                                          <p:spTgt spid="50"/>
                                        </p:tgtEl>
                                        <p:attrNameLst>
                                          <p:attrName>ppt_x</p:attrName>
                                        </p:attrNameLst>
                                      </p:cBhvr>
                                      <p:tavLst>
                                        <p:tav tm="0">
                                          <p:val>
                                            <p:strVal val="#ppt_x"/>
                                          </p:val>
                                        </p:tav>
                                        <p:tav tm="100000">
                                          <p:val>
                                            <p:strVal val="#ppt_x"/>
                                          </p:val>
                                        </p:tav>
                                      </p:tavLst>
                                    </p:anim>
                                    <p:anim calcmode="lin" valueType="num">
                                      <p:cBhvr>
                                        <p:cTn id="9" dur="2000" fill="hold"/>
                                        <p:tgtEl>
                                          <p:spTgt spid="50"/>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2"/>
                                        </p:tgtEl>
                                        <p:attrNameLst>
                                          <p:attrName>style.visibility</p:attrName>
                                        </p:attrNameLst>
                                      </p:cBhvr>
                                      <p:to>
                                        <p:strVal val="visible"/>
                                      </p:to>
                                    </p:set>
                                    <p:animEffect transition="in" filter="fade">
                                      <p:cBhvr>
                                        <p:cTn id="12" dur="2000"/>
                                        <p:tgtEl>
                                          <p:spTgt spid="52"/>
                                        </p:tgtEl>
                                      </p:cBhvr>
                                    </p:animEffect>
                                    <p:anim calcmode="lin" valueType="num">
                                      <p:cBhvr>
                                        <p:cTn id="13" dur="2000" fill="hold"/>
                                        <p:tgtEl>
                                          <p:spTgt spid="52"/>
                                        </p:tgtEl>
                                        <p:attrNameLst>
                                          <p:attrName>ppt_x</p:attrName>
                                        </p:attrNameLst>
                                      </p:cBhvr>
                                      <p:tavLst>
                                        <p:tav tm="0">
                                          <p:val>
                                            <p:strVal val="#ppt_x"/>
                                          </p:val>
                                        </p:tav>
                                        <p:tav tm="100000">
                                          <p:val>
                                            <p:strVal val="#ppt_x"/>
                                          </p:val>
                                        </p:tav>
                                      </p:tavLst>
                                    </p:anim>
                                    <p:anim calcmode="lin" valueType="num">
                                      <p:cBhvr>
                                        <p:cTn id="14" dur="2000" fill="hold"/>
                                        <p:tgtEl>
                                          <p:spTgt spid="52"/>
                                        </p:tgtEl>
                                        <p:attrNameLst>
                                          <p:attrName>ppt_y</p:attrName>
                                        </p:attrNameLst>
                                      </p:cBhvr>
                                      <p:tavLst>
                                        <p:tav tm="0">
                                          <p:val>
                                            <p:strVal val="#ppt_y+.1"/>
                                          </p:val>
                                        </p:tav>
                                        <p:tav tm="100000">
                                          <p:val>
                                            <p:strVal val="#ppt_y"/>
                                          </p:val>
                                        </p:tav>
                                      </p:tavLst>
                                    </p:anim>
                                  </p:childTnLst>
                                </p:cTn>
                              </p:par>
                            </p:childTnLst>
                          </p:cTn>
                        </p:par>
                        <p:par>
                          <p:cTn id="15" fill="hold">
                            <p:stCondLst>
                              <p:cond delay="2000"/>
                            </p:stCondLst>
                            <p:childTnLst>
                              <p:par>
                                <p:cTn id="16" presetID="17" presetClass="entr" presetSubtype="2" fill="hold" nodeType="afterEffect">
                                  <p:stCondLst>
                                    <p:cond delay="0"/>
                                  </p:stCondLst>
                                  <p:childTnLst>
                                    <p:set>
                                      <p:cBhvr>
                                        <p:cTn id="17" dur="1" fill="hold">
                                          <p:stCondLst>
                                            <p:cond delay="0"/>
                                          </p:stCondLst>
                                        </p:cTn>
                                        <p:tgtEl>
                                          <p:spTgt spid="80"/>
                                        </p:tgtEl>
                                        <p:attrNameLst>
                                          <p:attrName>style.visibility</p:attrName>
                                        </p:attrNameLst>
                                      </p:cBhvr>
                                      <p:to>
                                        <p:strVal val="visible"/>
                                      </p:to>
                                    </p:set>
                                    <p:anim calcmode="lin" valueType="num">
                                      <p:cBhvr>
                                        <p:cTn id="18" dur="2000" fill="hold"/>
                                        <p:tgtEl>
                                          <p:spTgt spid="80"/>
                                        </p:tgtEl>
                                        <p:attrNameLst>
                                          <p:attrName>ppt_x</p:attrName>
                                        </p:attrNameLst>
                                      </p:cBhvr>
                                      <p:tavLst>
                                        <p:tav tm="0">
                                          <p:val>
                                            <p:strVal val="#ppt_x+#ppt_w/2"/>
                                          </p:val>
                                        </p:tav>
                                        <p:tav tm="100000">
                                          <p:val>
                                            <p:strVal val="#ppt_x"/>
                                          </p:val>
                                        </p:tav>
                                      </p:tavLst>
                                    </p:anim>
                                    <p:anim calcmode="lin" valueType="num">
                                      <p:cBhvr>
                                        <p:cTn id="19" dur="2000" fill="hold"/>
                                        <p:tgtEl>
                                          <p:spTgt spid="80"/>
                                        </p:tgtEl>
                                        <p:attrNameLst>
                                          <p:attrName>ppt_y</p:attrName>
                                        </p:attrNameLst>
                                      </p:cBhvr>
                                      <p:tavLst>
                                        <p:tav tm="0">
                                          <p:val>
                                            <p:strVal val="#ppt_y"/>
                                          </p:val>
                                        </p:tav>
                                        <p:tav tm="100000">
                                          <p:val>
                                            <p:strVal val="#ppt_y"/>
                                          </p:val>
                                        </p:tav>
                                      </p:tavLst>
                                    </p:anim>
                                    <p:anim calcmode="lin" valueType="num">
                                      <p:cBhvr>
                                        <p:cTn id="20" dur="2000" fill="hold"/>
                                        <p:tgtEl>
                                          <p:spTgt spid="80"/>
                                        </p:tgtEl>
                                        <p:attrNameLst>
                                          <p:attrName>ppt_w</p:attrName>
                                        </p:attrNameLst>
                                      </p:cBhvr>
                                      <p:tavLst>
                                        <p:tav tm="0">
                                          <p:val>
                                            <p:fltVal val="0"/>
                                          </p:val>
                                        </p:tav>
                                        <p:tav tm="100000">
                                          <p:val>
                                            <p:strVal val="#ppt_w"/>
                                          </p:val>
                                        </p:tav>
                                      </p:tavLst>
                                    </p:anim>
                                    <p:anim calcmode="lin" valueType="num">
                                      <p:cBhvr>
                                        <p:cTn id="21" dur="2000" fill="hold"/>
                                        <p:tgtEl>
                                          <p:spTgt spid="80"/>
                                        </p:tgtEl>
                                        <p:attrNameLst>
                                          <p:attrName>ppt_h</p:attrName>
                                        </p:attrNameLst>
                                      </p:cBhvr>
                                      <p:tavLst>
                                        <p:tav tm="0">
                                          <p:val>
                                            <p:strVal val="#ppt_h"/>
                                          </p:val>
                                        </p:tav>
                                        <p:tav tm="100000">
                                          <p:val>
                                            <p:strVal val="#ppt_h"/>
                                          </p:val>
                                        </p:tav>
                                      </p:tavLst>
                                    </p:anim>
                                  </p:childTnLst>
                                </p:cTn>
                              </p:par>
                            </p:childTnLst>
                          </p:cTn>
                        </p:par>
                        <p:par>
                          <p:cTn id="22" fill="hold">
                            <p:stCondLst>
                              <p:cond delay="4000"/>
                            </p:stCondLst>
                            <p:childTnLst>
                              <p:par>
                                <p:cTn id="23" presetID="12" presetClass="entr" presetSubtype="2" fill="hold" nodeType="afterEffect">
                                  <p:stCondLst>
                                    <p:cond delay="0"/>
                                  </p:stCondLst>
                                  <p:childTnLst>
                                    <p:set>
                                      <p:cBhvr>
                                        <p:cTn id="24" dur="1" fill="hold">
                                          <p:stCondLst>
                                            <p:cond delay="0"/>
                                          </p:stCondLst>
                                        </p:cTn>
                                        <p:tgtEl>
                                          <p:spTgt spid="55"/>
                                        </p:tgtEl>
                                        <p:attrNameLst>
                                          <p:attrName>style.visibility</p:attrName>
                                        </p:attrNameLst>
                                      </p:cBhvr>
                                      <p:to>
                                        <p:strVal val="visible"/>
                                      </p:to>
                                    </p:set>
                                    <p:anim calcmode="lin" valueType="num">
                                      <p:cBhvr additive="base">
                                        <p:cTn id="25" dur="2000"/>
                                        <p:tgtEl>
                                          <p:spTgt spid="55"/>
                                        </p:tgtEl>
                                        <p:attrNameLst>
                                          <p:attrName>ppt_x</p:attrName>
                                        </p:attrNameLst>
                                      </p:cBhvr>
                                      <p:tavLst>
                                        <p:tav tm="0">
                                          <p:val>
                                            <p:strVal val="#ppt_x+#ppt_w*1.125000"/>
                                          </p:val>
                                        </p:tav>
                                        <p:tav tm="100000">
                                          <p:val>
                                            <p:strVal val="#ppt_x"/>
                                          </p:val>
                                        </p:tav>
                                      </p:tavLst>
                                    </p:anim>
                                    <p:animEffect transition="in" filter="wipe(left)">
                                      <p:cBhvr>
                                        <p:cTn id="26" dur="2000"/>
                                        <p:tgtEl>
                                          <p:spTgt spid="55"/>
                                        </p:tgtEl>
                                      </p:cBhvr>
                                    </p:animEffect>
                                  </p:childTnLst>
                                </p:cTn>
                              </p:par>
                            </p:childTnLst>
                          </p:cTn>
                        </p:par>
                        <p:par>
                          <p:cTn id="27" fill="hold">
                            <p:stCondLst>
                              <p:cond delay="6000"/>
                            </p:stCondLst>
                            <p:childTnLst>
                              <p:par>
                                <p:cTn id="28" presetID="42" presetClass="entr" presetSubtype="0" fill="hold" grpId="0" nodeType="afterEffect">
                                  <p:stCondLst>
                                    <p:cond delay="0"/>
                                  </p:stCondLst>
                                  <p:childTnLst>
                                    <p:set>
                                      <p:cBhvr>
                                        <p:cTn id="29" dur="1" fill="hold">
                                          <p:stCondLst>
                                            <p:cond delay="0"/>
                                          </p:stCondLst>
                                        </p:cTn>
                                        <p:tgtEl>
                                          <p:spTgt spid="53"/>
                                        </p:tgtEl>
                                        <p:attrNameLst>
                                          <p:attrName>style.visibility</p:attrName>
                                        </p:attrNameLst>
                                      </p:cBhvr>
                                      <p:to>
                                        <p:strVal val="visible"/>
                                      </p:to>
                                    </p:set>
                                    <p:animEffect transition="in" filter="fade">
                                      <p:cBhvr>
                                        <p:cTn id="30" dur="2000"/>
                                        <p:tgtEl>
                                          <p:spTgt spid="53"/>
                                        </p:tgtEl>
                                      </p:cBhvr>
                                    </p:animEffect>
                                    <p:anim calcmode="lin" valueType="num">
                                      <p:cBhvr>
                                        <p:cTn id="31" dur="2000" fill="hold"/>
                                        <p:tgtEl>
                                          <p:spTgt spid="53"/>
                                        </p:tgtEl>
                                        <p:attrNameLst>
                                          <p:attrName>ppt_x</p:attrName>
                                        </p:attrNameLst>
                                      </p:cBhvr>
                                      <p:tavLst>
                                        <p:tav tm="0">
                                          <p:val>
                                            <p:strVal val="#ppt_x"/>
                                          </p:val>
                                        </p:tav>
                                        <p:tav tm="100000">
                                          <p:val>
                                            <p:strVal val="#ppt_x"/>
                                          </p:val>
                                        </p:tav>
                                      </p:tavLst>
                                    </p:anim>
                                    <p:anim calcmode="lin" valueType="num">
                                      <p:cBhvr>
                                        <p:cTn id="32" dur="2000" fill="hold"/>
                                        <p:tgtEl>
                                          <p:spTgt spid="53"/>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nodeType="clickEffect">
                                  <p:stCondLst>
                                    <p:cond delay="0"/>
                                  </p:stCondLst>
                                  <p:childTnLst>
                                    <p:set>
                                      <p:cBhvr>
                                        <p:cTn id="36" dur="1" fill="hold">
                                          <p:stCondLst>
                                            <p:cond delay="0"/>
                                          </p:stCondLst>
                                        </p:cTn>
                                        <p:tgtEl>
                                          <p:spTgt spid="85"/>
                                        </p:tgtEl>
                                        <p:attrNameLst>
                                          <p:attrName>style.visibility</p:attrName>
                                        </p:attrNameLst>
                                      </p:cBhvr>
                                      <p:to>
                                        <p:strVal val="visible"/>
                                      </p:to>
                                    </p:set>
                                    <p:animEffect transition="in" filter="fade">
                                      <p:cBhvr>
                                        <p:cTn id="37" dur="2000"/>
                                        <p:tgtEl>
                                          <p:spTgt spid="85"/>
                                        </p:tgtEl>
                                      </p:cBhvr>
                                    </p:animEffect>
                                    <p:anim calcmode="lin" valueType="num">
                                      <p:cBhvr>
                                        <p:cTn id="38" dur="2000" fill="hold"/>
                                        <p:tgtEl>
                                          <p:spTgt spid="85"/>
                                        </p:tgtEl>
                                        <p:attrNameLst>
                                          <p:attrName>ppt_x</p:attrName>
                                        </p:attrNameLst>
                                      </p:cBhvr>
                                      <p:tavLst>
                                        <p:tav tm="0">
                                          <p:val>
                                            <p:strVal val="#ppt_x"/>
                                          </p:val>
                                        </p:tav>
                                        <p:tav tm="100000">
                                          <p:val>
                                            <p:strVal val="#ppt_x"/>
                                          </p:val>
                                        </p:tav>
                                      </p:tavLst>
                                    </p:anim>
                                    <p:anim calcmode="lin" valueType="num">
                                      <p:cBhvr>
                                        <p:cTn id="39" dur="2000" fill="hold"/>
                                        <p:tgtEl>
                                          <p:spTgt spid="8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2" grpId="0" animBg="1"/>
      <p:bldP spid="53"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a:off x="776895" y="1979602"/>
            <a:ext cx="7466455" cy="3059911"/>
            <a:chOff x="776895" y="1979602"/>
            <a:chExt cx="7466455" cy="3059911"/>
          </a:xfrm>
        </p:grpSpPr>
        <p:grpSp>
          <p:nvGrpSpPr>
            <p:cNvPr id="101" name="组合 100"/>
            <p:cNvGrpSpPr/>
            <p:nvPr/>
          </p:nvGrpSpPr>
          <p:grpSpPr>
            <a:xfrm>
              <a:off x="776895" y="1979602"/>
              <a:ext cx="7466455" cy="3059911"/>
              <a:chOff x="776895" y="1979602"/>
              <a:chExt cx="7466455" cy="3059911"/>
            </a:xfrm>
          </p:grpSpPr>
          <p:sp>
            <p:nvSpPr>
              <p:cNvPr id="100" name="圆角矩形 99"/>
              <p:cNvSpPr/>
              <p:nvPr/>
            </p:nvSpPr>
            <p:spPr>
              <a:xfrm>
                <a:off x="776895" y="1979602"/>
                <a:ext cx="7466455" cy="3059911"/>
              </a:xfrm>
              <a:prstGeom prst="roundRect">
                <a:avLst>
                  <a:gd name="adj" fmla="val 7585"/>
                </a:avLst>
              </a:prstGeom>
              <a:solidFill>
                <a:schemeClr val="bg1"/>
              </a:solidFill>
              <a:ln w="28575">
                <a:solidFill>
                  <a:srgbClr val="CC00CC"/>
                </a:solidFill>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863345" y="2035056"/>
                <a:ext cx="7283751" cy="2942959"/>
                <a:chOff x="787720" y="2035056"/>
                <a:chExt cx="7283751" cy="2942959"/>
              </a:xfrm>
            </p:grpSpPr>
            <p:pic>
              <p:nvPicPr>
                <p:cNvPr id="59395" name="Picture 3"/>
                <p:cNvPicPr>
                  <a:picLocks noChangeAspect="1" noChangeArrowheads="1"/>
                </p:cNvPicPr>
                <p:nvPr/>
              </p:nvPicPr>
              <p:blipFill>
                <a:blip r:embed="rId1" cstate="print"/>
                <a:srcRect t="1825"/>
                <a:stretch>
                  <a:fillRect/>
                </a:stretch>
              </p:blipFill>
              <p:spPr bwMode="auto">
                <a:xfrm>
                  <a:off x="787720" y="2035056"/>
                  <a:ext cx="7283751" cy="2715699"/>
                </a:xfrm>
                <a:prstGeom prst="rect">
                  <a:avLst/>
                </a:prstGeom>
                <a:noFill/>
                <a:ln w="9525">
                  <a:noFill/>
                  <a:miter lim="800000"/>
                  <a:headEnd/>
                  <a:tailEnd/>
                </a:ln>
              </p:spPr>
            </p:pic>
            <p:sp>
              <p:nvSpPr>
                <p:cNvPr id="30" name="矩形 29"/>
                <p:cNvSpPr/>
                <p:nvPr/>
              </p:nvSpPr>
              <p:spPr>
                <a:xfrm>
                  <a:off x="3766817" y="4701016"/>
                  <a:ext cx="1211614" cy="276999"/>
                </a:xfrm>
                <a:prstGeom prst="rect">
                  <a:avLst/>
                </a:prstGeom>
              </p:spPr>
              <p:txBody>
                <a:bodyPr wrap="none">
                  <a:spAutoFit/>
                </a:bodyPr>
                <a:lstStyle/>
                <a:p>
                  <a:pPr lvl="0" algn="ctr" eaLnBrk="0" fontAlgn="base" hangingPunct="0">
                    <a:spcBef>
                      <a:spcPct val="0"/>
                    </a:spcBef>
                    <a:spcAft>
                      <a:spcPct val="0"/>
                    </a:spcAft>
                  </a:pPr>
                  <a:r>
                    <a:rPr lang="en-US" altLang="zh-CN" sz="1200" dirty="0">
                      <a:solidFill>
                        <a:srgbClr val="000000"/>
                      </a:solidFill>
                      <a:latin typeface="Times New Roman" panose="02020603050405020304" pitchFamily="18" charset="0"/>
                      <a:ea typeface="楷体_GB2312" pitchFamily="49" charset="-122"/>
                      <a:cs typeface="Times New Roman" panose="02020603050405020304" pitchFamily="18" charset="0"/>
                    </a:rPr>
                    <a:t>F</a:t>
                  </a:r>
                  <a:r>
                    <a:rPr lang="en-US" altLang="zh-CN" sz="1200"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A=B    </a:t>
                  </a:r>
                  <a:r>
                    <a:rPr lang="en-US" altLang="zh-CN" sz="1200" dirty="0">
                      <a:solidFill>
                        <a:srgbClr val="000000"/>
                      </a:solidFill>
                      <a:latin typeface="Times New Roman" panose="02020603050405020304" pitchFamily="18" charset="0"/>
                      <a:ea typeface="楷体_GB2312" pitchFamily="49" charset="-122"/>
                      <a:cs typeface="Times New Roman" panose="02020603050405020304" pitchFamily="18" charset="0"/>
                    </a:rPr>
                    <a:t>F</a:t>
                  </a:r>
                  <a:r>
                    <a:rPr lang="en-US" altLang="zh-CN" sz="1200"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A&lt;B    </a:t>
                  </a:r>
                  <a:r>
                    <a:rPr lang="en-US" altLang="zh-CN" sz="1200" dirty="0">
                      <a:solidFill>
                        <a:srgbClr val="000000"/>
                      </a:solidFill>
                      <a:latin typeface="Times New Roman" panose="02020603050405020304" pitchFamily="18" charset="0"/>
                      <a:ea typeface="楷体_GB2312" pitchFamily="49" charset="-122"/>
                      <a:cs typeface="Times New Roman" panose="02020603050405020304" pitchFamily="18" charset="0"/>
                    </a:rPr>
                    <a:t>F</a:t>
                  </a:r>
                  <a:r>
                    <a:rPr lang="en-US" altLang="zh-CN" sz="1200" baseline="-30000" dirty="0">
                      <a:solidFill>
                        <a:srgbClr val="000000"/>
                      </a:solidFill>
                      <a:latin typeface="Times New Roman" panose="02020603050405020304" pitchFamily="18" charset="0"/>
                      <a:ea typeface="楷体_GB2312" pitchFamily="49" charset="-122"/>
                      <a:cs typeface="Times New Roman" panose="02020603050405020304" pitchFamily="18" charset="0"/>
                    </a:rPr>
                    <a:t>A&gt;B</a:t>
                  </a:r>
                  <a:endParaRPr lang="en-US" altLang="zh-CN" sz="1200" dirty="0">
                    <a:solidFill>
                      <a:srgbClr val="000000"/>
                    </a:solidFill>
                    <a:latin typeface="Times New Roman" panose="02020603050405020304" pitchFamily="18" charset="0"/>
                    <a:ea typeface="楷体_GB2312" pitchFamily="49" charset="-122"/>
                    <a:cs typeface="Times New Roman" panose="02020603050405020304" pitchFamily="18" charset="0"/>
                  </a:endParaRPr>
                </a:p>
              </p:txBody>
            </p:sp>
          </p:grpSp>
        </p:grpSp>
        <p:sp>
          <p:nvSpPr>
            <p:cNvPr id="37" name="TextBox 36"/>
            <p:cNvSpPr txBox="1"/>
            <p:nvPr/>
          </p:nvSpPr>
          <p:spPr>
            <a:xfrm>
              <a:off x="889000" y="2025650"/>
              <a:ext cx="7080250" cy="246221"/>
            </a:xfrm>
            <a:prstGeom prst="rect">
              <a:avLst/>
            </a:prstGeom>
            <a:solidFill>
              <a:schemeClr val="bg1"/>
            </a:solidFill>
          </p:spPr>
          <p:txBody>
            <a:bodyPr wrap="square" rtlCol="0">
              <a:spAutoFit/>
            </a:bodyPr>
            <a:lstStyle/>
            <a:p>
              <a:r>
                <a:rPr lang="en-US" altLang="zh-CN" sz="1000" i="1" dirty="0">
                  <a:latin typeface="Times New Roman" panose="02020603050405020304" pitchFamily="18" charset="0"/>
                  <a:cs typeface="Times New Roman" panose="02020603050405020304" pitchFamily="18" charset="0"/>
                </a:rPr>
                <a:t>B</a:t>
              </a:r>
              <a:r>
                <a:rPr lang="en-US" altLang="zh-CN" sz="1000" baseline="-25000" dirty="0">
                  <a:latin typeface="Times New Roman" panose="02020603050405020304" pitchFamily="18" charset="0"/>
                  <a:cs typeface="Times New Roman" panose="02020603050405020304" pitchFamily="18" charset="0"/>
                </a:rPr>
                <a:t>15 </a:t>
              </a:r>
              <a:r>
                <a:rPr lang="en-US" altLang="zh-CN" sz="1000" i="1" dirty="0">
                  <a:latin typeface="Times New Roman" panose="02020603050405020304" pitchFamily="18" charset="0"/>
                  <a:cs typeface="Times New Roman" panose="02020603050405020304" pitchFamily="18" charset="0"/>
                </a:rPr>
                <a:t>A</a:t>
              </a:r>
              <a:r>
                <a:rPr lang="en-US" altLang="zh-CN" sz="1000" baseline="-25000" dirty="0">
                  <a:latin typeface="Times New Roman" panose="02020603050405020304" pitchFamily="18" charset="0"/>
                  <a:cs typeface="Times New Roman" panose="02020603050405020304" pitchFamily="18" charset="0"/>
                </a:rPr>
                <a:t>15                               </a:t>
              </a:r>
              <a:r>
                <a:rPr lang="en-US" altLang="zh-CN" sz="1000" i="1" dirty="0">
                  <a:latin typeface="Times New Roman" panose="02020603050405020304" pitchFamily="18" charset="0"/>
                  <a:cs typeface="Times New Roman" panose="02020603050405020304" pitchFamily="18" charset="0"/>
                </a:rPr>
                <a:t>B</a:t>
              </a:r>
              <a:r>
                <a:rPr lang="en-US" altLang="zh-CN" sz="1000" baseline="-25000" dirty="0">
                  <a:latin typeface="Times New Roman" panose="02020603050405020304" pitchFamily="18" charset="0"/>
                  <a:cs typeface="Times New Roman" panose="02020603050405020304" pitchFamily="18" charset="0"/>
                </a:rPr>
                <a:t>12 </a:t>
              </a:r>
              <a:r>
                <a:rPr lang="en-US" altLang="zh-CN" sz="1000" i="1" dirty="0">
                  <a:latin typeface="Times New Roman" panose="02020603050405020304" pitchFamily="18" charset="0"/>
                  <a:cs typeface="Times New Roman" panose="02020603050405020304" pitchFamily="18" charset="0"/>
                </a:rPr>
                <a:t>A</a:t>
              </a:r>
              <a:r>
                <a:rPr lang="en-US" altLang="zh-CN" sz="1000" baseline="-25000" dirty="0">
                  <a:latin typeface="Times New Roman" panose="02020603050405020304" pitchFamily="18" charset="0"/>
                  <a:cs typeface="Times New Roman" panose="02020603050405020304" pitchFamily="18" charset="0"/>
                </a:rPr>
                <a:t>12                       </a:t>
              </a:r>
              <a:r>
                <a:rPr lang="en-US" altLang="zh-CN" sz="1000" i="1" dirty="0">
                  <a:latin typeface="Times New Roman" panose="02020603050405020304" pitchFamily="18" charset="0"/>
                  <a:cs typeface="Times New Roman" panose="02020603050405020304" pitchFamily="18" charset="0"/>
                </a:rPr>
                <a:t>B</a:t>
              </a:r>
              <a:r>
                <a:rPr lang="en-US" altLang="zh-CN" sz="1000" baseline="-25000" dirty="0">
                  <a:latin typeface="Times New Roman" panose="02020603050405020304" pitchFamily="18" charset="0"/>
                  <a:cs typeface="Times New Roman" panose="02020603050405020304" pitchFamily="18" charset="0"/>
                </a:rPr>
                <a:t>11 </a:t>
              </a:r>
              <a:r>
                <a:rPr lang="en-US" altLang="zh-CN" sz="1000" i="1" dirty="0">
                  <a:latin typeface="Times New Roman" panose="02020603050405020304" pitchFamily="18" charset="0"/>
                  <a:cs typeface="Times New Roman" panose="02020603050405020304" pitchFamily="18" charset="0"/>
                </a:rPr>
                <a:t>A</a:t>
              </a:r>
              <a:r>
                <a:rPr lang="en-US" altLang="zh-CN" sz="1000" baseline="-25000" dirty="0">
                  <a:latin typeface="Times New Roman" panose="02020603050405020304" pitchFamily="18" charset="0"/>
                  <a:cs typeface="Times New Roman" panose="02020603050405020304" pitchFamily="18" charset="0"/>
                </a:rPr>
                <a:t>11                                </a:t>
              </a:r>
              <a:r>
                <a:rPr lang="en-US" altLang="zh-CN" sz="1000" i="1" dirty="0">
                  <a:latin typeface="Times New Roman" panose="02020603050405020304" pitchFamily="18" charset="0"/>
                  <a:cs typeface="Times New Roman" panose="02020603050405020304" pitchFamily="18" charset="0"/>
                </a:rPr>
                <a:t>B</a:t>
              </a:r>
              <a:r>
                <a:rPr lang="en-US" altLang="zh-CN" sz="1000" baseline="-25000" dirty="0">
                  <a:latin typeface="Times New Roman" panose="02020603050405020304" pitchFamily="18" charset="0"/>
                  <a:cs typeface="Times New Roman" panose="02020603050405020304" pitchFamily="18" charset="0"/>
                </a:rPr>
                <a:t>8 </a:t>
              </a:r>
              <a:r>
                <a:rPr lang="en-US" altLang="zh-CN" sz="1000" i="1" dirty="0">
                  <a:latin typeface="Times New Roman" panose="02020603050405020304" pitchFamily="18" charset="0"/>
                  <a:cs typeface="Times New Roman" panose="02020603050405020304" pitchFamily="18" charset="0"/>
                </a:rPr>
                <a:t>A</a:t>
              </a:r>
              <a:r>
                <a:rPr lang="en-US" altLang="zh-CN" sz="1000" baseline="-25000" dirty="0">
                  <a:latin typeface="Times New Roman" panose="02020603050405020304" pitchFamily="18" charset="0"/>
                  <a:cs typeface="Times New Roman" panose="02020603050405020304" pitchFamily="18" charset="0"/>
                </a:rPr>
                <a:t>8                                </a:t>
              </a:r>
              <a:r>
                <a:rPr lang="en-US" altLang="zh-CN" sz="1000" i="1" dirty="0">
                  <a:latin typeface="Times New Roman" panose="02020603050405020304" pitchFamily="18" charset="0"/>
                  <a:cs typeface="Times New Roman" panose="02020603050405020304" pitchFamily="18" charset="0"/>
                </a:rPr>
                <a:t>B</a:t>
              </a:r>
              <a:r>
                <a:rPr lang="en-US" altLang="zh-CN" sz="1000" baseline="-25000" dirty="0">
                  <a:latin typeface="Times New Roman" panose="02020603050405020304" pitchFamily="18" charset="0"/>
                  <a:cs typeface="Times New Roman" panose="02020603050405020304" pitchFamily="18" charset="0"/>
                </a:rPr>
                <a:t>7   </a:t>
              </a:r>
              <a:r>
                <a:rPr lang="en-US" altLang="zh-CN" sz="1000" i="1" dirty="0">
                  <a:latin typeface="Times New Roman" panose="02020603050405020304" pitchFamily="18" charset="0"/>
                  <a:cs typeface="Times New Roman" panose="02020603050405020304" pitchFamily="18" charset="0"/>
                </a:rPr>
                <a:t>A</a:t>
              </a:r>
              <a:r>
                <a:rPr lang="en-US" altLang="zh-CN" sz="1000" baseline="-25000" dirty="0">
                  <a:latin typeface="Times New Roman" panose="02020603050405020304" pitchFamily="18" charset="0"/>
                  <a:cs typeface="Times New Roman" panose="02020603050405020304" pitchFamily="18" charset="0"/>
                </a:rPr>
                <a:t>7                                 </a:t>
              </a:r>
              <a:r>
                <a:rPr lang="en-US" altLang="zh-CN" sz="1000" i="1" dirty="0">
                  <a:latin typeface="Times New Roman" panose="02020603050405020304" pitchFamily="18" charset="0"/>
                  <a:cs typeface="Times New Roman" panose="02020603050405020304" pitchFamily="18" charset="0"/>
                </a:rPr>
                <a:t>B</a:t>
              </a:r>
              <a:r>
                <a:rPr lang="en-US" altLang="zh-CN" sz="1000" baseline="-25000" dirty="0">
                  <a:latin typeface="Times New Roman" panose="02020603050405020304" pitchFamily="18" charset="0"/>
                  <a:cs typeface="Times New Roman" panose="02020603050405020304" pitchFamily="18" charset="0"/>
                </a:rPr>
                <a:t>4    </a:t>
              </a:r>
              <a:r>
                <a:rPr lang="en-US" altLang="zh-CN" sz="1000" i="1" dirty="0">
                  <a:latin typeface="Times New Roman" panose="02020603050405020304" pitchFamily="18" charset="0"/>
                  <a:cs typeface="Times New Roman" panose="02020603050405020304" pitchFamily="18" charset="0"/>
                </a:rPr>
                <a:t>A</a:t>
              </a:r>
              <a:r>
                <a:rPr lang="en-US" altLang="zh-CN" sz="1000" baseline="-25000" dirty="0">
                  <a:latin typeface="Times New Roman" panose="02020603050405020304" pitchFamily="18" charset="0"/>
                  <a:cs typeface="Times New Roman" panose="02020603050405020304" pitchFamily="18" charset="0"/>
                </a:rPr>
                <a:t>4</a:t>
              </a:r>
              <a:r>
                <a:rPr lang="en-US" altLang="zh-CN" sz="1000" i="1" dirty="0">
                  <a:latin typeface="Times New Roman" panose="02020603050405020304" pitchFamily="18" charset="0"/>
                  <a:cs typeface="Times New Roman" panose="02020603050405020304" pitchFamily="18" charset="0"/>
                </a:rPr>
                <a:t>               B</a:t>
              </a:r>
              <a:r>
                <a:rPr lang="en-US" altLang="zh-CN" sz="1000" baseline="-25000" dirty="0">
                  <a:latin typeface="Times New Roman" panose="02020603050405020304" pitchFamily="18" charset="0"/>
                  <a:cs typeface="Times New Roman" panose="02020603050405020304" pitchFamily="18" charset="0"/>
                </a:rPr>
                <a:t>3   </a:t>
              </a:r>
              <a:r>
                <a:rPr lang="en-US" altLang="zh-CN" sz="1000" i="1" dirty="0">
                  <a:latin typeface="Times New Roman" panose="02020603050405020304" pitchFamily="18" charset="0"/>
                  <a:cs typeface="Times New Roman" panose="02020603050405020304" pitchFamily="18" charset="0"/>
                </a:rPr>
                <a:t>A</a:t>
              </a:r>
              <a:r>
                <a:rPr lang="en-US" altLang="zh-CN" sz="1000" baseline="-25000" dirty="0">
                  <a:latin typeface="Times New Roman" panose="02020603050405020304" pitchFamily="18" charset="0"/>
                  <a:cs typeface="Times New Roman" panose="02020603050405020304" pitchFamily="18" charset="0"/>
                </a:rPr>
                <a:t>3                                 </a:t>
              </a:r>
              <a:r>
                <a:rPr lang="en-US" altLang="zh-CN" sz="1000" i="1" dirty="0">
                  <a:latin typeface="Times New Roman" panose="02020603050405020304" pitchFamily="18" charset="0"/>
                  <a:cs typeface="Times New Roman" panose="02020603050405020304" pitchFamily="18" charset="0"/>
                </a:rPr>
                <a:t>B</a:t>
              </a:r>
              <a:r>
                <a:rPr lang="en-US" altLang="zh-CN" sz="1000" baseline="-25000" dirty="0">
                  <a:latin typeface="Times New Roman" panose="02020603050405020304" pitchFamily="18" charset="0"/>
                  <a:cs typeface="Times New Roman" panose="02020603050405020304" pitchFamily="18" charset="0"/>
                </a:rPr>
                <a:t>0    </a:t>
              </a:r>
              <a:r>
                <a:rPr lang="en-US" altLang="zh-CN" sz="1000" i="1" dirty="0">
                  <a:latin typeface="Times New Roman" panose="02020603050405020304" pitchFamily="18" charset="0"/>
                  <a:cs typeface="Times New Roman" panose="02020603050405020304" pitchFamily="18" charset="0"/>
                </a:rPr>
                <a:t>A</a:t>
              </a:r>
              <a:r>
                <a:rPr lang="en-US" altLang="zh-CN" sz="1000" baseline="-25000" dirty="0">
                  <a:latin typeface="Times New Roman" panose="02020603050405020304" pitchFamily="18" charset="0"/>
                  <a:cs typeface="Times New Roman" panose="02020603050405020304" pitchFamily="18" charset="0"/>
                </a:rPr>
                <a:t>0</a:t>
              </a:r>
              <a:endParaRPr lang="en-US" altLang="zh-CN" sz="1000" baseline="-25000" dirty="0">
                <a:latin typeface="Times New Roman" panose="02020603050405020304" pitchFamily="18" charset="0"/>
                <a:cs typeface="Times New Roman" panose="02020603050405020304" pitchFamily="18" charset="0"/>
              </a:endParaRPr>
            </a:p>
          </p:txBody>
        </p:sp>
      </p:grpSp>
      <p:grpSp>
        <p:nvGrpSpPr>
          <p:cNvPr id="2" name="组合 17"/>
          <p:cNvGrpSpPr/>
          <p:nvPr/>
        </p:nvGrpSpPr>
        <p:grpSpPr>
          <a:xfrm>
            <a:off x="392432" y="769746"/>
            <a:ext cx="4654630" cy="420971"/>
            <a:chOff x="670560" y="892917"/>
            <a:chExt cx="4654630" cy="420971"/>
          </a:xfrm>
        </p:grpSpPr>
        <p:sp>
          <p:nvSpPr>
            <p:cNvPr id="42" name="矩形 41"/>
            <p:cNvSpPr/>
            <p:nvPr/>
          </p:nvSpPr>
          <p:spPr>
            <a:xfrm>
              <a:off x="1035233" y="913778"/>
              <a:ext cx="4289957"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集成数值比较器及其应用</a:t>
              </a:r>
              <a:r>
                <a:rPr lang="zh-CN" altLang="en-US" sz="1600" b="1" dirty="0">
                  <a:solidFill>
                    <a:srgbClr val="FF00FF"/>
                  </a:solidFill>
                  <a:latin typeface="微软雅黑" panose="020B0503020204020204" pitchFamily="34" charset="-122"/>
                  <a:ea typeface="微软雅黑" panose="020B0503020204020204" pitchFamily="34" charset="-122"/>
                </a:rPr>
                <a:t>（</a:t>
              </a:r>
              <a:r>
                <a:rPr lang="en-US" altLang="zh-CN" sz="1600" b="1" dirty="0">
                  <a:solidFill>
                    <a:srgbClr val="FF00FF"/>
                  </a:solidFill>
                  <a:latin typeface="微软雅黑" panose="020B0503020204020204" pitchFamily="34" charset="-122"/>
                  <a:ea typeface="微软雅黑" panose="020B0503020204020204" pitchFamily="34" charset="-122"/>
                </a:rPr>
                <a:t>74HC85</a:t>
              </a:r>
              <a:r>
                <a:rPr lang="zh-CN" altLang="en-US" sz="1600" b="1" dirty="0">
                  <a:solidFill>
                    <a:srgbClr val="FF00FF"/>
                  </a:solidFill>
                  <a:latin typeface="微软雅黑" panose="020B0503020204020204" pitchFamily="34" charset="-122"/>
                  <a:ea typeface="微软雅黑" panose="020B0503020204020204" pitchFamily="34" charset="-122"/>
                </a:rPr>
                <a:t>） </a:t>
              </a:r>
              <a:endParaRPr lang="zh-CN" altLang="en-US" sz="1600" b="1" dirty="0">
                <a:solidFill>
                  <a:srgbClr val="FF00FF"/>
                </a:solidFill>
                <a:latin typeface="微软雅黑" panose="020B0503020204020204" pitchFamily="34" charset="-122"/>
                <a:ea typeface="微软雅黑" panose="020B0503020204020204" pitchFamily="34" charset="-122"/>
              </a:endParaRPr>
            </a:p>
          </p:txBody>
        </p:sp>
        <p:pic>
          <p:nvPicPr>
            <p:cNvPr id="43" name="Picture 3"/>
            <p:cNvPicPr>
              <a:picLocks noChangeAspect="1" noChangeArrowheads="1"/>
            </p:cNvPicPr>
            <p:nvPr/>
          </p:nvPicPr>
          <p:blipFill>
            <a:blip r:embed="rId2"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45" name="Rectangle 5"/>
          <p:cNvSpPr>
            <a:spLocks noChangeArrowheads="1"/>
          </p:cNvSpPr>
          <p:nvPr/>
        </p:nvSpPr>
        <p:spPr bwMode="auto">
          <a:xfrm>
            <a:off x="391398" y="1293311"/>
            <a:ext cx="2749471" cy="338554"/>
          </a:xfrm>
          <a:prstGeom prst="rect">
            <a:avLst/>
          </a:prstGeom>
          <a:noFill/>
          <a:ln w="9525">
            <a:noFill/>
            <a:miter lim="800000"/>
          </a:ln>
        </p:spPr>
        <p:txBody>
          <a:bodyPr wrap="none">
            <a:spAutoFit/>
          </a:bodyPr>
          <a:lstStyle/>
          <a:p>
            <a:r>
              <a:rPr lang="zh-CN"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2</a:t>
            </a:r>
            <a:r>
              <a:rPr lang="zh-CN"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rPr>
              <a:t>）数值比较器的位数扩展</a:t>
            </a:r>
            <a:endParaRPr lang="zh-CN" altLang="en-US" sz="1600" b="1" dirty="0">
              <a:solidFill>
                <a:srgbClr val="FF0000"/>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7" name="云形 26"/>
          <p:cNvSpPr/>
          <p:nvPr/>
        </p:nvSpPr>
        <p:spPr>
          <a:xfrm>
            <a:off x="3251963" y="1292541"/>
            <a:ext cx="2378816" cy="598142"/>
          </a:xfrm>
          <a:prstGeom prst="cloud">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b="1" dirty="0">
                <a:solidFill>
                  <a:srgbClr val="FFFF00"/>
                </a:solidFill>
                <a:latin typeface="微软雅黑" panose="020B0503020204020204" pitchFamily="34" charset="-122"/>
                <a:ea typeface="微软雅黑" panose="020B0503020204020204" pitchFamily="34" charset="-122"/>
              </a:rPr>
              <a:t>并联扩展方式</a:t>
            </a:r>
            <a:endParaRPr lang="zh-CN" altLang="en-US" dirty="0">
              <a:solidFill>
                <a:srgbClr val="FFFF00"/>
              </a:solidFill>
            </a:endParaRPr>
          </a:p>
        </p:txBody>
      </p:sp>
      <p:sp>
        <p:nvSpPr>
          <p:cNvPr id="32" name="矩形 31"/>
          <p:cNvSpPr/>
          <p:nvPr/>
        </p:nvSpPr>
        <p:spPr>
          <a:xfrm>
            <a:off x="913970" y="2394082"/>
            <a:ext cx="1476000" cy="720000"/>
          </a:xfrm>
          <a:prstGeom prst="rect">
            <a:avLst/>
          </a:prstGeom>
          <a:solidFill>
            <a:srgbClr val="66FF66">
              <a:alpha val="41000"/>
            </a:srgb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p:cNvSpPr/>
          <p:nvPr/>
        </p:nvSpPr>
        <p:spPr>
          <a:xfrm>
            <a:off x="2723720" y="2386829"/>
            <a:ext cx="1476000" cy="720000"/>
          </a:xfrm>
          <a:prstGeom prst="rect">
            <a:avLst/>
          </a:prstGeom>
          <a:solidFill>
            <a:srgbClr val="66FF66">
              <a:alpha val="41000"/>
            </a:srgb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矩形 33"/>
          <p:cNvSpPr/>
          <p:nvPr/>
        </p:nvSpPr>
        <p:spPr>
          <a:xfrm>
            <a:off x="4641899" y="2386829"/>
            <a:ext cx="1476000" cy="720000"/>
          </a:xfrm>
          <a:prstGeom prst="rect">
            <a:avLst/>
          </a:prstGeom>
          <a:solidFill>
            <a:srgbClr val="66FF66">
              <a:alpha val="41000"/>
            </a:srgb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p:cNvSpPr/>
          <p:nvPr/>
        </p:nvSpPr>
        <p:spPr>
          <a:xfrm>
            <a:off x="6422573" y="2379954"/>
            <a:ext cx="1512000" cy="720000"/>
          </a:xfrm>
          <a:prstGeom prst="rect">
            <a:avLst/>
          </a:prstGeom>
          <a:solidFill>
            <a:srgbClr val="66FF66">
              <a:alpha val="41000"/>
            </a:srgbClr>
          </a:solid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矩形 35"/>
          <p:cNvSpPr/>
          <p:nvPr/>
        </p:nvSpPr>
        <p:spPr>
          <a:xfrm>
            <a:off x="3666767" y="3811139"/>
            <a:ext cx="1548000" cy="792000"/>
          </a:xfrm>
          <a:prstGeom prst="rect">
            <a:avLst/>
          </a:prstGeom>
          <a:solidFill>
            <a:srgbClr val="FFFF00">
              <a:alpha val="41000"/>
            </a:srgbClr>
          </a:solid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7" name="组合 96"/>
          <p:cNvGrpSpPr/>
          <p:nvPr/>
        </p:nvGrpSpPr>
        <p:grpSpPr>
          <a:xfrm>
            <a:off x="3128211" y="3108110"/>
            <a:ext cx="1238679" cy="695548"/>
            <a:chOff x="3128211" y="3114460"/>
            <a:chExt cx="1238679" cy="695548"/>
          </a:xfrm>
        </p:grpSpPr>
        <p:cxnSp>
          <p:nvCxnSpPr>
            <p:cNvPr id="73" name="肘形连接符 72"/>
            <p:cNvCxnSpPr/>
            <p:nvPr/>
          </p:nvCxnSpPr>
          <p:spPr>
            <a:xfrm>
              <a:off x="3128211" y="3114460"/>
              <a:ext cx="1051903" cy="275008"/>
            </a:xfrm>
            <a:prstGeom prst="bentConnector3">
              <a:avLst>
                <a:gd name="adj1" fmla="val -327"/>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0" name="肘形连接符 79"/>
            <p:cNvCxnSpPr/>
            <p:nvPr/>
          </p:nvCxnSpPr>
          <p:spPr>
            <a:xfrm>
              <a:off x="3679372" y="3115606"/>
              <a:ext cx="686372" cy="150108"/>
            </a:xfrm>
            <a:prstGeom prst="bentConnector3">
              <a:avLst>
                <a:gd name="adj1" fmla="val -1085"/>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a:off x="4366890" y="3259984"/>
              <a:ext cx="0" cy="540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4189281" y="3378008"/>
              <a:ext cx="0" cy="43200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98" name="组合 97"/>
          <p:cNvGrpSpPr/>
          <p:nvPr/>
        </p:nvGrpSpPr>
        <p:grpSpPr>
          <a:xfrm>
            <a:off x="4516999" y="3123624"/>
            <a:ext cx="1136697" cy="687530"/>
            <a:chOff x="4516999" y="3123624"/>
            <a:chExt cx="1136697" cy="687530"/>
          </a:xfrm>
        </p:grpSpPr>
        <p:cxnSp>
          <p:nvCxnSpPr>
            <p:cNvPr id="65" name="肘形连接符 64"/>
            <p:cNvCxnSpPr/>
            <p:nvPr/>
          </p:nvCxnSpPr>
          <p:spPr>
            <a:xfrm rot="10800000" flipV="1">
              <a:off x="4688879" y="3123624"/>
              <a:ext cx="964817" cy="265843"/>
            </a:xfrm>
            <a:prstGeom prst="bentConnector3">
              <a:avLst>
                <a:gd name="adj1" fmla="val 831"/>
              </a:avLst>
            </a:prstGeom>
            <a:ln w="28575">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66" name="肘形连接符 65"/>
            <p:cNvCxnSpPr/>
            <p:nvPr/>
          </p:nvCxnSpPr>
          <p:spPr>
            <a:xfrm rot="10800000" flipV="1">
              <a:off x="4516999" y="3123626"/>
              <a:ext cx="588251" cy="142087"/>
            </a:xfrm>
            <a:prstGeom prst="bentConnector3">
              <a:avLst>
                <a:gd name="adj1" fmla="val 2081"/>
              </a:avLst>
            </a:prstGeom>
            <a:ln w="28575">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a:off x="4523874" y="3258838"/>
              <a:ext cx="0" cy="540000"/>
            </a:xfrm>
            <a:prstGeom prst="line">
              <a:avLst/>
            </a:prstGeom>
            <a:ln w="28575">
              <a:solidFill>
                <a:srgbClr val="FF00FF"/>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4685441" y="3379154"/>
              <a:ext cx="0" cy="432000"/>
            </a:xfrm>
            <a:prstGeom prst="line">
              <a:avLst/>
            </a:prstGeom>
            <a:ln w="28575">
              <a:solidFill>
                <a:srgbClr val="FF00FF"/>
              </a:solidFill>
            </a:ln>
          </p:spPr>
          <p:style>
            <a:lnRef idx="1">
              <a:schemeClr val="accent1"/>
            </a:lnRef>
            <a:fillRef idx="0">
              <a:schemeClr val="accent1"/>
            </a:fillRef>
            <a:effectRef idx="0">
              <a:schemeClr val="accent1"/>
            </a:effectRef>
            <a:fontRef idx="minor">
              <a:schemeClr val="tx1"/>
            </a:fontRef>
          </p:style>
        </p:cxnSp>
      </p:grpSp>
      <p:grpSp>
        <p:nvGrpSpPr>
          <p:cNvPr id="96" name="组合 95"/>
          <p:cNvGrpSpPr/>
          <p:nvPr/>
        </p:nvGrpSpPr>
        <p:grpSpPr>
          <a:xfrm>
            <a:off x="1320036" y="3121335"/>
            <a:ext cx="2719137" cy="705951"/>
            <a:chOff x="1320036" y="3121335"/>
            <a:chExt cx="2719137" cy="705951"/>
          </a:xfrm>
        </p:grpSpPr>
        <p:cxnSp>
          <p:nvCxnSpPr>
            <p:cNvPr id="38" name="肘形连接符 37"/>
            <p:cNvCxnSpPr/>
            <p:nvPr/>
          </p:nvCxnSpPr>
          <p:spPr>
            <a:xfrm>
              <a:off x="1320036" y="3121335"/>
              <a:ext cx="2536944" cy="536265"/>
            </a:xfrm>
            <a:prstGeom prst="bentConnector3">
              <a:avLst>
                <a:gd name="adj1" fmla="val 407"/>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44" name="肘形连接符 43"/>
            <p:cNvCxnSpPr/>
            <p:nvPr/>
          </p:nvCxnSpPr>
          <p:spPr>
            <a:xfrm>
              <a:off x="1870051" y="3135086"/>
              <a:ext cx="2165684" cy="398761"/>
            </a:xfrm>
            <a:prstGeom prst="bentConnector3">
              <a:avLst>
                <a:gd name="adj1" fmla="val 476"/>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a:off x="3853543" y="3647286"/>
              <a:ext cx="0" cy="18000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a:off x="4039173" y="3530408"/>
              <a:ext cx="0" cy="288000"/>
            </a:xfrm>
            <a:prstGeom prst="line">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grpSp>
      <p:grpSp>
        <p:nvGrpSpPr>
          <p:cNvPr id="99" name="组合 98"/>
          <p:cNvGrpSpPr/>
          <p:nvPr/>
        </p:nvGrpSpPr>
        <p:grpSpPr>
          <a:xfrm>
            <a:off x="4853884" y="3123006"/>
            <a:ext cx="2627465" cy="704280"/>
            <a:chOff x="4853884" y="3123006"/>
            <a:chExt cx="2627465" cy="704280"/>
          </a:xfrm>
        </p:grpSpPr>
        <p:cxnSp>
          <p:nvCxnSpPr>
            <p:cNvPr id="59" name="肘形连接符 58"/>
            <p:cNvCxnSpPr/>
            <p:nvPr/>
          </p:nvCxnSpPr>
          <p:spPr>
            <a:xfrm rot="10800000" flipV="1">
              <a:off x="5018887" y="3129354"/>
              <a:ext cx="2462462" cy="528245"/>
            </a:xfrm>
            <a:prstGeom prst="bentConnector3">
              <a:avLst>
                <a:gd name="adj1" fmla="val 302"/>
              </a:avLst>
            </a:prstGeom>
            <a:ln w="28575">
              <a:solidFill>
                <a:srgbClr val="6600FF"/>
              </a:solidFill>
            </a:ln>
          </p:spPr>
          <p:style>
            <a:lnRef idx="1">
              <a:schemeClr val="accent1"/>
            </a:lnRef>
            <a:fillRef idx="0">
              <a:schemeClr val="accent1"/>
            </a:fillRef>
            <a:effectRef idx="0">
              <a:schemeClr val="accent1"/>
            </a:effectRef>
            <a:fontRef idx="minor">
              <a:schemeClr val="tx1"/>
            </a:fontRef>
          </p:style>
        </p:cxnSp>
        <p:cxnSp>
          <p:nvCxnSpPr>
            <p:cNvPr id="60" name="肘形连接符 59"/>
            <p:cNvCxnSpPr/>
            <p:nvPr/>
          </p:nvCxnSpPr>
          <p:spPr>
            <a:xfrm rot="10800000" flipV="1">
              <a:off x="4853884" y="3123006"/>
              <a:ext cx="2037767" cy="411365"/>
            </a:xfrm>
            <a:prstGeom prst="bentConnector3">
              <a:avLst>
                <a:gd name="adj1" fmla="val 741"/>
              </a:avLst>
            </a:prstGeom>
            <a:ln w="28575">
              <a:solidFill>
                <a:srgbClr val="6600FF"/>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a:off x="5015449" y="3647286"/>
              <a:ext cx="0" cy="180000"/>
            </a:xfrm>
            <a:prstGeom prst="line">
              <a:avLst/>
            </a:prstGeom>
            <a:ln w="28575">
              <a:solidFill>
                <a:srgbClr val="6600FF"/>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a:off x="4857320" y="3530408"/>
              <a:ext cx="0" cy="288000"/>
            </a:xfrm>
            <a:prstGeom prst="line">
              <a:avLst/>
            </a:prstGeom>
            <a:ln w="28575">
              <a:solidFill>
                <a:srgbClr val="6600FF"/>
              </a:solidFill>
            </a:ln>
          </p:spPr>
          <p:style>
            <a:lnRef idx="1">
              <a:schemeClr val="accent1"/>
            </a:lnRef>
            <a:fillRef idx="0">
              <a:schemeClr val="accent1"/>
            </a:fillRef>
            <a:effectRef idx="0">
              <a:schemeClr val="accent1"/>
            </a:effectRef>
            <a:fontRef idx="minor">
              <a:schemeClr val="tx1"/>
            </a:fontRef>
          </p:style>
        </p:cxnSp>
      </p:grpSp>
      <p:sp>
        <p:nvSpPr>
          <p:cNvPr id="40" name="圆角矩形 39"/>
          <p:cNvSpPr/>
          <p:nvPr/>
        </p:nvSpPr>
        <p:spPr>
          <a:xfrm>
            <a:off x="2469336" y="2590261"/>
            <a:ext cx="140514" cy="527589"/>
          </a:xfrm>
          <a:prstGeom prst="roundRect">
            <a:avLst>
              <a:gd name="adj" fmla="val 15737"/>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圆角矩形 40"/>
          <p:cNvSpPr/>
          <p:nvPr/>
        </p:nvSpPr>
        <p:spPr>
          <a:xfrm>
            <a:off x="4279086" y="2590261"/>
            <a:ext cx="140514" cy="527589"/>
          </a:xfrm>
          <a:prstGeom prst="roundRect">
            <a:avLst>
              <a:gd name="adj" fmla="val 15737"/>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圆角矩形 45"/>
          <p:cNvSpPr/>
          <p:nvPr/>
        </p:nvSpPr>
        <p:spPr>
          <a:xfrm>
            <a:off x="6222186" y="2590261"/>
            <a:ext cx="140514" cy="527589"/>
          </a:xfrm>
          <a:prstGeom prst="roundRect">
            <a:avLst>
              <a:gd name="adj" fmla="val 15737"/>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圆角矩形 46"/>
          <p:cNvSpPr/>
          <p:nvPr/>
        </p:nvSpPr>
        <p:spPr>
          <a:xfrm>
            <a:off x="8000186" y="2590261"/>
            <a:ext cx="140514" cy="527589"/>
          </a:xfrm>
          <a:prstGeom prst="roundRect">
            <a:avLst>
              <a:gd name="adj" fmla="val 15737"/>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a:off x="5434786" y="4031711"/>
            <a:ext cx="140514" cy="527589"/>
          </a:xfrm>
          <a:prstGeom prst="roundRect">
            <a:avLst>
              <a:gd name="adj" fmla="val 15737"/>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5" name="组合 54"/>
          <p:cNvGrpSpPr/>
          <p:nvPr/>
        </p:nvGrpSpPr>
        <p:grpSpPr>
          <a:xfrm>
            <a:off x="964386" y="2050511"/>
            <a:ext cx="6865164" cy="216439"/>
            <a:chOff x="964386" y="2050511"/>
            <a:chExt cx="6865164" cy="216439"/>
          </a:xfrm>
        </p:grpSpPr>
        <p:sp>
          <p:nvSpPr>
            <p:cNvPr id="51" name="圆角矩形 50"/>
            <p:cNvSpPr/>
            <p:nvPr/>
          </p:nvSpPr>
          <p:spPr>
            <a:xfrm>
              <a:off x="964386" y="2050511"/>
              <a:ext cx="1372414" cy="216439"/>
            </a:xfrm>
            <a:prstGeom prst="roundRect">
              <a:avLst>
                <a:gd name="adj" fmla="val 15737"/>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圆角矩形 51"/>
            <p:cNvSpPr/>
            <p:nvPr/>
          </p:nvSpPr>
          <p:spPr>
            <a:xfrm>
              <a:off x="2723336" y="2050511"/>
              <a:ext cx="1372414" cy="216439"/>
            </a:xfrm>
            <a:prstGeom prst="roundRect">
              <a:avLst>
                <a:gd name="adj" fmla="val 15737"/>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圆角矩形 52"/>
            <p:cNvSpPr/>
            <p:nvPr/>
          </p:nvSpPr>
          <p:spPr>
            <a:xfrm>
              <a:off x="4666436" y="2050511"/>
              <a:ext cx="1372414" cy="216439"/>
            </a:xfrm>
            <a:prstGeom prst="roundRect">
              <a:avLst>
                <a:gd name="adj" fmla="val 15737"/>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圆角矩形 53"/>
            <p:cNvSpPr/>
            <p:nvPr/>
          </p:nvSpPr>
          <p:spPr>
            <a:xfrm>
              <a:off x="6457136" y="2050511"/>
              <a:ext cx="1372414" cy="216439"/>
            </a:xfrm>
            <a:prstGeom prst="roundRect">
              <a:avLst>
                <a:gd name="adj" fmla="val 15737"/>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6" name="圆角矩形 55"/>
          <p:cNvSpPr/>
          <p:nvPr/>
        </p:nvSpPr>
        <p:spPr>
          <a:xfrm>
            <a:off x="3734324" y="4745604"/>
            <a:ext cx="1372414" cy="231130"/>
          </a:xfrm>
          <a:prstGeom prst="roundRect">
            <a:avLst>
              <a:gd name="adj" fmla="val 15737"/>
            </a:avLst>
          </a:prstGeom>
          <a:solidFill>
            <a:srgbClr val="CC00CC">
              <a:alpha val="2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p:nvSpPr>
        <p:spPr>
          <a:xfrm>
            <a:off x="4993151" y="3084030"/>
            <a:ext cx="144000" cy="144000"/>
          </a:xfrm>
          <a:prstGeom prst="ellipse">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latin typeface="Times New Roman" panose="02020603050405020304" pitchFamily="18" charset="0"/>
                <a:cs typeface="Times New Roman" panose="02020603050405020304" pitchFamily="18" charset="0"/>
              </a:rPr>
              <a:t>0</a:t>
            </a:r>
            <a:endParaRPr lang="zh-CN" altLang="en-US" sz="1400" dirty="0">
              <a:latin typeface="Times New Roman" panose="02020603050405020304" pitchFamily="18" charset="0"/>
              <a:cs typeface="Times New Roman" panose="02020603050405020304" pitchFamily="18" charset="0"/>
            </a:endParaRPr>
          </a:p>
        </p:txBody>
      </p:sp>
      <p:sp>
        <p:nvSpPr>
          <p:cNvPr id="57" name="椭圆 56"/>
          <p:cNvSpPr/>
          <p:nvPr/>
        </p:nvSpPr>
        <p:spPr>
          <a:xfrm>
            <a:off x="5546632" y="3078601"/>
            <a:ext cx="144000" cy="144000"/>
          </a:xfrm>
          <a:prstGeom prst="ellipse">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latin typeface="Times New Roman" panose="02020603050405020304" pitchFamily="18" charset="0"/>
                <a:cs typeface="Times New Roman" panose="02020603050405020304" pitchFamily="18" charset="0"/>
              </a:rPr>
              <a:t>0</a:t>
            </a:r>
            <a:endParaRPr lang="zh-CN" altLang="en-US" sz="1400" dirty="0">
              <a:latin typeface="Times New Roman" panose="02020603050405020304" pitchFamily="18" charset="0"/>
              <a:cs typeface="Times New Roman" panose="02020603050405020304" pitchFamily="18" charset="0"/>
            </a:endParaRPr>
          </a:p>
        </p:txBody>
      </p:sp>
      <p:sp>
        <p:nvSpPr>
          <p:cNvPr id="58" name="椭圆 57"/>
          <p:cNvSpPr/>
          <p:nvPr/>
        </p:nvSpPr>
        <p:spPr>
          <a:xfrm>
            <a:off x="1239729" y="3112076"/>
            <a:ext cx="144000" cy="144000"/>
          </a:xfrm>
          <a:prstGeom prst="ellipse">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latin typeface="Times New Roman" panose="02020603050405020304" pitchFamily="18" charset="0"/>
                <a:cs typeface="Times New Roman" panose="02020603050405020304" pitchFamily="18" charset="0"/>
              </a:rPr>
              <a:t>1</a:t>
            </a:r>
            <a:endParaRPr lang="zh-CN" altLang="en-US" sz="1400" dirty="0">
              <a:latin typeface="Times New Roman" panose="02020603050405020304" pitchFamily="18" charset="0"/>
              <a:cs typeface="Times New Roman" panose="02020603050405020304" pitchFamily="18" charset="0"/>
            </a:endParaRPr>
          </a:p>
        </p:txBody>
      </p:sp>
      <p:sp>
        <p:nvSpPr>
          <p:cNvPr id="61" name="椭圆 60"/>
          <p:cNvSpPr/>
          <p:nvPr/>
        </p:nvSpPr>
        <p:spPr>
          <a:xfrm>
            <a:off x="1796385" y="3112076"/>
            <a:ext cx="144000" cy="144000"/>
          </a:xfrm>
          <a:prstGeom prst="ellipse">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latin typeface="Times New Roman" panose="02020603050405020304" pitchFamily="18" charset="0"/>
                <a:cs typeface="Times New Roman" panose="02020603050405020304" pitchFamily="18" charset="0"/>
              </a:rPr>
              <a:t>0</a:t>
            </a:r>
            <a:endParaRPr lang="zh-CN" altLang="en-US" sz="1400" dirty="0">
              <a:latin typeface="Times New Roman" panose="02020603050405020304" pitchFamily="18" charset="0"/>
              <a:cs typeface="Times New Roman" panose="02020603050405020304" pitchFamily="18" charset="0"/>
            </a:endParaRPr>
          </a:p>
        </p:txBody>
      </p:sp>
      <p:sp>
        <p:nvSpPr>
          <p:cNvPr id="62" name="椭圆 61"/>
          <p:cNvSpPr/>
          <p:nvPr/>
        </p:nvSpPr>
        <p:spPr>
          <a:xfrm>
            <a:off x="6804830" y="3079859"/>
            <a:ext cx="144000" cy="144000"/>
          </a:xfrm>
          <a:prstGeom prst="ellipse">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latin typeface="Times New Roman" panose="02020603050405020304" pitchFamily="18" charset="0"/>
                <a:cs typeface="Times New Roman" panose="02020603050405020304" pitchFamily="18" charset="0"/>
              </a:rPr>
              <a:t>0</a:t>
            </a:r>
            <a:endParaRPr lang="zh-CN" altLang="en-US" sz="1400" dirty="0">
              <a:latin typeface="Times New Roman" panose="02020603050405020304" pitchFamily="18" charset="0"/>
              <a:cs typeface="Times New Roman" panose="02020603050405020304" pitchFamily="18" charset="0"/>
            </a:endParaRPr>
          </a:p>
        </p:txBody>
      </p:sp>
      <p:sp>
        <p:nvSpPr>
          <p:cNvPr id="63" name="椭圆 62"/>
          <p:cNvSpPr/>
          <p:nvPr/>
        </p:nvSpPr>
        <p:spPr>
          <a:xfrm>
            <a:off x="7401178" y="3074430"/>
            <a:ext cx="144000" cy="144000"/>
          </a:xfrm>
          <a:prstGeom prst="ellipse">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latin typeface="Times New Roman" panose="02020603050405020304" pitchFamily="18" charset="0"/>
                <a:cs typeface="Times New Roman" panose="02020603050405020304" pitchFamily="18" charset="0"/>
              </a:rPr>
              <a:t>1</a:t>
            </a:r>
            <a:endParaRPr lang="zh-CN" altLang="en-US" sz="1400" dirty="0">
              <a:latin typeface="Times New Roman" panose="02020603050405020304" pitchFamily="18" charset="0"/>
              <a:cs typeface="Times New Roman" panose="02020603050405020304" pitchFamily="18" charset="0"/>
            </a:endParaRPr>
          </a:p>
        </p:txBody>
      </p:sp>
      <p:sp>
        <p:nvSpPr>
          <p:cNvPr id="64" name="椭圆 63"/>
          <p:cNvSpPr/>
          <p:nvPr/>
        </p:nvSpPr>
        <p:spPr>
          <a:xfrm>
            <a:off x="3055812" y="3077736"/>
            <a:ext cx="144000" cy="144000"/>
          </a:xfrm>
          <a:prstGeom prst="ellipse">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latin typeface="Times New Roman" panose="02020603050405020304" pitchFamily="18" charset="0"/>
                <a:cs typeface="Times New Roman" panose="02020603050405020304" pitchFamily="18" charset="0"/>
              </a:rPr>
              <a:t>1</a:t>
            </a:r>
            <a:endParaRPr lang="zh-CN" altLang="en-US" sz="1400" dirty="0">
              <a:latin typeface="Times New Roman" panose="02020603050405020304" pitchFamily="18" charset="0"/>
              <a:cs typeface="Times New Roman" panose="02020603050405020304" pitchFamily="18" charset="0"/>
            </a:endParaRPr>
          </a:p>
        </p:txBody>
      </p:sp>
      <p:sp>
        <p:nvSpPr>
          <p:cNvPr id="67" name="椭圆 66"/>
          <p:cNvSpPr/>
          <p:nvPr/>
        </p:nvSpPr>
        <p:spPr>
          <a:xfrm>
            <a:off x="3599768" y="3078657"/>
            <a:ext cx="144000" cy="144000"/>
          </a:xfrm>
          <a:prstGeom prst="ellipse">
            <a:avLst/>
          </a:prstGeom>
          <a:solidFill>
            <a:srgbClr val="FF00FF"/>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400" dirty="0">
                <a:latin typeface="Times New Roman" panose="02020603050405020304" pitchFamily="18" charset="0"/>
                <a:cs typeface="Times New Roman" panose="02020603050405020304" pitchFamily="18" charset="0"/>
              </a:rPr>
              <a:t>0</a:t>
            </a:r>
            <a:endParaRPr lang="zh-CN" altLang="en-US" sz="1400" dirty="0">
              <a:latin typeface="Times New Roman" panose="02020603050405020304" pitchFamily="18" charset="0"/>
              <a:cs typeface="Times New Roman" panose="02020603050405020304" pitchFamily="18" charset="0"/>
            </a:endParaRPr>
          </a:p>
        </p:txBody>
      </p:sp>
    </p:spTree>
  </p:cSld>
  <p:clrMapOvr>
    <a:masterClrMapping/>
  </p:clrMapOvr>
  <p:transition spd="slow">
    <p:push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1000" fill="hold"/>
                                        <p:tgtEl>
                                          <p:spTgt spid="32"/>
                                        </p:tgtEl>
                                        <p:attrNameLst>
                                          <p:attrName>ppt_w</p:attrName>
                                        </p:attrNameLst>
                                      </p:cBhvr>
                                      <p:tavLst>
                                        <p:tav tm="0">
                                          <p:val>
                                            <p:fltVal val="0"/>
                                          </p:val>
                                        </p:tav>
                                        <p:tav tm="100000">
                                          <p:val>
                                            <p:strVal val="#ppt_w"/>
                                          </p:val>
                                        </p:tav>
                                      </p:tavLst>
                                    </p:anim>
                                    <p:anim calcmode="lin" valueType="num">
                                      <p:cBhvr>
                                        <p:cTn id="8" dur="1000" fill="hold"/>
                                        <p:tgtEl>
                                          <p:spTgt spid="32"/>
                                        </p:tgtEl>
                                        <p:attrNameLst>
                                          <p:attrName>ppt_h</p:attrName>
                                        </p:attrNameLst>
                                      </p:cBhvr>
                                      <p:tavLst>
                                        <p:tav tm="0">
                                          <p:val>
                                            <p:fltVal val="0"/>
                                          </p:val>
                                        </p:tav>
                                        <p:tav tm="100000">
                                          <p:val>
                                            <p:strVal val="#ppt_h"/>
                                          </p:val>
                                        </p:tav>
                                      </p:tavLst>
                                    </p:anim>
                                    <p:animEffect transition="in" filter="fade">
                                      <p:cBhvr>
                                        <p:cTn id="9" dur="1000"/>
                                        <p:tgtEl>
                                          <p:spTgt spid="32"/>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33"/>
                                        </p:tgtEl>
                                        <p:attrNameLst>
                                          <p:attrName>style.visibility</p:attrName>
                                        </p:attrNameLst>
                                      </p:cBhvr>
                                      <p:to>
                                        <p:strVal val="visible"/>
                                      </p:to>
                                    </p:set>
                                    <p:anim calcmode="lin" valueType="num">
                                      <p:cBhvr>
                                        <p:cTn id="12" dur="1000" fill="hold"/>
                                        <p:tgtEl>
                                          <p:spTgt spid="33"/>
                                        </p:tgtEl>
                                        <p:attrNameLst>
                                          <p:attrName>ppt_w</p:attrName>
                                        </p:attrNameLst>
                                      </p:cBhvr>
                                      <p:tavLst>
                                        <p:tav tm="0">
                                          <p:val>
                                            <p:fltVal val="0"/>
                                          </p:val>
                                        </p:tav>
                                        <p:tav tm="100000">
                                          <p:val>
                                            <p:strVal val="#ppt_w"/>
                                          </p:val>
                                        </p:tav>
                                      </p:tavLst>
                                    </p:anim>
                                    <p:anim calcmode="lin" valueType="num">
                                      <p:cBhvr>
                                        <p:cTn id="13" dur="1000" fill="hold"/>
                                        <p:tgtEl>
                                          <p:spTgt spid="33"/>
                                        </p:tgtEl>
                                        <p:attrNameLst>
                                          <p:attrName>ppt_h</p:attrName>
                                        </p:attrNameLst>
                                      </p:cBhvr>
                                      <p:tavLst>
                                        <p:tav tm="0">
                                          <p:val>
                                            <p:fltVal val="0"/>
                                          </p:val>
                                        </p:tav>
                                        <p:tav tm="100000">
                                          <p:val>
                                            <p:strVal val="#ppt_h"/>
                                          </p:val>
                                        </p:tav>
                                      </p:tavLst>
                                    </p:anim>
                                    <p:animEffect transition="in" filter="fade">
                                      <p:cBhvr>
                                        <p:cTn id="14" dur="1000"/>
                                        <p:tgtEl>
                                          <p:spTgt spid="33"/>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34"/>
                                        </p:tgtEl>
                                        <p:attrNameLst>
                                          <p:attrName>style.visibility</p:attrName>
                                        </p:attrNameLst>
                                      </p:cBhvr>
                                      <p:to>
                                        <p:strVal val="visible"/>
                                      </p:to>
                                    </p:set>
                                    <p:anim calcmode="lin" valueType="num">
                                      <p:cBhvr>
                                        <p:cTn id="17" dur="1000" fill="hold"/>
                                        <p:tgtEl>
                                          <p:spTgt spid="34"/>
                                        </p:tgtEl>
                                        <p:attrNameLst>
                                          <p:attrName>ppt_w</p:attrName>
                                        </p:attrNameLst>
                                      </p:cBhvr>
                                      <p:tavLst>
                                        <p:tav tm="0">
                                          <p:val>
                                            <p:fltVal val="0"/>
                                          </p:val>
                                        </p:tav>
                                        <p:tav tm="100000">
                                          <p:val>
                                            <p:strVal val="#ppt_w"/>
                                          </p:val>
                                        </p:tav>
                                      </p:tavLst>
                                    </p:anim>
                                    <p:anim calcmode="lin" valueType="num">
                                      <p:cBhvr>
                                        <p:cTn id="18" dur="1000" fill="hold"/>
                                        <p:tgtEl>
                                          <p:spTgt spid="34"/>
                                        </p:tgtEl>
                                        <p:attrNameLst>
                                          <p:attrName>ppt_h</p:attrName>
                                        </p:attrNameLst>
                                      </p:cBhvr>
                                      <p:tavLst>
                                        <p:tav tm="0">
                                          <p:val>
                                            <p:fltVal val="0"/>
                                          </p:val>
                                        </p:tav>
                                        <p:tav tm="100000">
                                          <p:val>
                                            <p:strVal val="#ppt_h"/>
                                          </p:val>
                                        </p:tav>
                                      </p:tavLst>
                                    </p:anim>
                                    <p:animEffect transition="in" filter="fade">
                                      <p:cBhvr>
                                        <p:cTn id="19" dur="1000"/>
                                        <p:tgtEl>
                                          <p:spTgt spid="34"/>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35"/>
                                        </p:tgtEl>
                                        <p:attrNameLst>
                                          <p:attrName>style.visibility</p:attrName>
                                        </p:attrNameLst>
                                      </p:cBhvr>
                                      <p:to>
                                        <p:strVal val="visible"/>
                                      </p:to>
                                    </p:set>
                                    <p:anim calcmode="lin" valueType="num">
                                      <p:cBhvr>
                                        <p:cTn id="22" dur="1000" fill="hold"/>
                                        <p:tgtEl>
                                          <p:spTgt spid="35"/>
                                        </p:tgtEl>
                                        <p:attrNameLst>
                                          <p:attrName>ppt_w</p:attrName>
                                        </p:attrNameLst>
                                      </p:cBhvr>
                                      <p:tavLst>
                                        <p:tav tm="0">
                                          <p:val>
                                            <p:fltVal val="0"/>
                                          </p:val>
                                        </p:tav>
                                        <p:tav tm="100000">
                                          <p:val>
                                            <p:strVal val="#ppt_w"/>
                                          </p:val>
                                        </p:tav>
                                      </p:tavLst>
                                    </p:anim>
                                    <p:anim calcmode="lin" valueType="num">
                                      <p:cBhvr>
                                        <p:cTn id="23" dur="1000" fill="hold"/>
                                        <p:tgtEl>
                                          <p:spTgt spid="35"/>
                                        </p:tgtEl>
                                        <p:attrNameLst>
                                          <p:attrName>ppt_h</p:attrName>
                                        </p:attrNameLst>
                                      </p:cBhvr>
                                      <p:tavLst>
                                        <p:tav tm="0">
                                          <p:val>
                                            <p:fltVal val="0"/>
                                          </p:val>
                                        </p:tav>
                                        <p:tav tm="100000">
                                          <p:val>
                                            <p:strVal val="#ppt_h"/>
                                          </p:val>
                                        </p:tav>
                                      </p:tavLst>
                                    </p:anim>
                                    <p:animEffect transition="in" filter="fade">
                                      <p:cBhvr>
                                        <p:cTn id="24" dur="1000"/>
                                        <p:tgtEl>
                                          <p:spTgt spid="35"/>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anim calcmode="lin" valueType="num">
                                      <p:cBhvr>
                                        <p:cTn id="27" dur="1000" fill="hold"/>
                                        <p:tgtEl>
                                          <p:spTgt spid="36"/>
                                        </p:tgtEl>
                                        <p:attrNameLst>
                                          <p:attrName>ppt_w</p:attrName>
                                        </p:attrNameLst>
                                      </p:cBhvr>
                                      <p:tavLst>
                                        <p:tav tm="0">
                                          <p:val>
                                            <p:fltVal val="0"/>
                                          </p:val>
                                        </p:tav>
                                        <p:tav tm="100000">
                                          <p:val>
                                            <p:strVal val="#ppt_w"/>
                                          </p:val>
                                        </p:tav>
                                      </p:tavLst>
                                    </p:anim>
                                    <p:anim calcmode="lin" valueType="num">
                                      <p:cBhvr>
                                        <p:cTn id="28" dur="1000" fill="hold"/>
                                        <p:tgtEl>
                                          <p:spTgt spid="36"/>
                                        </p:tgtEl>
                                        <p:attrNameLst>
                                          <p:attrName>ppt_h</p:attrName>
                                        </p:attrNameLst>
                                      </p:cBhvr>
                                      <p:tavLst>
                                        <p:tav tm="0">
                                          <p:val>
                                            <p:fltVal val="0"/>
                                          </p:val>
                                        </p:tav>
                                        <p:tav tm="100000">
                                          <p:val>
                                            <p:strVal val="#ppt_h"/>
                                          </p:val>
                                        </p:tav>
                                      </p:tavLst>
                                    </p:anim>
                                    <p:animEffect transition="in" filter="fade">
                                      <p:cBhvr>
                                        <p:cTn id="29" dur="1000"/>
                                        <p:tgtEl>
                                          <p:spTgt spid="36"/>
                                        </p:tgtEl>
                                      </p:cBhvr>
                                    </p:animEffect>
                                  </p:childTnLst>
                                </p:cTn>
                              </p:par>
                            </p:childTnLst>
                          </p:cTn>
                        </p:par>
                        <p:par>
                          <p:cTn id="30" fill="hold">
                            <p:stCondLst>
                              <p:cond delay="1000"/>
                            </p:stCondLst>
                            <p:childTnLst>
                              <p:par>
                                <p:cTn id="31" presetID="53" presetClass="entr" presetSubtype="16" fill="hold" grpId="0" nodeType="afterEffect">
                                  <p:stCondLst>
                                    <p:cond delay="0"/>
                                  </p:stCondLst>
                                  <p:childTnLst>
                                    <p:set>
                                      <p:cBhvr>
                                        <p:cTn id="32" dur="1" fill="hold">
                                          <p:stCondLst>
                                            <p:cond delay="0"/>
                                          </p:stCondLst>
                                        </p:cTn>
                                        <p:tgtEl>
                                          <p:spTgt spid="49"/>
                                        </p:tgtEl>
                                        <p:attrNameLst>
                                          <p:attrName>style.visibility</p:attrName>
                                        </p:attrNameLst>
                                      </p:cBhvr>
                                      <p:to>
                                        <p:strVal val="visible"/>
                                      </p:to>
                                    </p:set>
                                    <p:anim calcmode="lin" valueType="num">
                                      <p:cBhvr>
                                        <p:cTn id="33" dur="1000" fill="hold"/>
                                        <p:tgtEl>
                                          <p:spTgt spid="49"/>
                                        </p:tgtEl>
                                        <p:attrNameLst>
                                          <p:attrName>ppt_w</p:attrName>
                                        </p:attrNameLst>
                                      </p:cBhvr>
                                      <p:tavLst>
                                        <p:tav tm="0">
                                          <p:val>
                                            <p:fltVal val="0"/>
                                          </p:val>
                                        </p:tav>
                                        <p:tav tm="100000">
                                          <p:val>
                                            <p:strVal val="#ppt_w"/>
                                          </p:val>
                                        </p:tav>
                                      </p:tavLst>
                                    </p:anim>
                                    <p:anim calcmode="lin" valueType="num">
                                      <p:cBhvr>
                                        <p:cTn id="34" dur="1000" fill="hold"/>
                                        <p:tgtEl>
                                          <p:spTgt spid="49"/>
                                        </p:tgtEl>
                                        <p:attrNameLst>
                                          <p:attrName>ppt_h</p:attrName>
                                        </p:attrNameLst>
                                      </p:cBhvr>
                                      <p:tavLst>
                                        <p:tav tm="0">
                                          <p:val>
                                            <p:fltVal val="0"/>
                                          </p:val>
                                        </p:tav>
                                        <p:tav tm="100000">
                                          <p:val>
                                            <p:strVal val="#ppt_h"/>
                                          </p:val>
                                        </p:tav>
                                      </p:tavLst>
                                    </p:anim>
                                    <p:animEffect transition="in" filter="fade">
                                      <p:cBhvr>
                                        <p:cTn id="35" dur="1000"/>
                                        <p:tgtEl>
                                          <p:spTgt spid="49"/>
                                        </p:tgtEl>
                                      </p:cBhvr>
                                    </p:animEffect>
                                  </p:childTnLst>
                                </p:cTn>
                              </p:par>
                              <p:par>
                                <p:cTn id="36" presetID="53" presetClass="entr" presetSubtype="16" fill="hold" grpId="0" nodeType="withEffect">
                                  <p:stCondLst>
                                    <p:cond delay="0"/>
                                  </p:stCondLst>
                                  <p:childTnLst>
                                    <p:set>
                                      <p:cBhvr>
                                        <p:cTn id="37" dur="1" fill="hold">
                                          <p:stCondLst>
                                            <p:cond delay="0"/>
                                          </p:stCondLst>
                                        </p:cTn>
                                        <p:tgtEl>
                                          <p:spTgt spid="40"/>
                                        </p:tgtEl>
                                        <p:attrNameLst>
                                          <p:attrName>style.visibility</p:attrName>
                                        </p:attrNameLst>
                                      </p:cBhvr>
                                      <p:to>
                                        <p:strVal val="visible"/>
                                      </p:to>
                                    </p:set>
                                    <p:anim calcmode="lin" valueType="num">
                                      <p:cBhvr>
                                        <p:cTn id="38" dur="1000" fill="hold"/>
                                        <p:tgtEl>
                                          <p:spTgt spid="40"/>
                                        </p:tgtEl>
                                        <p:attrNameLst>
                                          <p:attrName>ppt_w</p:attrName>
                                        </p:attrNameLst>
                                      </p:cBhvr>
                                      <p:tavLst>
                                        <p:tav tm="0">
                                          <p:val>
                                            <p:fltVal val="0"/>
                                          </p:val>
                                        </p:tav>
                                        <p:tav tm="100000">
                                          <p:val>
                                            <p:strVal val="#ppt_w"/>
                                          </p:val>
                                        </p:tav>
                                      </p:tavLst>
                                    </p:anim>
                                    <p:anim calcmode="lin" valueType="num">
                                      <p:cBhvr>
                                        <p:cTn id="39" dur="1000" fill="hold"/>
                                        <p:tgtEl>
                                          <p:spTgt spid="40"/>
                                        </p:tgtEl>
                                        <p:attrNameLst>
                                          <p:attrName>ppt_h</p:attrName>
                                        </p:attrNameLst>
                                      </p:cBhvr>
                                      <p:tavLst>
                                        <p:tav tm="0">
                                          <p:val>
                                            <p:fltVal val="0"/>
                                          </p:val>
                                        </p:tav>
                                        <p:tav tm="100000">
                                          <p:val>
                                            <p:strVal val="#ppt_h"/>
                                          </p:val>
                                        </p:tav>
                                      </p:tavLst>
                                    </p:anim>
                                    <p:animEffect transition="in" filter="fade">
                                      <p:cBhvr>
                                        <p:cTn id="40" dur="1000"/>
                                        <p:tgtEl>
                                          <p:spTgt spid="40"/>
                                        </p:tgtEl>
                                      </p:cBhvr>
                                    </p:animEffect>
                                  </p:childTnLst>
                                </p:cTn>
                              </p:par>
                              <p:par>
                                <p:cTn id="41" presetID="53" presetClass="entr" presetSubtype="16"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anim calcmode="lin" valueType="num">
                                      <p:cBhvr>
                                        <p:cTn id="43" dur="1000" fill="hold"/>
                                        <p:tgtEl>
                                          <p:spTgt spid="41"/>
                                        </p:tgtEl>
                                        <p:attrNameLst>
                                          <p:attrName>ppt_w</p:attrName>
                                        </p:attrNameLst>
                                      </p:cBhvr>
                                      <p:tavLst>
                                        <p:tav tm="0">
                                          <p:val>
                                            <p:fltVal val="0"/>
                                          </p:val>
                                        </p:tav>
                                        <p:tav tm="100000">
                                          <p:val>
                                            <p:strVal val="#ppt_w"/>
                                          </p:val>
                                        </p:tav>
                                      </p:tavLst>
                                    </p:anim>
                                    <p:anim calcmode="lin" valueType="num">
                                      <p:cBhvr>
                                        <p:cTn id="44" dur="1000" fill="hold"/>
                                        <p:tgtEl>
                                          <p:spTgt spid="41"/>
                                        </p:tgtEl>
                                        <p:attrNameLst>
                                          <p:attrName>ppt_h</p:attrName>
                                        </p:attrNameLst>
                                      </p:cBhvr>
                                      <p:tavLst>
                                        <p:tav tm="0">
                                          <p:val>
                                            <p:fltVal val="0"/>
                                          </p:val>
                                        </p:tav>
                                        <p:tav tm="100000">
                                          <p:val>
                                            <p:strVal val="#ppt_h"/>
                                          </p:val>
                                        </p:tav>
                                      </p:tavLst>
                                    </p:anim>
                                    <p:animEffect transition="in" filter="fade">
                                      <p:cBhvr>
                                        <p:cTn id="45" dur="1000"/>
                                        <p:tgtEl>
                                          <p:spTgt spid="41"/>
                                        </p:tgtEl>
                                      </p:cBhvr>
                                    </p:animEffect>
                                  </p:childTnLst>
                                </p:cTn>
                              </p:par>
                              <p:par>
                                <p:cTn id="46" presetID="53" presetClass="entr" presetSubtype="16" fill="hold" grpId="0" nodeType="withEffect">
                                  <p:stCondLst>
                                    <p:cond delay="0"/>
                                  </p:stCondLst>
                                  <p:childTnLst>
                                    <p:set>
                                      <p:cBhvr>
                                        <p:cTn id="47" dur="1" fill="hold">
                                          <p:stCondLst>
                                            <p:cond delay="0"/>
                                          </p:stCondLst>
                                        </p:cTn>
                                        <p:tgtEl>
                                          <p:spTgt spid="46"/>
                                        </p:tgtEl>
                                        <p:attrNameLst>
                                          <p:attrName>style.visibility</p:attrName>
                                        </p:attrNameLst>
                                      </p:cBhvr>
                                      <p:to>
                                        <p:strVal val="visible"/>
                                      </p:to>
                                    </p:set>
                                    <p:anim calcmode="lin" valueType="num">
                                      <p:cBhvr>
                                        <p:cTn id="48" dur="1000" fill="hold"/>
                                        <p:tgtEl>
                                          <p:spTgt spid="46"/>
                                        </p:tgtEl>
                                        <p:attrNameLst>
                                          <p:attrName>ppt_w</p:attrName>
                                        </p:attrNameLst>
                                      </p:cBhvr>
                                      <p:tavLst>
                                        <p:tav tm="0">
                                          <p:val>
                                            <p:fltVal val="0"/>
                                          </p:val>
                                        </p:tav>
                                        <p:tav tm="100000">
                                          <p:val>
                                            <p:strVal val="#ppt_w"/>
                                          </p:val>
                                        </p:tav>
                                      </p:tavLst>
                                    </p:anim>
                                    <p:anim calcmode="lin" valueType="num">
                                      <p:cBhvr>
                                        <p:cTn id="49" dur="1000" fill="hold"/>
                                        <p:tgtEl>
                                          <p:spTgt spid="46"/>
                                        </p:tgtEl>
                                        <p:attrNameLst>
                                          <p:attrName>ppt_h</p:attrName>
                                        </p:attrNameLst>
                                      </p:cBhvr>
                                      <p:tavLst>
                                        <p:tav tm="0">
                                          <p:val>
                                            <p:fltVal val="0"/>
                                          </p:val>
                                        </p:tav>
                                        <p:tav tm="100000">
                                          <p:val>
                                            <p:strVal val="#ppt_h"/>
                                          </p:val>
                                        </p:tav>
                                      </p:tavLst>
                                    </p:anim>
                                    <p:animEffect transition="in" filter="fade">
                                      <p:cBhvr>
                                        <p:cTn id="50" dur="1000"/>
                                        <p:tgtEl>
                                          <p:spTgt spid="46"/>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47"/>
                                        </p:tgtEl>
                                        <p:attrNameLst>
                                          <p:attrName>style.visibility</p:attrName>
                                        </p:attrNameLst>
                                      </p:cBhvr>
                                      <p:to>
                                        <p:strVal val="visible"/>
                                      </p:to>
                                    </p:set>
                                    <p:anim calcmode="lin" valueType="num">
                                      <p:cBhvr>
                                        <p:cTn id="53" dur="1000" fill="hold"/>
                                        <p:tgtEl>
                                          <p:spTgt spid="47"/>
                                        </p:tgtEl>
                                        <p:attrNameLst>
                                          <p:attrName>ppt_w</p:attrName>
                                        </p:attrNameLst>
                                      </p:cBhvr>
                                      <p:tavLst>
                                        <p:tav tm="0">
                                          <p:val>
                                            <p:fltVal val="0"/>
                                          </p:val>
                                        </p:tav>
                                        <p:tav tm="100000">
                                          <p:val>
                                            <p:strVal val="#ppt_w"/>
                                          </p:val>
                                        </p:tav>
                                      </p:tavLst>
                                    </p:anim>
                                    <p:anim calcmode="lin" valueType="num">
                                      <p:cBhvr>
                                        <p:cTn id="54" dur="1000" fill="hold"/>
                                        <p:tgtEl>
                                          <p:spTgt spid="47"/>
                                        </p:tgtEl>
                                        <p:attrNameLst>
                                          <p:attrName>ppt_h</p:attrName>
                                        </p:attrNameLst>
                                      </p:cBhvr>
                                      <p:tavLst>
                                        <p:tav tm="0">
                                          <p:val>
                                            <p:fltVal val="0"/>
                                          </p:val>
                                        </p:tav>
                                        <p:tav tm="100000">
                                          <p:val>
                                            <p:strVal val="#ppt_h"/>
                                          </p:val>
                                        </p:tav>
                                      </p:tavLst>
                                    </p:anim>
                                    <p:animEffect transition="in" filter="fade">
                                      <p:cBhvr>
                                        <p:cTn id="55" dur="1000"/>
                                        <p:tgtEl>
                                          <p:spTgt spid="47"/>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xit" presetSubtype="0" fill="hold" grpId="1" nodeType="clickEffect">
                                  <p:stCondLst>
                                    <p:cond delay="0"/>
                                  </p:stCondLst>
                                  <p:childTnLst>
                                    <p:animEffect transition="out" filter="fade">
                                      <p:cBhvr>
                                        <p:cTn id="59" dur="500"/>
                                        <p:tgtEl>
                                          <p:spTgt spid="32"/>
                                        </p:tgtEl>
                                      </p:cBhvr>
                                    </p:animEffect>
                                    <p:set>
                                      <p:cBhvr>
                                        <p:cTn id="60" dur="1" fill="hold">
                                          <p:stCondLst>
                                            <p:cond delay="499"/>
                                          </p:stCondLst>
                                        </p:cTn>
                                        <p:tgtEl>
                                          <p:spTgt spid="32"/>
                                        </p:tgtEl>
                                        <p:attrNameLst>
                                          <p:attrName>style.visibility</p:attrName>
                                        </p:attrNameLst>
                                      </p:cBhvr>
                                      <p:to>
                                        <p:strVal val="hidden"/>
                                      </p:to>
                                    </p:set>
                                  </p:childTnLst>
                                </p:cTn>
                              </p:par>
                              <p:par>
                                <p:cTn id="61" presetID="10" presetClass="exit" presetSubtype="0" fill="hold" grpId="1" nodeType="withEffect">
                                  <p:stCondLst>
                                    <p:cond delay="0"/>
                                  </p:stCondLst>
                                  <p:childTnLst>
                                    <p:animEffect transition="out" filter="fade">
                                      <p:cBhvr>
                                        <p:cTn id="62" dur="500"/>
                                        <p:tgtEl>
                                          <p:spTgt spid="33"/>
                                        </p:tgtEl>
                                      </p:cBhvr>
                                    </p:animEffect>
                                    <p:set>
                                      <p:cBhvr>
                                        <p:cTn id="63" dur="1" fill="hold">
                                          <p:stCondLst>
                                            <p:cond delay="499"/>
                                          </p:stCondLst>
                                        </p:cTn>
                                        <p:tgtEl>
                                          <p:spTgt spid="33"/>
                                        </p:tgtEl>
                                        <p:attrNameLst>
                                          <p:attrName>style.visibility</p:attrName>
                                        </p:attrNameLst>
                                      </p:cBhvr>
                                      <p:to>
                                        <p:strVal val="hidden"/>
                                      </p:to>
                                    </p:set>
                                  </p:childTnLst>
                                </p:cTn>
                              </p:par>
                              <p:par>
                                <p:cTn id="64" presetID="10" presetClass="exit" presetSubtype="0" fill="hold" grpId="1" nodeType="withEffect">
                                  <p:stCondLst>
                                    <p:cond delay="0"/>
                                  </p:stCondLst>
                                  <p:childTnLst>
                                    <p:animEffect transition="out" filter="fade">
                                      <p:cBhvr>
                                        <p:cTn id="65" dur="500"/>
                                        <p:tgtEl>
                                          <p:spTgt spid="34"/>
                                        </p:tgtEl>
                                      </p:cBhvr>
                                    </p:animEffect>
                                    <p:set>
                                      <p:cBhvr>
                                        <p:cTn id="66" dur="1" fill="hold">
                                          <p:stCondLst>
                                            <p:cond delay="499"/>
                                          </p:stCondLst>
                                        </p:cTn>
                                        <p:tgtEl>
                                          <p:spTgt spid="34"/>
                                        </p:tgtEl>
                                        <p:attrNameLst>
                                          <p:attrName>style.visibility</p:attrName>
                                        </p:attrNameLst>
                                      </p:cBhvr>
                                      <p:to>
                                        <p:strVal val="hidden"/>
                                      </p:to>
                                    </p:set>
                                  </p:childTnLst>
                                </p:cTn>
                              </p:par>
                              <p:par>
                                <p:cTn id="67" presetID="10" presetClass="exit" presetSubtype="0" fill="hold" grpId="1" nodeType="withEffect">
                                  <p:stCondLst>
                                    <p:cond delay="0"/>
                                  </p:stCondLst>
                                  <p:childTnLst>
                                    <p:animEffect transition="out" filter="fade">
                                      <p:cBhvr>
                                        <p:cTn id="68" dur="500"/>
                                        <p:tgtEl>
                                          <p:spTgt spid="35"/>
                                        </p:tgtEl>
                                      </p:cBhvr>
                                    </p:animEffect>
                                    <p:set>
                                      <p:cBhvr>
                                        <p:cTn id="69" dur="1" fill="hold">
                                          <p:stCondLst>
                                            <p:cond delay="499"/>
                                          </p:stCondLst>
                                        </p:cTn>
                                        <p:tgtEl>
                                          <p:spTgt spid="35"/>
                                        </p:tgtEl>
                                        <p:attrNameLst>
                                          <p:attrName>style.visibility</p:attrName>
                                        </p:attrNameLst>
                                      </p:cBhvr>
                                      <p:to>
                                        <p:strVal val="hidden"/>
                                      </p:to>
                                    </p:set>
                                  </p:childTnLst>
                                </p:cTn>
                              </p:par>
                              <p:par>
                                <p:cTn id="70" presetID="10" presetClass="exit" presetSubtype="0" fill="hold" grpId="1" nodeType="withEffect">
                                  <p:stCondLst>
                                    <p:cond delay="0"/>
                                  </p:stCondLst>
                                  <p:childTnLst>
                                    <p:animEffect transition="out" filter="fade">
                                      <p:cBhvr>
                                        <p:cTn id="71" dur="500"/>
                                        <p:tgtEl>
                                          <p:spTgt spid="36"/>
                                        </p:tgtEl>
                                      </p:cBhvr>
                                    </p:animEffect>
                                    <p:set>
                                      <p:cBhvr>
                                        <p:cTn id="72" dur="1" fill="hold">
                                          <p:stCondLst>
                                            <p:cond delay="499"/>
                                          </p:stCondLst>
                                        </p:cTn>
                                        <p:tgtEl>
                                          <p:spTgt spid="36"/>
                                        </p:tgtEl>
                                        <p:attrNameLst>
                                          <p:attrName>style.visibility</p:attrName>
                                        </p:attrNameLst>
                                      </p:cBhvr>
                                      <p:to>
                                        <p:strVal val="hidden"/>
                                      </p:to>
                                    </p:set>
                                  </p:childTnLst>
                                </p:cTn>
                              </p:par>
                              <p:par>
                                <p:cTn id="73" presetID="10" presetClass="exit" presetSubtype="0" fill="hold" grpId="1" nodeType="withEffect">
                                  <p:stCondLst>
                                    <p:cond delay="0"/>
                                  </p:stCondLst>
                                  <p:childTnLst>
                                    <p:animEffect transition="out" filter="fade">
                                      <p:cBhvr>
                                        <p:cTn id="74" dur="500"/>
                                        <p:tgtEl>
                                          <p:spTgt spid="49"/>
                                        </p:tgtEl>
                                      </p:cBhvr>
                                    </p:animEffect>
                                    <p:set>
                                      <p:cBhvr>
                                        <p:cTn id="75" dur="1" fill="hold">
                                          <p:stCondLst>
                                            <p:cond delay="499"/>
                                          </p:stCondLst>
                                        </p:cTn>
                                        <p:tgtEl>
                                          <p:spTgt spid="49"/>
                                        </p:tgtEl>
                                        <p:attrNameLst>
                                          <p:attrName>style.visibility</p:attrName>
                                        </p:attrNameLst>
                                      </p:cBhvr>
                                      <p:to>
                                        <p:strVal val="hidden"/>
                                      </p:to>
                                    </p:set>
                                  </p:childTnLst>
                                </p:cTn>
                              </p:par>
                              <p:par>
                                <p:cTn id="76" presetID="10" presetClass="exit" presetSubtype="0" fill="hold" grpId="1" nodeType="withEffect">
                                  <p:stCondLst>
                                    <p:cond delay="0"/>
                                  </p:stCondLst>
                                  <p:childTnLst>
                                    <p:animEffect transition="out" filter="fade">
                                      <p:cBhvr>
                                        <p:cTn id="77" dur="500"/>
                                        <p:tgtEl>
                                          <p:spTgt spid="40"/>
                                        </p:tgtEl>
                                      </p:cBhvr>
                                    </p:animEffect>
                                    <p:set>
                                      <p:cBhvr>
                                        <p:cTn id="78" dur="1" fill="hold">
                                          <p:stCondLst>
                                            <p:cond delay="499"/>
                                          </p:stCondLst>
                                        </p:cTn>
                                        <p:tgtEl>
                                          <p:spTgt spid="40"/>
                                        </p:tgtEl>
                                        <p:attrNameLst>
                                          <p:attrName>style.visibility</p:attrName>
                                        </p:attrNameLst>
                                      </p:cBhvr>
                                      <p:to>
                                        <p:strVal val="hidden"/>
                                      </p:to>
                                    </p:set>
                                  </p:childTnLst>
                                </p:cTn>
                              </p:par>
                              <p:par>
                                <p:cTn id="79" presetID="10" presetClass="exit" presetSubtype="0" fill="hold" grpId="1" nodeType="withEffect">
                                  <p:stCondLst>
                                    <p:cond delay="0"/>
                                  </p:stCondLst>
                                  <p:childTnLst>
                                    <p:animEffect transition="out" filter="fade">
                                      <p:cBhvr>
                                        <p:cTn id="80" dur="500"/>
                                        <p:tgtEl>
                                          <p:spTgt spid="41"/>
                                        </p:tgtEl>
                                      </p:cBhvr>
                                    </p:animEffect>
                                    <p:set>
                                      <p:cBhvr>
                                        <p:cTn id="81" dur="1" fill="hold">
                                          <p:stCondLst>
                                            <p:cond delay="499"/>
                                          </p:stCondLst>
                                        </p:cTn>
                                        <p:tgtEl>
                                          <p:spTgt spid="41"/>
                                        </p:tgtEl>
                                        <p:attrNameLst>
                                          <p:attrName>style.visibility</p:attrName>
                                        </p:attrNameLst>
                                      </p:cBhvr>
                                      <p:to>
                                        <p:strVal val="hidden"/>
                                      </p:to>
                                    </p:set>
                                  </p:childTnLst>
                                </p:cTn>
                              </p:par>
                              <p:par>
                                <p:cTn id="82" presetID="10" presetClass="exit" presetSubtype="0" fill="hold" grpId="1" nodeType="withEffect">
                                  <p:stCondLst>
                                    <p:cond delay="0"/>
                                  </p:stCondLst>
                                  <p:childTnLst>
                                    <p:animEffect transition="out" filter="fade">
                                      <p:cBhvr>
                                        <p:cTn id="83" dur="500"/>
                                        <p:tgtEl>
                                          <p:spTgt spid="46"/>
                                        </p:tgtEl>
                                      </p:cBhvr>
                                    </p:animEffect>
                                    <p:set>
                                      <p:cBhvr>
                                        <p:cTn id="84" dur="1" fill="hold">
                                          <p:stCondLst>
                                            <p:cond delay="499"/>
                                          </p:stCondLst>
                                        </p:cTn>
                                        <p:tgtEl>
                                          <p:spTgt spid="46"/>
                                        </p:tgtEl>
                                        <p:attrNameLst>
                                          <p:attrName>style.visibility</p:attrName>
                                        </p:attrNameLst>
                                      </p:cBhvr>
                                      <p:to>
                                        <p:strVal val="hidden"/>
                                      </p:to>
                                    </p:set>
                                  </p:childTnLst>
                                </p:cTn>
                              </p:par>
                              <p:par>
                                <p:cTn id="85" presetID="10" presetClass="exit" presetSubtype="0" fill="hold" grpId="1" nodeType="withEffect">
                                  <p:stCondLst>
                                    <p:cond delay="0"/>
                                  </p:stCondLst>
                                  <p:childTnLst>
                                    <p:animEffect transition="out" filter="fade">
                                      <p:cBhvr>
                                        <p:cTn id="86" dur="500"/>
                                        <p:tgtEl>
                                          <p:spTgt spid="47"/>
                                        </p:tgtEl>
                                      </p:cBhvr>
                                    </p:animEffect>
                                    <p:set>
                                      <p:cBhvr>
                                        <p:cTn id="87" dur="1" fill="hold">
                                          <p:stCondLst>
                                            <p:cond delay="499"/>
                                          </p:stCondLst>
                                        </p:cTn>
                                        <p:tgtEl>
                                          <p:spTgt spid="47"/>
                                        </p:tgtEl>
                                        <p:attrNameLst>
                                          <p:attrName>style.visibility</p:attrName>
                                        </p:attrNameLst>
                                      </p:cBhvr>
                                      <p:to>
                                        <p:strVal val="hidden"/>
                                      </p:to>
                                    </p:set>
                                  </p:childTnLst>
                                </p:cTn>
                              </p:par>
                            </p:childTnLst>
                          </p:cTn>
                        </p:par>
                        <p:par>
                          <p:cTn id="88" fill="hold">
                            <p:stCondLst>
                              <p:cond delay="500"/>
                            </p:stCondLst>
                            <p:childTnLst>
                              <p:par>
                                <p:cTn id="89" presetID="22" presetClass="entr" presetSubtype="1" fill="hold" nodeType="afterEffect">
                                  <p:stCondLst>
                                    <p:cond delay="0"/>
                                  </p:stCondLst>
                                  <p:childTnLst>
                                    <p:set>
                                      <p:cBhvr>
                                        <p:cTn id="90" dur="1" fill="hold">
                                          <p:stCondLst>
                                            <p:cond delay="0"/>
                                          </p:stCondLst>
                                        </p:cTn>
                                        <p:tgtEl>
                                          <p:spTgt spid="55"/>
                                        </p:tgtEl>
                                        <p:attrNameLst>
                                          <p:attrName>style.visibility</p:attrName>
                                        </p:attrNameLst>
                                      </p:cBhvr>
                                      <p:to>
                                        <p:strVal val="visible"/>
                                      </p:to>
                                    </p:set>
                                    <p:animEffect transition="in" filter="wipe(up)">
                                      <p:cBhvr>
                                        <p:cTn id="91" dur="1000"/>
                                        <p:tgtEl>
                                          <p:spTgt spid="55"/>
                                        </p:tgtEl>
                                      </p:cBhvr>
                                    </p:animEffect>
                                  </p:childTnLst>
                                </p:cTn>
                              </p:par>
                            </p:childTnLst>
                          </p:cTn>
                        </p:par>
                        <p:par>
                          <p:cTn id="92" fill="hold">
                            <p:stCondLst>
                              <p:cond delay="1500"/>
                            </p:stCondLst>
                            <p:childTnLst>
                              <p:par>
                                <p:cTn id="93" presetID="22" presetClass="entr" presetSubtype="1" fill="hold" nodeType="afterEffect">
                                  <p:stCondLst>
                                    <p:cond delay="0"/>
                                  </p:stCondLst>
                                  <p:childTnLst>
                                    <p:set>
                                      <p:cBhvr>
                                        <p:cTn id="94" dur="1" fill="hold">
                                          <p:stCondLst>
                                            <p:cond delay="0"/>
                                          </p:stCondLst>
                                        </p:cTn>
                                        <p:tgtEl>
                                          <p:spTgt spid="96"/>
                                        </p:tgtEl>
                                        <p:attrNameLst>
                                          <p:attrName>style.visibility</p:attrName>
                                        </p:attrNameLst>
                                      </p:cBhvr>
                                      <p:to>
                                        <p:strVal val="visible"/>
                                      </p:to>
                                    </p:set>
                                    <p:animEffect transition="in" filter="wipe(up)">
                                      <p:cBhvr>
                                        <p:cTn id="95" dur="2000"/>
                                        <p:tgtEl>
                                          <p:spTgt spid="96"/>
                                        </p:tgtEl>
                                      </p:cBhvr>
                                    </p:animEffect>
                                  </p:childTnLst>
                                </p:cTn>
                              </p:par>
                              <p:par>
                                <p:cTn id="96" presetID="22" presetClass="entr" presetSubtype="1" fill="hold" nodeType="withEffect">
                                  <p:stCondLst>
                                    <p:cond delay="0"/>
                                  </p:stCondLst>
                                  <p:childTnLst>
                                    <p:set>
                                      <p:cBhvr>
                                        <p:cTn id="97" dur="1" fill="hold">
                                          <p:stCondLst>
                                            <p:cond delay="0"/>
                                          </p:stCondLst>
                                        </p:cTn>
                                        <p:tgtEl>
                                          <p:spTgt spid="97"/>
                                        </p:tgtEl>
                                        <p:attrNameLst>
                                          <p:attrName>style.visibility</p:attrName>
                                        </p:attrNameLst>
                                      </p:cBhvr>
                                      <p:to>
                                        <p:strVal val="visible"/>
                                      </p:to>
                                    </p:set>
                                    <p:animEffect transition="in" filter="wipe(up)">
                                      <p:cBhvr>
                                        <p:cTn id="98" dur="2000"/>
                                        <p:tgtEl>
                                          <p:spTgt spid="97"/>
                                        </p:tgtEl>
                                      </p:cBhvr>
                                    </p:animEffect>
                                  </p:childTnLst>
                                </p:cTn>
                              </p:par>
                              <p:par>
                                <p:cTn id="99" presetID="22" presetClass="entr" presetSubtype="1" fill="hold" nodeType="withEffect">
                                  <p:stCondLst>
                                    <p:cond delay="0"/>
                                  </p:stCondLst>
                                  <p:childTnLst>
                                    <p:set>
                                      <p:cBhvr>
                                        <p:cTn id="100" dur="1" fill="hold">
                                          <p:stCondLst>
                                            <p:cond delay="0"/>
                                          </p:stCondLst>
                                        </p:cTn>
                                        <p:tgtEl>
                                          <p:spTgt spid="98"/>
                                        </p:tgtEl>
                                        <p:attrNameLst>
                                          <p:attrName>style.visibility</p:attrName>
                                        </p:attrNameLst>
                                      </p:cBhvr>
                                      <p:to>
                                        <p:strVal val="visible"/>
                                      </p:to>
                                    </p:set>
                                    <p:animEffect transition="in" filter="wipe(up)">
                                      <p:cBhvr>
                                        <p:cTn id="101" dur="2000"/>
                                        <p:tgtEl>
                                          <p:spTgt spid="98"/>
                                        </p:tgtEl>
                                      </p:cBhvr>
                                    </p:animEffect>
                                  </p:childTnLst>
                                </p:cTn>
                              </p:par>
                              <p:par>
                                <p:cTn id="102" presetID="22" presetClass="entr" presetSubtype="1" fill="hold" nodeType="withEffect">
                                  <p:stCondLst>
                                    <p:cond delay="0"/>
                                  </p:stCondLst>
                                  <p:childTnLst>
                                    <p:set>
                                      <p:cBhvr>
                                        <p:cTn id="103" dur="1" fill="hold">
                                          <p:stCondLst>
                                            <p:cond delay="0"/>
                                          </p:stCondLst>
                                        </p:cTn>
                                        <p:tgtEl>
                                          <p:spTgt spid="99"/>
                                        </p:tgtEl>
                                        <p:attrNameLst>
                                          <p:attrName>style.visibility</p:attrName>
                                        </p:attrNameLst>
                                      </p:cBhvr>
                                      <p:to>
                                        <p:strVal val="visible"/>
                                      </p:to>
                                    </p:set>
                                    <p:animEffect transition="in" filter="wipe(up)">
                                      <p:cBhvr>
                                        <p:cTn id="104" dur="2000"/>
                                        <p:tgtEl>
                                          <p:spTgt spid="99"/>
                                        </p:tgtEl>
                                      </p:cBhvr>
                                    </p:animEffect>
                                  </p:childTnLst>
                                </p:cTn>
                              </p:par>
                            </p:childTnLst>
                          </p:cTn>
                        </p:par>
                        <p:par>
                          <p:cTn id="105" fill="hold">
                            <p:stCondLst>
                              <p:cond delay="3500"/>
                            </p:stCondLst>
                            <p:childTnLst>
                              <p:par>
                                <p:cTn id="106" presetID="22" presetClass="entr" presetSubtype="1" fill="hold" grpId="0" nodeType="afterEffect">
                                  <p:stCondLst>
                                    <p:cond delay="0"/>
                                  </p:stCondLst>
                                  <p:childTnLst>
                                    <p:set>
                                      <p:cBhvr>
                                        <p:cTn id="107" dur="1" fill="hold">
                                          <p:stCondLst>
                                            <p:cond delay="0"/>
                                          </p:stCondLst>
                                        </p:cTn>
                                        <p:tgtEl>
                                          <p:spTgt spid="56"/>
                                        </p:tgtEl>
                                        <p:attrNameLst>
                                          <p:attrName>style.visibility</p:attrName>
                                        </p:attrNameLst>
                                      </p:cBhvr>
                                      <p:to>
                                        <p:strVal val="visible"/>
                                      </p:to>
                                    </p:set>
                                    <p:animEffect transition="in" filter="wipe(up)">
                                      <p:cBhvr>
                                        <p:cTn id="108" dur="1000"/>
                                        <p:tgtEl>
                                          <p:spTgt spid="56"/>
                                        </p:tgtEl>
                                      </p:cBhvr>
                                    </p:animEffect>
                                  </p:childTnLst>
                                </p:cTn>
                              </p:par>
                            </p:childTnLst>
                          </p:cTn>
                        </p:par>
                      </p:childTnLst>
                    </p:cTn>
                  </p:par>
                  <p:par>
                    <p:cTn id="109" fill="hold">
                      <p:stCondLst>
                        <p:cond delay="indefinite"/>
                      </p:stCondLst>
                      <p:childTnLst>
                        <p:par>
                          <p:cTn id="110" fill="hold">
                            <p:stCondLst>
                              <p:cond delay="0"/>
                            </p:stCondLst>
                            <p:childTnLst>
                              <p:par>
                                <p:cTn id="111" presetID="22" presetClass="entr" presetSubtype="1" fill="hold" grpId="2" nodeType="clickEffect">
                                  <p:stCondLst>
                                    <p:cond delay="0"/>
                                  </p:stCondLst>
                                  <p:childTnLst>
                                    <p:set>
                                      <p:cBhvr>
                                        <p:cTn id="112" dur="1" fill="hold">
                                          <p:stCondLst>
                                            <p:cond delay="0"/>
                                          </p:stCondLst>
                                        </p:cTn>
                                        <p:tgtEl>
                                          <p:spTgt spid="34"/>
                                        </p:tgtEl>
                                        <p:attrNameLst>
                                          <p:attrName>style.visibility</p:attrName>
                                        </p:attrNameLst>
                                      </p:cBhvr>
                                      <p:to>
                                        <p:strVal val="visible"/>
                                      </p:to>
                                    </p:set>
                                    <p:animEffect transition="in" filter="wipe(up)">
                                      <p:cBhvr>
                                        <p:cTn id="113" dur="1000"/>
                                        <p:tgtEl>
                                          <p:spTgt spid="34"/>
                                        </p:tgtEl>
                                      </p:cBhvr>
                                    </p:animEffect>
                                  </p:childTnLst>
                                </p:cTn>
                              </p:par>
                            </p:childTnLst>
                          </p:cTn>
                        </p:par>
                        <p:par>
                          <p:cTn id="114" fill="hold">
                            <p:stCondLst>
                              <p:cond delay="1000"/>
                            </p:stCondLst>
                            <p:childTnLst>
                              <p:par>
                                <p:cTn id="115" presetID="1" presetClass="entr" presetSubtype="0" fill="hold" grpId="0" nodeType="afterEffect">
                                  <p:stCondLst>
                                    <p:cond delay="0"/>
                                  </p:stCondLst>
                                  <p:childTnLst>
                                    <p:set>
                                      <p:cBhvr>
                                        <p:cTn id="116" dur="1" fill="hold">
                                          <p:stCondLst>
                                            <p:cond delay="0"/>
                                          </p:stCondLst>
                                        </p:cTn>
                                        <p:tgtEl>
                                          <p:spTgt spid="4"/>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57"/>
                                        </p:tgtEl>
                                        <p:attrNameLst>
                                          <p:attrName>style.visibility</p:attrName>
                                        </p:attrNameLst>
                                      </p:cBhvr>
                                      <p:to>
                                        <p:strVal val="visible"/>
                                      </p:to>
                                    </p:set>
                                  </p:childTnLst>
                                </p:cTn>
                              </p:par>
                            </p:childTnLst>
                          </p:cTn>
                        </p:par>
                        <p:par>
                          <p:cTn id="119" fill="hold">
                            <p:stCondLst>
                              <p:cond delay="1000"/>
                            </p:stCondLst>
                            <p:childTnLst>
                              <p:par>
                                <p:cTn id="120" presetID="0" presetClass="path" presetSubtype="0" accel="50000" decel="50000" fill="hold" grpId="1" nodeType="afterEffect">
                                  <p:stCondLst>
                                    <p:cond delay="0"/>
                                  </p:stCondLst>
                                  <p:childTnLst>
                                    <p:animMotion origin="layout" path="M 5.55556E-7 -2.22222E-6 L -0.05833 -2.22222E-6 L -0.05833 0.09222 " pathEditMode="relative" rAng="0" ptsTypes="AAA">
                                      <p:cBhvr>
                                        <p:cTn id="121" dur="2000" fill="hold"/>
                                        <p:tgtEl>
                                          <p:spTgt spid="4"/>
                                        </p:tgtEl>
                                        <p:attrNameLst>
                                          <p:attrName>ppt_x</p:attrName>
                                          <p:attrName>ppt_y</p:attrName>
                                        </p:attrNameLst>
                                      </p:cBhvr>
                                      <p:rCtr x="-2917" y="4611"/>
                                    </p:animMotion>
                                  </p:childTnLst>
                                </p:cTn>
                              </p:par>
                              <p:par>
                                <p:cTn id="122" presetID="0" presetClass="path" presetSubtype="0" accel="50000" decel="50000" fill="hold" grpId="1" nodeType="withEffect">
                                  <p:stCondLst>
                                    <p:cond delay="0"/>
                                  </p:stCondLst>
                                  <p:childTnLst>
                                    <p:animMotion origin="layout" path="M 2.77778E-7 -1.11111E-6 L 2.77778E-7 0.03778 L -0.10139 0.03778 L -0.10139 0.09445 " pathEditMode="relative" rAng="0" ptsTypes="AAAA">
                                      <p:cBhvr>
                                        <p:cTn id="123" dur="2000" fill="hold"/>
                                        <p:tgtEl>
                                          <p:spTgt spid="57"/>
                                        </p:tgtEl>
                                        <p:attrNameLst>
                                          <p:attrName>ppt_x</p:attrName>
                                          <p:attrName>ppt_y</p:attrName>
                                        </p:attrNameLst>
                                      </p:cBhvr>
                                      <p:rCtr x="-5069" y="4722"/>
                                    </p:animMotion>
                                  </p:childTnLst>
                                </p:cTn>
                              </p:par>
                            </p:childTnLst>
                          </p:cTn>
                        </p:par>
                      </p:childTnLst>
                    </p:cTn>
                  </p:par>
                  <p:par>
                    <p:cTn id="124" fill="hold">
                      <p:stCondLst>
                        <p:cond delay="indefinite"/>
                      </p:stCondLst>
                      <p:childTnLst>
                        <p:par>
                          <p:cTn id="125" fill="hold">
                            <p:stCondLst>
                              <p:cond delay="0"/>
                            </p:stCondLst>
                            <p:childTnLst>
                              <p:par>
                                <p:cTn id="126" presetID="22" presetClass="entr" presetSubtype="1" fill="hold" grpId="2" nodeType="clickEffect">
                                  <p:stCondLst>
                                    <p:cond delay="0"/>
                                  </p:stCondLst>
                                  <p:childTnLst>
                                    <p:set>
                                      <p:cBhvr>
                                        <p:cTn id="127" dur="1" fill="hold">
                                          <p:stCondLst>
                                            <p:cond delay="0"/>
                                          </p:stCondLst>
                                        </p:cTn>
                                        <p:tgtEl>
                                          <p:spTgt spid="32"/>
                                        </p:tgtEl>
                                        <p:attrNameLst>
                                          <p:attrName>style.visibility</p:attrName>
                                        </p:attrNameLst>
                                      </p:cBhvr>
                                      <p:to>
                                        <p:strVal val="visible"/>
                                      </p:to>
                                    </p:set>
                                    <p:animEffect transition="in" filter="wipe(up)">
                                      <p:cBhvr>
                                        <p:cTn id="128" dur="1000"/>
                                        <p:tgtEl>
                                          <p:spTgt spid="32"/>
                                        </p:tgtEl>
                                      </p:cBhvr>
                                    </p:animEffect>
                                  </p:childTnLst>
                                </p:cTn>
                              </p:par>
                            </p:childTnLst>
                          </p:cTn>
                        </p:par>
                        <p:par>
                          <p:cTn id="129" fill="hold">
                            <p:stCondLst>
                              <p:cond delay="1000"/>
                            </p:stCondLst>
                            <p:childTnLst>
                              <p:par>
                                <p:cTn id="130" presetID="1" presetClass="entr" presetSubtype="0" fill="hold" grpId="0" nodeType="afterEffect">
                                  <p:stCondLst>
                                    <p:cond delay="0"/>
                                  </p:stCondLst>
                                  <p:childTnLst>
                                    <p:set>
                                      <p:cBhvr>
                                        <p:cTn id="131" dur="1" fill="hold">
                                          <p:stCondLst>
                                            <p:cond delay="0"/>
                                          </p:stCondLst>
                                        </p:cTn>
                                        <p:tgtEl>
                                          <p:spTgt spid="58"/>
                                        </p:tgtEl>
                                        <p:attrNameLst>
                                          <p:attrName>style.visibility</p:attrName>
                                        </p:attrNameLst>
                                      </p:cBhvr>
                                      <p:to>
                                        <p:strVal val="visible"/>
                                      </p:to>
                                    </p:set>
                                  </p:childTnLst>
                                </p:cTn>
                              </p:par>
                              <p:par>
                                <p:cTn id="132" presetID="1" presetClass="entr" presetSubtype="0" fill="hold" grpId="0" nodeType="withEffect">
                                  <p:stCondLst>
                                    <p:cond delay="0"/>
                                  </p:stCondLst>
                                  <p:childTnLst>
                                    <p:set>
                                      <p:cBhvr>
                                        <p:cTn id="133" dur="1" fill="hold">
                                          <p:stCondLst>
                                            <p:cond delay="0"/>
                                          </p:stCondLst>
                                        </p:cTn>
                                        <p:tgtEl>
                                          <p:spTgt spid="61"/>
                                        </p:tgtEl>
                                        <p:attrNameLst>
                                          <p:attrName>style.visibility</p:attrName>
                                        </p:attrNameLst>
                                      </p:cBhvr>
                                      <p:to>
                                        <p:strVal val="visible"/>
                                      </p:to>
                                    </p:set>
                                  </p:childTnLst>
                                </p:cTn>
                              </p:par>
                            </p:childTnLst>
                          </p:cTn>
                        </p:par>
                        <p:par>
                          <p:cTn id="134" fill="hold">
                            <p:stCondLst>
                              <p:cond delay="1000"/>
                            </p:stCondLst>
                            <p:childTnLst>
                              <p:par>
                                <p:cTn id="135" presetID="0" presetClass="path" presetSubtype="0" accel="50000" decel="50000" fill="hold" grpId="1" nodeType="afterEffect">
                                  <p:stCondLst>
                                    <p:cond delay="0"/>
                                  </p:stCondLst>
                                  <p:childTnLst>
                                    <p:animMotion origin="layout" path="M -2.77778E-7 -4.44444E-6 L -2.77778E-7 0.05612 L 0.23715 0.05612 L 0.23715 0.08778 " pathEditMode="relative" rAng="0" ptsTypes="AAAA">
                                      <p:cBhvr>
                                        <p:cTn id="136" dur="2000" fill="hold"/>
                                        <p:tgtEl>
                                          <p:spTgt spid="61"/>
                                        </p:tgtEl>
                                        <p:attrNameLst>
                                          <p:attrName>ppt_x</p:attrName>
                                          <p:attrName>ppt_y</p:attrName>
                                        </p:attrNameLst>
                                      </p:cBhvr>
                                      <p:rCtr x="11858" y="4389"/>
                                    </p:animMotion>
                                  </p:childTnLst>
                                </p:cTn>
                              </p:par>
                              <p:par>
                                <p:cTn id="137" presetID="0" presetClass="path" presetSubtype="0" accel="50000" decel="50000" fill="hold" grpId="1" nodeType="withEffect">
                                  <p:stCondLst>
                                    <p:cond delay="0"/>
                                  </p:stCondLst>
                                  <p:childTnLst>
                                    <p:animMotion origin="layout" path="M -2.77778E-6 -4.44444E-6 L -2.77778E-6 0.07834 L 0.2757 0.07834 L 0.2757 0.08834 " pathEditMode="relative" rAng="0" ptsTypes="AAAA">
                                      <p:cBhvr>
                                        <p:cTn id="138" dur="2000" fill="hold"/>
                                        <p:tgtEl>
                                          <p:spTgt spid="58"/>
                                        </p:tgtEl>
                                        <p:attrNameLst>
                                          <p:attrName>ppt_x</p:attrName>
                                          <p:attrName>ppt_y</p:attrName>
                                        </p:attrNameLst>
                                      </p:cBhvr>
                                      <p:rCtr x="13785" y="4417"/>
                                    </p:animMotion>
                                  </p:childTnLst>
                                </p:cTn>
                              </p:par>
                            </p:childTnLst>
                          </p:cTn>
                        </p:par>
                      </p:childTnLst>
                    </p:cTn>
                  </p:par>
                  <p:par>
                    <p:cTn id="139" fill="hold">
                      <p:stCondLst>
                        <p:cond delay="indefinite"/>
                      </p:stCondLst>
                      <p:childTnLst>
                        <p:par>
                          <p:cTn id="140" fill="hold">
                            <p:stCondLst>
                              <p:cond delay="0"/>
                            </p:stCondLst>
                            <p:childTnLst>
                              <p:par>
                                <p:cTn id="141" presetID="22" presetClass="entr" presetSubtype="1" fill="hold" grpId="2" nodeType="clickEffect">
                                  <p:stCondLst>
                                    <p:cond delay="0"/>
                                  </p:stCondLst>
                                  <p:childTnLst>
                                    <p:set>
                                      <p:cBhvr>
                                        <p:cTn id="142" dur="1" fill="hold">
                                          <p:stCondLst>
                                            <p:cond delay="0"/>
                                          </p:stCondLst>
                                        </p:cTn>
                                        <p:tgtEl>
                                          <p:spTgt spid="33"/>
                                        </p:tgtEl>
                                        <p:attrNameLst>
                                          <p:attrName>style.visibility</p:attrName>
                                        </p:attrNameLst>
                                      </p:cBhvr>
                                      <p:to>
                                        <p:strVal val="visible"/>
                                      </p:to>
                                    </p:set>
                                    <p:animEffect transition="in" filter="wipe(up)">
                                      <p:cBhvr>
                                        <p:cTn id="143" dur="1000"/>
                                        <p:tgtEl>
                                          <p:spTgt spid="33"/>
                                        </p:tgtEl>
                                      </p:cBhvr>
                                    </p:animEffect>
                                  </p:childTnLst>
                                </p:cTn>
                              </p:par>
                              <p:par>
                                <p:cTn id="144" presetID="22" presetClass="entr" presetSubtype="1" fill="hold" grpId="2" nodeType="withEffect">
                                  <p:stCondLst>
                                    <p:cond delay="0"/>
                                  </p:stCondLst>
                                  <p:childTnLst>
                                    <p:set>
                                      <p:cBhvr>
                                        <p:cTn id="145" dur="1" fill="hold">
                                          <p:stCondLst>
                                            <p:cond delay="0"/>
                                          </p:stCondLst>
                                        </p:cTn>
                                        <p:tgtEl>
                                          <p:spTgt spid="35"/>
                                        </p:tgtEl>
                                        <p:attrNameLst>
                                          <p:attrName>style.visibility</p:attrName>
                                        </p:attrNameLst>
                                      </p:cBhvr>
                                      <p:to>
                                        <p:strVal val="visible"/>
                                      </p:to>
                                    </p:set>
                                    <p:animEffect transition="in" filter="wipe(up)">
                                      <p:cBhvr>
                                        <p:cTn id="146" dur="1000"/>
                                        <p:tgtEl>
                                          <p:spTgt spid="35"/>
                                        </p:tgtEl>
                                      </p:cBhvr>
                                    </p:animEffect>
                                  </p:childTnLst>
                                </p:cTn>
                              </p:par>
                            </p:childTnLst>
                          </p:cTn>
                        </p:par>
                        <p:par>
                          <p:cTn id="147" fill="hold">
                            <p:stCondLst>
                              <p:cond delay="1000"/>
                            </p:stCondLst>
                            <p:childTnLst>
                              <p:par>
                                <p:cTn id="148" presetID="1" presetClass="entr" presetSubtype="0" fill="hold" grpId="0" nodeType="afterEffect">
                                  <p:stCondLst>
                                    <p:cond delay="0"/>
                                  </p:stCondLst>
                                  <p:childTnLst>
                                    <p:set>
                                      <p:cBhvr>
                                        <p:cTn id="149" dur="1" fill="hold">
                                          <p:stCondLst>
                                            <p:cond delay="0"/>
                                          </p:stCondLst>
                                        </p:cTn>
                                        <p:tgtEl>
                                          <p:spTgt spid="62"/>
                                        </p:tgtEl>
                                        <p:attrNameLst>
                                          <p:attrName>style.visibility</p:attrName>
                                        </p:attrNameLst>
                                      </p:cBhvr>
                                      <p:to>
                                        <p:strVal val="visible"/>
                                      </p:to>
                                    </p:set>
                                  </p:childTnLst>
                                </p:cTn>
                              </p:par>
                              <p:par>
                                <p:cTn id="150" presetID="1" presetClass="entr" presetSubtype="0" fill="hold" grpId="0" nodeType="withEffect">
                                  <p:stCondLst>
                                    <p:cond delay="0"/>
                                  </p:stCondLst>
                                  <p:childTnLst>
                                    <p:set>
                                      <p:cBhvr>
                                        <p:cTn id="151" dur="1" fill="hold">
                                          <p:stCondLst>
                                            <p:cond delay="0"/>
                                          </p:stCondLst>
                                        </p:cTn>
                                        <p:tgtEl>
                                          <p:spTgt spid="63"/>
                                        </p:tgtEl>
                                        <p:attrNameLst>
                                          <p:attrName>style.visibility</p:attrName>
                                        </p:attrNameLst>
                                      </p:cBhvr>
                                      <p:to>
                                        <p:strVal val="visible"/>
                                      </p:to>
                                    </p:set>
                                  </p:childTnLst>
                                </p:cTn>
                              </p:par>
                              <p:par>
                                <p:cTn id="152" presetID="1" presetClass="entr" presetSubtype="0" fill="hold" grpId="0" nodeType="withEffect">
                                  <p:stCondLst>
                                    <p:cond delay="0"/>
                                  </p:stCondLst>
                                  <p:childTnLst>
                                    <p:set>
                                      <p:cBhvr>
                                        <p:cTn id="153" dur="1" fill="hold">
                                          <p:stCondLst>
                                            <p:cond delay="0"/>
                                          </p:stCondLst>
                                        </p:cTn>
                                        <p:tgtEl>
                                          <p:spTgt spid="64"/>
                                        </p:tgtEl>
                                        <p:attrNameLst>
                                          <p:attrName>style.visibility</p:attrName>
                                        </p:attrNameLst>
                                      </p:cBhvr>
                                      <p:to>
                                        <p:strVal val="visible"/>
                                      </p:to>
                                    </p:set>
                                  </p:childTnLst>
                                </p:cTn>
                              </p:par>
                              <p:par>
                                <p:cTn id="154" presetID="1" presetClass="entr" presetSubtype="0" fill="hold" grpId="0" nodeType="withEffect">
                                  <p:stCondLst>
                                    <p:cond delay="0"/>
                                  </p:stCondLst>
                                  <p:childTnLst>
                                    <p:set>
                                      <p:cBhvr>
                                        <p:cTn id="155" dur="1" fill="hold">
                                          <p:stCondLst>
                                            <p:cond delay="0"/>
                                          </p:stCondLst>
                                        </p:cTn>
                                        <p:tgtEl>
                                          <p:spTgt spid="67"/>
                                        </p:tgtEl>
                                        <p:attrNameLst>
                                          <p:attrName>style.visibility</p:attrName>
                                        </p:attrNameLst>
                                      </p:cBhvr>
                                      <p:to>
                                        <p:strVal val="visible"/>
                                      </p:to>
                                    </p:set>
                                  </p:childTnLst>
                                </p:cTn>
                              </p:par>
                            </p:childTnLst>
                          </p:cTn>
                        </p:par>
                        <p:par>
                          <p:cTn id="156" fill="hold">
                            <p:stCondLst>
                              <p:cond delay="1000"/>
                            </p:stCondLst>
                            <p:childTnLst>
                              <p:par>
                                <p:cTn id="157" presetID="0" presetClass="path" presetSubtype="0" accel="50000" decel="50000" fill="hold" grpId="1" nodeType="afterEffect">
                                  <p:stCondLst>
                                    <p:cond delay="0"/>
                                  </p:stCondLst>
                                  <p:childTnLst>
                                    <p:animMotion origin="layout" path="M 0 0 L 0 0.04111 L 0.11632 0.04111 L 0.11632 0.095 " pathEditMode="relative" ptsTypes="AAAA">
                                      <p:cBhvr>
                                        <p:cTn id="158" dur="2000" fill="hold"/>
                                        <p:tgtEl>
                                          <p:spTgt spid="64"/>
                                        </p:tgtEl>
                                        <p:attrNameLst>
                                          <p:attrName>ppt_x</p:attrName>
                                          <p:attrName>ppt_y</p:attrName>
                                        </p:attrNameLst>
                                      </p:cBhvr>
                                    </p:animMotion>
                                  </p:childTnLst>
                                </p:cTn>
                              </p:par>
                              <p:par>
                                <p:cTn id="159" presetID="0" presetClass="path" presetSubtype="0" accel="50000" decel="50000" fill="hold" grpId="1" nodeType="withEffect">
                                  <p:stCondLst>
                                    <p:cond delay="0"/>
                                  </p:stCondLst>
                                  <p:childTnLst>
                                    <p:animMotion origin="layout" path="M 0 0 L 0 0.01777 L 0.07569 0.01777 L 0.07569 0.09444 " pathEditMode="relative" ptsTypes="AAAA">
                                      <p:cBhvr>
                                        <p:cTn id="160" dur="2000" fill="hold"/>
                                        <p:tgtEl>
                                          <p:spTgt spid="67"/>
                                        </p:tgtEl>
                                        <p:attrNameLst>
                                          <p:attrName>ppt_x</p:attrName>
                                          <p:attrName>ppt_y</p:attrName>
                                        </p:attrNameLst>
                                      </p:cBhvr>
                                    </p:animMotion>
                                  </p:childTnLst>
                                </p:cTn>
                              </p:par>
                              <p:par>
                                <p:cTn id="161" presetID="0" presetClass="path" presetSubtype="0" accel="50000" decel="50000" fill="hold" grpId="1" nodeType="withEffect">
                                  <p:stCondLst>
                                    <p:cond delay="0"/>
                                  </p:stCondLst>
                                  <p:childTnLst>
                                    <p:animMotion origin="layout" path="M 0 0 L 0 0.06723 L -0.22031 0.06723 L -0.22031 0.09584 " pathEditMode="relative" ptsTypes="AAAA">
                                      <p:cBhvr>
                                        <p:cTn id="162" dur="2000" fill="hold"/>
                                        <p:tgtEl>
                                          <p:spTgt spid="62"/>
                                        </p:tgtEl>
                                        <p:attrNameLst>
                                          <p:attrName>ppt_x</p:attrName>
                                          <p:attrName>ppt_y</p:attrName>
                                        </p:attrNameLst>
                                      </p:cBhvr>
                                    </p:animMotion>
                                  </p:childTnLst>
                                </p:cTn>
                              </p:par>
                              <p:par>
                                <p:cTn id="163" presetID="0" presetClass="path" presetSubtype="0" accel="50000" decel="50000" fill="hold" grpId="1" nodeType="withEffect">
                                  <p:stCondLst>
                                    <p:cond delay="0"/>
                                  </p:stCondLst>
                                  <p:childTnLst>
                                    <p:animMotion origin="layout" path="M 0 0 L 0 0.08833 L -0.26875 0.08833 L -0.26875 0.09833 " pathEditMode="relative" ptsTypes="AAAA">
                                      <p:cBhvr>
                                        <p:cTn id="164" dur="2000" fill="hold"/>
                                        <p:tgtEl>
                                          <p:spTgt spid="63"/>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2" grpId="1" animBg="1"/>
      <p:bldP spid="32" grpId="2" animBg="1"/>
      <p:bldP spid="33" grpId="0" animBg="1"/>
      <p:bldP spid="33" grpId="1" animBg="1"/>
      <p:bldP spid="33" grpId="2" animBg="1"/>
      <p:bldP spid="34" grpId="0" animBg="1"/>
      <p:bldP spid="34" grpId="1" animBg="1"/>
      <p:bldP spid="34" grpId="2" animBg="1"/>
      <p:bldP spid="35" grpId="0" animBg="1"/>
      <p:bldP spid="35" grpId="1" animBg="1"/>
      <p:bldP spid="35" grpId="2" animBg="1"/>
      <p:bldP spid="36" grpId="0" animBg="1"/>
      <p:bldP spid="36" grpId="1" animBg="1"/>
      <p:bldP spid="40" grpId="0" animBg="1"/>
      <p:bldP spid="40" grpId="1" animBg="1"/>
      <p:bldP spid="41" grpId="0" animBg="1"/>
      <p:bldP spid="41" grpId="1" animBg="1"/>
      <p:bldP spid="46" grpId="0" animBg="1"/>
      <p:bldP spid="46" grpId="1" animBg="1"/>
      <p:bldP spid="47" grpId="0" animBg="1"/>
      <p:bldP spid="47" grpId="1" animBg="1"/>
      <p:bldP spid="49" grpId="0" animBg="1"/>
      <p:bldP spid="49" grpId="1" animBg="1"/>
      <p:bldP spid="56" grpId="0" animBg="1"/>
      <p:bldP spid="4" grpId="0" animBg="1"/>
      <p:bldP spid="4" grpId="1" animBg="1"/>
      <p:bldP spid="57" grpId="0" animBg="1"/>
      <p:bldP spid="57" grpId="1" animBg="1"/>
      <p:bldP spid="58" grpId="0" animBg="1"/>
      <p:bldP spid="58" grpId="1" animBg="1"/>
      <p:bldP spid="61" grpId="0" animBg="1"/>
      <p:bldP spid="61" grpId="1" animBg="1"/>
      <p:bldP spid="62" grpId="0" animBg="1"/>
      <p:bldP spid="62" grpId="1" animBg="1"/>
      <p:bldP spid="63" grpId="0" animBg="1"/>
      <p:bldP spid="63" grpId="1" animBg="1"/>
      <p:bldP spid="64" grpId="0" animBg="1"/>
      <p:bldP spid="64" grpId="1" animBg="1"/>
      <p:bldP spid="67" grpId="0" animBg="1"/>
      <p:bldP spid="67" grpId="1" animBg="1"/>
    </p:bld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文本框 6"/>
          <p:cNvSpPr txBox="1"/>
          <p:nvPr/>
        </p:nvSpPr>
        <p:spPr>
          <a:xfrm>
            <a:off x="1140259" y="1959049"/>
            <a:ext cx="6498792" cy="1823576"/>
          </a:xfrm>
          <a:prstGeom prst="rect">
            <a:avLst/>
          </a:prstGeom>
          <a:noFill/>
        </p:spPr>
        <p:txBody>
          <a:bodyPr wrap="square" rtlCol="0">
            <a:spAutoFit/>
          </a:bodyPr>
          <a:lstStyle/>
          <a:p>
            <a:pPr algn="ctr">
              <a:lnSpc>
                <a:spcPct val="125000"/>
              </a:lnSpc>
            </a:pP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4</a:t>
            </a:r>
            <a:r>
              <a:rPr lang="zh-CN" altLang="en-US"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 组合逻辑电路</a:t>
            </a:r>
            <a:endParaRPr lang="en-US" altLang="zh-CN" sz="3400" b="1"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a:p>
            <a:pPr algn="ctr">
              <a:lnSpc>
                <a:spcPct val="125000"/>
              </a:lnSpc>
            </a:pPr>
            <a:r>
              <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4.4 </a:t>
            </a:r>
            <a:r>
              <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典型组合逻辑集成电路</a:t>
            </a:r>
            <a:endPar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a:p>
            <a:pPr algn="ctr">
              <a:lnSpc>
                <a:spcPct val="125000"/>
              </a:lnSpc>
              <a:spcBef>
                <a:spcPts val="600"/>
              </a:spcBef>
            </a:pPr>
            <a:r>
              <a:rPr lang="en-US" altLang="zh-CN" sz="2400" dirty="0">
                <a:ln w="0"/>
                <a:solidFill>
                  <a:schemeClr val="accent1"/>
                </a:solidFill>
                <a:effectLst>
                  <a:outerShdw blurRad="38100" dist="25400" dir="5400000" algn="ctr" rotWithShape="0">
                    <a:srgbClr val="6E747A">
                      <a:alpha val="43000"/>
                    </a:srgbClr>
                  </a:outerShdw>
                </a:effectLst>
                <a:latin typeface="方正粗黑宋简体" panose="02000000000000000000" pitchFamily="2" charset="-122"/>
                <a:ea typeface="方正粗黑宋简体" panose="02000000000000000000" pitchFamily="2" charset="-122"/>
              </a:rPr>
              <a:t>4.4.5 </a:t>
            </a:r>
            <a:r>
              <a:rPr lang="zh-CN" altLang="en-US" sz="2400" dirty="0">
                <a:ln w="0"/>
                <a:solidFill>
                  <a:schemeClr val="accent1"/>
                </a:solidFill>
                <a:effectLst>
                  <a:outerShdw blurRad="38100" dist="25400" dir="5400000" algn="ctr" rotWithShape="0">
                    <a:srgbClr val="6E747A">
                      <a:alpha val="43000"/>
                    </a:srgbClr>
                  </a:outerShdw>
                </a:effectLst>
                <a:latin typeface="方正粗黑宋简体" panose="02000000000000000000" pitchFamily="2" charset="-122"/>
                <a:ea typeface="方正粗黑宋简体" panose="02000000000000000000" pitchFamily="2" charset="-122"/>
              </a:rPr>
              <a:t>算术运算电路</a:t>
            </a:r>
            <a:endParaRPr lang="zh-CN" altLang="en-US" sz="2400" dirty="0">
              <a:ln w="0"/>
              <a:solidFill>
                <a:schemeClr val="accent1"/>
              </a:solidFill>
              <a:effectLst>
                <a:outerShdw blurRad="38100" dist="25400" dir="5400000" algn="ctr" rotWithShape="0">
                  <a:srgbClr val="6E747A">
                    <a:alpha val="43000"/>
                  </a:srgbClr>
                </a:outerShdw>
              </a:effectLst>
              <a:latin typeface="方正粗黑宋简体" panose="02000000000000000000" pitchFamily="2" charset="-122"/>
              <a:ea typeface="方正粗黑宋简体" panose="02000000000000000000" pitchFamily="2" charset="-122"/>
            </a:endParaRPr>
          </a:p>
        </p:txBody>
      </p:sp>
      <p:grpSp>
        <p:nvGrpSpPr>
          <p:cNvPr id="18" name="组合 35"/>
          <p:cNvGrpSpPr/>
          <p:nvPr/>
        </p:nvGrpSpPr>
        <p:grpSpPr>
          <a:xfrm>
            <a:off x="816410" y="1599354"/>
            <a:ext cx="1371600" cy="110067"/>
            <a:chOff x="910590" y="1699260"/>
            <a:chExt cx="1371600" cy="99060"/>
          </a:xfrm>
        </p:grpSpPr>
        <p:cxnSp>
          <p:nvCxnSpPr>
            <p:cNvPr id="19" name="直接连接符 18"/>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0" name="直接连接符 1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21" name="组合 36"/>
          <p:cNvGrpSpPr/>
          <p:nvPr/>
        </p:nvGrpSpPr>
        <p:grpSpPr>
          <a:xfrm rot="5400000">
            <a:off x="771885" y="1781657"/>
            <a:ext cx="760000" cy="99060"/>
            <a:chOff x="910590" y="1699260"/>
            <a:chExt cx="1371600" cy="99060"/>
          </a:xfrm>
        </p:grpSpPr>
        <p:cxnSp>
          <p:nvCxnSpPr>
            <p:cNvPr id="22" name="直接连接符 21"/>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3" name="直接连接符 22"/>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24" name="组合 35"/>
          <p:cNvGrpSpPr/>
          <p:nvPr/>
        </p:nvGrpSpPr>
        <p:grpSpPr>
          <a:xfrm rot="10800000">
            <a:off x="6587490" y="4057767"/>
            <a:ext cx="1371600" cy="110067"/>
            <a:chOff x="910590" y="1699260"/>
            <a:chExt cx="1371600" cy="99060"/>
          </a:xfrm>
        </p:grpSpPr>
        <p:cxnSp>
          <p:nvCxnSpPr>
            <p:cNvPr id="26" name="直接连接符 25"/>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27" name="直接连接符 26"/>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28" name="组合 36"/>
          <p:cNvGrpSpPr/>
          <p:nvPr/>
        </p:nvGrpSpPr>
        <p:grpSpPr>
          <a:xfrm rot="16200000">
            <a:off x="7199165" y="3892820"/>
            <a:ext cx="760000" cy="99060"/>
            <a:chOff x="910590" y="1699260"/>
            <a:chExt cx="1371600" cy="99060"/>
          </a:xfrm>
        </p:grpSpPr>
        <p:cxnSp>
          <p:nvCxnSpPr>
            <p:cNvPr id="30" name="直接连接符 29"/>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31" name="直接连接符 30"/>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1200">
        <p14:prism/>
      </p:transition>
    </mc:Choice>
    <mc:Fallback>
      <p:transition spd="slow">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 name="组合 17"/>
          <p:cNvGrpSpPr/>
          <p:nvPr/>
        </p:nvGrpSpPr>
        <p:grpSpPr>
          <a:xfrm>
            <a:off x="249762" y="685441"/>
            <a:ext cx="3379468" cy="420971"/>
            <a:chOff x="670560" y="892917"/>
            <a:chExt cx="3379468" cy="420971"/>
          </a:xfrm>
        </p:grpSpPr>
        <p:sp>
          <p:nvSpPr>
            <p:cNvPr id="70" name="矩形 69"/>
            <p:cNvSpPr/>
            <p:nvPr/>
          </p:nvSpPr>
          <p:spPr>
            <a:xfrm>
              <a:off x="1035233" y="913778"/>
              <a:ext cx="3014795"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半加器和全加器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71"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27" name="Rectangle 6"/>
          <p:cNvSpPr>
            <a:spLocks noChangeArrowheads="1"/>
          </p:cNvSpPr>
          <p:nvPr/>
        </p:nvSpPr>
        <p:spPr bwMode="auto">
          <a:xfrm>
            <a:off x="172432" y="1143986"/>
            <a:ext cx="9102013" cy="415498"/>
          </a:xfrm>
          <a:prstGeom prst="rect">
            <a:avLst/>
          </a:prstGeom>
          <a:noFill/>
          <a:ln w="9525" algn="ctr">
            <a:noFill/>
            <a:miter lim="800000"/>
          </a:ln>
        </p:spPr>
        <p:txBody>
          <a:bodyPr wrap="square" anchor="ctr">
            <a:spAutoFit/>
          </a:bodyPr>
          <a:lstStyle/>
          <a:p>
            <a:pPr marL="1167130" indent="-1167130" eaLnBrk="0" hangingPunct="0">
              <a:lnSpc>
                <a:spcPct val="150000"/>
              </a:lnSpc>
              <a:tabLst>
                <a:tab pos="264795" algn="l"/>
              </a:tabLst>
            </a:pPr>
            <a:r>
              <a:rPr lang="zh-CN" altLang="en-US" sz="1400" dirty="0">
                <a:solidFill>
                  <a:srgbClr val="6600FF"/>
                </a:solidFill>
                <a:latin typeface="微软雅黑" panose="020B0503020204020204" pitchFamily="34" charset="-122"/>
                <a:ea typeface="微软雅黑" panose="020B0503020204020204" pitchFamily="34" charset="-122"/>
              </a:rPr>
              <a:t>（</a:t>
            </a:r>
            <a:r>
              <a:rPr lang="en-US" altLang="zh-CN" sz="1400" dirty="0">
                <a:solidFill>
                  <a:srgbClr val="6600FF"/>
                </a:solidFill>
                <a:latin typeface="微软雅黑" panose="020B0503020204020204" pitchFamily="34" charset="-122"/>
                <a:ea typeface="微软雅黑" panose="020B0503020204020204" pitchFamily="34" charset="-122"/>
              </a:rPr>
              <a:t>1</a:t>
            </a:r>
            <a:r>
              <a:rPr lang="zh-CN" altLang="en-US" sz="1400" dirty="0">
                <a:solidFill>
                  <a:srgbClr val="6600FF"/>
                </a:solidFill>
                <a:latin typeface="微软雅黑" panose="020B0503020204020204" pitchFamily="34" charset="-122"/>
                <a:ea typeface="微软雅黑" panose="020B0503020204020204" pitchFamily="34" charset="-122"/>
              </a:rPr>
              <a:t>）半加器：</a:t>
            </a:r>
            <a:r>
              <a:rPr lang="zh-CN" altLang="en-US" sz="1400" dirty="0">
                <a:latin typeface="微软雅黑" panose="020B0503020204020204" pitchFamily="34" charset="-122"/>
                <a:ea typeface="微软雅黑" panose="020B0503020204020204" pitchFamily="34" charset="-122"/>
              </a:rPr>
              <a:t>实现</a:t>
            </a:r>
            <a:r>
              <a:rPr lang="zh-CN" altLang="zh-CN" sz="1400" dirty="0">
                <a:latin typeface="微软雅黑" panose="020B0503020204020204" pitchFamily="34" charset="-122"/>
                <a:ea typeface="微软雅黑" panose="020B0503020204020204" pitchFamily="34" charset="-122"/>
              </a:rPr>
              <a:t>两个一位二进制数据位相加，输出一个求和结果位和进位，而不考虑进位输入的加法器电路</a:t>
            </a:r>
            <a:r>
              <a:rPr lang="zh-CN" altLang="en-US" sz="1400" dirty="0">
                <a:latin typeface="微软雅黑" panose="020B0503020204020204" pitchFamily="34" charset="-122"/>
                <a:ea typeface="微软雅黑" panose="020B0503020204020204" pitchFamily="34" charset="-122"/>
              </a:rPr>
              <a:t>。</a:t>
            </a:r>
            <a:endParaRPr kumimoji="1" lang="zh-CN" altLang="en-US" sz="1400" dirty="0">
              <a:solidFill>
                <a:srgbClr val="000000"/>
              </a:solidFill>
              <a:latin typeface="微软雅黑" panose="020B0503020204020204" pitchFamily="34" charset="-122"/>
              <a:ea typeface="微软雅黑" panose="020B0503020204020204" pitchFamily="34" charset="-122"/>
            </a:endParaRPr>
          </a:p>
        </p:txBody>
      </p:sp>
      <p:graphicFrame>
        <p:nvGraphicFramePr>
          <p:cNvPr id="32" name="Group 30"/>
          <p:cNvGraphicFramePr>
            <a:graphicFrameLocks noGrp="1"/>
          </p:cNvGraphicFramePr>
          <p:nvPr/>
        </p:nvGraphicFramePr>
        <p:xfrm>
          <a:off x="740790" y="1809020"/>
          <a:ext cx="1790700" cy="1409700"/>
        </p:xfrm>
        <a:graphic>
          <a:graphicData uri="http://schemas.openxmlformats.org/drawingml/2006/table">
            <a:tbl>
              <a:tblPr/>
              <a:tblGrid>
                <a:gridCol w="1073150"/>
                <a:gridCol w="717550"/>
              </a:tblGrid>
              <a:tr h="293688">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933575" algn="l"/>
                        </a:tabLst>
                      </a:pPr>
                      <a:r>
                        <a:rPr kumimoji="0" lang="zh-CN" altLang="en-US" sz="1400" b="1" i="0" u="none" strike="noStrike" cap="none" normalizeH="0" baseline="0" dirty="0">
                          <a:ln>
                            <a:noFill/>
                          </a:ln>
                          <a:solidFill>
                            <a:srgbClr val="000000"/>
                          </a:solidFill>
                          <a:effectLst/>
                          <a:latin typeface="Arial" panose="020B0604020202020204" pitchFamily="34" charset="0"/>
                          <a:ea typeface="楷体_GB2312" pitchFamily="49" charset="-122"/>
                        </a:rPr>
                        <a:t>被加数  加数</a:t>
                      </a:r>
                      <a:endParaRPr kumimoji="0" lang="en-US" altLang="zh-CN" sz="1400" b="1" i="0" u="none" strike="noStrike" cap="none" normalizeH="0" baseline="0" dirty="0">
                        <a:ln>
                          <a:noFill/>
                        </a:ln>
                        <a:solidFill>
                          <a:srgbClr val="000000"/>
                        </a:solidFill>
                        <a:effectLst/>
                        <a:latin typeface="Arial" panose="020B0604020202020204" pitchFamily="34" charset="0"/>
                        <a:ea typeface="楷体_GB2312" pitchFamily="49" charset="-122"/>
                      </a:endParaRPr>
                    </a:p>
                    <a:p>
                      <a:pPr marL="0" marR="0" lvl="0" indent="0" algn="ctr" defTabSz="914400" rtl="0" eaLnBrk="0" fontAlgn="base" latinLnBrk="0" hangingPunct="0">
                        <a:lnSpc>
                          <a:spcPct val="100000"/>
                        </a:lnSpc>
                        <a:spcBef>
                          <a:spcPct val="0"/>
                        </a:spcBef>
                        <a:spcAft>
                          <a:spcPct val="0"/>
                        </a:spcAft>
                        <a:buClrTx/>
                        <a:buSzTx/>
                        <a:buFontTx/>
                        <a:buNone/>
                        <a:tabLst>
                          <a:tab pos="1933575" algn="l"/>
                        </a:tabLst>
                      </a:pPr>
                      <a:r>
                        <a:rPr kumimoji="0" lang="en-US" altLang="zh-CN" sz="1400" b="1" i="1" u="none" strike="noStrike" cap="none" normalizeH="0" baseline="0" dirty="0">
                          <a:ln>
                            <a:noFill/>
                          </a:ln>
                          <a:solidFill>
                            <a:srgbClr val="000000"/>
                          </a:solidFill>
                          <a:effectLst/>
                          <a:latin typeface="Arial" panose="020B0604020202020204" pitchFamily="34" charset="0"/>
                          <a:ea typeface="楷体_GB2312" pitchFamily="49" charset="-122"/>
                          <a:cs typeface="Times New Roman" panose="02020603050405020304" pitchFamily="18" charset="0"/>
                        </a:rPr>
                        <a:t>A</a:t>
                      </a:r>
                      <a:r>
                        <a:rPr kumimoji="0" lang="en-US" altLang="zh-CN" sz="1400" b="1" i="0" u="none" strike="noStrike" cap="none" normalizeH="0" baseline="0" dirty="0">
                          <a:ln>
                            <a:noFill/>
                          </a:ln>
                          <a:solidFill>
                            <a:srgbClr val="000000"/>
                          </a:solidFill>
                          <a:effectLst/>
                          <a:latin typeface="Arial" panose="020B0604020202020204" pitchFamily="34" charset="0"/>
                          <a:ea typeface="楷体_GB2312" pitchFamily="49" charset="-122"/>
                          <a:cs typeface="Times New Roman" panose="02020603050405020304" pitchFamily="18" charset="0"/>
                        </a:rPr>
                        <a:t>        </a:t>
                      </a:r>
                      <a:r>
                        <a:rPr kumimoji="0" lang="en-US" altLang="zh-CN" sz="1400" b="1" i="1" u="none" strike="noStrike" cap="none" normalizeH="0" baseline="0" dirty="0">
                          <a:ln>
                            <a:noFill/>
                          </a:ln>
                          <a:solidFill>
                            <a:srgbClr val="000000"/>
                          </a:solidFill>
                          <a:effectLst/>
                          <a:latin typeface="Arial" panose="020B0604020202020204" pitchFamily="34" charset="0"/>
                          <a:ea typeface="楷体_GB2312" pitchFamily="49" charset="-122"/>
                        </a:rPr>
                        <a:t>B</a:t>
                      </a:r>
                      <a:endParaRPr kumimoji="0" lang="en-US" altLang="zh-CN" sz="14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1933575" algn="l"/>
                        </a:tabLst>
                      </a:pPr>
                      <a:r>
                        <a:rPr kumimoji="0" lang="zh-CN" altLang="en-US" sz="1400" b="1" i="0" u="none" strike="noStrike" cap="none" normalizeH="0" baseline="0" dirty="0">
                          <a:ln>
                            <a:noFill/>
                          </a:ln>
                          <a:solidFill>
                            <a:srgbClr val="000000"/>
                          </a:solidFill>
                          <a:effectLst/>
                          <a:latin typeface="Arial" panose="020B0604020202020204" pitchFamily="34" charset="0"/>
                          <a:ea typeface="楷体_GB2312" pitchFamily="49" charset="-122"/>
                        </a:rPr>
                        <a:t> 进位  和</a:t>
                      </a:r>
                      <a:endParaRPr kumimoji="0" lang="en-US" altLang="zh-CN" sz="1400" b="1" i="0" u="none" strike="noStrike" cap="none" normalizeH="0" baseline="0" dirty="0">
                        <a:ln>
                          <a:noFill/>
                        </a:ln>
                        <a:solidFill>
                          <a:srgbClr val="000000"/>
                        </a:solidFill>
                        <a:effectLst/>
                        <a:latin typeface="Arial" panose="020B0604020202020204" pitchFamily="34" charset="0"/>
                        <a:ea typeface="楷体_GB2312" pitchFamily="49" charset="-122"/>
                      </a:endParaRPr>
                    </a:p>
                    <a:p>
                      <a:pPr marL="0" marR="0" lvl="0" indent="0" algn="l" defTabSz="914400" rtl="0" eaLnBrk="0" fontAlgn="base" latinLnBrk="0" hangingPunct="0">
                        <a:lnSpc>
                          <a:spcPct val="100000"/>
                        </a:lnSpc>
                        <a:spcBef>
                          <a:spcPct val="0"/>
                        </a:spcBef>
                        <a:spcAft>
                          <a:spcPct val="0"/>
                        </a:spcAft>
                        <a:buClrTx/>
                        <a:buSzTx/>
                        <a:buFontTx/>
                        <a:buNone/>
                        <a:tabLst>
                          <a:tab pos="1933575" algn="l"/>
                        </a:tabLst>
                      </a:pPr>
                      <a:r>
                        <a:rPr kumimoji="0" lang="en-US" altLang="zh-CN" sz="1400" b="1" i="1" u="none" strike="noStrike" cap="none" normalizeH="0" baseline="0" dirty="0">
                          <a:ln>
                            <a:noFill/>
                          </a:ln>
                          <a:solidFill>
                            <a:srgbClr val="000000"/>
                          </a:solidFill>
                          <a:effectLst/>
                          <a:latin typeface="Arial" panose="020B0604020202020204" pitchFamily="34" charset="0"/>
                          <a:ea typeface="楷体_GB2312" pitchFamily="49" charset="-122"/>
                        </a:rPr>
                        <a:t>  C      </a:t>
                      </a:r>
                      <a:r>
                        <a:rPr kumimoji="0" lang="en-US" altLang="zh-CN" sz="1400" b="1" i="1" u="none" strike="noStrike" cap="none" normalizeH="0" baseline="0" dirty="0">
                          <a:ln>
                            <a:noFill/>
                          </a:ln>
                          <a:solidFill>
                            <a:srgbClr val="000000"/>
                          </a:solidFill>
                          <a:effectLst/>
                          <a:latin typeface="Arial" panose="020B0604020202020204" pitchFamily="34" charset="0"/>
                          <a:ea typeface="楷体_GB2312" pitchFamily="49" charset="-122"/>
                          <a:cs typeface="Times New Roman" panose="02020603050405020304" pitchFamily="18" charset="0"/>
                        </a:rPr>
                        <a:t>S</a:t>
                      </a:r>
                      <a:endParaRPr kumimoji="0" lang="en-US" altLang="zh-CN" sz="1400" b="1" i="0" u="none" strike="noStrike" cap="none" normalizeH="0" baseline="0" dirty="0">
                        <a:ln>
                          <a:noFill/>
                        </a:ln>
                        <a:solidFill>
                          <a:srgbClr val="000000"/>
                        </a:solidFill>
                        <a:effectLst/>
                        <a:latin typeface="Arial" panose="020B0604020202020204" pitchFamily="34" charset="0"/>
                        <a:ea typeface="楷体_GB2312" pitchFamily="49" charset="-122"/>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982980">
                <a:tc>
                  <a:txBody>
                    <a:bodyPr/>
                    <a:lstStyle/>
                    <a:p>
                      <a:pPr marL="0" marR="0" lvl="0" indent="0" algn="ctr" defTabSz="914400" rtl="0" eaLnBrk="0" fontAlgn="base" latinLnBrk="0" hangingPunct="0">
                        <a:lnSpc>
                          <a:spcPct val="100000"/>
                        </a:lnSpc>
                        <a:spcBef>
                          <a:spcPct val="0"/>
                        </a:spcBef>
                        <a:spcAft>
                          <a:spcPct val="0"/>
                        </a:spcAft>
                        <a:buClrTx/>
                        <a:buSzTx/>
                        <a:buFontTx/>
                        <a:buNone/>
                        <a:tabLst>
                          <a:tab pos="1933575" algn="l"/>
                        </a:tabLst>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cs typeface="Times New Roman" panose="02020603050405020304" pitchFamily="18" charset="0"/>
                        </a:rPr>
                        <a:t>0        0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1933575" algn="l"/>
                        </a:tabLst>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cs typeface="Times New Roman" panose="02020603050405020304" pitchFamily="18" charset="0"/>
                        </a:rPr>
                        <a:t>0        1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1933575" algn="l"/>
                        </a:tabLst>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cs typeface="Times New Roman" panose="02020603050405020304" pitchFamily="18" charset="0"/>
                        </a:rPr>
                        <a:t>1        0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cs typeface="Times New Roman" panose="02020603050405020304"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tab pos="1933575" algn="l"/>
                        </a:tabLst>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cs typeface="Times New Roman" panose="02020603050405020304" pitchFamily="18" charset="0"/>
                        </a:rPr>
                        <a:t>1        1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tab pos="1933575" algn="l"/>
                        </a:tabLst>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cs typeface="Times New Roman" panose="02020603050405020304" pitchFamily="18" charset="0"/>
                        </a:rPr>
                        <a:t>  0     0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933575" algn="l"/>
                        </a:tabLst>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cs typeface="Times New Roman" panose="02020603050405020304" pitchFamily="18" charset="0"/>
                        </a:rPr>
                        <a:t>  0     1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933575" algn="l"/>
                        </a:tabLst>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cs typeface="Times New Roman" panose="02020603050405020304" pitchFamily="18" charset="0"/>
                        </a:rPr>
                        <a:t>  0     1</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tab pos="1933575" algn="l"/>
                        </a:tabLst>
                      </a:pPr>
                      <a:r>
                        <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cs typeface="Times New Roman" panose="02020603050405020304" pitchFamily="18" charset="0"/>
                        </a:rPr>
                        <a:t>  1     0</a:t>
                      </a:r>
                      <a:endParaRPr kumimoji="0" lang="en-US" altLang="zh-CN" sz="1600" b="1" i="0" u="none" strike="noStrike" cap="none" normalizeH="0" baseline="0" dirty="0">
                        <a:ln>
                          <a:noFill/>
                        </a:ln>
                        <a:solidFill>
                          <a:srgbClr val="000000"/>
                        </a:solidFill>
                        <a:effectLst/>
                        <a:latin typeface="Arial" panose="020B0604020202020204" pitchFamily="34"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bl>
          </a:graphicData>
        </a:graphic>
      </p:graphicFrame>
      <p:grpSp>
        <p:nvGrpSpPr>
          <p:cNvPr id="37" name="组合 36"/>
          <p:cNvGrpSpPr/>
          <p:nvPr/>
        </p:nvGrpSpPr>
        <p:grpSpPr>
          <a:xfrm>
            <a:off x="6176473" y="1808020"/>
            <a:ext cx="1800970" cy="1252317"/>
            <a:chOff x="3896140" y="3908080"/>
            <a:chExt cx="1800970" cy="1252317"/>
          </a:xfrm>
        </p:grpSpPr>
        <p:sp>
          <p:nvSpPr>
            <p:cNvPr id="38" name="圆角矩形 37"/>
            <p:cNvSpPr/>
            <p:nvPr/>
          </p:nvSpPr>
          <p:spPr>
            <a:xfrm>
              <a:off x="3896140" y="3908080"/>
              <a:ext cx="1800970" cy="1252317"/>
            </a:xfrm>
            <a:prstGeom prst="roundRect">
              <a:avLst>
                <a:gd name="adj" fmla="val 4849"/>
              </a:avLst>
            </a:prstGeom>
            <a:solidFill>
              <a:schemeClr val="accent2">
                <a:lumMod val="40000"/>
                <a:lumOff val="60000"/>
              </a:schemeClr>
            </a:solidFill>
            <a:ln w="19050">
              <a:solidFill>
                <a:srgbClr val="66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连接符 38"/>
            <p:cNvCxnSpPr/>
            <p:nvPr/>
          </p:nvCxnSpPr>
          <p:spPr>
            <a:xfrm>
              <a:off x="4551773" y="4694883"/>
              <a:ext cx="252000" cy="0"/>
            </a:xfrm>
            <a:prstGeom prst="line">
              <a:avLst/>
            </a:prstGeom>
            <a:ln w="19050">
              <a:solidFill>
                <a:srgbClr val="6600FF"/>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4953311" y="4817772"/>
              <a:ext cx="324000" cy="0"/>
            </a:xfrm>
            <a:prstGeom prst="line">
              <a:avLst/>
            </a:prstGeom>
            <a:ln w="19050">
              <a:solidFill>
                <a:srgbClr val="6600FF"/>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V="1">
              <a:off x="4162181" y="4126069"/>
              <a:ext cx="648000" cy="0"/>
            </a:xfrm>
            <a:prstGeom prst="line">
              <a:avLst/>
            </a:prstGeom>
            <a:ln w="19050">
              <a:solidFill>
                <a:srgbClr val="6600FF"/>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V="1">
              <a:off x="4162181" y="4379896"/>
              <a:ext cx="648000" cy="0"/>
            </a:xfrm>
            <a:prstGeom prst="line">
              <a:avLst/>
            </a:prstGeom>
            <a:ln w="19050">
              <a:solidFill>
                <a:srgbClr val="6600FF"/>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4408702" y="4377950"/>
              <a:ext cx="0" cy="576000"/>
            </a:xfrm>
            <a:prstGeom prst="line">
              <a:avLst/>
            </a:prstGeom>
            <a:ln w="19050">
              <a:solidFill>
                <a:srgbClr val="6600FF"/>
              </a:solidFill>
              <a:headEnd type="oval" w="sm" len="sm"/>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a:off x="4543875" y="4128066"/>
              <a:ext cx="1135" cy="576000"/>
            </a:xfrm>
            <a:prstGeom prst="line">
              <a:avLst/>
            </a:prstGeom>
            <a:ln w="19050">
              <a:solidFill>
                <a:srgbClr val="6600FF"/>
              </a:solidFill>
              <a:headEnd type="oval" w="sm" len="sm"/>
            </a:ln>
          </p:spPr>
          <p:style>
            <a:lnRef idx="1">
              <a:schemeClr val="accent1"/>
            </a:lnRef>
            <a:fillRef idx="0">
              <a:schemeClr val="accent1"/>
            </a:fillRef>
            <a:effectRef idx="0">
              <a:schemeClr val="accent1"/>
            </a:effectRef>
            <a:fontRef idx="minor">
              <a:schemeClr val="tx1"/>
            </a:fontRef>
          </p:style>
        </p:cxnSp>
        <p:sp>
          <p:nvSpPr>
            <p:cNvPr id="45" name="Rectangle 7"/>
            <p:cNvSpPr>
              <a:spLocks noChangeArrowheads="1"/>
            </p:cNvSpPr>
            <p:nvPr/>
          </p:nvSpPr>
          <p:spPr bwMode="auto">
            <a:xfrm>
              <a:off x="4680656" y="4016487"/>
              <a:ext cx="282056" cy="470666"/>
            </a:xfrm>
            <a:prstGeom prst="rect">
              <a:avLst/>
            </a:prstGeom>
            <a:solidFill>
              <a:srgbClr val="FFFF00"/>
            </a:solidFill>
            <a:ln w="19050">
              <a:solidFill>
                <a:srgbClr val="6600FF"/>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kumimoji="0" lang="en-US"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rPr>
                <a:t>=1</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cxnSp>
          <p:nvCxnSpPr>
            <p:cNvPr id="46" name="直接连接符 45"/>
            <p:cNvCxnSpPr/>
            <p:nvPr/>
          </p:nvCxnSpPr>
          <p:spPr>
            <a:xfrm>
              <a:off x="4967890" y="4260209"/>
              <a:ext cx="324000" cy="0"/>
            </a:xfrm>
            <a:prstGeom prst="line">
              <a:avLst/>
            </a:prstGeom>
            <a:ln w="19050">
              <a:solidFill>
                <a:srgbClr val="6600FF"/>
              </a:solidFill>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3919479" y="3967840"/>
              <a:ext cx="304892" cy="553998"/>
            </a:xfrm>
            <a:prstGeom prst="rect">
              <a:avLst/>
            </a:prstGeom>
            <a:noFill/>
            <a:ln w="19050">
              <a:noFill/>
            </a:ln>
          </p:spPr>
          <p:txBody>
            <a:bodyPr wrap="none" rtlCol="0">
              <a:spAutoFit/>
            </a:bodyPr>
            <a:lstStyle/>
            <a:p>
              <a:pPr>
                <a:lnSpc>
                  <a:spcPts val="1800"/>
                </a:lnSpc>
              </a:pPr>
              <a:r>
                <a:rPr lang="en-US" altLang="zh-CN" sz="1400" b="1" i="1" dirty="0">
                  <a:latin typeface="Times New Roman" panose="02020603050405020304" pitchFamily="18" charset="0"/>
                  <a:cs typeface="Times New Roman" panose="02020603050405020304" pitchFamily="18" charset="0"/>
                </a:rPr>
                <a:t>A</a:t>
              </a:r>
              <a:endParaRPr lang="en-US" altLang="zh-CN" sz="1400" b="1" i="1" dirty="0">
                <a:latin typeface="Times New Roman" panose="02020603050405020304" pitchFamily="18" charset="0"/>
                <a:cs typeface="Times New Roman" panose="02020603050405020304" pitchFamily="18" charset="0"/>
              </a:endParaRPr>
            </a:p>
            <a:p>
              <a:pPr>
                <a:lnSpc>
                  <a:spcPts val="1800"/>
                </a:lnSpc>
              </a:pPr>
              <a:r>
                <a:rPr lang="en-US" altLang="zh-CN" sz="1400" b="1" i="1" dirty="0">
                  <a:latin typeface="Times New Roman" panose="02020603050405020304" pitchFamily="18" charset="0"/>
                  <a:cs typeface="Times New Roman" panose="02020603050405020304" pitchFamily="18" charset="0"/>
                </a:rPr>
                <a:t>B</a:t>
              </a:r>
              <a:endParaRPr lang="zh-CN" altLang="en-US" sz="1400" b="1" i="1" dirty="0">
                <a:latin typeface="Times New Roman" panose="02020603050405020304" pitchFamily="18" charset="0"/>
                <a:cs typeface="Times New Roman" panose="02020603050405020304" pitchFamily="18" charset="0"/>
              </a:endParaRPr>
            </a:p>
          </p:txBody>
        </p:sp>
        <p:sp>
          <p:nvSpPr>
            <p:cNvPr id="48" name="TextBox 47"/>
            <p:cNvSpPr txBox="1"/>
            <p:nvPr/>
          </p:nvSpPr>
          <p:spPr>
            <a:xfrm>
              <a:off x="5328773" y="4114165"/>
              <a:ext cx="304892" cy="910314"/>
            </a:xfrm>
            <a:prstGeom prst="rect">
              <a:avLst/>
            </a:prstGeom>
            <a:noFill/>
            <a:ln w="19050">
              <a:noFill/>
            </a:ln>
          </p:spPr>
          <p:txBody>
            <a:bodyPr wrap="none" rtlCol="0">
              <a:spAutoFit/>
            </a:bodyPr>
            <a:lstStyle/>
            <a:p>
              <a:pPr>
                <a:lnSpc>
                  <a:spcPts val="2200"/>
                </a:lnSpc>
              </a:pPr>
              <a:r>
                <a:rPr lang="en-US" altLang="zh-CN" sz="1400" b="1" i="1" dirty="0">
                  <a:latin typeface="Times New Roman" panose="02020603050405020304" pitchFamily="18" charset="0"/>
                  <a:cs typeface="Times New Roman" panose="02020603050405020304" pitchFamily="18" charset="0"/>
                </a:rPr>
                <a:t>S</a:t>
              </a:r>
              <a:endParaRPr lang="en-US" altLang="zh-CN" sz="1400" b="1" i="1" dirty="0">
                <a:latin typeface="Times New Roman" panose="02020603050405020304" pitchFamily="18" charset="0"/>
                <a:cs typeface="Times New Roman" panose="02020603050405020304" pitchFamily="18" charset="0"/>
              </a:endParaRPr>
            </a:p>
            <a:p>
              <a:pPr>
                <a:lnSpc>
                  <a:spcPts val="2200"/>
                </a:lnSpc>
              </a:pPr>
              <a:endParaRPr lang="en-US" altLang="zh-CN" sz="1400" b="1" i="1" dirty="0">
                <a:latin typeface="Times New Roman" panose="02020603050405020304" pitchFamily="18" charset="0"/>
                <a:cs typeface="Times New Roman" panose="02020603050405020304" pitchFamily="18" charset="0"/>
              </a:endParaRPr>
            </a:p>
            <a:p>
              <a:pPr>
                <a:lnSpc>
                  <a:spcPts val="2200"/>
                </a:lnSpc>
              </a:pPr>
              <a:r>
                <a:rPr lang="en-US" altLang="zh-CN" sz="1400" b="1" i="1" dirty="0">
                  <a:latin typeface="Times New Roman" panose="02020603050405020304" pitchFamily="18" charset="0"/>
                  <a:cs typeface="Times New Roman" panose="02020603050405020304" pitchFamily="18" charset="0"/>
                </a:rPr>
                <a:t>C</a:t>
              </a:r>
              <a:endParaRPr lang="zh-CN" altLang="en-US" sz="1400" b="1" i="1" dirty="0">
                <a:latin typeface="Times New Roman" panose="02020603050405020304" pitchFamily="18" charset="0"/>
                <a:cs typeface="Times New Roman" panose="02020603050405020304" pitchFamily="18" charset="0"/>
              </a:endParaRPr>
            </a:p>
          </p:txBody>
        </p:sp>
        <p:cxnSp>
          <p:nvCxnSpPr>
            <p:cNvPr id="49" name="直接连接符 48"/>
            <p:cNvCxnSpPr/>
            <p:nvPr/>
          </p:nvCxnSpPr>
          <p:spPr>
            <a:xfrm>
              <a:off x="4402023" y="4954625"/>
              <a:ext cx="396000" cy="0"/>
            </a:xfrm>
            <a:prstGeom prst="line">
              <a:avLst/>
            </a:prstGeom>
            <a:ln w="19050">
              <a:solidFill>
                <a:srgbClr val="6600FF"/>
              </a:solidFill>
            </a:ln>
          </p:spPr>
          <p:style>
            <a:lnRef idx="1">
              <a:schemeClr val="accent1"/>
            </a:lnRef>
            <a:fillRef idx="0">
              <a:schemeClr val="accent1"/>
            </a:fillRef>
            <a:effectRef idx="0">
              <a:schemeClr val="accent1"/>
            </a:effectRef>
            <a:fontRef idx="minor">
              <a:schemeClr val="tx1"/>
            </a:fontRef>
          </p:style>
        </p:cxnSp>
        <p:sp>
          <p:nvSpPr>
            <p:cNvPr id="50" name="Rectangle 7"/>
            <p:cNvSpPr>
              <a:spLocks noChangeArrowheads="1"/>
            </p:cNvSpPr>
            <p:nvPr/>
          </p:nvSpPr>
          <p:spPr bwMode="auto">
            <a:xfrm>
              <a:off x="4680139" y="4585035"/>
              <a:ext cx="282056" cy="470666"/>
            </a:xfrm>
            <a:prstGeom prst="rect">
              <a:avLst/>
            </a:prstGeom>
            <a:solidFill>
              <a:srgbClr val="FFFF00"/>
            </a:solidFill>
            <a:ln w="19050">
              <a:solidFill>
                <a:srgbClr val="6600FF"/>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grpSp>
      <p:grpSp>
        <p:nvGrpSpPr>
          <p:cNvPr id="51" name="组合 50"/>
          <p:cNvGrpSpPr/>
          <p:nvPr/>
        </p:nvGrpSpPr>
        <p:grpSpPr>
          <a:xfrm>
            <a:off x="6176473" y="3161602"/>
            <a:ext cx="1858576" cy="1040747"/>
            <a:chOff x="2438284" y="3935897"/>
            <a:chExt cx="2276169" cy="1248353"/>
          </a:xfrm>
        </p:grpSpPr>
        <p:sp>
          <p:nvSpPr>
            <p:cNvPr id="52" name="AutoShape 23"/>
            <p:cNvSpPr>
              <a:spLocks noChangeArrowheads="1"/>
            </p:cNvSpPr>
            <p:nvPr/>
          </p:nvSpPr>
          <p:spPr bwMode="auto">
            <a:xfrm>
              <a:off x="2438284" y="3935897"/>
              <a:ext cx="2256961" cy="1248353"/>
            </a:xfrm>
            <a:prstGeom prst="roundRect">
              <a:avLst>
                <a:gd name="adj" fmla="val 3345"/>
              </a:avLst>
            </a:prstGeom>
            <a:solidFill>
              <a:srgbClr val="FFFFFF"/>
            </a:solidFill>
            <a:ln w="19050">
              <a:solidFill>
                <a:srgbClr val="6600FF"/>
              </a:solidFill>
              <a:miter lim="800000"/>
            </a:ln>
          </p:spPr>
          <p:txBody>
            <a:bodyPr/>
            <a:lstStyle/>
            <a:p>
              <a:endParaRPr lang="zh-CN" altLang="en-US" dirty="0">
                <a:solidFill>
                  <a:schemeClr val="bg2"/>
                </a:solidFill>
                <a:latin typeface="微软雅黑" panose="020B0503020204020204" pitchFamily="34" charset="-122"/>
                <a:ea typeface="微软雅黑" panose="020B0503020204020204" pitchFamily="34" charset="-122"/>
              </a:endParaRPr>
            </a:p>
          </p:txBody>
        </p:sp>
        <p:graphicFrame>
          <p:nvGraphicFramePr>
            <p:cNvPr id="53" name="Object 25"/>
            <p:cNvGraphicFramePr>
              <a:graphicFrameLocks noChangeAspect="1"/>
            </p:cNvGraphicFramePr>
            <p:nvPr/>
          </p:nvGraphicFramePr>
          <p:xfrm>
            <a:off x="2450301" y="4041251"/>
            <a:ext cx="2264152" cy="970059"/>
          </p:xfrm>
          <a:graphic>
            <a:graphicData uri="http://schemas.openxmlformats.org/presentationml/2006/ole">
              <mc:AlternateContent xmlns:mc="http://schemas.openxmlformats.org/markup-compatibility/2006">
                <mc:Choice xmlns:v="urn:schemas-microsoft-com:vml" Requires="v">
                  <p:oleObj spid="_x0000_s65559" name="Visio" r:id="rId2" imgW="2686685" imgH="1287145" progId="Visio.Drawing.11">
                    <p:embed/>
                  </p:oleObj>
                </mc:Choice>
                <mc:Fallback>
                  <p:oleObj name="Visio" r:id="rId2" imgW="2686685" imgH="1287145" progId="Visio.Drawing.11">
                    <p:embed/>
                    <p:pic>
                      <p:nvPicPr>
                        <p:cNvPr id="0" name="Object 25"/>
                        <p:cNvPicPr>
                          <a:picLocks noChangeAspect="1" noChangeArrowheads="1"/>
                        </p:cNvPicPr>
                        <p:nvPr/>
                      </p:nvPicPr>
                      <p:blipFill>
                        <a:blip r:embed="rId3">
                          <a:extLst>
                            <a:ext uri="{28A0092B-C50C-407E-A947-70E740481C1C}">
                              <a14:useLocalDpi xmlns:a14="http://schemas.microsoft.com/office/drawing/2010/main" val="0"/>
                            </a:ext>
                          </a:extLst>
                        </a:blip>
                        <a:srcRect l="38098" t="6017" r="4362" b="51166"/>
                        <a:stretch>
                          <a:fillRect/>
                        </a:stretch>
                      </p:blipFill>
                      <p:spPr bwMode="auto">
                        <a:xfrm>
                          <a:off x="2450301" y="4041251"/>
                          <a:ext cx="2264152" cy="970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0000"/>
                              </a:solidFill>
                              <a:miter lim="800000"/>
                              <a:headEnd/>
                              <a:tailEnd/>
                            </a14:hiddenLine>
                          </a:ext>
                        </a:extLst>
                      </p:spPr>
                    </p:pic>
                  </p:oleObj>
                </mc:Fallback>
              </mc:AlternateContent>
            </a:graphicData>
          </a:graphic>
        </p:graphicFrame>
      </p:grpSp>
      <p:sp>
        <p:nvSpPr>
          <p:cNvPr id="95" name="下箭头 94"/>
          <p:cNvSpPr/>
          <p:nvPr/>
        </p:nvSpPr>
        <p:spPr>
          <a:xfrm rot="16200000" flipH="1">
            <a:off x="4706382" y="4181864"/>
            <a:ext cx="369736" cy="25841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6" name="圆角矩形 95"/>
          <p:cNvSpPr/>
          <p:nvPr/>
        </p:nvSpPr>
        <p:spPr>
          <a:xfrm>
            <a:off x="3030892" y="3897669"/>
            <a:ext cx="1625281" cy="80308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半加器</a:t>
            </a:r>
            <a:endParaRPr lang="en-US" altLang="zh-CN" sz="1600"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a:p>
            <a:pPr algn="ctr"/>
            <a:r>
              <a:rPr lang="zh-CN" altLang="en-US" sz="1600"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实现两个</a:t>
            </a:r>
            <a:r>
              <a:rPr lang="en-US" altLang="zh-CN" sz="1600"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sz="1600"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位二进制数的加法</a:t>
            </a:r>
            <a:endParaRPr lang="zh-CN" altLang="en-US" sz="1600" dirty="0">
              <a:solidFill>
                <a:schemeClr val="bg1"/>
              </a:solidFill>
            </a:endParaRPr>
          </a:p>
        </p:txBody>
      </p:sp>
      <p:grpSp>
        <p:nvGrpSpPr>
          <p:cNvPr id="97" name="组合 96"/>
          <p:cNvGrpSpPr/>
          <p:nvPr/>
        </p:nvGrpSpPr>
        <p:grpSpPr>
          <a:xfrm>
            <a:off x="5082577" y="3866458"/>
            <a:ext cx="876085" cy="913073"/>
            <a:chOff x="5266298" y="3976981"/>
            <a:chExt cx="876085" cy="913073"/>
          </a:xfrm>
          <a:solidFill>
            <a:schemeClr val="accent4">
              <a:lumMod val="40000"/>
              <a:lumOff val="60000"/>
            </a:schemeClr>
          </a:solidFill>
        </p:grpSpPr>
        <p:sp>
          <p:nvSpPr>
            <p:cNvPr id="98" name="AutoShape 23"/>
            <p:cNvSpPr>
              <a:spLocks noChangeArrowheads="1"/>
            </p:cNvSpPr>
            <p:nvPr/>
          </p:nvSpPr>
          <p:spPr bwMode="auto">
            <a:xfrm>
              <a:off x="5266298" y="3976981"/>
              <a:ext cx="876085" cy="913073"/>
            </a:xfrm>
            <a:prstGeom prst="roundRect">
              <a:avLst>
                <a:gd name="adj" fmla="val 3345"/>
              </a:avLst>
            </a:prstGeom>
            <a:grpFill/>
            <a:ln w="19050">
              <a:solidFill>
                <a:srgbClr val="6600FF"/>
              </a:solidFill>
              <a:miter lim="800000"/>
            </a:ln>
          </p:spPr>
          <p:txBody>
            <a:bodyPr/>
            <a:lstStyle/>
            <a:p>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99" name="TextBox 70"/>
            <p:cNvSpPr txBox="1"/>
            <p:nvPr/>
          </p:nvSpPr>
          <p:spPr>
            <a:xfrm>
              <a:off x="5363807" y="3995532"/>
              <a:ext cx="643125" cy="830997"/>
            </a:xfrm>
            <a:prstGeom prst="rect">
              <a:avLst/>
            </a:prstGeom>
            <a:grpFill/>
          </p:spPr>
          <p:txBody>
            <a:bodyPr wrap="none" rtlCol="0">
              <a:spAutoFit/>
            </a:bodyPr>
            <a:lstStyle/>
            <a:p>
              <a:pPr algn="r"/>
              <a:r>
                <a:rPr lang="en-US" altLang="zh-CN" sz="1600" b="1" i="1" dirty="0">
                  <a:latin typeface="Times New Roman" panose="02020603050405020304" pitchFamily="18" charset="0"/>
                  <a:cs typeface="Times New Roman" panose="02020603050405020304" pitchFamily="18" charset="0"/>
                </a:rPr>
                <a:t>A</a:t>
              </a:r>
              <a:endParaRPr lang="en-US" altLang="zh-CN" sz="1600" b="1" i="1" dirty="0">
                <a:latin typeface="Times New Roman" panose="02020603050405020304" pitchFamily="18" charset="0"/>
                <a:cs typeface="Times New Roman" panose="02020603050405020304" pitchFamily="18" charset="0"/>
              </a:endParaRPr>
            </a:p>
            <a:p>
              <a:pPr algn="r"/>
              <a:r>
                <a:rPr lang="en-US" altLang="zh-CN" sz="1600" b="1" dirty="0">
                  <a:latin typeface="Times New Roman" panose="02020603050405020304" pitchFamily="18" charset="0"/>
                  <a:cs typeface="Times New Roman" panose="02020603050405020304" pitchFamily="18" charset="0"/>
                </a:rPr>
                <a:t>+    </a:t>
              </a:r>
              <a:r>
                <a:rPr lang="en-US" altLang="zh-CN" sz="1600" b="1" i="1" dirty="0">
                  <a:latin typeface="Times New Roman" panose="02020603050405020304" pitchFamily="18" charset="0"/>
                  <a:cs typeface="Times New Roman" panose="02020603050405020304" pitchFamily="18" charset="0"/>
                </a:rPr>
                <a:t>B</a:t>
              </a:r>
              <a:endParaRPr lang="en-US" altLang="zh-CN" sz="1600" b="1" i="1" dirty="0">
                <a:latin typeface="Times New Roman" panose="02020603050405020304" pitchFamily="18" charset="0"/>
                <a:cs typeface="Times New Roman" panose="02020603050405020304" pitchFamily="18" charset="0"/>
              </a:endParaRPr>
            </a:p>
            <a:p>
              <a:pPr algn="r"/>
              <a:r>
                <a:rPr lang="en-US" altLang="zh-CN" sz="1600" b="1" i="1" dirty="0">
                  <a:latin typeface="Times New Roman" panose="02020603050405020304" pitchFamily="18" charset="0"/>
                  <a:cs typeface="Times New Roman" panose="02020603050405020304" pitchFamily="18" charset="0"/>
                </a:rPr>
                <a:t>C  S</a:t>
              </a:r>
              <a:endParaRPr lang="zh-CN" altLang="en-US" sz="1600" b="1" i="1" dirty="0">
                <a:latin typeface="Times New Roman" panose="02020603050405020304" pitchFamily="18" charset="0"/>
                <a:cs typeface="Times New Roman" panose="02020603050405020304" pitchFamily="18" charset="0"/>
              </a:endParaRPr>
            </a:p>
          </p:txBody>
        </p:sp>
        <p:cxnSp>
          <p:nvCxnSpPr>
            <p:cNvPr id="100" name="直接连接符 99"/>
            <p:cNvCxnSpPr/>
            <p:nvPr/>
          </p:nvCxnSpPr>
          <p:spPr>
            <a:xfrm>
              <a:off x="5402912" y="4536219"/>
              <a:ext cx="612250" cy="0"/>
            </a:xfrm>
            <a:prstGeom prst="line">
              <a:avLst/>
            </a:prstGeom>
            <a:grpFill/>
            <a:ln w="19050"/>
          </p:spPr>
          <p:style>
            <a:lnRef idx="1">
              <a:schemeClr val="accent1"/>
            </a:lnRef>
            <a:fillRef idx="0">
              <a:schemeClr val="accent1"/>
            </a:fillRef>
            <a:effectRef idx="0">
              <a:schemeClr val="accent1"/>
            </a:effectRef>
            <a:fontRef idx="minor">
              <a:schemeClr val="tx1"/>
            </a:fontRef>
          </p:style>
        </p:cxnSp>
      </p:grpSp>
      <p:sp>
        <p:nvSpPr>
          <p:cNvPr id="101" name="圆角矩形 100"/>
          <p:cNvSpPr/>
          <p:nvPr/>
        </p:nvSpPr>
        <p:spPr>
          <a:xfrm>
            <a:off x="768129" y="2270061"/>
            <a:ext cx="1713385" cy="203554"/>
          </a:xfrm>
          <a:prstGeom prst="roundRect">
            <a:avLst/>
          </a:prstGeom>
          <a:solidFill>
            <a:srgbClr val="66FFCC">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2" name="圆角矩形 101"/>
          <p:cNvSpPr/>
          <p:nvPr/>
        </p:nvSpPr>
        <p:spPr>
          <a:xfrm>
            <a:off x="764820" y="2500417"/>
            <a:ext cx="1713385" cy="463542"/>
          </a:xfrm>
          <a:prstGeom prst="roundRect">
            <a:avLst>
              <a:gd name="adj" fmla="val 11071"/>
            </a:avLst>
          </a:prstGeom>
          <a:solidFill>
            <a:srgbClr val="66FFCC">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3" name="圆角矩形 102"/>
          <p:cNvSpPr/>
          <p:nvPr/>
        </p:nvSpPr>
        <p:spPr>
          <a:xfrm>
            <a:off x="766477" y="2988260"/>
            <a:ext cx="1713385" cy="203554"/>
          </a:xfrm>
          <a:prstGeom prst="roundRect">
            <a:avLst/>
          </a:prstGeom>
          <a:solidFill>
            <a:srgbClr val="66FFCC">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p:cNvGrpSpPr/>
          <p:nvPr/>
        </p:nvGrpSpPr>
        <p:grpSpPr>
          <a:xfrm>
            <a:off x="732225" y="3325415"/>
            <a:ext cx="1872263" cy="1120125"/>
            <a:chOff x="732225" y="3325415"/>
            <a:chExt cx="1872263" cy="1120125"/>
          </a:xfrm>
        </p:grpSpPr>
        <p:grpSp>
          <p:nvGrpSpPr>
            <p:cNvPr id="94" name="组合 93"/>
            <p:cNvGrpSpPr/>
            <p:nvPr/>
          </p:nvGrpSpPr>
          <p:grpSpPr>
            <a:xfrm>
              <a:off x="732225" y="3325415"/>
              <a:ext cx="1872263" cy="1120125"/>
              <a:chOff x="835985" y="3619515"/>
              <a:chExt cx="1872263" cy="1120125"/>
            </a:xfrm>
          </p:grpSpPr>
          <p:sp>
            <p:nvSpPr>
              <p:cNvPr id="93" name="圆角矩形 92"/>
              <p:cNvSpPr/>
              <p:nvPr/>
            </p:nvSpPr>
            <p:spPr>
              <a:xfrm>
                <a:off x="835985" y="3619515"/>
                <a:ext cx="1872263" cy="1120125"/>
              </a:xfrm>
              <a:prstGeom prst="roundRect">
                <a:avLst>
                  <a:gd name="adj" fmla="val 4849"/>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59769" name="Object 25"/>
              <p:cNvGraphicFramePr>
                <a:graphicFrameLocks noChangeAspect="1"/>
              </p:cNvGraphicFramePr>
              <p:nvPr/>
            </p:nvGraphicFramePr>
            <p:xfrm>
              <a:off x="871889" y="4362639"/>
              <a:ext cx="1235769" cy="342836"/>
            </p:xfrm>
            <a:graphic>
              <a:graphicData uri="http://schemas.openxmlformats.org/presentationml/2006/ole">
                <mc:AlternateContent xmlns:mc="http://schemas.openxmlformats.org/markup-compatibility/2006">
                  <mc:Choice xmlns:v="urn:schemas-microsoft-com:vml" Requires="v">
                    <p:oleObj spid="_x0000_s65560" name="公式" r:id="rId4" imgW="862965" imgH="241300" progId="Equation.3">
                      <p:embed/>
                    </p:oleObj>
                  </mc:Choice>
                  <mc:Fallback>
                    <p:oleObj name="公式" r:id="rId4" imgW="862965" imgH="241300" progId="Equation.3">
                      <p:embed/>
                      <p:pic>
                        <p:nvPicPr>
                          <p:cNvPr id="0" name="Object 2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1889" y="4362639"/>
                            <a:ext cx="1235769" cy="342836"/>
                          </a:xfrm>
                          <a:prstGeom prst="rect">
                            <a:avLst/>
                          </a:prstGeom>
                          <a:noFill/>
                        </p:spPr>
                      </p:pic>
                    </p:oleObj>
                  </mc:Fallback>
                </mc:AlternateContent>
              </a:graphicData>
            </a:graphic>
          </p:graphicFrame>
        </p:grpSp>
        <p:graphicFrame>
          <p:nvGraphicFramePr>
            <p:cNvPr id="2" name="对象 1"/>
            <p:cNvGraphicFramePr>
              <a:graphicFrameLocks noChangeAspect="1"/>
            </p:cNvGraphicFramePr>
            <p:nvPr/>
          </p:nvGraphicFramePr>
          <p:xfrm>
            <a:off x="765175" y="3340100"/>
            <a:ext cx="1766888" cy="700088"/>
          </p:xfrm>
          <a:graphic>
            <a:graphicData uri="http://schemas.openxmlformats.org/presentationml/2006/ole">
              <mc:AlternateContent xmlns:mc="http://schemas.openxmlformats.org/markup-compatibility/2006">
                <mc:Choice xmlns:v="urn:schemas-microsoft-com:vml" Requires="v">
                  <p:oleObj spid="_x0000_s65561" name="Equation" r:id="rId6" imgW="32308800" imgH="12801600" progId="Equation.DSMT4">
                    <p:embed/>
                  </p:oleObj>
                </mc:Choice>
                <mc:Fallback>
                  <p:oleObj name="Equation" r:id="rId6" imgW="32308800" imgH="12801600" progId="Equation.DSMT4">
                    <p:embed/>
                    <p:pic>
                      <p:nvPicPr>
                        <p:cNvPr id="0" name="对象 1"/>
                        <p:cNvPicPr/>
                        <p:nvPr/>
                      </p:nvPicPr>
                      <p:blipFill>
                        <a:blip r:embed="rId7"/>
                        <a:stretch>
                          <a:fillRect/>
                        </a:stretch>
                      </p:blipFill>
                      <p:spPr>
                        <a:xfrm>
                          <a:off x="765175" y="3340100"/>
                          <a:ext cx="1766888" cy="700088"/>
                        </a:xfrm>
                        <a:prstGeom prst="rect">
                          <a:avLst/>
                        </a:prstGeom>
                      </p:spPr>
                    </p:pic>
                  </p:oleObj>
                </mc:Fallback>
              </mc:AlternateContent>
            </a:graphicData>
          </a:graphic>
        </p:graphicFrame>
      </p:grpSp>
      <p:grpSp>
        <p:nvGrpSpPr>
          <p:cNvPr id="104" name="组合 103"/>
          <p:cNvGrpSpPr/>
          <p:nvPr/>
        </p:nvGrpSpPr>
        <p:grpSpPr>
          <a:xfrm>
            <a:off x="3126576" y="1801535"/>
            <a:ext cx="2725258" cy="1783885"/>
            <a:chOff x="3126576" y="1801535"/>
            <a:chExt cx="2725258" cy="1783885"/>
          </a:xfrm>
        </p:grpSpPr>
        <p:sp>
          <p:nvSpPr>
            <p:cNvPr id="105" name="圆角矩形 54"/>
            <p:cNvSpPr/>
            <p:nvPr/>
          </p:nvSpPr>
          <p:spPr>
            <a:xfrm>
              <a:off x="3126576" y="1801535"/>
              <a:ext cx="2725258" cy="1783885"/>
            </a:xfrm>
            <a:prstGeom prst="roundRect">
              <a:avLst>
                <a:gd name="adj" fmla="val 4849"/>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6" name="图片 105"/>
            <p:cNvPicPr>
              <a:picLocks noChangeAspect="1"/>
            </p:cNvPicPr>
            <p:nvPr/>
          </p:nvPicPr>
          <p:blipFill>
            <a:blip r:embed="rId8"/>
            <a:stretch>
              <a:fillRect/>
            </a:stretch>
          </p:blipFill>
          <p:spPr>
            <a:xfrm>
              <a:off x="3205708" y="1841617"/>
              <a:ext cx="2586535" cy="1643379"/>
            </a:xfrm>
            <a:prstGeom prst="rect">
              <a:avLst/>
            </a:prstGeom>
          </p:spPr>
        </p:pic>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32"/>
                                        </p:tgtEl>
                                        <p:attrNameLst>
                                          <p:attrName>style.visibility</p:attrName>
                                        </p:attrNameLst>
                                      </p:cBhvr>
                                      <p:to>
                                        <p:strVal val="visible"/>
                                      </p:to>
                                    </p:set>
                                    <p:animEffect transition="in" filter="fade">
                                      <p:cBhvr>
                                        <p:cTn id="13" dur="1000"/>
                                        <p:tgtEl>
                                          <p:spTgt spid="32"/>
                                        </p:tgtEl>
                                      </p:cBhvr>
                                    </p:animEffect>
                                    <p:anim calcmode="lin" valueType="num">
                                      <p:cBhvr>
                                        <p:cTn id="14" dur="1000" fill="hold"/>
                                        <p:tgtEl>
                                          <p:spTgt spid="32"/>
                                        </p:tgtEl>
                                        <p:attrNameLst>
                                          <p:attrName>ppt_x</p:attrName>
                                        </p:attrNameLst>
                                      </p:cBhvr>
                                      <p:tavLst>
                                        <p:tav tm="0">
                                          <p:val>
                                            <p:strVal val="#ppt_x"/>
                                          </p:val>
                                        </p:tav>
                                        <p:tav tm="100000">
                                          <p:val>
                                            <p:strVal val="#ppt_x"/>
                                          </p:val>
                                        </p:tav>
                                      </p:tavLst>
                                    </p:anim>
                                    <p:anim calcmode="lin" valueType="num">
                                      <p:cBhvr>
                                        <p:cTn id="15"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8" fill="hold" grpId="0" nodeType="clickEffect">
                                  <p:stCondLst>
                                    <p:cond delay="0"/>
                                  </p:stCondLst>
                                  <p:childTnLst>
                                    <p:set>
                                      <p:cBhvr>
                                        <p:cTn id="19" dur="1" fill="hold">
                                          <p:stCondLst>
                                            <p:cond delay="0"/>
                                          </p:stCondLst>
                                        </p:cTn>
                                        <p:tgtEl>
                                          <p:spTgt spid="101"/>
                                        </p:tgtEl>
                                        <p:attrNameLst>
                                          <p:attrName>style.visibility</p:attrName>
                                        </p:attrNameLst>
                                      </p:cBhvr>
                                      <p:to>
                                        <p:strVal val="visible"/>
                                      </p:to>
                                    </p:set>
                                    <p:anim calcmode="lin" valueType="num">
                                      <p:cBhvr>
                                        <p:cTn id="20" dur="1000" fill="hold"/>
                                        <p:tgtEl>
                                          <p:spTgt spid="101"/>
                                        </p:tgtEl>
                                        <p:attrNameLst>
                                          <p:attrName>ppt_x</p:attrName>
                                        </p:attrNameLst>
                                      </p:cBhvr>
                                      <p:tavLst>
                                        <p:tav tm="0">
                                          <p:val>
                                            <p:strVal val="#ppt_x-#ppt_w/2"/>
                                          </p:val>
                                        </p:tav>
                                        <p:tav tm="100000">
                                          <p:val>
                                            <p:strVal val="#ppt_x"/>
                                          </p:val>
                                        </p:tav>
                                      </p:tavLst>
                                    </p:anim>
                                    <p:anim calcmode="lin" valueType="num">
                                      <p:cBhvr>
                                        <p:cTn id="21" dur="1000" fill="hold"/>
                                        <p:tgtEl>
                                          <p:spTgt spid="101"/>
                                        </p:tgtEl>
                                        <p:attrNameLst>
                                          <p:attrName>ppt_y</p:attrName>
                                        </p:attrNameLst>
                                      </p:cBhvr>
                                      <p:tavLst>
                                        <p:tav tm="0">
                                          <p:val>
                                            <p:strVal val="#ppt_y"/>
                                          </p:val>
                                        </p:tav>
                                        <p:tav tm="100000">
                                          <p:val>
                                            <p:strVal val="#ppt_y"/>
                                          </p:val>
                                        </p:tav>
                                      </p:tavLst>
                                    </p:anim>
                                    <p:anim calcmode="lin" valueType="num">
                                      <p:cBhvr>
                                        <p:cTn id="22" dur="1000" fill="hold"/>
                                        <p:tgtEl>
                                          <p:spTgt spid="101"/>
                                        </p:tgtEl>
                                        <p:attrNameLst>
                                          <p:attrName>ppt_w</p:attrName>
                                        </p:attrNameLst>
                                      </p:cBhvr>
                                      <p:tavLst>
                                        <p:tav tm="0">
                                          <p:val>
                                            <p:fltVal val="0"/>
                                          </p:val>
                                        </p:tav>
                                        <p:tav tm="100000">
                                          <p:val>
                                            <p:strVal val="#ppt_w"/>
                                          </p:val>
                                        </p:tav>
                                      </p:tavLst>
                                    </p:anim>
                                    <p:anim calcmode="lin" valueType="num">
                                      <p:cBhvr>
                                        <p:cTn id="23" dur="1000" fill="hold"/>
                                        <p:tgtEl>
                                          <p:spTgt spid="101"/>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101"/>
                                        </p:tgtEl>
                                        <p:attrNameLst>
                                          <p:attrName>style.visibility</p:attrName>
                                        </p:attrNameLst>
                                      </p:cBhvr>
                                      <p:to>
                                        <p:strVal val="hidden"/>
                                      </p:to>
                                    </p:set>
                                  </p:subTnLst>
                                </p:cTn>
                              </p:par>
                            </p:childTnLst>
                          </p:cTn>
                        </p:par>
                      </p:childTnLst>
                    </p:cTn>
                  </p:par>
                  <p:par>
                    <p:cTn id="24" fill="hold">
                      <p:stCondLst>
                        <p:cond delay="indefinite"/>
                      </p:stCondLst>
                      <p:childTnLst>
                        <p:par>
                          <p:cTn id="25" fill="hold">
                            <p:stCondLst>
                              <p:cond delay="0"/>
                            </p:stCondLst>
                            <p:childTnLst>
                              <p:par>
                                <p:cTn id="26" presetID="17" presetClass="entr" presetSubtype="8" fill="hold" grpId="0" nodeType="clickEffect">
                                  <p:stCondLst>
                                    <p:cond delay="0"/>
                                  </p:stCondLst>
                                  <p:childTnLst>
                                    <p:set>
                                      <p:cBhvr>
                                        <p:cTn id="27" dur="1" fill="hold">
                                          <p:stCondLst>
                                            <p:cond delay="0"/>
                                          </p:stCondLst>
                                        </p:cTn>
                                        <p:tgtEl>
                                          <p:spTgt spid="102"/>
                                        </p:tgtEl>
                                        <p:attrNameLst>
                                          <p:attrName>style.visibility</p:attrName>
                                        </p:attrNameLst>
                                      </p:cBhvr>
                                      <p:to>
                                        <p:strVal val="visible"/>
                                      </p:to>
                                    </p:set>
                                    <p:anim calcmode="lin" valueType="num">
                                      <p:cBhvr>
                                        <p:cTn id="28" dur="1000" fill="hold"/>
                                        <p:tgtEl>
                                          <p:spTgt spid="102"/>
                                        </p:tgtEl>
                                        <p:attrNameLst>
                                          <p:attrName>ppt_x</p:attrName>
                                        </p:attrNameLst>
                                      </p:cBhvr>
                                      <p:tavLst>
                                        <p:tav tm="0">
                                          <p:val>
                                            <p:strVal val="#ppt_x-#ppt_w/2"/>
                                          </p:val>
                                        </p:tav>
                                        <p:tav tm="100000">
                                          <p:val>
                                            <p:strVal val="#ppt_x"/>
                                          </p:val>
                                        </p:tav>
                                      </p:tavLst>
                                    </p:anim>
                                    <p:anim calcmode="lin" valueType="num">
                                      <p:cBhvr>
                                        <p:cTn id="29" dur="1000" fill="hold"/>
                                        <p:tgtEl>
                                          <p:spTgt spid="102"/>
                                        </p:tgtEl>
                                        <p:attrNameLst>
                                          <p:attrName>ppt_y</p:attrName>
                                        </p:attrNameLst>
                                      </p:cBhvr>
                                      <p:tavLst>
                                        <p:tav tm="0">
                                          <p:val>
                                            <p:strVal val="#ppt_y"/>
                                          </p:val>
                                        </p:tav>
                                        <p:tav tm="100000">
                                          <p:val>
                                            <p:strVal val="#ppt_y"/>
                                          </p:val>
                                        </p:tav>
                                      </p:tavLst>
                                    </p:anim>
                                    <p:anim calcmode="lin" valueType="num">
                                      <p:cBhvr>
                                        <p:cTn id="30" dur="1000" fill="hold"/>
                                        <p:tgtEl>
                                          <p:spTgt spid="102"/>
                                        </p:tgtEl>
                                        <p:attrNameLst>
                                          <p:attrName>ppt_w</p:attrName>
                                        </p:attrNameLst>
                                      </p:cBhvr>
                                      <p:tavLst>
                                        <p:tav tm="0">
                                          <p:val>
                                            <p:fltVal val="0"/>
                                          </p:val>
                                        </p:tav>
                                        <p:tav tm="100000">
                                          <p:val>
                                            <p:strVal val="#ppt_w"/>
                                          </p:val>
                                        </p:tav>
                                      </p:tavLst>
                                    </p:anim>
                                    <p:anim calcmode="lin" valueType="num">
                                      <p:cBhvr>
                                        <p:cTn id="31" dur="1000" fill="hold"/>
                                        <p:tgtEl>
                                          <p:spTgt spid="102"/>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102"/>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17" presetClass="entr" presetSubtype="8" fill="hold" grpId="0" nodeType="clickEffect">
                                  <p:stCondLst>
                                    <p:cond delay="0"/>
                                  </p:stCondLst>
                                  <p:childTnLst>
                                    <p:set>
                                      <p:cBhvr>
                                        <p:cTn id="35" dur="1" fill="hold">
                                          <p:stCondLst>
                                            <p:cond delay="0"/>
                                          </p:stCondLst>
                                        </p:cTn>
                                        <p:tgtEl>
                                          <p:spTgt spid="103"/>
                                        </p:tgtEl>
                                        <p:attrNameLst>
                                          <p:attrName>style.visibility</p:attrName>
                                        </p:attrNameLst>
                                      </p:cBhvr>
                                      <p:to>
                                        <p:strVal val="visible"/>
                                      </p:to>
                                    </p:set>
                                    <p:anim calcmode="lin" valueType="num">
                                      <p:cBhvr>
                                        <p:cTn id="36" dur="1000" fill="hold"/>
                                        <p:tgtEl>
                                          <p:spTgt spid="103"/>
                                        </p:tgtEl>
                                        <p:attrNameLst>
                                          <p:attrName>ppt_x</p:attrName>
                                        </p:attrNameLst>
                                      </p:cBhvr>
                                      <p:tavLst>
                                        <p:tav tm="0">
                                          <p:val>
                                            <p:strVal val="#ppt_x-#ppt_w/2"/>
                                          </p:val>
                                        </p:tav>
                                        <p:tav tm="100000">
                                          <p:val>
                                            <p:strVal val="#ppt_x"/>
                                          </p:val>
                                        </p:tav>
                                      </p:tavLst>
                                    </p:anim>
                                    <p:anim calcmode="lin" valueType="num">
                                      <p:cBhvr>
                                        <p:cTn id="37" dur="1000" fill="hold"/>
                                        <p:tgtEl>
                                          <p:spTgt spid="103"/>
                                        </p:tgtEl>
                                        <p:attrNameLst>
                                          <p:attrName>ppt_y</p:attrName>
                                        </p:attrNameLst>
                                      </p:cBhvr>
                                      <p:tavLst>
                                        <p:tav tm="0">
                                          <p:val>
                                            <p:strVal val="#ppt_y"/>
                                          </p:val>
                                        </p:tav>
                                        <p:tav tm="100000">
                                          <p:val>
                                            <p:strVal val="#ppt_y"/>
                                          </p:val>
                                        </p:tav>
                                      </p:tavLst>
                                    </p:anim>
                                    <p:anim calcmode="lin" valueType="num">
                                      <p:cBhvr>
                                        <p:cTn id="38" dur="1000" fill="hold"/>
                                        <p:tgtEl>
                                          <p:spTgt spid="103"/>
                                        </p:tgtEl>
                                        <p:attrNameLst>
                                          <p:attrName>ppt_w</p:attrName>
                                        </p:attrNameLst>
                                      </p:cBhvr>
                                      <p:tavLst>
                                        <p:tav tm="0">
                                          <p:val>
                                            <p:fltVal val="0"/>
                                          </p:val>
                                        </p:tav>
                                        <p:tav tm="100000">
                                          <p:val>
                                            <p:strVal val="#ppt_w"/>
                                          </p:val>
                                        </p:tav>
                                      </p:tavLst>
                                    </p:anim>
                                    <p:anim calcmode="lin" valueType="num">
                                      <p:cBhvr>
                                        <p:cTn id="39" dur="1000" fill="hold"/>
                                        <p:tgtEl>
                                          <p:spTgt spid="103"/>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103"/>
                                        </p:tgtEl>
                                        <p:attrNameLst>
                                          <p:attrName>style.visibility</p:attrName>
                                        </p:attrNameLst>
                                      </p:cBhvr>
                                      <p:to>
                                        <p:strVal val="hidden"/>
                                      </p:to>
                                    </p:set>
                                  </p:subTnLst>
                                </p:cTn>
                              </p:par>
                            </p:childTnLst>
                          </p:cTn>
                        </p:par>
                      </p:childTnLst>
                    </p:cTn>
                  </p:par>
                  <p:par>
                    <p:cTn id="40" fill="hold">
                      <p:stCondLst>
                        <p:cond delay="indefinite"/>
                      </p:stCondLst>
                      <p:childTnLst>
                        <p:par>
                          <p:cTn id="41" fill="hold">
                            <p:stCondLst>
                              <p:cond delay="0"/>
                            </p:stCondLst>
                            <p:childTnLst>
                              <p:par>
                                <p:cTn id="42" presetID="42" presetClass="entr" presetSubtype="0" fill="hold" nodeType="clickEffect">
                                  <p:stCondLst>
                                    <p:cond delay="0"/>
                                  </p:stCondLst>
                                  <p:childTnLst>
                                    <p:set>
                                      <p:cBhvr>
                                        <p:cTn id="43" dur="1" fill="hold">
                                          <p:stCondLst>
                                            <p:cond delay="0"/>
                                          </p:stCondLst>
                                        </p:cTn>
                                        <p:tgtEl>
                                          <p:spTgt spid="3"/>
                                        </p:tgtEl>
                                        <p:attrNameLst>
                                          <p:attrName>style.visibility</p:attrName>
                                        </p:attrNameLst>
                                      </p:cBhvr>
                                      <p:to>
                                        <p:strVal val="visible"/>
                                      </p:to>
                                    </p:set>
                                    <p:animEffect transition="in" filter="fade">
                                      <p:cBhvr>
                                        <p:cTn id="44" dur="1000"/>
                                        <p:tgtEl>
                                          <p:spTgt spid="3"/>
                                        </p:tgtEl>
                                      </p:cBhvr>
                                    </p:animEffect>
                                    <p:anim calcmode="lin" valueType="num">
                                      <p:cBhvr>
                                        <p:cTn id="45" dur="1000" fill="hold"/>
                                        <p:tgtEl>
                                          <p:spTgt spid="3"/>
                                        </p:tgtEl>
                                        <p:attrNameLst>
                                          <p:attrName>ppt_x</p:attrName>
                                        </p:attrNameLst>
                                      </p:cBhvr>
                                      <p:tavLst>
                                        <p:tav tm="0">
                                          <p:val>
                                            <p:strVal val="#ppt_x"/>
                                          </p:val>
                                        </p:tav>
                                        <p:tav tm="100000">
                                          <p:val>
                                            <p:strVal val="#ppt_x"/>
                                          </p:val>
                                        </p:tav>
                                      </p:tavLst>
                                    </p:anim>
                                    <p:anim calcmode="lin" valueType="num">
                                      <p:cBhvr>
                                        <p:cTn id="46"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42" presetClass="entr" presetSubtype="0" fill="hold" nodeType="clickEffect">
                                  <p:stCondLst>
                                    <p:cond delay="0"/>
                                  </p:stCondLst>
                                  <p:childTnLst>
                                    <p:set>
                                      <p:cBhvr>
                                        <p:cTn id="50" dur="1" fill="hold">
                                          <p:stCondLst>
                                            <p:cond delay="0"/>
                                          </p:stCondLst>
                                        </p:cTn>
                                        <p:tgtEl>
                                          <p:spTgt spid="104"/>
                                        </p:tgtEl>
                                        <p:attrNameLst>
                                          <p:attrName>style.visibility</p:attrName>
                                        </p:attrNameLst>
                                      </p:cBhvr>
                                      <p:to>
                                        <p:strVal val="visible"/>
                                      </p:to>
                                    </p:set>
                                    <p:animEffect transition="in" filter="fade">
                                      <p:cBhvr>
                                        <p:cTn id="51" dur="1000"/>
                                        <p:tgtEl>
                                          <p:spTgt spid="104"/>
                                        </p:tgtEl>
                                      </p:cBhvr>
                                    </p:animEffect>
                                    <p:anim calcmode="lin" valueType="num">
                                      <p:cBhvr>
                                        <p:cTn id="52" dur="1000" fill="hold"/>
                                        <p:tgtEl>
                                          <p:spTgt spid="104"/>
                                        </p:tgtEl>
                                        <p:attrNameLst>
                                          <p:attrName>ppt_x</p:attrName>
                                        </p:attrNameLst>
                                      </p:cBhvr>
                                      <p:tavLst>
                                        <p:tav tm="0">
                                          <p:val>
                                            <p:strVal val="#ppt_x"/>
                                          </p:val>
                                        </p:tav>
                                        <p:tav tm="100000">
                                          <p:val>
                                            <p:strVal val="#ppt_x"/>
                                          </p:val>
                                        </p:tav>
                                      </p:tavLst>
                                    </p:anim>
                                    <p:anim calcmode="lin" valueType="num">
                                      <p:cBhvr>
                                        <p:cTn id="53" dur="1000" fill="hold"/>
                                        <p:tgtEl>
                                          <p:spTgt spid="104"/>
                                        </p:tgtEl>
                                        <p:attrNameLst>
                                          <p:attrName>ppt_y</p:attrName>
                                        </p:attrNameLst>
                                      </p:cBhvr>
                                      <p:tavLst>
                                        <p:tav tm="0">
                                          <p:val>
                                            <p:strVal val="#ppt_y+.1"/>
                                          </p:val>
                                        </p:tav>
                                        <p:tav tm="100000">
                                          <p:val>
                                            <p:strVal val="#ppt_y"/>
                                          </p:val>
                                        </p:tav>
                                      </p:tavLst>
                                    </p:anim>
                                  </p:childTnLst>
                                </p:cTn>
                              </p:par>
                            </p:childTnLst>
                          </p:cTn>
                        </p:par>
                        <p:par>
                          <p:cTn id="54" fill="hold">
                            <p:stCondLst>
                              <p:cond delay="1000"/>
                            </p:stCondLst>
                            <p:childTnLst>
                              <p:par>
                                <p:cTn id="55" presetID="42" presetClass="entr" presetSubtype="0" fill="hold" nodeType="afterEffect">
                                  <p:stCondLst>
                                    <p:cond delay="0"/>
                                  </p:stCondLst>
                                  <p:childTnLst>
                                    <p:set>
                                      <p:cBhvr>
                                        <p:cTn id="56" dur="1" fill="hold">
                                          <p:stCondLst>
                                            <p:cond delay="0"/>
                                          </p:stCondLst>
                                        </p:cTn>
                                        <p:tgtEl>
                                          <p:spTgt spid="37"/>
                                        </p:tgtEl>
                                        <p:attrNameLst>
                                          <p:attrName>style.visibility</p:attrName>
                                        </p:attrNameLst>
                                      </p:cBhvr>
                                      <p:to>
                                        <p:strVal val="visible"/>
                                      </p:to>
                                    </p:set>
                                    <p:animEffect transition="in" filter="fade">
                                      <p:cBhvr>
                                        <p:cTn id="57" dur="1000"/>
                                        <p:tgtEl>
                                          <p:spTgt spid="37"/>
                                        </p:tgtEl>
                                      </p:cBhvr>
                                    </p:animEffect>
                                    <p:anim calcmode="lin" valueType="num">
                                      <p:cBhvr>
                                        <p:cTn id="58" dur="1000" fill="hold"/>
                                        <p:tgtEl>
                                          <p:spTgt spid="37"/>
                                        </p:tgtEl>
                                        <p:attrNameLst>
                                          <p:attrName>ppt_x</p:attrName>
                                        </p:attrNameLst>
                                      </p:cBhvr>
                                      <p:tavLst>
                                        <p:tav tm="0">
                                          <p:val>
                                            <p:strVal val="#ppt_x"/>
                                          </p:val>
                                        </p:tav>
                                        <p:tav tm="100000">
                                          <p:val>
                                            <p:strVal val="#ppt_x"/>
                                          </p:val>
                                        </p:tav>
                                      </p:tavLst>
                                    </p:anim>
                                    <p:anim calcmode="lin" valueType="num">
                                      <p:cBhvr>
                                        <p:cTn id="59" dur="1000" fill="hold"/>
                                        <p:tgtEl>
                                          <p:spTgt spid="37"/>
                                        </p:tgtEl>
                                        <p:attrNameLst>
                                          <p:attrName>ppt_y</p:attrName>
                                        </p:attrNameLst>
                                      </p:cBhvr>
                                      <p:tavLst>
                                        <p:tav tm="0">
                                          <p:val>
                                            <p:strVal val="#ppt_y+.1"/>
                                          </p:val>
                                        </p:tav>
                                        <p:tav tm="100000">
                                          <p:val>
                                            <p:strVal val="#ppt_y"/>
                                          </p:val>
                                        </p:tav>
                                      </p:tavLst>
                                    </p:anim>
                                  </p:childTnLst>
                                </p:cTn>
                              </p:par>
                            </p:childTnLst>
                          </p:cTn>
                        </p:par>
                        <p:par>
                          <p:cTn id="60" fill="hold">
                            <p:stCondLst>
                              <p:cond delay="2000"/>
                            </p:stCondLst>
                            <p:childTnLst>
                              <p:par>
                                <p:cTn id="61" presetID="12" presetClass="entr" presetSubtype="4" fill="hold" nodeType="afterEffect">
                                  <p:stCondLst>
                                    <p:cond delay="0"/>
                                  </p:stCondLst>
                                  <p:childTnLst>
                                    <p:set>
                                      <p:cBhvr>
                                        <p:cTn id="62" dur="1" fill="hold">
                                          <p:stCondLst>
                                            <p:cond delay="0"/>
                                          </p:stCondLst>
                                        </p:cTn>
                                        <p:tgtEl>
                                          <p:spTgt spid="51"/>
                                        </p:tgtEl>
                                        <p:attrNameLst>
                                          <p:attrName>style.visibility</p:attrName>
                                        </p:attrNameLst>
                                      </p:cBhvr>
                                      <p:to>
                                        <p:strVal val="visible"/>
                                      </p:to>
                                    </p:set>
                                    <p:animEffect transition="in" filter="slide(fromBottom)">
                                      <p:cBhvr>
                                        <p:cTn id="63" dur="1000"/>
                                        <p:tgtEl>
                                          <p:spTgt spid="51"/>
                                        </p:tgtEl>
                                      </p:cBhvr>
                                    </p:animEffect>
                                  </p:childTnLst>
                                </p:cTn>
                              </p:par>
                            </p:childTnLst>
                          </p:cTn>
                        </p:par>
                      </p:childTnLst>
                    </p:cTn>
                  </p:par>
                  <p:par>
                    <p:cTn id="64" fill="hold">
                      <p:stCondLst>
                        <p:cond delay="indefinite"/>
                      </p:stCondLst>
                      <p:childTnLst>
                        <p:par>
                          <p:cTn id="65" fill="hold">
                            <p:stCondLst>
                              <p:cond delay="0"/>
                            </p:stCondLst>
                            <p:childTnLst>
                              <p:par>
                                <p:cTn id="66" presetID="12" presetClass="entr" presetSubtype="8" fill="hold" grpId="0" nodeType="clickEffect">
                                  <p:stCondLst>
                                    <p:cond delay="0"/>
                                  </p:stCondLst>
                                  <p:childTnLst>
                                    <p:set>
                                      <p:cBhvr>
                                        <p:cTn id="67" dur="1" fill="hold">
                                          <p:stCondLst>
                                            <p:cond delay="0"/>
                                          </p:stCondLst>
                                        </p:cTn>
                                        <p:tgtEl>
                                          <p:spTgt spid="96"/>
                                        </p:tgtEl>
                                        <p:attrNameLst>
                                          <p:attrName>style.visibility</p:attrName>
                                        </p:attrNameLst>
                                      </p:cBhvr>
                                      <p:to>
                                        <p:strVal val="visible"/>
                                      </p:to>
                                    </p:set>
                                    <p:anim calcmode="lin" valueType="num">
                                      <p:cBhvr additive="base">
                                        <p:cTn id="68" dur="1000"/>
                                        <p:tgtEl>
                                          <p:spTgt spid="96"/>
                                        </p:tgtEl>
                                        <p:attrNameLst>
                                          <p:attrName>ppt_x</p:attrName>
                                        </p:attrNameLst>
                                      </p:cBhvr>
                                      <p:tavLst>
                                        <p:tav tm="0">
                                          <p:val>
                                            <p:strVal val="#ppt_x-#ppt_w*1.125000"/>
                                          </p:val>
                                        </p:tav>
                                        <p:tav tm="100000">
                                          <p:val>
                                            <p:strVal val="#ppt_x"/>
                                          </p:val>
                                        </p:tav>
                                      </p:tavLst>
                                    </p:anim>
                                    <p:animEffect transition="in" filter="wipe(right)">
                                      <p:cBhvr>
                                        <p:cTn id="69" dur="1000"/>
                                        <p:tgtEl>
                                          <p:spTgt spid="96"/>
                                        </p:tgtEl>
                                      </p:cBhvr>
                                    </p:animEffect>
                                  </p:childTnLst>
                                </p:cTn>
                              </p:par>
                            </p:childTnLst>
                          </p:cTn>
                        </p:par>
                        <p:par>
                          <p:cTn id="70" fill="hold">
                            <p:stCondLst>
                              <p:cond delay="1000"/>
                            </p:stCondLst>
                            <p:childTnLst>
                              <p:par>
                                <p:cTn id="71" presetID="12" presetClass="entr" presetSubtype="8" fill="hold" grpId="0" nodeType="afterEffect">
                                  <p:stCondLst>
                                    <p:cond delay="0"/>
                                  </p:stCondLst>
                                  <p:childTnLst>
                                    <p:set>
                                      <p:cBhvr>
                                        <p:cTn id="72" dur="1" fill="hold">
                                          <p:stCondLst>
                                            <p:cond delay="0"/>
                                          </p:stCondLst>
                                        </p:cTn>
                                        <p:tgtEl>
                                          <p:spTgt spid="95"/>
                                        </p:tgtEl>
                                        <p:attrNameLst>
                                          <p:attrName>style.visibility</p:attrName>
                                        </p:attrNameLst>
                                      </p:cBhvr>
                                      <p:to>
                                        <p:strVal val="visible"/>
                                      </p:to>
                                    </p:set>
                                    <p:animEffect transition="in" filter="slide(fromLeft)">
                                      <p:cBhvr>
                                        <p:cTn id="73" dur="1000"/>
                                        <p:tgtEl>
                                          <p:spTgt spid="95"/>
                                        </p:tgtEl>
                                      </p:cBhvr>
                                    </p:animEffect>
                                  </p:childTnLst>
                                </p:cTn>
                              </p:par>
                            </p:childTnLst>
                          </p:cTn>
                        </p:par>
                        <p:par>
                          <p:cTn id="74" fill="hold">
                            <p:stCondLst>
                              <p:cond delay="2000"/>
                            </p:stCondLst>
                            <p:childTnLst>
                              <p:par>
                                <p:cTn id="75" presetID="12" presetClass="entr" presetSubtype="8" fill="hold" nodeType="afterEffect">
                                  <p:stCondLst>
                                    <p:cond delay="0"/>
                                  </p:stCondLst>
                                  <p:childTnLst>
                                    <p:set>
                                      <p:cBhvr>
                                        <p:cTn id="76" dur="1" fill="hold">
                                          <p:stCondLst>
                                            <p:cond delay="0"/>
                                          </p:stCondLst>
                                        </p:cTn>
                                        <p:tgtEl>
                                          <p:spTgt spid="97"/>
                                        </p:tgtEl>
                                        <p:attrNameLst>
                                          <p:attrName>style.visibility</p:attrName>
                                        </p:attrNameLst>
                                      </p:cBhvr>
                                      <p:to>
                                        <p:strVal val="visible"/>
                                      </p:to>
                                    </p:set>
                                    <p:animEffect transition="in" filter="slide(fromLeft)">
                                      <p:cBhvr>
                                        <p:cTn id="77" dur="1000"/>
                                        <p:tgtEl>
                                          <p:spTgt spid="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95" grpId="0" animBg="1"/>
      <p:bldP spid="96" grpId="0" animBg="1"/>
      <p:bldP spid="101" grpId="0" animBg="1"/>
      <p:bldP spid="102" grpId="0" animBg="1"/>
      <p:bldP spid="103" grpId="0" animBg="1"/>
    </p:bld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组合 32"/>
          <p:cNvGrpSpPr/>
          <p:nvPr/>
        </p:nvGrpSpPr>
        <p:grpSpPr>
          <a:xfrm>
            <a:off x="654162" y="1253447"/>
            <a:ext cx="5383472" cy="720800"/>
            <a:chOff x="524518" y="3525252"/>
            <a:chExt cx="5383472" cy="720800"/>
          </a:xfrm>
        </p:grpSpPr>
        <p:sp>
          <p:nvSpPr>
            <p:cNvPr id="34" name="圆角矩形 33"/>
            <p:cNvSpPr/>
            <p:nvPr/>
          </p:nvSpPr>
          <p:spPr>
            <a:xfrm>
              <a:off x="720389" y="3701655"/>
              <a:ext cx="5187601" cy="544397"/>
            </a:xfrm>
            <a:prstGeom prst="roundRect">
              <a:avLst>
                <a:gd name="adj" fmla="val 4386"/>
              </a:avLst>
            </a:prstGeom>
            <a:solidFill>
              <a:schemeClr val="bg1"/>
            </a:solidFill>
            <a:ln w="28575">
              <a:solidFill>
                <a:srgbClr val="336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705"/>
              <a:r>
                <a:rPr lang="zh-CN" altLang="zh-CN" dirty="0">
                  <a:solidFill>
                    <a:srgbClr val="6600FF"/>
                  </a:solidFill>
                  <a:latin typeface="黑体" panose="02010609060101010101" pitchFamily="49" charset="-122"/>
                  <a:ea typeface="黑体" panose="02010609060101010101" pitchFamily="49" charset="-122"/>
                </a:rPr>
                <a:t>要实现两个多位数的加法运算，如何处理呢？</a:t>
              </a:r>
              <a:endParaRPr lang="zh-CN" altLang="en-US" b="1" dirty="0">
                <a:solidFill>
                  <a:srgbClr val="6600FF"/>
                </a:solidFill>
                <a:latin typeface="黑体" panose="02010609060101010101" pitchFamily="49" charset="-122"/>
                <a:ea typeface="黑体" panose="02010609060101010101" pitchFamily="49" charset="-122"/>
              </a:endParaRPr>
            </a:p>
          </p:txBody>
        </p:sp>
        <p:pic>
          <p:nvPicPr>
            <p:cNvPr id="35" name="Picture 7" descr="ç¸å³å¾ç"/>
            <p:cNvPicPr>
              <a:picLocks noChangeAspect="1" noChangeArrowheads="1"/>
            </p:cNvPicPr>
            <p:nvPr/>
          </p:nvPicPr>
          <p:blipFill>
            <a:blip r:embed="rId1" cstate="print"/>
            <a:srcRect/>
            <a:stretch>
              <a:fillRect/>
            </a:stretch>
          </p:blipFill>
          <p:spPr bwMode="auto">
            <a:xfrm>
              <a:off x="524518" y="3525252"/>
              <a:ext cx="464550" cy="441158"/>
            </a:xfrm>
            <a:prstGeom prst="rect">
              <a:avLst/>
            </a:prstGeom>
            <a:noFill/>
          </p:spPr>
        </p:pic>
      </p:grpSp>
      <p:sp>
        <p:nvSpPr>
          <p:cNvPr id="41" name="下箭头 40"/>
          <p:cNvSpPr/>
          <p:nvPr/>
        </p:nvSpPr>
        <p:spPr>
          <a:xfrm rot="16200000">
            <a:off x="3531459" y="2814177"/>
            <a:ext cx="369736" cy="5570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圆角矩形 41"/>
          <p:cNvSpPr/>
          <p:nvPr/>
        </p:nvSpPr>
        <p:spPr>
          <a:xfrm>
            <a:off x="4063103" y="2553643"/>
            <a:ext cx="2493340" cy="107807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全加器</a:t>
            </a:r>
            <a:endParaRPr lang="en-US" altLang="zh-CN" dirty="0">
              <a:solidFill>
                <a:schemeClr val="bg1"/>
              </a:solidFill>
              <a:latin typeface="Times New Roman" panose="02020603050405020304" pitchFamily="18" charset="0"/>
              <a:ea typeface="黑体" panose="02010609060101010101" pitchFamily="49" charset="-122"/>
              <a:cs typeface="Times New Roman" panose="02020603050405020304" pitchFamily="18" charset="0"/>
            </a:endParaRPr>
          </a:p>
          <a:p>
            <a:pPr algn="ctr">
              <a:spcBef>
                <a:spcPts val="1200"/>
              </a:spcBef>
            </a:pPr>
            <a:r>
              <a:rPr lang="zh-CN" altLang="en-US"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实现三个</a:t>
            </a:r>
            <a:r>
              <a:rPr lang="en-US" altLang="zh-CN"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1</a:t>
            </a:r>
            <a:r>
              <a:rPr lang="zh-CN" altLang="en-US" dirty="0">
                <a:solidFill>
                  <a:schemeClr val="bg1"/>
                </a:solidFill>
                <a:latin typeface="Times New Roman" panose="02020603050405020304" pitchFamily="18" charset="0"/>
                <a:ea typeface="黑体" panose="02010609060101010101" pitchFamily="49" charset="-122"/>
                <a:cs typeface="Times New Roman" panose="02020603050405020304" pitchFamily="18" charset="0"/>
              </a:rPr>
              <a:t>位二进制数的加法</a:t>
            </a:r>
            <a:endParaRPr lang="zh-CN" altLang="en-US" dirty="0">
              <a:solidFill>
                <a:schemeClr val="bg1"/>
              </a:solidFill>
            </a:endParaRPr>
          </a:p>
        </p:txBody>
      </p:sp>
      <p:grpSp>
        <p:nvGrpSpPr>
          <p:cNvPr id="58" name="组合 17"/>
          <p:cNvGrpSpPr/>
          <p:nvPr/>
        </p:nvGrpSpPr>
        <p:grpSpPr>
          <a:xfrm>
            <a:off x="249762" y="685441"/>
            <a:ext cx="3379468" cy="420971"/>
            <a:chOff x="670560" y="892917"/>
            <a:chExt cx="3379468" cy="420971"/>
          </a:xfrm>
        </p:grpSpPr>
        <p:sp>
          <p:nvSpPr>
            <p:cNvPr id="59" name="矩形 58"/>
            <p:cNvSpPr/>
            <p:nvPr/>
          </p:nvSpPr>
          <p:spPr>
            <a:xfrm>
              <a:off x="1035233" y="913778"/>
              <a:ext cx="3014795"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半加器和全加器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60" name="Picture 3"/>
            <p:cNvPicPr>
              <a:picLocks noChangeAspect="1" noChangeArrowheads="1"/>
            </p:cNvPicPr>
            <p:nvPr/>
          </p:nvPicPr>
          <p:blipFill>
            <a:blip r:embed="rId2" cstate="print"/>
            <a:srcRect/>
            <a:stretch>
              <a:fillRect/>
            </a:stretch>
          </p:blipFill>
          <p:spPr bwMode="auto">
            <a:xfrm flipH="1">
              <a:off x="670560" y="892917"/>
              <a:ext cx="342900" cy="411055"/>
            </a:xfrm>
            <a:prstGeom prst="rect">
              <a:avLst/>
            </a:prstGeom>
            <a:noFill/>
            <a:ln w="9525">
              <a:noFill/>
              <a:miter lim="800000"/>
              <a:headEnd/>
              <a:tailEnd/>
            </a:ln>
          </p:spPr>
        </p:pic>
      </p:grpSp>
      <p:grpSp>
        <p:nvGrpSpPr>
          <p:cNvPr id="61" name="组合 60"/>
          <p:cNvGrpSpPr/>
          <p:nvPr/>
        </p:nvGrpSpPr>
        <p:grpSpPr>
          <a:xfrm>
            <a:off x="1265568" y="2307439"/>
            <a:ext cx="2026919" cy="1583678"/>
            <a:chOff x="4206240" y="3528060"/>
            <a:chExt cx="2026919" cy="1562100"/>
          </a:xfrm>
        </p:grpSpPr>
        <p:grpSp>
          <p:nvGrpSpPr>
            <p:cNvPr id="62" name="组合 89"/>
            <p:cNvGrpSpPr/>
            <p:nvPr/>
          </p:nvGrpSpPr>
          <p:grpSpPr>
            <a:xfrm>
              <a:off x="4206240" y="3528060"/>
              <a:ext cx="2026919" cy="1562100"/>
              <a:chOff x="5041200" y="3532289"/>
              <a:chExt cx="2026919" cy="1459837"/>
            </a:xfrm>
          </p:grpSpPr>
          <p:sp>
            <p:nvSpPr>
              <p:cNvPr id="64" name="AutoShape 23"/>
              <p:cNvSpPr>
                <a:spLocks noChangeArrowheads="1"/>
              </p:cNvSpPr>
              <p:nvPr/>
            </p:nvSpPr>
            <p:spPr bwMode="auto">
              <a:xfrm>
                <a:off x="5041200" y="3532289"/>
                <a:ext cx="2026919" cy="1459837"/>
              </a:xfrm>
              <a:prstGeom prst="roundRect">
                <a:avLst>
                  <a:gd name="adj" fmla="val 11150"/>
                </a:avLst>
              </a:prstGeom>
              <a:solidFill>
                <a:schemeClr val="bg1"/>
              </a:solidFill>
              <a:ln w="19050">
                <a:solidFill>
                  <a:srgbClr val="6600FF"/>
                </a:solidFill>
                <a:miter lim="800000"/>
              </a:ln>
            </p:spPr>
            <p:txBody>
              <a:bodyPr/>
              <a:lstStyle/>
              <a:p>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65" name="TextBox 128"/>
              <p:cNvSpPr txBox="1"/>
              <p:nvPr/>
            </p:nvSpPr>
            <p:spPr>
              <a:xfrm>
                <a:off x="5167172" y="3627122"/>
                <a:ext cx="1731628" cy="938719"/>
              </a:xfrm>
              <a:prstGeom prst="rect">
                <a:avLst/>
              </a:prstGeom>
              <a:solidFill>
                <a:schemeClr val="bg1"/>
              </a:solidFill>
            </p:spPr>
            <p:txBody>
              <a:bodyPr wrap="none" rtlCol="0">
                <a:spAutoFit/>
              </a:bodyPr>
              <a:lstStyle/>
              <a:p>
                <a:pPr algn="r">
                  <a:lnSpc>
                    <a:spcPts val="2200"/>
                  </a:lnSpc>
                </a:pPr>
                <a:r>
                  <a:rPr lang="en-US" altLang="zh-CN" sz="1600" b="1" i="1" dirty="0">
                    <a:latin typeface="Times New Roman" panose="02020603050405020304" pitchFamily="18" charset="0"/>
                    <a:cs typeface="Times New Roman" panose="02020603050405020304" pitchFamily="18" charset="0"/>
                  </a:rPr>
                  <a:t>A</a:t>
                </a:r>
                <a:r>
                  <a:rPr lang="en-US" altLang="zh-CN" sz="1600" b="1" baseline="-25000" dirty="0">
                    <a:latin typeface="Times New Roman" panose="02020603050405020304" pitchFamily="18" charset="0"/>
                    <a:cs typeface="Times New Roman" panose="02020603050405020304" pitchFamily="18" charset="0"/>
                  </a:rPr>
                  <a:t>3    </a:t>
                </a:r>
                <a:r>
                  <a:rPr lang="en-US" altLang="zh-CN" sz="1600" b="1" i="1" dirty="0">
                    <a:latin typeface="Times New Roman" panose="02020603050405020304" pitchFamily="18" charset="0"/>
                    <a:cs typeface="Times New Roman" panose="02020603050405020304" pitchFamily="18" charset="0"/>
                  </a:rPr>
                  <a:t>A</a:t>
                </a:r>
                <a:r>
                  <a:rPr lang="en-US" altLang="zh-CN" sz="1600" b="1" baseline="-25000" dirty="0">
                    <a:latin typeface="Times New Roman" panose="02020603050405020304" pitchFamily="18" charset="0"/>
                    <a:cs typeface="Times New Roman" panose="02020603050405020304" pitchFamily="18" charset="0"/>
                  </a:rPr>
                  <a:t>2</a:t>
                </a:r>
                <a:r>
                  <a:rPr lang="en-US" altLang="zh-CN" sz="1600" b="1" dirty="0">
                    <a:latin typeface="Times New Roman" panose="02020603050405020304" pitchFamily="18" charset="0"/>
                    <a:cs typeface="Times New Roman" panose="02020603050405020304" pitchFamily="18" charset="0"/>
                  </a:rPr>
                  <a:t>   </a:t>
                </a:r>
                <a:r>
                  <a:rPr lang="en-US" altLang="zh-CN" sz="1600" b="1" i="1" dirty="0">
                    <a:latin typeface="Times New Roman" panose="02020603050405020304" pitchFamily="18" charset="0"/>
                    <a:cs typeface="Times New Roman" panose="02020603050405020304" pitchFamily="18" charset="0"/>
                  </a:rPr>
                  <a:t>A</a:t>
                </a:r>
                <a:r>
                  <a:rPr lang="en-US" altLang="zh-CN" sz="1600" b="1" baseline="-25000" dirty="0">
                    <a:latin typeface="Times New Roman" panose="02020603050405020304" pitchFamily="18" charset="0"/>
                    <a:cs typeface="Times New Roman" panose="02020603050405020304" pitchFamily="18" charset="0"/>
                  </a:rPr>
                  <a:t>1</a:t>
                </a:r>
                <a:r>
                  <a:rPr lang="en-US" altLang="zh-CN" sz="1600" b="1" dirty="0">
                    <a:latin typeface="Times New Roman" panose="02020603050405020304" pitchFamily="18" charset="0"/>
                    <a:cs typeface="Times New Roman" panose="02020603050405020304" pitchFamily="18" charset="0"/>
                  </a:rPr>
                  <a:t>   </a:t>
                </a:r>
                <a:r>
                  <a:rPr lang="en-US" altLang="zh-CN" sz="1600" b="1" i="1" dirty="0">
                    <a:latin typeface="Times New Roman" panose="02020603050405020304" pitchFamily="18" charset="0"/>
                    <a:cs typeface="Times New Roman" panose="02020603050405020304" pitchFamily="18" charset="0"/>
                  </a:rPr>
                  <a:t>A</a:t>
                </a:r>
                <a:r>
                  <a:rPr lang="en-US" altLang="zh-CN" sz="1600" b="1" baseline="-25000" dirty="0">
                    <a:latin typeface="Times New Roman" panose="02020603050405020304" pitchFamily="18" charset="0"/>
                    <a:cs typeface="Times New Roman" panose="02020603050405020304" pitchFamily="18" charset="0"/>
                  </a:rPr>
                  <a:t>0</a:t>
                </a:r>
                <a:endParaRPr lang="en-US" altLang="zh-CN" sz="1600" b="1" baseline="-25000" dirty="0">
                  <a:latin typeface="Times New Roman" panose="02020603050405020304" pitchFamily="18" charset="0"/>
                  <a:cs typeface="Times New Roman" panose="02020603050405020304" pitchFamily="18" charset="0"/>
                </a:endParaRPr>
              </a:p>
              <a:p>
                <a:pPr algn="r">
                  <a:lnSpc>
                    <a:spcPts val="2200"/>
                  </a:lnSpc>
                </a:pPr>
                <a:r>
                  <a:rPr lang="en-US" altLang="zh-CN" sz="1600" b="1" dirty="0">
                    <a:latin typeface="Times New Roman" panose="02020603050405020304" pitchFamily="18" charset="0"/>
                    <a:cs typeface="Times New Roman" panose="02020603050405020304" pitchFamily="18" charset="0"/>
                  </a:rPr>
                  <a:t>+    </a:t>
                </a:r>
                <a:r>
                  <a:rPr lang="en-US" altLang="zh-CN" sz="1600" b="1" i="1" dirty="0">
                    <a:latin typeface="Times New Roman" panose="02020603050405020304" pitchFamily="18" charset="0"/>
                    <a:cs typeface="Times New Roman" panose="02020603050405020304" pitchFamily="18" charset="0"/>
                  </a:rPr>
                  <a:t>B</a:t>
                </a:r>
                <a:r>
                  <a:rPr lang="en-US" altLang="zh-CN" sz="1600" b="1" baseline="-25000" dirty="0">
                    <a:latin typeface="Times New Roman" panose="02020603050405020304" pitchFamily="18" charset="0"/>
                    <a:cs typeface="Times New Roman" panose="02020603050405020304" pitchFamily="18" charset="0"/>
                  </a:rPr>
                  <a:t>3    </a:t>
                </a:r>
                <a:r>
                  <a:rPr lang="en-US" altLang="zh-CN" sz="1600" b="1" i="1" dirty="0">
                    <a:latin typeface="Times New Roman" panose="02020603050405020304" pitchFamily="18" charset="0"/>
                    <a:cs typeface="Times New Roman" panose="02020603050405020304" pitchFamily="18" charset="0"/>
                  </a:rPr>
                  <a:t>B</a:t>
                </a:r>
                <a:r>
                  <a:rPr lang="en-US" altLang="zh-CN" sz="1600" b="1" baseline="-25000" dirty="0">
                    <a:latin typeface="Times New Roman" panose="02020603050405020304" pitchFamily="18" charset="0"/>
                    <a:cs typeface="Times New Roman" panose="02020603050405020304" pitchFamily="18" charset="0"/>
                  </a:rPr>
                  <a:t>2    </a:t>
                </a:r>
                <a:r>
                  <a:rPr lang="en-US" altLang="zh-CN" sz="1600" b="1" i="1" dirty="0">
                    <a:latin typeface="Times New Roman" panose="02020603050405020304" pitchFamily="18" charset="0"/>
                    <a:cs typeface="Times New Roman" panose="02020603050405020304" pitchFamily="18" charset="0"/>
                  </a:rPr>
                  <a:t>B</a:t>
                </a:r>
                <a:r>
                  <a:rPr lang="en-US" altLang="zh-CN" sz="1600" b="1" baseline="-25000" dirty="0">
                    <a:latin typeface="Times New Roman" panose="02020603050405020304" pitchFamily="18" charset="0"/>
                    <a:cs typeface="Times New Roman" panose="02020603050405020304" pitchFamily="18" charset="0"/>
                  </a:rPr>
                  <a:t>1    </a:t>
                </a:r>
                <a:r>
                  <a:rPr lang="en-US" altLang="zh-CN" sz="1600" b="1" i="1" dirty="0">
                    <a:latin typeface="Times New Roman" panose="02020603050405020304" pitchFamily="18" charset="0"/>
                    <a:cs typeface="Times New Roman" panose="02020603050405020304" pitchFamily="18" charset="0"/>
                  </a:rPr>
                  <a:t>B</a:t>
                </a:r>
                <a:r>
                  <a:rPr lang="en-US" altLang="zh-CN" sz="1600" b="1" baseline="-25000" dirty="0">
                    <a:latin typeface="Times New Roman" panose="02020603050405020304" pitchFamily="18" charset="0"/>
                    <a:cs typeface="Times New Roman" panose="02020603050405020304" pitchFamily="18" charset="0"/>
                  </a:rPr>
                  <a:t>0</a:t>
                </a:r>
                <a:endParaRPr lang="en-US" altLang="zh-CN" sz="1600" b="1" baseline="-25000" dirty="0">
                  <a:latin typeface="Times New Roman" panose="02020603050405020304" pitchFamily="18" charset="0"/>
                  <a:cs typeface="Times New Roman" panose="02020603050405020304" pitchFamily="18" charset="0"/>
                </a:endParaRPr>
              </a:p>
              <a:p>
                <a:pPr algn="r">
                  <a:lnSpc>
                    <a:spcPts val="2200"/>
                  </a:lnSpc>
                </a:pPr>
                <a:endParaRPr lang="en-US" altLang="zh-CN" sz="1600" b="1" i="1" dirty="0">
                  <a:latin typeface="Times New Roman" panose="02020603050405020304" pitchFamily="18" charset="0"/>
                  <a:cs typeface="Times New Roman" panose="02020603050405020304" pitchFamily="18" charset="0"/>
                </a:endParaRPr>
              </a:p>
            </p:txBody>
          </p:sp>
        </p:grpSp>
        <p:cxnSp>
          <p:nvCxnSpPr>
            <p:cNvPr id="63" name="直接连接符 62"/>
            <p:cNvCxnSpPr/>
            <p:nvPr/>
          </p:nvCxnSpPr>
          <p:spPr>
            <a:xfrm>
              <a:off x="4356113" y="4545518"/>
              <a:ext cx="1800000" cy="0"/>
            </a:xfrm>
            <a:prstGeom prst="line">
              <a:avLst/>
            </a:prstGeom>
            <a:solidFill>
              <a:schemeClr val="accent4">
                <a:lumMod val="40000"/>
                <a:lumOff val="60000"/>
              </a:schemeClr>
            </a:solidFill>
            <a:ln w="57150"/>
          </p:spPr>
          <p:style>
            <a:lnRef idx="1">
              <a:schemeClr val="accent1"/>
            </a:lnRef>
            <a:fillRef idx="0">
              <a:schemeClr val="accent1"/>
            </a:fillRef>
            <a:effectRef idx="0">
              <a:schemeClr val="accent1"/>
            </a:effectRef>
            <a:fontRef idx="minor">
              <a:schemeClr val="tx1"/>
            </a:fontRef>
          </p:style>
        </p:cxnSp>
      </p:grpSp>
      <p:cxnSp>
        <p:nvCxnSpPr>
          <p:cNvPr id="36" name="直接连接符 35"/>
          <p:cNvCxnSpPr/>
          <p:nvPr/>
        </p:nvCxnSpPr>
        <p:spPr>
          <a:xfrm rot="10800000">
            <a:off x="1728351" y="2407413"/>
            <a:ext cx="1284646" cy="1588"/>
          </a:xfrm>
          <a:prstGeom prst="line">
            <a:avLst/>
          </a:prstGeom>
          <a:ln w="57150">
            <a:solidFill>
              <a:srgbClr val="FF00FF"/>
            </a:solidFill>
            <a:headEnd type="none" w="med" len="med"/>
            <a:tailEnd type="stealth" w="med" len="med"/>
          </a:ln>
        </p:spPr>
        <p:style>
          <a:lnRef idx="1">
            <a:schemeClr val="accent1"/>
          </a:lnRef>
          <a:fillRef idx="0">
            <a:schemeClr val="accent1"/>
          </a:fillRef>
          <a:effectRef idx="0">
            <a:schemeClr val="accent1"/>
          </a:effectRef>
          <a:fontRef idx="minor">
            <a:schemeClr val="tx1"/>
          </a:fontRef>
        </p:style>
      </p:cxnSp>
      <p:cxnSp>
        <p:nvCxnSpPr>
          <p:cNvPr id="37" name="直接箭头连接符 36"/>
          <p:cNvCxnSpPr/>
          <p:nvPr/>
        </p:nvCxnSpPr>
        <p:spPr>
          <a:xfrm>
            <a:off x="2923010" y="3066833"/>
            <a:ext cx="0" cy="3600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8" name="直接箭头连接符 37"/>
          <p:cNvCxnSpPr/>
          <p:nvPr/>
        </p:nvCxnSpPr>
        <p:spPr>
          <a:xfrm flipH="1" flipV="1">
            <a:off x="2680826" y="3277547"/>
            <a:ext cx="163002" cy="170953"/>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9" name="直接箭头连接符 38"/>
          <p:cNvCxnSpPr/>
          <p:nvPr/>
        </p:nvCxnSpPr>
        <p:spPr>
          <a:xfrm>
            <a:off x="2586463" y="3231194"/>
            <a:ext cx="0" cy="19117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flipH="1" flipV="1">
            <a:off x="2344279" y="3273083"/>
            <a:ext cx="163002" cy="170953"/>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47" name="圆角矩形 46"/>
          <p:cNvSpPr/>
          <p:nvPr/>
        </p:nvSpPr>
        <p:spPr>
          <a:xfrm>
            <a:off x="2487189" y="3015194"/>
            <a:ext cx="235663" cy="216000"/>
          </a:xfrm>
          <a:prstGeom prst="roundRect">
            <a:avLst/>
          </a:prstGeom>
          <a:solidFill>
            <a:schemeClr val="bg1">
              <a:alpha val="4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baseline="-25000" dirty="0">
                <a:solidFill>
                  <a:schemeClr val="tx1"/>
                </a:solidFill>
                <a:latin typeface="Times New Roman" panose="02020603050405020304" pitchFamily="18" charset="0"/>
                <a:cs typeface="Times New Roman" panose="02020603050405020304" pitchFamily="18" charset="0"/>
              </a:rPr>
              <a:t>0</a:t>
            </a:r>
            <a:endParaRPr lang="zh-CN" altLang="en-US" sz="1600" dirty="0">
              <a:solidFill>
                <a:schemeClr val="tx1"/>
              </a:solidFill>
            </a:endParaRPr>
          </a:p>
        </p:txBody>
      </p:sp>
      <p:sp>
        <p:nvSpPr>
          <p:cNvPr id="48" name="圆角矩形 47"/>
          <p:cNvSpPr/>
          <p:nvPr/>
        </p:nvSpPr>
        <p:spPr>
          <a:xfrm>
            <a:off x="2834541" y="3451156"/>
            <a:ext cx="246977" cy="29684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i="1" dirty="0">
                <a:solidFill>
                  <a:schemeClr val="tx1"/>
                </a:solidFill>
                <a:latin typeface="Times New Roman" panose="02020603050405020304" pitchFamily="18" charset="0"/>
                <a:cs typeface="Times New Roman" panose="02020603050405020304" pitchFamily="18" charset="0"/>
              </a:rPr>
              <a:t>S</a:t>
            </a:r>
            <a:r>
              <a:rPr lang="en-US" altLang="zh-CN" sz="1600" b="1" baseline="-25000" dirty="0">
                <a:solidFill>
                  <a:schemeClr val="tx1"/>
                </a:solidFill>
                <a:latin typeface="Times New Roman" panose="02020603050405020304" pitchFamily="18" charset="0"/>
                <a:cs typeface="Times New Roman" panose="02020603050405020304" pitchFamily="18" charset="0"/>
              </a:rPr>
              <a:t>0</a:t>
            </a:r>
            <a:endParaRPr lang="zh-CN" altLang="en-US" sz="1600" dirty="0">
              <a:solidFill>
                <a:schemeClr val="tx1"/>
              </a:solidFill>
            </a:endParaRPr>
          </a:p>
        </p:txBody>
      </p:sp>
      <p:sp>
        <p:nvSpPr>
          <p:cNvPr id="49" name="圆角矩形 48"/>
          <p:cNvSpPr/>
          <p:nvPr/>
        </p:nvSpPr>
        <p:spPr>
          <a:xfrm>
            <a:off x="2159909" y="3010199"/>
            <a:ext cx="235663" cy="216000"/>
          </a:xfrm>
          <a:prstGeom prst="roundRect">
            <a:avLst/>
          </a:prstGeom>
          <a:solidFill>
            <a:schemeClr val="bg1">
              <a:alpha val="4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baseline="-25000" dirty="0">
                <a:solidFill>
                  <a:schemeClr val="tx1"/>
                </a:solidFill>
                <a:latin typeface="Times New Roman" panose="02020603050405020304" pitchFamily="18" charset="0"/>
                <a:cs typeface="Times New Roman" panose="02020603050405020304" pitchFamily="18" charset="0"/>
              </a:rPr>
              <a:t>1</a:t>
            </a:r>
            <a:endParaRPr lang="zh-CN" altLang="en-US" sz="1600" dirty="0">
              <a:solidFill>
                <a:schemeClr val="tx1"/>
              </a:solidFill>
            </a:endParaRPr>
          </a:p>
        </p:txBody>
      </p:sp>
      <p:sp>
        <p:nvSpPr>
          <p:cNvPr id="50" name="圆角矩形 49"/>
          <p:cNvSpPr/>
          <p:nvPr/>
        </p:nvSpPr>
        <p:spPr>
          <a:xfrm>
            <a:off x="2507261" y="3446161"/>
            <a:ext cx="246977" cy="29684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i="1" dirty="0">
                <a:solidFill>
                  <a:schemeClr val="tx1"/>
                </a:solidFill>
                <a:latin typeface="Times New Roman" panose="02020603050405020304" pitchFamily="18" charset="0"/>
                <a:cs typeface="Times New Roman" panose="02020603050405020304" pitchFamily="18" charset="0"/>
              </a:rPr>
              <a:t>S</a:t>
            </a:r>
            <a:r>
              <a:rPr lang="en-US" altLang="zh-CN" sz="1600" b="1" baseline="-25000" dirty="0">
                <a:solidFill>
                  <a:schemeClr val="tx1"/>
                </a:solidFill>
                <a:latin typeface="Times New Roman" panose="02020603050405020304" pitchFamily="18" charset="0"/>
                <a:cs typeface="Times New Roman" panose="02020603050405020304" pitchFamily="18" charset="0"/>
              </a:rPr>
              <a:t>1</a:t>
            </a:r>
            <a:endParaRPr lang="zh-CN" altLang="en-US" sz="1600" dirty="0">
              <a:solidFill>
                <a:schemeClr val="tx1"/>
              </a:solidFill>
            </a:endParaRPr>
          </a:p>
        </p:txBody>
      </p:sp>
      <p:grpSp>
        <p:nvGrpSpPr>
          <p:cNvPr id="3" name="组合 2"/>
          <p:cNvGrpSpPr/>
          <p:nvPr/>
        </p:nvGrpSpPr>
        <p:grpSpPr>
          <a:xfrm>
            <a:off x="1507838" y="2995209"/>
            <a:ext cx="916617" cy="740306"/>
            <a:chOff x="1507838" y="2995209"/>
            <a:chExt cx="916617" cy="740306"/>
          </a:xfrm>
        </p:grpSpPr>
        <p:cxnSp>
          <p:nvCxnSpPr>
            <p:cNvPr id="43" name="直接箭头连接符 42"/>
            <p:cNvCxnSpPr/>
            <p:nvPr/>
          </p:nvCxnSpPr>
          <p:spPr>
            <a:xfrm>
              <a:off x="2244189" y="3241189"/>
              <a:ext cx="0" cy="19117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4" name="直接箭头连接符 43"/>
            <p:cNvCxnSpPr/>
            <p:nvPr/>
          </p:nvCxnSpPr>
          <p:spPr>
            <a:xfrm flipH="1" flipV="1">
              <a:off x="2002005" y="3283078"/>
              <a:ext cx="163002" cy="170953"/>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5" name="直接箭头连接符 44"/>
            <p:cNvCxnSpPr/>
            <p:nvPr/>
          </p:nvCxnSpPr>
          <p:spPr>
            <a:xfrm>
              <a:off x="1921902" y="3241189"/>
              <a:ext cx="0" cy="191175"/>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flipH="1" flipV="1">
              <a:off x="1679718" y="3283078"/>
              <a:ext cx="163002" cy="170953"/>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51" name="圆角矩形 50"/>
            <p:cNvSpPr/>
            <p:nvPr/>
          </p:nvSpPr>
          <p:spPr>
            <a:xfrm>
              <a:off x="1830126" y="3002704"/>
              <a:ext cx="235663" cy="216000"/>
            </a:xfrm>
            <a:prstGeom prst="roundRect">
              <a:avLst/>
            </a:prstGeom>
            <a:solidFill>
              <a:schemeClr val="bg1">
                <a:alpha val="4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baseline="-25000" dirty="0">
                  <a:solidFill>
                    <a:schemeClr val="tx1"/>
                  </a:solidFill>
                  <a:latin typeface="Times New Roman" panose="02020603050405020304" pitchFamily="18" charset="0"/>
                  <a:cs typeface="Times New Roman" panose="02020603050405020304" pitchFamily="18" charset="0"/>
                </a:rPr>
                <a:t>2</a:t>
              </a:r>
              <a:endParaRPr lang="zh-CN" altLang="en-US" sz="1600" dirty="0">
                <a:solidFill>
                  <a:schemeClr val="tx1"/>
                </a:solidFill>
              </a:endParaRPr>
            </a:p>
          </p:txBody>
        </p:sp>
        <p:sp>
          <p:nvSpPr>
            <p:cNvPr id="52" name="圆角矩形 51"/>
            <p:cNvSpPr/>
            <p:nvPr/>
          </p:nvSpPr>
          <p:spPr>
            <a:xfrm>
              <a:off x="2177478" y="3438666"/>
              <a:ext cx="246977" cy="29684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i="1" dirty="0">
                  <a:solidFill>
                    <a:schemeClr val="tx1"/>
                  </a:solidFill>
                  <a:latin typeface="Times New Roman" panose="02020603050405020304" pitchFamily="18" charset="0"/>
                  <a:cs typeface="Times New Roman" panose="02020603050405020304" pitchFamily="18" charset="0"/>
                </a:rPr>
                <a:t>S</a:t>
              </a:r>
              <a:r>
                <a:rPr lang="en-US" altLang="zh-CN" sz="1600" b="1" baseline="-25000" dirty="0">
                  <a:solidFill>
                    <a:schemeClr val="tx1"/>
                  </a:solidFill>
                  <a:latin typeface="Times New Roman" panose="02020603050405020304" pitchFamily="18" charset="0"/>
                  <a:cs typeface="Times New Roman" panose="02020603050405020304" pitchFamily="18" charset="0"/>
                </a:rPr>
                <a:t>2</a:t>
              </a:r>
              <a:endParaRPr lang="zh-CN" altLang="en-US" sz="1600" dirty="0">
                <a:solidFill>
                  <a:schemeClr val="tx1"/>
                </a:solidFill>
              </a:endParaRPr>
            </a:p>
          </p:txBody>
        </p:sp>
        <p:sp>
          <p:nvSpPr>
            <p:cNvPr id="53" name="圆角矩形 52"/>
            <p:cNvSpPr/>
            <p:nvPr/>
          </p:nvSpPr>
          <p:spPr>
            <a:xfrm>
              <a:off x="1507838" y="2995209"/>
              <a:ext cx="235663" cy="216000"/>
            </a:xfrm>
            <a:prstGeom prst="roundRect">
              <a:avLst/>
            </a:prstGeom>
            <a:solidFill>
              <a:schemeClr val="bg1">
                <a:alpha val="4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baseline="-25000" dirty="0">
                  <a:solidFill>
                    <a:schemeClr val="tx1"/>
                  </a:solidFill>
                  <a:latin typeface="Times New Roman" panose="02020603050405020304" pitchFamily="18" charset="0"/>
                  <a:cs typeface="Times New Roman" panose="02020603050405020304" pitchFamily="18" charset="0"/>
                </a:rPr>
                <a:t>3</a:t>
              </a:r>
              <a:endParaRPr lang="zh-CN" altLang="en-US" sz="1600" dirty="0">
                <a:solidFill>
                  <a:schemeClr val="tx1"/>
                </a:solidFill>
              </a:endParaRPr>
            </a:p>
          </p:txBody>
        </p:sp>
        <p:sp>
          <p:nvSpPr>
            <p:cNvPr id="54" name="圆角矩形 53"/>
            <p:cNvSpPr/>
            <p:nvPr/>
          </p:nvSpPr>
          <p:spPr>
            <a:xfrm>
              <a:off x="1855190" y="3431171"/>
              <a:ext cx="246977" cy="29684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i="1" dirty="0">
                  <a:solidFill>
                    <a:schemeClr val="tx1"/>
                  </a:solidFill>
                  <a:latin typeface="Times New Roman" panose="02020603050405020304" pitchFamily="18" charset="0"/>
                  <a:cs typeface="Times New Roman" panose="02020603050405020304" pitchFamily="18" charset="0"/>
                </a:rPr>
                <a:t>S</a:t>
              </a:r>
              <a:r>
                <a:rPr lang="en-US" altLang="zh-CN" sz="1600" b="1" baseline="-25000" dirty="0">
                  <a:solidFill>
                    <a:schemeClr val="tx1"/>
                  </a:solidFill>
                  <a:latin typeface="Times New Roman" panose="02020603050405020304" pitchFamily="18" charset="0"/>
                  <a:cs typeface="Times New Roman" panose="02020603050405020304" pitchFamily="18" charset="0"/>
                </a:rPr>
                <a:t>3</a:t>
              </a:r>
              <a:endParaRPr lang="zh-CN" altLang="en-US" sz="1600" dirty="0">
                <a:solidFill>
                  <a:schemeClr val="tx1"/>
                </a:solidFill>
              </a:endParaRPr>
            </a:p>
          </p:txBody>
        </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1000"/>
                                        <p:tgtEl>
                                          <p:spTgt spid="33"/>
                                        </p:tgtEl>
                                      </p:cBhvr>
                                    </p:animEffect>
                                    <p:anim calcmode="lin" valueType="num">
                                      <p:cBhvr>
                                        <p:cTn id="8" dur="1000" fill="hold"/>
                                        <p:tgtEl>
                                          <p:spTgt spid="33"/>
                                        </p:tgtEl>
                                        <p:attrNameLst>
                                          <p:attrName>ppt_x</p:attrName>
                                        </p:attrNameLst>
                                      </p:cBhvr>
                                      <p:tavLst>
                                        <p:tav tm="0">
                                          <p:val>
                                            <p:strVal val="#ppt_x"/>
                                          </p:val>
                                        </p:tav>
                                        <p:tav tm="100000">
                                          <p:val>
                                            <p:strVal val="#ppt_x"/>
                                          </p:val>
                                        </p:tav>
                                      </p:tavLst>
                                    </p:anim>
                                    <p:anim calcmode="lin" valueType="num">
                                      <p:cBhvr>
                                        <p:cTn id="9" dur="1000" fill="hold"/>
                                        <p:tgtEl>
                                          <p:spTgt spid="33"/>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61"/>
                                        </p:tgtEl>
                                        <p:attrNameLst>
                                          <p:attrName>style.visibility</p:attrName>
                                        </p:attrNameLst>
                                      </p:cBhvr>
                                      <p:to>
                                        <p:strVal val="visible"/>
                                      </p:to>
                                    </p:set>
                                    <p:animEffect transition="in" filter="fade">
                                      <p:cBhvr>
                                        <p:cTn id="13" dur="1000"/>
                                        <p:tgtEl>
                                          <p:spTgt spid="61"/>
                                        </p:tgtEl>
                                      </p:cBhvr>
                                    </p:animEffect>
                                    <p:anim calcmode="lin" valueType="num">
                                      <p:cBhvr>
                                        <p:cTn id="14" dur="1000" fill="hold"/>
                                        <p:tgtEl>
                                          <p:spTgt spid="61"/>
                                        </p:tgtEl>
                                        <p:attrNameLst>
                                          <p:attrName>ppt_x</p:attrName>
                                        </p:attrNameLst>
                                      </p:cBhvr>
                                      <p:tavLst>
                                        <p:tav tm="0">
                                          <p:val>
                                            <p:strVal val="#ppt_x"/>
                                          </p:val>
                                        </p:tav>
                                        <p:tav tm="100000">
                                          <p:val>
                                            <p:strVal val="#ppt_x"/>
                                          </p:val>
                                        </p:tav>
                                      </p:tavLst>
                                    </p:anim>
                                    <p:anim calcmode="lin" valueType="num">
                                      <p:cBhvr>
                                        <p:cTn id="15" dur="1000" fill="hold"/>
                                        <p:tgtEl>
                                          <p:spTgt spid="61"/>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2" fill="hold" nodeType="clickEffect">
                                  <p:stCondLst>
                                    <p:cond delay="0"/>
                                  </p:stCondLst>
                                  <p:childTnLst>
                                    <p:set>
                                      <p:cBhvr>
                                        <p:cTn id="19" dur="1" fill="hold">
                                          <p:stCondLst>
                                            <p:cond delay="0"/>
                                          </p:stCondLst>
                                        </p:cTn>
                                        <p:tgtEl>
                                          <p:spTgt spid="36"/>
                                        </p:tgtEl>
                                        <p:attrNameLst>
                                          <p:attrName>style.visibility</p:attrName>
                                        </p:attrNameLst>
                                      </p:cBhvr>
                                      <p:to>
                                        <p:strVal val="visible"/>
                                      </p:to>
                                    </p:set>
                                    <p:anim calcmode="lin" valueType="num">
                                      <p:cBhvr>
                                        <p:cTn id="20" dur="1000" fill="hold"/>
                                        <p:tgtEl>
                                          <p:spTgt spid="36"/>
                                        </p:tgtEl>
                                        <p:attrNameLst>
                                          <p:attrName>ppt_x</p:attrName>
                                        </p:attrNameLst>
                                      </p:cBhvr>
                                      <p:tavLst>
                                        <p:tav tm="0">
                                          <p:val>
                                            <p:strVal val="#ppt_x+#ppt_w/2"/>
                                          </p:val>
                                        </p:tav>
                                        <p:tav tm="100000">
                                          <p:val>
                                            <p:strVal val="#ppt_x"/>
                                          </p:val>
                                        </p:tav>
                                      </p:tavLst>
                                    </p:anim>
                                    <p:anim calcmode="lin" valueType="num">
                                      <p:cBhvr>
                                        <p:cTn id="21" dur="1000" fill="hold"/>
                                        <p:tgtEl>
                                          <p:spTgt spid="36"/>
                                        </p:tgtEl>
                                        <p:attrNameLst>
                                          <p:attrName>ppt_y</p:attrName>
                                        </p:attrNameLst>
                                      </p:cBhvr>
                                      <p:tavLst>
                                        <p:tav tm="0">
                                          <p:val>
                                            <p:strVal val="#ppt_y"/>
                                          </p:val>
                                        </p:tav>
                                        <p:tav tm="100000">
                                          <p:val>
                                            <p:strVal val="#ppt_y"/>
                                          </p:val>
                                        </p:tav>
                                      </p:tavLst>
                                    </p:anim>
                                    <p:anim calcmode="lin" valueType="num">
                                      <p:cBhvr>
                                        <p:cTn id="22" dur="1000" fill="hold"/>
                                        <p:tgtEl>
                                          <p:spTgt spid="36"/>
                                        </p:tgtEl>
                                        <p:attrNameLst>
                                          <p:attrName>ppt_w</p:attrName>
                                        </p:attrNameLst>
                                      </p:cBhvr>
                                      <p:tavLst>
                                        <p:tav tm="0">
                                          <p:val>
                                            <p:fltVal val="0"/>
                                          </p:val>
                                        </p:tav>
                                        <p:tav tm="100000">
                                          <p:val>
                                            <p:strVal val="#ppt_w"/>
                                          </p:val>
                                        </p:tav>
                                      </p:tavLst>
                                    </p:anim>
                                    <p:anim calcmode="lin" valueType="num">
                                      <p:cBhvr>
                                        <p:cTn id="23" dur="1000" fill="hold"/>
                                        <p:tgtEl>
                                          <p:spTgt spid="36"/>
                                        </p:tgtEl>
                                        <p:attrNameLst>
                                          <p:attrName>ppt_h</p:attrName>
                                        </p:attrNameLst>
                                      </p:cBhvr>
                                      <p:tavLst>
                                        <p:tav tm="0">
                                          <p:val>
                                            <p:strVal val="#ppt_h"/>
                                          </p:val>
                                        </p:tav>
                                        <p:tav tm="100000">
                                          <p:val>
                                            <p:strVal val="#ppt_h"/>
                                          </p:val>
                                        </p:tav>
                                      </p:tavLst>
                                    </p:anim>
                                  </p:childTnLst>
                                </p:cTn>
                              </p:par>
                            </p:childTnLst>
                          </p:cTn>
                        </p:par>
                      </p:childTnLst>
                    </p:cTn>
                  </p:par>
                  <p:par>
                    <p:cTn id="24" fill="hold">
                      <p:stCondLst>
                        <p:cond delay="indefinite"/>
                      </p:stCondLst>
                      <p:childTnLst>
                        <p:par>
                          <p:cTn id="25" fill="hold">
                            <p:stCondLst>
                              <p:cond delay="0"/>
                            </p:stCondLst>
                            <p:childTnLst>
                              <p:par>
                                <p:cTn id="26" presetID="12" presetClass="entr" presetSubtype="1" fill="hold" nodeType="clickEffect">
                                  <p:stCondLst>
                                    <p:cond delay="0"/>
                                  </p:stCondLst>
                                  <p:childTnLst>
                                    <p:set>
                                      <p:cBhvr>
                                        <p:cTn id="27" dur="1" fill="hold">
                                          <p:stCondLst>
                                            <p:cond delay="0"/>
                                          </p:stCondLst>
                                        </p:cTn>
                                        <p:tgtEl>
                                          <p:spTgt spid="37"/>
                                        </p:tgtEl>
                                        <p:attrNameLst>
                                          <p:attrName>style.visibility</p:attrName>
                                        </p:attrNameLst>
                                      </p:cBhvr>
                                      <p:to>
                                        <p:strVal val="visible"/>
                                      </p:to>
                                    </p:set>
                                    <p:anim calcmode="lin" valueType="num">
                                      <p:cBhvr additive="base">
                                        <p:cTn id="28" dur="1000"/>
                                        <p:tgtEl>
                                          <p:spTgt spid="37"/>
                                        </p:tgtEl>
                                        <p:attrNameLst>
                                          <p:attrName>ppt_y</p:attrName>
                                        </p:attrNameLst>
                                      </p:cBhvr>
                                      <p:tavLst>
                                        <p:tav tm="0">
                                          <p:val>
                                            <p:strVal val="#ppt_y-#ppt_h*1.125000"/>
                                          </p:val>
                                        </p:tav>
                                        <p:tav tm="100000">
                                          <p:val>
                                            <p:strVal val="#ppt_y"/>
                                          </p:val>
                                        </p:tav>
                                      </p:tavLst>
                                    </p:anim>
                                    <p:animEffect transition="in" filter="wipe(down)">
                                      <p:cBhvr>
                                        <p:cTn id="29" dur="1000"/>
                                        <p:tgtEl>
                                          <p:spTgt spid="37"/>
                                        </p:tgtEl>
                                      </p:cBhvr>
                                    </p:animEffect>
                                  </p:childTnLst>
                                </p:cTn>
                              </p:par>
                            </p:childTnLst>
                          </p:cTn>
                        </p:par>
                        <p:par>
                          <p:cTn id="30" fill="hold">
                            <p:stCondLst>
                              <p:cond delay="1000"/>
                            </p:stCondLst>
                            <p:childTnLst>
                              <p:par>
                                <p:cTn id="31" presetID="12" presetClass="entr" presetSubtype="1" fill="hold" grpId="0" nodeType="afterEffect">
                                  <p:stCondLst>
                                    <p:cond delay="0"/>
                                  </p:stCondLst>
                                  <p:childTnLst>
                                    <p:set>
                                      <p:cBhvr>
                                        <p:cTn id="32" dur="1" fill="hold">
                                          <p:stCondLst>
                                            <p:cond delay="0"/>
                                          </p:stCondLst>
                                        </p:cTn>
                                        <p:tgtEl>
                                          <p:spTgt spid="48"/>
                                        </p:tgtEl>
                                        <p:attrNameLst>
                                          <p:attrName>style.visibility</p:attrName>
                                        </p:attrNameLst>
                                      </p:cBhvr>
                                      <p:to>
                                        <p:strVal val="visible"/>
                                      </p:to>
                                    </p:set>
                                    <p:anim calcmode="lin" valueType="num">
                                      <p:cBhvr additive="base">
                                        <p:cTn id="33" dur="1000"/>
                                        <p:tgtEl>
                                          <p:spTgt spid="48"/>
                                        </p:tgtEl>
                                        <p:attrNameLst>
                                          <p:attrName>ppt_y</p:attrName>
                                        </p:attrNameLst>
                                      </p:cBhvr>
                                      <p:tavLst>
                                        <p:tav tm="0">
                                          <p:val>
                                            <p:strVal val="#ppt_y-#ppt_h*1.125000"/>
                                          </p:val>
                                        </p:tav>
                                        <p:tav tm="100000">
                                          <p:val>
                                            <p:strVal val="#ppt_y"/>
                                          </p:val>
                                        </p:tav>
                                      </p:tavLst>
                                    </p:anim>
                                    <p:animEffect transition="in" filter="wipe(down)">
                                      <p:cBhvr>
                                        <p:cTn id="34" dur="1000"/>
                                        <p:tgtEl>
                                          <p:spTgt spid="48"/>
                                        </p:tgtEl>
                                      </p:cBhvr>
                                    </p:animEffect>
                                  </p:childTnLst>
                                </p:cTn>
                              </p:par>
                            </p:childTnLst>
                          </p:cTn>
                        </p:par>
                        <p:par>
                          <p:cTn id="35" fill="hold">
                            <p:stCondLst>
                              <p:cond delay="2000"/>
                            </p:stCondLst>
                            <p:childTnLst>
                              <p:par>
                                <p:cTn id="36" presetID="22" presetClass="entr" presetSubtype="4" fill="hold" nodeType="after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wipe(down)">
                                      <p:cBhvr>
                                        <p:cTn id="38" dur="1000"/>
                                        <p:tgtEl>
                                          <p:spTgt spid="38"/>
                                        </p:tgtEl>
                                      </p:cBhvr>
                                    </p:animEffect>
                                  </p:childTnLst>
                                </p:cTn>
                              </p:par>
                            </p:childTnLst>
                          </p:cTn>
                        </p:par>
                        <p:par>
                          <p:cTn id="39" fill="hold">
                            <p:stCondLst>
                              <p:cond delay="3000"/>
                            </p:stCondLst>
                            <p:childTnLst>
                              <p:par>
                                <p:cTn id="40" presetID="22" presetClass="entr" presetSubtype="4" fill="hold" grpId="0" nodeType="afterEffect">
                                  <p:stCondLst>
                                    <p:cond delay="0"/>
                                  </p:stCondLst>
                                  <p:childTnLst>
                                    <p:set>
                                      <p:cBhvr>
                                        <p:cTn id="41" dur="1" fill="hold">
                                          <p:stCondLst>
                                            <p:cond delay="0"/>
                                          </p:stCondLst>
                                        </p:cTn>
                                        <p:tgtEl>
                                          <p:spTgt spid="47"/>
                                        </p:tgtEl>
                                        <p:attrNameLst>
                                          <p:attrName>style.visibility</p:attrName>
                                        </p:attrNameLst>
                                      </p:cBhvr>
                                      <p:to>
                                        <p:strVal val="visible"/>
                                      </p:to>
                                    </p:set>
                                    <p:animEffect transition="in" filter="wipe(down)">
                                      <p:cBhvr>
                                        <p:cTn id="42" dur="1000"/>
                                        <p:tgtEl>
                                          <p:spTgt spid="47"/>
                                        </p:tgtEl>
                                      </p:cBhvr>
                                    </p:animEffect>
                                  </p:childTnLst>
                                </p:cTn>
                              </p:par>
                            </p:childTnLst>
                          </p:cTn>
                        </p:par>
                      </p:childTnLst>
                    </p:cTn>
                  </p:par>
                  <p:par>
                    <p:cTn id="43" fill="hold">
                      <p:stCondLst>
                        <p:cond delay="indefinite"/>
                      </p:stCondLst>
                      <p:childTnLst>
                        <p:par>
                          <p:cTn id="44" fill="hold">
                            <p:stCondLst>
                              <p:cond delay="0"/>
                            </p:stCondLst>
                            <p:childTnLst>
                              <p:par>
                                <p:cTn id="45" presetID="12" presetClass="entr" presetSubtype="1" fill="hold" nodeType="clickEffect">
                                  <p:stCondLst>
                                    <p:cond delay="0"/>
                                  </p:stCondLst>
                                  <p:childTnLst>
                                    <p:set>
                                      <p:cBhvr>
                                        <p:cTn id="46" dur="1" fill="hold">
                                          <p:stCondLst>
                                            <p:cond delay="0"/>
                                          </p:stCondLst>
                                        </p:cTn>
                                        <p:tgtEl>
                                          <p:spTgt spid="39"/>
                                        </p:tgtEl>
                                        <p:attrNameLst>
                                          <p:attrName>style.visibility</p:attrName>
                                        </p:attrNameLst>
                                      </p:cBhvr>
                                      <p:to>
                                        <p:strVal val="visible"/>
                                      </p:to>
                                    </p:set>
                                    <p:anim calcmode="lin" valueType="num">
                                      <p:cBhvr additive="base">
                                        <p:cTn id="47" dur="1000"/>
                                        <p:tgtEl>
                                          <p:spTgt spid="39"/>
                                        </p:tgtEl>
                                        <p:attrNameLst>
                                          <p:attrName>ppt_y</p:attrName>
                                        </p:attrNameLst>
                                      </p:cBhvr>
                                      <p:tavLst>
                                        <p:tav tm="0">
                                          <p:val>
                                            <p:strVal val="#ppt_y-#ppt_h*1.125000"/>
                                          </p:val>
                                        </p:tav>
                                        <p:tav tm="100000">
                                          <p:val>
                                            <p:strVal val="#ppt_y"/>
                                          </p:val>
                                        </p:tav>
                                      </p:tavLst>
                                    </p:anim>
                                    <p:animEffect transition="in" filter="wipe(down)">
                                      <p:cBhvr>
                                        <p:cTn id="48" dur="1000"/>
                                        <p:tgtEl>
                                          <p:spTgt spid="39"/>
                                        </p:tgtEl>
                                      </p:cBhvr>
                                    </p:animEffect>
                                  </p:childTnLst>
                                </p:cTn>
                              </p:par>
                            </p:childTnLst>
                          </p:cTn>
                        </p:par>
                        <p:par>
                          <p:cTn id="49" fill="hold">
                            <p:stCondLst>
                              <p:cond delay="1000"/>
                            </p:stCondLst>
                            <p:childTnLst>
                              <p:par>
                                <p:cTn id="50" presetID="12" presetClass="entr" presetSubtype="1" fill="hold" grpId="0" nodeType="afterEffect">
                                  <p:stCondLst>
                                    <p:cond delay="0"/>
                                  </p:stCondLst>
                                  <p:childTnLst>
                                    <p:set>
                                      <p:cBhvr>
                                        <p:cTn id="51" dur="1" fill="hold">
                                          <p:stCondLst>
                                            <p:cond delay="0"/>
                                          </p:stCondLst>
                                        </p:cTn>
                                        <p:tgtEl>
                                          <p:spTgt spid="50"/>
                                        </p:tgtEl>
                                        <p:attrNameLst>
                                          <p:attrName>style.visibility</p:attrName>
                                        </p:attrNameLst>
                                      </p:cBhvr>
                                      <p:to>
                                        <p:strVal val="visible"/>
                                      </p:to>
                                    </p:set>
                                    <p:anim calcmode="lin" valueType="num">
                                      <p:cBhvr additive="base">
                                        <p:cTn id="52" dur="1000"/>
                                        <p:tgtEl>
                                          <p:spTgt spid="50"/>
                                        </p:tgtEl>
                                        <p:attrNameLst>
                                          <p:attrName>ppt_y</p:attrName>
                                        </p:attrNameLst>
                                      </p:cBhvr>
                                      <p:tavLst>
                                        <p:tav tm="0">
                                          <p:val>
                                            <p:strVal val="#ppt_y-#ppt_h*1.125000"/>
                                          </p:val>
                                        </p:tav>
                                        <p:tav tm="100000">
                                          <p:val>
                                            <p:strVal val="#ppt_y"/>
                                          </p:val>
                                        </p:tav>
                                      </p:tavLst>
                                    </p:anim>
                                    <p:animEffect transition="in" filter="wipe(down)">
                                      <p:cBhvr>
                                        <p:cTn id="53" dur="1000"/>
                                        <p:tgtEl>
                                          <p:spTgt spid="50"/>
                                        </p:tgtEl>
                                      </p:cBhvr>
                                    </p:animEffect>
                                  </p:childTnLst>
                                </p:cTn>
                              </p:par>
                            </p:childTnLst>
                          </p:cTn>
                        </p:par>
                        <p:par>
                          <p:cTn id="54" fill="hold">
                            <p:stCondLst>
                              <p:cond delay="2000"/>
                            </p:stCondLst>
                            <p:childTnLst>
                              <p:par>
                                <p:cTn id="55" presetID="22" presetClass="entr" presetSubtype="4" fill="hold" nodeType="afterEffect">
                                  <p:stCondLst>
                                    <p:cond delay="0"/>
                                  </p:stCondLst>
                                  <p:childTnLst>
                                    <p:set>
                                      <p:cBhvr>
                                        <p:cTn id="56" dur="1" fill="hold">
                                          <p:stCondLst>
                                            <p:cond delay="0"/>
                                          </p:stCondLst>
                                        </p:cTn>
                                        <p:tgtEl>
                                          <p:spTgt spid="40"/>
                                        </p:tgtEl>
                                        <p:attrNameLst>
                                          <p:attrName>style.visibility</p:attrName>
                                        </p:attrNameLst>
                                      </p:cBhvr>
                                      <p:to>
                                        <p:strVal val="visible"/>
                                      </p:to>
                                    </p:set>
                                    <p:animEffect transition="in" filter="wipe(down)">
                                      <p:cBhvr>
                                        <p:cTn id="57" dur="1000"/>
                                        <p:tgtEl>
                                          <p:spTgt spid="40"/>
                                        </p:tgtEl>
                                      </p:cBhvr>
                                    </p:animEffect>
                                  </p:childTnLst>
                                </p:cTn>
                              </p:par>
                            </p:childTnLst>
                          </p:cTn>
                        </p:par>
                        <p:par>
                          <p:cTn id="58" fill="hold">
                            <p:stCondLst>
                              <p:cond delay="3000"/>
                            </p:stCondLst>
                            <p:childTnLst>
                              <p:par>
                                <p:cTn id="59" presetID="22" presetClass="entr" presetSubtype="4" fill="hold" grpId="0" nodeType="afterEffect">
                                  <p:stCondLst>
                                    <p:cond delay="0"/>
                                  </p:stCondLst>
                                  <p:childTnLst>
                                    <p:set>
                                      <p:cBhvr>
                                        <p:cTn id="60" dur="1" fill="hold">
                                          <p:stCondLst>
                                            <p:cond delay="0"/>
                                          </p:stCondLst>
                                        </p:cTn>
                                        <p:tgtEl>
                                          <p:spTgt spid="49"/>
                                        </p:tgtEl>
                                        <p:attrNameLst>
                                          <p:attrName>style.visibility</p:attrName>
                                        </p:attrNameLst>
                                      </p:cBhvr>
                                      <p:to>
                                        <p:strVal val="visible"/>
                                      </p:to>
                                    </p:set>
                                    <p:animEffect transition="in" filter="wipe(down)">
                                      <p:cBhvr>
                                        <p:cTn id="61" dur="1000"/>
                                        <p:tgtEl>
                                          <p:spTgt spid="49"/>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2" fill="hold" nodeType="clickEffect">
                                  <p:stCondLst>
                                    <p:cond delay="0"/>
                                  </p:stCondLst>
                                  <p:childTnLst>
                                    <p:set>
                                      <p:cBhvr>
                                        <p:cTn id="65" dur="1" fill="hold">
                                          <p:stCondLst>
                                            <p:cond delay="0"/>
                                          </p:stCondLst>
                                        </p:cTn>
                                        <p:tgtEl>
                                          <p:spTgt spid="3"/>
                                        </p:tgtEl>
                                        <p:attrNameLst>
                                          <p:attrName>style.visibility</p:attrName>
                                        </p:attrNameLst>
                                      </p:cBhvr>
                                      <p:to>
                                        <p:strVal val="visible"/>
                                      </p:to>
                                    </p:set>
                                    <p:animEffect transition="in" filter="wipe(right)">
                                      <p:cBhvr>
                                        <p:cTn id="66" dur="1000"/>
                                        <p:tgtEl>
                                          <p:spTgt spid="3"/>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41"/>
                                        </p:tgtEl>
                                        <p:attrNameLst>
                                          <p:attrName>style.visibility</p:attrName>
                                        </p:attrNameLst>
                                      </p:cBhvr>
                                      <p:to>
                                        <p:strVal val="visible"/>
                                      </p:to>
                                    </p:set>
                                    <p:animEffect transition="in" filter="wipe(left)">
                                      <p:cBhvr>
                                        <p:cTn id="71" dur="1000"/>
                                        <p:tgtEl>
                                          <p:spTgt spid="41"/>
                                        </p:tgtEl>
                                      </p:cBhvr>
                                    </p:animEffect>
                                  </p:childTnLst>
                                </p:cTn>
                              </p:par>
                            </p:childTnLst>
                          </p:cTn>
                        </p:par>
                        <p:par>
                          <p:cTn id="72" fill="hold">
                            <p:stCondLst>
                              <p:cond delay="1000"/>
                            </p:stCondLst>
                            <p:childTnLst>
                              <p:par>
                                <p:cTn id="73" presetID="22" presetClass="entr" presetSubtype="8" fill="hold" grpId="0" nodeType="after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wipe(left)">
                                      <p:cBhvr>
                                        <p:cTn id="75" dur="10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7" grpId="0" animBg="1"/>
      <p:bldP spid="48" grpId="0"/>
      <p:bldP spid="49" grpId="0" animBg="1"/>
      <p:bldP spid="50" grpId="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6"/>
          <p:cNvSpPr>
            <a:spLocks noChangeArrowheads="1"/>
          </p:cNvSpPr>
          <p:nvPr/>
        </p:nvSpPr>
        <p:spPr bwMode="auto">
          <a:xfrm>
            <a:off x="541338" y="1247140"/>
            <a:ext cx="6870792" cy="338554"/>
          </a:xfrm>
          <a:prstGeom prst="rect">
            <a:avLst/>
          </a:prstGeom>
          <a:noFill/>
          <a:ln w="9525" algn="ctr">
            <a:noFill/>
            <a:miter lim="800000"/>
          </a:ln>
        </p:spPr>
        <p:txBody>
          <a:bodyPr wrap="none" anchor="ctr">
            <a:spAutoFit/>
          </a:bodyPr>
          <a:lstStyle/>
          <a:p>
            <a:pPr eaLnBrk="0" hangingPunct="0">
              <a:tabLst>
                <a:tab pos="264795" algn="l"/>
              </a:tabLst>
            </a:pPr>
            <a:r>
              <a:rPr lang="zh-CN" altLang="en-US" sz="1600" dirty="0">
                <a:solidFill>
                  <a:srgbClr val="6600FF"/>
                </a:solidFill>
                <a:latin typeface="微软雅黑" panose="020B0503020204020204" pitchFamily="34" charset="-122"/>
                <a:ea typeface="微软雅黑" panose="020B0503020204020204" pitchFamily="34" charset="-122"/>
              </a:rPr>
              <a:t>（</a:t>
            </a:r>
            <a:r>
              <a:rPr lang="en-US" altLang="zh-CN" sz="1600" dirty="0">
                <a:solidFill>
                  <a:srgbClr val="6600FF"/>
                </a:solidFill>
                <a:latin typeface="微软雅黑" panose="020B0503020204020204" pitchFamily="34" charset="-122"/>
                <a:ea typeface="微软雅黑" panose="020B0503020204020204" pitchFamily="34" charset="-122"/>
              </a:rPr>
              <a:t>2</a:t>
            </a:r>
            <a:r>
              <a:rPr lang="zh-CN" altLang="en-US" sz="1600" dirty="0">
                <a:solidFill>
                  <a:srgbClr val="6600FF"/>
                </a:solidFill>
                <a:latin typeface="微软雅黑" panose="020B0503020204020204" pitchFamily="34" charset="-122"/>
                <a:ea typeface="微软雅黑" panose="020B0503020204020204" pitchFamily="34" charset="-122"/>
              </a:rPr>
              <a:t>）全加器</a:t>
            </a:r>
            <a:r>
              <a:rPr lang="zh-CN" altLang="en-US" sz="1600" dirty="0">
                <a:solidFill>
                  <a:srgbClr val="000000"/>
                </a:solidFill>
                <a:latin typeface="微软雅黑" panose="020B0503020204020204" pitchFamily="34" charset="-122"/>
                <a:ea typeface="微软雅黑" panose="020B0503020204020204" pitchFamily="34" charset="-122"/>
              </a:rPr>
              <a:t>：能够实现</a:t>
            </a:r>
            <a:r>
              <a:rPr kumimoji="1" lang="zh-CN" altLang="en-US" sz="1600" dirty="0">
                <a:solidFill>
                  <a:srgbClr val="000000"/>
                </a:solidFill>
                <a:latin typeface="微软雅黑" panose="020B0503020204020204" pitchFamily="34" charset="-122"/>
                <a:ea typeface="微软雅黑" panose="020B0503020204020204" pitchFamily="34" charset="-122"/>
              </a:rPr>
              <a:t>本位被加数、加数及低位进位的加法运算电路。</a:t>
            </a:r>
            <a:endParaRPr kumimoji="1" lang="zh-CN" altLang="en-US" sz="1600" dirty="0">
              <a:solidFill>
                <a:srgbClr val="000000"/>
              </a:solidFill>
              <a:latin typeface="微软雅黑" panose="020B0503020204020204" pitchFamily="34" charset="-122"/>
              <a:ea typeface="微软雅黑" panose="020B0503020204020204" pitchFamily="34" charset="-122"/>
            </a:endParaRPr>
          </a:p>
        </p:txBody>
      </p:sp>
      <p:graphicFrame>
        <p:nvGraphicFramePr>
          <p:cNvPr id="65" name="Group 40"/>
          <p:cNvGraphicFramePr>
            <a:graphicFrameLocks noGrp="1"/>
          </p:cNvGraphicFramePr>
          <p:nvPr/>
        </p:nvGraphicFramePr>
        <p:xfrm>
          <a:off x="847725" y="1736850"/>
          <a:ext cx="1659255" cy="2002790"/>
        </p:xfrm>
        <a:graphic>
          <a:graphicData uri="http://schemas.openxmlformats.org/drawingml/2006/table">
            <a:tbl>
              <a:tblPr/>
              <a:tblGrid>
                <a:gridCol w="1057275"/>
                <a:gridCol w="601980"/>
              </a:tblGrid>
              <a:tr h="318770">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A</a:t>
                      </a:r>
                      <a:r>
                        <a:rPr kumimoji="0" lang="en-US" altLang="zh-CN" sz="16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 </a:t>
                      </a: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600" b="1" i="1"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B</a:t>
                      </a:r>
                      <a:r>
                        <a:rPr kumimoji="0" lang="en-US" altLang="zh-CN" sz="16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600" b="1" i="1"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C</a:t>
                      </a:r>
                      <a:r>
                        <a:rPr kumimoji="0" lang="en-US" altLang="zh-CN" sz="16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ct val="100000"/>
                        </a:lnSpc>
                        <a:spcBef>
                          <a:spcPct val="0"/>
                        </a:spcBef>
                        <a:spcAft>
                          <a:spcPct val="0"/>
                        </a:spcAft>
                        <a:buClrTx/>
                        <a:buSzTx/>
                        <a:buFontTx/>
                        <a:buNone/>
                      </a:pPr>
                      <a:r>
                        <a:rPr kumimoji="0" lang="en-US" altLang="zh-CN" sz="1600" b="1" i="1"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S</a:t>
                      </a:r>
                      <a:r>
                        <a:rPr kumimoji="0" lang="en-US" altLang="zh-CN" sz="16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 </a:t>
                      </a: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600" b="1" i="1" u="none" strike="noStrike" cap="none" normalizeH="0" baseline="0" dirty="0" err="1">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C</a:t>
                      </a:r>
                      <a:r>
                        <a:rPr kumimoji="0" lang="en-US" altLang="zh-CN" sz="1600" b="1" i="0" u="none" strike="noStrike" cap="none" normalizeH="0" baseline="-30000" dirty="0" err="1">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i</a:t>
                      </a:r>
                      <a:r>
                        <a:rPr kumimoji="0" lang="en-US" altLang="zh-CN" sz="1600" b="1" i="0" u="none" strike="noStrike" cap="none" normalizeH="0" baseline="-3000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       </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r h="1684020">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0     0     0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0     0     1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0     1     0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0     1     1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1     0     0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1     0     1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1     1     0</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1     1     1</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0    0         </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1    0         </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1    0         </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0    1         </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1    0         </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0    1         </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0    1         </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p>
                      <a:pPr marL="0" marR="0" lvl="0" indent="0" algn="ctr" defTabSz="914400" rtl="0" eaLnBrk="0" fontAlgn="base" latinLnBrk="0" hangingPunct="0">
                        <a:lnSpc>
                          <a:spcPts val="1600"/>
                        </a:lnSpc>
                        <a:spcBef>
                          <a:spcPct val="0"/>
                        </a:spcBef>
                        <a:spcAft>
                          <a:spcPct val="0"/>
                        </a:spcAft>
                        <a:buClrTx/>
                        <a:buSzTx/>
                        <a:buFontTx/>
                        <a:buNone/>
                      </a:pPr>
                      <a:r>
                        <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rPr>
                        <a:t>1    1         </a:t>
                      </a:r>
                      <a:endParaRPr kumimoji="0" lang="en-US" altLang="zh-CN" sz="1600" b="1" i="0" u="none" strike="noStrike" cap="none" normalizeH="0" baseline="0" dirty="0">
                        <a:ln>
                          <a:noFill/>
                        </a:ln>
                        <a:solidFill>
                          <a:srgbClr val="000000"/>
                        </a:solidFill>
                        <a:effectLst/>
                        <a:latin typeface="Times New Roman" panose="02020603050405020304" pitchFamily="18" charset="0"/>
                        <a:ea typeface="楷体_GB2312" pitchFamily="49" charset="-122"/>
                        <a:cs typeface="Times New Roman" panose="02020603050405020304" pitchFamily="18"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r>
            </a:tbl>
          </a:graphicData>
        </a:graphic>
      </p:graphicFrame>
      <p:grpSp>
        <p:nvGrpSpPr>
          <p:cNvPr id="127" name="组合 126"/>
          <p:cNvGrpSpPr/>
          <p:nvPr/>
        </p:nvGrpSpPr>
        <p:grpSpPr>
          <a:xfrm>
            <a:off x="6121281" y="1740139"/>
            <a:ext cx="2677497" cy="1288111"/>
            <a:chOff x="4399161" y="3772894"/>
            <a:chExt cx="2677497" cy="1288111"/>
          </a:xfrm>
        </p:grpSpPr>
        <p:grpSp>
          <p:nvGrpSpPr>
            <p:cNvPr id="128" name="组合 77"/>
            <p:cNvGrpSpPr/>
            <p:nvPr/>
          </p:nvGrpSpPr>
          <p:grpSpPr>
            <a:xfrm>
              <a:off x="4399161" y="3919985"/>
              <a:ext cx="2677497" cy="1141020"/>
              <a:chOff x="4434928" y="3768898"/>
              <a:chExt cx="2677497" cy="1141020"/>
            </a:xfrm>
          </p:grpSpPr>
          <p:sp>
            <p:nvSpPr>
              <p:cNvPr id="130" name="圆角矩形 129"/>
              <p:cNvSpPr/>
              <p:nvPr/>
            </p:nvSpPr>
            <p:spPr>
              <a:xfrm>
                <a:off x="4434928" y="3768898"/>
                <a:ext cx="2677497" cy="1141020"/>
              </a:xfrm>
              <a:prstGeom prst="roundRect">
                <a:avLst>
                  <a:gd name="adj" fmla="val 4849"/>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1" name="组合 72"/>
              <p:cNvGrpSpPr/>
              <p:nvPr/>
            </p:nvGrpSpPr>
            <p:grpSpPr>
              <a:xfrm>
                <a:off x="4882086" y="4241584"/>
                <a:ext cx="1917226" cy="489392"/>
                <a:chOff x="4730110" y="4237962"/>
                <a:chExt cx="2268000" cy="489392"/>
              </a:xfrm>
            </p:grpSpPr>
            <p:cxnSp>
              <p:nvCxnSpPr>
                <p:cNvPr id="143" name="直接连接符 142"/>
                <p:cNvCxnSpPr/>
                <p:nvPr/>
              </p:nvCxnSpPr>
              <p:spPr>
                <a:xfrm>
                  <a:off x="4730110" y="4468383"/>
                  <a:ext cx="1908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a:xfrm>
                  <a:off x="4730110" y="4727354"/>
                  <a:ext cx="1872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nvCxnSpPr>
              <p:spPr>
                <a:xfrm>
                  <a:off x="4730110" y="4237962"/>
                  <a:ext cx="2268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132" name="直接连接符 131"/>
              <p:cNvCxnSpPr/>
              <p:nvPr/>
            </p:nvCxnSpPr>
            <p:spPr>
              <a:xfrm>
                <a:off x="6447262" y="4636733"/>
                <a:ext cx="360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33" name="组合 64"/>
              <p:cNvGrpSpPr/>
              <p:nvPr/>
            </p:nvGrpSpPr>
            <p:grpSpPr>
              <a:xfrm>
                <a:off x="5072918" y="4388674"/>
                <a:ext cx="401541" cy="477537"/>
                <a:chOff x="5231958" y="4229634"/>
                <a:chExt cx="401541" cy="477537"/>
              </a:xfrm>
            </p:grpSpPr>
            <p:sp>
              <p:nvSpPr>
                <p:cNvPr id="141" name="Rectangle 7"/>
                <p:cNvSpPr>
                  <a:spLocks noChangeArrowheads="1"/>
                </p:cNvSpPr>
                <p:nvPr/>
              </p:nvSpPr>
              <p:spPr bwMode="auto">
                <a:xfrm>
                  <a:off x="5231958" y="4229634"/>
                  <a:ext cx="401541" cy="477537"/>
                </a:xfrm>
                <a:prstGeom prst="rect">
                  <a:avLst/>
                </a:prstGeom>
                <a:solidFill>
                  <a:srgbClr val="FFFF00"/>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Ʃ</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142" name="TextBox 141"/>
                <p:cNvSpPr txBox="1"/>
                <p:nvPr/>
              </p:nvSpPr>
              <p:spPr>
                <a:xfrm>
                  <a:off x="5446647" y="4456707"/>
                  <a:ext cx="141064" cy="169277"/>
                </a:xfrm>
                <a:prstGeom prst="rect">
                  <a:avLst/>
                </a:prstGeom>
                <a:noFill/>
              </p:spPr>
              <p:txBody>
                <a:bodyPr wrap="none" lIns="0" tIns="0" rIns="0" bIns="0" rtlCol="0">
                  <a:spAutoFit/>
                </a:bodyPr>
                <a:lstStyle/>
                <a:p>
                  <a:r>
                    <a:rPr lang="en-US" altLang="zh-CN" sz="1100" b="1" dirty="0">
                      <a:latin typeface="宋体" panose="02010600030101010101" pitchFamily="2" charset="-122"/>
                      <a:ea typeface="宋体" panose="02010600030101010101" pitchFamily="2" charset="-122"/>
                      <a:cs typeface="Times New Roman" panose="02020603050405020304" pitchFamily="18" charset="0"/>
                    </a:rPr>
                    <a:t>CO</a:t>
                  </a:r>
                  <a:endParaRPr lang="zh-CN" altLang="en-US" sz="1100" b="1" dirty="0">
                    <a:latin typeface="宋体" panose="02010600030101010101" pitchFamily="2" charset="-122"/>
                    <a:ea typeface="宋体" panose="02010600030101010101" pitchFamily="2" charset="-122"/>
                    <a:cs typeface="Times New Roman" panose="02020603050405020304" pitchFamily="18" charset="0"/>
                  </a:endParaRPr>
                </a:p>
              </p:txBody>
            </p:sp>
          </p:grpSp>
          <p:sp>
            <p:nvSpPr>
              <p:cNvPr id="134" name="Rectangle 7"/>
              <p:cNvSpPr>
                <a:spLocks noChangeArrowheads="1"/>
              </p:cNvSpPr>
              <p:nvPr/>
            </p:nvSpPr>
            <p:spPr bwMode="auto">
              <a:xfrm>
                <a:off x="6327713" y="4388675"/>
                <a:ext cx="282056" cy="477536"/>
              </a:xfrm>
              <a:prstGeom prst="rect">
                <a:avLst/>
              </a:prstGeom>
              <a:solidFill>
                <a:srgbClr val="FFFF00"/>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zh-CN" altLang="en-US" sz="1400" b="1" dirty="0">
                    <a:latin typeface="Times New Roman" panose="02020603050405020304" pitchFamily="18" charset="0"/>
                    <a:ea typeface="楷体_GB2312" pitchFamily="49" charset="-122"/>
                    <a:cs typeface="Times New Roman" panose="02020603050405020304" pitchFamily="18" charset="0"/>
                  </a:rPr>
                  <a:t>≥</a:t>
                </a:r>
                <a:r>
                  <a:rPr lang="en-US" altLang="zh-CN" sz="1400" b="1" dirty="0">
                    <a:latin typeface="Times New Roman" panose="02020603050405020304" pitchFamily="18" charset="0"/>
                    <a:ea typeface="楷体_GB2312" pitchFamily="49" charset="-122"/>
                    <a:cs typeface="Times New Roman" panose="02020603050405020304" pitchFamily="18" charset="0"/>
                  </a:rPr>
                  <a:t>1</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grpSp>
            <p:nvGrpSpPr>
              <p:cNvPr id="135" name="组合 65"/>
              <p:cNvGrpSpPr/>
              <p:nvPr/>
            </p:nvGrpSpPr>
            <p:grpSpPr>
              <a:xfrm>
                <a:off x="5686471" y="4127874"/>
                <a:ext cx="401541" cy="465339"/>
                <a:chOff x="5231958" y="4241832"/>
                <a:chExt cx="401541" cy="465339"/>
              </a:xfrm>
            </p:grpSpPr>
            <p:sp>
              <p:nvSpPr>
                <p:cNvPr id="139" name="Rectangle 7"/>
                <p:cNvSpPr>
                  <a:spLocks noChangeArrowheads="1"/>
                </p:cNvSpPr>
                <p:nvPr/>
              </p:nvSpPr>
              <p:spPr bwMode="auto">
                <a:xfrm>
                  <a:off x="5231958" y="4241832"/>
                  <a:ext cx="401541" cy="465339"/>
                </a:xfrm>
                <a:prstGeom prst="rect">
                  <a:avLst/>
                </a:prstGeom>
                <a:solidFill>
                  <a:srgbClr val="FFFF00"/>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Ʃ</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140" name="TextBox 139"/>
                <p:cNvSpPr txBox="1"/>
                <p:nvPr/>
              </p:nvSpPr>
              <p:spPr>
                <a:xfrm>
                  <a:off x="5446647" y="4456707"/>
                  <a:ext cx="141064" cy="169277"/>
                </a:xfrm>
                <a:prstGeom prst="rect">
                  <a:avLst/>
                </a:prstGeom>
                <a:noFill/>
              </p:spPr>
              <p:txBody>
                <a:bodyPr wrap="none" lIns="0" tIns="0" rIns="0" bIns="0" rtlCol="0">
                  <a:spAutoFit/>
                </a:bodyPr>
                <a:lstStyle/>
                <a:p>
                  <a:r>
                    <a:rPr lang="en-US" altLang="zh-CN" sz="1100" b="1" dirty="0">
                      <a:latin typeface="宋体" panose="02010600030101010101" pitchFamily="2" charset="-122"/>
                      <a:ea typeface="宋体" panose="02010600030101010101" pitchFamily="2" charset="-122"/>
                      <a:cs typeface="Times New Roman" panose="02020603050405020304" pitchFamily="18" charset="0"/>
                    </a:rPr>
                    <a:t>CO</a:t>
                  </a:r>
                  <a:endParaRPr lang="zh-CN" altLang="en-US" sz="1100" b="1" dirty="0">
                    <a:latin typeface="宋体" panose="02010600030101010101" pitchFamily="2" charset="-122"/>
                    <a:ea typeface="宋体" panose="02010600030101010101" pitchFamily="2" charset="-122"/>
                    <a:cs typeface="Times New Roman" panose="02020603050405020304" pitchFamily="18" charset="0"/>
                  </a:endParaRPr>
                </a:p>
              </p:txBody>
            </p:sp>
          </p:grpSp>
          <p:sp>
            <p:nvSpPr>
              <p:cNvPr id="136" name="TextBox 135"/>
              <p:cNvSpPr txBox="1"/>
              <p:nvPr/>
            </p:nvSpPr>
            <p:spPr>
              <a:xfrm>
                <a:off x="4553430" y="4101853"/>
                <a:ext cx="279095" cy="730969"/>
              </a:xfrm>
              <a:prstGeom prst="rect">
                <a:avLst/>
              </a:prstGeom>
              <a:noFill/>
            </p:spPr>
            <p:txBody>
              <a:bodyPr wrap="square" lIns="0" tIns="0" rIns="0" bIns="0" rtlCol="0">
                <a:spAutoFit/>
              </a:bodyPr>
              <a:lstStyle/>
              <a:p>
                <a:pPr algn="r">
                  <a:lnSpc>
                    <a:spcPts val="1900"/>
                  </a:lnSpc>
                </a:pPr>
                <a:r>
                  <a:rPr lang="en-US" altLang="zh-CN" sz="1400" b="1" i="1" dirty="0">
                    <a:latin typeface="Times New Roman" panose="02020603050405020304" pitchFamily="18" charset="0"/>
                    <a:cs typeface="Times New Roman" panose="02020603050405020304" pitchFamily="18" charset="0"/>
                  </a:rPr>
                  <a:t>C</a:t>
                </a:r>
                <a:r>
                  <a:rPr lang="en-US" altLang="zh-CN" sz="1400" b="1" baseline="-25000" dirty="0">
                    <a:latin typeface="Times New Roman" panose="02020603050405020304" pitchFamily="18" charset="0"/>
                    <a:cs typeface="Times New Roman" panose="02020603050405020304" pitchFamily="18" charset="0"/>
                  </a:rPr>
                  <a:t>i-1</a:t>
                </a:r>
                <a:endParaRPr lang="en-US" altLang="zh-CN" sz="1400" b="1" i="1" dirty="0">
                  <a:latin typeface="Times New Roman" panose="02020603050405020304" pitchFamily="18" charset="0"/>
                  <a:cs typeface="Times New Roman" panose="02020603050405020304" pitchFamily="18" charset="0"/>
                </a:endParaRPr>
              </a:p>
              <a:p>
                <a:pPr algn="r">
                  <a:lnSpc>
                    <a:spcPts val="1900"/>
                  </a:lnSpc>
                </a:pPr>
                <a:r>
                  <a:rPr lang="en-US" altLang="zh-CN" sz="1400" b="1" i="1" dirty="0">
                    <a:latin typeface="Times New Roman" panose="02020603050405020304" pitchFamily="18" charset="0"/>
                    <a:cs typeface="Times New Roman" panose="02020603050405020304" pitchFamily="18" charset="0"/>
                  </a:rPr>
                  <a:t>A</a:t>
                </a:r>
                <a:r>
                  <a:rPr lang="en-US" altLang="zh-CN" sz="1400" b="1" baseline="-25000" dirty="0">
                    <a:latin typeface="Times New Roman" panose="02020603050405020304" pitchFamily="18" charset="0"/>
                    <a:cs typeface="Times New Roman" panose="02020603050405020304" pitchFamily="18" charset="0"/>
                  </a:rPr>
                  <a:t>i</a:t>
                </a:r>
                <a:endParaRPr lang="en-US" altLang="zh-CN" sz="1400" b="1" baseline="-25000" dirty="0">
                  <a:latin typeface="Times New Roman" panose="02020603050405020304" pitchFamily="18" charset="0"/>
                  <a:cs typeface="Times New Roman" panose="02020603050405020304" pitchFamily="18" charset="0"/>
                </a:endParaRPr>
              </a:p>
              <a:p>
                <a:pPr algn="r">
                  <a:lnSpc>
                    <a:spcPts val="1900"/>
                  </a:lnSpc>
                </a:pPr>
                <a:r>
                  <a:rPr lang="en-US" altLang="zh-CN" sz="1400" b="1" i="1" dirty="0">
                    <a:latin typeface="Times New Roman" panose="02020603050405020304" pitchFamily="18" charset="0"/>
                    <a:cs typeface="Times New Roman" panose="02020603050405020304" pitchFamily="18" charset="0"/>
                  </a:rPr>
                  <a:t>B</a:t>
                </a:r>
                <a:r>
                  <a:rPr lang="en-US" altLang="zh-CN" sz="1400" b="1" baseline="-25000" dirty="0">
                    <a:latin typeface="Times New Roman" panose="02020603050405020304" pitchFamily="18" charset="0"/>
                    <a:cs typeface="Times New Roman" panose="02020603050405020304" pitchFamily="18" charset="0"/>
                  </a:rPr>
                  <a:t>i</a:t>
                </a:r>
                <a:endParaRPr lang="en-US" altLang="zh-CN" sz="1400" b="1" i="1" dirty="0">
                  <a:latin typeface="Times New Roman" panose="02020603050405020304" pitchFamily="18" charset="0"/>
                  <a:cs typeface="Times New Roman" panose="02020603050405020304" pitchFamily="18" charset="0"/>
                </a:endParaRPr>
              </a:p>
            </p:txBody>
          </p:sp>
          <p:sp>
            <p:nvSpPr>
              <p:cNvPr id="137" name="TextBox 136"/>
              <p:cNvSpPr txBox="1"/>
              <p:nvPr/>
            </p:nvSpPr>
            <p:spPr>
              <a:xfrm>
                <a:off x="6736097" y="3985898"/>
                <a:ext cx="317716" cy="317203"/>
              </a:xfrm>
              <a:prstGeom prst="rect">
                <a:avLst/>
              </a:prstGeom>
              <a:noFill/>
            </p:spPr>
            <p:txBody>
              <a:bodyPr wrap="none" rtlCol="0">
                <a:spAutoFit/>
              </a:bodyPr>
              <a:lstStyle/>
              <a:p>
                <a:pPr>
                  <a:lnSpc>
                    <a:spcPts val="1900"/>
                  </a:lnSpc>
                </a:pPr>
                <a:r>
                  <a:rPr lang="en-US" altLang="zh-CN" sz="1400" b="1" i="1" dirty="0">
                    <a:latin typeface="Times New Roman" panose="02020603050405020304" pitchFamily="18" charset="0"/>
                    <a:cs typeface="Times New Roman" panose="02020603050405020304" pitchFamily="18" charset="0"/>
                  </a:rPr>
                  <a:t>S</a:t>
                </a:r>
                <a:r>
                  <a:rPr lang="en-US" altLang="zh-CN" sz="1400" b="1" baseline="-25000" dirty="0">
                    <a:latin typeface="Times New Roman" panose="02020603050405020304" pitchFamily="18" charset="0"/>
                    <a:cs typeface="Times New Roman" panose="02020603050405020304" pitchFamily="18" charset="0"/>
                  </a:rPr>
                  <a:t>i</a:t>
                </a:r>
                <a:endParaRPr lang="zh-CN" altLang="en-US" sz="1400" b="1" baseline="-25000" dirty="0">
                  <a:latin typeface="Times New Roman" panose="02020603050405020304" pitchFamily="18" charset="0"/>
                  <a:cs typeface="Times New Roman" panose="02020603050405020304" pitchFamily="18" charset="0"/>
                </a:endParaRPr>
              </a:p>
            </p:txBody>
          </p:sp>
          <p:sp>
            <p:nvSpPr>
              <p:cNvPr id="138" name="TextBox 137"/>
              <p:cNvSpPr txBox="1"/>
              <p:nvPr/>
            </p:nvSpPr>
            <p:spPr>
              <a:xfrm>
                <a:off x="6744060" y="4473584"/>
                <a:ext cx="338554" cy="317203"/>
              </a:xfrm>
              <a:prstGeom prst="rect">
                <a:avLst/>
              </a:prstGeom>
              <a:noFill/>
            </p:spPr>
            <p:txBody>
              <a:bodyPr wrap="none" rtlCol="0">
                <a:spAutoFit/>
              </a:bodyPr>
              <a:lstStyle/>
              <a:p>
                <a:pPr>
                  <a:lnSpc>
                    <a:spcPts val="1900"/>
                  </a:lnSpc>
                </a:pPr>
                <a:r>
                  <a:rPr lang="en-US" altLang="zh-CN" sz="1400" b="1" i="1" dirty="0" err="1">
                    <a:latin typeface="Times New Roman" panose="02020603050405020304" pitchFamily="18" charset="0"/>
                    <a:cs typeface="Times New Roman" panose="02020603050405020304" pitchFamily="18" charset="0"/>
                  </a:rPr>
                  <a:t>C</a:t>
                </a:r>
                <a:r>
                  <a:rPr lang="en-US" altLang="zh-CN" sz="1400" b="1" baseline="-25000" dirty="0" err="1">
                    <a:latin typeface="Times New Roman" panose="02020603050405020304" pitchFamily="18" charset="0"/>
                    <a:cs typeface="Times New Roman" panose="02020603050405020304" pitchFamily="18" charset="0"/>
                  </a:rPr>
                  <a:t>i</a:t>
                </a:r>
                <a:endParaRPr lang="zh-CN" altLang="en-US" sz="1400" b="1" baseline="-25000" dirty="0">
                  <a:latin typeface="Times New Roman" panose="02020603050405020304" pitchFamily="18" charset="0"/>
                  <a:cs typeface="Times New Roman" panose="02020603050405020304" pitchFamily="18" charset="0"/>
                </a:endParaRPr>
              </a:p>
            </p:txBody>
          </p:sp>
        </p:grpSp>
        <p:sp>
          <p:nvSpPr>
            <p:cNvPr id="129" name="圆角矩形 128"/>
            <p:cNvSpPr/>
            <p:nvPr/>
          </p:nvSpPr>
          <p:spPr>
            <a:xfrm>
              <a:off x="4731044" y="3772894"/>
              <a:ext cx="1948069" cy="27829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lstStyle/>
            <a:p>
              <a:pPr algn="ctr"/>
              <a:r>
                <a:rPr lang="zh-CN" altLang="en-US" sz="1400" dirty="0">
                  <a:latin typeface="黑体" panose="02010609060101010101" pitchFamily="49" charset="-122"/>
                  <a:ea typeface="黑体" panose="02010609060101010101" pitchFamily="49" charset="-122"/>
                </a:rPr>
                <a:t>半加器实现的全加器</a:t>
              </a:r>
              <a:endParaRPr lang="zh-CN" altLang="en-US" sz="1400" dirty="0">
                <a:latin typeface="黑体" panose="02010609060101010101" pitchFamily="49" charset="-122"/>
                <a:ea typeface="黑体" panose="02010609060101010101" pitchFamily="49" charset="-122"/>
              </a:endParaRPr>
            </a:p>
          </p:txBody>
        </p:sp>
      </p:grpSp>
      <p:grpSp>
        <p:nvGrpSpPr>
          <p:cNvPr id="146" name="组合 145"/>
          <p:cNvGrpSpPr/>
          <p:nvPr/>
        </p:nvGrpSpPr>
        <p:grpSpPr>
          <a:xfrm>
            <a:off x="6599358" y="3126979"/>
            <a:ext cx="1702154" cy="1281483"/>
            <a:chOff x="7155618" y="3772894"/>
            <a:chExt cx="1702154" cy="1281483"/>
          </a:xfrm>
        </p:grpSpPr>
        <p:grpSp>
          <p:nvGrpSpPr>
            <p:cNvPr id="147" name="组合 89"/>
            <p:cNvGrpSpPr/>
            <p:nvPr/>
          </p:nvGrpSpPr>
          <p:grpSpPr>
            <a:xfrm>
              <a:off x="7155618" y="3919984"/>
              <a:ext cx="1702154" cy="1134393"/>
              <a:chOff x="6952842" y="3741064"/>
              <a:chExt cx="1702154" cy="1134393"/>
            </a:xfrm>
          </p:grpSpPr>
          <p:sp>
            <p:nvSpPr>
              <p:cNvPr id="149" name="圆角矩形 148"/>
              <p:cNvSpPr/>
              <p:nvPr/>
            </p:nvSpPr>
            <p:spPr>
              <a:xfrm>
                <a:off x="6952842" y="3741064"/>
                <a:ext cx="1702154" cy="1134393"/>
              </a:xfrm>
              <a:prstGeom prst="roundRect">
                <a:avLst>
                  <a:gd name="adj" fmla="val 4849"/>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50" name="组合 85"/>
              <p:cNvGrpSpPr/>
              <p:nvPr/>
            </p:nvGrpSpPr>
            <p:grpSpPr>
              <a:xfrm>
                <a:off x="7390751" y="4306866"/>
                <a:ext cx="864000" cy="336605"/>
                <a:chOff x="7343039" y="4306866"/>
                <a:chExt cx="864000" cy="336605"/>
              </a:xfrm>
            </p:grpSpPr>
            <p:cxnSp>
              <p:nvCxnSpPr>
                <p:cNvPr id="155" name="直接连接符 154"/>
                <p:cNvCxnSpPr/>
                <p:nvPr/>
              </p:nvCxnSpPr>
              <p:spPr>
                <a:xfrm>
                  <a:off x="7343039" y="4643471"/>
                  <a:ext cx="864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直接连接符 155"/>
                <p:cNvCxnSpPr/>
                <p:nvPr/>
              </p:nvCxnSpPr>
              <p:spPr>
                <a:xfrm>
                  <a:off x="7343039" y="4306866"/>
                  <a:ext cx="864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p:nvCxnSpPr>
              <p:spPr>
                <a:xfrm>
                  <a:off x="7343039" y="4475169"/>
                  <a:ext cx="576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1" name="Rectangle 7"/>
              <p:cNvSpPr>
                <a:spLocks noChangeArrowheads="1"/>
              </p:cNvSpPr>
              <p:nvPr/>
            </p:nvSpPr>
            <p:spPr bwMode="auto">
              <a:xfrm>
                <a:off x="7627914" y="4189670"/>
                <a:ext cx="430733" cy="579798"/>
              </a:xfrm>
              <a:prstGeom prst="rect">
                <a:avLst/>
              </a:prstGeom>
              <a:solidFill>
                <a:srgbClr val="FFFF00"/>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Ʃ</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152" name="TextBox 151"/>
              <p:cNvSpPr txBox="1"/>
              <p:nvPr/>
            </p:nvSpPr>
            <p:spPr>
              <a:xfrm>
                <a:off x="7657143" y="4534907"/>
                <a:ext cx="385638" cy="169277"/>
              </a:xfrm>
              <a:prstGeom prst="rect">
                <a:avLst/>
              </a:prstGeom>
              <a:noFill/>
            </p:spPr>
            <p:txBody>
              <a:bodyPr wrap="square" lIns="0" tIns="0" rIns="0" bIns="0" rtlCol="0">
                <a:spAutoFit/>
              </a:bodyPr>
              <a:lstStyle/>
              <a:p>
                <a:r>
                  <a:rPr lang="en-US" altLang="zh-CN" sz="1100" b="1" dirty="0">
                    <a:latin typeface="宋体" panose="02010600030101010101" pitchFamily="2" charset="-122"/>
                    <a:ea typeface="宋体" panose="02010600030101010101" pitchFamily="2" charset="-122"/>
                    <a:cs typeface="Times New Roman" panose="02020603050405020304" pitchFamily="18" charset="0"/>
                  </a:rPr>
                  <a:t>CI CO</a:t>
                </a:r>
                <a:endParaRPr lang="zh-CN" altLang="en-US" sz="11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153" name="TextBox 152"/>
              <p:cNvSpPr txBox="1"/>
              <p:nvPr/>
            </p:nvSpPr>
            <p:spPr>
              <a:xfrm>
                <a:off x="7083263" y="4162921"/>
                <a:ext cx="279095" cy="577081"/>
              </a:xfrm>
              <a:prstGeom prst="rect">
                <a:avLst/>
              </a:prstGeom>
              <a:noFill/>
            </p:spPr>
            <p:txBody>
              <a:bodyPr wrap="square" lIns="0" tIns="0" rIns="0" bIns="0" rtlCol="0">
                <a:spAutoFit/>
              </a:bodyPr>
              <a:lstStyle/>
              <a:p>
                <a:pPr algn="r">
                  <a:lnSpc>
                    <a:spcPts val="1500"/>
                  </a:lnSpc>
                </a:pPr>
                <a:r>
                  <a:rPr lang="en-US" altLang="zh-CN" sz="1400" b="1" i="1" dirty="0">
                    <a:latin typeface="Times New Roman" panose="02020603050405020304" pitchFamily="18" charset="0"/>
                    <a:cs typeface="Times New Roman" panose="02020603050405020304" pitchFamily="18" charset="0"/>
                  </a:rPr>
                  <a:t>A</a:t>
                </a:r>
                <a:r>
                  <a:rPr lang="en-US" altLang="zh-CN" sz="1400" b="1" baseline="-25000" dirty="0">
                    <a:latin typeface="Times New Roman" panose="02020603050405020304" pitchFamily="18" charset="0"/>
                    <a:cs typeface="Times New Roman" panose="02020603050405020304" pitchFamily="18" charset="0"/>
                  </a:rPr>
                  <a:t>i</a:t>
                </a:r>
                <a:endParaRPr lang="en-US" altLang="zh-CN" sz="1400" b="1" baseline="-25000" dirty="0">
                  <a:latin typeface="Times New Roman" panose="02020603050405020304" pitchFamily="18" charset="0"/>
                  <a:cs typeface="Times New Roman" panose="02020603050405020304" pitchFamily="18" charset="0"/>
                </a:endParaRPr>
              </a:p>
              <a:p>
                <a:pPr algn="r">
                  <a:lnSpc>
                    <a:spcPts val="1500"/>
                  </a:lnSpc>
                </a:pPr>
                <a:r>
                  <a:rPr lang="en-US" altLang="zh-CN" sz="1400" b="1" i="1" dirty="0">
                    <a:latin typeface="Times New Roman" panose="02020603050405020304" pitchFamily="18" charset="0"/>
                    <a:cs typeface="Times New Roman" panose="02020603050405020304" pitchFamily="18" charset="0"/>
                  </a:rPr>
                  <a:t>B</a:t>
                </a:r>
                <a:r>
                  <a:rPr lang="en-US" altLang="zh-CN" sz="1400" b="1" baseline="-25000" dirty="0">
                    <a:latin typeface="Times New Roman" panose="02020603050405020304" pitchFamily="18" charset="0"/>
                    <a:cs typeface="Times New Roman" panose="02020603050405020304" pitchFamily="18" charset="0"/>
                  </a:rPr>
                  <a:t>i</a:t>
                </a:r>
                <a:endParaRPr lang="en-US" altLang="zh-CN" sz="1400" b="1" baseline="-25000" dirty="0">
                  <a:latin typeface="Times New Roman" panose="02020603050405020304" pitchFamily="18" charset="0"/>
                  <a:cs typeface="Times New Roman" panose="02020603050405020304" pitchFamily="18" charset="0"/>
                </a:endParaRPr>
              </a:p>
              <a:p>
                <a:pPr algn="r">
                  <a:lnSpc>
                    <a:spcPts val="1500"/>
                  </a:lnSpc>
                </a:pPr>
                <a:r>
                  <a:rPr lang="en-US" altLang="zh-CN" sz="1400" b="1" i="1" dirty="0">
                    <a:latin typeface="Times New Roman" panose="02020603050405020304" pitchFamily="18" charset="0"/>
                    <a:cs typeface="Times New Roman" panose="02020603050405020304" pitchFamily="18" charset="0"/>
                  </a:rPr>
                  <a:t>C</a:t>
                </a:r>
                <a:r>
                  <a:rPr lang="en-US" altLang="zh-CN" sz="1400" b="1" baseline="-25000" dirty="0">
                    <a:latin typeface="Times New Roman" panose="02020603050405020304" pitchFamily="18" charset="0"/>
                    <a:cs typeface="Times New Roman" panose="02020603050405020304" pitchFamily="18" charset="0"/>
                  </a:rPr>
                  <a:t>i-1</a:t>
                </a:r>
                <a:endParaRPr lang="en-US" altLang="zh-CN" sz="1400" b="1" i="1" dirty="0">
                  <a:latin typeface="Times New Roman" panose="02020603050405020304" pitchFamily="18" charset="0"/>
                  <a:cs typeface="Times New Roman" panose="02020603050405020304" pitchFamily="18" charset="0"/>
                </a:endParaRPr>
              </a:p>
            </p:txBody>
          </p:sp>
          <p:sp>
            <p:nvSpPr>
              <p:cNvPr id="154" name="TextBox 153"/>
              <p:cNvSpPr txBox="1"/>
              <p:nvPr/>
            </p:nvSpPr>
            <p:spPr>
              <a:xfrm>
                <a:off x="8277285" y="4196048"/>
                <a:ext cx="279095" cy="538609"/>
              </a:xfrm>
              <a:prstGeom prst="rect">
                <a:avLst/>
              </a:prstGeom>
              <a:noFill/>
            </p:spPr>
            <p:txBody>
              <a:bodyPr wrap="square" lIns="0" tIns="0" rIns="0" bIns="0" rtlCol="0">
                <a:spAutoFit/>
              </a:bodyPr>
              <a:lstStyle/>
              <a:p>
                <a:pPr>
                  <a:lnSpc>
                    <a:spcPts val="1400"/>
                  </a:lnSpc>
                </a:pPr>
                <a:r>
                  <a:rPr lang="en-US" altLang="zh-CN" sz="1400" b="1" i="1" dirty="0">
                    <a:latin typeface="Times New Roman" panose="02020603050405020304" pitchFamily="18" charset="0"/>
                    <a:cs typeface="Times New Roman" panose="02020603050405020304" pitchFamily="18" charset="0"/>
                  </a:rPr>
                  <a:t>S</a:t>
                </a:r>
                <a:r>
                  <a:rPr lang="en-US" altLang="zh-CN" sz="1400" b="1" baseline="-25000" dirty="0">
                    <a:latin typeface="Times New Roman" panose="02020603050405020304" pitchFamily="18" charset="0"/>
                    <a:cs typeface="Times New Roman" panose="02020603050405020304" pitchFamily="18" charset="0"/>
                  </a:rPr>
                  <a:t>i</a:t>
                </a:r>
                <a:endParaRPr lang="en-US" altLang="zh-CN" sz="1400" b="1" baseline="-25000" dirty="0">
                  <a:latin typeface="Times New Roman" panose="02020603050405020304" pitchFamily="18" charset="0"/>
                  <a:cs typeface="Times New Roman" panose="02020603050405020304" pitchFamily="18" charset="0"/>
                </a:endParaRPr>
              </a:p>
              <a:p>
                <a:pPr>
                  <a:lnSpc>
                    <a:spcPts val="1400"/>
                  </a:lnSpc>
                </a:pPr>
                <a:endParaRPr lang="en-US" altLang="zh-CN" sz="1400" b="1" i="1" dirty="0">
                  <a:latin typeface="Times New Roman" panose="02020603050405020304" pitchFamily="18" charset="0"/>
                  <a:cs typeface="Times New Roman" panose="02020603050405020304" pitchFamily="18" charset="0"/>
                </a:endParaRPr>
              </a:p>
              <a:p>
                <a:pPr>
                  <a:lnSpc>
                    <a:spcPts val="1400"/>
                  </a:lnSpc>
                </a:pPr>
                <a:r>
                  <a:rPr lang="en-US" altLang="zh-CN" sz="1400" b="1" i="1" dirty="0" err="1">
                    <a:latin typeface="Times New Roman" panose="02020603050405020304" pitchFamily="18" charset="0"/>
                    <a:cs typeface="Times New Roman" panose="02020603050405020304" pitchFamily="18" charset="0"/>
                  </a:rPr>
                  <a:t>C</a:t>
                </a:r>
                <a:r>
                  <a:rPr lang="en-US" altLang="zh-CN" sz="1400" b="1" baseline="-25000" dirty="0" err="1">
                    <a:latin typeface="Times New Roman" panose="02020603050405020304" pitchFamily="18" charset="0"/>
                    <a:cs typeface="Times New Roman" panose="02020603050405020304" pitchFamily="18" charset="0"/>
                  </a:rPr>
                  <a:t>i</a:t>
                </a:r>
                <a:endParaRPr lang="en-US" altLang="zh-CN" sz="1400" b="1" i="1" dirty="0">
                  <a:latin typeface="Times New Roman" panose="02020603050405020304" pitchFamily="18" charset="0"/>
                  <a:cs typeface="Times New Roman" panose="02020603050405020304" pitchFamily="18" charset="0"/>
                </a:endParaRPr>
              </a:p>
            </p:txBody>
          </p:sp>
        </p:grpSp>
        <p:sp>
          <p:nvSpPr>
            <p:cNvPr id="148" name="圆角矩形 147"/>
            <p:cNvSpPr/>
            <p:nvPr/>
          </p:nvSpPr>
          <p:spPr>
            <a:xfrm>
              <a:off x="7380150" y="3772894"/>
              <a:ext cx="1155588" cy="27829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lstStyle/>
            <a:p>
              <a:pPr algn="ctr"/>
              <a:r>
                <a:rPr lang="zh-CN" altLang="en-US" sz="1400" dirty="0">
                  <a:latin typeface="黑体" panose="02010609060101010101" pitchFamily="49" charset="-122"/>
                  <a:ea typeface="黑体" panose="02010609060101010101" pitchFamily="49" charset="-122"/>
                </a:rPr>
                <a:t>全加器符号</a:t>
              </a:r>
              <a:endParaRPr lang="zh-CN" altLang="en-US" sz="1400" dirty="0">
                <a:latin typeface="黑体" panose="02010609060101010101" pitchFamily="49" charset="-122"/>
                <a:ea typeface="黑体" panose="02010609060101010101" pitchFamily="49" charset="-122"/>
              </a:endParaRPr>
            </a:p>
          </p:txBody>
        </p:sp>
      </p:grpSp>
      <p:grpSp>
        <p:nvGrpSpPr>
          <p:cNvPr id="159" name="组合 158"/>
          <p:cNvGrpSpPr/>
          <p:nvPr/>
        </p:nvGrpSpPr>
        <p:grpSpPr>
          <a:xfrm>
            <a:off x="2961965" y="1740139"/>
            <a:ext cx="3041270" cy="2239271"/>
            <a:chOff x="2855285" y="2111734"/>
            <a:chExt cx="3041270" cy="2239271"/>
          </a:xfrm>
        </p:grpSpPr>
        <p:grpSp>
          <p:nvGrpSpPr>
            <p:cNvPr id="95" name="组合 94"/>
            <p:cNvGrpSpPr/>
            <p:nvPr/>
          </p:nvGrpSpPr>
          <p:grpSpPr>
            <a:xfrm>
              <a:off x="2855285" y="2255520"/>
              <a:ext cx="3041270" cy="2095485"/>
              <a:chOff x="5867712" y="1682431"/>
              <a:chExt cx="3041270" cy="2095485"/>
            </a:xfrm>
          </p:grpSpPr>
          <p:sp>
            <p:nvSpPr>
              <p:cNvPr id="96" name="圆角矩形 95"/>
              <p:cNvSpPr/>
              <p:nvPr/>
            </p:nvSpPr>
            <p:spPr>
              <a:xfrm>
                <a:off x="5867712" y="1682431"/>
                <a:ext cx="3023625" cy="2095485"/>
              </a:xfrm>
              <a:prstGeom prst="roundRect">
                <a:avLst>
                  <a:gd name="adj" fmla="val 4849"/>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97" name="直接连接符 96"/>
              <p:cNvCxnSpPr/>
              <p:nvPr/>
            </p:nvCxnSpPr>
            <p:spPr>
              <a:xfrm flipV="1">
                <a:off x="6378671" y="3594180"/>
                <a:ext cx="1044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a:off x="6791810" y="2189092"/>
                <a:ext cx="612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a:off x="6182244" y="2976087"/>
                <a:ext cx="1224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a:off x="6182244" y="2310164"/>
                <a:ext cx="684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V="1">
                <a:off x="6519040" y="3329489"/>
                <a:ext cx="900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V="1">
                <a:off x="7242957" y="2728838"/>
                <a:ext cx="288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flipV="1">
                <a:off x="7082536" y="2401943"/>
                <a:ext cx="0" cy="576000"/>
              </a:xfrm>
              <a:prstGeom prst="line">
                <a:avLst/>
              </a:prstGeom>
              <a:solidFill>
                <a:schemeClr val="accent4">
                  <a:lumMod val="20000"/>
                  <a:lumOff val="80000"/>
                </a:schemeClr>
              </a:solid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a:off x="6523049" y="2044976"/>
                <a:ext cx="1135" cy="1296000"/>
              </a:xfrm>
              <a:prstGeom prst="line">
                <a:avLst/>
              </a:prstGeom>
              <a:solidFill>
                <a:schemeClr val="accent4">
                  <a:lumMod val="20000"/>
                  <a:lumOff val="80000"/>
                </a:schemeClr>
              </a:solid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6182244" y="2044713"/>
                <a:ext cx="684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6" name="Group 6"/>
              <p:cNvGrpSpPr/>
              <p:nvPr/>
            </p:nvGrpSpPr>
            <p:grpSpPr bwMode="auto">
              <a:xfrm>
                <a:off x="7402711" y="2634260"/>
                <a:ext cx="350396" cy="470666"/>
                <a:chOff x="2638" y="5808"/>
                <a:chExt cx="564" cy="680"/>
              </a:xfrm>
              <a:solidFill>
                <a:schemeClr val="accent4">
                  <a:lumMod val="20000"/>
                  <a:lumOff val="80000"/>
                </a:schemeClr>
              </a:solidFill>
            </p:grpSpPr>
            <p:sp>
              <p:nvSpPr>
                <p:cNvPr id="125" name="Rectangle 7"/>
                <p:cNvSpPr>
                  <a:spLocks noChangeArrowheads="1"/>
                </p:cNvSpPr>
                <p:nvPr/>
              </p:nvSpPr>
              <p:spPr bwMode="auto">
                <a:xfrm>
                  <a:off x="2638" y="5808"/>
                  <a:ext cx="454" cy="680"/>
                </a:xfrm>
                <a:prstGeom prst="rect">
                  <a:avLst/>
                </a:prstGeom>
                <a:solidFill>
                  <a:srgbClr val="FFFF00"/>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126"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grpSp>
            <p:nvGrpSpPr>
              <p:cNvPr id="107" name="Group 6"/>
              <p:cNvGrpSpPr/>
              <p:nvPr/>
            </p:nvGrpSpPr>
            <p:grpSpPr bwMode="auto">
              <a:xfrm>
                <a:off x="7402697" y="3214532"/>
                <a:ext cx="350393" cy="470667"/>
                <a:chOff x="2638" y="5808"/>
                <a:chExt cx="564" cy="680"/>
              </a:xfrm>
              <a:solidFill>
                <a:schemeClr val="accent4">
                  <a:lumMod val="20000"/>
                  <a:lumOff val="80000"/>
                </a:schemeClr>
              </a:solidFill>
            </p:grpSpPr>
            <p:sp>
              <p:nvSpPr>
                <p:cNvPr id="123"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sp>
              <p:nvSpPr>
                <p:cNvPr id="124" name="Rectangle 7"/>
                <p:cNvSpPr>
                  <a:spLocks noChangeArrowheads="1"/>
                </p:cNvSpPr>
                <p:nvPr/>
              </p:nvSpPr>
              <p:spPr bwMode="auto">
                <a:xfrm>
                  <a:off x="2638" y="5808"/>
                  <a:ext cx="454" cy="680"/>
                </a:xfrm>
                <a:prstGeom prst="rect">
                  <a:avLst/>
                </a:prstGeom>
                <a:solidFill>
                  <a:srgbClr val="FFFF00"/>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grpSp>
          <p:sp>
            <p:nvSpPr>
              <p:cNvPr id="108" name="Rectangle 7"/>
              <p:cNvSpPr>
                <a:spLocks noChangeArrowheads="1"/>
              </p:cNvSpPr>
              <p:nvPr/>
            </p:nvSpPr>
            <p:spPr bwMode="auto">
              <a:xfrm>
                <a:off x="6696839" y="1965673"/>
                <a:ext cx="282056" cy="470666"/>
              </a:xfrm>
              <a:prstGeom prst="rect">
                <a:avLst/>
              </a:prstGeom>
              <a:solidFill>
                <a:srgbClr val="FFFF00"/>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=1</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cxnSp>
            <p:nvCxnSpPr>
              <p:cNvPr id="109" name="肘形连接符 108"/>
              <p:cNvCxnSpPr/>
              <p:nvPr/>
            </p:nvCxnSpPr>
            <p:spPr>
              <a:xfrm>
                <a:off x="7742643" y="2863725"/>
                <a:ext cx="426799" cy="160212"/>
              </a:xfrm>
              <a:prstGeom prst="bentConnector3">
                <a:avLst>
                  <a:gd name="adj1" fmla="val 39664"/>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7587499" y="2276343"/>
                <a:ext cx="1008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TextBox 110"/>
              <p:cNvSpPr txBox="1"/>
              <p:nvPr/>
            </p:nvSpPr>
            <p:spPr>
              <a:xfrm>
                <a:off x="5874892" y="1924366"/>
                <a:ext cx="279095" cy="1218282"/>
              </a:xfrm>
              <a:prstGeom prst="rect">
                <a:avLst/>
              </a:prstGeom>
              <a:noFill/>
            </p:spPr>
            <p:txBody>
              <a:bodyPr wrap="square" lIns="0" tIns="0" rIns="0" bIns="0" rtlCol="0">
                <a:spAutoFit/>
              </a:bodyPr>
              <a:lstStyle/>
              <a:p>
                <a:pPr algn="r">
                  <a:lnSpc>
                    <a:spcPts val="1900"/>
                  </a:lnSpc>
                </a:pPr>
                <a:r>
                  <a:rPr lang="en-US" altLang="zh-CN" sz="1400" b="1" i="1" dirty="0">
                    <a:latin typeface="Times New Roman" panose="02020603050405020304" pitchFamily="18" charset="0"/>
                    <a:cs typeface="Times New Roman" panose="02020603050405020304" pitchFamily="18" charset="0"/>
                  </a:rPr>
                  <a:t>A</a:t>
                </a:r>
                <a:r>
                  <a:rPr lang="en-US" altLang="zh-CN" sz="1400" b="1" baseline="-25000" dirty="0">
                    <a:latin typeface="Times New Roman" panose="02020603050405020304" pitchFamily="18" charset="0"/>
                    <a:cs typeface="Times New Roman" panose="02020603050405020304" pitchFamily="18" charset="0"/>
                  </a:rPr>
                  <a:t>i</a:t>
                </a:r>
                <a:endParaRPr lang="en-US" altLang="zh-CN" sz="1400" b="1" baseline="-25000" dirty="0">
                  <a:latin typeface="Times New Roman" panose="02020603050405020304" pitchFamily="18" charset="0"/>
                  <a:cs typeface="Times New Roman" panose="02020603050405020304" pitchFamily="18" charset="0"/>
                </a:endParaRPr>
              </a:p>
              <a:p>
                <a:pPr algn="r">
                  <a:lnSpc>
                    <a:spcPts val="1900"/>
                  </a:lnSpc>
                </a:pPr>
                <a:r>
                  <a:rPr lang="en-US" altLang="zh-CN" sz="1400" b="1" i="1" dirty="0">
                    <a:latin typeface="Times New Roman" panose="02020603050405020304" pitchFamily="18" charset="0"/>
                    <a:cs typeface="Times New Roman" panose="02020603050405020304" pitchFamily="18" charset="0"/>
                  </a:rPr>
                  <a:t>B</a:t>
                </a:r>
                <a:r>
                  <a:rPr lang="en-US" altLang="zh-CN" sz="1400" b="1" baseline="-25000" dirty="0">
                    <a:latin typeface="Times New Roman" panose="02020603050405020304" pitchFamily="18" charset="0"/>
                    <a:cs typeface="Times New Roman" panose="02020603050405020304" pitchFamily="18" charset="0"/>
                  </a:rPr>
                  <a:t>i</a:t>
                </a:r>
                <a:endParaRPr lang="en-US" altLang="zh-CN" sz="1400" b="1" baseline="-25000" dirty="0">
                  <a:latin typeface="Times New Roman" panose="02020603050405020304" pitchFamily="18" charset="0"/>
                  <a:cs typeface="Times New Roman" panose="02020603050405020304" pitchFamily="18" charset="0"/>
                </a:endParaRPr>
              </a:p>
              <a:p>
                <a:pPr algn="r">
                  <a:lnSpc>
                    <a:spcPts val="1900"/>
                  </a:lnSpc>
                </a:pPr>
                <a:endParaRPr lang="en-US" altLang="zh-CN" sz="1400" b="1" i="1" dirty="0">
                  <a:latin typeface="Times New Roman" panose="02020603050405020304" pitchFamily="18" charset="0"/>
                  <a:cs typeface="Times New Roman" panose="02020603050405020304" pitchFamily="18" charset="0"/>
                </a:endParaRPr>
              </a:p>
              <a:p>
                <a:pPr algn="r">
                  <a:lnSpc>
                    <a:spcPts val="1900"/>
                  </a:lnSpc>
                </a:pPr>
                <a:endParaRPr lang="en-US" altLang="zh-CN" sz="1400" b="1" i="1" dirty="0">
                  <a:latin typeface="Times New Roman" panose="02020603050405020304" pitchFamily="18" charset="0"/>
                  <a:cs typeface="Times New Roman" panose="02020603050405020304" pitchFamily="18" charset="0"/>
                </a:endParaRPr>
              </a:p>
              <a:p>
                <a:pPr algn="r">
                  <a:lnSpc>
                    <a:spcPts val="1900"/>
                  </a:lnSpc>
                </a:pPr>
                <a:r>
                  <a:rPr lang="en-US" altLang="zh-CN" sz="1400" b="1" i="1" dirty="0">
                    <a:latin typeface="Times New Roman" panose="02020603050405020304" pitchFamily="18" charset="0"/>
                    <a:cs typeface="Times New Roman" panose="02020603050405020304" pitchFamily="18" charset="0"/>
                  </a:rPr>
                  <a:t>C</a:t>
                </a:r>
                <a:r>
                  <a:rPr lang="en-US" altLang="zh-CN" sz="1400" b="1" baseline="-25000" dirty="0">
                    <a:latin typeface="Times New Roman" panose="02020603050405020304" pitchFamily="18" charset="0"/>
                    <a:cs typeface="Times New Roman" panose="02020603050405020304" pitchFamily="18" charset="0"/>
                  </a:rPr>
                  <a:t>i-1</a:t>
                </a:r>
                <a:endParaRPr lang="en-US" altLang="zh-CN" sz="1400" b="1" baseline="-25000" dirty="0">
                  <a:latin typeface="Times New Roman" panose="02020603050405020304" pitchFamily="18" charset="0"/>
                  <a:cs typeface="Times New Roman" panose="02020603050405020304" pitchFamily="18" charset="0"/>
                </a:endParaRPr>
              </a:p>
            </p:txBody>
          </p:sp>
          <p:sp>
            <p:nvSpPr>
              <p:cNvPr id="112" name="TextBox 111"/>
              <p:cNvSpPr txBox="1"/>
              <p:nvPr/>
            </p:nvSpPr>
            <p:spPr>
              <a:xfrm>
                <a:off x="8570428" y="2118402"/>
                <a:ext cx="317716" cy="317203"/>
              </a:xfrm>
              <a:prstGeom prst="rect">
                <a:avLst/>
              </a:prstGeom>
              <a:noFill/>
            </p:spPr>
            <p:txBody>
              <a:bodyPr wrap="none" rtlCol="0">
                <a:spAutoFit/>
              </a:bodyPr>
              <a:lstStyle/>
              <a:p>
                <a:pPr>
                  <a:lnSpc>
                    <a:spcPts val="1900"/>
                  </a:lnSpc>
                </a:pPr>
                <a:r>
                  <a:rPr lang="en-US" altLang="zh-CN" sz="1400" b="1" i="1" dirty="0">
                    <a:latin typeface="Times New Roman" panose="02020603050405020304" pitchFamily="18" charset="0"/>
                    <a:cs typeface="Times New Roman" panose="02020603050405020304" pitchFamily="18" charset="0"/>
                  </a:rPr>
                  <a:t>S</a:t>
                </a:r>
                <a:r>
                  <a:rPr lang="en-US" altLang="zh-CN" sz="1400" b="1" baseline="-25000" dirty="0">
                    <a:latin typeface="Times New Roman" panose="02020603050405020304" pitchFamily="18" charset="0"/>
                    <a:cs typeface="Times New Roman" panose="02020603050405020304" pitchFamily="18" charset="0"/>
                  </a:rPr>
                  <a:t>i</a:t>
                </a:r>
                <a:endParaRPr lang="zh-CN" altLang="en-US" sz="1400" b="1" baseline="-25000" dirty="0">
                  <a:latin typeface="Times New Roman" panose="02020603050405020304" pitchFamily="18" charset="0"/>
                  <a:cs typeface="Times New Roman" panose="02020603050405020304" pitchFamily="18" charset="0"/>
                </a:endParaRPr>
              </a:p>
            </p:txBody>
          </p:sp>
          <p:cxnSp>
            <p:nvCxnSpPr>
              <p:cNvPr id="113" name="直接连接符 112"/>
              <p:cNvCxnSpPr/>
              <p:nvPr/>
            </p:nvCxnSpPr>
            <p:spPr>
              <a:xfrm>
                <a:off x="7080568" y="2397635"/>
                <a:ext cx="360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a:off x="7242957" y="2187869"/>
                <a:ext cx="53" cy="540000"/>
              </a:xfrm>
              <a:prstGeom prst="line">
                <a:avLst/>
              </a:prstGeom>
              <a:solidFill>
                <a:schemeClr val="accent4">
                  <a:lumMod val="20000"/>
                  <a:lumOff val="80000"/>
                </a:schemeClr>
              </a:solid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6386691" y="2305657"/>
                <a:ext cx="1135" cy="1296000"/>
              </a:xfrm>
              <a:prstGeom prst="line">
                <a:avLst/>
              </a:prstGeom>
              <a:solidFill>
                <a:schemeClr val="accent4">
                  <a:lumMod val="20000"/>
                  <a:lumOff val="80000"/>
                </a:schemeClr>
              </a:solidFill>
              <a:ln w="19050">
                <a:solidFill>
                  <a:schemeClr val="tx1"/>
                </a:solidFill>
                <a:headEnd type="oval" w="sm" len="sm"/>
              </a:ln>
            </p:spPr>
            <p:style>
              <a:lnRef idx="1">
                <a:schemeClr val="accent1"/>
              </a:lnRef>
              <a:fillRef idx="0">
                <a:schemeClr val="accent1"/>
              </a:fillRef>
              <a:effectRef idx="0">
                <a:schemeClr val="accent1"/>
              </a:effectRef>
              <a:fontRef idx="minor">
                <a:schemeClr val="tx1"/>
              </a:fontRef>
            </p:style>
          </p:cxnSp>
          <p:sp>
            <p:nvSpPr>
              <p:cNvPr id="116" name="Rectangle 7"/>
              <p:cNvSpPr>
                <a:spLocks noChangeArrowheads="1"/>
              </p:cNvSpPr>
              <p:nvPr/>
            </p:nvSpPr>
            <p:spPr bwMode="auto">
              <a:xfrm>
                <a:off x="7402711" y="2045876"/>
                <a:ext cx="282056" cy="470666"/>
              </a:xfrm>
              <a:prstGeom prst="rect">
                <a:avLst/>
              </a:prstGeom>
              <a:solidFill>
                <a:srgbClr val="FFFF00"/>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=1</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cxnSp>
            <p:nvCxnSpPr>
              <p:cNvPr id="117" name="肘形连接符 116"/>
              <p:cNvCxnSpPr/>
              <p:nvPr/>
            </p:nvCxnSpPr>
            <p:spPr>
              <a:xfrm flipV="1">
                <a:off x="7742643" y="3276808"/>
                <a:ext cx="426799" cy="160212"/>
              </a:xfrm>
              <a:prstGeom prst="bentConnector3">
                <a:avLst>
                  <a:gd name="adj1" fmla="val 39664"/>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18" name="Group 6"/>
              <p:cNvGrpSpPr/>
              <p:nvPr/>
            </p:nvGrpSpPr>
            <p:grpSpPr bwMode="auto">
              <a:xfrm>
                <a:off x="8072469" y="2917751"/>
                <a:ext cx="350396" cy="470666"/>
                <a:chOff x="2638" y="5808"/>
                <a:chExt cx="564" cy="680"/>
              </a:xfrm>
              <a:solidFill>
                <a:schemeClr val="accent4">
                  <a:lumMod val="20000"/>
                  <a:lumOff val="80000"/>
                </a:schemeClr>
              </a:solidFill>
            </p:grpSpPr>
            <p:sp>
              <p:nvSpPr>
                <p:cNvPr id="121" name="Rectangle 7"/>
                <p:cNvSpPr>
                  <a:spLocks noChangeArrowheads="1"/>
                </p:cNvSpPr>
                <p:nvPr/>
              </p:nvSpPr>
              <p:spPr bwMode="auto">
                <a:xfrm>
                  <a:off x="2638" y="5808"/>
                  <a:ext cx="454" cy="680"/>
                </a:xfrm>
                <a:prstGeom prst="rect">
                  <a:avLst/>
                </a:prstGeom>
                <a:solidFill>
                  <a:srgbClr val="FFFF00"/>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&amp;</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122" name="Oval 8"/>
                <p:cNvSpPr>
                  <a:spLocks noChangeArrowheads="1"/>
                </p:cNvSpPr>
                <p:nvPr/>
              </p:nvSpPr>
              <p:spPr bwMode="auto">
                <a:xfrm>
                  <a:off x="3100" y="6079"/>
                  <a:ext cx="102" cy="102"/>
                </a:xfrm>
                <a:prstGeom prst="ellipse">
                  <a:avLst/>
                </a:prstGeom>
                <a:grpFill/>
                <a:ln w="12700">
                  <a:solidFill>
                    <a:srgbClr val="000000"/>
                  </a:solidFill>
                  <a:round/>
                </a:ln>
                <a:effectLst/>
              </p:spPr>
              <p:txBody>
                <a:bodyPr vert="horz" wrap="square" lIns="91440" tIns="45720" rIns="91440" bIns="45720" numCol="1" anchor="t" anchorCtr="0" compatLnSpc="1"/>
                <a:lstStyle/>
                <a:p>
                  <a:endParaRPr lang="zh-CN" altLang="en-US"/>
                </a:p>
              </p:txBody>
            </p:sp>
          </p:grpSp>
          <p:cxnSp>
            <p:nvCxnSpPr>
              <p:cNvPr id="119" name="直接连接符 118"/>
              <p:cNvCxnSpPr/>
              <p:nvPr/>
            </p:nvCxnSpPr>
            <p:spPr>
              <a:xfrm>
                <a:off x="8415499" y="3146627"/>
                <a:ext cx="180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0" name="TextBox 119"/>
              <p:cNvSpPr txBox="1"/>
              <p:nvPr/>
            </p:nvSpPr>
            <p:spPr>
              <a:xfrm>
                <a:off x="8570428" y="2988694"/>
                <a:ext cx="338554" cy="317203"/>
              </a:xfrm>
              <a:prstGeom prst="rect">
                <a:avLst/>
              </a:prstGeom>
              <a:noFill/>
            </p:spPr>
            <p:txBody>
              <a:bodyPr wrap="none" rtlCol="0">
                <a:spAutoFit/>
              </a:bodyPr>
              <a:lstStyle/>
              <a:p>
                <a:pPr>
                  <a:lnSpc>
                    <a:spcPts val="1900"/>
                  </a:lnSpc>
                </a:pPr>
                <a:r>
                  <a:rPr lang="en-US" altLang="zh-CN" sz="1400" b="1" i="1" dirty="0" err="1">
                    <a:latin typeface="Times New Roman" panose="02020603050405020304" pitchFamily="18" charset="0"/>
                    <a:cs typeface="Times New Roman" panose="02020603050405020304" pitchFamily="18" charset="0"/>
                  </a:rPr>
                  <a:t>C</a:t>
                </a:r>
                <a:r>
                  <a:rPr lang="en-US" altLang="zh-CN" sz="1400" b="1" baseline="-25000" dirty="0" err="1">
                    <a:latin typeface="Times New Roman" panose="02020603050405020304" pitchFamily="18" charset="0"/>
                    <a:cs typeface="Times New Roman" panose="02020603050405020304" pitchFamily="18" charset="0"/>
                  </a:rPr>
                  <a:t>i</a:t>
                </a:r>
                <a:endParaRPr lang="zh-CN" altLang="en-US" sz="1400" b="1" baseline="-25000" dirty="0">
                  <a:latin typeface="Times New Roman" panose="02020603050405020304" pitchFamily="18" charset="0"/>
                  <a:cs typeface="Times New Roman" panose="02020603050405020304" pitchFamily="18" charset="0"/>
                </a:endParaRPr>
              </a:p>
            </p:txBody>
          </p:sp>
        </p:grpSp>
        <p:sp>
          <p:nvSpPr>
            <p:cNvPr id="158" name="圆角矩形 157"/>
            <p:cNvSpPr/>
            <p:nvPr/>
          </p:nvSpPr>
          <p:spPr>
            <a:xfrm>
              <a:off x="3351824" y="2111734"/>
              <a:ext cx="1948069" cy="27829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lstStyle/>
            <a:p>
              <a:pPr algn="ctr"/>
              <a:r>
                <a:rPr lang="zh-CN" altLang="en-US" sz="1400" dirty="0">
                  <a:latin typeface="黑体" panose="02010609060101010101" pitchFamily="49" charset="-122"/>
                  <a:ea typeface="黑体" panose="02010609060101010101" pitchFamily="49" charset="-122"/>
                </a:rPr>
                <a:t>门电路实现的全加器</a:t>
              </a:r>
              <a:endParaRPr lang="zh-CN" altLang="en-US" sz="1400" dirty="0">
                <a:latin typeface="黑体" panose="02010609060101010101" pitchFamily="49" charset="-122"/>
                <a:ea typeface="黑体" panose="02010609060101010101" pitchFamily="49" charset="-122"/>
              </a:endParaRPr>
            </a:p>
          </p:txBody>
        </p:sp>
      </p:grpSp>
      <p:grpSp>
        <p:nvGrpSpPr>
          <p:cNvPr id="76" name="组合 17"/>
          <p:cNvGrpSpPr/>
          <p:nvPr/>
        </p:nvGrpSpPr>
        <p:grpSpPr>
          <a:xfrm>
            <a:off x="249762" y="685441"/>
            <a:ext cx="3379468" cy="420971"/>
            <a:chOff x="670560" y="892917"/>
            <a:chExt cx="3379468" cy="420971"/>
          </a:xfrm>
        </p:grpSpPr>
        <p:sp>
          <p:nvSpPr>
            <p:cNvPr id="77" name="矩形 76"/>
            <p:cNvSpPr/>
            <p:nvPr/>
          </p:nvSpPr>
          <p:spPr>
            <a:xfrm>
              <a:off x="1035233" y="913778"/>
              <a:ext cx="3014795"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半加器和全加器</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78"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79" name="圆角矩形 78"/>
          <p:cNvSpPr/>
          <p:nvPr/>
        </p:nvSpPr>
        <p:spPr>
          <a:xfrm>
            <a:off x="861440" y="2061624"/>
            <a:ext cx="1632951" cy="203554"/>
          </a:xfrm>
          <a:prstGeom prst="roundRect">
            <a:avLst/>
          </a:prstGeom>
          <a:solidFill>
            <a:srgbClr val="66FFCC">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0" name="圆角矩形 79"/>
          <p:cNvSpPr/>
          <p:nvPr/>
        </p:nvSpPr>
        <p:spPr>
          <a:xfrm>
            <a:off x="864656" y="2280768"/>
            <a:ext cx="1632951" cy="373204"/>
          </a:xfrm>
          <a:prstGeom prst="roundRect">
            <a:avLst>
              <a:gd name="adj" fmla="val 10450"/>
            </a:avLst>
          </a:prstGeom>
          <a:solidFill>
            <a:srgbClr val="66FFCC">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1" name="圆角矩形 80"/>
          <p:cNvSpPr/>
          <p:nvPr/>
        </p:nvSpPr>
        <p:spPr>
          <a:xfrm>
            <a:off x="864421" y="2882767"/>
            <a:ext cx="1632951" cy="203554"/>
          </a:xfrm>
          <a:prstGeom prst="roundRect">
            <a:avLst/>
          </a:prstGeom>
          <a:solidFill>
            <a:srgbClr val="66FFCC">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2" name="圆角矩形 81"/>
          <p:cNvSpPr/>
          <p:nvPr/>
        </p:nvSpPr>
        <p:spPr>
          <a:xfrm>
            <a:off x="854813" y="2666502"/>
            <a:ext cx="1632951" cy="203554"/>
          </a:xfrm>
          <a:prstGeom prst="roundRect">
            <a:avLst/>
          </a:prstGeom>
          <a:solidFill>
            <a:srgbClr val="66FFCC">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3" name="圆角矩形 82"/>
          <p:cNvSpPr/>
          <p:nvPr/>
        </p:nvSpPr>
        <p:spPr>
          <a:xfrm>
            <a:off x="861440" y="3501824"/>
            <a:ext cx="1632951" cy="203554"/>
          </a:xfrm>
          <a:prstGeom prst="roundRect">
            <a:avLst/>
          </a:prstGeom>
          <a:solidFill>
            <a:srgbClr val="66FFCC">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4" name="圆角矩形 83"/>
          <p:cNvSpPr/>
          <p:nvPr/>
        </p:nvSpPr>
        <p:spPr>
          <a:xfrm>
            <a:off x="856433" y="3108007"/>
            <a:ext cx="1632951" cy="373204"/>
          </a:xfrm>
          <a:prstGeom prst="roundRect">
            <a:avLst>
              <a:gd name="adj" fmla="val 10450"/>
            </a:avLst>
          </a:prstGeom>
          <a:solidFill>
            <a:srgbClr val="66FFCC">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4" name="组合 3"/>
          <p:cNvGrpSpPr/>
          <p:nvPr/>
        </p:nvGrpSpPr>
        <p:grpSpPr>
          <a:xfrm>
            <a:off x="828365" y="3890256"/>
            <a:ext cx="2006275" cy="1057880"/>
            <a:chOff x="828365" y="3903226"/>
            <a:chExt cx="2006275" cy="1057880"/>
          </a:xfrm>
        </p:grpSpPr>
        <p:grpSp>
          <p:nvGrpSpPr>
            <p:cNvPr id="161" name="组合 160"/>
            <p:cNvGrpSpPr/>
            <p:nvPr/>
          </p:nvGrpSpPr>
          <p:grpSpPr>
            <a:xfrm>
              <a:off x="828365" y="3903226"/>
              <a:ext cx="2006275" cy="1057880"/>
              <a:chOff x="790265" y="4297681"/>
              <a:chExt cx="2006275" cy="1057880"/>
            </a:xfrm>
          </p:grpSpPr>
          <p:sp>
            <p:nvSpPr>
              <p:cNvPr id="160" name="圆角矩形 159"/>
              <p:cNvSpPr/>
              <p:nvPr/>
            </p:nvSpPr>
            <p:spPr>
              <a:xfrm>
                <a:off x="790265" y="4297681"/>
                <a:ext cx="2006275" cy="1057880"/>
              </a:xfrm>
              <a:prstGeom prst="roundRect">
                <a:avLst>
                  <a:gd name="adj" fmla="val 11232"/>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7" name="Object 16"/>
              <p:cNvGraphicFramePr>
                <a:graphicFrameLocks noChangeAspect="1"/>
              </p:cNvGraphicFramePr>
              <p:nvPr/>
            </p:nvGraphicFramePr>
            <p:xfrm>
              <a:off x="886900" y="4379089"/>
              <a:ext cx="1449137" cy="278176"/>
            </p:xfrm>
            <a:graphic>
              <a:graphicData uri="http://schemas.openxmlformats.org/presentationml/2006/ole">
                <mc:AlternateContent xmlns:mc="http://schemas.openxmlformats.org/markup-compatibility/2006">
                  <mc:Choice xmlns:v="urn:schemas-microsoft-com:vml" Requires="v">
                    <p:oleObj spid="_x0000_s66583" name="公式" r:id="rId2" imgW="1116965" imgH="215900" progId="Equation.3">
                      <p:embed/>
                    </p:oleObj>
                  </mc:Choice>
                  <mc:Fallback>
                    <p:oleObj name="公式" r:id="rId2" imgW="1116965" imgH="215900" progId="Equation.3">
                      <p:embed/>
                      <p:pic>
                        <p:nvPicPr>
                          <p:cNvPr id="0" name="Object 1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6900" y="4379089"/>
                            <a:ext cx="1449137" cy="278176"/>
                          </a:xfrm>
                          <a:prstGeom prst="rect">
                            <a:avLst/>
                          </a:prstGeom>
                          <a:noFill/>
                          <a:ln>
                            <a:noFill/>
                          </a:ln>
                          <a:effectLst/>
                        </p:spPr>
                      </p:pic>
                    </p:oleObj>
                  </mc:Fallback>
                </mc:AlternateContent>
              </a:graphicData>
            </a:graphic>
          </p:graphicFrame>
        </p:grpSp>
        <p:graphicFrame>
          <p:nvGraphicFramePr>
            <p:cNvPr id="2" name="对象 1"/>
            <p:cNvGraphicFramePr>
              <a:graphicFrameLocks noChangeAspect="1"/>
            </p:cNvGraphicFramePr>
            <p:nvPr/>
          </p:nvGraphicFramePr>
          <p:xfrm>
            <a:off x="1169983" y="4560054"/>
            <a:ext cx="1477660" cy="342195"/>
          </p:xfrm>
          <a:graphic>
            <a:graphicData uri="http://schemas.openxmlformats.org/presentationml/2006/ole">
              <mc:AlternateContent xmlns:mc="http://schemas.openxmlformats.org/markup-compatibility/2006">
                <mc:Choice xmlns:v="urn:schemas-microsoft-com:vml" Requires="v">
                  <p:oleObj spid="_x0000_s66584" name="Equation" r:id="rId4" imgW="28956000" imgH="6705600" progId="Equation.DSMT4">
                    <p:embed/>
                  </p:oleObj>
                </mc:Choice>
                <mc:Fallback>
                  <p:oleObj name="Equation" r:id="rId4" imgW="28956000" imgH="6705600" progId="Equation.DSMT4">
                    <p:embed/>
                    <p:pic>
                      <p:nvPicPr>
                        <p:cNvPr id="0" name="对象 1"/>
                        <p:cNvPicPr/>
                        <p:nvPr/>
                      </p:nvPicPr>
                      <p:blipFill>
                        <a:blip r:embed="rId5"/>
                        <a:stretch>
                          <a:fillRect/>
                        </a:stretch>
                      </p:blipFill>
                      <p:spPr>
                        <a:xfrm>
                          <a:off x="1169983" y="4560054"/>
                          <a:ext cx="1477660" cy="342195"/>
                        </a:xfrm>
                        <a:prstGeom prst="rect">
                          <a:avLst/>
                        </a:prstGeom>
                      </p:spPr>
                    </p:pic>
                  </p:oleObj>
                </mc:Fallback>
              </mc:AlternateContent>
            </a:graphicData>
          </a:graphic>
        </p:graphicFrame>
        <p:graphicFrame>
          <p:nvGraphicFramePr>
            <p:cNvPr id="3" name="对象 2"/>
            <p:cNvGraphicFramePr>
              <a:graphicFrameLocks noChangeAspect="1"/>
            </p:cNvGraphicFramePr>
            <p:nvPr/>
          </p:nvGraphicFramePr>
          <p:xfrm>
            <a:off x="952241" y="4282625"/>
            <a:ext cx="1695402" cy="277429"/>
          </p:xfrm>
          <a:graphic>
            <a:graphicData uri="http://schemas.openxmlformats.org/presentationml/2006/ole">
              <mc:AlternateContent xmlns:mc="http://schemas.openxmlformats.org/markup-compatibility/2006">
                <mc:Choice xmlns:v="urn:schemas-microsoft-com:vml" Requires="v">
                  <p:oleObj spid="_x0000_s66585" name="Equation" r:id="rId6" imgW="33528000" imgH="5486400" progId="Equation.DSMT4">
                    <p:embed/>
                  </p:oleObj>
                </mc:Choice>
                <mc:Fallback>
                  <p:oleObj name="Equation" r:id="rId6" imgW="33528000" imgH="5486400" progId="Equation.DSMT4">
                    <p:embed/>
                    <p:pic>
                      <p:nvPicPr>
                        <p:cNvPr id="0" name="对象 2"/>
                        <p:cNvPicPr/>
                        <p:nvPr/>
                      </p:nvPicPr>
                      <p:blipFill>
                        <a:blip r:embed="rId7"/>
                        <a:stretch>
                          <a:fillRect/>
                        </a:stretch>
                      </p:blipFill>
                      <p:spPr>
                        <a:xfrm>
                          <a:off x="952241" y="4282625"/>
                          <a:ext cx="1695402" cy="277429"/>
                        </a:xfrm>
                        <a:prstGeom prst="rect">
                          <a:avLst/>
                        </a:prstGeom>
                      </p:spPr>
                    </p:pic>
                  </p:oleObj>
                </mc:Fallback>
              </mc:AlternateContent>
            </a:graphicData>
          </a:graphic>
        </p:graphicFrame>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1000"/>
                                        <p:tgtEl>
                                          <p:spTgt spid="27"/>
                                        </p:tgtEl>
                                      </p:cBhvr>
                                    </p:animEffect>
                                    <p:anim calcmode="lin" valueType="num">
                                      <p:cBhvr>
                                        <p:cTn id="8" dur="1000" fill="hold"/>
                                        <p:tgtEl>
                                          <p:spTgt spid="27"/>
                                        </p:tgtEl>
                                        <p:attrNameLst>
                                          <p:attrName>ppt_x</p:attrName>
                                        </p:attrNameLst>
                                      </p:cBhvr>
                                      <p:tavLst>
                                        <p:tav tm="0">
                                          <p:val>
                                            <p:strVal val="#ppt_x"/>
                                          </p:val>
                                        </p:tav>
                                        <p:tav tm="100000">
                                          <p:val>
                                            <p:strVal val="#ppt_x"/>
                                          </p:val>
                                        </p:tav>
                                      </p:tavLst>
                                    </p:anim>
                                    <p:anim calcmode="lin" valueType="num">
                                      <p:cBhvr>
                                        <p:cTn id="9" dur="1000" fill="hold"/>
                                        <p:tgtEl>
                                          <p:spTgt spid="2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65"/>
                                        </p:tgtEl>
                                        <p:attrNameLst>
                                          <p:attrName>style.visibility</p:attrName>
                                        </p:attrNameLst>
                                      </p:cBhvr>
                                      <p:to>
                                        <p:strVal val="visible"/>
                                      </p:to>
                                    </p:set>
                                    <p:animEffect transition="in" filter="fade">
                                      <p:cBhvr>
                                        <p:cTn id="13" dur="1000"/>
                                        <p:tgtEl>
                                          <p:spTgt spid="65"/>
                                        </p:tgtEl>
                                      </p:cBhvr>
                                    </p:animEffect>
                                    <p:anim calcmode="lin" valueType="num">
                                      <p:cBhvr>
                                        <p:cTn id="14" dur="1000" fill="hold"/>
                                        <p:tgtEl>
                                          <p:spTgt spid="65"/>
                                        </p:tgtEl>
                                        <p:attrNameLst>
                                          <p:attrName>ppt_x</p:attrName>
                                        </p:attrNameLst>
                                      </p:cBhvr>
                                      <p:tavLst>
                                        <p:tav tm="0">
                                          <p:val>
                                            <p:strVal val="#ppt_x"/>
                                          </p:val>
                                        </p:tav>
                                        <p:tav tm="100000">
                                          <p:val>
                                            <p:strVal val="#ppt_x"/>
                                          </p:val>
                                        </p:tav>
                                      </p:tavLst>
                                    </p:anim>
                                    <p:anim calcmode="lin" valueType="num">
                                      <p:cBhvr>
                                        <p:cTn id="15" dur="1000" fill="hold"/>
                                        <p:tgtEl>
                                          <p:spTgt spid="65"/>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7" presetClass="entr" presetSubtype="10" fill="hold" grpId="0" nodeType="clickEffect">
                                  <p:stCondLst>
                                    <p:cond delay="0"/>
                                  </p:stCondLst>
                                  <p:childTnLst>
                                    <p:set>
                                      <p:cBhvr>
                                        <p:cTn id="19" dur="1" fill="hold">
                                          <p:stCondLst>
                                            <p:cond delay="0"/>
                                          </p:stCondLst>
                                        </p:cTn>
                                        <p:tgtEl>
                                          <p:spTgt spid="79"/>
                                        </p:tgtEl>
                                        <p:attrNameLst>
                                          <p:attrName>style.visibility</p:attrName>
                                        </p:attrNameLst>
                                      </p:cBhvr>
                                      <p:to>
                                        <p:strVal val="visible"/>
                                      </p:to>
                                    </p:set>
                                    <p:anim calcmode="lin" valueType="num">
                                      <p:cBhvr>
                                        <p:cTn id="20" dur="1000" fill="hold"/>
                                        <p:tgtEl>
                                          <p:spTgt spid="79"/>
                                        </p:tgtEl>
                                        <p:attrNameLst>
                                          <p:attrName>ppt_w</p:attrName>
                                        </p:attrNameLst>
                                      </p:cBhvr>
                                      <p:tavLst>
                                        <p:tav tm="0">
                                          <p:val>
                                            <p:fltVal val="0"/>
                                          </p:val>
                                        </p:tav>
                                        <p:tav tm="100000">
                                          <p:val>
                                            <p:strVal val="#ppt_w"/>
                                          </p:val>
                                        </p:tav>
                                      </p:tavLst>
                                    </p:anim>
                                    <p:anim calcmode="lin" valueType="num">
                                      <p:cBhvr>
                                        <p:cTn id="21" dur="1000" fill="hold"/>
                                        <p:tgtEl>
                                          <p:spTgt spid="79"/>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79"/>
                                        </p:tgtEl>
                                        <p:attrNameLst>
                                          <p:attrName>style.visibility</p:attrName>
                                        </p:attrNameLst>
                                      </p:cBhvr>
                                      <p:to>
                                        <p:strVal val="hidden"/>
                                      </p:to>
                                    </p:set>
                                  </p:subTnLst>
                                </p:cTn>
                              </p:par>
                            </p:childTnLst>
                          </p:cTn>
                        </p:par>
                      </p:childTnLst>
                    </p:cTn>
                  </p:par>
                  <p:par>
                    <p:cTn id="22" fill="hold">
                      <p:stCondLst>
                        <p:cond delay="indefinite"/>
                      </p:stCondLst>
                      <p:childTnLst>
                        <p:par>
                          <p:cTn id="23" fill="hold">
                            <p:stCondLst>
                              <p:cond delay="0"/>
                            </p:stCondLst>
                            <p:childTnLst>
                              <p:par>
                                <p:cTn id="24" presetID="17" presetClass="entr" presetSubtype="10" fill="hold" grpId="0" nodeType="clickEffect">
                                  <p:stCondLst>
                                    <p:cond delay="0"/>
                                  </p:stCondLst>
                                  <p:childTnLst>
                                    <p:set>
                                      <p:cBhvr>
                                        <p:cTn id="25" dur="1" fill="hold">
                                          <p:stCondLst>
                                            <p:cond delay="0"/>
                                          </p:stCondLst>
                                        </p:cTn>
                                        <p:tgtEl>
                                          <p:spTgt spid="80"/>
                                        </p:tgtEl>
                                        <p:attrNameLst>
                                          <p:attrName>style.visibility</p:attrName>
                                        </p:attrNameLst>
                                      </p:cBhvr>
                                      <p:to>
                                        <p:strVal val="visible"/>
                                      </p:to>
                                    </p:set>
                                    <p:anim calcmode="lin" valueType="num">
                                      <p:cBhvr>
                                        <p:cTn id="26" dur="1000" fill="hold"/>
                                        <p:tgtEl>
                                          <p:spTgt spid="80"/>
                                        </p:tgtEl>
                                        <p:attrNameLst>
                                          <p:attrName>ppt_w</p:attrName>
                                        </p:attrNameLst>
                                      </p:cBhvr>
                                      <p:tavLst>
                                        <p:tav tm="0">
                                          <p:val>
                                            <p:fltVal val="0"/>
                                          </p:val>
                                        </p:tav>
                                        <p:tav tm="100000">
                                          <p:val>
                                            <p:strVal val="#ppt_w"/>
                                          </p:val>
                                        </p:tav>
                                      </p:tavLst>
                                    </p:anim>
                                    <p:anim calcmode="lin" valueType="num">
                                      <p:cBhvr>
                                        <p:cTn id="27" dur="1000" fill="hold"/>
                                        <p:tgtEl>
                                          <p:spTgt spid="80"/>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80"/>
                                        </p:tgtEl>
                                        <p:attrNameLst>
                                          <p:attrName>style.visibility</p:attrName>
                                        </p:attrNameLst>
                                      </p:cBhvr>
                                      <p:to>
                                        <p:strVal val="hidden"/>
                                      </p:to>
                                    </p:set>
                                  </p:subTnLst>
                                </p:cTn>
                              </p:par>
                              <p:par>
                                <p:cTn id="28" presetID="17" presetClass="entr" presetSubtype="10" fill="hold" grpId="0" nodeType="withEffect">
                                  <p:stCondLst>
                                    <p:cond delay="0"/>
                                  </p:stCondLst>
                                  <p:childTnLst>
                                    <p:set>
                                      <p:cBhvr>
                                        <p:cTn id="29" dur="1" fill="hold">
                                          <p:stCondLst>
                                            <p:cond delay="0"/>
                                          </p:stCondLst>
                                        </p:cTn>
                                        <p:tgtEl>
                                          <p:spTgt spid="81"/>
                                        </p:tgtEl>
                                        <p:attrNameLst>
                                          <p:attrName>style.visibility</p:attrName>
                                        </p:attrNameLst>
                                      </p:cBhvr>
                                      <p:to>
                                        <p:strVal val="visible"/>
                                      </p:to>
                                    </p:set>
                                    <p:anim calcmode="lin" valueType="num">
                                      <p:cBhvr>
                                        <p:cTn id="30" dur="1000" fill="hold"/>
                                        <p:tgtEl>
                                          <p:spTgt spid="81"/>
                                        </p:tgtEl>
                                        <p:attrNameLst>
                                          <p:attrName>ppt_w</p:attrName>
                                        </p:attrNameLst>
                                      </p:cBhvr>
                                      <p:tavLst>
                                        <p:tav tm="0">
                                          <p:val>
                                            <p:fltVal val="0"/>
                                          </p:val>
                                        </p:tav>
                                        <p:tav tm="100000">
                                          <p:val>
                                            <p:strVal val="#ppt_w"/>
                                          </p:val>
                                        </p:tav>
                                      </p:tavLst>
                                    </p:anim>
                                    <p:anim calcmode="lin" valueType="num">
                                      <p:cBhvr>
                                        <p:cTn id="31" dur="1000" fill="hold"/>
                                        <p:tgtEl>
                                          <p:spTgt spid="81"/>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81"/>
                                        </p:tgtEl>
                                        <p:attrNameLst>
                                          <p:attrName>style.visibility</p:attrName>
                                        </p:attrNameLst>
                                      </p:cBhvr>
                                      <p:to>
                                        <p:strVal val="hidden"/>
                                      </p:to>
                                    </p:set>
                                  </p:subTnLst>
                                </p:cTn>
                              </p:par>
                            </p:childTnLst>
                          </p:cTn>
                        </p:par>
                      </p:childTnLst>
                    </p:cTn>
                  </p:par>
                  <p:par>
                    <p:cTn id="32" fill="hold">
                      <p:stCondLst>
                        <p:cond delay="indefinite"/>
                      </p:stCondLst>
                      <p:childTnLst>
                        <p:par>
                          <p:cTn id="33" fill="hold">
                            <p:stCondLst>
                              <p:cond delay="0"/>
                            </p:stCondLst>
                            <p:childTnLst>
                              <p:par>
                                <p:cTn id="34" presetID="17" presetClass="entr" presetSubtype="10" fill="hold" grpId="0" nodeType="clickEffect">
                                  <p:stCondLst>
                                    <p:cond delay="0"/>
                                  </p:stCondLst>
                                  <p:childTnLst>
                                    <p:set>
                                      <p:cBhvr>
                                        <p:cTn id="35" dur="1" fill="hold">
                                          <p:stCondLst>
                                            <p:cond delay="0"/>
                                          </p:stCondLst>
                                        </p:cTn>
                                        <p:tgtEl>
                                          <p:spTgt spid="82"/>
                                        </p:tgtEl>
                                        <p:attrNameLst>
                                          <p:attrName>style.visibility</p:attrName>
                                        </p:attrNameLst>
                                      </p:cBhvr>
                                      <p:to>
                                        <p:strVal val="visible"/>
                                      </p:to>
                                    </p:set>
                                    <p:anim calcmode="lin" valueType="num">
                                      <p:cBhvr>
                                        <p:cTn id="36" dur="1000" fill="hold"/>
                                        <p:tgtEl>
                                          <p:spTgt spid="82"/>
                                        </p:tgtEl>
                                        <p:attrNameLst>
                                          <p:attrName>ppt_w</p:attrName>
                                        </p:attrNameLst>
                                      </p:cBhvr>
                                      <p:tavLst>
                                        <p:tav tm="0">
                                          <p:val>
                                            <p:fltVal val="0"/>
                                          </p:val>
                                        </p:tav>
                                        <p:tav tm="100000">
                                          <p:val>
                                            <p:strVal val="#ppt_w"/>
                                          </p:val>
                                        </p:tav>
                                      </p:tavLst>
                                    </p:anim>
                                    <p:anim calcmode="lin" valueType="num">
                                      <p:cBhvr>
                                        <p:cTn id="37" dur="1000" fill="hold"/>
                                        <p:tgtEl>
                                          <p:spTgt spid="82"/>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82"/>
                                        </p:tgtEl>
                                        <p:attrNameLst>
                                          <p:attrName>style.visibility</p:attrName>
                                        </p:attrNameLst>
                                      </p:cBhvr>
                                      <p:to>
                                        <p:strVal val="hidden"/>
                                      </p:to>
                                    </p:set>
                                  </p:subTnLst>
                                </p:cTn>
                              </p:par>
                              <p:par>
                                <p:cTn id="38" presetID="17" presetClass="entr" presetSubtype="10" fill="hold" grpId="0" nodeType="withEffect">
                                  <p:stCondLst>
                                    <p:cond delay="0"/>
                                  </p:stCondLst>
                                  <p:childTnLst>
                                    <p:set>
                                      <p:cBhvr>
                                        <p:cTn id="39" dur="1" fill="hold">
                                          <p:stCondLst>
                                            <p:cond delay="0"/>
                                          </p:stCondLst>
                                        </p:cTn>
                                        <p:tgtEl>
                                          <p:spTgt spid="84"/>
                                        </p:tgtEl>
                                        <p:attrNameLst>
                                          <p:attrName>style.visibility</p:attrName>
                                        </p:attrNameLst>
                                      </p:cBhvr>
                                      <p:to>
                                        <p:strVal val="visible"/>
                                      </p:to>
                                    </p:set>
                                    <p:anim calcmode="lin" valueType="num">
                                      <p:cBhvr>
                                        <p:cTn id="40" dur="1000" fill="hold"/>
                                        <p:tgtEl>
                                          <p:spTgt spid="84"/>
                                        </p:tgtEl>
                                        <p:attrNameLst>
                                          <p:attrName>ppt_w</p:attrName>
                                        </p:attrNameLst>
                                      </p:cBhvr>
                                      <p:tavLst>
                                        <p:tav tm="0">
                                          <p:val>
                                            <p:fltVal val="0"/>
                                          </p:val>
                                        </p:tav>
                                        <p:tav tm="100000">
                                          <p:val>
                                            <p:strVal val="#ppt_w"/>
                                          </p:val>
                                        </p:tav>
                                      </p:tavLst>
                                    </p:anim>
                                    <p:anim calcmode="lin" valueType="num">
                                      <p:cBhvr>
                                        <p:cTn id="41" dur="1000" fill="hold"/>
                                        <p:tgtEl>
                                          <p:spTgt spid="84"/>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84"/>
                                        </p:tgtEl>
                                        <p:attrNameLst>
                                          <p:attrName>style.visibility</p:attrName>
                                        </p:attrNameLst>
                                      </p:cBhvr>
                                      <p:to>
                                        <p:strVal val="hidden"/>
                                      </p:to>
                                    </p:set>
                                  </p:subTnLst>
                                </p:cTn>
                              </p:par>
                            </p:childTnLst>
                          </p:cTn>
                        </p:par>
                      </p:childTnLst>
                    </p:cTn>
                  </p:par>
                  <p:par>
                    <p:cTn id="42" fill="hold">
                      <p:stCondLst>
                        <p:cond delay="indefinite"/>
                      </p:stCondLst>
                      <p:childTnLst>
                        <p:par>
                          <p:cTn id="43" fill="hold">
                            <p:stCondLst>
                              <p:cond delay="0"/>
                            </p:stCondLst>
                            <p:childTnLst>
                              <p:par>
                                <p:cTn id="44" presetID="17" presetClass="entr" presetSubtype="10" fill="hold" grpId="0" nodeType="clickEffect">
                                  <p:stCondLst>
                                    <p:cond delay="0"/>
                                  </p:stCondLst>
                                  <p:childTnLst>
                                    <p:set>
                                      <p:cBhvr>
                                        <p:cTn id="45" dur="1" fill="hold">
                                          <p:stCondLst>
                                            <p:cond delay="0"/>
                                          </p:stCondLst>
                                        </p:cTn>
                                        <p:tgtEl>
                                          <p:spTgt spid="83"/>
                                        </p:tgtEl>
                                        <p:attrNameLst>
                                          <p:attrName>style.visibility</p:attrName>
                                        </p:attrNameLst>
                                      </p:cBhvr>
                                      <p:to>
                                        <p:strVal val="visible"/>
                                      </p:to>
                                    </p:set>
                                    <p:anim calcmode="lin" valueType="num">
                                      <p:cBhvr>
                                        <p:cTn id="46" dur="1000" fill="hold"/>
                                        <p:tgtEl>
                                          <p:spTgt spid="83"/>
                                        </p:tgtEl>
                                        <p:attrNameLst>
                                          <p:attrName>ppt_w</p:attrName>
                                        </p:attrNameLst>
                                      </p:cBhvr>
                                      <p:tavLst>
                                        <p:tav tm="0">
                                          <p:val>
                                            <p:fltVal val="0"/>
                                          </p:val>
                                        </p:tav>
                                        <p:tav tm="100000">
                                          <p:val>
                                            <p:strVal val="#ppt_w"/>
                                          </p:val>
                                        </p:tav>
                                      </p:tavLst>
                                    </p:anim>
                                    <p:anim calcmode="lin" valueType="num">
                                      <p:cBhvr>
                                        <p:cTn id="47" dur="1000" fill="hold"/>
                                        <p:tgtEl>
                                          <p:spTgt spid="83"/>
                                        </p:tgtEl>
                                        <p:attrNameLst>
                                          <p:attrName>ppt_h</p:attrName>
                                        </p:attrNameLst>
                                      </p:cBhvr>
                                      <p:tavLst>
                                        <p:tav tm="0">
                                          <p:val>
                                            <p:strVal val="#ppt_h"/>
                                          </p:val>
                                        </p:tav>
                                        <p:tav tm="100000">
                                          <p:val>
                                            <p:strVal val="#ppt_h"/>
                                          </p:val>
                                        </p:tav>
                                      </p:tavLst>
                                    </p:anim>
                                  </p:childTnLst>
                                  <p:subTnLst>
                                    <p:set>
                                      <p:cBhvr override="childStyle">
                                        <p:cTn dur="1" fill="hold" display="0" masterRel="nextClick" afterEffect="1"/>
                                        <p:tgtEl>
                                          <p:spTgt spid="83"/>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42" presetClass="entr" presetSubtype="0" fill="hold" nodeType="clickEffect">
                                  <p:stCondLst>
                                    <p:cond delay="0"/>
                                  </p:stCondLst>
                                  <p:childTnLst>
                                    <p:set>
                                      <p:cBhvr>
                                        <p:cTn id="51" dur="1" fill="hold">
                                          <p:stCondLst>
                                            <p:cond delay="0"/>
                                          </p:stCondLst>
                                        </p:cTn>
                                        <p:tgtEl>
                                          <p:spTgt spid="4"/>
                                        </p:tgtEl>
                                        <p:attrNameLst>
                                          <p:attrName>style.visibility</p:attrName>
                                        </p:attrNameLst>
                                      </p:cBhvr>
                                      <p:to>
                                        <p:strVal val="visible"/>
                                      </p:to>
                                    </p:set>
                                    <p:animEffect transition="in" filter="fade">
                                      <p:cBhvr>
                                        <p:cTn id="52" dur="1000"/>
                                        <p:tgtEl>
                                          <p:spTgt spid="4"/>
                                        </p:tgtEl>
                                      </p:cBhvr>
                                    </p:animEffect>
                                    <p:anim calcmode="lin" valueType="num">
                                      <p:cBhvr>
                                        <p:cTn id="53" dur="1000" fill="hold"/>
                                        <p:tgtEl>
                                          <p:spTgt spid="4"/>
                                        </p:tgtEl>
                                        <p:attrNameLst>
                                          <p:attrName>ppt_x</p:attrName>
                                        </p:attrNameLst>
                                      </p:cBhvr>
                                      <p:tavLst>
                                        <p:tav tm="0">
                                          <p:val>
                                            <p:strVal val="#ppt_x"/>
                                          </p:val>
                                        </p:tav>
                                        <p:tav tm="100000">
                                          <p:val>
                                            <p:strVal val="#ppt_x"/>
                                          </p:val>
                                        </p:tav>
                                      </p:tavLst>
                                    </p:anim>
                                    <p:anim calcmode="lin" valueType="num">
                                      <p:cBhvr>
                                        <p:cTn id="5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42" presetClass="entr" presetSubtype="0" fill="hold" nodeType="clickEffect">
                                  <p:stCondLst>
                                    <p:cond delay="0"/>
                                  </p:stCondLst>
                                  <p:childTnLst>
                                    <p:set>
                                      <p:cBhvr>
                                        <p:cTn id="58" dur="1" fill="hold">
                                          <p:stCondLst>
                                            <p:cond delay="0"/>
                                          </p:stCondLst>
                                        </p:cTn>
                                        <p:tgtEl>
                                          <p:spTgt spid="159"/>
                                        </p:tgtEl>
                                        <p:attrNameLst>
                                          <p:attrName>style.visibility</p:attrName>
                                        </p:attrNameLst>
                                      </p:cBhvr>
                                      <p:to>
                                        <p:strVal val="visible"/>
                                      </p:to>
                                    </p:set>
                                    <p:animEffect transition="in" filter="fade">
                                      <p:cBhvr>
                                        <p:cTn id="59" dur="1000"/>
                                        <p:tgtEl>
                                          <p:spTgt spid="159"/>
                                        </p:tgtEl>
                                      </p:cBhvr>
                                    </p:animEffect>
                                    <p:anim calcmode="lin" valueType="num">
                                      <p:cBhvr>
                                        <p:cTn id="60" dur="1000" fill="hold"/>
                                        <p:tgtEl>
                                          <p:spTgt spid="159"/>
                                        </p:tgtEl>
                                        <p:attrNameLst>
                                          <p:attrName>ppt_x</p:attrName>
                                        </p:attrNameLst>
                                      </p:cBhvr>
                                      <p:tavLst>
                                        <p:tav tm="0">
                                          <p:val>
                                            <p:strVal val="#ppt_x"/>
                                          </p:val>
                                        </p:tav>
                                        <p:tav tm="100000">
                                          <p:val>
                                            <p:strVal val="#ppt_x"/>
                                          </p:val>
                                        </p:tav>
                                      </p:tavLst>
                                    </p:anim>
                                    <p:anim calcmode="lin" valueType="num">
                                      <p:cBhvr>
                                        <p:cTn id="61" dur="1000" fill="hold"/>
                                        <p:tgtEl>
                                          <p:spTgt spid="159"/>
                                        </p:tgtEl>
                                        <p:attrNameLst>
                                          <p:attrName>ppt_y</p:attrName>
                                        </p:attrNameLst>
                                      </p:cBhvr>
                                      <p:tavLst>
                                        <p:tav tm="0">
                                          <p:val>
                                            <p:strVal val="#ppt_y+.1"/>
                                          </p:val>
                                        </p:tav>
                                        <p:tav tm="100000">
                                          <p:val>
                                            <p:strVal val="#ppt_y"/>
                                          </p:val>
                                        </p:tav>
                                      </p:tavLst>
                                    </p:anim>
                                  </p:childTnLst>
                                </p:cTn>
                              </p:par>
                            </p:childTnLst>
                          </p:cTn>
                        </p:par>
                      </p:childTnLst>
                    </p:cTn>
                  </p:par>
                  <p:par>
                    <p:cTn id="62" fill="hold">
                      <p:stCondLst>
                        <p:cond delay="indefinite"/>
                      </p:stCondLst>
                      <p:childTnLst>
                        <p:par>
                          <p:cTn id="63" fill="hold">
                            <p:stCondLst>
                              <p:cond delay="0"/>
                            </p:stCondLst>
                            <p:childTnLst>
                              <p:par>
                                <p:cTn id="64" presetID="42" presetClass="entr" presetSubtype="0" fill="hold" nodeType="clickEffect">
                                  <p:stCondLst>
                                    <p:cond delay="0"/>
                                  </p:stCondLst>
                                  <p:childTnLst>
                                    <p:set>
                                      <p:cBhvr>
                                        <p:cTn id="65" dur="1" fill="hold">
                                          <p:stCondLst>
                                            <p:cond delay="0"/>
                                          </p:stCondLst>
                                        </p:cTn>
                                        <p:tgtEl>
                                          <p:spTgt spid="127"/>
                                        </p:tgtEl>
                                        <p:attrNameLst>
                                          <p:attrName>style.visibility</p:attrName>
                                        </p:attrNameLst>
                                      </p:cBhvr>
                                      <p:to>
                                        <p:strVal val="visible"/>
                                      </p:to>
                                    </p:set>
                                    <p:animEffect transition="in" filter="fade">
                                      <p:cBhvr>
                                        <p:cTn id="66" dur="1000"/>
                                        <p:tgtEl>
                                          <p:spTgt spid="127"/>
                                        </p:tgtEl>
                                      </p:cBhvr>
                                    </p:animEffect>
                                    <p:anim calcmode="lin" valueType="num">
                                      <p:cBhvr>
                                        <p:cTn id="67" dur="1000" fill="hold"/>
                                        <p:tgtEl>
                                          <p:spTgt spid="127"/>
                                        </p:tgtEl>
                                        <p:attrNameLst>
                                          <p:attrName>ppt_x</p:attrName>
                                        </p:attrNameLst>
                                      </p:cBhvr>
                                      <p:tavLst>
                                        <p:tav tm="0">
                                          <p:val>
                                            <p:strVal val="#ppt_x"/>
                                          </p:val>
                                        </p:tav>
                                        <p:tav tm="100000">
                                          <p:val>
                                            <p:strVal val="#ppt_x"/>
                                          </p:val>
                                        </p:tav>
                                      </p:tavLst>
                                    </p:anim>
                                    <p:anim calcmode="lin" valueType="num">
                                      <p:cBhvr>
                                        <p:cTn id="68" dur="1000" fill="hold"/>
                                        <p:tgtEl>
                                          <p:spTgt spid="127"/>
                                        </p:tgtEl>
                                        <p:attrNameLst>
                                          <p:attrName>ppt_y</p:attrName>
                                        </p:attrNameLst>
                                      </p:cBhvr>
                                      <p:tavLst>
                                        <p:tav tm="0">
                                          <p:val>
                                            <p:strVal val="#ppt_y+.1"/>
                                          </p:val>
                                        </p:tav>
                                        <p:tav tm="100000">
                                          <p:val>
                                            <p:strVal val="#ppt_y"/>
                                          </p:val>
                                        </p:tav>
                                      </p:tavLst>
                                    </p:anim>
                                  </p:childTnLst>
                                </p:cTn>
                              </p:par>
                            </p:childTnLst>
                          </p:cTn>
                        </p:par>
                        <p:par>
                          <p:cTn id="69" fill="hold">
                            <p:stCondLst>
                              <p:cond delay="1000"/>
                            </p:stCondLst>
                            <p:childTnLst>
                              <p:par>
                                <p:cTn id="70" presetID="42" presetClass="entr" presetSubtype="0" fill="hold" nodeType="afterEffect">
                                  <p:stCondLst>
                                    <p:cond delay="0"/>
                                  </p:stCondLst>
                                  <p:childTnLst>
                                    <p:set>
                                      <p:cBhvr>
                                        <p:cTn id="71" dur="1" fill="hold">
                                          <p:stCondLst>
                                            <p:cond delay="0"/>
                                          </p:stCondLst>
                                        </p:cTn>
                                        <p:tgtEl>
                                          <p:spTgt spid="146"/>
                                        </p:tgtEl>
                                        <p:attrNameLst>
                                          <p:attrName>style.visibility</p:attrName>
                                        </p:attrNameLst>
                                      </p:cBhvr>
                                      <p:to>
                                        <p:strVal val="visible"/>
                                      </p:to>
                                    </p:set>
                                    <p:animEffect transition="in" filter="fade">
                                      <p:cBhvr>
                                        <p:cTn id="72" dur="1000"/>
                                        <p:tgtEl>
                                          <p:spTgt spid="146"/>
                                        </p:tgtEl>
                                      </p:cBhvr>
                                    </p:animEffect>
                                    <p:anim calcmode="lin" valueType="num">
                                      <p:cBhvr>
                                        <p:cTn id="73" dur="1000" fill="hold"/>
                                        <p:tgtEl>
                                          <p:spTgt spid="146"/>
                                        </p:tgtEl>
                                        <p:attrNameLst>
                                          <p:attrName>ppt_x</p:attrName>
                                        </p:attrNameLst>
                                      </p:cBhvr>
                                      <p:tavLst>
                                        <p:tav tm="0">
                                          <p:val>
                                            <p:strVal val="#ppt_x"/>
                                          </p:val>
                                        </p:tav>
                                        <p:tav tm="100000">
                                          <p:val>
                                            <p:strVal val="#ppt_x"/>
                                          </p:val>
                                        </p:tav>
                                      </p:tavLst>
                                    </p:anim>
                                    <p:anim calcmode="lin" valueType="num">
                                      <p:cBhvr>
                                        <p:cTn id="74" dur="1000" fill="hold"/>
                                        <p:tgtEl>
                                          <p:spTgt spid="14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79" grpId="0" animBg="1"/>
      <p:bldP spid="80" grpId="0" animBg="1"/>
      <p:bldP spid="81" grpId="0" animBg="1"/>
      <p:bldP spid="82" grpId="0" animBg="1"/>
      <p:bldP spid="83" grpId="0" animBg="1"/>
      <p:bldP spid="84"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5" name="组合 17"/>
          <p:cNvGrpSpPr/>
          <p:nvPr/>
        </p:nvGrpSpPr>
        <p:grpSpPr>
          <a:xfrm>
            <a:off x="392432" y="769746"/>
            <a:ext cx="4286248" cy="420971"/>
            <a:chOff x="670560" y="892917"/>
            <a:chExt cx="4286248" cy="420971"/>
          </a:xfrm>
        </p:grpSpPr>
        <p:sp>
          <p:nvSpPr>
            <p:cNvPr id="36" name="矩形 35"/>
            <p:cNvSpPr/>
            <p:nvPr/>
          </p:nvSpPr>
          <p:spPr>
            <a:xfrm>
              <a:off x="1035233" y="913778"/>
              <a:ext cx="3921575"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多位数加法运算电路</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37"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40" name="Rectangle 6"/>
          <p:cNvSpPr>
            <a:spLocks noChangeArrowheads="1"/>
          </p:cNvSpPr>
          <p:nvPr/>
        </p:nvSpPr>
        <p:spPr bwMode="auto">
          <a:xfrm>
            <a:off x="352500" y="1280775"/>
            <a:ext cx="2151551" cy="338554"/>
          </a:xfrm>
          <a:prstGeom prst="rect">
            <a:avLst/>
          </a:prstGeom>
          <a:noFill/>
          <a:ln w="9525" algn="ctr">
            <a:noFill/>
            <a:miter lim="800000"/>
          </a:ln>
        </p:spPr>
        <p:txBody>
          <a:bodyPr wrap="none" anchor="ctr">
            <a:spAutoFit/>
          </a:bodyPr>
          <a:lstStyle/>
          <a:p>
            <a:pPr eaLnBrk="0" hangingPunct="0">
              <a:tabLst>
                <a:tab pos="264795" algn="l"/>
              </a:tabLst>
            </a:pPr>
            <a:r>
              <a:rPr lang="zh-CN" altLang="en-US" sz="1600" dirty="0">
                <a:solidFill>
                  <a:srgbClr val="6600FF"/>
                </a:solidFill>
                <a:latin typeface="微软雅黑" panose="020B0503020204020204" pitchFamily="34" charset="-122"/>
                <a:ea typeface="微软雅黑" panose="020B0503020204020204" pitchFamily="34" charset="-122"/>
              </a:rPr>
              <a:t>（</a:t>
            </a:r>
            <a:r>
              <a:rPr lang="en-US" altLang="zh-CN" sz="1600" dirty="0">
                <a:solidFill>
                  <a:srgbClr val="6600FF"/>
                </a:solidFill>
                <a:latin typeface="微软雅黑" panose="020B0503020204020204" pitchFamily="34" charset="-122"/>
                <a:ea typeface="微软雅黑" panose="020B0503020204020204" pitchFamily="34" charset="-122"/>
              </a:rPr>
              <a:t>1</a:t>
            </a:r>
            <a:r>
              <a:rPr lang="zh-CN" altLang="en-US" sz="1600" dirty="0">
                <a:solidFill>
                  <a:srgbClr val="6600FF"/>
                </a:solidFill>
                <a:latin typeface="微软雅黑" panose="020B0503020204020204" pitchFamily="34" charset="-122"/>
                <a:ea typeface="微软雅黑" panose="020B0503020204020204" pitchFamily="34" charset="-122"/>
              </a:rPr>
              <a:t>）串行进位加法器</a:t>
            </a:r>
            <a:endParaRPr kumimoji="1" lang="zh-CN" altLang="en-US" sz="1600" dirty="0">
              <a:solidFill>
                <a:srgbClr val="000000"/>
              </a:solidFill>
              <a:latin typeface="微软雅黑" panose="020B0503020204020204" pitchFamily="34" charset="-122"/>
              <a:ea typeface="微软雅黑" panose="020B0503020204020204" pitchFamily="34" charset="-122"/>
            </a:endParaRPr>
          </a:p>
        </p:txBody>
      </p:sp>
      <p:grpSp>
        <p:nvGrpSpPr>
          <p:cNvPr id="2" name="组合 1"/>
          <p:cNvGrpSpPr/>
          <p:nvPr/>
        </p:nvGrpSpPr>
        <p:grpSpPr>
          <a:xfrm>
            <a:off x="2628900" y="1811153"/>
            <a:ext cx="6256020" cy="1761817"/>
            <a:chOff x="2628900" y="1811153"/>
            <a:chExt cx="6256020" cy="1761817"/>
          </a:xfrm>
        </p:grpSpPr>
        <p:grpSp>
          <p:nvGrpSpPr>
            <p:cNvPr id="42" name="组合 123"/>
            <p:cNvGrpSpPr/>
            <p:nvPr/>
          </p:nvGrpSpPr>
          <p:grpSpPr>
            <a:xfrm>
              <a:off x="2628900" y="1811153"/>
              <a:ext cx="6256020" cy="1761817"/>
              <a:chOff x="1203960" y="1690043"/>
              <a:chExt cx="6256020" cy="1761817"/>
            </a:xfrm>
          </p:grpSpPr>
          <p:sp>
            <p:nvSpPr>
              <p:cNvPr id="43" name="圆角矩形 42"/>
              <p:cNvSpPr/>
              <p:nvPr/>
            </p:nvSpPr>
            <p:spPr>
              <a:xfrm>
                <a:off x="1203960" y="1690043"/>
                <a:ext cx="6256020" cy="1761817"/>
              </a:xfrm>
              <a:prstGeom prst="roundRect">
                <a:avLst>
                  <a:gd name="adj" fmla="val 7585"/>
                </a:avLst>
              </a:prstGeom>
              <a:solidFill>
                <a:schemeClr val="bg1"/>
              </a:solidFill>
              <a:ln w="28575">
                <a:solidFill>
                  <a:schemeClr val="accent1"/>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44" name="Object 6"/>
              <p:cNvGraphicFramePr>
                <a:graphicFrameLocks noChangeAspect="1"/>
              </p:cNvGraphicFramePr>
              <p:nvPr/>
            </p:nvGraphicFramePr>
            <p:xfrm>
              <a:off x="1311275" y="1752600"/>
              <a:ext cx="6072188" cy="1622425"/>
            </p:xfrm>
            <a:graphic>
              <a:graphicData uri="http://schemas.openxmlformats.org/presentationml/2006/ole">
                <mc:AlternateContent xmlns:mc="http://schemas.openxmlformats.org/markup-compatibility/2006">
                  <mc:Choice xmlns:v="urn:schemas-microsoft-com:vml" Requires="v">
                    <p:oleObj spid="_x0000_s67593" name="Visio" r:id="rId2" imgW="2857500" imgH="771525" progId="Visio.Drawing.11">
                      <p:embed/>
                    </p:oleObj>
                  </mc:Choice>
                  <mc:Fallback>
                    <p:oleObj name="Visio" r:id="rId2" imgW="2857500" imgH="771525" progId="Visio.Drawing.11">
                      <p:embed/>
                      <p:pic>
                        <p:nvPicPr>
                          <p:cNvPr id="0"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11275" y="1752600"/>
                            <a:ext cx="6072188" cy="1622425"/>
                          </a:xfrm>
                          <a:prstGeom prst="rect">
                            <a:avLst/>
                          </a:prstGeom>
                          <a:solidFill>
                            <a:srgbClr val="FFFFFF"/>
                          </a:solidFill>
                        </p:spPr>
                      </p:pic>
                    </p:oleObj>
                  </mc:Fallback>
                </mc:AlternateContent>
              </a:graphicData>
            </a:graphic>
          </p:graphicFrame>
        </p:grpSp>
        <p:grpSp>
          <p:nvGrpSpPr>
            <p:cNvPr id="58" name="组合 57"/>
            <p:cNvGrpSpPr/>
            <p:nvPr/>
          </p:nvGrpSpPr>
          <p:grpSpPr>
            <a:xfrm>
              <a:off x="3185514" y="2410866"/>
              <a:ext cx="5127906" cy="598223"/>
              <a:chOff x="3185514" y="2449776"/>
              <a:chExt cx="5127906" cy="598223"/>
            </a:xfrm>
          </p:grpSpPr>
          <p:sp>
            <p:nvSpPr>
              <p:cNvPr id="45" name="圆角矩形 44"/>
              <p:cNvSpPr/>
              <p:nvPr/>
            </p:nvSpPr>
            <p:spPr>
              <a:xfrm>
                <a:off x="3185514" y="2449776"/>
                <a:ext cx="959766" cy="590603"/>
              </a:xfrm>
              <a:prstGeom prst="roundRect">
                <a:avLst>
                  <a:gd name="adj" fmla="val 0"/>
                </a:avLst>
              </a:prstGeom>
              <a:solidFill>
                <a:srgbClr val="FF00FF">
                  <a:alpha val="20000"/>
                </a:srgbClr>
              </a:solid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圆角矩形 48"/>
              <p:cNvSpPr/>
              <p:nvPr/>
            </p:nvSpPr>
            <p:spPr>
              <a:xfrm>
                <a:off x="4587594" y="2449776"/>
                <a:ext cx="959766" cy="590603"/>
              </a:xfrm>
              <a:prstGeom prst="roundRect">
                <a:avLst>
                  <a:gd name="adj" fmla="val 0"/>
                </a:avLst>
              </a:prstGeom>
              <a:solidFill>
                <a:srgbClr val="FF00FF">
                  <a:alpha val="20000"/>
                </a:srgbClr>
              </a:solid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圆角矩形 49"/>
              <p:cNvSpPr/>
              <p:nvPr/>
            </p:nvSpPr>
            <p:spPr>
              <a:xfrm>
                <a:off x="5966814" y="2457396"/>
                <a:ext cx="959766" cy="590603"/>
              </a:xfrm>
              <a:prstGeom prst="roundRect">
                <a:avLst>
                  <a:gd name="adj" fmla="val 0"/>
                </a:avLst>
              </a:prstGeom>
              <a:solidFill>
                <a:srgbClr val="FF00FF">
                  <a:alpha val="20000"/>
                </a:srgbClr>
              </a:solid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圆角矩形 50"/>
              <p:cNvSpPr/>
              <p:nvPr/>
            </p:nvSpPr>
            <p:spPr>
              <a:xfrm>
                <a:off x="7353654" y="2457396"/>
                <a:ext cx="959766" cy="590603"/>
              </a:xfrm>
              <a:prstGeom prst="roundRect">
                <a:avLst>
                  <a:gd name="adj" fmla="val 0"/>
                </a:avLst>
              </a:prstGeom>
              <a:solidFill>
                <a:srgbClr val="FF00FF">
                  <a:alpha val="20000"/>
                </a:srgbClr>
              </a:solid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9" name="圆角矩形 68"/>
            <p:cNvSpPr/>
            <p:nvPr/>
          </p:nvSpPr>
          <p:spPr>
            <a:xfrm>
              <a:off x="2734023" y="2812969"/>
              <a:ext cx="246977" cy="296849"/>
            </a:xfrm>
            <a:prstGeom prst="roundRect">
              <a:avLst/>
            </a:prstGeom>
            <a:solidFill>
              <a:srgbClr val="FFFF00">
                <a:alpha val="44000"/>
              </a:srgb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dirty="0">
                  <a:solidFill>
                    <a:schemeClr val="tx1"/>
                  </a:solidFill>
                  <a:latin typeface="Times New Roman" panose="02020603050405020304" pitchFamily="18" charset="0"/>
                  <a:cs typeface="Times New Roman" panose="02020603050405020304" pitchFamily="18" charset="0"/>
                </a:rPr>
                <a:t>0</a:t>
              </a:r>
              <a:endParaRPr lang="zh-CN" altLang="en-US" sz="1600" dirty="0">
                <a:solidFill>
                  <a:schemeClr val="tx1"/>
                </a:solidFill>
              </a:endParaRPr>
            </a:p>
          </p:txBody>
        </p:sp>
      </p:grpSp>
      <p:grpSp>
        <p:nvGrpSpPr>
          <p:cNvPr id="74" name="组合 73"/>
          <p:cNvGrpSpPr/>
          <p:nvPr/>
        </p:nvGrpSpPr>
        <p:grpSpPr>
          <a:xfrm>
            <a:off x="721995" y="3800475"/>
            <a:ext cx="5233521" cy="423307"/>
            <a:chOff x="721995" y="3800475"/>
            <a:chExt cx="5233521" cy="423307"/>
          </a:xfrm>
        </p:grpSpPr>
        <p:sp>
          <p:nvSpPr>
            <p:cNvPr id="70" name="AutoShape 7"/>
            <p:cNvSpPr>
              <a:spLocks noChangeArrowheads="1"/>
            </p:cNvSpPr>
            <p:nvPr/>
          </p:nvSpPr>
          <p:spPr bwMode="auto">
            <a:xfrm>
              <a:off x="721995" y="3800475"/>
              <a:ext cx="1198245" cy="421005"/>
            </a:xfrm>
            <a:prstGeom prst="star16">
              <a:avLst>
                <a:gd name="adj" fmla="val 40241"/>
              </a:avLst>
            </a:prstGeom>
            <a:solidFill>
              <a:srgbClr val="92D050"/>
            </a:solidFill>
            <a:ln w="28575" algn="ctr">
              <a:solidFill>
                <a:srgbClr val="FF66FF"/>
              </a:solidFill>
              <a:miter lim="800000"/>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none" lIns="0" rIns="0" anchor="ctr"/>
            <a:lstStyle/>
            <a:p>
              <a:pPr algn="ctr"/>
              <a:r>
                <a:rPr lang="zh-CN" altLang="en-US" dirty="0">
                  <a:solidFill>
                    <a:srgbClr val="000000"/>
                  </a:solidFill>
                  <a:latin typeface="微软雅黑" panose="020B0503020204020204" pitchFamily="34" charset="-122"/>
                  <a:ea typeface="微软雅黑" panose="020B0503020204020204" pitchFamily="34" charset="-122"/>
                </a:rPr>
                <a:t>缺点</a:t>
              </a:r>
              <a:endParaRPr lang="zh-CN" altLang="en-US" dirty="0">
                <a:solidFill>
                  <a:srgbClr val="000000"/>
                </a:solidFill>
                <a:latin typeface="微软雅黑" panose="020B0503020204020204" pitchFamily="34" charset="-122"/>
                <a:ea typeface="微软雅黑" panose="020B0503020204020204" pitchFamily="34" charset="-122"/>
              </a:endParaRPr>
            </a:p>
          </p:txBody>
        </p:sp>
        <p:sp>
          <p:nvSpPr>
            <p:cNvPr id="71" name="Text Box 8"/>
            <p:cNvSpPr txBox="1">
              <a:spLocks noChangeArrowheads="1"/>
            </p:cNvSpPr>
            <p:nvPr/>
          </p:nvSpPr>
          <p:spPr bwMode="auto">
            <a:xfrm>
              <a:off x="2031365" y="3854450"/>
              <a:ext cx="3924151" cy="369332"/>
            </a:xfrm>
            <a:prstGeom prst="rect">
              <a:avLst/>
            </a:prstGeom>
            <a:noFill/>
            <a:ln w="9525" algn="ctr">
              <a:noFill/>
              <a:miter lim="800000"/>
            </a:ln>
            <a:effectLst/>
          </p:spPr>
          <p:txBody>
            <a:bodyPr wrap="none" lIns="0" rIns="0">
              <a:spAutoFit/>
            </a:bodyPr>
            <a:lstStyle/>
            <a:p>
              <a:pPr algn="l">
                <a:defRPr/>
              </a:pPr>
              <a:r>
                <a:rPr lang="zh-CN" altLang="en-US" dirty="0">
                  <a:solidFill>
                    <a:srgbClr val="000000"/>
                  </a:solidFill>
                  <a:latin typeface="微软雅黑" panose="020B0503020204020204" pitchFamily="34" charset="-122"/>
                  <a:ea typeface="微软雅黑" panose="020B0503020204020204" pitchFamily="34" charset="-122"/>
                </a:rPr>
                <a:t>受到进位信号的限制，运算速度较慢！</a:t>
              </a:r>
              <a:endParaRPr lang="zh-CN" altLang="en-US" dirty="0">
                <a:solidFill>
                  <a:srgbClr val="000000"/>
                </a:solidFill>
                <a:latin typeface="微软雅黑" panose="020B0503020204020204" pitchFamily="34" charset="-122"/>
                <a:ea typeface="微软雅黑" panose="020B0503020204020204" pitchFamily="34" charset="-122"/>
              </a:endParaRPr>
            </a:p>
          </p:txBody>
        </p:sp>
      </p:grpSp>
      <p:grpSp>
        <p:nvGrpSpPr>
          <p:cNvPr id="75" name="组合 74"/>
          <p:cNvGrpSpPr/>
          <p:nvPr/>
        </p:nvGrpSpPr>
        <p:grpSpPr>
          <a:xfrm>
            <a:off x="736283" y="4385945"/>
            <a:ext cx="8303954" cy="469900"/>
            <a:chOff x="736283" y="4385945"/>
            <a:chExt cx="8303954" cy="469900"/>
          </a:xfrm>
        </p:grpSpPr>
        <p:sp>
          <p:nvSpPr>
            <p:cNvPr id="72" name="AutoShape 9"/>
            <p:cNvSpPr>
              <a:spLocks noChangeArrowheads="1"/>
            </p:cNvSpPr>
            <p:nvPr/>
          </p:nvSpPr>
          <p:spPr bwMode="auto">
            <a:xfrm>
              <a:off x="736283" y="4385945"/>
              <a:ext cx="1168717" cy="469900"/>
            </a:xfrm>
            <a:prstGeom prst="star16">
              <a:avLst>
                <a:gd name="adj" fmla="val 40241"/>
              </a:avLst>
            </a:prstGeom>
            <a:solidFill>
              <a:srgbClr val="92D050"/>
            </a:solidFill>
            <a:ln w="28575" algn="ctr">
              <a:solidFill>
                <a:srgbClr val="FF66FF"/>
              </a:solidFill>
              <a:miter lim="800000"/>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wrap="none" lIns="0" rIns="0" anchor="ctr"/>
            <a:lstStyle/>
            <a:p>
              <a:pPr algn="ctr"/>
              <a:r>
                <a:rPr lang="zh-CN" altLang="en-US" dirty="0">
                  <a:solidFill>
                    <a:srgbClr val="000000"/>
                  </a:solidFill>
                  <a:latin typeface="微软雅黑" panose="020B0503020204020204" pitchFamily="34" charset="-122"/>
                  <a:ea typeface="微软雅黑" panose="020B0503020204020204" pitchFamily="34" charset="-122"/>
                </a:rPr>
                <a:t>改进</a:t>
              </a:r>
              <a:endParaRPr lang="zh-CN" altLang="en-US" dirty="0">
                <a:solidFill>
                  <a:srgbClr val="000000"/>
                </a:solidFill>
                <a:latin typeface="微软雅黑" panose="020B0503020204020204" pitchFamily="34" charset="-122"/>
                <a:ea typeface="微软雅黑" panose="020B0503020204020204" pitchFamily="34" charset="-122"/>
              </a:endParaRPr>
            </a:p>
          </p:txBody>
        </p:sp>
        <p:sp>
          <p:nvSpPr>
            <p:cNvPr id="73" name="Text Box 10"/>
            <p:cNvSpPr txBox="1">
              <a:spLocks noChangeArrowheads="1"/>
            </p:cNvSpPr>
            <p:nvPr/>
          </p:nvSpPr>
          <p:spPr bwMode="auto">
            <a:xfrm>
              <a:off x="2007234" y="4447540"/>
              <a:ext cx="7033003" cy="369332"/>
            </a:xfrm>
            <a:prstGeom prst="rect">
              <a:avLst/>
            </a:prstGeom>
            <a:noFill/>
            <a:ln w="9525" algn="ctr">
              <a:noFill/>
              <a:miter lim="800000"/>
            </a:ln>
            <a:effectLst/>
          </p:spPr>
          <p:txBody>
            <a:bodyPr wrap="square" lIns="0" rIns="0">
              <a:spAutoFit/>
            </a:bodyPr>
            <a:lstStyle/>
            <a:p>
              <a:pPr algn="l">
                <a:defRPr/>
              </a:pPr>
              <a:r>
                <a:rPr lang="zh-CN" altLang="en-US" dirty="0">
                  <a:solidFill>
                    <a:srgbClr val="000000"/>
                  </a:solidFill>
                  <a:latin typeface="微软雅黑" panose="020B0503020204020204" pitchFamily="34" charset="-122"/>
                  <a:ea typeface="微软雅黑" panose="020B0503020204020204" pitchFamily="34" charset="-122"/>
                </a:rPr>
                <a:t>采用超前进位加法器：适当增加电路的复杂度来解决运算速度的问题。</a:t>
              </a:r>
              <a:endParaRPr lang="zh-CN" altLang="en-US" dirty="0">
                <a:solidFill>
                  <a:srgbClr val="000000"/>
                </a:solidFill>
                <a:latin typeface="微软雅黑" panose="020B0503020204020204" pitchFamily="34" charset="-122"/>
                <a:ea typeface="微软雅黑" panose="020B0503020204020204" pitchFamily="34" charset="-122"/>
              </a:endParaRPr>
            </a:p>
          </p:txBody>
        </p:sp>
      </p:grpSp>
      <p:grpSp>
        <p:nvGrpSpPr>
          <p:cNvPr id="54" name="组合 53"/>
          <p:cNvGrpSpPr/>
          <p:nvPr/>
        </p:nvGrpSpPr>
        <p:grpSpPr>
          <a:xfrm>
            <a:off x="352500" y="1970654"/>
            <a:ext cx="2026919" cy="1583678"/>
            <a:chOff x="1239628" y="2304170"/>
            <a:chExt cx="2026919" cy="1583678"/>
          </a:xfrm>
        </p:grpSpPr>
        <p:grpSp>
          <p:nvGrpSpPr>
            <p:cNvPr id="56" name="组合 55"/>
            <p:cNvGrpSpPr/>
            <p:nvPr/>
          </p:nvGrpSpPr>
          <p:grpSpPr>
            <a:xfrm>
              <a:off x="1239628" y="2304170"/>
              <a:ext cx="2026919" cy="1583678"/>
              <a:chOff x="4206240" y="3528060"/>
              <a:chExt cx="2026919" cy="1562100"/>
            </a:xfrm>
          </p:grpSpPr>
          <p:grpSp>
            <p:nvGrpSpPr>
              <p:cNvPr id="82" name="组合 89"/>
              <p:cNvGrpSpPr/>
              <p:nvPr/>
            </p:nvGrpSpPr>
            <p:grpSpPr>
              <a:xfrm>
                <a:off x="4206240" y="3528060"/>
                <a:ext cx="2026919" cy="1562100"/>
                <a:chOff x="5041200" y="3532289"/>
                <a:chExt cx="2026919" cy="1459837"/>
              </a:xfrm>
            </p:grpSpPr>
            <p:sp>
              <p:nvSpPr>
                <p:cNvPr id="84" name="AutoShape 23"/>
                <p:cNvSpPr>
                  <a:spLocks noChangeArrowheads="1"/>
                </p:cNvSpPr>
                <p:nvPr/>
              </p:nvSpPr>
              <p:spPr bwMode="auto">
                <a:xfrm>
                  <a:off x="5041200" y="3532289"/>
                  <a:ext cx="2026919" cy="1459837"/>
                </a:xfrm>
                <a:prstGeom prst="roundRect">
                  <a:avLst>
                    <a:gd name="adj" fmla="val 11150"/>
                  </a:avLst>
                </a:prstGeom>
                <a:solidFill>
                  <a:schemeClr val="bg1"/>
                </a:solidFill>
                <a:ln w="19050">
                  <a:solidFill>
                    <a:srgbClr val="6600FF"/>
                  </a:solidFill>
                  <a:miter lim="800000"/>
                </a:ln>
              </p:spPr>
              <p:txBody>
                <a:bodyPr/>
                <a:lstStyle/>
                <a:p>
                  <a:endParaRPr lang="zh-CN" altLang="en-US" dirty="0">
                    <a:solidFill>
                      <a:schemeClr val="bg2"/>
                    </a:solidFill>
                    <a:latin typeface="微软雅黑" panose="020B0503020204020204" pitchFamily="34" charset="-122"/>
                    <a:ea typeface="微软雅黑" panose="020B0503020204020204" pitchFamily="34" charset="-122"/>
                  </a:endParaRPr>
                </a:p>
              </p:txBody>
            </p:sp>
            <p:sp>
              <p:nvSpPr>
                <p:cNvPr id="85" name="TextBox 128"/>
                <p:cNvSpPr txBox="1"/>
                <p:nvPr/>
              </p:nvSpPr>
              <p:spPr>
                <a:xfrm>
                  <a:off x="5167172" y="3627122"/>
                  <a:ext cx="1731628" cy="938719"/>
                </a:xfrm>
                <a:prstGeom prst="rect">
                  <a:avLst/>
                </a:prstGeom>
                <a:solidFill>
                  <a:schemeClr val="bg1"/>
                </a:solidFill>
              </p:spPr>
              <p:txBody>
                <a:bodyPr wrap="none" rtlCol="0">
                  <a:spAutoFit/>
                </a:bodyPr>
                <a:lstStyle/>
                <a:p>
                  <a:pPr algn="r">
                    <a:lnSpc>
                      <a:spcPts val="2200"/>
                    </a:lnSpc>
                  </a:pPr>
                  <a:r>
                    <a:rPr lang="en-US" altLang="zh-CN" sz="1600" b="1" i="1" dirty="0">
                      <a:latin typeface="Times New Roman" panose="02020603050405020304" pitchFamily="18" charset="0"/>
                      <a:cs typeface="Times New Roman" panose="02020603050405020304" pitchFamily="18" charset="0"/>
                    </a:rPr>
                    <a:t>A</a:t>
                  </a:r>
                  <a:r>
                    <a:rPr lang="en-US" altLang="zh-CN" sz="1600" b="1" baseline="-25000" dirty="0">
                      <a:latin typeface="Times New Roman" panose="02020603050405020304" pitchFamily="18" charset="0"/>
                      <a:cs typeface="Times New Roman" panose="02020603050405020304" pitchFamily="18" charset="0"/>
                    </a:rPr>
                    <a:t>3    </a:t>
                  </a:r>
                  <a:r>
                    <a:rPr lang="en-US" altLang="zh-CN" sz="1600" b="1" i="1" dirty="0">
                      <a:latin typeface="Times New Roman" panose="02020603050405020304" pitchFamily="18" charset="0"/>
                      <a:cs typeface="Times New Roman" panose="02020603050405020304" pitchFamily="18" charset="0"/>
                    </a:rPr>
                    <a:t>A</a:t>
                  </a:r>
                  <a:r>
                    <a:rPr lang="en-US" altLang="zh-CN" sz="1600" b="1" baseline="-25000" dirty="0">
                      <a:latin typeface="Times New Roman" panose="02020603050405020304" pitchFamily="18" charset="0"/>
                      <a:cs typeface="Times New Roman" panose="02020603050405020304" pitchFamily="18" charset="0"/>
                    </a:rPr>
                    <a:t>2</a:t>
                  </a:r>
                  <a:r>
                    <a:rPr lang="en-US" altLang="zh-CN" sz="1600" b="1" dirty="0">
                      <a:latin typeface="Times New Roman" panose="02020603050405020304" pitchFamily="18" charset="0"/>
                      <a:cs typeface="Times New Roman" panose="02020603050405020304" pitchFamily="18" charset="0"/>
                    </a:rPr>
                    <a:t>   </a:t>
                  </a:r>
                  <a:r>
                    <a:rPr lang="en-US" altLang="zh-CN" sz="1600" b="1" i="1" dirty="0">
                      <a:latin typeface="Times New Roman" panose="02020603050405020304" pitchFamily="18" charset="0"/>
                      <a:cs typeface="Times New Roman" panose="02020603050405020304" pitchFamily="18" charset="0"/>
                    </a:rPr>
                    <a:t>A</a:t>
                  </a:r>
                  <a:r>
                    <a:rPr lang="en-US" altLang="zh-CN" sz="1600" b="1" baseline="-25000" dirty="0">
                      <a:latin typeface="Times New Roman" panose="02020603050405020304" pitchFamily="18" charset="0"/>
                      <a:cs typeface="Times New Roman" panose="02020603050405020304" pitchFamily="18" charset="0"/>
                    </a:rPr>
                    <a:t>1</a:t>
                  </a:r>
                  <a:r>
                    <a:rPr lang="en-US" altLang="zh-CN" sz="1600" b="1" dirty="0">
                      <a:latin typeface="Times New Roman" panose="02020603050405020304" pitchFamily="18" charset="0"/>
                      <a:cs typeface="Times New Roman" panose="02020603050405020304" pitchFamily="18" charset="0"/>
                    </a:rPr>
                    <a:t>   </a:t>
                  </a:r>
                  <a:r>
                    <a:rPr lang="en-US" altLang="zh-CN" sz="1600" b="1" i="1" dirty="0">
                      <a:latin typeface="Times New Roman" panose="02020603050405020304" pitchFamily="18" charset="0"/>
                      <a:cs typeface="Times New Roman" panose="02020603050405020304" pitchFamily="18" charset="0"/>
                    </a:rPr>
                    <a:t>A</a:t>
                  </a:r>
                  <a:r>
                    <a:rPr lang="en-US" altLang="zh-CN" sz="1600" b="1" baseline="-25000" dirty="0">
                      <a:latin typeface="Times New Roman" panose="02020603050405020304" pitchFamily="18" charset="0"/>
                      <a:cs typeface="Times New Roman" panose="02020603050405020304" pitchFamily="18" charset="0"/>
                    </a:rPr>
                    <a:t>0</a:t>
                  </a:r>
                  <a:endParaRPr lang="en-US" altLang="zh-CN" sz="1600" b="1" baseline="-25000" dirty="0">
                    <a:latin typeface="Times New Roman" panose="02020603050405020304" pitchFamily="18" charset="0"/>
                    <a:cs typeface="Times New Roman" panose="02020603050405020304" pitchFamily="18" charset="0"/>
                  </a:endParaRPr>
                </a:p>
                <a:p>
                  <a:pPr algn="r">
                    <a:lnSpc>
                      <a:spcPts val="2200"/>
                    </a:lnSpc>
                  </a:pPr>
                  <a:r>
                    <a:rPr lang="en-US" altLang="zh-CN" sz="1600" b="1" dirty="0">
                      <a:latin typeface="Times New Roman" panose="02020603050405020304" pitchFamily="18" charset="0"/>
                      <a:cs typeface="Times New Roman" panose="02020603050405020304" pitchFamily="18" charset="0"/>
                    </a:rPr>
                    <a:t>+    </a:t>
                  </a:r>
                  <a:r>
                    <a:rPr lang="en-US" altLang="zh-CN" sz="1600" b="1" i="1" dirty="0">
                      <a:latin typeface="Times New Roman" panose="02020603050405020304" pitchFamily="18" charset="0"/>
                      <a:cs typeface="Times New Roman" panose="02020603050405020304" pitchFamily="18" charset="0"/>
                    </a:rPr>
                    <a:t>B</a:t>
                  </a:r>
                  <a:r>
                    <a:rPr lang="en-US" altLang="zh-CN" sz="1600" b="1" baseline="-25000" dirty="0">
                      <a:latin typeface="Times New Roman" panose="02020603050405020304" pitchFamily="18" charset="0"/>
                      <a:cs typeface="Times New Roman" panose="02020603050405020304" pitchFamily="18" charset="0"/>
                    </a:rPr>
                    <a:t>3    </a:t>
                  </a:r>
                  <a:r>
                    <a:rPr lang="en-US" altLang="zh-CN" sz="1600" b="1" i="1" dirty="0">
                      <a:latin typeface="Times New Roman" panose="02020603050405020304" pitchFamily="18" charset="0"/>
                      <a:cs typeface="Times New Roman" panose="02020603050405020304" pitchFamily="18" charset="0"/>
                    </a:rPr>
                    <a:t>B</a:t>
                  </a:r>
                  <a:r>
                    <a:rPr lang="en-US" altLang="zh-CN" sz="1600" b="1" baseline="-25000" dirty="0">
                      <a:latin typeface="Times New Roman" panose="02020603050405020304" pitchFamily="18" charset="0"/>
                      <a:cs typeface="Times New Roman" panose="02020603050405020304" pitchFamily="18" charset="0"/>
                    </a:rPr>
                    <a:t>2    </a:t>
                  </a:r>
                  <a:r>
                    <a:rPr lang="en-US" altLang="zh-CN" sz="1600" b="1" i="1" dirty="0">
                      <a:latin typeface="Times New Roman" panose="02020603050405020304" pitchFamily="18" charset="0"/>
                      <a:cs typeface="Times New Roman" panose="02020603050405020304" pitchFamily="18" charset="0"/>
                    </a:rPr>
                    <a:t>B</a:t>
                  </a:r>
                  <a:r>
                    <a:rPr lang="en-US" altLang="zh-CN" sz="1600" b="1" baseline="-25000" dirty="0">
                      <a:latin typeface="Times New Roman" panose="02020603050405020304" pitchFamily="18" charset="0"/>
                      <a:cs typeface="Times New Roman" panose="02020603050405020304" pitchFamily="18" charset="0"/>
                    </a:rPr>
                    <a:t>1    </a:t>
                  </a:r>
                  <a:r>
                    <a:rPr lang="en-US" altLang="zh-CN" sz="1600" b="1" i="1" dirty="0">
                      <a:latin typeface="Times New Roman" panose="02020603050405020304" pitchFamily="18" charset="0"/>
                      <a:cs typeface="Times New Roman" panose="02020603050405020304" pitchFamily="18" charset="0"/>
                    </a:rPr>
                    <a:t>B</a:t>
                  </a:r>
                  <a:r>
                    <a:rPr lang="en-US" altLang="zh-CN" sz="1600" b="1" baseline="-25000" dirty="0">
                      <a:latin typeface="Times New Roman" panose="02020603050405020304" pitchFamily="18" charset="0"/>
                      <a:cs typeface="Times New Roman" panose="02020603050405020304" pitchFamily="18" charset="0"/>
                    </a:rPr>
                    <a:t>0</a:t>
                  </a:r>
                  <a:endParaRPr lang="en-US" altLang="zh-CN" sz="1600" b="1" baseline="-25000" dirty="0">
                    <a:latin typeface="Times New Roman" panose="02020603050405020304" pitchFamily="18" charset="0"/>
                    <a:cs typeface="Times New Roman" panose="02020603050405020304" pitchFamily="18" charset="0"/>
                  </a:endParaRPr>
                </a:p>
                <a:p>
                  <a:pPr algn="r">
                    <a:lnSpc>
                      <a:spcPts val="2200"/>
                    </a:lnSpc>
                  </a:pPr>
                  <a:endParaRPr lang="en-US" altLang="zh-CN" sz="1600" b="1" i="1" dirty="0">
                    <a:latin typeface="Times New Roman" panose="02020603050405020304" pitchFamily="18" charset="0"/>
                    <a:cs typeface="Times New Roman" panose="02020603050405020304" pitchFamily="18" charset="0"/>
                  </a:endParaRPr>
                </a:p>
              </p:txBody>
            </p:sp>
          </p:grpSp>
          <p:cxnSp>
            <p:nvCxnSpPr>
              <p:cNvPr id="83" name="直接连接符 82"/>
              <p:cNvCxnSpPr/>
              <p:nvPr/>
            </p:nvCxnSpPr>
            <p:spPr>
              <a:xfrm>
                <a:off x="4356113" y="4545518"/>
                <a:ext cx="1800000" cy="0"/>
              </a:xfrm>
              <a:prstGeom prst="line">
                <a:avLst/>
              </a:prstGeom>
              <a:solidFill>
                <a:schemeClr val="accent4">
                  <a:lumMod val="40000"/>
                  <a:lumOff val="60000"/>
                </a:schemeClr>
              </a:solidFill>
              <a:ln w="57150"/>
            </p:spPr>
            <p:style>
              <a:lnRef idx="1">
                <a:schemeClr val="accent1"/>
              </a:lnRef>
              <a:fillRef idx="0">
                <a:schemeClr val="accent1"/>
              </a:fillRef>
              <a:effectRef idx="0">
                <a:schemeClr val="accent1"/>
              </a:effectRef>
              <a:fontRef idx="minor">
                <a:schemeClr val="tx1"/>
              </a:fontRef>
            </p:style>
          </p:cxnSp>
        </p:grpSp>
        <p:cxnSp>
          <p:nvCxnSpPr>
            <p:cNvPr id="57" name="直接箭头连接符 56"/>
            <p:cNvCxnSpPr/>
            <p:nvPr/>
          </p:nvCxnSpPr>
          <p:spPr>
            <a:xfrm>
              <a:off x="2897070" y="3063564"/>
              <a:ext cx="0" cy="3600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59" name="直接箭头连接符 58"/>
            <p:cNvCxnSpPr/>
            <p:nvPr/>
          </p:nvCxnSpPr>
          <p:spPr>
            <a:xfrm flipH="1" flipV="1">
              <a:off x="2654886" y="3274278"/>
              <a:ext cx="163002" cy="170953"/>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0" name="圆角矩形 59"/>
            <p:cNvSpPr/>
            <p:nvPr/>
          </p:nvSpPr>
          <p:spPr>
            <a:xfrm>
              <a:off x="2461249" y="3011925"/>
              <a:ext cx="235663" cy="216000"/>
            </a:xfrm>
            <a:prstGeom prst="roundRect">
              <a:avLst/>
            </a:prstGeom>
            <a:solidFill>
              <a:schemeClr val="bg1">
                <a:alpha val="4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baseline="-25000" dirty="0">
                  <a:solidFill>
                    <a:schemeClr val="tx1"/>
                  </a:solidFill>
                  <a:latin typeface="Times New Roman" panose="02020603050405020304" pitchFamily="18" charset="0"/>
                  <a:cs typeface="Times New Roman" panose="02020603050405020304" pitchFamily="18" charset="0"/>
                </a:rPr>
                <a:t>0</a:t>
              </a:r>
              <a:endParaRPr lang="zh-CN" altLang="en-US" sz="1600" dirty="0">
                <a:solidFill>
                  <a:schemeClr val="tx1"/>
                </a:solidFill>
              </a:endParaRPr>
            </a:p>
          </p:txBody>
        </p:sp>
        <p:cxnSp>
          <p:nvCxnSpPr>
            <p:cNvPr id="61" name="直接箭头连接符 60"/>
            <p:cNvCxnSpPr/>
            <p:nvPr/>
          </p:nvCxnSpPr>
          <p:spPr>
            <a:xfrm>
              <a:off x="2560795" y="3279578"/>
              <a:ext cx="0" cy="1800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2" name="直接箭头连接符 61"/>
            <p:cNvCxnSpPr/>
            <p:nvPr/>
          </p:nvCxnSpPr>
          <p:spPr>
            <a:xfrm flipH="1" flipV="1">
              <a:off x="2306352" y="3283556"/>
              <a:ext cx="163002" cy="170953"/>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3" name="圆角矩形 62"/>
            <p:cNvSpPr/>
            <p:nvPr/>
          </p:nvSpPr>
          <p:spPr>
            <a:xfrm>
              <a:off x="2808601" y="3447887"/>
              <a:ext cx="246977" cy="29684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i="1" dirty="0">
                  <a:solidFill>
                    <a:schemeClr val="tx1"/>
                  </a:solidFill>
                  <a:latin typeface="Times New Roman" panose="02020603050405020304" pitchFamily="18" charset="0"/>
                  <a:cs typeface="Times New Roman" panose="02020603050405020304" pitchFamily="18" charset="0"/>
                </a:rPr>
                <a:t>S</a:t>
              </a:r>
              <a:r>
                <a:rPr lang="en-US" altLang="zh-CN" sz="1600" b="1" baseline="-25000" dirty="0">
                  <a:solidFill>
                    <a:schemeClr val="tx1"/>
                  </a:solidFill>
                  <a:latin typeface="Times New Roman" panose="02020603050405020304" pitchFamily="18" charset="0"/>
                  <a:cs typeface="Times New Roman" panose="02020603050405020304" pitchFamily="18" charset="0"/>
                </a:rPr>
                <a:t>0</a:t>
              </a:r>
              <a:endParaRPr lang="zh-CN" altLang="en-US" sz="1600" dirty="0">
                <a:solidFill>
                  <a:schemeClr val="tx1"/>
                </a:solidFill>
              </a:endParaRPr>
            </a:p>
          </p:txBody>
        </p:sp>
        <p:sp>
          <p:nvSpPr>
            <p:cNvPr id="64" name="圆角矩形 63"/>
            <p:cNvSpPr/>
            <p:nvPr/>
          </p:nvSpPr>
          <p:spPr>
            <a:xfrm>
              <a:off x="2464040" y="3447887"/>
              <a:ext cx="246977" cy="29684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i="1" dirty="0">
                  <a:solidFill>
                    <a:schemeClr val="tx1"/>
                  </a:solidFill>
                  <a:latin typeface="Times New Roman" panose="02020603050405020304" pitchFamily="18" charset="0"/>
                  <a:cs typeface="Times New Roman" panose="02020603050405020304" pitchFamily="18" charset="0"/>
                </a:rPr>
                <a:t>S</a:t>
              </a:r>
              <a:r>
                <a:rPr lang="en-US" altLang="zh-CN" sz="1600" b="1" baseline="-25000" dirty="0">
                  <a:solidFill>
                    <a:schemeClr val="tx1"/>
                  </a:solidFill>
                  <a:latin typeface="Times New Roman" panose="02020603050405020304" pitchFamily="18" charset="0"/>
                  <a:cs typeface="Times New Roman" panose="02020603050405020304" pitchFamily="18" charset="0"/>
                </a:rPr>
                <a:t>1</a:t>
              </a:r>
              <a:endParaRPr lang="zh-CN" altLang="en-US" sz="1600" baseline="-25000" dirty="0">
                <a:solidFill>
                  <a:schemeClr val="tx1"/>
                </a:solidFill>
              </a:endParaRPr>
            </a:p>
          </p:txBody>
        </p:sp>
        <p:sp>
          <p:nvSpPr>
            <p:cNvPr id="65" name="圆角矩形 64"/>
            <p:cNvSpPr/>
            <p:nvPr/>
          </p:nvSpPr>
          <p:spPr>
            <a:xfrm>
              <a:off x="2109071" y="3011925"/>
              <a:ext cx="235663" cy="216000"/>
            </a:xfrm>
            <a:prstGeom prst="roundRect">
              <a:avLst/>
            </a:prstGeom>
            <a:solidFill>
              <a:schemeClr val="bg1">
                <a:alpha val="4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baseline="-25000" dirty="0">
                  <a:solidFill>
                    <a:schemeClr val="tx1"/>
                  </a:solidFill>
                  <a:latin typeface="Times New Roman" panose="02020603050405020304" pitchFamily="18" charset="0"/>
                  <a:cs typeface="Times New Roman" panose="02020603050405020304" pitchFamily="18" charset="0"/>
                </a:rPr>
                <a:t>1</a:t>
              </a:r>
              <a:endParaRPr lang="zh-CN" altLang="en-US" sz="1600" dirty="0">
                <a:solidFill>
                  <a:schemeClr val="tx1"/>
                </a:solidFill>
              </a:endParaRPr>
            </a:p>
          </p:txBody>
        </p:sp>
        <p:cxnSp>
          <p:nvCxnSpPr>
            <p:cNvPr id="66" name="直接箭头连接符 65"/>
            <p:cNvCxnSpPr/>
            <p:nvPr/>
          </p:nvCxnSpPr>
          <p:spPr>
            <a:xfrm>
              <a:off x="2217895" y="3264338"/>
              <a:ext cx="0" cy="1800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67" name="直接箭头连接符 66"/>
            <p:cNvCxnSpPr/>
            <p:nvPr/>
          </p:nvCxnSpPr>
          <p:spPr>
            <a:xfrm flipH="1" flipV="1">
              <a:off x="1963452" y="3268316"/>
              <a:ext cx="163002" cy="170953"/>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68" name="圆角矩形 67"/>
            <p:cNvSpPr/>
            <p:nvPr/>
          </p:nvSpPr>
          <p:spPr>
            <a:xfrm>
              <a:off x="2121140" y="3432647"/>
              <a:ext cx="246977" cy="29684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i="1" dirty="0">
                  <a:solidFill>
                    <a:schemeClr val="tx1"/>
                  </a:solidFill>
                  <a:latin typeface="Times New Roman" panose="02020603050405020304" pitchFamily="18" charset="0"/>
                  <a:cs typeface="Times New Roman" panose="02020603050405020304" pitchFamily="18" charset="0"/>
                </a:rPr>
                <a:t>S</a:t>
              </a:r>
              <a:r>
                <a:rPr lang="en-US" altLang="zh-CN" sz="1600" b="1" baseline="-25000" dirty="0">
                  <a:solidFill>
                    <a:schemeClr val="tx1"/>
                  </a:solidFill>
                  <a:latin typeface="Times New Roman" panose="02020603050405020304" pitchFamily="18" charset="0"/>
                  <a:cs typeface="Times New Roman" panose="02020603050405020304" pitchFamily="18" charset="0"/>
                </a:rPr>
                <a:t>2</a:t>
              </a:r>
              <a:endParaRPr lang="zh-CN" altLang="en-US" sz="1600" baseline="-25000" dirty="0">
                <a:solidFill>
                  <a:schemeClr val="tx1"/>
                </a:solidFill>
              </a:endParaRPr>
            </a:p>
          </p:txBody>
        </p:sp>
        <p:sp>
          <p:nvSpPr>
            <p:cNvPr id="76" name="圆角矩形 75"/>
            <p:cNvSpPr/>
            <p:nvPr/>
          </p:nvSpPr>
          <p:spPr>
            <a:xfrm>
              <a:off x="1773791" y="3011925"/>
              <a:ext cx="235663" cy="216000"/>
            </a:xfrm>
            <a:prstGeom prst="roundRect">
              <a:avLst/>
            </a:prstGeom>
            <a:solidFill>
              <a:schemeClr val="bg1">
                <a:alpha val="4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baseline="-25000" dirty="0">
                  <a:solidFill>
                    <a:schemeClr val="tx1"/>
                  </a:solidFill>
                  <a:latin typeface="Times New Roman" panose="02020603050405020304" pitchFamily="18" charset="0"/>
                  <a:cs typeface="Times New Roman" panose="02020603050405020304" pitchFamily="18" charset="0"/>
                </a:rPr>
                <a:t>2</a:t>
              </a:r>
              <a:endParaRPr lang="zh-CN" altLang="en-US" sz="1600" dirty="0">
                <a:solidFill>
                  <a:schemeClr val="tx1"/>
                </a:solidFill>
              </a:endParaRPr>
            </a:p>
          </p:txBody>
        </p:sp>
        <p:cxnSp>
          <p:nvCxnSpPr>
            <p:cNvPr id="77" name="直接箭头连接符 76"/>
            <p:cNvCxnSpPr/>
            <p:nvPr/>
          </p:nvCxnSpPr>
          <p:spPr>
            <a:xfrm>
              <a:off x="1859755" y="3279578"/>
              <a:ext cx="0" cy="180000"/>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78" name="直接箭头连接符 77"/>
            <p:cNvCxnSpPr/>
            <p:nvPr/>
          </p:nvCxnSpPr>
          <p:spPr>
            <a:xfrm flipH="1" flipV="1">
              <a:off x="1605312" y="3283556"/>
              <a:ext cx="163002" cy="170953"/>
            </a:xfrm>
            <a:prstGeom prst="straightConnector1">
              <a:avLst/>
            </a:prstGeom>
            <a:ln w="28575">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79" name="圆角矩形 78"/>
            <p:cNvSpPr/>
            <p:nvPr/>
          </p:nvSpPr>
          <p:spPr>
            <a:xfrm>
              <a:off x="1763000" y="3447887"/>
              <a:ext cx="246977" cy="29684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i="1" dirty="0">
                  <a:solidFill>
                    <a:schemeClr val="tx1"/>
                  </a:solidFill>
                  <a:latin typeface="Times New Roman" panose="02020603050405020304" pitchFamily="18" charset="0"/>
                  <a:cs typeface="Times New Roman" panose="02020603050405020304" pitchFamily="18" charset="0"/>
                </a:rPr>
                <a:t>S</a:t>
              </a:r>
              <a:r>
                <a:rPr lang="en-US" altLang="zh-CN" sz="1600" b="1" baseline="-25000" dirty="0">
                  <a:solidFill>
                    <a:schemeClr val="tx1"/>
                  </a:solidFill>
                  <a:latin typeface="Times New Roman" panose="02020603050405020304" pitchFamily="18" charset="0"/>
                  <a:cs typeface="Times New Roman" panose="02020603050405020304" pitchFamily="18" charset="0"/>
                </a:rPr>
                <a:t>3</a:t>
              </a:r>
              <a:endParaRPr lang="zh-CN" altLang="en-US" sz="1600" baseline="-25000" dirty="0">
                <a:solidFill>
                  <a:schemeClr val="tx1"/>
                </a:solidFill>
              </a:endParaRPr>
            </a:p>
          </p:txBody>
        </p:sp>
        <p:sp>
          <p:nvSpPr>
            <p:cNvPr id="80" name="圆角矩形 79"/>
            <p:cNvSpPr/>
            <p:nvPr/>
          </p:nvSpPr>
          <p:spPr>
            <a:xfrm>
              <a:off x="1392791" y="3011925"/>
              <a:ext cx="235663" cy="216000"/>
            </a:xfrm>
            <a:prstGeom prst="roundRect">
              <a:avLst/>
            </a:prstGeom>
            <a:solidFill>
              <a:schemeClr val="bg1">
                <a:alpha val="44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b="1" i="1" dirty="0">
                  <a:solidFill>
                    <a:schemeClr val="tx1"/>
                  </a:solidFill>
                  <a:latin typeface="Times New Roman" panose="02020603050405020304" pitchFamily="18" charset="0"/>
                  <a:cs typeface="Times New Roman" panose="02020603050405020304" pitchFamily="18" charset="0"/>
                </a:rPr>
                <a:t>C</a:t>
              </a:r>
              <a:r>
                <a:rPr lang="en-US" altLang="zh-CN" sz="1600" b="1" baseline="-25000" dirty="0">
                  <a:solidFill>
                    <a:schemeClr val="tx1"/>
                  </a:solidFill>
                  <a:latin typeface="Times New Roman" panose="02020603050405020304" pitchFamily="18" charset="0"/>
                  <a:cs typeface="Times New Roman" panose="02020603050405020304" pitchFamily="18" charset="0"/>
                </a:rPr>
                <a:t>3</a:t>
              </a:r>
              <a:endParaRPr lang="zh-CN" altLang="en-US" sz="1600" dirty="0">
                <a:solidFill>
                  <a:schemeClr val="tx1"/>
                </a:solidFill>
              </a:endParaRPr>
            </a:p>
          </p:txBody>
        </p:sp>
        <p:cxnSp>
          <p:nvCxnSpPr>
            <p:cNvPr id="81" name="直接连接符 80"/>
            <p:cNvCxnSpPr/>
            <p:nvPr/>
          </p:nvCxnSpPr>
          <p:spPr>
            <a:xfrm rot="10800000">
              <a:off x="1702411" y="2404144"/>
              <a:ext cx="1284646" cy="1588"/>
            </a:xfrm>
            <a:prstGeom prst="line">
              <a:avLst/>
            </a:prstGeom>
            <a:ln w="57150">
              <a:solidFill>
                <a:srgbClr val="FF00FF"/>
              </a:solidFill>
              <a:headEnd type="none" w="med" len="med"/>
              <a:tailEnd type="stealth" w="med" len="med"/>
            </a:ln>
          </p:spPr>
          <p:style>
            <a:lnRef idx="1">
              <a:schemeClr val="accent1"/>
            </a:lnRef>
            <a:fillRef idx="0">
              <a:schemeClr val="accent1"/>
            </a:fillRef>
            <a:effectRef idx="0">
              <a:schemeClr val="accent1"/>
            </a:effectRef>
            <a:fontRef idx="minor">
              <a:schemeClr val="tx1"/>
            </a:fontRef>
          </p:style>
        </p:cxn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up)">
                                      <p:cBhvr>
                                        <p:cTn id="7" dur="1000"/>
                                        <p:tgtEl>
                                          <p:spTgt spid="40"/>
                                        </p:tgtEl>
                                      </p:cBhvr>
                                    </p:animEffect>
                                  </p:childTnLst>
                                </p:cTn>
                              </p:par>
                            </p:childTnLst>
                          </p:cTn>
                        </p:par>
                        <p:par>
                          <p:cTn id="8" fill="hold">
                            <p:stCondLst>
                              <p:cond delay="1000"/>
                            </p:stCondLst>
                            <p:childTnLst>
                              <p:par>
                                <p:cTn id="9" presetID="42" presetClass="entr" presetSubtype="0" fill="hold" nodeType="afterEffect">
                                  <p:stCondLst>
                                    <p:cond delay="0"/>
                                  </p:stCondLst>
                                  <p:childTnLst>
                                    <p:set>
                                      <p:cBhvr>
                                        <p:cTn id="10" dur="1" fill="hold">
                                          <p:stCondLst>
                                            <p:cond delay="0"/>
                                          </p:stCondLst>
                                        </p:cTn>
                                        <p:tgtEl>
                                          <p:spTgt spid="54"/>
                                        </p:tgtEl>
                                        <p:attrNameLst>
                                          <p:attrName>style.visibility</p:attrName>
                                        </p:attrNameLst>
                                      </p:cBhvr>
                                      <p:to>
                                        <p:strVal val="visible"/>
                                      </p:to>
                                    </p:set>
                                    <p:animEffect transition="in" filter="fade">
                                      <p:cBhvr>
                                        <p:cTn id="11" dur="1000"/>
                                        <p:tgtEl>
                                          <p:spTgt spid="54"/>
                                        </p:tgtEl>
                                      </p:cBhvr>
                                    </p:animEffect>
                                    <p:anim calcmode="lin" valueType="num">
                                      <p:cBhvr>
                                        <p:cTn id="12" dur="1000" fill="hold"/>
                                        <p:tgtEl>
                                          <p:spTgt spid="54"/>
                                        </p:tgtEl>
                                        <p:attrNameLst>
                                          <p:attrName>ppt_x</p:attrName>
                                        </p:attrNameLst>
                                      </p:cBhvr>
                                      <p:tavLst>
                                        <p:tav tm="0">
                                          <p:val>
                                            <p:strVal val="#ppt_x"/>
                                          </p:val>
                                        </p:tav>
                                        <p:tav tm="100000">
                                          <p:val>
                                            <p:strVal val="#ppt_x"/>
                                          </p:val>
                                        </p:tav>
                                      </p:tavLst>
                                    </p:anim>
                                    <p:anim calcmode="lin" valueType="num">
                                      <p:cBhvr>
                                        <p:cTn id="13" dur="1000" fill="hold"/>
                                        <p:tgtEl>
                                          <p:spTgt spid="54"/>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000"/>
                                        <p:tgtEl>
                                          <p:spTgt spid="2"/>
                                        </p:tgtEl>
                                      </p:cBhvr>
                                    </p:animEffect>
                                    <p:anim calcmode="lin" valueType="num">
                                      <p:cBhvr>
                                        <p:cTn id="19" dur="1000" fill="hold"/>
                                        <p:tgtEl>
                                          <p:spTgt spid="2"/>
                                        </p:tgtEl>
                                        <p:attrNameLst>
                                          <p:attrName>ppt_x</p:attrName>
                                        </p:attrNameLst>
                                      </p:cBhvr>
                                      <p:tavLst>
                                        <p:tav tm="0">
                                          <p:val>
                                            <p:strVal val="#ppt_x"/>
                                          </p:val>
                                        </p:tav>
                                        <p:tav tm="100000">
                                          <p:val>
                                            <p:strVal val="#ppt_x"/>
                                          </p:val>
                                        </p:tav>
                                      </p:tavLst>
                                    </p:anim>
                                    <p:anim calcmode="lin" valueType="num">
                                      <p:cBhvr>
                                        <p:cTn id="2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2" presetClass="entr" presetSubtype="4" fill="hold" nodeType="clickEffect">
                                  <p:stCondLst>
                                    <p:cond delay="0"/>
                                  </p:stCondLst>
                                  <p:childTnLst>
                                    <p:set>
                                      <p:cBhvr>
                                        <p:cTn id="24" dur="1" fill="hold">
                                          <p:stCondLst>
                                            <p:cond delay="0"/>
                                          </p:stCondLst>
                                        </p:cTn>
                                        <p:tgtEl>
                                          <p:spTgt spid="74"/>
                                        </p:tgtEl>
                                        <p:attrNameLst>
                                          <p:attrName>style.visibility</p:attrName>
                                        </p:attrNameLst>
                                      </p:cBhvr>
                                      <p:to>
                                        <p:strVal val="visible"/>
                                      </p:to>
                                    </p:set>
                                    <p:animEffect transition="in" filter="slide(fromBottom)">
                                      <p:cBhvr>
                                        <p:cTn id="25" dur="1000"/>
                                        <p:tgtEl>
                                          <p:spTgt spid="74"/>
                                        </p:tgtEl>
                                      </p:cBhvr>
                                    </p:animEffect>
                                  </p:childTnLst>
                                </p:cTn>
                              </p:par>
                            </p:childTnLst>
                          </p:cTn>
                        </p:par>
                        <p:par>
                          <p:cTn id="26" fill="hold">
                            <p:stCondLst>
                              <p:cond delay="1000"/>
                            </p:stCondLst>
                            <p:childTnLst>
                              <p:par>
                                <p:cTn id="27" presetID="12" presetClass="entr" presetSubtype="4" fill="hold" nodeType="afterEffect">
                                  <p:stCondLst>
                                    <p:cond delay="0"/>
                                  </p:stCondLst>
                                  <p:childTnLst>
                                    <p:set>
                                      <p:cBhvr>
                                        <p:cTn id="28" dur="1" fill="hold">
                                          <p:stCondLst>
                                            <p:cond delay="0"/>
                                          </p:stCondLst>
                                        </p:cTn>
                                        <p:tgtEl>
                                          <p:spTgt spid="75"/>
                                        </p:tgtEl>
                                        <p:attrNameLst>
                                          <p:attrName>style.visibility</p:attrName>
                                        </p:attrNameLst>
                                      </p:cBhvr>
                                      <p:to>
                                        <p:strVal val="visible"/>
                                      </p:to>
                                    </p:set>
                                    <p:animEffect transition="in" filter="slide(fromBottom)">
                                      <p:cBhvr>
                                        <p:cTn id="29" dur="10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937260" y="3467100"/>
            <a:ext cx="5501640" cy="1755200"/>
            <a:chOff x="937260" y="3467100"/>
            <a:chExt cx="5501640" cy="1755200"/>
          </a:xfrm>
        </p:grpSpPr>
        <p:grpSp>
          <p:nvGrpSpPr>
            <p:cNvPr id="14" name="组合 13"/>
            <p:cNvGrpSpPr/>
            <p:nvPr/>
          </p:nvGrpSpPr>
          <p:grpSpPr>
            <a:xfrm>
              <a:off x="937260" y="3467100"/>
              <a:ext cx="5501640" cy="1755200"/>
              <a:chOff x="937260" y="3467100"/>
              <a:chExt cx="5501640" cy="1755200"/>
            </a:xfrm>
          </p:grpSpPr>
          <p:grpSp>
            <p:nvGrpSpPr>
              <p:cNvPr id="13" name="组合 12"/>
              <p:cNvGrpSpPr/>
              <p:nvPr/>
            </p:nvGrpSpPr>
            <p:grpSpPr>
              <a:xfrm>
                <a:off x="937260" y="3467100"/>
                <a:ext cx="5501640" cy="1755200"/>
                <a:chOff x="937260" y="3467100"/>
                <a:chExt cx="5501640" cy="1755200"/>
              </a:xfrm>
            </p:grpSpPr>
            <p:sp>
              <p:nvSpPr>
                <p:cNvPr id="80" name="圆角矩形 79"/>
                <p:cNvSpPr/>
                <p:nvPr/>
              </p:nvSpPr>
              <p:spPr>
                <a:xfrm>
                  <a:off x="937260" y="3467100"/>
                  <a:ext cx="5501640" cy="1744980"/>
                </a:xfrm>
                <a:prstGeom prst="roundRect">
                  <a:avLst>
                    <a:gd name="adj" fmla="val 6682"/>
                  </a:avLst>
                </a:prstGeom>
                <a:solidFill>
                  <a:schemeClr val="accent1">
                    <a:lumMod val="20000"/>
                    <a:lumOff val="80000"/>
                  </a:schemeClr>
                </a:solid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TextBox 81"/>
                <p:cNvSpPr txBox="1"/>
                <p:nvPr/>
              </p:nvSpPr>
              <p:spPr>
                <a:xfrm rot="5400000">
                  <a:off x="1252909" y="4792534"/>
                  <a:ext cx="397866" cy="461665"/>
                </a:xfrm>
                <a:prstGeom prst="rect">
                  <a:avLst/>
                </a:prstGeom>
                <a:solidFill>
                  <a:schemeClr val="accent1">
                    <a:lumMod val="20000"/>
                    <a:lumOff val="80000"/>
                  </a:schemeClr>
                </a:solidFill>
              </p:spPr>
              <p:txBody>
                <a:bodyPr wrap="none" rtlCol="0">
                  <a:spAutoFit/>
                </a:bodyPr>
                <a:lstStyle/>
                <a:p>
                  <a:r>
                    <a:rPr lang="en-US" altLang="zh-CN" sz="2400" dirty="0"/>
                    <a:t>…</a:t>
                  </a:r>
                  <a:endParaRPr lang="zh-CN" altLang="en-US" sz="2400" dirty="0"/>
                </a:p>
              </p:txBody>
            </p:sp>
          </p:grpSp>
          <p:graphicFrame>
            <p:nvGraphicFramePr>
              <p:cNvPr id="3" name="Object 6"/>
              <p:cNvGraphicFramePr>
                <a:graphicFrameLocks noChangeAspect="1"/>
              </p:cNvGraphicFramePr>
              <p:nvPr/>
            </p:nvGraphicFramePr>
            <p:xfrm>
              <a:off x="1021715" y="3531235"/>
              <a:ext cx="1392192" cy="288000"/>
            </p:xfrm>
            <a:graphic>
              <a:graphicData uri="http://schemas.openxmlformats.org/presentationml/2006/ole">
                <mc:AlternateContent xmlns:mc="http://schemas.openxmlformats.org/markup-compatibility/2006">
                  <mc:Choice xmlns:v="urn:schemas-microsoft-com:vml" Requires="v">
                    <p:oleObj spid="_x0000_s68694" name="公式" r:id="rId1" imgW="977900" imgH="228600" progId="Equation.3">
                      <p:embed/>
                    </p:oleObj>
                  </mc:Choice>
                  <mc:Fallback>
                    <p:oleObj name="公式" r:id="rId1" imgW="977900" imgH="228600" progId="Equation.3">
                      <p:embed/>
                      <p:pic>
                        <p:nvPicPr>
                          <p:cNvPr id="0" name="Object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1715" y="3531235"/>
                            <a:ext cx="1392192" cy="28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7"/>
              <p:cNvGraphicFramePr>
                <a:graphicFrameLocks noChangeAspect="1"/>
              </p:cNvGraphicFramePr>
              <p:nvPr/>
            </p:nvGraphicFramePr>
            <p:xfrm>
              <a:off x="1027930" y="3873500"/>
              <a:ext cx="1266825" cy="288925"/>
            </p:xfrm>
            <a:graphic>
              <a:graphicData uri="http://schemas.openxmlformats.org/presentationml/2006/ole">
                <mc:AlternateContent xmlns:mc="http://schemas.openxmlformats.org/markup-compatibility/2006">
                  <mc:Choice xmlns:v="urn:schemas-microsoft-com:vml" Requires="v">
                    <p:oleObj spid="_x0000_s68695" name="公式" r:id="rId3" imgW="889000" imgH="228600" progId="Equation.3">
                      <p:embed/>
                    </p:oleObj>
                  </mc:Choice>
                  <mc:Fallback>
                    <p:oleObj name="公式" r:id="rId3" imgW="889000" imgH="228600" progId="Equation.3">
                      <p:embed/>
                      <p:pic>
                        <p:nvPicPr>
                          <p:cNvPr id="0"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27930" y="3873500"/>
                            <a:ext cx="1266825" cy="288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 name="Object 8"/>
              <p:cNvGraphicFramePr>
                <a:graphicFrameLocks noChangeAspect="1"/>
              </p:cNvGraphicFramePr>
              <p:nvPr/>
            </p:nvGraphicFramePr>
            <p:xfrm>
              <a:off x="1014095" y="4223703"/>
              <a:ext cx="4126000" cy="288000"/>
            </p:xfrm>
            <a:graphic>
              <a:graphicData uri="http://schemas.openxmlformats.org/presentationml/2006/ole">
                <mc:AlternateContent xmlns:mc="http://schemas.openxmlformats.org/markup-compatibility/2006">
                  <mc:Choice xmlns:v="urn:schemas-microsoft-com:vml" Requires="v">
                    <p:oleObj spid="_x0000_s68696" name="公式" r:id="rId5" imgW="2895600" imgH="228600" progId="Equation.3">
                      <p:embed/>
                    </p:oleObj>
                  </mc:Choice>
                  <mc:Fallback>
                    <p:oleObj name="公式" r:id="rId5" imgW="2895600" imgH="228600" progId="Equation.3">
                      <p:embed/>
                      <p:pic>
                        <p:nvPicPr>
                          <p:cNvPr id="0" name="Object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14095" y="4223703"/>
                            <a:ext cx="4126000" cy="28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9"/>
              <p:cNvGraphicFramePr>
                <a:graphicFrameLocks noChangeAspect="1"/>
              </p:cNvGraphicFramePr>
              <p:nvPr/>
            </p:nvGraphicFramePr>
            <p:xfrm>
              <a:off x="1014095" y="4582795"/>
              <a:ext cx="5285216" cy="288000"/>
            </p:xfrm>
            <a:graphic>
              <a:graphicData uri="http://schemas.openxmlformats.org/presentationml/2006/ole">
                <mc:AlternateContent xmlns:mc="http://schemas.openxmlformats.org/markup-compatibility/2006">
                  <mc:Choice xmlns:v="urn:schemas-microsoft-com:vml" Requires="v">
                    <p:oleObj spid="_x0000_s68697" name="公式" r:id="rId7" imgW="3708400" imgH="228600" progId="Equation.3">
                      <p:embed/>
                    </p:oleObj>
                  </mc:Choice>
                  <mc:Fallback>
                    <p:oleObj name="公式" r:id="rId7" imgW="3708400" imgH="228600" progId="Equation.3">
                      <p:embed/>
                      <p:pic>
                        <p:nvPicPr>
                          <p:cNvPr id="0" name="Object 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14095" y="4582795"/>
                            <a:ext cx="5285216" cy="28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59409" name="Object 17"/>
            <p:cNvGraphicFramePr>
              <a:graphicFrameLocks noChangeAspect="1"/>
            </p:cNvGraphicFramePr>
            <p:nvPr/>
          </p:nvGraphicFramePr>
          <p:xfrm>
            <a:off x="2308673" y="3870772"/>
            <a:ext cx="1601369" cy="282595"/>
          </p:xfrm>
          <a:graphic>
            <a:graphicData uri="http://schemas.openxmlformats.org/presentationml/2006/ole">
              <mc:AlternateContent xmlns:mc="http://schemas.openxmlformats.org/markup-compatibility/2006">
                <mc:Choice xmlns:v="urn:schemas-microsoft-com:vml" Requires="v">
                  <p:oleObj spid="_x0000_s68698" name="公式" r:id="rId9" imgW="1295400" imgH="228600" progId="Equation.3">
                    <p:embed/>
                  </p:oleObj>
                </mc:Choice>
                <mc:Fallback>
                  <p:oleObj name="公式" r:id="rId9" imgW="1295400" imgH="228600" progId="Equation.3">
                    <p:embed/>
                    <p:pic>
                      <p:nvPicPr>
                        <p:cNvPr id="0" name="Object 1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08673" y="3870772"/>
                          <a:ext cx="1601369" cy="2825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75" name="组合 74"/>
          <p:cNvGrpSpPr/>
          <p:nvPr/>
        </p:nvGrpSpPr>
        <p:grpSpPr>
          <a:xfrm>
            <a:off x="3375660" y="2054543"/>
            <a:ext cx="5615940" cy="1008697"/>
            <a:chOff x="3375660" y="2054543"/>
            <a:chExt cx="5615940" cy="1008697"/>
          </a:xfrm>
        </p:grpSpPr>
        <p:sp>
          <p:nvSpPr>
            <p:cNvPr id="74" name="圆角矩形 73"/>
            <p:cNvSpPr/>
            <p:nvPr/>
          </p:nvSpPr>
          <p:spPr>
            <a:xfrm>
              <a:off x="3375660" y="2316480"/>
              <a:ext cx="2994660" cy="746760"/>
            </a:xfrm>
            <a:prstGeom prst="roundRect">
              <a:avLst/>
            </a:prstGeom>
            <a:solidFill>
              <a:schemeClr val="bg1"/>
            </a:solid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圆角矩形标注 72"/>
            <p:cNvSpPr/>
            <p:nvPr/>
          </p:nvSpPr>
          <p:spPr bwMode="auto">
            <a:xfrm>
              <a:off x="6524308" y="2054543"/>
              <a:ext cx="2467292" cy="830262"/>
            </a:xfrm>
            <a:prstGeom prst="wedgeRoundRectCallout">
              <a:avLst>
                <a:gd name="adj1" fmla="val -54897"/>
                <a:gd name="adj2" fmla="val 30880"/>
                <a:gd name="adj3" fmla="val 16667"/>
              </a:avLst>
            </a:prstGeom>
            <a:solidFill>
              <a:srgbClr val="FFC000"/>
            </a:solidFill>
            <a:ln w="28575">
              <a:solidFill>
                <a:srgbClr val="6600FF"/>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lIns="0" rIns="0" anchor="ctr"/>
            <a:lstStyle/>
            <a:p>
              <a:pPr>
                <a:lnSpc>
                  <a:spcPct val="150000"/>
                </a:lnSpc>
                <a:defRPr/>
              </a:pPr>
              <a:r>
                <a:rPr lang="en-US" altLang="zh-CN" sz="1600" i="1"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G</a:t>
              </a:r>
              <a:r>
                <a:rPr lang="en-US" altLang="zh-CN" sz="1600" baseline="-25000"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600"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1600"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只与</a:t>
              </a:r>
              <a:r>
                <a:rPr lang="en-US" altLang="zh-CN" sz="1600"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a:t>
              </a:r>
              <a:r>
                <a:rPr lang="en-US" altLang="zh-CN" sz="1600"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600" i="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B</a:t>
              </a:r>
              <a:r>
                <a:rPr lang="en-US" altLang="zh-CN" sz="1600"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有关，即只与被加数和加数有关。</a:t>
              </a:r>
              <a:endParaRPr lang="zh-CN" altLang="en-US"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58" name="组合 57"/>
          <p:cNvGrpSpPr/>
          <p:nvPr/>
        </p:nvGrpSpPr>
        <p:grpSpPr>
          <a:xfrm>
            <a:off x="912185" y="1673504"/>
            <a:ext cx="2006275" cy="719177"/>
            <a:chOff x="790265" y="4294784"/>
            <a:chExt cx="2006275" cy="719177"/>
          </a:xfrm>
        </p:grpSpPr>
        <p:sp>
          <p:nvSpPr>
            <p:cNvPr id="59" name="圆角矩形 58"/>
            <p:cNvSpPr/>
            <p:nvPr/>
          </p:nvSpPr>
          <p:spPr>
            <a:xfrm>
              <a:off x="790265" y="4297681"/>
              <a:ext cx="2006275" cy="716280"/>
            </a:xfrm>
            <a:prstGeom prst="roundRect">
              <a:avLst>
                <a:gd name="adj" fmla="val 11232"/>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0" name="Object 16"/>
            <p:cNvGraphicFramePr>
              <a:graphicFrameLocks noChangeAspect="1"/>
            </p:cNvGraphicFramePr>
            <p:nvPr/>
          </p:nvGraphicFramePr>
          <p:xfrm>
            <a:off x="860960" y="4294784"/>
            <a:ext cx="1503363" cy="290512"/>
          </p:xfrm>
          <a:graphic>
            <a:graphicData uri="http://schemas.openxmlformats.org/presentationml/2006/ole">
              <mc:AlternateContent xmlns:mc="http://schemas.openxmlformats.org/markup-compatibility/2006">
                <mc:Choice xmlns:v="urn:schemas-microsoft-com:vml" Requires="v">
                  <p:oleObj spid="_x0000_s68699" name="公式" r:id="rId11" imgW="1116965" imgH="215900" progId="Equation.3">
                    <p:embed/>
                  </p:oleObj>
                </mc:Choice>
                <mc:Fallback>
                  <p:oleObj name="公式" r:id="rId11" imgW="1116965" imgH="215900" progId="Equation.3">
                    <p:embed/>
                    <p:pic>
                      <p:nvPicPr>
                        <p:cNvPr id="0" name="Object 1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860960" y="4294784"/>
                          <a:ext cx="1503363" cy="290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61" name="Object 5"/>
            <p:cNvGraphicFramePr>
              <a:graphicFrameLocks noChangeAspect="1"/>
            </p:cNvGraphicFramePr>
            <p:nvPr/>
          </p:nvGraphicFramePr>
          <p:xfrm>
            <a:off x="857885" y="4664710"/>
            <a:ext cx="1900238" cy="279400"/>
          </p:xfrm>
          <a:graphic>
            <a:graphicData uri="http://schemas.openxmlformats.org/presentationml/2006/ole">
              <mc:AlternateContent xmlns:mc="http://schemas.openxmlformats.org/markup-compatibility/2006">
                <mc:Choice xmlns:v="urn:schemas-microsoft-com:vml" Requires="v">
                  <p:oleObj spid="_x0000_s68700" name="公式" r:id="rId13" imgW="1473200" imgH="215900" progId="Equation.3">
                    <p:embed/>
                  </p:oleObj>
                </mc:Choice>
                <mc:Fallback>
                  <p:oleObj name="公式" r:id="rId13" imgW="1473200" imgH="215900" progId="Equation.3">
                    <p:embed/>
                    <p:pic>
                      <p:nvPicPr>
                        <p:cNvPr id="0" name="Object 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57885" y="4664710"/>
                          <a:ext cx="1900238"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2" name="组合 17"/>
          <p:cNvGrpSpPr/>
          <p:nvPr/>
        </p:nvGrpSpPr>
        <p:grpSpPr>
          <a:xfrm>
            <a:off x="392432" y="769746"/>
            <a:ext cx="4286248" cy="420971"/>
            <a:chOff x="670560" y="892917"/>
            <a:chExt cx="4286248" cy="420971"/>
          </a:xfrm>
        </p:grpSpPr>
        <p:sp>
          <p:nvSpPr>
            <p:cNvPr id="36" name="矩形 35"/>
            <p:cNvSpPr/>
            <p:nvPr/>
          </p:nvSpPr>
          <p:spPr>
            <a:xfrm>
              <a:off x="1035233" y="913778"/>
              <a:ext cx="3921575"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多位数加法运算电路</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37" name="Picture 3"/>
            <p:cNvPicPr>
              <a:picLocks noChangeAspect="1" noChangeArrowheads="1"/>
            </p:cNvPicPr>
            <p:nvPr/>
          </p:nvPicPr>
          <p:blipFill>
            <a:blip r:embed="rId15"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38" name="Rectangle 6"/>
          <p:cNvSpPr>
            <a:spLocks noChangeArrowheads="1"/>
          </p:cNvSpPr>
          <p:nvPr/>
        </p:nvSpPr>
        <p:spPr bwMode="auto">
          <a:xfrm>
            <a:off x="541338" y="1247140"/>
            <a:ext cx="2864802" cy="338554"/>
          </a:xfrm>
          <a:prstGeom prst="rect">
            <a:avLst/>
          </a:prstGeom>
          <a:noFill/>
          <a:ln w="9525" algn="ctr">
            <a:noFill/>
            <a:miter lim="800000"/>
          </a:ln>
        </p:spPr>
        <p:txBody>
          <a:bodyPr wrap="square" anchor="ctr">
            <a:spAutoFit/>
          </a:bodyPr>
          <a:lstStyle/>
          <a:p>
            <a:pPr eaLnBrk="0" hangingPunct="0">
              <a:tabLst>
                <a:tab pos="264795" algn="l"/>
              </a:tabLst>
            </a:pPr>
            <a:r>
              <a:rPr lang="zh-CN" altLang="en-US" sz="1600" dirty="0">
                <a:solidFill>
                  <a:srgbClr val="6600FF"/>
                </a:solidFill>
                <a:latin typeface="微软雅黑" panose="020B0503020204020204" pitchFamily="34" charset="-122"/>
                <a:ea typeface="微软雅黑" panose="020B0503020204020204" pitchFamily="34" charset="-122"/>
              </a:rPr>
              <a:t>（</a:t>
            </a:r>
            <a:r>
              <a:rPr lang="en-US" altLang="zh-CN" sz="1600" dirty="0">
                <a:solidFill>
                  <a:srgbClr val="6600FF"/>
                </a:solidFill>
                <a:latin typeface="微软雅黑" panose="020B0503020204020204" pitchFamily="34" charset="-122"/>
                <a:ea typeface="微软雅黑" panose="020B0503020204020204" pitchFamily="34" charset="-122"/>
              </a:rPr>
              <a:t>2</a:t>
            </a:r>
            <a:r>
              <a:rPr lang="zh-CN" altLang="en-US" sz="1600" dirty="0">
                <a:solidFill>
                  <a:srgbClr val="6600FF"/>
                </a:solidFill>
                <a:latin typeface="微软雅黑" panose="020B0503020204020204" pitchFamily="34" charset="-122"/>
                <a:ea typeface="微软雅黑" panose="020B0503020204020204" pitchFamily="34" charset="-122"/>
              </a:rPr>
              <a:t>）超前进位加法器原理</a:t>
            </a:r>
            <a:endParaRPr kumimoji="1" lang="zh-CN" altLang="en-US" sz="1600" dirty="0">
              <a:solidFill>
                <a:srgbClr val="000000"/>
              </a:solidFill>
              <a:latin typeface="微软雅黑" panose="020B0503020204020204" pitchFamily="34" charset="-122"/>
              <a:ea typeface="微软雅黑" panose="020B0503020204020204" pitchFamily="34" charset="-122"/>
            </a:endParaRPr>
          </a:p>
        </p:txBody>
      </p:sp>
      <p:grpSp>
        <p:nvGrpSpPr>
          <p:cNvPr id="43" name="组合 42"/>
          <p:cNvGrpSpPr/>
          <p:nvPr/>
        </p:nvGrpSpPr>
        <p:grpSpPr>
          <a:xfrm>
            <a:off x="7254678" y="702034"/>
            <a:ext cx="1702154" cy="1281483"/>
            <a:chOff x="7155618" y="3772894"/>
            <a:chExt cx="1702154" cy="1281483"/>
          </a:xfrm>
        </p:grpSpPr>
        <p:grpSp>
          <p:nvGrpSpPr>
            <p:cNvPr id="44" name="组合 89"/>
            <p:cNvGrpSpPr/>
            <p:nvPr/>
          </p:nvGrpSpPr>
          <p:grpSpPr>
            <a:xfrm>
              <a:off x="7155618" y="3919984"/>
              <a:ext cx="1702154" cy="1134393"/>
              <a:chOff x="6952842" y="3741064"/>
              <a:chExt cx="1702154" cy="1134393"/>
            </a:xfrm>
          </p:grpSpPr>
          <p:sp>
            <p:nvSpPr>
              <p:cNvPr id="46" name="圆角矩形 45"/>
              <p:cNvSpPr/>
              <p:nvPr/>
            </p:nvSpPr>
            <p:spPr>
              <a:xfrm>
                <a:off x="6952842" y="3741064"/>
                <a:ext cx="1702154" cy="1134393"/>
              </a:xfrm>
              <a:prstGeom prst="roundRect">
                <a:avLst>
                  <a:gd name="adj" fmla="val 4849"/>
                </a:avLst>
              </a:prstGeom>
              <a:solidFill>
                <a:schemeClr val="accent4">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7" name="组合 85"/>
              <p:cNvGrpSpPr/>
              <p:nvPr/>
            </p:nvGrpSpPr>
            <p:grpSpPr>
              <a:xfrm>
                <a:off x="7390751" y="4306866"/>
                <a:ext cx="864000" cy="336605"/>
                <a:chOff x="7343039" y="4306866"/>
                <a:chExt cx="864000" cy="336605"/>
              </a:xfrm>
            </p:grpSpPr>
            <p:cxnSp>
              <p:nvCxnSpPr>
                <p:cNvPr id="52" name="直接连接符 51"/>
                <p:cNvCxnSpPr/>
                <p:nvPr/>
              </p:nvCxnSpPr>
              <p:spPr>
                <a:xfrm>
                  <a:off x="7343039" y="4643471"/>
                  <a:ext cx="864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a:off x="7343039" y="4306866"/>
                  <a:ext cx="864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a:off x="7343039" y="4475169"/>
                  <a:ext cx="576000" cy="0"/>
                </a:xfrm>
                <a:prstGeom prst="line">
                  <a:avLst/>
                </a:prstGeom>
                <a:solidFill>
                  <a:schemeClr val="accent4">
                    <a:lumMod val="20000"/>
                    <a:lumOff val="80000"/>
                  </a:schemeClr>
                </a:solidFill>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8" name="Rectangle 7"/>
              <p:cNvSpPr>
                <a:spLocks noChangeArrowheads="1"/>
              </p:cNvSpPr>
              <p:nvPr/>
            </p:nvSpPr>
            <p:spPr bwMode="auto">
              <a:xfrm>
                <a:off x="7627914" y="4189670"/>
                <a:ext cx="430733" cy="579798"/>
              </a:xfrm>
              <a:prstGeom prst="rect">
                <a:avLst/>
              </a:prstGeom>
              <a:solidFill>
                <a:srgbClr val="FFFF00"/>
              </a:solidFill>
              <a:ln w="28575">
                <a:solidFill>
                  <a:srgbClr val="000000"/>
                </a:solidFill>
                <a:miter lim="800000"/>
              </a:ln>
              <a:effectLst/>
            </p:spPr>
            <p:txBody>
              <a:bodyPr vert="horz" wrap="square" lIns="12700" tIns="12700" rIns="12700" bIns="12700" numCol="1" anchor="t" anchorCtr="0" compatLnSpc="1"/>
              <a:lstStyle/>
              <a:p>
                <a:pPr marL="0" marR="0" lvl="0" indent="0" algn="ctr" defTabSz="914400" rtl="0" eaLnBrk="1" fontAlgn="base" latinLnBrk="0" hangingPunct="1">
                  <a:lnSpc>
                    <a:spcPct val="100000"/>
                  </a:lnSpc>
                  <a:spcBef>
                    <a:spcPct val="0"/>
                  </a:spcBef>
                  <a:spcAft>
                    <a:spcPct val="0"/>
                  </a:spcAft>
                  <a:buClrTx/>
                  <a:buSzTx/>
                  <a:buFontTx/>
                  <a:buNone/>
                </a:pPr>
                <a:r>
                  <a:rPr lang="en-US" altLang="zh-CN" sz="1400" b="1" dirty="0">
                    <a:latin typeface="Times New Roman" panose="02020603050405020304" pitchFamily="18" charset="0"/>
                    <a:ea typeface="楷体_GB2312" pitchFamily="49" charset="-122"/>
                    <a:cs typeface="Times New Roman" panose="02020603050405020304" pitchFamily="18" charset="0"/>
                  </a:rPr>
                  <a:t>Ʃ</a:t>
                </a:r>
                <a:endParaRPr kumimoji="0" lang="zh-CN" altLang="zh-CN" sz="1400" b="1" i="0" u="none" strike="noStrike" cap="none" normalizeH="0" baseline="0" dirty="0">
                  <a:ln>
                    <a:noFill/>
                  </a:ln>
                  <a:effectLst/>
                  <a:latin typeface="Times New Roman" panose="02020603050405020304" pitchFamily="18" charset="0"/>
                  <a:ea typeface="楷体_GB2312" pitchFamily="49" charset="-122"/>
                  <a:cs typeface="Times New Roman" panose="02020603050405020304" pitchFamily="18" charset="0"/>
                </a:endParaRPr>
              </a:p>
            </p:txBody>
          </p:sp>
          <p:sp>
            <p:nvSpPr>
              <p:cNvPr id="49" name="TextBox 48"/>
              <p:cNvSpPr txBox="1"/>
              <p:nvPr/>
            </p:nvSpPr>
            <p:spPr>
              <a:xfrm>
                <a:off x="7657143" y="4534907"/>
                <a:ext cx="385638" cy="169277"/>
              </a:xfrm>
              <a:prstGeom prst="rect">
                <a:avLst/>
              </a:prstGeom>
              <a:noFill/>
            </p:spPr>
            <p:txBody>
              <a:bodyPr wrap="square" lIns="0" tIns="0" rIns="0" bIns="0" rtlCol="0">
                <a:spAutoFit/>
              </a:bodyPr>
              <a:lstStyle/>
              <a:p>
                <a:r>
                  <a:rPr lang="en-US" altLang="zh-CN" sz="1100" b="1" dirty="0">
                    <a:latin typeface="宋体" panose="02010600030101010101" pitchFamily="2" charset="-122"/>
                    <a:ea typeface="宋体" panose="02010600030101010101" pitchFamily="2" charset="-122"/>
                    <a:cs typeface="Times New Roman" panose="02020603050405020304" pitchFamily="18" charset="0"/>
                  </a:rPr>
                  <a:t>CI CO</a:t>
                </a:r>
                <a:endParaRPr lang="zh-CN" altLang="en-US" sz="1100" b="1" dirty="0">
                  <a:latin typeface="宋体" panose="02010600030101010101" pitchFamily="2" charset="-122"/>
                  <a:ea typeface="宋体" panose="02010600030101010101" pitchFamily="2" charset="-122"/>
                  <a:cs typeface="Times New Roman" panose="02020603050405020304" pitchFamily="18" charset="0"/>
                </a:endParaRPr>
              </a:p>
            </p:txBody>
          </p:sp>
          <p:sp>
            <p:nvSpPr>
              <p:cNvPr id="50" name="TextBox 49"/>
              <p:cNvSpPr txBox="1"/>
              <p:nvPr/>
            </p:nvSpPr>
            <p:spPr>
              <a:xfrm>
                <a:off x="7083263" y="4162921"/>
                <a:ext cx="279095" cy="577081"/>
              </a:xfrm>
              <a:prstGeom prst="rect">
                <a:avLst/>
              </a:prstGeom>
              <a:noFill/>
            </p:spPr>
            <p:txBody>
              <a:bodyPr wrap="square" lIns="0" tIns="0" rIns="0" bIns="0" rtlCol="0">
                <a:spAutoFit/>
              </a:bodyPr>
              <a:lstStyle/>
              <a:p>
                <a:pPr algn="r">
                  <a:lnSpc>
                    <a:spcPts val="1500"/>
                  </a:lnSpc>
                </a:pPr>
                <a:r>
                  <a:rPr lang="en-US" altLang="zh-CN" sz="1400" b="1" i="1" dirty="0">
                    <a:latin typeface="Times New Roman" panose="02020603050405020304" pitchFamily="18" charset="0"/>
                    <a:cs typeface="Times New Roman" panose="02020603050405020304" pitchFamily="18" charset="0"/>
                  </a:rPr>
                  <a:t>A</a:t>
                </a:r>
                <a:r>
                  <a:rPr lang="en-US" altLang="zh-CN" sz="1400" b="1" baseline="-25000" dirty="0">
                    <a:latin typeface="Times New Roman" panose="02020603050405020304" pitchFamily="18" charset="0"/>
                    <a:cs typeface="Times New Roman" panose="02020603050405020304" pitchFamily="18" charset="0"/>
                  </a:rPr>
                  <a:t>i</a:t>
                </a:r>
                <a:endParaRPr lang="en-US" altLang="zh-CN" sz="1400" b="1" baseline="-25000" dirty="0">
                  <a:latin typeface="Times New Roman" panose="02020603050405020304" pitchFamily="18" charset="0"/>
                  <a:cs typeface="Times New Roman" panose="02020603050405020304" pitchFamily="18" charset="0"/>
                </a:endParaRPr>
              </a:p>
              <a:p>
                <a:pPr algn="r">
                  <a:lnSpc>
                    <a:spcPts val="1500"/>
                  </a:lnSpc>
                </a:pPr>
                <a:r>
                  <a:rPr lang="en-US" altLang="zh-CN" sz="1400" b="1" i="1" dirty="0">
                    <a:latin typeface="Times New Roman" panose="02020603050405020304" pitchFamily="18" charset="0"/>
                    <a:cs typeface="Times New Roman" panose="02020603050405020304" pitchFamily="18" charset="0"/>
                  </a:rPr>
                  <a:t>B</a:t>
                </a:r>
                <a:r>
                  <a:rPr lang="en-US" altLang="zh-CN" sz="1400" b="1" baseline="-25000" dirty="0">
                    <a:latin typeface="Times New Roman" panose="02020603050405020304" pitchFamily="18" charset="0"/>
                    <a:cs typeface="Times New Roman" panose="02020603050405020304" pitchFamily="18" charset="0"/>
                  </a:rPr>
                  <a:t>i</a:t>
                </a:r>
                <a:endParaRPr lang="en-US" altLang="zh-CN" sz="1400" b="1" baseline="-25000" dirty="0">
                  <a:latin typeface="Times New Roman" panose="02020603050405020304" pitchFamily="18" charset="0"/>
                  <a:cs typeface="Times New Roman" panose="02020603050405020304" pitchFamily="18" charset="0"/>
                </a:endParaRPr>
              </a:p>
              <a:p>
                <a:pPr algn="r">
                  <a:lnSpc>
                    <a:spcPts val="1500"/>
                  </a:lnSpc>
                </a:pPr>
                <a:r>
                  <a:rPr lang="en-US" altLang="zh-CN" sz="1400" b="1" i="1" dirty="0">
                    <a:latin typeface="Times New Roman" panose="02020603050405020304" pitchFamily="18" charset="0"/>
                    <a:cs typeface="Times New Roman" panose="02020603050405020304" pitchFamily="18" charset="0"/>
                  </a:rPr>
                  <a:t>C</a:t>
                </a:r>
                <a:r>
                  <a:rPr lang="en-US" altLang="zh-CN" sz="1400" b="1" baseline="-25000" dirty="0">
                    <a:latin typeface="Times New Roman" panose="02020603050405020304" pitchFamily="18" charset="0"/>
                    <a:cs typeface="Times New Roman" panose="02020603050405020304" pitchFamily="18" charset="0"/>
                  </a:rPr>
                  <a:t>i-1</a:t>
                </a:r>
                <a:endParaRPr lang="en-US" altLang="zh-CN" sz="1400" b="1" i="1" dirty="0">
                  <a:latin typeface="Times New Roman" panose="02020603050405020304" pitchFamily="18" charset="0"/>
                  <a:cs typeface="Times New Roman" panose="02020603050405020304" pitchFamily="18" charset="0"/>
                </a:endParaRPr>
              </a:p>
            </p:txBody>
          </p:sp>
          <p:sp>
            <p:nvSpPr>
              <p:cNvPr id="51" name="TextBox 50"/>
              <p:cNvSpPr txBox="1"/>
              <p:nvPr/>
            </p:nvSpPr>
            <p:spPr>
              <a:xfrm>
                <a:off x="8277285" y="4196048"/>
                <a:ext cx="279095" cy="538609"/>
              </a:xfrm>
              <a:prstGeom prst="rect">
                <a:avLst/>
              </a:prstGeom>
              <a:noFill/>
            </p:spPr>
            <p:txBody>
              <a:bodyPr wrap="square" lIns="0" tIns="0" rIns="0" bIns="0" rtlCol="0">
                <a:spAutoFit/>
              </a:bodyPr>
              <a:lstStyle/>
              <a:p>
                <a:pPr>
                  <a:lnSpc>
                    <a:spcPts val="1400"/>
                  </a:lnSpc>
                </a:pPr>
                <a:r>
                  <a:rPr lang="en-US" altLang="zh-CN" sz="1400" b="1" i="1" dirty="0">
                    <a:latin typeface="Times New Roman" panose="02020603050405020304" pitchFamily="18" charset="0"/>
                    <a:cs typeface="Times New Roman" panose="02020603050405020304" pitchFamily="18" charset="0"/>
                  </a:rPr>
                  <a:t>S</a:t>
                </a:r>
                <a:r>
                  <a:rPr lang="en-US" altLang="zh-CN" sz="1400" b="1" baseline="-25000" dirty="0">
                    <a:latin typeface="Times New Roman" panose="02020603050405020304" pitchFamily="18" charset="0"/>
                    <a:cs typeface="Times New Roman" panose="02020603050405020304" pitchFamily="18" charset="0"/>
                  </a:rPr>
                  <a:t>i</a:t>
                </a:r>
                <a:endParaRPr lang="en-US" altLang="zh-CN" sz="1400" b="1" baseline="-25000" dirty="0">
                  <a:latin typeface="Times New Roman" panose="02020603050405020304" pitchFamily="18" charset="0"/>
                  <a:cs typeface="Times New Roman" panose="02020603050405020304" pitchFamily="18" charset="0"/>
                </a:endParaRPr>
              </a:p>
              <a:p>
                <a:pPr>
                  <a:lnSpc>
                    <a:spcPts val="1400"/>
                  </a:lnSpc>
                </a:pPr>
                <a:endParaRPr lang="en-US" altLang="zh-CN" sz="1400" b="1" i="1" dirty="0">
                  <a:latin typeface="Times New Roman" panose="02020603050405020304" pitchFamily="18" charset="0"/>
                  <a:cs typeface="Times New Roman" panose="02020603050405020304" pitchFamily="18" charset="0"/>
                </a:endParaRPr>
              </a:p>
              <a:p>
                <a:pPr>
                  <a:lnSpc>
                    <a:spcPts val="1400"/>
                  </a:lnSpc>
                </a:pPr>
                <a:r>
                  <a:rPr lang="en-US" altLang="zh-CN" sz="1400" b="1" i="1" dirty="0" err="1">
                    <a:latin typeface="Times New Roman" panose="02020603050405020304" pitchFamily="18" charset="0"/>
                    <a:cs typeface="Times New Roman" panose="02020603050405020304" pitchFamily="18" charset="0"/>
                  </a:rPr>
                  <a:t>C</a:t>
                </a:r>
                <a:r>
                  <a:rPr lang="en-US" altLang="zh-CN" sz="1400" b="1" baseline="-25000" dirty="0" err="1">
                    <a:latin typeface="Times New Roman" panose="02020603050405020304" pitchFamily="18" charset="0"/>
                    <a:cs typeface="Times New Roman" panose="02020603050405020304" pitchFamily="18" charset="0"/>
                  </a:rPr>
                  <a:t>i</a:t>
                </a:r>
                <a:endParaRPr lang="en-US" altLang="zh-CN" sz="1400" b="1" i="1" dirty="0">
                  <a:latin typeface="Times New Roman" panose="02020603050405020304" pitchFamily="18" charset="0"/>
                  <a:cs typeface="Times New Roman" panose="02020603050405020304" pitchFamily="18" charset="0"/>
                </a:endParaRPr>
              </a:p>
            </p:txBody>
          </p:sp>
        </p:grpSp>
        <p:sp>
          <p:nvSpPr>
            <p:cNvPr id="45" name="圆角矩形 44"/>
            <p:cNvSpPr/>
            <p:nvPr/>
          </p:nvSpPr>
          <p:spPr>
            <a:xfrm>
              <a:off x="7380150" y="3772894"/>
              <a:ext cx="1155588" cy="278296"/>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lIns="0" tIns="0" rIns="0" bIns="0" rtlCol="0" anchor="ctr"/>
            <a:lstStyle/>
            <a:p>
              <a:pPr algn="ctr"/>
              <a:r>
                <a:rPr lang="zh-CN" altLang="en-US" sz="1400" dirty="0">
                  <a:latin typeface="黑体" panose="02010609060101010101" pitchFamily="49" charset="-122"/>
                  <a:ea typeface="黑体" panose="02010609060101010101" pitchFamily="49" charset="-122"/>
                </a:rPr>
                <a:t>全加器符号</a:t>
              </a:r>
              <a:endParaRPr lang="zh-CN" altLang="en-US" sz="1400" dirty="0">
                <a:latin typeface="黑体" panose="02010609060101010101" pitchFamily="49" charset="-122"/>
                <a:ea typeface="黑体" panose="02010609060101010101" pitchFamily="49" charset="-122"/>
              </a:endParaRPr>
            </a:p>
          </p:txBody>
        </p:sp>
      </p:grpSp>
      <p:grpSp>
        <p:nvGrpSpPr>
          <p:cNvPr id="5" name="组合 4"/>
          <p:cNvGrpSpPr/>
          <p:nvPr/>
        </p:nvGrpSpPr>
        <p:grpSpPr>
          <a:xfrm>
            <a:off x="2865120" y="1685290"/>
            <a:ext cx="3223260" cy="501650"/>
            <a:chOff x="2865120" y="1685290"/>
            <a:chExt cx="3223260" cy="501650"/>
          </a:xfrm>
        </p:grpSpPr>
        <p:grpSp>
          <p:nvGrpSpPr>
            <p:cNvPr id="41" name="组合 40"/>
            <p:cNvGrpSpPr/>
            <p:nvPr/>
          </p:nvGrpSpPr>
          <p:grpSpPr>
            <a:xfrm>
              <a:off x="3258184" y="1685290"/>
              <a:ext cx="2830196" cy="425450"/>
              <a:chOff x="3258184" y="1685290"/>
              <a:chExt cx="2830196" cy="425450"/>
            </a:xfrm>
          </p:grpSpPr>
          <p:sp>
            <p:nvSpPr>
              <p:cNvPr id="40" name="圆角矩形 39"/>
              <p:cNvSpPr/>
              <p:nvPr/>
            </p:nvSpPr>
            <p:spPr>
              <a:xfrm>
                <a:off x="3284574" y="1695396"/>
                <a:ext cx="2803806" cy="415344"/>
              </a:xfrm>
              <a:prstGeom prst="roundRect">
                <a:avLst>
                  <a:gd name="adj" fmla="val 20222"/>
                </a:avLst>
              </a:prstGeom>
              <a:solidFill>
                <a:srgbClr val="FF00FF">
                  <a:alpha val="20000"/>
                </a:srgbClr>
              </a:solid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aphicFrame>
            <p:nvGraphicFramePr>
              <p:cNvPr id="68" name="Object 5"/>
              <p:cNvGraphicFramePr>
                <a:graphicFrameLocks noChangeAspect="1"/>
              </p:cNvGraphicFramePr>
              <p:nvPr/>
            </p:nvGraphicFramePr>
            <p:xfrm>
              <a:off x="3258184" y="1685290"/>
              <a:ext cx="2789895" cy="410210"/>
            </p:xfrm>
            <a:graphic>
              <a:graphicData uri="http://schemas.openxmlformats.org/presentationml/2006/ole">
                <mc:AlternateContent xmlns:mc="http://schemas.openxmlformats.org/markup-compatibility/2006">
                  <mc:Choice xmlns:v="urn:schemas-microsoft-com:vml" Requires="v">
                    <p:oleObj spid="_x0000_s68701" name="公式" r:id="rId16" imgW="1473200" imgH="215900" progId="Equation.3">
                      <p:embed/>
                    </p:oleObj>
                  </mc:Choice>
                  <mc:Fallback>
                    <p:oleObj name="公式" r:id="rId16" imgW="1473200" imgH="215900" progId="Equation.3">
                      <p:embed/>
                      <p:pic>
                        <p:nvPicPr>
                          <p:cNvPr id="0" name="Object 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258184" y="1685290"/>
                            <a:ext cx="2789895" cy="410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cxnSp>
          <p:nvCxnSpPr>
            <p:cNvPr id="34" name="曲线连接符 33"/>
            <p:cNvCxnSpPr/>
            <p:nvPr/>
          </p:nvCxnSpPr>
          <p:spPr>
            <a:xfrm flipV="1">
              <a:off x="2865120" y="1920240"/>
              <a:ext cx="403860" cy="266700"/>
            </a:xfrm>
            <a:prstGeom prst="curvedConnector3">
              <a:avLst>
                <a:gd name="adj1" fmla="val 29245"/>
              </a:avLst>
            </a:prstGeom>
            <a:ln w="38100">
              <a:tailEnd type="arrow"/>
            </a:ln>
          </p:spPr>
          <p:style>
            <a:lnRef idx="1">
              <a:schemeClr val="accent1"/>
            </a:lnRef>
            <a:fillRef idx="0">
              <a:schemeClr val="accent1"/>
            </a:fillRef>
            <a:effectRef idx="0">
              <a:schemeClr val="accent1"/>
            </a:effectRef>
            <a:fontRef idx="minor">
              <a:schemeClr val="tx1"/>
            </a:fontRef>
          </p:style>
        </p:cxnSp>
      </p:grpSp>
      <p:grpSp>
        <p:nvGrpSpPr>
          <p:cNvPr id="9" name="组合 8"/>
          <p:cNvGrpSpPr/>
          <p:nvPr/>
        </p:nvGrpSpPr>
        <p:grpSpPr>
          <a:xfrm>
            <a:off x="3505200" y="2133600"/>
            <a:ext cx="2125980" cy="1447800"/>
            <a:chOff x="3505200" y="2133600"/>
            <a:chExt cx="2125980" cy="1447800"/>
          </a:xfrm>
        </p:grpSpPr>
        <p:grpSp>
          <p:nvGrpSpPr>
            <p:cNvPr id="8" name="组合 7"/>
            <p:cNvGrpSpPr/>
            <p:nvPr/>
          </p:nvGrpSpPr>
          <p:grpSpPr>
            <a:xfrm>
              <a:off x="3589374" y="2133600"/>
              <a:ext cx="1127406" cy="778656"/>
              <a:chOff x="3589374" y="2133600"/>
              <a:chExt cx="1127406" cy="778656"/>
            </a:xfrm>
          </p:grpSpPr>
          <p:sp>
            <p:nvSpPr>
              <p:cNvPr id="57" name="下箭头 56"/>
              <p:cNvSpPr/>
              <p:nvPr/>
            </p:nvSpPr>
            <p:spPr>
              <a:xfrm>
                <a:off x="4084320" y="2133600"/>
                <a:ext cx="152400" cy="312420"/>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p:cNvGrpSpPr/>
              <p:nvPr/>
            </p:nvGrpSpPr>
            <p:grpSpPr>
              <a:xfrm>
                <a:off x="3589374" y="2480256"/>
                <a:ext cx="1127406" cy="432000"/>
                <a:chOff x="3635094" y="2480257"/>
                <a:chExt cx="959766" cy="339144"/>
              </a:xfrm>
            </p:grpSpPr>
            <p:graphicFrame>
              <p:nvGraphicFramePr>
                <p:cNvPr id="6" name="Object 4"/>
                <p:cNvGraphicFramePr>
                  <a:graphicFrameLocks noChangeAspect="1"/>
                </p:cNvGraphicFramePr>
                <p:nvPr/>
              </p:nvGraphicFramePr>
              <p:xfrm>
                <a:off x="3664903" y="2510014"/>
                <a:ext cx="907097" cy="291923"/>
              </p:xfrm>
              <a:graphic>
                <a:graphicData uri="http://schemas.openxmlformats.org/presentationml/2006/ole">
                  <mc:AlternateContent xmlns:mc="http://schemas.openxmlformats.org/markup-compatibility/2006">
                    <mc:Choice xmlns:v="urn:schemas-microsoft-com:vml" Requires="v">
                      <p:oleObj spid="_x0000_s68702" name="公式" r:id="rId18" imgW="596900" imgH="215900" progId="Equation.3">
                        <p:embed/>
                      </p:oleObj>
                    </mc:Choice>
                    <mc:Fallback>
                      <p:oleObj name="公式" r:id="rId18" imgW="596900" imgH="215900" progId="Equation.3">
                        <p:embed/>
                        <p:pic>
                          <p:nvPicPr>
                            <p:cNvPr id="0" name="Object 4"/>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664903" y="2510014"/>
                              <a:ext cx="907097" cy="29192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 name="圆角矩形 61"/>
                <p:cNvSpPr/>
                <p:nvPr/>
              </p:nvSpPr>
              <p:spPr>
                <a:xfrm>
                  <a:off x="3635094" y="2480257"/>
                  <a:ext cx="959766" cy="339144"/>
                </a:xfrm>
                <a:prstGeom prst="roundRect">
                  <a:avLst>
                    <a:gd name="adj" fmla="val 20222"/>
                  </a:avLst>
                </a:prstGeom>
                <a:solidFill>
                  <a:srgbClr val="FF00FF">
                    <a:alpha val="20000"/>
                  </a:srgbClr>
                </a:solid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grpSp>
          <p:nvGrpSpPr>
            <p:cNvPr id="72" name="组合 71"/>
            <p:cNvGrpSpPr/>
            <p:nvPr/>
          </p:nvGrpSpPr>
          <p:grpSpPr>
            <a:xfrm>
              <a:off x="3505200" y="3139440"/>
              <a:ext cx="2125980" cy="441960"/>
              <a:chOff x="3177540" y="3139440"/>
              <a:chExt cx="2125980" cy="441960"/>
            </a:xfrm>
            <a:solidFill>
              <a:srgbClr val="FFFF00"/>
            </a:solidFill>
          </p:grpSpPr>
          <p:sp>
            <p:nvSpPr>
              <p:cNvPr id="66" name="圆角矩形标注 65"/>
              <p:cNvSpPr/>
              <p:nvPr/>
            </p:nvSpPr>
            <p:spPr>
              <a:xfrm>
                <a:off x="3177540" y="3139440"/>
                <a:ext cx="2125980" cy="441960"/>
              </a:xfrm>
              <a:prstGeom prst="wedgeRoundRectCallout">
                <a:avLst>
                  <a:gd name="adj1" fmla="val -27490"/>
                  <a:gd name="adj2" fmla="val -114113"/>
                  <a:gd name="adj3" fmla="val 16667"/>
                </a:avLst>
              </a:prstGeom>
              <a:grpFill/>
              <a:ln w="28575">
                <a:solidFill>
                  <a:schemeClr val="accent1"/>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产生变量</a:t>
                </a:r>
                <a:r>
                  <a:rPr lang="zh-CN" altLang="en-US"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i="1"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G</a:t>
                </a:r>
                <a:r>
                  <a:rPr lang="en-US" altLang="zh-CN" sz="1600" baseline="-250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     </a:t>
                </a:r>
                <a:r>
                  <a:rPr lang="en-US" altLang="zh-CN" sz="1600" i="1"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1600" baseline="-250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a:t>
                </a:r>
                <a:endParaRPr lang="zh-CN" altLang="en-US"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65" name="直接箭头连接符 64"/>
              <p:cNvCxnSpPr/>
              <p:nvPr/>
            </p:nvCxnSpPr>
            <p:spPr>
              <a:xfrm flipV="1">
                <a:off x="4663440" y="3368040"/>
                <a:ext cx="180000" cy="0"/>
              </a:xfrm>
              <a:prstGeom prst="straightConnector1">
                <a:avLst/>
              </a:prstGeom>
              <a:grpFill/>
              <a:ln w="38100">
                <a:solidFill>
                  <a:schemeClr val="accent1"/>
                </a:solidFill>
                <a:tailEnd type="arrow"/>
              </a:ln>
            </p:spPr>
            <p:style>
              <a:lnRef idx="1">
                <a:schemeClr val="accent1"/>
              </a:lnRef>
              <a:fillRef idx="0">
                <a:schemeClr val="accent1"/>
              </a:fillRef>
              <a:effectRef idx="0">
                <a:schemeClr val="accent1"/>
              </a:effectRef>
              <a:fontRef idx="minor">
                <a:schemeClr val="tx1"/>
              </a:fontRef>
            </p:style>
          </p:cxnSp>
        </p:grpSp>
      </p:grpSp>
      <p:grpSp>
        <p:nvGrpSpPr>
          <p:cNvPr id="12" name="组合 11"/>
          <p:cNvGrpSpPr/>
          <p:nvPr/>
        </p:nvGrpSpPr>
        <p:grpSpPr>
          <a:xfrm>
            <a:off x="4945734" y="2080647"/>
            <a:ext cx="3207666" cy="1508373"/>
            <a:chOff x="4945734" y="2080647"/>
            <a:chExt cx="3207666" cy="1508373"/>
          </a:xfrm>
        </p:grpSpPr>
        <p:sp>
          <p:nvSpPr>
            <p:cNvPr id="55" name="下箭头 54"/>
            <p:cNvSpPr/>
            <p:nvPr/>
          </p:nvSpPr>
          <p:spPr>
            <a:xfrm rot="19652938">
              <a:off x="5342971" y="2080647"/>
              <a:ext cx="157287" cy="37814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2" name="组合 31"/>
            <p:cNvGrpSpPr/>
            <p:nvPr/>
          </p:nvGrpSpPr>
          <p:grpSpPr>
            <a:xfrm>
              <a:off x="4945734" y="2480256"/>
              <a:ext cx="1295046" cy="432000"/>
              <a:chOff x="4945734" y="2495497"/>
              <a:chExt cx="1234086" cy="339144"/>
            </a:xfrm>
          </p:grpSpPr>
          <p:graphicFrame>
            <p:nvGraphicFramePr>
              <p:cNvPr id="7" name="Object 5"/>
              <p:cNvGraphicFramePr>
                <a:graphicFrameLocks noChangeAspect="1"/>
              </p:cNvGraphicFramePr>
              <p:nvPr/>
            </p:nvGraphicFramePr>
            <p:xfrm>
              <a:off x="4971099" y="2521255"/>
              <a:ext cx="1178242" cy="306399"/>
            </p:xfrm>
            <a:graphic>
              <a:graphicData uri="http://schemas.openxmlformats.org/presentationml/2006/ole">
                <mc:AlternateContent xmlns:mc="http://schemas.openxmlformats.org/markup-compatibility/2006">
                  <mc:Choice xmlns:v="urn:schemas-microsoft-com:vml" Requires="v">
                    <p:oleObj spid="_x0000_s68703" name="公式" r:id="rId20" imgW="735965" imgH="215900" progId="Equation.3">
                      <p:embed/>
                    </p:oleObj>
                  </mc:Choice>
                  <mc:Fallback>
                    <p:oleObj name="公式" r:id="rId20" imgW="735965" imgH="215900" progId="Equation.3">
                      <p:embed/>
                      <p:pic>
                        <p:nvPicPr>
                          <p:cNvPr id="0" name="Object 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971099" y="2521255"/>
                            <a:ext cx="1178242" cy="3063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3" name="圆角矩形 62"/>
              <p:cNvSpPr/>
              <p:nvPr/>
            </p:nvSpPr>
            <p:spPr>
              <a:xfrm>
                <a:off x="4945734" y="2495497"/>
                <a:ext cx="1234086" cy="339144"/>
              </a:xfrm>
              <a:prstGeom prst="roundRect">
                <a:avLst>
                  <a:gd name="adj" fmla="val 20222"/>
                </a:avLst>
              </a:prstGeom>
              <a:solidFill>
                <a:srgbClr val="FF00FF">
                  <a:alpha val="20000"/>
                </a:srgbClr>
              </a:solidFill>
              <a:ln w="28575">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71" name="组合 70"/>
            <p:cNvGrpSpPr/>
            <p:nvPr/>
          </p:nvGrpSpPr>
          <p:grpSpPr>
            <a:xfrm>
              <a:off x="5798820" y="3147060"/>
              <a:ext cx="2354580" cy="441960"/>
              <a:chOff x="5486400" y="3139440"/>
              <a:chExt cx="2354580" cy="441960"/>
            </a:xfrm>
            <a:solidFill>
              <a:srgbClr val="FFFF00"/>
            </a:solidFill>
          </p:grpSpPr>
          <p:sp>
            <p:nvSpPr>
              <p:cNvPr id="67" name="圆角矩形标注 66"/>
              <p:cNvSpPr/>
              <p:nvPr/>
            </p:nvSpPr>
            <p:spPr>
              <a:xfrm>
                <a:off x="5486400" y="3139440"/>
                <a:ext cx="2354580" cy="441960"/>
              </a:xfrm>
              <a:prstGeom prst="wedgeRoundRectCallout">
                <a:avLst>
                  <a:gd name="adj1" fmla="val -35269"/>
                  <a:gd name="adj2" fmla="val -96872"/>
                  <a:gd name="adj3" fmla="val 16667"/>
                </a:avLst>
              </a:prstGeom>
              <a:grpFill/>
              <a:ln w="28575">
                <a:solidFill>
                  <a:schemeClr val="accent1"/>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zh-CN" altLang="en-US" sz="1600" b="1"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传递变量</a:t>
                </a:r>
                <a:r>
                  <a:rPr lang="zh-CN" altLang="en-US"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16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=1    </a:t>
                </a:r>
                <a:r>
                  <a:rPr lang="en-US" altLang="zh-CN" sz="1600" i="1"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1600" baseline="-25000" dirty="0" err="1">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a:t>
                </a:r>
                <a:r>
                  <a:rPr lang="en-US" altLang="zh-CN" sz="16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i="1"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16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rPr>
                  <a:t>i-1</a:t>
                </a:r>
                <a:endParaRPr lang="zh-CN" altLang="en-US" sz="1600" baseline="-25000" dirty="0">
                  <a:solidFill>
                    <a:schemeClr val="tx1"/>
                  </a:solidFill>
                  <a:latin typeface="Times New Roman" panose="02020603050405020304" pitchFamily="18" charset="0"/>
                  <a:ea typeface="微软雅黑" panose="020B0503020204020204" pitchFamily="34" charset="-122"/>
                  <a:cs typeface="Times New Roman" panose="02020603050405020304" pitchFamily="18" charset="0"/>
                </a:endParaRPr>
              </a:p>
            </p:txBody>
          </p:sp>
          <p:cxnSp>
            <p:nvCxnSpPr>
              <p:cNvPr id="70" name="直接箭头连接符 69"/>
              <p:cNvCxnSpPr/>
              <p:nvPr/>
            </p:nvCxnSpPr>
            <p:spPr>
              <a:xfrm flipV="1">
                <a:off x="6987540" y="3368040"/>
                <a:ext cx="180000" cy="0"/>
              </a:xfrm>
              <a:prstGeom prst="straightConnector1">
                <a:avLst/>
              </a:prstGeom>
              <a:grpFill/>
              <a:ln w="38100">
                <a:solidFill>
                  <a:schemeClr val="accent1"/>
                </a:solidFill>
                <a:tailEnd type="arrow"/>
              </a:ln>
            </p:spPr>
            <p:style>
              <a:lnRef idx="1">
                <a:schemeClr val="accent1"/>
              </a:lnRef>
              <a:fillRef idx="0">
                <a:schemeClr val="accent1"/>
              </a:fillRef>
              <a:effectRef idx="0">
                <a:schemeClr val="accent1"/>
              </a:effectRef>
              <a:fontRef idx="minor">
                <a:schemeClr val="tx1"/>
              </a:fontRef>
            </p:style>
          </p:cxnSp>
        </p:grpSp>
      </p:grpSp>
      <p:grpSp>
        <p:nvGrpSpPr>
          <p:cNvPr id="91" name="组合 90"/>
          <p:cNvGrpSpPr/>
          <p:nvPr/>
        </p:nvGrpSpPr>
        <p:grpSpPr>
          <a:xfrm>
            <a:off x="2103120" y="3558540"/>
            <a:ext cx="4213860" cy="1295400"/>
            <a:chOff x="2026920" y="3314700"/>
            <a:chExt cx="4213860" cy="1295400"/>
          </a:xfrm>
          <a:solidFill>
            <a:srgbClr val="FFFF00">
              <a:alpha val="16000"/>
            </a:srgbClr>
          </a:solidFill>
        </p:grpSpPr>
        <p:grpSp>
          <p:nvGrpSpPr>
            <p:cNvPr id="89" name="组合 88"/>
            <p:cNvGrpSpPr/>
            <p:nvPr/>
          </p:nvGrpSpPr>
          <p:grpSpPr>
            <a:xfrm>
              <a:off x="2026920" y="3314700"/>
              <a:ext cx="4213860" cy="1295400"/>
              <a:chOff x="2026920" y="3314700"/>
              <a:chExt cx="4213860" cy="1295400"/>
            </a:xfrm>
            <a:grpFill/>
          </p:grpSpPr>
          <p:sp>
            <p:nvSpPr>
              <p:cNvPr id="85" name="圆角矩形 84"/>
              <p:cNvSpPr/>
              <p:nvPr/>
            </p:nvSpPr>
            <p:spPr>
              <a:xfrm>
                <a:off x="2026920" y="3314700"/>
                <a:ext cx="335280" cy="243840"/>
              </a:xfrm>
              <a:prstGeom prst="roundRect">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圆角矩形 85"/>
              <p:cNvSpPr/>
              <p:nvPr/>
            </p:nvSpPr>
            <p:spPr>
              <a:xfrm>
                <a:off x="3561908" y="3640770"/>
                <a:ext cx="335280" cy="243840"/>
              </a:xfrm>
              <a:prstGeom prst="roundRect">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圆角矩形 86"/>
              <p:cNvSpPr/>
              <p:nvPr/>
            </p:nvSpPr>
            <p:spPr>
              <a:xfrm>
                <a:off x="4777740" y="4000500"/>
                <a:ext cx="335280" cy="243840"/>
              </a:xfrm>
              <a:prstGeom prst="roundRect">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圆角矩形 87"/>
              <p:cNvSpPr/>
              <p:nvPr/>
            </p:nvSpPr>
            <p:spPr>
              <a:xfrm>
                <a:off x="5905500" y="4366260"/>
                <a:ext cx="335280" cy="243840"/>
              </a:xfrm>
              <a:prstGeom prst="roundRect">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0" name="圆角矩形标注 89"/>
            <p:cNvSpPr/>
            <p:nvPr/>
          </p:nvSpPr>
          <p:spPr>
            <a:xfrm>
              <a:off x="5204460" y="3756660"/>
              <a:ext cx="586740" cy="342900"/>
            </a:xfrm>
            <a:prstGeom prst="wedgeRoundRectCallout">
              <a:avLst>
                <a:gd name="adj1" fmla="val -59795"/>
                <a:gd name="adj2" fmla="val 71377"/>
                <a:gd name="adj3" fmla="val 16667"/>
              </a:avLst>
            </a:prstGeom>
            <a:grp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dirty="0">
                  <a:solidFill>
                    <a:srgbClr val="0000FF"/>
                  </a:solidFill>
                  <a:latin typeface="Times New Roman" panose="02020603050405020304" pitchFamily="18" charset="0"/>
                  <a:cs typeface="Times New Roman" panose="02020603050405020304" pitchFamily="18" charset="0"/>
                </a:rPr>
                <a:t>C</a:t>
              </a:r>
              <a:r>
                <a:rPr lang="en-US" altLang="zh-CN" baseline="-25000" dirty="0">
                  <a:solidFill>
                    <a:srgbClr val="0000FF"/>
                  </a:solidFill>
                  <a:latin typeface="Times New Roman" panose="02020603050405020304" pitchFamily="18" charset="0"/>
                  <a:cs typeface="Times New Roman" panose="02020603050405020304" pitchFamily="18" charset="0"/>
                </a:rPr>
                <a:t>-1</a:t>
              </a:r>
              <a:r>
                <a:rPr lang="en-US" altLang="zh-CN" dirty="0">
                  <a:solidFill>
                    <a:srgbClr val="0000FF"/>
                  </a:solidFill>
                  <a:latin typeface="Times New Roman" panose="02020603050405020304" pitchFamily="18" charset="0"/>
                  <a:cs typeface="Times New Roman" panose="02020603050405020304" pitchFamily="18" charset="0"/>
                </a:rPr>
                <a:t>=0</a:t>
              </a:r>
              <a:endParaRPr lang="zh-CN" altLang="en-US" dirty="0">
                <a:solidFill>
                  <a:srgbClr val="0000FF"/>
                </a:solidFill>
                <a:latin typeface="Times New Roman" panose="02020603050405020304" pitchFamily="18" charset="0"/>
                <a:cs typeface="Times New Roman" panose="02020603050405020304" pitchFamily="18" charset="0"/>
              </a:endParaRPr>
            </a:p>
          </p:txBody>
        </p:sp>
      </p:grpSp>
      <p:grpSp>
        <p:nvGrpSpPr>
          <p:cNvPr id="92" name="组合 91"/>
          <p:cNvGrpSpPr/>
          <p:nvPr/>
        </p:nvGrpSpPr>
        <p:grpSpPr>
          <a:xfrm>
            <a:off x="927425" y="2499360"/>
            <a:ext cx="1640515" cy="838199"/>
            <a:chOff x="790265" y="4297681"/>
            <a:chExt cx="1488115" cy="716280"/>
          </a:xfrm>
        </p:grpSpPr>
        <p:sp>
          <p:nvSpPr>
            <p:cNvPr id="93" name="圆角矩形 92"/>
            <p:cNvSpPr/>
            <p:nvPr/>
          </p:nvSpPr>
          <p:spPr>
            <a:xfrm>
              <a:off x="790265" y="4297681"/>
              <a:ext cx="1488115" cy="716280"/>
            </a:xfrm>
            <a:prstGeom prst="roundRect">
              <a:avLst>
                <a:gd name="adj" fmla="val 11232"/>
              </a:avLst>
            </a:prstGeom>
            <a:solidFill>
              <a:schemeClr val="accent4">
                <a:lumMod val="20000"/>
                <a:lumOff val="8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4" name="Object 16"/>
            <p:cNvGraphicFramePr>
              <a:graphicFrameLocks noChangeAspect="1"/>
            </p:cNvGraphicFramePr>
            <p:nvPr/>
          </p:nvGraphicFramePr>
          <p:xfrm>
            <a:off x="906463" y="4310063"/>
            <a:ext cx="1076325" cy="290512"/>
          </p:xfrm>
          <a:graphic>
            <a:graphicData uri="http://schemas.openxmlformats.org/presentationml/2006/ole">
              <mc:AlternateContent xmlns:mc="http://schemas.openxmlformats.org/markup-compatibility/2006">
                <mc:Choice xmlns:v="urn:schemas-microsoft-com:vml" Requires="v">
                  <p:oleObj spid="_x0000_s68704" name="公式" r:id="rId22" imgW="799465" imgH="215900" progId="Equation.3">
                    <p:embed/>
                  </p:oleObj>
                </mc:Choice>
                <mc:Fallback>
                  <p:oleObj name="公式" r:id="rId22" imgW="799465" imgH="215900" progId="Equation.3">
                    <p:embed/>
                    <p:pic>
                      <p:nvPicPr>
                        <p:cNvPr id="0" name="Object 16"/>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906463" y="4310063"/>
                          <a:ext cx="1076325" cy="290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95" name="Object 5"/>
            <p:cNvGraphicFramePr>
              <a:graphicFrameLocks noChangeAspect="1"/>
            </p:cNvGraphicFramePr>
            <p:nvPr/>
          </p:nvGraphicFramePr>
          <p:xfrm>
            <a:off x="906145" y="4664710"/>
            <a:ext cx="1179513" cy="279400"/>
          </p:xfrm>
          <a:graphic>
            <a:graphicData uri="http://schemas.openxmlformats.org/presentationml/2006/ole">
              <mc:AlternateContent xmlns:mc="http://schemas.openxmlformats.org/markup-compatibility/2006">
                <mc:Choice xmlns:v="urn:schemas-microsoft-com:vml" Requires="v">
                  <p:oleObj spid="_x0000_s68705" name="公式" r:id="rId24" imgW="913765" imgH="215900" progId="Equation.3">
                    <p:embed/>
                  </p:oleObj>
                </mc:Choice>
                <mc:Fallback>
                  <p:oleObj name="公式" r:id="rId24" imgW="913765" imgH="215900" progId="Equation.3">
                    <p:embed/>
                    <p:pic>
                      <p:nvPicPr>
                        <p:cNvPr id="0" name="Object 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906145" y="4664710"/>
                          <a:ext cx="1179513" cy="279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sp>
        <p:nvSpPr>
          <p:cNvPr id="79" name="圆角矩形标注 78"/>
          <p:cNvSpPr/>
          <p:nvPr/>
        </p:nvSpPr>
        <p:spPr bwMode="auto">
          <a:xfrm>
            <a:off x="6578915" y="3671991"/>
            <a:ext cx="2304415" cy="1426210"/>
          </a:xfrm>
          <a:prstGeom prst="wedgeRoundRectCallout">
            <a:avLst>
              <a:gd name="adj1" fmla="val -57769"/>
              <a:gd name="adj2" fmla="val -15146"/>
              <a:gd name="adj3" fmla="val 16667"/>
            </a:avLst>
          </a:prstGeom>
          <a:solidFill>
            <a:srgbClr val="FFC000"/>
          </a:solidFill>
          <a:ln w="28575">
            <a:solidFill>
              <a:srgbClr val="6600FF"/>
            </a:solidFill>
            <a:headEnd type="none" w="med" len="med"/>
            <a:tailEnd type="none" w="med" len="med"/>
          </a:ln>
        </p:spPr>
        <p:style>
          <a:lnRef idx="2">
            <a:schemeClr val="accent2"/>
          </a:lnRef>
          <a:fillRef idx="1">
            <a:schemeClr val="lt1"/>
          </a:fillRef>
          <a:effectRef idx="0">
            <a:schemeClr val="accent2"/>
          </a:effectRef>
          <a:fontRef idx="minor">
            <a:schemeClr val="dk1"/>
          </a:fontRef>
        </p:style>
        <p:txBody>
          <a:bodyPr lIns="0" rIns="0" anchor="ctr"/>
          <a:lstStyle/>
          <a:p>
            <a:pPr>
              <a:defRPr/>
            </a:pPr>
            <a:r>
              <a:rPr lang="zh-CN" altLang="en-US" sz="1600"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各进位信号只与</a:t>
            </a:r>
            <a:r>
              <a:rPr lang="en-US" altLang="zh-CN" sz="1600" i="1"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G</a:t>
            </a:r>
            <a:r>
              <a:rPr lang="en-US" altLang="zh-CN" sz="1600"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600"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a:t>
            </a:r>
            <a:r>
              <a:rPr lang="en-US" altLang="zh-CN" sz="1600" i="1"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P</a:t>
            </a:r>
            <a:r>
              <a:rPr lang="en-US" altLang="zh-CN" sz="1600"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i</a:t>
            </a:r>
            <a:r>
              <a:rPr lang="zh-CN" altLang="en-US" sz="1600"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和</a:t>
            </a:r>
            <a:r>
              <a:rPr lang="en-US" altLang="zh-CN" sz="1600" i="1"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1600" baseline="-25000" dirty="0" err="1">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r>
              <a:rPr lang="zh-CN" altLang="en-US"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有关，</a:t>
            </a:r>
            <a:r>
              <a:rPr lang="en-US" altLang="zh-CN"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C</a:t>
            </a:r>
            <a:r>
              <a:rPr lang="en-US" altLang="zh-CN" sz="1600" baseline="-250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-1</a:t>
            </a:r>
            <a:r>
              <a:rPr lang="en-US" altLang="zh-CN"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=0</a:t>
            </a:r>
            <a:r>
              <a:rPr lang="zh-CN" altLang="en-US"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rPr>
              <a:t>，故各进位信号只与加数和被加数有关。可以并行计算各进位信号。</a:t>
            </a:r>
            <a:endParaRPr lang="zh-CN" altLang="en-US" sz="1600" dirty="0">
              <a:solidFill>
                <a:srgbClr val="0000FF"/>
              </a:solidFill>
              <a:latin typeface="Times New Roman" panose="02020603050405020304" pitchFamily="18" charset="0"/>
              <a:ea typeface="微软雅黑" panose="020B0503020204020204" pitchFamily="34" charset="-122"/>
              <a:cs typeface="Times New Roman" panose="02020603050405020304" pitchFamily="18"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wipe(up)">
                                      <p:cBhvr>
                                        <p:cTn id="7" dur="1000"/>
                                        <p:tgtEl>
                                          <p:spTgt spid="38"/>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fade">
                                      <p:cBhvr>
                                        <p:cTn id="12" dur="1000"/>
                                        <p:tgtEl>
                                          <p:spTgt spid="58"/>
                                        </p:tgtEl>
                                      </p:cBhvr>
                                    </p:animEffect>
                                    <p:anim calcmode="lin" valueType="num">
                                      <p:cBhvr>
                                        <p:cTn id="13" dur="1000" fill="hold"/>
                                        <p:tgtEl>
                                          <p:spTgt spid="58"/>
                                        </p:tgtEl>
                                        <p:attrNameLst>
                                          <p:attrName>ppt_x</p:attrName>
                                        </p:attrNameLst>
                                      </p:cBhvr>
                                      <p:tavLst>
                                        <p:tav tm="0">
                                          <p:val>
                                            <p:strVal val="#ppt_x"/>
                                          </p:val>
                                        </p:tav>
                                        <p:tav tm="100000">
                                          <p:val>
                                            <p:strVal val="#ppt_x"/>
                                          </p:val>
                                        </p:tav>
                                      </p:tavLst>
                                    </p:anim>
                                    <p:anim calcmode="lin" valueType="num">
                                      <p:cBhvr>
                                        <p:cTn id="14" dur="1000" fill="hold"/>
                                        <p:tgtEl>
                                          <p:spTgt spid="58"/>
                                        </p:tgtEl>
                                        <p:attrNameLst>
                                          <p:attrName>ppt_y</p:attrName>
                                        </p:attrNameLst>
                                      </p:cBhvr>
                                      <p:tavLst>
                                        <p:tav tm="0">
                                          <p:val>
                                            <p:strVal val="#ppt_y+.1"/>
                                          </p:val>
                                        </p:tav>
                                        <p:tav tm="100000">
                                          <p:val>
                                            <p:strVal val="#ppt_y"/>
                                          </p:val>
                                        </p:tav>
                                      </p:tavLst>
                                    </p:anim>
                                  </p:childTnLst>
                                </p:cTn>
                              </p:par>
                              <p:par>
                                <p:cTn id="15" presetID="12" presetClass="entr" presetSubtype="4" fill="hold" nodeType="withEffect">
                                  <p:stCondLst>
                                    <p:cond delay="0"/>
                                  </p:stCondLst>
                                  <p:childTnLst>
                                    <p:set>
                                      <p:cBhvr>
                                        <p:cTn id="16" dur="1" fill="hold">
                                          <p:stCondLst>
                                            <p:cond delay="0"/>
                                          </p:stCondLst>
                                        </p:cTn>
                                        <p:tgtEl>
                                          <p:spTgt spid="43"/>
                                        </p:tgtEl>
                                        <p:attrNameLst>
                                          <p:attrName>style.visibility</p:attrName>
                                        </p:attrNameLst>
                                      </p:cBhvr>
                                      <p:to>
                                        <p:strVal val="visible"/>
                                      </p:to>
                                    </p:set>
                                    <p:animEffect transition="in" filter="slide(fromBottom)">
                                      <p:cBhvr>
                                        <p:cTn id="17" dur="1000"/>
                                        <p:tgtEl>
                                          <p:spTgt spid="4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1000"/>
                                        <p:tgtEl>
                                          <p:spTgt spid="5"/>
                                        </p:tgtEl>
                                      </p:cBhvr>
                                    </p:animEffect>
                                  </p:childTnLst>
                                </p:cTn>
                              </p:par>
                            </p:childTnLst>
                          </p:cTn>
                        </p:par>
                        <p:par>
                          <p:cTn id="23" fill="hold">
                            <p:stCondLst>
                              <p:cond delay="1000"/>
                            </p:stCondLst>
                            <p:childTnLst>
                              <p:par>
                                <p:cTn id="24" presetID="22" presetClass="entr" presetSubtype="1" fill="hold" nodeType="after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wipe(up)">
                                      <p:cBhvr>
                                        <p:cTn id="26" dur="1000"/>
                                        <p:tgtEl>
                                          <p:spTgt spid="9"/>
                                        </p:tgtEl>
                                      </p:cBhvr>
                                    </p:animEffect>
                                  </p:childTnLst>
                                </p:cTn>
                              </p:par>
                            </p:childTnLst>
                          </p:cTn>
                        </p:par>
                        <p:par>
                          <p:cTn id="27" fill="hold">
                            <p:stCondLst>
                              <p:cond delay="2000"/>
                            </p:stCondLst>
                            <p:childTnLst>
                              <p:par>
                                <p:cTn id="28" presetID="22" presetClass="entr" presetSubtype="1" fill="hold"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wipe(up)">
                                      <p:cBhvr>
                                        <p:cTn id="30" dur="1000"/>
                                        <p:tgtEl>
                                          <p:spTgt spid="12"/>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75"/>
                                        </p:tgtEl>
                                        <p:attrNameLst>
                                          <p:attrName>style.visibility</p:attrName>
                                        </p:attrNameLst>
                                      </p:cBhvr>
                                      <p:to>
                                        <p:strVal val="visible"/>
                                      </p:to>
                                    </p:set>
                                    <p:animEffect transition="in" filter="wipe(left)">
                                      <p:cBhvr>
                                        <p:cTn id="35" dur="1000"/>
                                        <p:tgtEl>
                                          <p:spTgt spid="75"/>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92"/>
                                        </p:tgtEl>
                                        <p:attrNameLst>
                                          <p:attrName>style.visibility</p:attrName>
                                        </p:attrNameLst>
                                      </p:cBhvr>
                                      <p:to>
                                        <p:strVal val="visible"/>
                                      </p:to>
                                    </p:set>
                                    <p:animEffect transition="in" filter="fade">
                                      <p:cBhvr>
                                        <p:cTn id="40" dur="1000"/>
                                        <p:tgtEl>
                                          <p:spTgt spid="92"/>
                                        </p:tgtEl>
                                      </p:cBhvr>
                                    </p:animEffect>
                                    <p:anim calcmode="lin" valueType="num">
                                      <p:cBhvr>
                                        <p:cTn id="41" dur="1000" fill="hold"/>
                                        <p:tgtEl>
                                          <p:spTgt spid="92"/>
                                        </p:tgtEl>
                                        <p:attrNameLst>
                                          <p:attrName>ppt_x</p:attrName>
                                        </p:attrNameLst>
                                      </p:cBhvr>
                                      <p:tavLst>
                                        <p:tav tm="0">
                                          <p:val>
                                            <p:strVal val="#ppt_x"/>
                                          </p:val>
                                        </p:tav>
                                        <p:tav tm="100000">
                                          <p:val>
                                            <p:strVal val="#ppt_x"/>
                                          </p:val>
                                        </p:tav>
                                      </p:tavLst>
                                    </p:anim>
                                    <p:anim calcmode="lin" valueType="num">
                                      <p:cBhvr>
                                        <p:cTn id="42" dur="1000" fill="hold"/>
                                        <p:tgtEl>
                                          <p:spTgt spid="92"/>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1000"/>
                                        <p:tgtEl>
                                          <p:spTgt spid="16"/>
                                        </p:tgtEl>
                                      </p:cBhvr>
                                    </p:animEffect>
                                    <p:anim calcmode="lin" valueType="num">
                                      <p:cBhvr>
                                        <p:cTn id="48" dur="1000" fill="hold"/>
                                        <p:tgtEl>
                                          <p:spTgt spid="16"/>
                                        </p:tgtEl>
                                        <p:attrNameLst>
                                          <p:attrName>ppt_x</p:attrName>
                                        </p:attrNameLst>
                                      </p:cBhvr>
                                      <p:tavLst>
                                        <p:tav tm="0">
                                          <p:val>
                                            <p:strVal val="#ppt_x"/>
                                          </p:val>
                                        </p:tav>
                                        <p:tav tm="100000">
                                          <p:val>
                                            <p:strVal val="#ppt_x"/>
                                          </p:val>
                                        </p:tav>
                                      </p:tavLst>
                                    </p:anim>
                                    <p:anim calcmode="lin" valueType="num">
                                      <p:cBhvr>
                                        <p:cTn id="49"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3" presetClass="entr" presetSubtype="5" fill="hold" grpId="0" nodeType="clickEffect">
                                  <p:stCondLst>
                                    <p:cond delay="0"/>
                                  </p:stCondLst>
                                  <p:childTnLst>
                                    <p:set>
                                      <p:cBhvr>
                                        <p:cTn id="53" dur="1" fill="hold">
                                          <p:stCondLst>
                                            <p:cond delay="0"/>
                                          </p:stCondLst>
                                        </p:cTn>
                                        <p:tgtEl>
                                          <p:spTgt spid="79"/>
                                        </p:tgtEl>
                                        <p:attrNameLst>
                                          <p:attrName>style.visibility</p:attrName>
                                        </p:attrNameLst>
                                      </p:cBhvr>
                                      <p:to>
                                        <p:strVal val="visible"/>
                                      </p:to>
                                    </p:set>
                                    <p:animEffect transition="in" filter="blinds(vertical)">
                                      <p:cBhvr>
                                        <p:cTn id="54" dur="1000"/>
                                        <p:tgtEl>
                                          <p:spTgt spid="79"/>
                                        </p:tgtEl>
                                      </p:cBhvr>
                                    </p:animEffect>
                                  </p:childTnLst>
                                </p:cTn>
                              </p:par>
                            </p:childTnLst>
                          </p:cTn>
                        </p:par>
                        <p:par>
                          <p:cTn id="55" fill="hold">
                            <p:stCondLst>
                              <p:cond delay="1000"/>
                            </p:stCondLst>
                            <p:childTnLst>
                              <p:par>
                                <p:cTn id="56" presetID="22" presetClass="entr" presetSubtype="8" fill="hold" nodeType="afterEffect">
                                  <p:stCondLst>
                                    <p:cond delay="0"/>
                                  </p:stCondLst>
                                  <p:childTnLst>
                                    <p:set>
                                      <p:cBhvr>
                                        <p:cTn id="57" dur="1" fill="hold">
                                          <p:stCondLst>
                                            <p:cond delay="0"/>
                                          </p:stCondLst>
                                        </p:cTn>
                                        <p:tgtEl>
                                          <p:spTgt spid="91"/>
                                        </p:tgtEl>
                                        <p:attrNameLst>
                                          <p:attrName>style.visibility</p:attrName>
                                        </p:attrNameLst>
                                      </p:cBhvr>
                                      <p:to>
                                        <p:strVal val="visible"/>
                                      </p:to>
                                    </p:set>
                                    <p:animEffect transition="in" filter="wipe(left)">
                                      <p:cBhvr>
                                        <p:cTn id="58" dur="10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79"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对象 3"/>
          <p:cNvGraphicFramePr>
            <a:graphicFrameLocks noChangeAspect="1"/>
          </p:cNvGraphicFramePr>
          <p:nvPr/>
        </p:nvGraphicFramePr>
        <p:xfrm>
          <a:off x="5604709" y="957710"/>
          <a:ext cx="3363122" cy="4203702"/>
        </p:xfrm>
        <a:graphic>
          <a:graphicData uri="http://schemas.openxmlformats.org/presentationml/2006/ole">
            <mc:AlternateContent xmlns:mc="http://schemas.openxmlformats.org/markup-compatibility/2006">
              <mc:Choice xmlns:v="urn:schemas-microsoft-com:vml" Requires="v">
                <p:oleObj spid="_x0000_s69683" name="Visio" r:id="rId1" imgW="2847340" imgH="3758565" progId="Visio.Drawing.11">
                  <p:embed/>
                </p:oleObj>
              </mc:Choice>
              <mc:Fallback>
                <p:oleObj name="Visio" r:id="rId1" imgW="2847340" imgH="3758565" progId="Visio.Drawing.11">
                  <p:embed/>
                  <p:pic>
                    <p:nvPicPr>
                      <p:cNvPr id="0" name="对象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04709" y="957710"/>
                        <a:ext cx="3363122" cy="4203702"/>
                      </a:xfrm>
                      <a:prstGeom prst="rect">
                        <a:avLst/>
                      </a:prstGeom>
                      <a:noFill/>
                      <a:ln>
                        <a:noFill/>
                      </a:ln>
                    </p:spPr>
                  </p:pic>
                </p:oleObj>
              </mc:Fallback>
            </mc:AlternateContent>
          </a:graphicData>
        </a:graphic>
      </p:graphicFrame>
      <p:grpSp>
        <p:nvGrpSpPr>
          <p:cNvPr id="58" name="组合 17"/>
          <p:cNvGrpSpPr/>
          <p:nvPr/>
        </p:nvGrpSpPr>
        <p:grpSpPr>
          <a:xfrm>
            <a:off x="392432" y="769746"/>
            <a:ext cx="4286248" cy="420971"/>
            <a:chOff x="670560" y="892917"/>
            <a:chExt cx="4286248" cy="420971"/>
          </a:xfrm>
        </p:grpSpPr>
        <p:sp>
          <p:nvSpPr>
            <p:cNvPr id="60" name="矩形 59"/>
            <p:cNvSpPr/>
            <p:nvPr/>
          </p:nvSpPr>
          <p:spPr>
            <a:xfrm>
              <a:off x="1035233" y="913778"/>
              <a:ext cx="3921575"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多位数加法运算电路</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62" name="Picture 3"/>
            <p:cNvPicPr>
              <a:picLocks noChangeAspect="1" noChangeArrowheads="1"/>
            </p:cNvPicPr>
            <p:nvPr/>
          </p:nvPicPr>
          <p:blipFill>
            <a:blip r:embed="rId3"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63" name="Rectangle 6"/>
          <p:cNvSpPr>
            <a:spLocks noChangeArrowheads="1"/>
          </p:cNvSpPr>
          <p:nvPr/>
        </p:nvSpPr>
        <p:spPr bwMode="auto">
          <a:xfrm>
            <a:off x="272890" y="1247140"/>
            <a:ext cx="3581082" cy="338554"/>
          </a:xfrm>
          <a:prstGeom prst="rect">
            <a:avLst/>
          </a:prstGeom>
          <a:noFill/>
          <a:ln w="9525" algn="ctr">
            <a:noFill/>
            <a:miter lim="800000"/>
          </a:ln>
        </p:spPr>
        <p:txBody>
          <a:bodyPr wrap="square" anchor="ctr">
            <a:spAutoFit/>
          </a:bodyPr>
          <a:lstStyle/>
          <a:p>
            <a:pPr eaLnBrk="0" hangingPunct="0">
              <a:tabLst>
                <a:tab pos="264795" algn="l"/>
              </a:tabLst>
            </a:pPr>
            <a:r>
              <a:rPr lang="zh-CN" altLang="en-US" sz="1600" dirty="0">
                <a:solidFill>
                  <a:srgbClr val="6600FF"/>
                </a:solidFill>
                <a:latin typeface="微软雅黑" panose="020B0503020204020204" pitchFamily="34" charset="-122"/>
                <a:ea typeface="微软雅黑" panose="020B0503020204020204" pitchFamily="34" charset="-122"/>
              </a:rPr>
              <a:t>（</a:t>
            </a:r>
            <a:r>
              <a:rPr lang="en-US" altLang="zh-CN" sz="1600" dirty="0">
                <a:solidFill>
                  <a:srgbClr val="6600FF"/>
                </a:solidFill>
                <a:latin typeface="微软雅黑" panose="020B0503020204020204" pitchFamily="34" charset="-122"/>
                <a:ea typeface="微软雅黑" panose="020B0503020204020204" pitchFamily="34" charset="-122"/>
              </a:rPr>
              <a:t>3</a:t>
            </a:r>
            <a:r>
              <a:rPr lang="zh-CN" altLang="en-US" sz="1600" dirty="0">
                <a:solidFill>
                  <a:srgbClr val="6600FF"/>
                </a:solidFill>
                <a:latin typeface="微软雅黑" panose="020B0503020204020204" pitchFamily="34" charset="-122"/>
                <a:ea typeface="微软雅黑" panose="020B0503020204020204" pitchFamily="34" charset="-122"/>
              </a:rPr>
              <a:t>）超前进位加法器</a:t>
            </a:r>
            <a:r>
              <a:rPr lang="en-US" altLang="zh-CN" sz="1600" dirty="0">
                <a:solidFill>
                  <a:srgbClr val="6600FF"/>
                </a:solidFill>
                <a:latin typeface="微软雅黑" panose="020B0503020204020204" pitchFamily="34" charset="-122"/>
                <a:ea typeface="微软雅黑" panose="020B0503020204020204" pitchFamily="34" charset="-122"/>
              </a:rPr>
              <a:t>74HC283</a:t>
            </a:r>
            <a:endParaRPr lang="en-US" altLang="zh-CN" sz="1600" dirty="0">
              <a:solidFill>
                <a:srgbClr val="6600FF"/>
              </a:solidFill>
              <a:latin typeface="微软雅黑" panose="020B0503020204020204" pitchFamily="34" charset="-122"/>
              <a:ea typeface="微软雅黑" panose="020B0503020204020204" pitchFamily="34" charset="-122"/>
            </a:endParaRPr>
          </a:p>
        </p:txBody>
      </p:sp>
      <p:grpSp>
        <p:nvGrpSpPr>
          <p:cNvPr id="239" name="组合 48"/>
          <p:cNvGrpSpPr/>
          <p:nvPr/>
        </p:nvGrpSpPr>
        <p:grpSpPr>
          <a:xfrm>
            <a:off x="370544" y="4389736"/>
            <a:ext cx="5069912" cy="631520"/>
            <a:chOff x="717089" y="4570114"/>
            <a:chExt cx="5069912" cy="631520"/>
          </a:xfrm>
        </p:grpSpPr>
        <p:sp>
          <p:nvSpPr>
            <p:cNvPr id="240" name="圆角矩形 239"/>
            <p:cNvSpPr/>
            <p:nvPr/>
          </p:nvSpPr>
          <p:spPr>
            <a:xfrm>
              <a:off x="936929" y="4676274"/>
              <a:ext cx="4850072" cy="525360"/>
            </a:xfrm>
            <a:prstGeom prst="roundRect">
              <a:avLst>
                <a:gd name="adj" fmla="val 4386"/>
              </a:avLst>
            </a:prstGeom>
            <a:solidFill>
              <a:schemeClr val="bg1"/>
            </a:solidFill>
            <a:ln w="28575">
              <a:solidFill>
                <a:srgbClr val="336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8900"/>
              <a:r>
                <a:rPr lang="zh-CN" altLang="en-US" b="1" dirty="0">
                  <a:solidFill>
                    <a:srgbClr val="6600FF"/>
                  </a:solidFill>
                  <a:latin typeface="楷体" panose="02010609060101010101" pitchFamily="49" charset="-122"/>
                  <a:ea typeface="楷体" panose="02010609060101010101" pitchFamily="49" charset="-122"/>
                </a:rPr>
                <a:t>  设计专用的超前进位产生电路，如</a:t>
              </a:r>
              <a:r>
                <a:rPr lang="en-US" altLang="zh-CN" b="1" dirty="0">
                  <a:solidFill>
                    <a:srgbClr val="6600FF"/>
                  </a:solidFill>
                  <a:latin typeface="楷体" panose="02010609060101010101" pitchFamily="49" charset="-122"/>
                  <a:ea typeface="楷体" panose="02010609060101010101" pitchFamily="49" charset="-122"/>
                </a:rPr>
                <a:t>74182</a:t>
              </a:r>
              <a:r>
                <a:rPr lang="zh-CN" altLang="en-US" b="1" dirty="0">
                  <a:solidFill>
                    <a:srgbClr val="6600FF"/>
                  </a:solidFill>
                  <a:latin typeface="楷体" panose="02010609060101010101" pitchFamily="49" charset="-122"/>
                  <a:ea typeface="楷体" panose="02010609060101010101" pitchFamily="49" charset="-122"/>
                </a:rPr>
                <a:t>。</a:t>
              </a:r>
              <a:endParaRPr lang="zh-CN" altLang="en-US" b="1" dirty="0">
                <a:solidFill>
                  <a:srgbClr val="0000FF"/>
                </a:solidFill>
                <a:latin typeface="楷体" panose="02010609060101010101" pitchFamily="49" charset="-122"/>
                <a:ea typeface="楷体" panose="02010609060101010101" pitchFamily="49" charset="-122"/>
              </a:endParaRPr>
            </a:p>
          </p:txBody>
        </p:sp>
        <p:pic>
          <p:nvPicPr>
            <p:cNvPr id="241" name="Picture 6"/>
            <p:cNvPicPr>
              <a:picLocks noChangeAspect="1" noChangeArrowheads="1"/>
            </p:cNvPicPr>
            <p:nvPr/>
          </p:nvPicPr>
          <p:blipFill>
            <a:blip r:embed="rId4" cstate="print"/>
            <a:srcRect/>
            <a:stretch>
              <a:fillRect/>
            </a:stretch>
          </p:blipFill>
          <p:spPr bwMode="auto">
            <a:xfrm>
              <a:off x="717089" y="4570114"/>
              <a:ext cx="413836" cy="401687"/>
            </a:xfrm>
            <a:prstGeom prst="rect">
              <a:avLst/>
            </a:prstGeom>
            <a:noFill/>
            <a:ln w="9525">
              <a:noFill/>
              <a:miter lim="800000"/>
              <a:headEnd/>
              <a:tailEnd/>
            </a:ln>
          </p:spPr>
        </p:pic>
      </p:grpSp>
      <p:sp>
        <p:nvSpPr>
          <p:cNvPr id="124" name="圆角矩形 123"/>
          <p:cNvSpPr/>
          <p:nvPr/>
        </p:nvSpPr>
        <p:spPr>
          <a:xfrm>
            <a:off x="5659463" y="1484851"/>
            <a:ext cx="966439" cy="3449185"/>
          </a:xfrm>
          <a:prstGeom prst="roundRect">
            <a:avLst>
              <a:gd name="adj" fmla="val 5731"/>
            </a:avLst>
          </a:prstGeom>
          <a:solidFill>
            <a:srgbClr val="FFFF00">
              <a:alpha val="16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5" name="圆角矩形 124"/>
          <p:cNvSpPr/>
          <p:nvPr/>
        </p:nvSpPr>
        <p:spPr>
          <a:xfrm>
            <a:off x="6667337" y="1355161"/>
            <a:ext cx="1591292" cy="3736956"/>
          </a:xfrm>
          <a:prstGeom prst="roundRect">
            <a:avLst>
              <a:gd name="adj" fmla="val 6035"/>
            </a:avLst>
          </a:prstGeom>
          <a:solidFill>
            <a:srgbClr val="FFFF00">
              <a:alpha val="16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圆角矩形 125"/>
          <p:cNvSpPr/>
          <p:nvPr/>
        </p:nvSpPr>
        <p:spPr>
          <a:xfrm>
            <a:off x="8323942" y="1104900"/>
            <a:ext cx="652277" cy="2628201"/>
          </a:xfrm>
          <a:prstGeom prst="roundRect">
            <a:avLst>
              <a:gd name="adj" fmla="val 5731"/>
            </a:avLst>
          </a:prstGeom>
          <a:solidFill>
            <a:srgbClr val="FFFF00">
              <a:alpha val="16000"/>
            </a:srgbClr>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7" name="组合 236"/>
          <p:cNvGrpSpPr/>
          <p:nvPr/>
        </p:nvGrpSpPr>
        <p:grpSpPr>
          <a:xfrm>
            <a:off x="374496" y="3336331"/>
            <a:ext cx="5058524" cy="972406"/>
            <a:chOff x="3602255" y="2997428"/>
            <a:chExt cx="5058524" cy="972406"/>
          </a:xfrm>
        </p:grpSpPr>
        <p:sp>
          <p:nvSpPr>
            <p:cNvPr id="41" name="圆角矩形 40"/>
            <p:cNvSpPr/>
            <p:nvPr/>
          </p:nvSpPr>
          <p:spPr>
            <a:xfrm>
              <a:off x="3773944" y="3256907"/>
              <a:ext cx="4886835" cy="712927"/>
            </a:xfrm>
            <a:prstGeom prst="roundRect">
              <a:avLst>
                <a:gd name="adj" fmla="val 4386"/>
              </a:avLst>
            </a:prstGeom>
            <a:solidFill>
              <a:schemeClr val="bg1"/>
            </a:solidFill>
            <a:ln w="28575">
              <a:solidFill>
                <a:srgbClr val="33669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zh-CN" altLang="en-US" b="1" dirty="0">
                  <a:solidFill>
                    <a:srgbClr val="6600FF"/>
                  </a:solidFill>
                  <a:latin typeface="楷体" panose="02010609060101010101" pitchFamily="49" charset="-122"/>
                  <a:ea typeface="楷体" panose="02010609060101010101" pitchFamily="49" charset="-122"/>
                </a:rPr>
                <a:t>   超前进位加法器随着位数的增加，电路的超前进位产生电路将越来越复杂。</a:t>
              </a:r>
              <a:endParaRPr lang="zh-CN" altLang="en-US" b="1" dirty="0">
                <a:solidFill>
                  <a:srgbClr val="6600FF"/>
                </a:solidFill>
                <a:latin typeface="楷体" panose="02010609060101010101" pitchFamily="49" charset="-122"/>
                <a:ea typeface="楷体" panose="02010609060101010101" pitchFamily="49" charset="-122"/>
              </a:endParaRPr>
            </a:p>
          </p:txBody>
        </p:sp>
        <p:pic>
          <p:nvPicPr>
            <p:cNvPr id="236" name="Picture 7" descr="ç¸å³å¾ç"/>
            <p:cNvPicPr>
              <a:picLocks noChangeAspect="1" noChangeArrowheads="1"/>
            </p:cNvPicPr>
            <p:nvPr/>
          </p:nvPicPr>
          <p:blipFill>
            <a:blip r:embed="rId5" cstate="print"/>
            <a:srcRect/>
            <a:stretch>
              <a:fillRect/>
            </a:stretch>
          </p:blipFill>
          <p:spPr bwMode="auto">
            <a:xfrm>
              <a:off x="3602255" y="2997428"/>
              <a:ext cx="464550" cy="441158"/>
            </a:xfrm>
            <a:prstGeom prst="rect">
              <a:avLst/>
            </a:prstGeom>
            <a:noFill/>
          </p:spPr>
        </p:pic>
      </p:grpSp>
      <p:grpSp>
        <p:nvGrpSpPr>
          <p:cNvPr id="5" name="组合 4"/>
          <p:cNvGrpSpPr/>
          <p:nvPr/>
        </p:nvGrpSpPr>
        <p:grpSpPr>
          <a:xfrm>
            <a:off x="528083" y="1667392"/>
            <a:ext cx="4545312" cy="1671250"/>
            <a:chOff x="528083" y="1667392"/>
            <a:chExt cx="4545312" cy="1671250"/>
          </a:xfrm>
        </p:grpSpPr>
        <p:grpSp>
          <p:nvGrpSpPr>
            <p:cNvPr id="230" name="组合 229"/>
            <p:cNvGrpSpPr/>
            <p:nvPr/>
          </p:nvGrpSpPr>
          <p:grpSpPr>
            <a:xfrm>
              <a:off x="528083" y="1667392"/>
              <a:ext cx="4545312" cy="1671250"/>
              <a:chOff x="3657228" y="1634085"/>
              <a:chExt cx="5375260" cy="1815738"/>
            </a:xfrm>
          </p:grpSpPr>
          <p:grpSp>
            <p:nvGrpSpPr>
              <p:cNvPr id="229" name="组合 228"/>
              <p:cNvGrpSpPr/>
              <p:nvPr/>
            </p:nvGrpSpPr>
            <p:grpSpPr>
              <a:xfrm>
                <a:off x="3657228" y="1634085"/>
                <a:ext cx="5375260" cy="1815738"/>
                <a:chOff x="937260" y="3455450"/>
                <a:chExt cx="5375260" cy="1815738"/>
              </a:xfrm>
            </p:grpSpPr>
            <p:sp>
              <p:nvSpPr>
                <p:cNvPr id="129" name="圆角矩形 128"/>
                <p:cNvSpPr/>
                <p:nvPr/>
              </p:nvSpPr>
              <p:spPr>
                <a:xfrm>
                  <a:off x="937260" y="3455450"/>
                  <a:ext cx="5375260" cy="1815738"/>
                </a:xfrm>
                <a:prstGeom prst="roundRect">
                  <a:avLst>
                    <a:gd name="adj" fmla="val 6682"/>
                  </a:avLst>
                </a:prstGeom>
                <a:solidFill>
                  <a:schemeClr val="accent1">
                    <a:lumMod val="20000"/>
                    <a:lumOff val="80000"/>
                  </a:schemeClr>
                </a:solidFill>
                <a:ln w="1905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39" name="Object 6"/>
                <p:cNvGraphicFramePr>
                  <a:graphicFrameLocks noChangeAspect="1"/>
                </p:cNvGraphicFramePr>
                <p:nvPr/>
              </p:nvGraphicFramePr>
              <p:xfrm>
                <a:off x="1021715" y="3531235"/>
                <a:ext cx="1392192" cy="288000"/>
              </p:xfrm>
              <a:graphic>
                <a:graphicData uri="http://schemas.openxmlformats.org/presentationml/2006/ole">
                  <mc:AlternateContent xmlns:mc="http://schemas.openxmlformats.org/markup-compatibility/2006">
                    <mc:Choice xmlns:v="urn:schemas-microsoft-com:vml" Requires="v">
                      <p:oleObj spid="_x0000_s69684" name="公式" r:id="rId6" imgW="977900" imgH="228600" progId="Equation.3">
                        <p:embed/>
                      </p:oleObj>
                    </mc:Choice>
                    <mc:Fallback>
                      <p:oleObj name="公式" r:id="rId6" imgW="977900" imgH="228600" progId="Equation.3">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21715" y="3531235"/>
                              <a:ext cx="1392192" cy="28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3" name="Object 7"/>
                <p:cNvGraphicFramePr>
                  <a:graphicFrameLocks noChangeAspect="1"/>
                </p:cNvGraphicFramePr>
                <p:nvPr/>
              </p:nvGraphicFramePr>
              <p:xfrm>
                <a:off x="1027930" y="3873500"/>
                <a:ext cx="1266825" cy="288925"/>
              </p:xfrm>
              <a:graphic>
                <a:graphicData uri="http://schemas.openxmlformats.org/presentationml/2006/ole">
                  <mc:AlternateContent xmlns:mc="http://schemas.openxmlformats.org/markup-compatibility/2006">
                    <mc:Choice xmlns:v="urn:schemas-microsoft-com:vml" Requires="v">
                      <p:oleObj spid="_x0000_s69685" name="公式" r:id="rId8" imgW="889000" imgH="228600" progId="Equation.3">
                        <p:embed/>
                      </p:oleObj>
                    </mc:Choice>
                    <mc:Fallback>
                      <p:oleObj name="公式" r:id="rId8" imgW="889000" imgH="228600" progId="Equation.3">
                        <p:embed/>
                        <p:pic>
                          <p:nvPicPr>
                            <p:cNvPr id="0" name="Object 7"/>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27930" y="3873500"/>
                              <a:ext cx="1266825" cy="288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4" name="Object 8"/>
                <p:cNvGraphicFramePr>
                  <a:graphicFrameLocks noChangeAspect="1"/>
                </p:cNvGraphicFramePr>
                <p:nvPr/>
              </p:nvGraphicFramePr>
              <p:xfrm>
                <a:off x="1014095" y="4223703"/>
                <a:ext cx="4126000" cy="288000"/>
              </p:xfrm>
              <a:graphic>
                <a:graphicData uri="http://schemas.openxmlformats.org/presentationml/2006/ole">
                  <mc:AlternateContent xmlns:mc="http://schemas.openxmlformats.org/markup-compatibility/2006">
                    <mc:Choice xmlns:v="urn:schemas-microsoft-com:vml" Requires="v">
                      <p:oleObj spid="_x0000_s69686" name="公式" r:id="rId10" imgW="2895600" imgH="228600" progId="Equation.3">
                        <p:embed/>
                      </p:oleObj>
                    </mc:Choice>
                    <mc:Fallback>
                      <p:oleObj name="公式" r:id="rId10" imgW="2895600" imgH="228600" progId="Equation.3">
                        <p:embed/>
                        <p:pic>
                          <p:nvPicPr>
                            <p:cNvPr id="0" name="Object 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14095" y="4223703"/>
                              <a:ext cx="4126000" cy="28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5" name="Object 9"/>
                <p:cNvGraphicFramePr>
                  <a:graphicFrameLocks noChangeAspect="1"/>
                </p:cNvGraphicFramePr>
                <p:nvPr/>
              </p:nvGraphicFramePr>
              <p:xfrm>
                <a:off x="1014095" y="4582795"/>
                <a:ext cx="5285216" cy="288000"/>
              </p:xfrm>
              <a:graphic>
                <a:graphicData uri="http://schemas.openxmlformats.org/presentationml/2006/ole">
                  <mc:AlternateContent xmlns:mc="http://schemas.openxmlformats.org/markup-compatibility/2006">
                    <mc:Choice xmlns:v="urn:schemas-microsoft-com:vml" Requires="v">
                      <p:oleObj spid="_x0000_s69687" name="公式" r:id="rId12" imgW="3708400" imgH="228600" progId="Equation.3">
                        <p:embed/>
                      </p:oleObj>
                    </mc:Choice>
                    <mc:Fallback>
                      <p:oleObj name="公式" r:id="rId12" imgW="3708400" imgH="228600" progId="Equation.3">
                        <p:embed/>
                        <p:pic>
                          <p:nvPicPr>
                            <p:cNvPr id="0" name="Object 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14095" y="4582795"/>
                              <a:ext cx="5285216" cy="28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134" name="Object 17"/>
              <p:cNvGraphicFramePr>
                <a:graphicFrameLocks noChangeAspect="1"/>
              </p:cNvGraphicFramePr>
              <p:nvPr/>
            </p:nvGraphicFramePr>
            <p:xfrm>
              <a:off x="5000044" y="2049075"/>
              <a:ext cx="1601788" cy="282575"/>
            </p:xfrm>
            <a:graphic>
              <a:graphicData uri="http://schemas.openxmlformats.org/presentationml/2006/ole">
                <mc:AlternateContent xmlns:mc="http://schemas.openxmlformats.org/markup-compatibility/2006">
                  <mc:Choice xmlns:v="urn:schemas-microsoft-com:vml" Requires="v">
                    <p:oleObj spid="_x0000_s69688" name="公式" r:id="rId14" imgW="1295400" imgH="228600" progId="Equation.3">
                      <p:embed/>
                    </p:oleObj>
                  </mc:Choice>
                  <mc:Fallback>
                    <p:oleObj name="公式" r:id="rId14" imgW="1295400" imgH="228600" progId="Equation.3">
                      <p:embed/>
                      <p:pic>
                        <p:nvPicPr>
                          <p:cNvPr id="0" name="Object 1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000044" y="2049075"/>
                            <a:ext cx="1601788" cy="28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190" name="Object 16"/>
            <p:cNvGraphicFramePr>
              <a:graphicFrameLocks noChangeAspect="1"/>
            </p:cNvGraphicFramePr>
            <p:nvPr/>
          </p:nvGraphicFramePr>
          <p:xfrm>
            <a:off x="626183" y="3002633"/>
            <a:ext cx="1037383" cy="297221"/>
          </p:xfrm>
          <a:graphic>
            <a:graphicData uri="http://schemas.openxmlformats.org/presentationml/2006/ole">
              <mc:AlternateContent xmlns:mc="http://schemas.openxmlformats.org/markup-compatibility/2006">
                <mc:Choice xmlns:v="urn:schemas-microsoft-com:vml" Requires="v">
                  <p:oleObj spid="_x0000_s69689" name="公式" r:id="rId16" imgW="799465" imgH="215900" progId="Equation.3">
                    <p:embed/>
                  </p:oleObj>
                </mc:Choice>
                <mc:Fallback>
                  <p:oleObj name="公式" r:id="rId16" imgW="799465" imgH="215900" progId="Equation.3">
                    <p:embed/>
                    <p:pic>
                      <p:nvPicPr>
                        <p:cNvPr id="0"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26183" y="3002633"/>
                          <a:ext cx="1037383" cy="297221"/>
                        </a:xfrm>
                        <a:prstGeom prst="rect">
                          <a:avLst/>
                        </a:prstGeom>
                        <a:noFill/>
                        <a:ln>
                          <a:noFill/>
                        </a:ln>
                        <a:effectLst/>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wipe(up)">
                                      <p:cBhvr>
                                        <p:cTn id="7" dur="1000"/>
                                        <p:tgtEl>
                                          <p:spTgt spid="63"/>
                                        </p:tgtEl>
                                      </p:cBhvr>
                                    </p:animEffect>
                                  </p:childTnLst>
                                </p:cTn>
                              </p:par>
                            </p:childTnLst>
                          </p:cTn>
                        </p:par>
                        <p:par>
                          <p:cTn id="8" fill="hold">
                            <p:stCondLst>
                              <p:cond delay="1000"/>
                            </p:stCondLst>
                            <p:childTnLst>
                              <p:par>
                                <p:cTn id="9" presetID="42"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childTnLst>
                          </p:cTn>
                        </p:par>
                        <p:par>
                          <p:cTn id="14" fill="hold">
                            <p:stCondLst>
                              <p:cond delay="2000"/>
                            </p:stCondLst>
                            <p:childTnLst>
                              <p:par>
                                <p:cTn id="15" presetID="42" presetClass="entr" presetSubtype="0"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24"/>
                                        </p:tgtEl>
                                        <p:attrNameLst>
                                          <p:attrName>style.visibility</p:attrName>
                                        </p:attrNameLst>
                                      </p:cBhvr>
                                      <p:to>
                                        <p:strVal val="visible"/>
                                      </p:to>
                                    </p:set>
                                    <p:animEffect transition="in" filter="wipe(left)">
                                      <p:cBhvr>
                                        <p:cTn id="24" dur="1000"/>
                                        <p:tgtEl>
                                          <p:spTgt spid="124"/>
                                        </p:tgtEl>
                                      </p:cBhvr>
                                    </p:animEffect>
                                  </p:childTnLst>
                                  <p:subTnLst>
                                    <p:set>
                                      <p:cBhvr override="childStyle">
                                        <p:cTn dur="1" fill="hold" display="0" masterRel="nextClick" afterEffect="1"/>
                                        <p:tgtEl>
                                          <p:spTgt spid="124"/>
                                        </p:tgtEl>
                                        <p:attrNameLst>
                                          <p:attrName>style.visibility</p:attrName>
                                        </p:attrNameLst>
                                      </p:cBhvr>
                                      <p:to>
                                        <p:strVal val="hidden"/>
                                      </p:to>
                                    </p:set>
                                  </p:sub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25"/>
                                        </p:tgtEl>
                                        <p:attrNameLst>
                                          <p:attrName>style.visibility</p:attrName>
                                        </p:attrNameLst>
                                      </p:cBhvr>
                                      <p:to>
                                        <p:strVal val="visible"/>
                                      </p:to>
                                    </p:set>
                                    <p:animEffect transition="in" filter="wipe(left)">
                                      <p:cBhvr>
                                        <p:cTn id="29" dur="1000"/>
                                        <p:tgtEl>
                                          <p:spTgt spid="125"/>
                                        </p:tgtEl>
                                      </p:cBhvr>
                                    </p:animEffect>
                                  </p:childTnLst>
                                  <p:subTnLst>
                                    <p:set>
                                      <p:cBhvr override="childStyle">
                                        <p:cTn dur="1" fill="hold" display="0" masterRel="nextClick" afterEffect="1"/>
                                        <p:tgtEl>
                                          <p:spTgt spid="125"/>
                                        </p:tgtEl>
                                        <p:attrNameLst>
                                          <p:attrName>style.visibility</p:attrName>
                                        </p:attrNameLst>
                                      </p:cBhvr>
                                      <p:to>
                                        <p:strVal val="hidden"/>
                                      </p:to>
                                    </p:set>
                                  </p:sub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26"/>
                                        </p:tgtEl>
                                        <p:attrNameLst>
                                          <p:attrName>style.visibility</p:attrName>
                                        </p:attrNameLst>
                                      </p:cBhvr>
                                      <p:to>
                                        <p:strVal val="visible"/>
                                      </p:to>
                                    </p:set>
                                    <p:animEffect transition="in" filter="fade">
                                      <p:cBhvr>
                                        <p:cTn id="34" dur="1000"/>
                                        <p:tgtEl>
                                          <p:spTgt spid="126"/>
                                        </p:tgtEl>
                                      </p:cBhvr>
                                    </p:animEffect>
                                    <p:anim calcmode="lin" valueType="num">
                                      <p:cBhvr>
                                        <p:cTn id="35" dur="1000" fill="hold"/>
                                        <p:tgtEl>
                                          <p:spTgt spid="126"/>
                                        </p:tgtEl>
                                        <p:attrNameLst>
                                          <p:attrName>ppt_x</p:attrName>
                                        </p:attrNameLst>
                                      </p:cBhvr>
                                      <p:tavLst>
                                        <p:tav tm="0">
                                          <p:val>
                                            <p:strVal val="#ppt_x"/>
                                          </p:val>
                                        </p:tav>
                                        <p:tav tm="100000">
                                          <p:val>
                                            <p:strVal val="#ppt_x"/>
                                          </p:val>
                                        </p:tav>
                                      </p:tavLst>
                                    </p:anim>
                                    <p:anim calcmode="lin" valueType="num">
                                      <p:cBhvr>
                                        <p:cTn id="36" dur="1000" fill="hold"/>
                                        <p:tgtEl>
                                          <p:spTgt spid="126"/>
                                        </p:tgtEl>
                                        <p:attrNameLst>
                                          <p:attrName>ppt_y</p:attrName>
                                        </p:attrNameLst>
                                      </p:cBhvr>
                                      <p:tavLst>
                                        <p:tav tm="0">
                                          <p:val>
                                            <p:strVal val="#ppt_y+.1"/>
                                          </p:val>
                                        </p:tav>
                                        <p:tav tm="100000">
                                          <p:val>
                                            <p:strVal val="#ppt_y"/>
                                          </p:val>
                                        </p:tav>
                                      </p:tavLst>
                                    </p:anim>
                                  </p:childTnLst>
                                  <p:subTnLst>
                                    <p:set>
                                      <p:cBhvr override="childStyle">
                                        <p:cTn dur="1" fill="hold" display="0" masterRel="nextClick" afterEffect="1"/>
                                        <p:tgtEl>
                                          <p:spTgt spid="126"/>
                                        </p:tgtEl>
                                        <p:attrNameLst>
                                          <p:attrName>style.visibility</p:attrName>
                                        </p:attrNameLst>
                                      </p:cBhvr>
                                      <p:to>
                                        <p:strVal val="hidden"/>
                                      </p:to>
                                    </p:set>
                                  </p:sub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237"/>
                                        </p:tgtEl>
                                        <p:attrNameLst>
                                          <p:attrName>style.visibility</p:attrName>
                                        </p:attrNameLst>
                                      </p:cBhvr>
                                      <p:to>
                                        <p:strVal val="visible"/>
                                      </p:to>
                                    </p:set>
                                    <p:animEffect transition="in" filter="fade">
                                      <p:cBhvr>
                                        <p:cTn id="41" dur="1000"/>
                                        <p:tgtEl>
                                          <p:spTgt spid="237"/>
                                        </p:tgtEl>
                                      </p:cBhvr>
                                    </p:animEffect>
                                    <p:anim calcmode="lin" valueType="num">
                                      <p:cBhvr>
                                        <p:cTn id="42" dur="1000" fill="hold"/>
                                        <p:tgtEl>
                                          <p:spTgt spid="237"/>
                                        </p:tgtEl>
                                        <p:attrNameLst>
                                          <p:attrName>ppt_x</p:attrName>
                                        </p:attrNameLst>
                                      </p:cBhvr>
                                      <p:tavLst>
                                        <p:tav tm="0">
                                          <p:val>
                                            <p:strVal val="#ppt_x"/>
                                          </p:val>
                                        </p:tav>
                                        <p:tav tm="100000">
                                          <p:val>
                                            <p:strVal val="#ppt_x"/>
                                          </p:val>
                                        </p:tav>
                                      </p:tavLst>
                                    </p:anim>
                                    <p:anim calcmode="lin" valueType="num">
                                      <p:cBhvr>
                                        <p:cTn id="43" dur="1000" fill="hold"/>
                                        <p:tgtEl>
                                          <p:spTgt spid="237"/>
                                        </p:tgtEl>
                                        <p:attrNameLst>
                                          <p:attrName>ppt_y</p:attrName>
                                        </p:attrNameLst>
                                      </p:cBhvr>
                                      <p:tavLst>
                                        <p:tav tm="0">
                                          <p:val>
                                            <p:strVal val="#ppt_y+.1"/>
                                          </p:val>
                                        </p:tav>
                                        <p:tav tm="100000">
                                          <p:val>
                                            <p:strVal val="#ppt_y"/>
                                          </p:val>
                                        </p:tav>
                                      </p:tavLst>
                                    </p:anim>
                                  </p:childTnLst>
                                </p:cTn>
                              </p:par>
                            </p:childTnLst>
                          </p:cTn>
                        </p:par>
                        <p:par>
                          <p:cTn id="44" fill="hold">
                            <p:stCondLst>
                              <p:cond delay="1000"/>
                            </p:stCondLst>
                            <p:childTnLst>
                              <p:par>
                                <p:cTn id="45" presetID="42" presetClass="entr" presetSubtype="0" fill="hold" nodeType="afterEffect">
                                  <p:stCondLst>
                                    <p:cond delay="0"/>
                                  </p:stCondLst>
                                  <p:childTnLst>
                                    <p:set>
                                      <p:cBhvr>
                                        <p:cTn id="46" dur="1" fill="hold">
                                          <p:stCondLst>
                                            <p:cond delay="0"/>
                                          </p:stCondLst>
                                        </p:cTn>
                                        <p:tgtEl>
                                          <p:spTgt spid="239"/>
                                        </p:tgtEl>
                                        <p:attrNameLst>
                                          <p:attrName>style.visibility</p:attrName>
                                        </p:attrNameLst>
                                      </p:cBhvr>
                                      <p:to>
                                        <p:strVal val="visible"/>
                                      </p:to>
                                    </p:set>
                                    <p:animEffect transition="in" filter="fade">
                                      <p:cBhvr>
                                        <p:cTn id="47" dur="1000"/>
                                        <p:tgtEl>
                                          <p:spTgt spid="239"/>
                                        </p:tgtEl>
                                      </p:cBhvr>
                                    </p:animEffect>
                                    <p:anim calcmode="lin" valueType="num">
                                      <p:cBhvr>
                                        <p:cTn id="48" dur="1000" fill="hold"/>
                                        <p:tgtEl>
                                          <p:spTgt spid="239"/>
                                        </p:tgtEl>
                                        <p:attrNameLst>
                                          <p:attrName>ppt_x</p:attrName>
                                        </p:attrNameLst>
                                      </p:cBhvr>
                                      <p:tavLst>
                                        <p:tav tm="0">
                                          <p:val>
                                            <p:strVal val="#ppt_x"/>
                                          </p:val>
                                        </p:tav>
                                        <p:tav tm="100000">
                                          <p:val>
                                            <p:strVal val="#ppt_x"/>
                                          </p:val>
                                        </p:tav>
                                      </p:tavLst>
                                    </p:anim>
                                    <p:anim calcmode="lin" valueType="num">
                                      <p:cBhvr>
                                        <p:cTn id="49" dur="1000" fill="hold"/>
                                        <p:tgtEl>
                                          <p:spTgt spid="23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p:bldP spid="124" grpId="0" animBg="1"/>
      <p:bldP spid="125" grpId="0" animBg="1"/>
      <p:bldP spid="126"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组合 17"/>
          <p:cNvGrpSpPr/>
          <p:nvPr/>
        </p:nvGrpSpPr>
        <p:grpSpPr>
          <a:xfrm>
            <a:off x="392432" y="769746"/>
            <a:ext cx="4286248" cy="420971"/>
            <a:chOff x="670560" y="892917"/>
            <a:chExt cx="4286248" cy="420971"/>
          </a:xfrm>
        </p:grpSpPr>
        <p:sp>
          <p:nvSpPr>
            <p:cNvPr id="15" name="矩形 14"/>
            <p:cNvSpPr/>
            <p:nvPr/>
          </p:nvSpPr>
          <p:spPr>
            <a:xfrm>
              <a:off x="1035233" y="913778"/>
              <a:ext cx="3921575" cy="400110"/>
            </a:xfrm>
            <a:prstGeom prst="rect">
              <a:avLst/>
            </a:prstGeom>
          </p:spPr>
          <p:txBody>
            <a:bodyPr wrap="squar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多位数加法运算电路</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16"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17" name="Rectangle 6"/>
          <p:cNvSpPr>
            <a:spLocks noChangeArrowheads="1"/>
          </p:cNvSpPr>
          <p:nvPr/>
        </p:nvSpPr>
        <p:spPr bwMode="auto">
          <a:xfrm>
            <a:off x="541338" y="1247140"/>
            <a:ext cx="3581082" cy="338554"/>
          </a:xfrm>
          <a:prstGeom prst="rect">
            <a:avLst/>
          </a:prstGeom>
          <a:noFill/>
          <a:ln w="9525" algn="ctr">
            <a:noFill/>
            <a:miter lim="800000"/>
          </a:ln>
        </p:spPr>
        <p:txBody>
          <a:bodyPr wrap="square" anchor="ctr">
            <a:spAutoFit/>
          </a:bodyPr>
          <a:lstStyle/>
          <a:p>
            <a:pPr eaLnBrk="0" hangingPunct="0">
              <a:tabLst>
                <a:tab pos="264795" algn="l"/>
              </a:tabLst>
            </a:pPr>
            <a:r>
              <a:rPr lang="zh-CN" altLang="en-US" sz="1600" dirty="0">
                <a:solidFill>
                  <a:srgbClr val="6600FF"/>
                </a:solidFill>
                <a:latin typeface="微软雅黑" panose="020B0503020204020204" pitchFamily="34" charset="-122"/>
                <a:ea typeface="微软雅黑" panose="020B0503020204020204" pitchFamily="34" charset="-122"/>
              </a:rPr>
              <a:t>（</a:t>
            </a:r>
            <a:r>
              <a:rPr lang="en-US" altLang="zh-CN" sz="1600" dirty="0">
                <a:solidFill>
                  <a:srgbClr val="6600FF"/>
                </a:solidFill>
                <a:latin typeface="微软雅黑" panose="020B0503020204020204" pitchFamily="34" charset="-122"/>
                <a:ea typeface="微软雅黑" panose="020B0503020204020204" pitchFamily="34" charset="-122"/>
              </a:rPr>
              <a:t>4</a:t>
            </a:r>
            <a:r>
              <a:rPr lang="zh-CN" altLang="en-US" sz="1600" dirty="0">
                <a:solidFill>
                  <a:srgbClr val="6600FF"/>
                </a:solidFill>
                <a:latin typeface="微软雅黑" panose="020B0503020204020204" pitchFamily="34" charset="-122"/>
                <a:ea typeface="微软雅黑" panose="020B0503020204020204" pitchFamily="34" charset="-122"/>
              </a:rPr>
              <a:t>）</a:t>
            </a:r>
            <a:r>
              <a:rPr lang="en-US" altLang="zh-CN" sz="1600" dirty="0">
                <a:solidFill>
                  <a:srgbClr val="6600FF"/>
                </a:solidFill>
                <a:latin typeface="微软雅黑" panose="020B0503020204020204" pitchFamily="34" charset="-122"/>
                <a:ea typeface="微软雅黑" panose="020B0503020204020204" pitchFamily="34" charset="-122"/>
              </a:rPr>
              <a:t>74HC283</a:t>
            </a:r>
            <a:r>
              <a:rPr lang="zh-CN" altLang="en-US" sz="1600" dirty="0">
                <a:solidFill>
                  <a:srgbClr val="6600FF"/>
                </a:solidFill>
                <a:latin typeface="微软雅黑" panose="020B0503020204020204" pitchFamily="34" charset="-122"/>
                <a:ea typeface="微软雅黑" panose="020B0503020204020204" pitchFamily="34" charset="-122"/>
              </a:rPr>
              <a:t>的应用</a:t>
            </a:r>
            <a:endParaRPr lang="en-US" altLang="zh-CN" sz="1600" dirty="0">
              <a:solidFill>
                <a:srgbClr val="6600FF"/>
              </a:solidFill>
              <a:latin typeface="微软雅黑" panose="020B0503020204020204" pitchFamily="34" charset="-122"/>
              <a:ea typeface="微软雅黑" panose="020B0503020204020204" pitchFamily="34" charset="-122"/>
            </a:endParaRPr>
          </a:p>
        </p:txBody>
      </p:sp>
      <p:grpSp>
        <p:nvGrpSpPr>
          <p:cNvPr id="76" name="组合 75"/>
          <p:cNvGrpSpPr/>
          <p:nvPr/>
        </p:nvGrpSpPr>
        <p:grpSpPr>
          <a:xfrm>
            <a:off x="1313835" y="1668780"/>
            <a:ext cx="6252825" cy="1965960"/>
            <a:chOff x="1298595" y="1889760"/>
            <a:chExt cx="6252825" cy="1965960"/>
          </a:xfrm>
        </p:grpSpPr>
        <p:grpSp>
          <p:nvGrpSpPr>
            <p:cNvPr id="70" name="组合 69"/>
            <p:cNvGrpSpPr/>
            <p:nvPr/>
          </p:nvGrpSpPr>
          <p:grpSpPr>
            <a:xfrm>
              <a:off x="1315174" y="1889760"/>
              <a:ext cx="6236246" cy="1965960"/>
              <a:chOff x="1315174" y="1889760"/>
              <a:chExt cx="6236246" cy="1965960"/>
            </a:xfrm>
          </p:grpSpPr>
          <p:sp>
            <p:nvSpPr>
              <p:cNvPr id="19" name="圆角矩形 18"/>
              <p:cNvSpPr/>
              <p:nvPr/>
            </p:nvSpPr>
            <p:spPr>
              <a:xfrm rot="5400000">
                <a:off x="3450317" y="-245383"/>
                <a:ext cx="1965960" cy="6236246"/>
              </a:xfrm>
              <a:prstGeom prst="roundRect">
                <a:avLst>
                  <a:gd name="adj" fmla="val 332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Times New Roman" panose="02020603050405020304" pitchFamily="18" charset="0"/>
                  <a:cs typeface="Times New Roman" panose="02020603050405020304" pitchFamily="18" charset="0"/>
                </a:endParaRPr>
              </a:p>
            </p:txBody>
          </p:sp>
          <p:grpSp>
            <p:nvGrpSpPr>
              <p:cNvPr id="65" name="组合 64"/>
              <p:cNvGrpSpPr/>
              <p:nvPr/>
            </p:nvGrpSpPr>
            <p:grpSpPr>
              <a:xfrm>
                <a:off x="1541003" y="2121680"/>
                <a:ext cx="5594245" cy="1398363"/>
                <a:chOff x="862823" y="2075960"/>
                <a:chExt cx="5594245" cy="1398363"/>
              </a:xfrm>
            </p:grpSpPr>
            <p:grpSp>
              <p:nvGrpSpPr>
                <p:cNvPr id="43" name="组合 42"/>
                <p:cNvGrpSpPr/>
                <p:nvPr/>
              </p:nvGrpSpPr>
              <p:grpSpPr>
                <a:xfrm>
                  <a:off x="862823" y="2106440"/>
                  <a:ext cx="3171335" cy="1367883"/>
                  <a:chOff x="862823" y="2106440"/>
                  <a:chExt cx="3171335" cy="1367883"/>
                </a:xfrm>
              </p:grpSpPr>
              <p:sp>
                <p:nvSpPr>
                  <p:cNvPr id="21" name="矩形 20"/>
                  <p:cNvSpPr/>
                  <p:nvPr/>
                </p:nvSpPr>
                <p:spPr>
                  <a:xfrm rot="16200000">
                    <a:off x="1750379" y="1675513"/>
                    <a:ext cx="914400" cy="2229482"/>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en-US" altLang="zh-CN" sz="1400" dirty="0">
                        <a:solidFill>
                          <a:schemeClr val="tx1"/>
                        </a:solidFill>
                        <a:latin typeface="微软雅黑" panose="020B0503020204020204" pitchFamily="34" charset="-122"/>
                        <a:ea typeface="微软雅黑" panose="020B0503020204020204" pitchFamily="34" charset="-122"/>
                      </a:rPr>
                      <a:t>74HC283(0)</a:t>
                    </a:r>
                    <a:endParaRPr lang="zh-CN" altLang="en-US" sz="1400" dirty="0">
                      <a:solidFill>
                        <a:schemeClr val="tx1"/>
                      </a:solidFill>
                    </a:endParaRPr>
                  </a:p>
                </p:txBody>
              </p:sp>
              <p:sp>
                <p:nvSpPr>
                  <p:cNvPr id="22" name="TextBox 21"/>
                  <p:cNvSpPr txBox="1"/>
                  <p:nvPr/>
                </p:nvSpPr>
                <p:spPr>
                  <a:xfrm>
                    <a:off x="1264182" y="2354581"/>
                    <a:ext cx="1974317" cy="179536"/>
                  </a:xfrm>
                  <a:prstGeom prst="rect">
                    <a:avLst/>
                  </a:prstGeom>
                  <a:noFill/>
                </p:spPr>
                <p:txBody>
                  <a:bodyPr wrap="square" lIns="0" tIns="0" rIns="0" bIns="0" rtlCol="0">
                    <a:spAutoFit/>
                  </a:bodyPr>
                  <a:lstStyle/>
                  <a:p>
                    <a:pPr algn="ctr">
                      <a:lnSpc>
                        <a:spcPts val="1400"/>
                      </a:lnSpc>
                    </a:pPr>
                    <a:r>
                      <a:rPr lang="en-US" altLang="zh-CN" sz="1400" dirty="0">
                        <a:latin typeface="Times New Roman" panose="02020603050405020304" pitchFamily="18" charset="0"/>
                        <a:cs typeface="Times New Roman" panose="02020603050405020304" pitchFamily="18" charset="0"/>
                      </a:rPr>
                      <a:t>B</a:t>
                    </a:r>
                    <a:r>
                      <a:rPr lang="en-US" altLang="zh-CN" sz="1400" baseline="-25000" dirty="0">
                        <a:latin typeface="Times New Roman" panose="02020603050405020304" pitchFamily="18" charset="0"/>
                        <a:cs typeface="Times New Roman" panose="02020603050405020304" pitchFamily="18" charset="0"/>
                      </a:rPr>
                      <a:t>0  </a:t>
                    </a:r>
                    <a:r>
                      <a:rPr lang="en-US" altLang="zh-CN" sz="1400" dirty="0">
                        <a:latin typeface="Times New Roman" panose="02020603050405020304" pitchFamily="18" charset="0"/>
                        <a:cs typeface="Times New Roman" panose="02020603050405020304" pitchFamily="18" charset="0"/>
                      </a:rPr>
                      <a:t>A</a:t>
                    </a:r>
                    <a:r>
                      <a:rPr lang="en-US" altLang="zh-CN" sz="1400" baseline="-25000" dirty="0">
                        <a:latin typeface="Times New Roman" panose="02020603050405020304" pitchFamily="18" charset="0"/>
                        <a:cs typeface="Times New Roman" panose="02020603050405020304" pitchFamily="18" charset="0"/>
                      </a:rPr>
                      <a:t>0  </a:t>
                    </a:r>
                    <a:r>
                      <a:rPr lang="en-US" altLang="zh-CN" sz="1400" dirty="0">
                        <a:latin typeface="Times New Roman" panose="02020603050405020304" pitchFamily="18" charset="0"/>
                        <a:cs typeface="Times New Roman" panose="02020603050405020304" pitchFamily="18" charset="0"/>
                      </a:rPr>
                      <a:t>B</a:t>
                    </a:r>
                    <a:r>
                      <a:rPr lang="en-US" altLang="zh-CN" sz="1400" baseline="-25000" dirty="0">
                        <a:latin typeface="Times New Roman" panose="02020603050405020304" pitchFamily="18" charset="0"/>
                        <a:cs typeface="Times New Roman" panose="02020603050405020304" pitchFamily="18" charset="0"/>
                      </a:rPr>
                      <a:t>1  </a:t>
                    </a:r>
                    <a:r>
                      <a:rPr lang="en-US" altLang="zh-CN" sz="1400" dirty="0">
                        <a:latin typeface="Times New Roman" panose="02020603050405020304" pitchFamily="18" charset="0"/>
                        <a:cs typeface="Times New Roman" panose="02020603050405020304" pitchFamily="18" charset="0"/>
                      </a:rPr>
                      <a:t>A</a:t>
                    </a:r>
                    <a:r>
                      <a:rPr lang="en-US" altLang="zh-CN" sz="1400" baseline="-25000" dirty="0">
                        <a:latin typeface="Times New Roman" panose="02020603050405020304" pitchFamily="18" charset="0"/>
                        <a:cs typeface="Times New Roman" panose="02020603050405020304" pitchFamily="18" charset="0"/>
                      </a:rPr>
                      <a:t>1  </a:t>
                    </a:r>
                    <a:r>
                      <a:rPr lang="en-US" altLang="zh-CN" sz="1400" dirty="0">
                        <a:latin typeface="Times New Roman" panose="02020603050405020304" pitchFamily="18" charset="0"/>
                        <a:cs typeface="Times New Roman" panose="02020603050405020304" pitchFamily="18" charset="0"/>
                      </a:rPr>
                      <a:t>B</a:t>
                    </a:r>
                    <a:r>
                      <a:rPr lang="en-US" altLang="zh-CN" sz="1400" baseline="-25000" dirty="0">
                        <a:latin typeface="Times New Roman" panose="02020603050405020304" pitchFamily="18" charset="0"/>
                        <a:cs typeface="Times New Roman" panose="02020603050405020304" pitchFamily="18" charset="0"/>
                      </a:rPr>
                      <a:t>2  </a:t>
                    </a:r>
                    <a:r>
                      <a:rPr lang="en-US" altLang="zh-CN" sz="1400" dirty="0">
                        <a:latin typeface="Times New Roman" panose="02020603050405020304" pitchFamily="18" charset="0"/>
                        <a:cs typeface="Times New Roman" panose="02020603050405020304" pitchFamily="18" charset="0"/>
                      </a:rPr>
                      <a:t>A</a:t>
                    </a:r>
                    <a:r>
                      <a:rPr lang="en-US" altLang="zh-CN" sz="1400" baseline="-25000" dirty="0">
                        <a:latin typeface="Times New Roman" panose="02020603050405020304" pitchFamily="18" charset="0"/>
                        <a:cs typeface="Times New Roman" panose="02020603050405020304" pitchFamily="18" charset="0"/>
                      </a:rPr>
                      <a:t>2  </a:t>
                    </a:r>
                    <a:r>
                      <a:rPr lang="en-US" altLang="zh-CN" sz="1400" dirty="0">
                        <a:latin typeface="Times New Roman" panose="02020603050405020304" pitchFamily="18" charset="0"/>
                        <a:cs typeface="Times New Roman" panose="02020603050405020304" pitchFamily="18" charset="0"/>
                      </a:rPr>
                      <a:t>B</a:t>
                    </a:r>
                    <a:r>
                      <a:rPr lang="en-US" altLang="zh-CN" sz="1400" baseline="-25000" dirty="0">
                        <a:latin typeface="Times New Roman" panose="02020603050405020304" pitchFamily="18" charset="0"/>
                        <a:cs typeface="Times New Roman" panose="02020603050405020304" pitchFamily="18" charset="0"/>
                      </a:rPr>
                      <a:t>3  </a:t>
                    </a:r>
                    <a:r>
                      <a:rPr lang="en-US" altLang="zh-CN" sz="1400" dirty="0">
                        <a:latin typeface="Times New Roman" panose="02020603050405020304" pitchFamily="18" charset="0"/>
                        <a:cs typeface="Times New Roman" panose="02020603050405020304" pitchFamily="18" charset="0"/>
                      </a:rPr>
                      <a:t>A</a:t>
                    </a:r>
                    <a:r>
                      <a:rPr lang="en-US" altLang="zh-CN" sz="1400" baseline="-25000" dirty="0">
                        <a:latin typeface="Times New Roman" panose="02020603050405020304" pitchFamily="18" charset="0"/>
                        <a:cs typeface="Times New Roman" panose="02020603050405020304" pitchFamily="18" charset="0"/>
                      </a:rPr>
                      <a:t>3</a:t>
                    </a:r>
                    <a:endParaRPr lang="zh-CN" altLang="en-US" sz="1400" baseline="-25000" dirty="0">
                      <a:latin typeface="Times New Roman" panose="02020603050405020304" pitchFamily="18" charset="0"/>
                      <a:cs typeface="Times New Roman" panose="02020603050405020304" pitchFamily="18" charset="0"/>
                    </a:endParaRPr>
                  </a:p>
                </p:txBody>
              </p:sp>
              <p:sp>
                <p:nvSpPr>
                  <p:cNvPr id="23" name="TextBox 22"/>
                  <p:cNvSpPr txBox="1"/>
                  <p:nvPr/>
                </p:nvSpPr>
                <p:spPr>
                  <a:xfrm>
                    <a:off x="1126395" y="2700485"/>
                    <a:ext cx="214725" cy="179536"/>
                  </a:xfrm>
                  <a:prstGeom prst="rect">
                    <a:avLst/>
                  </a:prstGeom>
                  <a:noFill/>
                </p:spPr>
                <p:txBody>
                  <a:bodyPr wrap="square" lIns="0" tIns="0" rIns="0" bIns="0" rtlCol="0">
                    <a:spAutoFit/>
                  </a:bodyPr>
                  <a:lstStyle/>
                  <a:p>
                    <a:pPr>
                      <a:lnSpc>
                        <a:spcPts val="1400"/>
                      </a:lnSpc>
                    </a:pPr>
                    <a:r>
                      <a:rPr lang="en-US" altLang="zh-CN" sz="1400" dirty="0">
                        <a:latin typeface="Times New Roman" panose="02020603050405020304" pitchFamily="18" charset="0"/>
                        <a:cs typeface="Times New Roman" panose="02020603050405020304" pitchFamily="18" charset="0"/>
                      </a:rPr>
                      <a:t>C</a:t>
                    </a:r>
                    <a:r>
                      <a:rPr lang="en-US" altLang="zh-CN" sz="1400" baseline="-25000" dirty="0">
                        <a:latin typeface="Times New Roman" panose="02020603050405020304" pitchFamily="18" charset="0"/>
                        <a:cs typeface="Times New Roman" panose="02020603050405020304" pitchFamily="18" charset="0"/>
                      </a:rPr>
                      <a:t>I</a:t>
                    </a:r>
                    <a:endParaRPr lang="zh-CN" altLang="en-US" sz="1400" baseline="-25000" dirty="0">
                      <a:latin typeface="Times New Roman" panose="02020603050405020304" pitchFamily="18" charset="0"/>
                      <a:cs typeface="Times New Roman" panose="02020603050405020304" pitchFamily="18" charset="0"/>
                    </a:endParaRPr>
                  </a:p>
                </p:txBody>
              </p:sp>
              <p:cxnSp>
                <p:nvCxnSpPr>
                  <p:cNvPr id="25" name="直接连接符 24"/>
                  <p:cNvCxnSpPr/>
                  <p:nvPr/>
                </p:nvCxnSpPr>
                <p:spPr>
                  <a:xfrm rot="16200000">
                    <a:off x="1251444" y="2222060"/>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rot="16200000">
                    <a:off x="1493694" y="2222060"/>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rot="16200000">
                    <a:off x="1735944" y="2222060"/>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rot="16200000">
                    <a:off x="1978194" y="2222060"/>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rot="16200000">
                    <a:off x="2220444" y="2222060"/>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rot="16200000">
                    <a:off x="2462694" y="2222060"/>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rot="16200000">
                    <a:off x="2704944" y="2222060"/>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rot="16200000">
                    <a:off x="2947197" y="2214440"/>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862823" y="2782995"/>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4" name="直接连接符 33"/>
                  <p:cNvCxnSpPr>
                    <a:endCxn id="45" idx="0"/>
                  </p:cNvCxnSpPr>
                  <p:nvPr/>
                </p:nvCxnSpPr>
                <p:spPr>
                  <a:xfrm>
                    <a:off x="3335748" y="2750820"/>
                    <a:ext cx="69841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rot="16200000">
                    <a:off x="1547815" y="3366322"/>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rot="16200000">
                    <a:off x="1881557" y="3366322"/>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rot="16200000">
                    <a:off x="2215299" y="3366323"/>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rot="16200000">
                    <a:off x="2549041" y="3366323"/>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3054255" y="2700485"/>
                    <a:ext cx="214725" cy="179536"/>
                  </a:xfrm>
                  <a:prstGeom prst="rect">
                    <a:avLst/>
                  </a:prstGeom>
                  <a:noFill/>
                </p:spPr>
                <p:txBody>
                  <a:bodyPr wrap="square" lIns="0" tIns="0" rIns="0" bIns="0" rtlCol="0">
                    <a:spAutoFit/>
                  </a:bodyPr>
                  <a:lstStyle/>
                  <a:p>
                    <a:pPr>
                      <a:lnSpc>
                        <a:spcPts val="1400"/>
                      </a:lnSpc>
                    </a:pPr>
                    <a:r>
                      <a:rPr lang="en-US" altLang="zh-CN" sz="1400" dirty="0">
                        <a:latin typeface="Times New Roman" panose="02020603050405020304" pitchFamily="18" charset="0"/>
                        <a:cs typeface="Times New Roman" panose="02020603050405020304" pitchFamily="18" charset="0"/>
                      </a:rPr>
                      <a:t>C</a:t>
                    </a:r>
                    <a:r>
                      <a:rPr lang="en-US" altLang="zh-CN" sz="1400" baseline="-25000" dirty="0">
                        <a:latin typeface="Times New Roman" panose="02020603050405020304" pitchFamily="18" charset="0"/>
                        <a:cs typeface="Times New Roman" panose="02020603050405020304" pitchFamily="18" charset="0"/>
                      </a:rPr>
                      <a:t>O</a:t>
                    </a:r>
                    <a:endParaRPr lang="zh-CN" altLang="en-US" sz="1400" baseline="-25000" dirty="0">
                      <a:latin typeface="Times New Roman" panose="02020603050405020304" pitchFamily="18" charset="0"/>
                      <a:cs typeface="Times New Roman" panose="02020603050405020304" pitchFamily="18" charset="0"/>
                    </a:endParaRPr>
                  </a:p>
                </p:txBody>
              </p:sp>
              <p:sp>
                <p:nvSpPr>
                  <p:cNvPr id="41" name="矩形 40"/>
                  <p:cNvSpPr/>
                  <p:nvPr/>
                </p:nvSpPr>
                <p:spPr>
                  <a:xfrm>
                    <a:off x="1493930" y="2962394"/>
                    <a:ext cx="1398140" cy="307777"/>
                  </a:xfrm>
                  <a:prstGeom prst="rect">
                    <a:avLst/>
                  </a:prstGeom>
                </p:spPr>
                <p:txBody>
                  <a:bodyPr wrap="none">
                    <a:spAutoFit/>
                  </a:bodyPr>
                  <a:lstStyle/>
                  <a:p>
                    <a:r>
                      <a:rPr lang="en-US" altLang="zh-CN" sz="1400" dirty="0">
                        <a:latin typeface="Times New Roman" panose="02020603050405020304" pitchFamily="18" charset="0"/>
                        <a:cs typeface="Times New Roman" panose="02020603050405020304" pitchFamily="18" charset="0"/>
                      </a:rPr>
                      <a:t>S</a:t>
                    </a:r>
                    <a:r>
                      <a:rPr lang="en-US" altLang="zh-CN" sz="1400" baseline="-25000" dirty="0">
                        <a:latin typeface="Times New Roman" panose="02020603050405020304" pitchFamily="18" charset="0"/>
                        <a:cs typeface="Times New Roman" panose="02020603050405020304" pitchFamily="18" charset="0"/>
                      </a:rPr>
                      <a:t>0      </a:t>
                    </a:r>
                    <a:r>
                      <a:rPr lang="en-US" altLang="zh-CN" sz="1400" dirty="0">
                        <a:latin typeface="Times New Roman" panose="02020603050405020304" pitchFamily="18" charset="0"/>
                        <a:cs typeface="Times New Roman" panose="02020603050405020304" pitchFamily="18" charset="0"/>
                      </a:rPr>
                      <a:t>S</a:t>
                    </a:r>
                    <a:r>
                      <a:rPr lang="en-US" altLang="zh-CN" sz="1400" baseline="-25000" dirty="0">
                        <a:latin typeface="Times New Roman" panose="02020603050405020304" pitchFamily="18" charset="0"/>
                        <a:cs typeface="Times New Roman" panose="02020603050405020304" pitchFamily="18" charset="0"/>
                      </a:rPr>
                      <a:t>1      </a:t>
                    </a:r>
                    <a:r>
                      <a:rPr lang="en-US" altLang="zh-CN" sz="1400" dirty="0">
                        <a:latin typeface="Times New Roman" panose="02020603050405020304" pitchFamily="18" charset="0"/>
                        <a:cs typeface="Times New Roman" panose="02020603050405020304" pitchFamily="18" charset="0"/>
                      </a:rPr>
                      <a:t>S</a:t>
                    </a:r>
                    <a:r>
                      <a:rPr lang="en-US" altLang="zh-CN" sz="1400" baseline="-25000" dirty="0">
                        <a:latin typeface="Times New Roman" panose="02020603050405020304" pitchFamily="18" charset="0"/>
                        <a:cs typeface="Times New Roman" panose="02020603050405020304" pitchFamily="18" charset="0"/>
                      </a:rPr>
                      <a:t>2      </a:t>
                    </a:r>
                    <a:r>
                      <a:rPr lang="en-US" altLang="zh-CN" sz="1400" dirty="0">
                        <a:latin typeface="Times New Roman" panose="02020603050405020304" pitchFamily="18" charset="0"/>
                        <a:cs typeface="Times New Roman" panose="02020603050405020304" pitchFamily="18" charset="0"/>
                      </a:rPr>
                      <a:t>S</a:t>
                    </a:r>
                    <a:r>
                      <a:rPr lang="en-US" altLang="zh-CN" sz="1400" baseline="-25000" dirty="0">
                        <a:latin typeface="Times New Roman" panose="02020603050405020304" pitchFamily="18" charset="0"/>
                        <a:cs typeface="Times New Roman" panose="02020603050405020304" pitchFamily="18" charset="0"/>
                      </a:rPr>
                      <a:t>3 </a:t>
                    </a:r>
                    <a:endParaRPr lang="zh-CN" altLang="en-US" sz="1400" dirty="0"/>
                  </a:p>
                </p:txBody>
              </p:sp>
            </p:grpSp>
            <p:grpSp>
              <p:nvGrpSpPr>
                <p:cNvPr id="44" name="组合 43"/>
                <p:cNvGrpSpPr/>
                <p:nvPr/>
              </p:nvGrpSpPr>
              <p:grpSpPr>
                <a:xfrm>
                  <a:off x="4034158" y="2075960"/>
                  <a:ext cx="2422910" cy="1367883"/>
                  <a:chOff x="1092838" y="2106440"/>
                  <a:chExt cx="2422910" cy="1367883"/>
                </a:xfrm>
              </p:grpSpPr>
              <p:sp>
                <p:nvSpPr>
                  <p:cNvPr id="45" name="矩形 44"/>
                  <p:cNvSpPr/>
                  <p:nvPr/>
                </p:nvSpPr>
                <p:spPr>
                  <a:xfrm rot="16200000">
                    <a:off x="1750379" y="1675513"/>
                    <a:ext cx="914400" cy="2229482"/>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en-US" altLang="zh-CN" sz="1400" dirty="0">
                        <a:solidFill>
                          <a:schemeClr val="tx1"/>
                        </a:solidFill>
                        <a:latin typeface="微软雅黑" panose="020B0503020204020204" pitchFamily="34" charset="-122"/>
                        <a:ea typeface="微软雅黑" panose="020B0503020204020204" pitchFamily="34" charset="-122"/>
                      </a:rPr>
                      <a:t>74HC283(1)</a:t>
                    </a:r>
                    <a:endParaRPr lang="zh-CN" altLang="en-US" sz="1400" dirty="0">
                      <a:solidFill>
                        <a:schemeClr val="tx1"/>
                      </a:solidFill>
                    </a:endParaRPr>
                  </a:p>
                </p:txBody>
              </p:sp>
              <p:sp>
                <p:nvSpPr>
                  <p:cNvPr id="47" name="TextBox 46"/>
                  <p:cNvSpPr txBox="1"/>
                  <p:nvPr/>
                </p:nvSpPr>
                <p:spPr>
                  <a:xfrm>
                    <a:off x="1126395" y="2700485"/>
                    <a:ext cx="214725" cy="179536"/>
                  </a:xfrm>
                  <a:prstGeom prst="rect">
                    <a:avLst/>
                  </a:prstGeom>
                  <a:noFill/>
                </p:spPr>
                <p:txBody>
                  <a:bodyPr wrap="square" lIns="0" tIns="0" rIns="0" bIns="0" rtlCol="0">
                    <a:spAutoFit/>
                  </a:bodyPr>
                  <a:lstStyle/>
                  <a:p>
                    <a:pPr>
                      <a:lnSpc>
                        <a:spcPts val="1400"/>
                      </a:lnSpc>
                    </a:pPr>
                    <a:r>
                      <a:rPr lang="en-US" altLang="zh-CN" sz="1400" dirty="0">
                        <a:latin typeface="Times New Roman" panose="02020603050405020304" pitchFamily="18" charset="0"/>
                        <a:cs typeface="Times New Roman" panose="02020603050405020304" pitchFamily="18" charset="0"/>
                      </a:rPr>
                      <a:t>C</a:t>
                    </a:r>
                    <a:r>
                      <a:rPr lang="en-US" altLang="zh-CN" sz="1400" baseline="-25000" dirty="0">
                        <a:latin typeface="Times New Roman" panose="02020603050405020304" pitchFamily="18" charset="0"/>
                        <a:cs typeface="Times New Roman" panose="02020603050405020304" pitchFamily="18" charset="0"/>
                      </a:rPr>
                      <a:t>I</a:t>
                    </a:r>
                    <a:endParaRPr lang="zh-CN" altLang="en-US" sz="1400" baseline="-25000" dirty="0">
                      <a:latin typeface="Times New Roman" panose="02020603050405020304" pitchFamily="18" charset="0"/>
                      <a:cs typeface="Times New Roman" panose="02020603050405020304" pitchFamily="18" charset="0"/>
                    </a:endParaRPr>
                  </a:p>
                </p:txBody>
              </p:sp>
              <p:cxnSp>
                <p:nvCxnSpPr>
                  <p:cNvPr id="48" name="直接连接符 47"/>
                  <p:cNvCxnSpPr/>
                  <p:nvPr/>
                </p:nvCxnSpPr>
                <p:spPr>
                  <a:xfrm rot="16200000">
                    <a:off x="1251444" y="2222060"/>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rot="16200000">
                    <a:off x="1493694" y="2222060"/>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rot="16200000">
                    <a:off x="1735944" y="2222060"/>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rot="16200000">
                    <a:off x="1978194" y="2222060"/>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rot="16200000">
                    <a:off x="2220444" y="2222060"/>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rot="16200000">
                    <a:off x="2462694" y="2222060"/>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rot="16200000">
                    <a:off x="2704944" y="2222060"/>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rot="16200000">
                    <a:off x="2947197" y="2214440"/>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V="1">
                    <a:off x="3335748" y="2750820"/>
                    <a:ext cx="180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rot="16200000">
                    <a:off x="1547815" y="3366322"/>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rot="16200000">
                    <a:off x="1881557" y="3366322"/>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rot="16200000">
                    <a:off x="2215299" y="3366323"/>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rot="16200000">
                    <a:off x="2549041" y="3366323"/>
                    <a:ext cx="216000"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3054255" y="2700485"/>
                    <a:ext cx="214725" cy="179536"/>
                  </a:xfrm>
                  <a:prstGeom prst="rect">
                    <a:avLst/>
                  </a:prstGeom>
                  <a:noFill/>
                </p:spPr>
                <p:txBody>
                  <a:bodyPr wrap="square" lIns="0" tIns="0" rIns="0" bIns="0" rtlCol="0">
                    <a:spAutoFit/>
                  </a:bodyPr>
                  <a:lstStyle/>
                  <a:p>
                    <a:pPr>
                      <a:lnSpc>
                        <a:spcPts val="1400"/>
                      </a:lnSpc>
                    </a:pPr>
                    <a:r>
                      <a:rPr lang="en-US" altLang="zh-CN" sz="1400" dirty="0">
                        <a:latin typeface="Times New Roman" panose="02020603050405020304" pitchFamily="18" charset="0"/>
                        <a:cs typeface="Times New Roman" panose="02020603050405020304" pitchFamily="18" charset="0"/>
                      </a:rPr>
                      <a:t>C</a:t>
                    </a:r>
                    <a:r>
                      <a:rPr lang="en-US" altLang="zh-CN" sz="1400" baseline="-25000" dirty="0">
                        <a:latin typeface="Times New Roman" panose="02020603050405020304" pitchFamily="18" charset="0"/>
                        <a:cs typeface="Times New Roman" panose="02020603050405020304" pitchFamily="18" charset="0"/>
                      </a:rPr>
                      <a:t>O</a:t>
                    </a:r>
                    <a:endParaRPr lang="zh-CN" altLang="en-US" sz="1400" baseline="-25000" dirty="0">
                      <a:latin typeface="Times New Roman" panose="02020603050405020304" pitchFamily="18" charset="0"/>
                      <a:cs typeface="Times New Roman" panose="02020603050405020304" pitchFamily="18" charset="0"/>
                    </a:endParaRPr>
                  </a:p>
                </p:txBody>
              </p:sp>
            </p:grpSp>
          </p:grpSp>
          <p:sp>
            <p:nvSpPr>
              <p:cNvPr id="67" name="TextBox 66"/>
              <p:cNvSpPr txBox="1"/>
              <p:nvPr/>
            </p:nvSpPr>
            <p:spPr>
              <a:xfrm>
                <a:off x="4883682" y="2385061"/>
                <a:ext cx="1974317" cy="179536"/>
              </a:xfrm>
              <a:prstGeom prst="rect">
                <a:avLst/>
              </a:prstGeom>
              <a:noFill/>
            </p:spPr>
            <p:txBody>
              <a:bodyPr wrap="square" lIns="0" tIns="0" rIns="0" bIns="0" rtlCol="0">
                <a:spAutoFit/>
              </a:bodyPr>
              <a:lstStyle/>
              <a:p>
                <a:pPr algn="ctr">
                  <a:lnSpc>
                    <a:spcPts val="1400"/>
                  </a:lnSpc>
                </a:pPr>
                <a:r>
                  <a:rPr lang="en-US" altLang="zh-CN" sz="1400" dirty="0">
                    <a:latin typeface="Times New Roman" panose="02020603050405020304" pitchFamily="18" charset="0"/>
                    <a:cs typeface="Times New Roman" panose="02020603050405020304" pitchFamily="18" charset="0"/>
                  </a:rPr>
                  <a:t>B</a:t>
                </a:r>
                <a:r>
                  <a:rPr lang="en-US" altLang="zh-CN" sz="1400" baseline="-25000" dirty="0">
                    <a:latin typeface="Times New Roman" panose="02020603050405020304" pitchFamily="18" charset="0"/>
                    <a:cs typeface="Times New Roman" panose="02020603050405020304" pitchFamily="18" charset="0"/>
                  </a:rPr>
                  <a:t>0  </a:t>
                </a:r>
                <a:r>
                  <a:rPr lang="en-US" altLang="zh-CN" sz="1400" dirty="0">
                    <a:latin typeface="Times New Roman" panose="02020603050405020304" pitchFamily="18" charset="0"/>
                    <a:cs typeface="Times New Roman" panose="02020603050405020304" pitchFamily="18" charset="0"/>
                  </a:rPr>
                  <a:t>A</a:t>
                </a:r>
                <a:r>
                  <a:rPr lang="en-US" altLang="zh-CN" sz="1400" baseline="-25000" dirty="0">
                    <a:latin typeface="Times New Roman" panose="02020603050405020304" pitchFamily="18" charset="0"/>
                    <a:cs typeface="Times New Roman" panose="02020603050405020304" pitchFamily="18" charset="0"/>
                  </a:rPr>
                  <a:t>0  </a:t>
                </a:r>
                <a:r>
                  <a:rPr lang="en-US" altLang="zh-CN" sz="1400" dirty="0">
                    <a:latin typeface="Times New Roman" panose="02020603050405020304" pitchFamily="18" charset="0"/>
                    <a:cs typeface="Times New Roman" panose="02020603050405020304" pitchFamily="18" charset="0"/>
                  </a:rPr>
                  <a:t>B</a:t>
                </a:r>
                <a:r>
                  <a:rPr lang="en-US" altLang="zh-CN" sz="1400" baseline="-25000" dirty="0">
                    <a:latin typeface="Times New Roman" panose="02020603050405020304" pitchFamily="18" charset="0"/>
                    <a:cs typeface="Times New Roman" panose="02020603050405020304" pitchFamily="18" charset="0"/>
                  </a:rPr>
                  <a:t>1  </a:t>
                </a:r>
                <a:r>
                  <a:rPr lang="en-US" altLang="zh-CN" sz="1400" dirty="0">
                    <a:latin typeface="Times New Roman" panose="02020603050405020304" pitchFamily="18" charset="0"/>
                    <a:cs typeface="Times New Roman" panose="02020603050405020304" pitchFamily="18" charset="0"/>
                  </a:rPr>
                  <a:t>A</a:t>
                </a:r>
                <a:r>
                  <a:rPr lang="en-US" altLang="zh-CN" sz="1400" baseline="-25000" dirty="0">
                    <a:latin typeface="Times New Roman" panose="02020603050405020304" pitchFamily="18" charset="0"/>
                    <a:cs typeface="Times New Roman" panose="02020603050405020304" pitchFamily="18" charset="0"/>
                  </a:rPr>
                  <a:t>1  </a:t>
                </a:r>
                <a:r>
                  <a:rPr lang="en-US" altLang="zh-CN" sz="1400" dirty="0">
                    <a:latin typeface="Times New Roman" panose="02020603050405020304" pitchFamily="18" charset="0"/>
                    <a:cs typeface="Times New Roman" panose="02020603050405020304" pitchFamily="18" charset="0"/>
                  </a:rPr>
                  <a:t>B</a:t>
                </a:r>
                <a:r>
                  <a:rPr lang="en-US" altLang="zh-CN" sz="1400" baseline="-25000" dirty="0">
                    <a:latin typeface="Times New Roman" panose="02020603050405020304" pitchFamily="18" charset="0"/>
                    <a:cs typeface="Times New Roman" panose="02020603050405020304" pitchFamily="18" charset="0"/>
                  </a:rPr>
                  <a:t>2  </a:t>
                </a:r>
                <a:r>
                  <a:rPr lang="en-US" altLang="zh-CN" sz="1400" dirty="0">
                    <a:latin typeface="Times New Roman" panose="02020603050405020304" pitchFamily="18" charset="0"/>
                    <a:cs typeface="Times New Roman" panose="02020603050405020304" pitchFamily="18" charset="0"/>
                  </a:rPr>
                  <a:t>A</a:t>
                </a:r>
                <a:r>
                  <a:rPr lang="en-US" altLang="zh-CN" sz="1400" baseline="-25000" dirty="0">
                    <a:latin typeface="Times New Roman" panose="02020603050405020304" pitchFamily="18" charset="0"/>
                    <a:cs typeface="Times New Roman" panose="02020603050405020304" pitchFamily="18" charset="0"/>
                  </a:rPr>
                  <a:t>2  </a:t>
                </a:r>
                <a:r>
                  <a:rPr lang="en-US" altLang="zh-CN" sz="1400" dirty="0">
                    <a:latin typeface="Times New Roman" panose="02020603050405020304" pitchFamily="18" charset="0"/>
                    <a:cs typeface="Times New Roman" panose="02020603050405020304" pitchFamily="18" charset="0"/>
                  </a:rPr>
                  <a:t>B</a:t>
                </a:r>
                <a:r>
                  <a:rPr lang="en-US" altLang="zh-CN" sz="1400" baseline="-25000" dirty="0">
                    <a:latin typeface="Times New Roman" panose="02020603050405020304" pitchFamily="18" charset="0"/>
                    <a:cs typeface="Times New Roman" panose="02020603050405020304" pitchFamily="18" charset="0"/>
                  </a:rPr>
                  <a:t>3  </a:t>
                </a:r>
                <a:r>
                  <a:rPr lang="en-US" altLang="zh-CN" sz="1400" dirty="0">
                    <a:latin typeface="Times New Roman" panose="02020603050405020304" pitchFamily="18" charset="0"/>
                    <a:cs typeface="Times New Roman" panose="02020603050405020304" pitchFamily="18" charset="0"/>
                  </a:rPr>
                  <a:t>A</a:t>
                </a:r>
                <a:r>
                  <a:rPr lang="en-US" altLang="zh-CN" sz="1400" baseline="-25000" dirty="0">
                    <a:latin typeface="Times New Roman" panose="02020603050405020304" pitchFamily="18" charset="0"/>
                    <a:cs typeface="Times New Roman" panose="02020603050405020304" pitchFamily="18" charset="0"/>
                  </a:rPr>
                  <a:t>3</a:t>
                </a:r>
                <a:endParaRPr lang="zh-CN" altLang="en-US" sz="1400" baseline="-25000" dirty="0">
                  <a:latin typeface="Times New Roman" panose="02020603050405020304" pitchFamily="18" charset="0"/>
                  <a:cs typeface="Times New Roman" panose="02020603050405020304" pitchFamily="18" charset="0"/>
                </a:endParaRPr>
              </a:p>
            </p:txBody>
          </p:sp>
          <p:sp>
            <p:nvSpPr>
              <p:cNvPr id="68" name="矩形 67"/>
              <p:cNvSpPr/>
              <p:nvPr/>
            </p:nvSpPr>
            <p:spPr>
              <a:xfrm>
                <a:off x="5098190" y="2970014"/>
                <a:ext cx="1398140" cy="307777"/>
              </a:xfrm>
              <a:prstGeom prst="rect">
                <a:avLst/>
              </a:prstGeom>
            </p:spPr>
            <p:txBody>
              <a:bodyPr wrap="none">
                <a:spAutoFit/>
              </a:bodyPr>
              <a:lstStyle/>
              <a:p>
                <a:r>
                  <a:rPr lang="en-US" altLang="zh-CN" sz="1400" dirty="0">
                    <a:latin typeface="Times New Roman" panose="02020603050405020304" pitchFamily="18" charset="0"/>
                    <a:cs typeface="Times New Roman" panose="02020603050405020304" pitchFamily="18" charset="0"/>
                  </a:rPr>
                  <a:t>S</a:t>
                </a:r>
                <a:r>
                  <a:rPr lang="en-US" altLang="zh-CN" sz="1400" baseline="-25000" dirty="0">
                    <a:latin typeface="Times New Roman" panose="02020603050405020304" pitchFamily="18" charset="0"/>
                    <a:cs typeface="Times New Roman" panose="02020603050405020304" pitchFamily="18" charset="0"/>
                  </a:rPr>
                  <a:t>0      </a:t>
                </a:r>
                <a:r>
                  <a:rPr lang="en-US" altLang="zh-CN" sz="1400" dirty="0">
                    <a:latin typeface="Times New Roman" panose="02020603050405020304" pitchFamily="18" charset="0"/>
                    <a:cs typeface="Times New Roman" panose="02020603050405020304" pitchFamily="18" charset="0"/>
                  </a:rPr>
                  <a:t>S</a:t>
                </a:r>
                <a:r>
                  <a:rPr lang="en-US" altLang="zh-CN" sz="1400" baseline="-25000" dirty="0">
                    <a:latin typeface="Times New Roman" panose="02020603050405020304" pitchFamily="18" charset="0"/>
                    <a:cs typeface="Times New Roman" panose="02020603050405020304" pitchFamily="18" charset="0"/>
                  </a:rPr>
                  <a:t>1      </a:t>
                </a:r>
                <a:r>
                  <a:rPr lang="en-US" altLang="zh-CN" sz="1400" dirty="0">
                    <a:latin typeface="Times New Roman" panose="02020603050405020304" pitchFamily="18" charset="0"/>
                    <a:cs typeface="Times New Roman" panose="02020603050405020304" pitchFamily="18" charset="0"/>
                  </a:rPr>
                  <a:t>S</a:t>
                </a:r>
                <a:r>
                  <a:rPr lang="en-US" altLang="zh-CN" sz="1400" baseline="-25000" dirty="0">
                    <a:latin typeface="Times New Roman" panose="02020603050405020304" pitchFamily="18" charset="0"/>
                    <a:cs typeface="Times New Roman" panose="02020603050405020304" pitchFamily="18" charset="0"/>
                  </a:rPr>
                  <a:t>2      </a:t>
                </a:r>
                <a:r>
                  <a:rPr lang="en-US" altLang="zh-CN" sz="1400" dirty="0">
                    <a:latin typeface="Times New Roman" panose="02020603050405020304" pitchFamily="18" charset="0"/>
                    <a:cs typeface="Times New Roman" panose="02020603050405020304" pitchFamily="18" charset="0"/>
                  </a:rPr>
                  <a:t>S</a:t>
                </a:r>
                <a:r>
                  <a:rPr lang="en-US" altLang="zh-CN" sz="1400" baseline="-25000" dirty="0">
                    <a:latin typeface="Times New Roman" panose="02020603050405020304" pitchFamily="18" charset="0"/>
                    <a:cs typeface="Times New Roman" panose="02020603050405020304" pitchFamily="18" charset="0"/>
                  </a:rPr>
                  <a:t>3 </a:t>
                </a:r>
                <a:endParaRPr lang="zh-CN" altLang="en-US" sz="1400" dirty="0"/>
              </a:p>
            </p:txBody>
          </p:sp>
        </p:grpSp>
        <p:sp>
          <p:nvSpPr>
            <p:cNvPr id="69" name="TextBox 68"/>
            <p:cNvSpPr txBox="1"/>
            <p:nvPr/>
          </p:nvSpPr>
          <p:spPr>
            <a:xfrm>
              <a:off x="1896642" y="1927861"/>
              <a:ext cx="1974317" cy="179536"/>
            </a:xfrm>
            <a:prstGeom prst="rect">
              <a:avLst/>
            </a:prstGeom>
            <a:noFill/>
          </p:spPr>
          <p:txBody>
            <a:bodyPr wrap="square" lIns="0" tIns="0" rIns="0" bIns="0" rtlCol="0">
              <a:spAutoFit/>
            </a:bodyPr>
            <a:lstStyle/>
            <a:p>
              <a:pPr algn="ctr">
                <a:lnSpc>
                  <a:spcPts val="1400"/>
                </a:lnSpc>
              </a:pPr>
              <a:r>
                <a:rPr lang="en-US" altLang="zh-CN" sz="1400" dirty="0">
                  <a:latin typeface="Times New Roman" panose="02020603050405020304" pitchFamily="18" charset="0"/>
                  <a:cs typeface="Times New Roman" panose="02020603050405020304" pitchFamily="18" charset="0"/>
                </a:rPr>
                <a:t>B</a:t>
              </a:r>
              <a:r>
                <a:rPr lang="en-US" altLang="zh-CN" sz="1400" baseline="-25000" dirty="0">
                  <a:latin typeface="Times New Roman" panose="02020603050405020304" pitchFamily="18" charset="0"/>
                  <a:cs typeface="Times New Roman" panose="02020603050405020304" pitchFamily="18" charset="0"/>
                </a:rPr>
                <a:t>0  </a:t>
              </a:r>
              <a:r>
                <a:rPr lang="en-US" altLang="zh-CN" sz="1400" dirty="0">
                  <a:latin typeface="Times New Roman" panose="02020603050405020304" pitchFamily="18" charset="0"/>
                  <a:cs typeface="Times New Roman" panose="02020603050405020304" pitchFamily="18" charset="0"/>
                </a:rPr>
                <a:t>A</a:t>
              </a:r>
              <a:r>
                <a:rPr lang="en-US" altLang="zh-CN" sz="1400" baseline="-25000" dirty="0">
                  <a:latin typeface="Times New Roman" panose="02020603050405020304" pitchFamily="18" charset="0"/>
                  <a:cs typeface="Times New Roman" panose="02020603050405020304" pitchFamily="18" charset="0"/>
                </a:rPr>
                <a:t>0  </a:t>
              </a:r>
              <a:r>
                <a:rPr lang="en-US" altLang="zh-CN" sz="1400" dirty="0">
                  <a:latin typeface="Times New Roman" panose="02020603050405020304" pitchFamily="18" charset="0"/>
                  <a:cs typeface="Times New Roman" panose="02020603050405020304" pitchFamily="18" charset="0"/>
                </a:rPr>
                <a:t>B</a:t>
              </a:r>
              <a:r>
                <a:rPr lang="en-US" altLang="zh-CN" sz="1400" baseline="-25000" dirty="0">
                  <a:latin typeface="Times New Roman" panose="02020603050405020304" pitchFamily="18" charset="0"/>
                  <a:cs typeface="Times New Roman" panose="02020603050405020304" pitchFamily="18" charset="0"/>
                </a:rPr>
                <a:t>1  </a:t>
              </a:r>
              <a:r>
                <a:rPr lang="en-US" altLang="zh-CN" sz="1400" dirty="0">
                  <a:latin typeface="Times New Roman" panose="02020603050405020304" pitchFamily="18" charset="0"/>
                  <a:cs typeface="Times New Roman" panose="02020603050405020304" pitchFamily="18" charset="0"/>
                </a:rPr>
                <a:t>A</a:t>
              </a:r>
              <a:r>
                <a:rPr lang="en-US" altLang="zh-CN" sz="1400" baseline="-25000" dirty="0">
                  <a:latin typeface="Times New Roman" panose="02020603050405020304" pitchFamily="18" charset="0"/>
                  <a:cs typeface="Times New Roman" panose="02020603050405020304" pitchFamily="18" charset="0"/>
                </a:rPr>
                <a:t>1  </a:t>
              </a:r>
              <a:r>
                <a:rPr lang="en-US" altLang="zh-CN" sz="1400" dirty="0">
                  <a:latin typeface="Times New Roman" panose="02020603050405020304" pitchFamily="18" charset="0"/>
                  <a:cs typeface="Times New Roman" panose="02020603050405020304" pitchFamily="18" charset="0"/>
                </a:rPr>
                <a:t>B</a:t>
              </a:r>
              <a:r>
                <a:rPr lang="en-US" altLang="zh-CN" sz="1400" baseline="-25000" dirty="0">
                  <a:latin typeface="Times New Roman" panose="02020603050405020304" pitchFamily="18" charset="0"/>
                  <a:cs typeface="Times New Roman" panose="02020603050405020304" pitchFamily="18" charset="0"/>
                </a:rPr>
                <a:t>2  </a:t>
              </a:r>
              <a:r>
                <a:rPr lang="en-US" altLang="zh-CN" sz="1400" dirty="0">
                  <a:latin typeface="Times New Roman" panose="02020603050405020304" pitchFamily="18" charset="0"/>
                  <a:cs typeface="Times New Roman" panose="02020603050405020304" pitchFamily="18" charset="0"/>
                </a:rPr>
                <a:t>A</a:t>
              </a:r>
              <a:r>
                <a:rPr lang="en-US" altLang="zh-CN" sz="1400" baseline="-25000" dirty="0">
                  <a:latin typeface="Times New Roman" panose="02020603050405020304" pitchFamily="18" charset="0"/>
                  <a:cs typeface="Times New Roman" panose="02020603050405020304" pitchFamily="18" charset="0"/>
                </a:rPr>
                <a:t>2  </a:t>
              </a:r>
              <a:r>
                <a:rPr lang="en-US" altLang="zh-CN" sz="1400" dirty="0">
                  <a:latin typeface="Times New Roman" panose="02020603050405020304" pitchFamily="18" charset="0"/>
                  <a:cs typeface="Times New Roman" panose="02020603050405020304" pitchFamily="18" charset="0"/>
                </a:rPr>
                <a:t>B</a:t>
              </a:r>
              <a:r>
                <a:rPr lang="en-US" altLang="zh-CN" sz="1400" baseline="-25000" dirty="0">
                  <a:latin typeface="Times New Roman" panose="02020603050405020304" pitchFamily="18" charset="0"/>
                  <a:cs typeface="Times New Roman" panose="02020603050405020304" pitchFamily="18" charset="0"/>
                </a:rPr>
                <a:t>3  </a:t>
              </a:r>
              <a:r>
                <a:rPr lang="en-US" altLang="zh-CN" sz="1400" dirty="0">
                  <a:latin typeface="Times New Roman" panose="02020603050405020304" pitchFamily="18" charset="0"/>
                  <a:cs typeface="Times New Roman" panose="02020603050405020304" pitchFamily="18" charset="0"/>
                </a:rPr>
                <a:t>A</a:t>
              </a:r>
              <a:r>
                <a:rPr lang="en-US" altLang="zh-CN" sz="1400" baseline="-25000" dirty="0">
                  <a:latin typeface="Times New Roman" panose="02020603050405020304" pitchFamily="18" charset="0"/>
                  <a:cs typeface="Times New Roman" panose="02020603050405020304" pitchFamily="18" charset="0"/>
                </a:rPr>
                <a:t>3</a:t>
              </a:r>
              <a:endParaRPr lang="zh-CN" altLang="en-US" sz="1400" baseline="-25000" dirty="0">
                <a:latin typeface="Times New Roman" panose="02020603050405020304" pitchFamily="18" charset="0"/>
                <a:cs typeface="Times New Roman" panose="02020603050405020304" pitchFamily="18" charset="0"/>
              </a:endParaRPr>
            </a:p>
          </p:txBody>
        </p:sp>
        <p:sp>
          <p:nvSpPr>
            <p:cNvPr id="71" name="TextBox 70"/>
            <p:cNvSpPr txBox="1"/>
            <p:nvPr/>
          </p:nvSpPr>
          <p:spPr>
            <a:xfrm>
              <a:off x="4830342" y="1927861"/>
              <a:ext cx="1974317" cy="179536"/>
            </a:xfrm>
            <a:prstGeom prst="rect">
              <a:avLst/>
            </a:prstGeom>
            <a:noFill/>
          </p:spPr>
          <p:txBody>
            <a:bodyPr wrap="square" lIns="0" tIns="0" rIns="0" bIns="0" rtlCol="0">
              <a:spAutoFit/>
            </a:bodyPr>
            <a:lstStyle/>
            <a:p>
              <a:pPr algn="ctr">
                <a:lnSpc>
                  <a:spcPts val="1400"/>
                </a:lnSpc>
              </a:pPr>
              <a:r>
                <a:rPr lang="en-US" altLang="zh-CN" sz="1400" dirty="0">
                  <a:latin typeface="Times New Roman" panose="02020603050405020304" pitchFamily="18" charset="0"/>
                  <a:cs typeface="Times New Roman" panose="02020603050405020304" pitchFamily="18" charset="0"/>
                </a:rPr>
                <a:t>B</a:t>
              </a:r>
              <a:r>
                <a:rPr lang="en-US" altLang="zh-CN" sz="1400" baseline="-25000" dirty="0">
                  <a:latin typeface="Times New Roman" panose="02020603050405020304" pitchFamily="18" charset="0"/>
                  <a:cs typeface="Times New Roman" panose="02020603050405020304" pitchFamily="18" charset="0"/>
                </a:rPr>
                <a:t>4  </a:t>
              </a:r>
              <a:r>
                <a:rPr lang="en-US" altLang="zh-CN" sz="1400" dirty="0">
                  <a:latin typeface="Times New Roman" panose="02020603050405020304" pitchFamily="18" charset="0"/>
                  <a:cs typeface="Times New Roman" panose="02020603050405020304" pitchFamily="18" charset="0"/>
                </a:rPr>
                <a:t>A</a:t>
              </a:r>
              <a:r>
                <a:rPr lang="en-US" altLang="zh-CN" sz="1400" baseline="-25000" dirty="0">
                  <a:latin typeface="Times New Roman" panose="02020603050405020304" pitchFamily="18" charset="0"/>
                  <a:cs typeface="Times New Roman" panose="02020603050405020304" pitchFamily="18" charset="0"/>
                </a:rPr>
                <a:t>4  </a:t>
              </a:r>
              <a:r>
                <a:rPr lang="en-US" altLang="zh-CN" sz="1400" dirty="0">
                  <a:latin typeface="Times New Roman" panose="02020603050405020304" pitchFamily="18" charset="0"/>
                  <a:cs typeface="Times New Roman" panose="02020603050405020304" pitchFamily="18" charset="0"/>
                </a:rPr>
                <a:t>B</a:t>
              </a:r>
              <a:r>
                <a:rPr lang="en-US" altLang="zh-CN" sz="1400" baseline="-25000" dirty="0">
                  <a:latin typeface="Times New Roman" panose="02020603050405020304" pitchFamily="18" charset="0"/>
                  <a:cs typeface="Times New Roman" panose="02020603050405020304" pitchFamily="18" charset="0"/>
                </a:rPr>
                <a:t>5  </a:t>
              </a:r>
              <a:r>
                <a:rPr lang="en-US" altLang="zh-CN" sz="1400" dirty="0">
                  <a:latin typeface="Times New Roman" panose="02020603050405020304" pitchFamily="18" charset="0"/>
                  <a:cs typeface="Times New Roman" panose="02020603050405020304" pitchFamily="18" charset="0"/>
                </a:rPr>
                <a:t>A</a:t>
              </a:r>
              <a:r>
                <a:rPr lang="en-US" altLang="zh-CN" sz="1400" baseline="-25000" dirty="0">
                  <a:latin typeface="Times New Roman" panose="02020603050405020304" pitchFamily="18" charset="0"/>
                  <a:cs typeface="Times New Roman" panose="02020603050405020304" pitchFamily="18" charset="0"/>
                </a:rPr>
                <a:t>5  </a:t>
              </a:r>
              <a:r>
                <a:rPr lang="en-US" altLang="zh-CN" sz="1400" dirty="0">
                  <a:latin typeface="Times New Roman" panose="02020603050405020304" pitchFamily="18" charset="0"/>
                  <a:cs typeface="Times New Roman" panose="02020603050405020304" pitchFamily="18" charset="0"/>
                </a:rPr>
                <a:t>B</a:t>
              </a:r>
              <a:r>
                <a:rPr lang="en-US" altLang="zh-CN" sz="1400" baseline="-25000" dirty="0">
                  <a:latin typeface="Times New Roman" panose="02020603050405020304" pitchFamily="18" charset="0"/>
                  <a:cs typeface="Times New Roman" panose="02020603050405020304" pitchFamily="18" charset="0"/>
                </a:rPr>
                <a:t>6  </a:t>
              </a:r>
              <a:r>
                <a:rPr lang="en-US" altLang="zh-CN" sz="1400" dirty="0">
                  <a:latin typeface="Times New Roman" panose="02020603050405020304" pitchFamily="18" charset="0"/>
                  <a:cs typeface="Times New Roman" panose="02020603050405020304" pitchFamily="18" charset="0"/>
                </a:rPr>
                <a:t>A</a:t>
              </a:r>
              <a:r>
                <a:rPr lang="en-US" altLang="zh-CN" sz="1400" baseline="-25000" dirty="0">
                  <a:latin typeface="Times New Roman" panose="02020603050405020304" pitchFamily="18" charset="0"/>
                  <a:cs typeface="Times New Roman" panose="02020603050405020304" pitchFamily="18" charset="0"/>
                </a:rPr>
                <a:t>6  </a:t>
              </a:r>
              <a:r>
                <a:rPr lang="en-US" altLang="zh-CN" sz="1400" dirty="0">
                  <a:latin typeface="Times New Roman" panose="02020603050405020304" pitchFamily="18" charset="0"/>
                  <a:cs typeface="Times New Roman" panose="02020603050405020304" pitchFamily="18" charset="0"/>
                </a:rPr>
                <a:t>B</a:t>
              </a:r>
              <a:r>
                <a:rPr lang="en-US" altLang="zh-CN" sz="1400" baseline="-25000" dirty="0">
                  <a:latin typeface="Times New Roman" panose="02020603050405020304" pitchFamily="18" charset="0"/>
                  <a:cs typeface="Times New Roman" panose="02020603050405020304" pitchFamily="18" charset="0"/>
                </a:rPr>
                <a:t>7  </a:t>
              </a:r>
              <a:r>
                <a:rPr lang="en-US" altLang="zh-CN" sz="1400" dirty="0">
                  <a:latin typeface="Times New Roman" panose="02020603050405020304" pitchFamily="18" charset="0"/>
                  <a:cs typeface="Times New Roman" panose="02020603050405020304" pitchFamily="18" charset="0"/>
                </a:rPr>
                <a:t>A</a:t>
              </a:r>
              <a:r>
                <a:rPr lang="en-US" altLang="zh-CN" sz="1400" baseline="-25000" dirty="0">
                  <a:latin typeface="Times New Roman" panose="02020603050405020304" pitchFamily="18" charset="0"/>
                  <a:cs typeface="Times New Roman" panose="02020603050405020304" pitchFamily="18" charset="0"/>
                </a:rPr>
                <a:t>7</a:t>
              </a:r>
              <a:endParaRPr lang="zh-CN" altLang="en-US" sz="1400" baseline="-25000" dirty="0">
                <a:latin typeface="Times New Roman" panose="02020603050405020304" pitchFamily="18" charset="0"/>
                <a:cs typeface="Times New Roman" panose="02020603050405020304" pitchFamily="18" charset="0"/>
              </a:endParaRPr>
            </a:p>
          </p:txBody>
        </p:sp>
        <p:sp>
          <p:nvSpPr>
            <p:cNvPr id="72" name="矩形 71"/>
            <p:cNvSpPr/>
            <p:nvPr/>
          </p:nvSpPr>
          <p:spPr>
            <a:xfrm>
              <a:off x="2194970" y="3495794"/>
              <a:ext cx="1398140" cy="307777"/>
            </a:xfrm>
            <a:prstGeom prst="rect">
              <a:avLst/>
            </a:prstGeom>
          </p:spPr>
          <p:txBody>
            <a:bodyPr wrap="none">
              <a:spAutoFit/>
            </a:bodyPr>
            <a:lstStyle/>
            <a:p>
              <a:r>
                <a:rPr lang="en-US" altLang="zh-CN" sz="1400" dirty="0">
                  <a:latin typeface="Times New Roman" panose="02020603050405020304" pitchFamily="18" charset="0"/>
                  <a:cs typeface="Times New Roman" panose="02020603050405020304" pitchFamily="18" charset="0"/>
                </a:rPr>
                <a:t>S</a:t>
              </a:r>
              <a:r>
                <a:rPr lang="en-US" altLang="zh-CN" sz="1400" baseline="-25000" dirty="0">
                  <a:latin typeface="Times New Roman" panose="02020603050405020304" pitchFamily="18" charset="0"/>
                  <a:cs typeface="Times New Roman" panose="02020603050405020304" pitchFamily="18" charset="0"/>
                </a:rPr>
                <a:t>0      </a:t>
              </a:r>
              <a:r>
                <a:rPr lang="en-US" altLang="zh-CN" sz="1400" dirty="0">
                  <a:latin typeface="Times New Roman" panose="02020603050405020304" pitchFamily="18" charset="0"/>
                  <a:cs typeface="Times New Roman" panose="02020603050405020304" pitchFamily="18" charset="0"/>
                </a:rPr>
                <a:t>S</a:t>
              </a:r>
              <a:r>
                <a:rPr lang="en-US" altLang="zh-CN" sz="1400" baseline="-25000" dirty="0">
                  <a:latin typeface="Times New Roman" panose="02020603050405020304" pitchFamily="18" charset="0"/>
                  <a:cs typeface="Times New Roman" panose="02020603050405020304" pitchFamily="18" charset="0"/>
                </a:rPr>
                <a:t>1      </a:t>
              </a:r>
              <a:r>
                <a:rPr lang="en-US" altLang="zh-CN" sz="1400" dirty="0">
                  <a:latin typeface="Times New Roman" panose="02020603050405020304" pitchFamily="18" charset="0"/>
                  <a:cs typeface="Times New Roman" panose="02020603050405020304" pitchFamily="18" charset="0"/>
                </a:rPr>
                <a:t>S</a:t>
              </a:r>
              <a:r>
                <a:rPr lang="en-US" altLang="zh-CN" sz="1400" baseline="-25000" dirty="0">
                  <a:latin typeface="Times New Roman" panose="02020603050405020304" pitchFamily="18" charset="0"/>
                  <a:cs typeface="Times New Roman" panose="02020603050405020304" pitchFamily="18" charset="0"/>
                </a:rPr>
                <a:t>2      </a:t>
              </a:r>
              <a:r>
                <a:rPr lang="en-US" altLang="zh-CN" sz="1400" dirty="0">
                  <a:latin typeface="Times New Roman" panose="02020603050405020304" pitchFamily="18" charset="0"/>
                  <a:cs typeface="Times New Roman" panose="02020603050405020304" pitchFamily="18" charset="0"/>
                </a:rPr>
                <a:t>S</a:t>
              </a:r>
              <a:r>
                <a:rPr lang="en-US" altLang="zh-CN" sz="1400" baseline="-25000" dirty="0">
                  <a:latin typeface="Times New Roman" panose="02020603050405020304" pitchFamily="18" charset="0"/>
                  <a:cs typeface="Times New Roman" panose="02020603050405020304" pitchFamily="18" charset="0"/>
                </a:rPr>
                <a:t>3 </a:t>
              </a:r>
              <a:endParaRPr lang="zh-CN" altLang="en-US" sz="1400" dirty="0"/>
            </a:p>
          </p:txBody>
        </p:sp>
        <p:sp>
          <p:nvSpPr>
            <p:cNvPr id="73" name="矩形 72"/>
            <p:cNvSpPr/>
            <p:nvPr/>
          </p:nvSpPr>
          <p:spPr>
            <a:xfrm>
              <a:off x="5113430" y="3495794"/>
              <a:ext cx="1398140" cy="307777"/>
            </a:xfrm>
            <a:prstGeom prst="rect">
              <a:avLst/>
            </a:prstGeom>
          </p:spPr>
          <p:txBody>
            <a:bodyPr wrap="none">
              <a:spAutoFit/>
            </a:bodyPr>
            <a:lstStyle/>
            <a:p>
              <a:r>
                <a:rPr lang="en-US" altLang="zh-CN" sz="1400" dirty="0">
                  <a:latin typeface="Times New Roman" panose="02020603050405020304" pitchFamily="18" charset="0"/>
                  <a:cs typeface="Times New Roman" panose="02020603050405020304" pitchFamily="18" charset="0"/>
                </a:rPr>
                <a:t>S</a:t>
              </a:r>
              <a:r>
                <a:rPr lang="en-US" altLang="zh-CN" sz="1400" baseline="-25000" dirty="0">
                  <a:latin typeface="Times New Roman" panose="02020603050405020304" pitchFamily="18" charset="0"/>
                  <a:cs typeface="Times New Roman" panose="02020603050405020304" pitchFamily="18" charset="0"/>
                </a:rPr>
                <a:t>4      </a:t>
              </a:r>
              <a:r>
                <a:rPr lang="en-US" altLang="zh-CN" sz="1400" dirty="0">
                  <a:latin typeface="Times New Roman" panose="02020603050405020304" pitchFamily="18" charset="0"/>
                  <a:cs typeface="Times New Roman" panose="02020603050405020304" pitchFamily="18" charset="0"/>
                </a:rPr>
                <a:t>S</a:t>
              </a:r>
              <a:r>
                <a:rPr lang="en-US" altLang="zh-CN" sz="1400" baseline="-25000" dirty="0">
                  <a:latin typeface="Times New Roman" panose="02020603050405020304" pitchFamily="18" charset="0"/>
                  <a:cs typeface="Times New Roman" panose="02020603050405020304" pitchFamily="18" charset="0"/>
                </a:rPr>
                <a:t>5      </a:t>
              </a:r>
              <a:r>
                <a:rPr lang="en-US" altLang="zh-CN" sz="1400" dirty="0">
                  <a:latin typeface="Times New Roman" panose="02020603050405020304" pitchFamily="18" charset="0"/>
                  <a:cs typeface="Times New Roman" panose="02020603050405020304" pitchFamily="18" charset="0"/>
                </a:rPr>
                <a:t>S</a:t>
              </a:r>
              <a:r>
                <a:rPr lang="en-US" altLang="zh-CN" sz="1400" baseline="-25000" dirty="0">
                  <a:latin typeface="Times New Roman" panose="02020603050405020304" pitchFamily="18" charset="0"/>
                  <a:cs typeface="Times New Roman" panose="02020603050405020304" pitchFamily="18" charset="0"/>
                </a:rPr>
                <a:t>6      </a:t>
              </a:r>
              <a:r>
                <a:rPr lang="en-US" altLang="zh-CN" sz="1400" dirty="0">
                  <a:latin typeface="Times New Roman" panose="02020603050405020304" pitchFamily="18" charset="0"/>
                  <a:cs typeface="Times New Roman" panose="02020603050405020304" pitchFamily="18" charset="0"/>
                </a:rPr>
                <a:t>S</a:t>
              </a:r>
              <a:r>
                <a:rPr lang="en-US" altLang="zh-CN" sz="1400" baseline="-25000" dirty="0">
                  <a:latin typeface="Times New Roman" panose="02020603050405020304" pitchFamily="18" charset="0"/>
                  <a:cs typeface="Times New Roman" panose="02020603050405020304" pitchFamily="18" charset="0"/>
                </a:rPr>
                <a:t>7 </a:t>
              </a:r>
              <a:endParaRPr lang="zh-CN" altLang="en-US" sz="1400" dirty="0"/>
            </a:p>
          </p:txBody>
        </p:sp>
        <p:sp>
          <p:nvSpPr>
            <p:cNvPr id="74" name="矩形 73"/>
            <p:cNvSpPr/>
            <p:nvPr/>
          </p:nvSpPr>
          <p:spPr>
            <a:xfrm>
              <a:off x="1298595" y="2642354"/>
              <a:ext cx="287258" cy="338554"/>
            </a:xfrm>
            <a:prstGeom prst="rect">
              <a:avLst/>
            </a:prstGeom>
          </p:spPr>
          <p:txBody>
            <a:bodyPr wrap="none">
              <a:spAutoFit/>
            </a:bodyPr>
            <a:lstStyle/>
            <a:p>
              <a:r>
                <a:rPr lang="en-US" altLang="zh-CN" sz="1600" dirty="0">
                  <a:latin typeface="Times New Roman" panose="02020603050405020304" pitchFamily="18" charset="0"/>
                  <a:cs typeface="Times New Roman" panose="02020603050405020304" pitchFamily="18" charset="0"/>
                </a:rPr>
                <a:t>0</a:t>
              </a:r>
              <a:endParaRPr lang="zh-CN" altLang="en-US" sz="1600" dirty="0"/>
            </a:p>
          </p:txBody>
        </p:sp>
        <p:sp>
          <p:nvSpPr>
            <p:cNvPr id="75" name="矩形 74"/>
            <p:cNvSpPr/>
            <p:nvPr/>
          </p:nvSpPr>
          <p:spPr>
            <a:xfrm>
              <a:off x="7127895" y="2581394"/>
              <a:ext cx="389850" cy="338554"/>
            </a:xfrm>
            <a:prstGeom prst="rect">
              <a:avLst/>
            </a:prstGeom>
          </p:spPr>
          <p:txBody>
            <a:bodyPr wrap="none">
              <a:spAutoFit/>
            </a:bodyPr>
            <a:lstStyle/>
            <a:p>
              <a:r>
                <a:rPr lang="en-US" altLang="zh-CN" sz="1600" dirty="0">
                  <a:latin typeface="Times New Roman" panose="02020603050405020304" pitchFamily="18" charset="0"/>
                  <a:cs typeface="Times New Roman" panose="02020603050405020304" pitchFamily="18" charset="0"/>
                </a:rPr>
                <a:t>C</a:t>
              </a:r>
              <a:r>
                <a:rPr lang="en-US" altLang="zh-CN" sz="1600" baseline="-25000" dirty="0">
                  <a:latin typeface="Times New Roman" panose="02020603050405020304" pitchFamily="18" charset="0"/>
                  <a:cs typeface="Times New Roman" panose="02020603050405020304" pitchFamily="18" charset="0"/>
                </a:rPr>
                <a:t>7</a:t>
              </a:r>
              <a:endParaRPr lang="zh-CN" altLang="en-US" sz="1600" baseline="-25000" dirty="0"/>
            </a:p>
          </p:txBody>
        </p:sp>
      </p:grpSp>
      <p:cxnSp>
        <p:nvCxnSpPr>
          <p:cNvPr id="77" name="直接连接符 76"/>
          <p:cNvCxnSpPr/>
          <p:nvPr/>
        </p:nvCxnSpPr>
        <p:spPr>
          <a:xfrm>
            <a:off x="4029168" y="2575560"/>
            <a:ext cx="698410" cy="0"/>
          </a:xfrm>
          <a:prstGeom prst="line">
            <a:avLst/>
          </a:prstGeom>
          <a:ln w="57150">
            <a:solidFill>
              <a:srgbClr val="FF00FF"/>
            </a:solidFill>
          </a:ln>
        </p:spPr>
        <p:style>
          <a:lnRef idx="1">
            <a:schemeClr val="accent1"/>
          </a:lnRef>
          <a:fillRef idx="0">
            <a:schemeClr val="accent1"/>
          </a:fillRef>
          <a:effectRef idx="0">
            <a:schemeClr val="accent1"/>
          </a:effectRef>
          <a:fontRef idx="minor">
            <a:schemeClr val="tx1"/>
          </a:fontRef>
        </p:style>
      </p:cxnSp>
      <p:grpSp>
        <p:nvGrpSpPr>
          <p:cNvPr id="81" name="组合 80"/>
          <p:cNvGrpSpPr/>
          <p:nvPr/>
        </p:nvGrpSpPr>
        <p:grpSpPr>
          <a:xfrm>
            <a:off x="1215894" y="3725974"/>
            <a:ext cx="6359501" cy="734514"/>
            <a:chOff x="3602255" y="2997428"/>
            <a:chExt cx="6359501" cy="734514"/>
          </a:xfrm>
        </p:grpSpPr>
        <p:sp>
          <p:nvSpPr>
            <p:cNvPr id="82" name="圆角矩形 81"/>
            <p:cNvSpPr/>
            <p:nvPr/>
          </p:nvSpPr>
          <p:spPr>
            <a:xfrm>
              <a:off x="3773944" y="3256907"/>
              <a:ext cx="6187812" cy="475035"/>
            </a:xfrm>
            <a:prstGeom prst="roundRect">
              <a:avLst>
                <a:gd name="adj" fmla="val 4386"/>
              </a:avLst>
            </a:prstGeom>
            <a:solidFill>
              <a:schemeClr val="bg1"/>
            </a:solidFill>
            <a:ln w="28575">
              <a:solidFill>
                <a:srgbClr val="336699"/>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zh-CN" altLang="en-US" b="1" dirty="0">
                  <a:solidFill>
                    <a:srgbClr val="6600FF"/>
                  </a:solidFill>
                  <a:latin typeface="楷体" panose="02010609060101010101" pitchFamily="49" charset="-122"/>
                  <a:ea typeface="楷体" panose="02010609060101010101" pitchFamily="49" charset="-122"/>
                </a:rPr>
                <a:t>  串行进位在级数较多时，同样存在运算速度较慢的问题！</a:t>
              </a:r>
              <a:endParaRPr lang="zh-CN" altLang="en-US" b="1" dirty="0">
                <a:solidFill>
                  <a:srgbClr val="6600FF"/>
                </a:solidFill>
                <a:latin typeface="楷体" panose="02010609060101010101" pitchFamily="49" charset="-122"/>
                <a:ea typeface="楷体" panose="02010609060101010101" pitchFamily="49" charset="-122"/>
              </a:endParaRPr>
            </a:p>
            <a:p>
              <a:endParaRPr lang="zh-CN" altLang="en-US" b="1" dirty="0">
                <a:solidFill>
                  <a:srgbClr val="6600FF"/>
                </a:solidFill>
                <a:latin typeface="楷体" panose="02010609060101010101" pitchFamily="49" charset="-122"/>
                <a:ea typeface="楷体" panose="02010609060101010101" pitchFamily="49" charset="-122"/>
              </a:endParaRPr>
            </a:p>
          </p:txBody>
        </p:sp>
        <p:pic>
          <p:nvPicPr>
            <p:cNvPr id="83" name="Picture 7" descr="ç¸å³å¾ç"/>
            <p:cNvPicPr>
              <a:picLocks noChangeAspect="1" noChangeArrowheads="1"/>
            </p:cNvPicPr>
            <p:nvPr/>
          </p:nvPicPr>
          <p:blipFill>
            <a:blip r:embed="rId2" cstate="print"/>
            <a:srcRect/>
            <a:stretch>
              <a:fillRect/>
            </a:stretch>
          </p:blipFill>
          <p:spPr bwMode="auto">
            <a:xfrm>
              <a:off x="3602255" y="2997428"/>
              <a:ext cx="464550" cy="441158"/>
            </a:xfrm>
            <a:prstGeom prst="rect">
              <a:avLst/>
            </a:prstGeom>
            <a:noFill/>
          </p:spPr>
        </p:pic>
      </p:grpSp>
      <p:grpSp>
        <p:nvGrpSpPr>
          <p:cNvPr id="84" name="组合 48"/>
          <p:cNvGrpSpPr/>
          <p:nvPr/>
        </p:nvGrpSpPr>
        <p:grpSpPr>
          <a:xfrm>
            <a:off x="1189640" y="4594684"/>
            <a:ext cx="6408058" cy="572048"/>
            <a:chOff x="717089" y="4570114"/>
            <a:chExt cx="6408058" cy="572048"/>
          </a:xfrm>
        </p:grpSpPr>
        <p:sp>
          <p:nvSpPr>
            <p:cNvPr id="85" name="圆角矩形 84"/>
            <p:cNvSpPr/>
            <p:nvPr/>
          </p:nvSpPr>
          <p:spPr>
            <a:xfrm>
              <a:off x="936928" y="4676274"/>
              <a:ext cx="6188219" cy="465888"/>
            </a:xfrm>
            <a:prstGeom prst="roundRect">
              <a:avLst>
                <a:gd name="adj" fmla="val 4386"/>
              </a:avLst>
            </a:prstGeom>
            <a:solidFill>
              <a:schemeClr val="bg1"/>
            </a:solidFill>
            <a:ln w="28575">
              <a:solidFill>
                <a:srgbClr val="336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88900"/>
              <a:r>
                <a:rPr lang="zh-CN" altLang="en-US" b="1" dirty="0">
                  <a:solidFill>
                    <a:srgbClr val="6600FF"/>
                  </a:solidFill>
                  <a:latin typeface="楷体" panose="02010609060101010101" pitchFamily="49" charset="-122"/>
                  <a:ea typeface="楷体" panose="02010609060101010101" pitchFamily="49" charset="-122"/>
                </a:rPr>
                <a:t> 通过多个运算器的并联方式进行连接！</a:t>
              </a:r>
              <a:endParaRPr lang="zh-CN" altLang="en-US" b="1" dirty="0">
                <a:solidFill>
                  <a:srgbClr val="0000FF"/>
                </a:solidFill>
                <a:latin typeface="楷体" panose="02010609060101010101" pitchFamily="49" charset="-122"/>
                <a:ea typeface="楷体" panose="02010609060101010101" pitchFamily="49" charset="-122"/>
              </a:endParaRPr>
            </a:p>
          </p:txBody>
        </p:sp>
        <p:pic>
          <p:nvPicPr>
            <p:cNvPr id="86" name="Picture 6"/>
            <p:cNvPicPr>
              <a:picLocks noChangeAspect="1" noChangeArrowheads="1"/>
            </p:cNvPicPr>
            <p:nvPr/>
          </p:nvPicPr>
          <p:blipFill>
            <a:blip r:embed="rId3" cstate="print"/>
            <a:srcRect/>
            <a:stretch>
              <a:fillRect/>
            </a:stretch>
          </p:blipFill>
          <p:spPr bwMode="auto">
            <a:xfrm>
              <a:off x="717089" y="4570114"/>
              <a:ext cx="413836" cy="401687"/>
            </a:xfrm>
            <a:prstGeom prst="rect">
              <a:avLst/>
            </a:prstGeom>
            <a:noFill/>
            <a:ln w="9525">
              <a:noFill/>
              <a:miter lim="800000"/>
              <a:headEnd/>
              <a:tailEnd/>
            </a:ln>
          </p:spPr>
        </p:pic>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76"/>
                                        </p:tgtEl>
                                        <p:attrNameLst>
                                          <p:attrName>style.visibility</p:attrName>
                                        </p:attrNameLst>
                                      </p:cBhvr>
                                      <p:to>
                                        <p:strVal val="visible"/>
                                      </p:to>
                                    </p:set>
                                    <p:animEffect transition="in" filter="fade">
                                      <p:cBhvr>
                                        <p:cTn id="13" dur="1000"/>
                                        <p:tgtEl>
                                          <p:spTgt spid="76"/>
                                        </p:tgtEl>
                                      </p:cBhvr>
                                    </p:animEffect>
                                    <p:anim calcmode="lin" valueType="num">
                                      <p:cBhvr>
                                        <p:cTn id="14" dur="1000" fill="hold"/>
                                        <p:tgtEl>
                                          <p:spTgt spid="76"/>
                                        </p:tgtEl>
                                        <p:attrNameLst>
                                          <p:attrName>ppt_x</p:attrName>
                                        </p:attrNameLst>
                                      </p:cBhvr>
                                      <p:tavLst>
                                        <p:tav tm="0">
                                          <p:val>
                                            <p:strVal val="#ppt_x"/>
                                          </p:val>
                                        </p:tav>
                                        <p:tav tm="100000">
                                          <p:val>
                                            <p:strVal val="#ppt_x"/>
                                          </p:val>
                                        </p:tav>
                                      </p:tavLst>
                                    </p:anim>
                                    <p:anim calcmode="lin" valueType="num">
                                      <p:cBhvr>
                                        <p:cTn id="15" dur="1000" fill="hold"/>
                                        <p:tgtEl>
                                          <p:spTgt spid="76"/>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77"/>
                                        </p:tgtEl>
                                        <p:attrNameLst>
                                          <p:attrName>style.visibility</p:attrName>
                                        </p:attrNameLst>
                                      </p:cBhvr>
                                      <p:to>
                                        <p:strVal val="visible"/>
                                      </p:to>
                                    </p:set>
                                    <p:animEffect transition="in" filter="fade">
                                      <p:cBhvr>
                                        <p:cTn id="19" dur="1000"/>
                                        <p:tgtEl>
                                          <p:spTgt spid="77"/>
                                        </p:tgtEl>
                                      </p:cBhvr>
                                    </p:animEffect>
                                    <p:anim calcmode="lin" valueType="num">
                                      <p:cBhvr>
                                        <p:cTn id="20" dur="1000" fill="hold"/>
                                        <p:tgtEl>
                                          <p:spTgt spid="77"/>
                                        </p:tgtEl>
                                        <p:attrNameLst>
                                          <p:attrName>ppt_x</p:attrName>
                                        </p:attrNameLst>
                                      </p:cBhvr>
                                      <p:tavLst>
                                        <p:tav tm="0">
                                          <p:val>
                                            <p:strVal val="#ppt_x"/>
                                          </p:val>
                                        </p:tav>
                                        <p:tav tm="100000">
                                          <p:val>
                                            <p:strVal val="#ppt_x"/>
                                          </p:val>
                                        </p:tav>
                                      </p:tavLst>
                                    </p:anim>
                                    <p:anim calcmode="lin" valueType="num">
                                      <p:cBhvr>
                                        <p:cTn id="21" dur="1000" fill="hold"/>
                                        <p:tgtEl>
                                          <p:spTgt spid="77"/>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81"/>
                                        </p:tgtEl>
                                        <p:attrNameLst>
                                          <p:attrName>style.visibility</p:attrName>
                                        </p:attrNameLst>
                                      </p:cBhvr>
                                      <p:to>
                                        <p:strVal val="visible"/>
                                      </p:to>
                                    </p:set>
                                    <p:animEffect transition="in" filter="fade">
                                      <p:cBhvr>
                                        <p:cTn id="25" dur="1000"/>
                                        <p:tgtEl>
                                          <p:spTgt spid="81"/>
                                        </p:tgtEl>
                                      </p:cBhvr>
                                    </p:animEffect>
                                    <p:anim calcmode="lin" valueType="num">
                                      <p:cBhvr>
                                        <p:cTn id="26" dur="1000" fill="hold"/>
                                        <p:tgtEl>
                                          <p:spTgt spid="81"/>
                                        </p:tgtEl>
                                        <p:attrNameLst>
                                          <p:attrName>ppt_x</p:attrName>
                                        </p:attrNameLst>
                                      </p:cBhvr>
                                      <p:tavLst>
                                        <p:tav tm="0">
                                          <p:val>
                                            <p:strVal val="#ppt_x"/>
                                          </p:val>
                                        </p:tav>
                                        <p:tav tm="100000">
                                          <p:val>
                                            <p:strVal val="#ppt_x"/>
                                          </p:val>
                                        </p:tav>
                                      </p:tavLst>
                                    </p:anim>
                                    <p:anim calcmode="lin" valueType="num">
                                      <p:cBhvr>
                                        <p:cTn id="27" dur="1000" fill="hold"/>
                                        <p:tgtEl>
                                          <p:spTgt spid="81"/>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nodeType="afterEffect">
                                  <p:stCondLst>
                                    <p:cond delay="0"/>
                                  </p:stCondLst>
                                  <p:childTnLst>
                                    <p:set>
                                      <p:cBhvr>
                                        <p:cTn id="30" dur="1" fill="hold">
                                          <p:stCondLst>
                                            <p:cond delay="0"/>
                                          </p:stCondLst>
                                        </p:cTn>
                                        <p:tgtEl>
                                          <p:spTgt spid="84"/>
                                        </p:tgtEl>
                                        <p:attrNameLst>
                                          <p:attrName>style.visibility</p:attrName>
                                        </p:attrNameLst>
                                      </p:cBhvr>
                                      <p:to>
                                        <p:strVal val="visible"/>
                                      </p:to>
                                    </p:set>
                                    <p:animEffect transition="in" filter="fade">
                                      <p:cBhvr>
                                        <p:cTn id="31" dur="1000"/>
                                        <p:tgtEl>
                                          <p:spTgt spid="84"/>
                                        </p:tgtEl>
                                      </p:cBhvr>
                                    </p:animEffect>
                                    <p:anim calcmode="lin" valueType="num">
                                      <p:cBhvr>
                                        <p:cTn id="32" dur="1000" fill="hold"/>
                                        <p:tgtEl>
                                          <p:spTgt spid="84"/>
                                        </p:tgtEl>
                                        <p:attrNameLst>
                                          <p:attrName>ppt_x</p:attrName>
                                        </p:attrNameLst>
                                      </p:cBhvr>
                                      <p:tavLst>
                                        <p:tav tm="0">
                                          <p:val>
                                            <p:strVal val="#ppt_x"/>
                                          </p:val>
                                        </p:tav>
                                        <p:tav tm="100000">
                                          <p:val>
                                            <p:strVal val="#ppt_x"/>
                                          </p:val>
                                        </p:tav>
                                      </p:tavLst>
                                    </p:anim>
                                    <p:anim calcmode="lin" valueType="num">
                                      <p:cBhvr>
                                        <p:cTn id="33" dur="1000" fill="hold"/>
                                        <p:tgtEl>
                                          <p:spTgt spid="8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38"/>
          <p:cNvSpPr/>
          <p:nvPr/>
        </p:nvSpPr>
        <p:spPr>
          <a:xfrm>
            <a:off x="1775402" y="2982773"/>
            <a:ext cx="5488689" cy="523220"/>
          </a:xfrm>
          <a:prstGeom prst="rect">
            <a:avLst/>
          </a:prstGeom>
        </p:spPr>
        <p:txBody>
          <a:bodyPr wrap="square">
            <a:sp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p>
            <a:pPr algn="ctr">
              <a:spcBef>
                <a:spcPts val="600"/>
              </a:spcBef>
            </a:pPr>
            <a:r>
              <a:rPr lang="en-US" altLang="zh-CN"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4.5 </a:t>
            </a:r>
            <a:r>
              <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组合逻辑电路中的竞争与冒险</a:t>
            </a:r>
            <a:endParaRPr lang="zh-CN" altLang="en-US" sz="2800" dirty="0">
              <a:ln w="12700">
                <a:solidFill>
                  <a:srgbClr val="7030A0"/>
                </a:solidFill>
                <a:prstDash val="solid"/>
              </a:ln>
              <a:solidFill>
                <a:srgbClr val="6600FF"/>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grpSp>
        <p:nvGrpSpPr>
          <p:cNvPr id="40" name="组合 39"/>
          <p:cNvGrpSpPr/>
          <p:nvPr/>
        </p:nvGrpSpPr>
        <p:grpSpPr>
          <a:xfrm>
            <a:off x="1101090" y="1824567"/>
            <a:ext cx="1371600" cy="760000"/>
            <a:chOff x="910590" y="1565910"/>
            <a:chExt cx="1371600" cy="684000"/>
          </a:xfrm>
        </p:grpSpPr>
        <p:grpSp>
          <p:nvGrpSpPr>
            <p:cNvPr id="41" name="组合 40"/>
            <p:cNvGrpSpPr/>
            <p:nvPr/>
          </p:nvGrpSpPr>
          <p:grpSpPr>
            <a:xfrm>
              <a:off x="910590" y="1699260"/>
              <a:ext cx="1371600" cy="99060"/>
              <a:chOff x="910590" y="1699260"/>
              <a:chExt cx="1371600" cy="99060"/>
            </a:xfrm>
          </p:grpSpPr>
          <p:cxnSp>
            <p:nvCxnSpPr>
              <p:cNvPr id="54" name="直接连接符 53"/>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55" name="直接连接符 54"/>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51" name="组合 50"/>
            <p:cNvGrpSpPr/>
            <p:nvPr/>
          </p:nvGrpSpPr>
          <p:grpSpPr>
            <a:xfrm rot="5400000">
              <a:off x="728610" y="1866000"/>
              <a:ext cx="684000" cy="83820"/>
              <a:chOff x="910590" y="1699260"/>
              <a:chExt cx="1371600" cy="99060"/>
            </a:xfrm>
          </p:grpSpPr>
          <p:cxnSp>
            <p:nvCxnSpPr>
              <p:cNvPr id="52" name="直接连接符 51"/>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53" name="直接连接符 52"/>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grpSp>
        <p:nvGrpSpPr>
          <p:cNvPr id="56" name="组合 55"/>
          <p:cNvGrpSpPr/>
          <p:nvPr/>
        </p:nvGrpSpPr>
        <p:grpSpPr>
          <a:xfrm rot="10800000">
            <a:off x="6442710" y="3136900"/>
            <a:ext cx="1371600" cy="760000"/>
            <a:chOff x="910590" y="1565910"/>
            <a:chExt cx="1371600" cy="684000"/>
          </a:xfrm>
        </p:grpSpPr>
        <p:grpSp>
          <p:nvGrpSpPr>
            <p:cNvPr id="57" name="组合 35"/>
            <p:cNvGrpSpPr/>
            <p:nvPr/>
          </p:nvGrpSpPr>
          <p:grpSpPr>
            <a:xfrm>
              <a:off x="910590" y="1699260"/>
              <a:ext cx="1371600" cy="99060"/>
              <a:chOff x="910590" y="1699260"/>
              <a:chExt cx="1371600" cy="99060"/>
            </a:xfrm>
          </p:grpSpPr>
          <p:cxnSp>
            <p:nvCxnSpPr>
              <p:cNvPr id="61" name="直接连接符 60"/>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62" name="直接连接符 61"/>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nvGrpSpPr>
            <p:cNvPr id="58" name="组合 36"/>
            <p:cNvGrpSpPr/>
            <p:nvPr/>
          </p:nvGrpSpPr>
          <p:grpSpPr>
            <a:xfrm rot="5400000">
              <a:off x="728610" y="1866000"/>
              <a:ext cx="684000" cy="83820"/>
              <a:chOff x="910590" y="1699260"/>
              <a:chExt cx="1371600" cy="99060"/>
            </a:xfrm>
          </p:grpSpPr>
          <p:cxnSp>
            <p:nvCxnSpPr>
              <p:cNvPr id="59" name="直接连接符 58"/>
              <p:cNvCxnSpPr/>
              <p:nvPr/>
            </p:nvCxnSpPr>
            <p:spPr>
              <a:xfrm>
                <a:off x="910590" y="169926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cxnSp>
            <p:nvCxnSpPr>
              <p:cNvPr id="60" name="直接连接符 59"/>
              <p:cNvCxnSpPr/>
              <p:nvPr/>
            </p:nvCxnSpPr>
            <p:spPr>
              <a:xfrm>
                <a:off x="910590" y="1798320"/>
                <a:ext cx="1371600" cy="0"/>
              </a:xfrm>
              <a:prstGeom prst="line">
                <a:avLst/>
              </a:prstGeom>
              <a:ln>
                <a:solidFill>
                  <a:srgbClr val="00B0F0"/>
                </a:solidFill>
              </a:ln>
            </p:spPr>
            <p:style>
              <a:lnRef idx="3">
                <a:schemeClr val="accent2"/>
              </a:lnRef>
              <a:fillRef idx="0">
                <a:schemeClr val="accent2"/>
              </a:fillRef>
              <a:effectRef idx="2">
                <a:schemeClr val="accent2"/>
              </a:effectRef>
              <a:fontRef idx="minor">
                <a:schemeClr val="tx1"/>
              </a:fontRef>
            </p:style>
          </p:cxnSp>
        </p:grpSp>
      </p:grpSp>
      <p:sp>
        <p:nvSpPr>
          <p:cNvPr id="63" name="文本框 6"/>
          <p:cNvSpPr txBox="1"/>
          <p:nvPr/>
        </p:nvSpPr>
        <p:spPr>
          <a:xfrm>
            <a:off x="1393722" y="2157416"/>
            <a:ext cx="6150077" cy="746358"/>
          </a:xfrm>
          <a:prstGeom prst="rect">
            <a:avLst/>
          </a:prstGeom>
          <a:noFill/>
        </p:spPr>
        <p:txBody>
          <a:bodyPr wrap="square" rtlCol="0">
            <a:spAutoFit/>
          </a:bodyPr>
          <a:lstStyle/>
          <a:p>
            <a:pPr algn="ctr">
              <a:lnSpc>
                <a:spcPct val="125000"/>
              </a:lnSpc>
            </a:pP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第</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4</a:t>
            </a:r>
            <a:r>
              <a:rPr lang="zh-CN"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章</a:t>
            </a:r>
            <a:r>
              <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  </a:t>
            </a:r>
            <a:r>
              <a:rPr lang="zh-CN" altLang="en-US"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rPr>
              <a:t>组合逻辑电路</a:t>
            </a:r>
            <a:endParaRPr lang="en-US" altLang="zh-CN" sz="3400" dirty="0">
              <a:ln w="12700">
                <a:solidFill>
                  <a:srgbClr val="7030A0"/>
                </a:solidFill>
                <a:prstDash val="solid"/>
              </a:ln>
              <a:solidFill>
                <a:schemeClr val="tx1">
                  <a:lumMod val="95000"/>
                  <a:lumOff val="5000"/>
                </a:schemeClr>
              </a:solidFill>
              <a:effectLst>
                <a:outerShdw blurRad="41275" dist="20320" dir="1800000" algn="tl" rotWithShape="0">
                  <a:srgbClr val="000000">
                    <a:alpha val="40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p:transition spd="slow">
    <p:randomBar dir="vert"/>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6"/>
          <p:cNvSpPr>
            <a:spLocks noChangeArrowheads="1"/>
          </p:cNvSpPr>
          <p:nvPr/>
        </p:nvSpPr>
        <p:spPr bwMode="auto">
          <a:xfrm>
            <a:off x="1858645" y="701675"/>
            <a:ext cx="4946650" cy="523220"/>
          </a:xfrm>
          <a:prstGeom prst="rect">
            <a:avLst/>
          </a:prstGeom>
          <a:noFill/>
          <a:ln w="9525">
            <a:noFill/>
            <a:miter lim="800000"/>
          </a:ln>
        </p:spPr>
        <p:txBody>
          <a:bodyPr>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defRPr/>
            </a:pPr>
            <a:r>
              <a:rPr lang="zh-CN" altLang="en-US" sz="2800" b="1" cap="all" dirty="0">
                <a:ln w="0"/>
                <a:solidFill>
                  <a:srgbClr val="6600FF"/>
                </a:solidFill>
                <a:effectLst>
                  <a:reflection blurRad="12700" stA="50000" endPos="50000" dist="5000" dir="5400000" sy="-100000" rotWithShape="0"/>
                </a:effectLst>
                <a:latin typeface="微软雅黑" panose="020B0503020204020204" pitchFamily="34" charset="-122"/>
                <a:ea typeface="微软雅黑" panose="020B0503020204020204" pitchFamily="34" charset="-122"/>
              </a:rPr>
              <a:t>组合逻辑电路中的竞争与冒险</a:t>
            </a:r>
            <a:endParaRPr lang="zh-CN" altLang="en-US" sz="2800" b="1" cap="all" dirty="0">
              <a:ln w="0"/>
              <a:solidFill>
                <a:srgbClr val="6600FF"/>
              </a:solidFill>
              <a:effectLst>
                <a:reflection blurRad="12700" stA="50000" endPos="50000" dist="5000" dir="5400000" sy="-100000" rotWithShape="0"/>
              </a:effectLst>
              <a:latin typeface="微软雅黑" panose="020B0503020204020204" pitchFamily="34" charset="-122"/>
              <a:ea typeface="微软雅黑" panose="020B0503020204020204" pitchFamily="34" charset="-122"/>
            </a:endParaRPr>
          </a:p>
        </p:txBody>
      </p:sp>
      <p:grpSp>
        <p:nvGrpSpPr>
          <p:cNvPr id="77" name="组合 76"/>
          <p:cNvGrpSpPr/>
          <p:nvPr/>
        </p:nvGrpSpPr>
        <p:grpSpPr>
          <a:xfrm>
            <a:off x="1130989" y="1431766"/>
            <a:ext cx="2414337" cy="914400"/>
            <a:chOff x="685768" y="1520008"/>
            <a:chExt cx="2414337" cy="914400"/>
          </a:xfrm>
        </p:grpSpPr>
        <p:sp>
          <p:nvSpPr>
            <p:cNvPr id="75" name="圆角矩形 74"/>
            <p:cNvSpPr/>
            <p:nvPr/>
          </p:nvSpPr>
          <p:spPr>
            <a:xfrm>
              <a:off x="685768" y="1520008"/>
              <a:ext cx="2414337" cy="914400"/>
            </a:xfrm>
            <a:prstGeom prst="roundRect">
              <a:avLst>
                <a:gd name="adj" fmla="val 10088"/>
              </a:avLst>
            </a:prstGeom>
            <a:solidFill>
              <a:schemeClr val="bg1"/>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03434" name="Object 10"/>
            <p:cNvGraphicFramePr>
              <a:graphicFrameLocks noChangeAspect="1"/>
            </p:cNvGraphicFramePr>
            <p:nvPr/>
          </p:nvGraphicFramePr>
          <p:xfrm>
            <a:off x="870518" y="1582745"/>
            <a:ext cx="1999015" cy="792000"/>
          </p:xfrm>
          <a:graphic>
            <a:graphicData uri="http://schemas.openxmlformats.org/presentationml/2006/ole">
              <mc:AlternateContent xmlns:mc="http://schemas.openxmlformats.org/markup-compatibility/2006">
                <mc:Choice xmlns:v="urn:schemas-microsoft-com:vml" Requires="v">
                  <p:oleObj spid="_x0000_s71706" name="Visio" r:id="rId1" imgW="872490" imgH="344805" progId="Visio.Drawing.11">
                    <p:embed/>
                  </p:oleObj>
                </mc:Choice>
                <mc:Fallback>
                  <p:oleObj name="Visio" r:id="rId1" imgW="872490" imgH="344805" progId="Visio.Drawing.11">
                    <p:embed/>
                    <p:pic>
                      <p:nvPicPr>
                        <p:cNvPr id="0" name="Object 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0518" y="1582745"/>
                          <a:ext cx="1999015" cy="7920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grpSp>
        <p:nvGrpSpPr>
          <p:cNvPr id="78" name="组合 77"/>
          <p:cNvGrpSpPr/>
          <p:nvPr/>
        </p:nvGrpSpPr>
        <p:grpSpPr>
          <a:xfrm>
            <a:off x="4760524" y="1431766"/>
            <a:ext cx="2414337" cy="914400"/>
            <a:chOff x="4315303" y="1520008"/>
            <a:chExt cx="2414337" cy="914400"/>
          </a:xfrm>
        </p:grpSpPr>
        <p:sp>
          <p:nvSpPr>
            <p:cNvPr id="76" name="圆角矩形 75"/>
            <p:cNvSpPr/>
            <p:nvPr/>
          </p:nvSpPr>
          <p:spPr>
            <a:xfrm>
              <a:off x="4315303" y="1520008"/>
              <a:ext cx="2414337" cy="914400"/>
            </a:xfrm>
            <a:prstGeom prst="roundRect">
              <a:avLst>
                <a:gd name="adj" fmla="val 10088"/>
              </a:avLst>
            </a:prstGeom>
            <a:solidFill>
              <a:schemeClr val="bg1"/>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5" name="Object 10"/>
            <p:cNvGraphicFramePr>
              <a:graphicFrameLocks noChangeAspect="1"/>
            </p:cNvGraphicFramePr>
            <p:nvPr/>
          </p:nvGraphicFramePr>
          <p:xfrm>
            <a:off x="4499382" y="1582745"/>
            <a:ext cx="1999015" cy="792000"/>
          </p:xfrm>
          <a:graphic>
            <a:graphicData uri="http://schemas.openxmlformats.org/presentationml/2006/ole">
              <mc:AlternateContent xmlns:mc="http://schemas.openxmlformats.org/markup-compatibility/2006">
                <mc:Choice xmlns:v="urn:schemas-microsoft-com:vml" Requires="v">
                  <p:oleObj spid="_x0000_s71707" name="Visio" r:id="rId3" imgW="872490" imgH="344805" progId="Visio.Drawing.11">
                    <p:embed/>
                  </p:oleObj>
                </mc:Choice>
                <mc:Fallback>
                  <p:oleObj name="Visio" r:id="rId3" imgW="872490" imgH="344805" progId="Visio.Drawing.11">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9382" y="1582745"/>
                          <a:ext cx="1999015" cy="7920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grpSp>
        <p:nvGrpSpPr>
          <p:cNvPr id="40" name="Group 24"/>
          <p:cNvGrpSpPr/>
          <p:nvPr/>
        </p:nvGrpSpPr>
        <p:grpSpPr bwMode="auto">
          <a:xfrm>
            <a:off x="1194617" y="2746890"/>
            <a:ext cx="2919413" cy="369888"/>
            <a:chOff x="419" y="2900"/>
            <a:chExt cx="1839" cy="233"/>
          </a:xfrm>
        </p:grpSpPr>
        <p:sp>
          <p:nvSpPr>
            <p:cNvPr id="41" name="Text Box 11"/>
            <p:cNvSpPr txBox="1">
              <a:spLocks noChangeArrowheads="1"/>
            </p:cNvSpPr>
            <p:nvPr/>
          </p:nvSpPr>
          <p:spPr bwMode="auto">
            <a:xfrm>
              <a:off x="419" y="2900"/>
              <a:ext cx="1163" cy="233"/>
            </a:xfrm>
            <a:prstGeom prst="rect">
              <a:avLst/>
            </a:prstGeom>
            <a:noFill/>
            <a:ln w="9525" algn="ctr">
              <a:noFill/>
              <a:miter lim="800000"/>
            </a:ln>
            <a:effectLst/>
          </p:spPr>
          <p:txBody>
            <a:bodyPr wrap="none" lIns="0" rIns="0">
              <a:spAutoFit/>
            </a:bodyPr>
            <a:lstStyle/>
            <a:p>
              <a:pPr algn="l">
                <a:defRPr/>
              </a:pPr>
              <a:r>
                <a:rPr lang="zh-CN" altLang="en-US" dirty="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不考虑门的延时：</a:t>
              </a:r>
              <a:endParaRPr lang="zh-CN" altLang="en-US" dirty="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graphicFrame>
          <p:nvGraphicFramePr>
            <p:cNvPr id="42" name="Object 12"/>
            <p:cNvGraphicFramePr>
              <a:graphicFrameLocks noChangeAspect="1"/>
            </p:cNvGraphicFramePr>
            <p:nvPr/>
          </p:nvGraphicFramePr>
          <p:xfrm>
            <a:off x="1530" y="2936"/>
            <a:ext cx="728" cy="181"/>
          </p:xfrm>
          <a:graphic>
            <a:graphicData uri="http://schemas.openxmlformats.org/presentationml/2006/ole">
              <mc:AlternateContent xmlns:mc="http://schemas.openxmlformats.org/markup-compatibility/2006">
                <mc:Choice xmlns:v="urn:schemas-microsoft-com:vml" Requires="v">
                  <p:oleObj spid="_x0000_s71708" name="公式" r:id="rId5" imgW="812165" imgH="203200" progId="Equation.3">
                    <p:embed/>
                  </p:oleObj>
                </mc:Choice>
                <mc:Fallback>
                  <p:oleObj name="公式" r:id="rId5" imgW="812165" imgH="203200" progId="Equation.3">
                    <p:embed/>
                    <p:pic>
                      <p:nvPicPr>
                        <p:cNvPr id="0" name="Object 1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30" y="2936"/>
                          <a:ext cx="728" cy="181"/>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sp>
        <p:nvSpPr>
          <p:cNvPr id="43" name="矩形 42"/>
          <p:cNvSpPr/>
          <p:nvPr/>
        </p:nvSpPr>
        <p:spPr>
          <a:xfrm>
            <a:off x="1100149" y="3174127"/>
            <a:ext cx="1338828" cy="369332"/>
          </a:xfrm>
          <a:prstGeom prst="rect">
            <a:avLst/>
          </a:prstGeom>
        </p:spPr>
        <p:txBody>
          <a:bodyPr wrap="none">
            <a:spAutoFit/>
          </a:bodyPr>
          <a:lstStyle/>
          <a:p>
            <a:r>
              <a:rPr lang="zh-CN" altLang="en-US" dirty="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考虑延时：</a:t>
            </a:r>
            <a:endParaRPr lang="zh-CN" altLang="en-US" dirty="0"/>
          </a:p>
        </p:txBody>
      </p:sp>
      <p:grpSp>
        <p:nvGrpSpPr>
          <p:cNvPr id="63" name="Group 24"/>
          <p:cNvGrpSpPr/>
          <p:nvPr/>
        </p:nvGrpSpPr>
        <p:grpSpPr bwMode="auto">
          <a:xfrm>
            <a:off x="4755965" y="2746889"/>
            <a:ext cx="2949576" cy="369888"/>
            <a:chOff x="419" y="2900"/>
            <a:chExt cx="1858" cy="233"/>
          </a:xfrm>
        </p:grpSpPr>
        <p:sp>
          <p:nvSpPr>
            <p:cNvPr id="64" name="Text Box 11"/>
            <p:cNvSpPr txBox="1">
              <a:spLocks noChangeArrowheads="1"/>
            </p:cNvSpPr>
            <p:nvPr/>
          </p:nvSpPr>
          <p:spPr bwMode="auto">
            <a:xfrm>
              <a:off x="419" y="2900"/>
              <a:ext cx="1163" cy="233"/>
            </a:xfrm>
            <a:prstGeom prst="rect">
              <a:avLst/>
            </a:prstGeom>
            <a:noFill/>
            <a:ln w="9525" algn="ctr">
              <a:noFill/>
              <a:miter lim="800000"/>
            </a:ln>
            <a:effectLst/>
          </p:spPr>
          <p:txBody>
            <a:bodyPr wrap="none" lIns="0" rIns="0">
              <a:spAutoFit/>
            </a:bodyPr>
            <a:lstStyle/>
            <a:p>
              <a:pPr algn="l">
                <a:defRPr/>
              </a:pPr>
              <a:r>
                <a:rPr lang="zh-CN" altLang="en-US" dirty="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不考虑门的延时：</a:t>
              </a:r>
              <a:endParaRPr lang="zh-CN" altLang="en-US" dirty="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endParaRPr>
            </a:p>
          </p:txBody>
        </p:sp>
        <p:graphicFrame>
          <p:nvGraphicFramePr>
            <p:cNvPr id="65" name="Object 12"/>
            <p:cNvGraphicFramePr>
              <a:graphicFrameLocks noChangeAspect="1"/>
            </p:cNvGraphicFramePr>
            <p:nvPr/>
          </p:nvGraphicFramePr>
          <p:xfrm>
            <a:off x="1515" y="2934"/>
            <a:ext cx="762" cy="169"/>
          </p:xfrm>
          <a:graphic>
            <a:graphicData uri="http://schemas.openxmlformats.org/presentationml/2006/ole">
              <mc:AlternateContent xmlns:mc="http://schemas.openxmlformats.org/markup-compatibility/2006">
                <mc:Choice xmlns:v="urn:schemas-microsoft-com:vml" Requires="v">
                  <p:oleObj spid="_x0000_s71709" name="公式" r:id="rId7" imgW="850265" imgH="190500" progId="Equation.3">
                    <p:embed/>
                  </p:oleObj>
                </mc:Choice>
                <mc:Fallback>
                  <p:oleObj name="公式" r:id="rId7" imgW="850265" imgH="190500" progId="Equation.3">
                    <p:embed/>
                    <p:pic>
                      <p:nvPicPr>
                        <p:cNvPr id="0" name="Object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15" y="2934"/>
                          <a:ext cx="762" cy="169"/>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sp>
        <p:nvSpPr>
          <p:cNvPr id="66" name="矩形 65"/>
          <p:cNvSpPr/>
          <p:nvPr/>
        </p:nvSpPr>
        <p:spPr>
          <a:xfrm>
            <a:off x="4661497" y="3174126"/>
            <a:ext cx="1338828" cy="369332"/>
          </a:xfrm>
          <a:prstGeom prst="rect">
            <a:avLst/>
          </a:prstGeom>
        </p:spPr>
        <p:txBody>
          <a:bodyPr wrap="none">
            <a:spAutoFit/>
          </a:bodyPr>
          <a:lstStyle/>
          <a:p>
            <a:r>
              <a:rPr lang="zh-CN" altLang="en-US" dirty="0">
                <a:solidFill>
                  <a:srgbClr val="000000"/>
                </a:solidFill>
                <a:effectLst>
                  <a:outerShdw blurRad="38100" dist="38100" dir="2700000" algn="tl">
                    <a:srgbClr val="C0C0C0"/>
                  </a:outerShdw>
                </a:effectLst>
                <a:latin typeface="黑体" panose="02010609060101010101" pitchFamily="49" charset="-122"/>
                <a:ea typeface="黑体" panose="02010609060101010101" pitchFamily="49" charset="-122"/>
              </a:rPr>
              <a:t>考虑延时：</a:t>
            </a:r>
            <a:endParaRPr lang="zh-CN" altLang="en-US" dirty="0"/>
          </a:p>
        </p:txBody>
      </p:sp>
      <p:graphicFrame>
        <p:nvGraphicFramePr>
          <p:cNvPr id="21" name="Object 12"/>
          <p:cNvGraphicFramePr>
            <a:graphicFrameLocks noChangeAspect="1"/>
          </p:cNvGraphicFramePr>
          <p:nvPr/>
        </p:nvGraphicFramePr>
        <p:xfrm>
          <a:off x="1889568" y="2443408"/>
          <a:ext cx="830262" cy="269875"/>
        </p:xfrm>
        <a:graphic>
          <a:graphicData uri="http://schemas.openxmlformats.org/presentationml/2006/ole">
            <mc:AlternateContent xmlns:mc="http://schemas.openxmlformats.org/markup-compatibility/2006">
              <mc:Choice xmlns:v="urn:schemas-microsoft-com:vml" Requires="v">
                <p:oleObj spid="_x0000_s71710" name="公式" r:id="rId9" imgW="584200" imgH="190500" progId="Equation.3">
                  <p:embed/>
                </p:oleObj>
              </mc:Choice>
              <mc:Fallback>
                <p:oleObj name="公式" r:id="rId9" imgW="584200" imgH="190500" progId="Equation.3">
                  <p:embed/>
                  <p:pic>
                    <p:nvPicPr>
                      <p:cNvPr id="0" name="Object 1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89568" y="2443408"/>
                        <a:ext cx="830262" cy="269875"/>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aphicFrame>
        <p:nvGraphicFramePr>
          <p:cNvPr id="22" name="Object 12"/>
          <p:cNvGraphicFramePr>
            <a:graphicFrameLocks noChangeAspect="1"/>
          </p:cNvGraphicFramePr>
          <p:nvPr/>
        </p:nvGraphicFramePr>
        <p:xfrm>
          <a:off x="5577497" y="2400300"/>
          <a:ext cx="920750" cy="268288"/>
        </p:xfrm>
        <a:graphic>
          <a:graphicData uri="http://schemas.openxmlformats.org/presentationml/2006/ole">
            <mc:AlternateContent xmlns:mc="http://schemas.openxmlformats.org/markup-compatibility/2006">
              <mc:Choice xmlns:v="urn:schemas-microsoft-com:vml" Requires="v">
                <p:oleObj spid="_x0000_s71711" name="公式" r:id="rId11" imgW="647700" imgH="190500" progId="Equation.3">
                  <p:embed/>
                </p:oleObj>
              </mc:Choice>
              <mc:Fallback>
                <p:oleObj name="公式" r:id="rId11" imgW="647700" imgH="190500" progId="Equation.3">
                  <p:embed/>
                  <p:pic>
                    <p:nvPicPr>
                      <p:cNvPr id="0" name="Object 1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77497" y="2400300"/>
                        <a:ext cx="920750" cy="268288"/>
                      </a:xfrm>
                      <a:prstGeom prst="rect">
                        <a:avLst/>
                      </a:prstGeom>
                      <a:solidFill>
                        <a:srgbClr val="FFCC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nvGrpSpPr>
          <p:cNvPr id="3" name="组合 2"/>
          <p:cNvGrpSpPr/>
          <p:nvPr/>
        </p:nvGrpSpPr>
        <p:grpSpPr>
          <a:xfrm>
            <a:off x="1715158" y="3557337"/>
            <a:ext cx="2423730" cy="1351545"/>
            <a:chOff x="1715158" y="3557337"/>
            <a:chExt cx="2423730" cy="1351545"/>
          </a:xfrm>
        </p:grpSpPr>
        <p:grpSp>
          <p:nvGrpSpPr>
            <p:cNvPr id="67" name="组合 66"/>
            <p:cNvGrpSpPr/>
            <p:nvPr/>
          </p:nvGrpSpPr>
          <p:grpSpPr>
            <a:xfrm>
              <a:off x="2530667" y="3569367"/>
              <a:ext cx="128337" cy="1116000"/>
              <a:chOff x="2322095" y="3569367"/>
              <a:chExt cx="128337" cy="1116000"/>
            </a:xfrm>
          </p:grpSpPr>
          <p:cxnSp>
            <p:nvCxnSpPr>
              <p:cNvPr id="45" name="直接连接符 44"/>
              <p:cNvCxnSpPr/>
              <p:nvPr/>
            </p:nvCxnSpPr>
            <p:spPr>
              <a:xfrm>
                <a:off x="2322095" y="3569367"/>
                <a:ext cx="0" cy="1116000"/>
              </a:xfrm>
              <a:prstGeom prst="line">
                <a:avLst/>
              </a:prstGeom>
              <a:ln w="19050">
                <a:solidFill>
                  <a:srgbClr val="FF00FF"/>
                </a:solidFill>
                <a:prstDash val="sysDash"/>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a:off x="2450432" y="3569367"/>
                <a:ext cx="0" cy="1116000"/>
              </a:xfrm>
              <a:prstGeom prst="line">
                <a:avLst/>
              </a:prstGeom>
              <a:ln w="19050">
                <a:solidFill>
                  <a:srgbClr val="FF00FF"/>
                </a:solidFill>
                <a:prstDash val="sysDash"/>
              </a:ln>
            </p:spPr>
            <p:style>
              <a:lnRef idx="1">
                <a:schemeClr val="accent1"/>
              </a:lnRef>
              <a:fillRef idx="0">
                <a:schemeClr val="accent1"/>
              </a:fillRef>
              <a:effectRef idx="0">
                <a:schemeClr val="accent1"/>
              </a:effectRef>
              <a:fontRef idx="minor">
                <a:schemeClr val="tx1"/>
              </a:fontRef>
            </p:style>
          </p:cxnSp>
        </p:grpSp>
        <p:sp>
          <p:nvSpPr>
            <p:cNvPr id="72" name="椭圆 71"/>
            <p:cNvSpPr/>
            <p:nvPr/>
          </p:nvSpPr>
          <p:spPr>
            <a:xfrm>
              <a:off x="2434445" y="4419598"/>
              <a:ext cx="320839" cy="489284"/>
            </a:xfrm>
            <a:prstGeom prst="ellipse">
              <a:avLst/>
            </a:prstGeom>
            <a:solidFill>
              <a:srgbClr val="FF0000">
                <a:alpha val="25000"/>
              </a:srgbClr>
            </a:solidFill>
            <a:ln w="28575">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5" name="组合 114"/>
            <p:cNvGrpSpPr/>
            <p:nvPr/>
          </p:nvGrpSpPr>
          <p:grpSpPr>
            <a:xfrm>
              <a:off x="1725428" y="3557337"/>
              <a:ext cx="2409450" cy="288000"/>
              <a:chOff x="1725428" y="3557337"/>
              <a:chExt cx="2409450" cy="288000"/>
            </a:xfrm>
          </p:grpSpPr>
          <p:grpSp>
            <p:nvGrpSpPr>
              <p:cNvPr id="32" name="组合 31"/>
              <p:cNvGrpSpPr/>
              <p:nvPr/>
            </p:nvGrpSpPr>
            <p:grpSpPr>
              <a:xfrm>
                <a:off x="1993256" y="3557337"/>
                <a:ext cx="2141622" cy="288000"/>
                <a:chOff x="1784684" y="3557337"/>
                <a:chExt cx="2141622" cy="288000"/>
              </a:xfrm>
            </p:grpSpPr>
            <p:cxnSp>
              <p:nvCxnSpPr>
                <p:cNvPr id="25" name="肘形连接符 24"/>
                <p:cNvCxnSpPr/>
                <p:nvPr/>
              </p:nvCxnSpPr>
              <p:spPr>
                <a:xfrm flipV="1">
                  <a:off x="1784684" y="3557337"/>
                  <a:ext cx="1147011" cy="288000"/>
                </a:xfrm>
                <a:prstGeom prst="bentConnector3">
                  <a:avLst>
                    <a:gd name="adj1" fmla="val 46853"/>
                  </a:avLst>
                </a:prstGeom>
                <a:ln w="38100"/>
              </p:spPr>
              <p:style>
                <a:lnRef idx="1">
                  <a:schemeClr val="accent1"/>
                </a:lnRef>
                <a:fillRef idx="0">
                  <a:schemeClr val="accent1"/>
                </a:fillRef>
                <a:effectRef idx="0">
                  <a:schemeClr val="accent1"/>
                </a:effectRef>
                <a:fontRef idx="minor">
                  <a:schemeClr val="tx1"/>
                </a:fontRef>
              </p:style>
            </p:cxnSp>
            <p:cxnSp>
              <p:nvCxnSpPr>
                <p:cNvPr id="30" name="肘形连接符 29"/>
                <p:cNvCxnSpPr/>
                <p:nvPr/>
              </p:nvCxnSpPr>
              <p:spPr>
                <a:xfrm rot="10800000">
                  <a:off x="2743199" y="3557337"/>
                  <a:ext cx="1183107" cy="288000"/>
                </a:xfrm>
                <a:prstGeom prst="bentConnector3">
                  <a:avLst>
                    <a:gd name="adj1" fmla="val 50000"/>
                  </a:avLst>
                </a:prstGeom>
                <a:ln w="38100"/>
              </p:spPr>
              <p:style>
                <a:lnRef idx="1">
                  <a:schemeClr val="accent1"/>
                </a:lnRef>
                <a:fillRef idx="0">
                  <a:schemeClr val="accent1"/>
                </a:fillRef>
                <a:effectRef idx="0">
                  <a:schemeClr val="accent1"/>
                </a:effectRef>
                <a:fontRef idx="minor">
                  <a:schemeClr val="tx1"/>
                </a:fontRef>
              </p:style>
            </p:cxnSp>
          </p:grpSp>
          <p:graphicFrame>
            <p:nvGraphicFramePr>
              <p:cNvPr id="4111" name="Object 15"/>
              <p:cNvGraphicFramePr>
                <a:graphicFrameLocks noChangeAspect="1"/>
              </p:cNvGraphicFramePr>
              <p:nvPr/>
            </p:nvGraphicFramePr>
            <p:xfrm>
              <a:off x="1725428" y="3564605"/>
              <a:ext cx="246494" cy="267035"/>
            </p:xfrm>
            <a:graphic>
              <a:graphicData uri="http://schemas.openxmlformats.org/presentationml/2006/ole">
                <mc:AlternateContent xmlns:mc="http://schemas.openxmlformats.org/markup-compatibility/2006">
                  <mc:Choice xmlns:v="urn:schemas-microsoft-com:vml" Requires="v">
                    <p:oleObj spid="_x0000_s71712" name="公式" r:id="rId13" imgW="152400" imgH="165100" progId="Equation.3">
                      <p:embed/>
                    </p:oleObj>
                  </mc:Choice>
                  <mc:Fallback>
                    <p:oleObj name="公式" r:id="rId13" imgW="152400" imgH="165100" progId="Equation.3">
                      <p:embed/>
                      <p:pic>
                        <p:nvPicPr>
                          <p:cNvPr id="0" name="Object 1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25428" y="3564605"/>
                            <a:ext cx="246494" cy="267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16" name="组合 115"/>
            <p:cNvGrpSpPr/>
            <p:nvPr/>
          </p:nvGrpSpPr>
          <p:grpSpPr>
            <a:xfrm>
              <a:off x="1715158" y="4070684"/>
              <a:ext cx="2423730" cy="335196"/>
              <a:chOff x="1715158" y="4070684"/>
              <a:chExt cx="2423730" cy="335196"/>
            </a:xfrm>
          </p:grpSpPr>
          <p:grpSp>
            <p:nvGrpSpPr>
              <p:cNvPr id="39" name="组合 38"/>
              <p:cNvGrpSpPr/>
              <p:nvPr/>
            </p:nvGrpSpPr>
            <p:grpSpPr>
              <a:xfrm>
                <a:off x="2001278" y="4070684"/>
                <a:ext cx="2137610" cy="288000"/>
                <a:chOff x="1792706" y="4070684"/>
                <a:chExt cx="2137610" cy="288000"/>
              </a:xfrm>
            </p:grpSpPr>
            <p:cxnSp>
              <p:nvCxnSpPr>
                <p:cNvPr id="34" name="肘形连接符 33"/>
                <p:cNvCxnSpPr/>
                <p:nvPr/>
              </p:nvCxnSpPr>
              <p:spPr>
                <a:xfrm>
                  <a:off x="1792706" y="4070684"/>
                  <a:ext cx="1327483" cy="288000"/>
                </a:xfrm>
                <a:prstGeom prst="bentConnector3">
                  <a:avLst>
                    <a:gd name="adj1"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肘形连接符 35"/>
                <p:cNvCxnSpPr/>
                <p:nvPr/>
              </p:nvCxnSpPr>
              <p:spPr>
                <a:xfrm rot="10800000" flipV="1">
                  <a:off x="2795338" y="4070684"/>
                  <a:ext cx="1134978" cy="288000"/>
                </a:xfrm>
                <a:prstGeom prst="bentConnector3">
                  <a:avLst>
                    <a:gd name="adj1" fmla="val 37986"/>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aphicFrame>
            <p:nvGraphicFramePr>
              <p:cNvPr id="4112" name="Object 16"/>
              <p:cNvGraphicFramePr>
                <a:graphicFrameLocks noChangeAspect="1"/>
              </p:cNvGraphicFramePr>
              <p:nvPr/>
            </p:nvGraphicFramePr>
            <p:xfrm>
              <a:off x="1715158" y="4097763"/>
              <a:ext cx="267035" cy="308117"/>
            </p:xfrm>
            <a:graphic>
              <a:graphicData uri="http://schemas.openxmlformats.org/presentationml/2006/ole">
                <mc:AlternateContent xmlns:mc="http://schemas.openxmlformats.org/markup-compatibility/2006">
                  <mc:Choice xmlns:v="urn:schemas-microsoft-com:vml" Requires="v">
                    <p:oleObj spid="_x0000_s71713" name="公式" r:id="rId15" imgW="165100" imgH="190500" progId="Equation.3">
                      <p:embed/>
                    </p:oleObj>
                  </mc:Choice>
                  <mc:Fallback>
                    <p:oleObj name="公式" r:id="rId15" imgW="165100" imgH="190500" progId="Equation.3">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15158" y="4097763"/>
                            <a:ext cx="267035" cy="3081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17" name="组合 116"/>
            <p:cNvGrpSpPr/>
            <p:nvPr/>
          </p:nvGrpSpPr>
          <p:grpSpPr>
            <a:xfrm>
              <a:off x="1734160" y="4543957"/>
              <a:ext cx="2380665" cy="358243"/>
              <a:chOff x="1734160" y="4543957"/>
              <a:chExt cx="2380665" cy="358243"/>
            </a:xfrm>
          </p:grpSpPr>
          <p:grpSp>
            <p:nvGrpSpPr>
              <p:cNvPr id="61" name="组合 60"/>
              <p:cNvGrpSpPr/>
              <p:nvPr/>
            </p:nvGrpSpPr>
            <p:grpSpPr>
              <a:xfrm>
                <a:off x="1981224" y="4543957"/>
                <a:ext cx="2133601" cy="288000"/>
                <a:chOff x="1772652" y="4648243"/>
                <a:chExt cx="2133601" cy="288000"/>
              </a:xfrm>
            </p:grpSpPr>
            <p:cxnSp>
              <p:nvCxnSpPr>
                <p:cNvPr id="48" name="肘形连接符 47"/>
                <p:cNvCxnSpPr/>
                <p:nvPr/>
              </p:nvCxnSpPr>
              <p:spPr>
                <a:xfrm flipV="1">
                  <a:off x="1772652" y="4648243"/>
                  <a:ext cx="684000" cy="288000"/>
                </a:xfrm>
                <a:prstGeom prst="bentConnector3">
                  <a:avLst>
                    <a:gd name="adj1" fmla="val 81594"/>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56" name="肘形连接符 55"/>
                <p:cNvCxnSpPr/>
                <p:nvPr/>
              </p:nvCxnSpPr>
              <p:spPr>
                <a:xfrm>
                  <a:off x="2450432" y="4648243"/>
                  <a:ext cx="1455821" cy="288000"/>
                </a:xfrm>
                <a:prstGeom prst="bentConnector3">
                  <a:avLst>
                    <a:gd name="adj1" fmla="val 413"/>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grpSp>
          <p:graphicFrame>
            <p:nvGraphicFramePr>
              <p:cNvPr id="4113" name="Object 17"/>
              <p:cNvGraphicFramePr>
                <a:graphicFrameLocks noChangeAspect="1"/>
              </p:cNvGraphicFramePr>
              <p:nvPr/>
            </p:nvGraphicFramePr>
            <p:xfrm>
              <a:off x="1734160" y="4633913"/>
              <a:ext cx="227012" cy="268287"/>
            </p:xfrm>
            <a:graphic>
              <a:graphicData uri="http://schemas.openxmlformats.org/presentationml/2006/ole">
                <mc:AlternateContent xmlns:mc="http://schemas.openxmlformats.org/markup-compatibility/2006">
                  <mc:Choice xmlns:v="urn:schemas-microsoft-com:vml" Requires="v">
                    <p:oleObj spid="_x0000_s71714" name="公式" r:id="rId17" imgW="139700" imgH="165100" progId="Equation.3">
                      <p:embed/>
                    </p:oleObj>
                  </mc:Choice>
                  <mc:Fallback>
                    <p:oleObj name="公式" r:id="rId17" imgW="139700" imgH="165100" progId="Equation.3">
                      <p:embed/>
                      <p:pic>
                        <p:nvPicPr>
                          <p:cNvPr id="0" name="Object 17"/>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734160" y="4633913"/>
                            <a:ext cx="227012" cy="26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10" name="组合 109"/>
            <p:cNvGrpSpPr/>
            <p:nvPr/>
          </p:nvGrpSpPr>
          <p:grpSpPr>
            <a:xfrm>
              <a:off x="2338161" y="3623322"/>
              <a:ext cx="761202" cy="339078"/>
              <a:chOff x="2129589" y="3623322"/>
              <a:chExt cx="761202" cy="339078"/>
            </a:xfrm>
          </p:grpSpPr>
          <p:cxnSp>
            <p:nvCxnSpPr>
              <p:cNvPr id="106" name="直接箭头连接符 105"/>
              <p:cNvCxnSpPr/>
              <p:nvPr/>
            </p:nvCxnSpPr>
            <p:spPr>
              <a:xfrm>
                <a:off x="2129589" y="3962400"/>
                <a:ext cx="180000" cy="0"/>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108" name="直接箭头连接符 107"/>
              <p:cNvCxnSpPr/>
              <p:nvPr/>
            </p:nvCxnSpPr>
            <p:spPr>
              <a:xfrm flipH="1">
                <a:off x="2454441" y="3962400"/>
                <a:ext cx="432000" cy="0"/>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09" name="矩形 108"/>
              <p:cNvSpPr/>
              <p:nvPr/>
            </p:nvSpPr>
            <p:spPr>
              <a:xfrm>
                <a:off x="2462469" y="3623322"/>
                <a:ext cx="428322" cy="338554"/>
              </a:xfrm>
              <a:prstGeom prst="rect">
                <a:avLst/>
              </a:prstGeom>
            </p:spPr>
            <p:txBody>
              <a:bodyPr wrap="none">
                <a:spAutoFit/>
              </a:bodyPr>
              <a:lstStyle/>
              <a:p>
                <a:r>
                  <a:rPr lang="en-US" altLang="zh-CN" sz="1600" i="1" dirty="0" err="1"/>
                  <a:t>T</a:t>
                </a:r>
                <a:r>
                  <a:rPr lang="en-US" altLang="zh-CN" sz="1600" baseline="-25000" dirty="0" err="1"/>
                  <a:t>pd</a:t>
                </a:r>
                <a:endParaRPr lang="zh-CN" altLang="en-US" sz="1600" dirty="0"/>
              </a:p>
            </p:txBody>
          </p:sp>
        </p:grpSp>
      </p:grpSp>
      <p:grpSp>
        <p:nvGrpSpPr>
          <p:cNvPr id="4" name="组合 3"/>
          <p:cNvGrpSpPr/>
          <p:nvPr/>
        </p:nvGrpSpPr>
        <p:grpSpPr>
          <a:xfrm>
            <a:off x="4991758" y="3621508"/>
            <a:ext cx="2423730" cy="1375608"/>
            <a:chOff x="4991758" y="3621508"/>
            <a:chExt cx="2423730" cy="1375608"/>
          </a:xfrm>
        </p:grpSpPr>
        <p:grpSp>
          <p:nvGrpSpPr>
            <p:cNvPr id="84" name="组合 83"/>
            <p:cNvGrpSpPr/>
            <p:nvPr/>
          </p:nvGrpSpPr>
          <p:grpSpPr>
            <a:xfrm>
              <a:off x="6817920" y="3898251"/>
              <a:ext cx="164431" cy="828000"/>
              <a:chOff x="2322095" y="3569367"/>
              <a:chExt cx="128337" cy="1116000"/>
            </a:xfrm>
          </p:grpSpPr>
          <p:cxnSp>
            <p:nvCxnSpPr>
              <p:cNvPr id="85" name="直接连接符 84"/>
              <p:cNvCxnSpPr/>
              <p:nvPr/>
            </p:nvCxnSpPr>
            <p:spPr>
              <a:xfrm>
                <a:off x="2322095" y="3569367"/>
                <a:ext cx="0" cy="1116000"/>
              </a:xfrm>
              <a:prstGeom prst="line">
                <a:avLst/>
              </a:prstGeom>
              <a:ln w="19050">
                <a:solidFill>
                  <a:srgbClr val="FF00FF"/>
                </a:solidFill>
                <a:prstDash val="sysDash"/>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a:off x="2450432" y="3569367"/>
                <a:ext cx="0" cy="1116000"/>
              </a:xfrm>
              <a:prstGeom prst="line">
                <a:avLst/>
              </a:prstGeom>
              <a:ln w="19050">
                <a:solidFill>
                  <a:srgbClr val="FF00FF"/>
                </a:solidFill>
                <a:prstDash val="sysDash"/>
              </a:ln>
            </p:spPr>
            <p:style>
              <a:lnRef idx="1">
                <a:schemeClr val="accent1"/>
              </a:lnRef>
              <a:fillRef idx="0">
                <a:schemeClr val="accent1"/>
              </a:fillRef>
              <a:effectRef idx="0">
                <a:schemeClr val="accent1"/>
              </a:effectRef>
              <a:fontRef idx="minor">
                <a:schemeClr val="tx1"/>
              </a:fontRef>
            </p:style>
          </p:cxnSp>
        </p:grpSp>
        <p:sp>
          <p:nvSpPr>
            <p:cNvPr id="87" name="椭圆 86"/>
            <p:cNvSpPr/>
            <p:nvPr/>
          </p:nvSpPr>
          <p:spPr>
            <a:xfrm>
              <a:off x="6737740" y="4507832"/>
              <a:ext cx="320839" cy="489284"/>
            </a:xfrm>
            <a:prstGeom prst="ellipse">
              <a:avLst/>
            </a:prstGeom>
            <a:solidFill>
              <a:srgbClr val="FF0000">
                <a:alpha val="25000"/>
              </a:srgbClr>
            </a:solidFill>
            <a:ln w="28575">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8" name="组合 117"/>
            <p:cNvGrpSpPr/>
            <p:nvPr/>
          </p:nvGrpSpPr>
          <p:grpSpPr>
            <a:xfrm>
              <a:off x="5002028" y="3621508"/>
              <a:ext cx="2409450" cy="288000"/>
              <a:chOff x="5002028" y="3621508"/>
              <a:chExt cx="2409450" cy="288000"/>
            </a:xfrm>
          </p:grpSpPr>
          <p:grpSp>
            <p:nvGrpSpPr>
              <p:cNvPr id="88" name="组合 87"/>
              <p:cNvGrpSpPr/>
              <p:nvPr/>
            </p:nvGrpSpPr>
            <p:grpSpPr>
              <a:xfrm>
                <a:off x="5269856" y="3621508"/>
                <a:ext cx="2141622" cy="288000"/>
                <a:chOff x="1784684" y="3557337"/>
                <a:chExt cx="2141622" cy="288000"/>
              </a:xfrm>
            </p:grpSpPr>
            <p:cxnSp>
              <p:nvCxnSpPr>
                <p:cNvPr id="89" name="肘形连接符 88"/>
                <p:cNvCxnSpPr/>
                <p:nvPr/>
              </p:nvCxnSpPr>
              <p:spPr>
                <a:xfrm flipV="1">
                  <a:off x="1784684" y="3557337"/>
                  <a:ext cx="1147011" cy="288000"/>
                </a:xfrm>
                <a:prstGeom prst="bentConnector3">
                  <a:avLst>
                    <a:gd name="adj1" fmla="val 46853"/>
                  </a:avLst>
                </a:prstGeom>
                <a:ln w="38100"/>
              </p:spPr>
              <p:style>
                <a:lnRef idx="1">
                  <a:schemeClr val="accent1"/>
                </a:lnRef>
                <a:fillRef idx="0">
                  <a:schemeClr val="accent1"/>
                </a:fillRef>
                <a:effectRef idx="0">
                  <a:schemeClr val="accent1"/>
                </a:effectRef>
                <a:fontRef idx="minor">
                  <a:schemeClr val="tx1"/>
                </a:fontRef>
              </p:style>
            </p:cxnSp>
            <p:cxnSp>
              <p:nvCxnSpPr>
                <p:cNvPr id="90" name="肘形连接符 89"/>
                <p:cNvCxnSpPr/>
                <p:nvPr/>
              </p:nvCxnSpPr>
              <p:spPr>
                <a:xfrm rot="10800000">
                  <a:off x="2743199" y="3557337"/>
                  <a:ext cx="1183107" cy="288000"/>
                </a:xfrm>
                <a:prstGeom prst="bentConnector3">
                  <a:avLst>
                    <a:gd name="adj1" fmla="val 50000"/>
                  </a:avLst>
                </a:prstGeom>
                <a:ln w="38100"/>
              </p:spPr>
              <p:style>
                <a:lnRef idx="1">
                  <a:schemeClr val="accent1"/>
                </a:lnRef>
                <a:fillRef idx="0">
                  <a:schemeClr val="accent1"/>
                </a:fillRef>
                <a:effectRef idx="0">
                  <a:schemeClr val="accent1"/>
                </a:effectRef>
                <a:fontRef idx="minor">
                  <a:schemeClr val="tx1"/>
                </a:fontRef>
              </p:style>
            </p:cxnSp>
          </p:grpSp>
          <p:graphicFrame>
            <p:nvGraphicFramePr>
              <p:cNvPr id="97" name="Object 15"/>
              <p:cNvGraphicFramePr>
                <a:graphicFrameLocks noChangeAspect="1"/>
              </p:cNvGraphicFramePr>
              <p:nvPr/>
            </p:nvGraphicFramePr>
            <p:xfrm>
              <a:off x="5002028" y="3628776"/>
              <a:ext cx="246494" cy="267035"/>
            </p:xfrm>
            <a:graphic>
              <a:graphicData uri="http://schemas.openxmlformats.org/presentationml/2006/ole">
                <mc:AlternateContent xmlns:mc="http://schemas.openxmlformats.org/markup-compatibility/2006">
                  <mc:Choice xmlns:v="urn:schemas-microsoft-com:vml" Requires="v">
                    <p:oleObj spid="_x0000_s71715" name="公式" r:id="rId19" imgW="152400" imgH="165100" progId="Equation.3">
                      <p:embed/>
                    </p:oleObj>
                  </mc:Choice>
                  <mc:Fallback>
                    <p:oleObj name="公式" r:id="rId19" imgW="152400" imgH="165100" progId="Equation.3">
                      <p:embed/>
                      <p:pic>
                        <p:nvPicPr>
                          <p:cNvPr id="0" name="Object 15"/>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002028" y="3628776"/>
                            <a:ext cx="246494" cy="2670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19" name="组合 118"/>
            <p:cNvGrpSpPr/>
            <p:nvPr/>
          </p:nvGrpSpPr>
          <p:grpSpPr>
            <a:xfrm>
              <a:off x="4991758" y="4134855"/>
              <a:ext cx="2423730" cy="335196"/>
              <a:chOff x="4991758" y="4134855"/>
              <a:chExt cx="2423730" cy="335196"/>
            </a:xfrm>
          </p:grpSpPr>
          <p:grpSp>
            <p:nvGrpSpPr>
              <p:cNvPr id="91" name="组合 90"/>
              <p:cNvGrpSpPr/>
              <p:nvPr/>
            </p:nvGrpSpPr>
            <p:grpSpPr>
              <a:xfrm>
                <a:off x="5277878" y="4134855"/>
                <a:ext cx="2137610" cy="288000"/>
                <a:chOff x="1792706" y="4070684"/>
                <a:chExt cx="2137610" cy="288000"/>
              </a:xfrm>
            </p:grpSpPr>
            <p:cxnSp>
              <p:nvCxnSpPr>
                <p:cNvPr id="92" name="肘形连接符 91"/>
                <p:cNvCxnSpPr/>
                <p:nvPr/>
              </p:nvCxnSpPr>
              <p:spPr>
                <a:xfrm>
                  <a:off x="1792706" y="4070684"/>
                  <a:ext cx="1327483" cy="288000"/>
                </a:xfrm>
                <a:prstGeom prst="bentConnector3">
                  <a:avLst>
                    <a:gd name="adj1" fmla="val 50000"/>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3" name="肘形连接符 92"/>
                <p:cNvCxnSpPr/>
                <p:nvPr/>
              </p:nvCxnSpPr>
              <p:spPr>
                <a:xfrm rot="10800000" flipV="1">
                  <a:off x="2795338" y="4070684"/>
                  <a:ext cx="1134978" cy="288000"/>
                </a:xfrm>
                <a:prstGeom prst="bentConnector3">
                  <a:avLst>
                    <a:gd name="adj1" fmla="val 37986"/>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graphicFrame>
            <p:nvGraphicFramePr>
              <p:cNvPr id="98" name="Object 16"/>
              <p:cNvGraphicFramePr>
                <a:graphicFrameLocks noChangeAspect="1"/>
              </p:cNvGraphicFramePr>
              <p:nvPr/>
            </p:nvGraphicFramePr>
            <p:xfrm>
              <a:off x="4991758" y="4161934"/>
              <a:ext cx="267035" cy="308117"/>
            </p:xfrm>
            <a:graphic>
              <a:graphicData uri="http://schemas.openxmlformats.org/presentationml/2006/ole">
                <mc:AlternateContent xmlns:mc="http://schemas.openxmlformats.org/markup-compatibility/2006">
                  <mc:Choice xmlns:v="urn:schemas-microsoft-com:vml" Requires="v">
                    <p:oleObj spid="_x0000_s71716" name="公式" r:id="rId21" imgW="165100" imgH="190500" progId="Equation.3">
                      <p:embed/>
                    </p:oleObj>
                  </mc:Choice>
                  <mc:Fallback>
                    <p:oleObj name="公式" r:id="rId21" imgW="165100" imgH="190500" progId="Equation.3">
                      <p:embed/>
                      <p:pic>
                        <p:nvPicPr>
                          <p:cNvPr id="0" name="Object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991758" y="4161934"/>
                            <a:ext cx="267035" cy="3081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20" name="组合 119"/>
            <p:cNvGrpSpPr/>
            <p:nvPr/>
          </p:nvGrpSpPr>
          <p:grpSpPr>
            <a:xfrm>
              <a:off x="5010760" y="4593798"/>
              <a:ext cx="2380665" cy="299052"/>
              <a:chOff x="5010760" y="4593798"/>
              <a:chExt cx="2380665" cy="299052"/>
            </a:xfrm>
          </p:grpSpPr>
          <p:grpSp>
            <p:nvGrpSpPr>
              <p:cNvPr id="94" name="组合 93"/>
              <p:cNvGrpSpPr/>
              <p:nvPr/>
            </p:nvGrpSpPr>
            <p:grpSpPr>
              <a:xfrm flipH="1" flipV="1">
                <a:off x="5257826" y="4608127"/>
                <a:ext cx="2133599" cy="284723"/>
                <a:chOff x="1772652" y="4651521"/>
                <a:chExt cx="2133599" cy="284723"/>
              </a:xfrm>
            </p:grpSpPr>
            <p:cxnSp>
              <p:nvCxnSpPr>
                <p:cNvPr id="95" name="肘形连接符 94"/>
                <p:cNvCxnSpPr/>
                <p:nvPr/>
              </p:nvCxnSpPr>
              <p:spPr>
                <a:xfrm rot="10800000" flipH="1">
                  <a:off x="1772652" y="4651523"/>
                  <a:ext cx="561474" cy="284721"/>
                </a:xfrm>
                <a:prstGeom prst="bentConnector3">
                  <a:avLst>
                    <a:gd name="adj1" fmla="val 71429"/>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96" name="肘形连接符 95"/>
                <p:cNvCxnSpPr/>
                <p:nvPr/>
              </p:nvCxnSpPr>
              <p:spPr>
                <a:xfrm rot="10800000" flipH="1" flipV="1">
                  <a:off x="2326104" y="4651521"/>
                  <a:ext cx="1580147" cy="284721"/>
                </a:xfrm>
                <a:prstGeom prst="bentConnector3">
                  <a:avLst>
                    <a:gd name="adj1" fmla="val 1015"/>
                  </a:avLst>
                </a:prstGeom>
                <a:ln w="38100">
                  <a:solidFill>
                    <a:srgbClr val="0000FF"/>
                  </a:solidFill>
                </a:ln>
              </p:spPr>
              <p:style>
                <a:lnRef idx="1">
                  <a:schemeClr val="accent1"/>
                </a:lnRef>
                <a:fillRef idx="0">
                  <a:schemeClr val="accent1"/>
                </a:fillRef>
                <a:effectRef idx="0">
                  <a:schemeClr val="accent1"/>
                </a:effectRef>
                <a:fontRef idx="minor">
                  <a:schemeClr val="tx1"/>
                </a:fontRef>
              </p:style>
            </p:cxnSp>
          </p:grpSp>
          <p:graphicFrame>
            <p:nvGraphicFramePr>
              <p:cNvPr id="99" name="Object 17"/>
              <p:cNvGraphicFramePr>
                <a:graphicFrameLocks noChangeAspect="1"/>
              </p:cNvGraphicFramePr>
              <p:nvPr/>
            </p:nvGraphicFramePr>
            <p:xfrm>
              <a:off x="5010760" y="4593798"/>
              <a:ext cx="227012" cy="268287"/>
            </p:xfrm>
            <a:graphic>
              <a:graphicData uri="http://schemas.openxmlformats.org/presentationml/2006/ole">
                <mc:AlternateContent xmlns:mc="http://schemas.openxmlformats.org/markup-compatibility/2006">
                  <mc:Choice xmlns:v="urn:schemas-microsoft-com:vml" Requires="v">
                    <p:oleObj spid="_x0000_s71717" name="公式" r:id="rId22" imgW="139700" imgH="165100" progId="Equation.3">
                      <p:embed/>
                    </p:oleObj>
                  </mc:Choice>
                  <mc:Fallback>
                    <p:oleObj name="公式" r:id="rId22" imgW="139700" imgH="165100" progId="Equation.3">
                      <p:embed/>
                      <p:pic>
                        <p:nvPicPr>
                          <p:cNvPr id="0" name="Object 17"/>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010760" y="4593798"/>
                            <a:ext cx="227012" cy="268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pSp>
          <p:nvGrpSpPr>
            <p:cNvPr id="111" name="组合 110"/>
            <p:cNvGrpSpPr/>
            <p:nvPr/>
          </p:nvGrpSpPr>
          <p:grpSpPr>
            <a:xfrm flipH="1">
              <a:off x="6368707" y="3719575"/>
              <a:ext cx="793290" cy="339078"/>
              <a:chOff x="2097501" y="3623322"/>
              <a:chExt cx="793290" cy="339078"/>
            </a:xfrm>
          </p:grpSpPr>
          <p:cxnSp>
            <p:nvCxnSpPr>
              <p:cNvPr id="112" name="直接箭头连接符 111"/>
              <p:cNvCxnSpPr/>
              <p:nvPr/>
            </p:nvCxnSpPr>
            <p:spPr>
              <a:xfrm>
                <a:off x="2097501" y="3962400"/>
                <a:ext cx="180000" cy="0"/>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113" name="直接箭头连接符 112"/>
              <p:cNvCxnSpPr/>
              <p:nvPr/>
            </p:nvCxnSpPr>
            <p:spPr>
              <a:xfrm flipH="1">
                <a:off x="2454441" y="3962400"/>
                <a:ext cx="432000" cy="0"/>
              </a:xfrm>
              <a:prstGeom prst="straightConnector1">
                <a:avLst/>
              </a:prstGeom>
              <a:ln w="190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114" name="矩形 113"/>
              <p:cNvSpPr/>
              <p:nvPr/>
            </p:nvSpPr>
            <p:spPr>
              <a:xfrm>
                <a:off x="2462469" y="3623322"/>
                <a:ext cx="428322" cy="338554"/>
              </a:xfrm>
              <a:prstGeom prst="rect">
                <a:avLst/>
              </a:prstGeom>
            </p:spPr>
            <p:txBody>
              <a:bodyPr wrap="none">
                <a:spAutoFit/>
              </a:bodyPr>
              <a:lstStyle/>
              <a:p>
                <a:r>
                  <a:rPr lang="en-US" altLang="zh-CN" sz="1600" i="1" dirty="0" err="1"/>
                  <a:t>T</a:t>
                </a:r>
                <a:r>
                  <a:rPr lang="en-US" altLang="zh-CN" sz="1600" baseline="-25000" dirty="0" err="1"/>
                  <a:t>pd</a:t>
                </a:r>
                <a:endParaRPr lang="zh-CN" altLang="en-US" sz="1600" dirty="0"/>
              </a:p>
            </p:txBody>
          </p:sp>
        </p:grpSp>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slide(fromBottom)">
                                      <p:cBhvr>
                                        <p:cTn id="7" dur="1000"/>
                                        <p:tgtEl>
                                          <p:spTgt spid="77"/>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slide(fromBottom)">
                                      <p:cBhvr>
                                        <p:cTn id="11" dur="1000"/>
                                        <p:tgtEl>
                                          <p:spTgt spid="21"/>
                                        </p:tgtEl>
                                      </p:cBhvr>
                                    </p:animEffect>
                                  </p:childTnLst>
                                </p:cTn>
                              </p:par>
                            </p:childTnLst>
                          </p:cTn>
                        </p:par>
                        <p:par>
                          <p:cTn id="12" fill="hold">
                            <p:stCondLst>
                              <p:cond delay="2000"/>
                            </p:stCondLst>
                            <p:childTnLst>
                              <p:par>
                                <p:cTn id="13" presetID="12" presetClass="entr" presetSubtype="4" fill="hold" nodeType="afterEffect">
                                  <p:stCondLst>
                                    <p:cond delay="0"/>
                                  </p:stCondLst>
                                  <p:childTnLst>
                                    <p:set>
                                      <p:cBhvr>
                                        <p:cTn id="14" dur="1" fill="hold">
                                          <p:stCondLst>
                                            <p:cond delay="0"/>
                                          </p:stCondLst>
                                        </p:cTn>
                                        <p:tgtEl>
                                          <p:spTgt spid="78"/>
                                        </p:tgtEl>
                                        <p:attrNameLst>
                                          <p:attrName>style.visibility</p:attrName>
                                        </p:attrNameLst>
                                      </p:cBhvr>
                                      <p:to>
                                        <p:strVal val="visible"/>
                                      </p:to>
                                    </p:set>
                                    <p:animEffect transition="in" filter="slide(fromBottom)">
                                      <p:cBhvr>
                                        <p:cTn id="15" dur="1000"/>
                                        <p:tgtEl>
                                          <p:spTgt spid="78"/>
                                        </p:tgtEl>
                                      </p:cBhvr>
                                    </p:animEffect>
                                  </p:childTnLst>
                                </p:cTn>
                              </p:par>
                            </p:childTnLst>
                          </p:cTn>
                        </p:par>
                        <p:par>
                          <p:cTn id="16" fill="hold">
                            <p:stCondLst>
                              <p:cond delay="3000"/>
                            </p:stCondLst>
                            <p:childTnLst>
                              <p:par>
                                <p:cTn id="17" presetID="12" presetClass="entr" presetSubtype="4" fill="hold" nodeType="afterEffect">
                                  <p:stCondLst>
                                    <p:cond delay="0"/>
                                  </p:stCondLst>
                                  <p:childTnLst>
                                    <p:set>
                                      <p:cBhvr>
                                        <p:cTn id="18" dur="1" fill="hold">
                                          <p:stCondLst>
                                            <p:cond delay="0"/>
                                          </p:stCondLst>
                                        </p:cTn>
                                        <p:tgtEl>
                                          <p:spTgt spid="22"/>
                                        </p:tgtEl>
                                        <p:attrNameLst>
                                          <p:attrName>style.visibility</p:attrName>
                                        </p:attrNameLst>
                                      </p:cBhvr>
                                      <p:to>
                                        <p:strVal val="visible"/>
                                      </p:to>
                                    </p:set>
                                    <p:animEffect transition="in" filter="slide(fromBottom)">
                                      <p:cBhvr>
                                        <p:cTn id="19" dur="1000"/>
                                        <p:tgtEl>
                                          <p:spTgt spid="22"/>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4" fill="hold" nodeType="clickEffect">
                                  <p:stCondLst>
                                    <p:cond delay="0"/>
                                  </p:stCondLst>
                                  <p:childTnLst>
                                    <p:set>
                                      <p:cBhvr>
                                        <p:cTn id="23" dur="1" fill="hold">
                                          <p:stCondLst>
                                            <p:cond delay="0"/>
                                          </p:stCondLst>
                                        </p:cTn>
                                        <p:tgtEl>
                                          <p:spTgt spid="40"/>
                                        </p:tgtEl>
                                        <p:attrNameLst>
                                          <p:attrName>style.visibility</p:attrName>
                                        </p:attrNameLst>
                                      </p:cBhvr>
                                      <p:to>
                                        <p:strVal val="visible"/>
                                      </p:to>
                                    </p:set>
                                    <p:animEffect transition="in" filter="slide(fromBottom)">
                                      <p:cBhvr>
                                        <p:cTn id="24" dur="1000"/>
                                        <p:tgtEl>
                                          <p:spTgt spid="40"/>
                                        </p:tgtEl>
                                      </p:cBhvr>
                                    </p:animEffect>
                                  </p:childTnLst>
                                </p:cTn>
                              </p:par>
                            </p:childTnLst>
                          </p:cTn>
                        </p:par>
                        <p:par>
                          <p:cTn id="25" fill="hold">
                            <p:stCondLst>
                              <p:cond delay="1000"/>
                            </p:stCondLst>
                            <p:childTnLst>
                              <p:par>
                                <p:cTn id="26" presetID="12" presetClass="entr" presetSubtype="4" fill="hold" nodeType="afterEffect">
                                  <p:stCondLst>
                                    <p:cond delay="0"/>
                                  </p:stCondLst>
                                  <p:childTnLst>
                                    <p:set>
                                      <p:cBhvr>
                                        <p:cTn id="27" dur="1" fill="hold">
                                          <p:stCondLst>
                                            <p:cond delay="0"/>
                                          </p:stCondLst>
                                        </p:cTn>
                                        <p:tgtEl>
                                          <p:spTgt spid="63"/>
                                        </p:tgtEl>
                                        <p:attrNameLst>
                                          <p:attrName>style.visibility</p:attrName>
                                        </p:attrNameLst>
                                      </p:cBhvr>
                                      <p:to>
                                        <p:strVal val="visible"/>
                                      </p:to>
                                    </p:set>
                                    <p:animEffect transition="in" filter="slide(fromBottom)">
                                      <p:cBhvr>
                                        <p:cTn id="28" dur="1000"/>
                                        <p:tgtEl>
                                          <p:spTgt spid="63"/>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4" fill="hold" grpId="0" nodeType="click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slide(fromBottom)">
                                      <p:cBhvr>
                                        <p:cTn id="33" dur="1000"/>
                                        <p:tgtEl>
                                          <p:spTgt spid="43"/>
                                        </p:tgtEl>
                                      </p:cBhvr>
                                    </p:animEffect>
                                  </p:childTnLst>
                                </p:cTn>
                              </p:par>
                            </p:childTnLst>
                          </p:cTn>
                        </p:par>
                        <p:par>
                          <p:cTn id="34" fill="hold">
                            <p:stCondLst>
                              <p:cond delay="1000"/>
                            </p:stCondLst>
                            <p:childTnLst>
                              <p:par>
                                <p:cTn id="35" presetID="42" presetClass="entr" presetSubtype="0" fill="hold" nodeType="after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fade">
                                      <p:cBhvr>
                                        <p:cTn id="37" dur="1000"/>
                                        <p:tgtEl>
                                          <p:spTgt spid="3"/>
                                        </p:tgtEl>
                                      </p:cBhvr>
                                    </p:animEffect>
                                    <p:anim calcmode="lin" valueType="num">
                                      <p:cBhvr>
                                        <p:cTn id="38" dur="1000" fill="hold"/>
                                        <p:tgtEl>
                                          <p:spTgt spid="3"/>
                                        </p:tgtEl>
                                        <p:attrNameLst>
                                          <p:attrName>ppt_x</p:attrName>
                                        </p:attrNameLst>
                                      </p:cBhvr>
                                      <p:tavLst>
                                        <p:tav tm="0">
                                          <p:val>
                                            <p:strVal val="#ppt_x"/>
                                          </p:val>
                                        </p:tav>
                                        <p:tav tm="100000">
                                          <p:val>
                                            <p:strVal val="#ppt_x"/>
                                          </p:val>
                                        </p:tav>
                                      </p:tavLst>
                                    </p:anim>
                                    <p:anim calcmode="lin" valueType="num">
                                      <p:cBhvr>
                                        <p:cTn id="3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66"/>
                                        </p:tgtEl>
                                        <p:attrNameLst>
                                          <p:attrName>style.visibility</p:attrName>
                                        </p:attrNameLst>
                                      </p:cBhvr>
                                      <p:to>
                                        <p:strVal val="visible"/>
                                      </p:to>
                                    </p:set>
                                    <p:animEffect transition="in" filter="slide(fromBottom)">
                                      <p:cBhvr>
                                        <p:cTn id="44" dur="1000"/>
                                        <p:tgtEl>
                                          <p:spTgt spid="66"/>
                                        </p:tgtEl>
                                      </p:cBhvr>
                                    </p:animEffect>
                                  </p:childTnLst>
                                </p:cTn>
                              </p:par>
                            </p:childTnLst>
                          </p:cTn>
                        </p:par>
                        <p:par>
                          <p:cTn id="45" fill="hold">
                            <p:stCondLst>
                              <p:cond delay="1000"/>
                            </p:stCondLst>
                            <p:childTnLst>
                              <p:par>
                                <p:cTn id="46" presetID="42" presetClass="entr" presetSubtype="0" fill="hold" nodeType="afterEffect">
                                  <p:stCondLst>
                                    <p:cond delay="0"/>
                                  </p:stCondLst>
                                  <p:childTnLst>
                                    <p:set>
                                      <p:cBhvr>
                                        <p:cTn id="47" dur="1" fill="hold">
                                          <p:stCondLst>
                                            <p:cond delay="0"/>
                                          </p:stCondLst>
                                        </p:cTn>
                                        <p:tgtEl>
                                          <p:spTgt spid="4"/>
                                        </p:tgtEl>
                                        <p:attrNameLst>
                                          <p:attrName>style.visibility</p:attrName>
                                        </p:attrNameLst>
                                      </p:cBhvr>
                                      <p:to>
                                        <p:strVal val="visible"/>
                                      </p:to>
                                    </p:set>
                                    <p:animEffect transition="in" filter="fade">
                                      <p:cBhvr>
                                        <p:cTn id="48" dur="1000"/>
                                        <p:tgtEl>
                                          <p:spTgt spid="4"/>
                                        </p:tgtEl>
                                      </p:cBhvr>
                                    </p:animEffect>
                                    <p:anim calcmode="lin" valueType="num">
                                      <p:cBhvr>
                                        <p:cTn id="49" dur="1000" fill="hold"/>
                                        <p:tgtEl>
                                          <p:spTgt spid="4"/>
                                        </p:tgtEl>
                                        <p:attrNameLst>
                                          <p:attrName>ppt_x</p:attrName>
                                        </p:attrNameLst>
                                      </p:cBhvr>
                                      <p:tavLst>
                                        <p:tav tm="0">
                                          <p:val>
                                            <p:strVal val="#ppt_x"/>
                                          </p:val>
                                        </p:tav>
                                        <p:tav tm="100000">
                                          <p:val>
                                            <p:strVal val="#ppt_x"/>
                                          </p:val>
                                        </p:tav>
                                      </p:tavLst>
                                    </p:anim>
                                    <p:anim calcmode="lin" valueType="num">
                                      <p:cBhvr>
                                        <p:cTn id="50"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66" grpId="0"/>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组合 17"/>
          <p:cNvGrpSpPr/>
          <p:nvPr/>
        </p:nvGrpSpPr>
        <p:grpSpPr>
          <a:xfrm>
            <a:off x="392432" y="769746"/>
            <a:ext cx="2088222" cy="420971"/>
            <a:chOff x="670560" y="892917"/>
            <a:chExt cx="2088222" cy="420971"/>
          </a:xfrm>
        </p:grpSpPr>
        <p:sp>
          <p:nvSpPr>
            <p:cNvPr id="31" name="矩形 30"/>
            <p:cNvSpPr/>
            <p:nvPr/>
          </p:nvSpPr>
          <p:spPr>
            <a:xfrm>
              <a:off x="1035233" y="913778"/>
              <a:ext cx="1723549"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竞争冒险概念</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40"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60" name="矩形 59"/>
          <p:cNvSpPr/>
          <p:nvPr/>
        </p:nvSpPr>
        <p:spPr>
          <a:xfrm>
            <a:off x="670309" y="2917483"/>
            <a:ext cx="7852611" cy="646331"/>
          </a:xfrm>
          <a:prstGeom prst="rect">
            <a:avLst/>
          </a:prstGeom>
        </p:spPr>
        <p:txBody>
          <a:bodyPr wrap="square">
            <a:spAutoFit/>
          </a:bodyPr>
          <a:lstStyle/>
          <a:p>
            <a:pPr marL="717550" indent="-717550"/>
            <a:r>
              <a:rPr lang="zh-CN" altLang="en-US" b="1" dirty="0">
                <a:solidFill>
                  <a:srgbClr val="FF00FF"/>
                </a:solidFill>
                <a:latin typeface="黑体" panose="02010609060101010101" pitchFamily="49" charset="-122"/>
                <a:ea typeface="黑体" panose="02010609060101010101" pitchFamily="49" charset="-122"/>
              </a:rPr>
              <a:t>竞争</a:t>
            </a:r>
            <a:r>
              <a:rPr lang="zh-CN" altLang="en-US" dirty="0">
                <a:solidFill>
                  <a:srgbClr val="000000"/>
                </a:solidFill>
                <a:latin typeface="黑体" panose="02010609060101010101" pitchFamily="49" charset="-122"/>
                <a:ea typeface="黑体" panose="02010609060101010101" pitchFamily="49" charset="-122"/>
              </a:rPr>
              <a:t>：</a:t>
            </a:r>
            <a:r>
              <a:rPr lang="zh-CN" altLang="en-US" b="1" dirty="0">
                <a:solidFill>
                  <a:srgbClr val="000000"/>
                </a:solidFill>
                <a:latin typeface="楷体" panose="02010609060101010101" pitchFamily="49" charset="-122"/>
                <a:ea typeface="楷体" panose="02010609060101010101" pitchFamily="49" charset="-122"/>
              </a:rPr>
              <a:t>由于逻辑门存在延时时间，信号经由不同的路径达到某一会合点的时间有先有后的现象。</a:t>
            </a:r>
            <a:endParaRPr lang="zh-CN" altLang="en-US" b="1" dirty="0">
              <a:solidFill>
                <a:srgbClr val="000000"/>
              </a:solidFill>
              <a:latin typeface="楷体" panose="02010609060101010101" pitchFamily="49" charset="-122"/>
              <a:ea typeface="楷体" panose="02010609060101010101" pitchFamily="49" charset="-122"/>
            </a:endParaRPr>
          </a:p>
        </p:txBody>
      </p:sp>
      <p:sp>
        <p:nvSpPr>
          <p:cNvPr id="61" name="矩形 60"/>
          <p:cNvSpPr/>
          <p:nvPr/>
        </p:nvSpPr>
        <p:spPr>
          <a:xfrm>
            <a:off x="674319" y="3515051"/>
            <a:ext cx="7852611" cy="646331"/>
          </a:xfrm>
          <a:prstGeom prst="rect">
            <a:avLst/>
          </a:prstGeom>
        </p:spPr>
        <p:txBody>
          <a:bodyPr wrap="square">
            <a:spAutoFit/>
          </a:bodyPr>
          <a:lstStyle/>
          <a:p>
            <a:pPr marL="717550" indent="-717550"/>
            <a:r>
              <a:rPr lang="zh-CN" altLang="en-US" b="1" dirty="0">
                <a:solidFill>
                  <a:srgbClr val="FF00FF"/>
                </a:solidFill>
                <a:latin typeface="黑体" panose="02010609060101010101" pitchFamily="49" charset="-122"/>
                <a:ea typeface="黑体" panose="02010609060101010101" pitchFamily="49" charset="-122"/>
              </a:rPr>
              <a:t>冒险</a:t>
            </a:r>
            <a:r>
              <a:rPr lang="zh-CN" altLang="en-US" dirty="0">
                <a:solidFill>
                  <a:srgbClr val="000000"/>
                </a:solidFill>
                <a:latin typeface="黑体" panose="02010609060101010101" pitchFamily="49" charset="-122"/>
                <a:ea typeface="黑体" panose="02010609060101010101" pitchFamily="49" charset="-122"/>
              </a:rPr>
              <a:t>：</a:t>
            </a:r>
            <a:r>
              <a:rPr lang="zh-CN" altLang="en-US" b="1" dirty="0">
                <a:solidFill>
                  <a:srgbClr val="000000"/>
                </a:solidFill>
                <a:latin typeface="楷体" panose="02010609060101010101" pitchFamily="49" charset="-122"/>
                <a:ea typeface="楷体" panose="02010609060101010101" pitchFamily="49" charset="-122"/>
              </a:rPr>
              <a:t>由于竞争而引起电路输出发生</a:t>
            </a:r>
            <a:r>
              <a:rPr lang="zh-CN" altLang="en-US" b="1" dirty="0">
                <a:solidFill>
                  <a:srgbClr val="FF00FF"/>
                </a:solidFill>
                <a:latin typeface="楷体" panose="02010609060101010101" pitchFamily="49" charset="-122"/>
                <a:ea typeface="楷体" panose="02010609060101010101" pitchFamily="49" charset="-122"/>
              </a:rPr>
              <a:t>瞬间错误现象</a:t>
            </a:r>
            <a:r>
              <a:rPr lang="zh-CN" altLang="en-US" b="1" dirty="0">
                <a:solidFill>
                  <a:srgbClr val="000000"/>
                </a:solidFill>
                <a:latin typeface="楷体" panose="02010609060101010101" pitchFamily="49" charset="-122"/>
                <a:ea typeface="楷体" panose="02010609060101010101" pitchFamily="49" charset="-122"/>
              </a:rPr>
              <a:t>称为冒险。冒险表现为输出端出现了原设计中没有的</a:t>
            </a:r>
            <a:r>
              <a:rPr lang="zh-CN" altLang="en-US" b="1" dirty="0">
                <a:solidFill>
                  <a:srgbClr val="FF00FF"/>
                </a:solidFill>
                <a:latin typeface="楷体" panose="02010609060101010101" pitchFamily="49" charset="-122"/>
                <a:ea typeface="楷体" panose="02010609060101010101" pitchFamily="49" charset="-122"/>
              </a:rPr>
              <a:t>窄脉冲</a:t>
            </a:r>
            <a:r>
              <a:rPr lang="zh-CN" altLang="en-US" b="1" dirty="0">
                <a:solidFill>
                  <a:srgbClr val="000000"/>
                </a:solidFill>
                <a:latin typeface="楷体" panose="02010609060101010101" pitchFamily="49" charset="-122"/>
                <a:ea typeface="楷体" panose="02010609060101010101" pitchFamily="49" charset="-122"/>
              </a:rPr>
              <a:t>，常称其为</a:t>
            </a:r>
            <a:r>
              <a:rPr lang="zh-CN" altLang="en-US" b="1" dirty="0">
                <a:solidFill>
                  <a:srgbClr val="FF00FF"/>
                </a:solidFill>
                <a:latin typeface="楷体" panose="02010609060101010101" pitchFamily="49" charset="-122"/>
                <a:ea typeface="楷体" panose="02010609060101010101" pitchFamily="49" charset="-122"/>
              </a:rPr>
              <a:t>毛刺</a:t>
            </a:r>
            <a:r>
              <a:rPr lang="zh-CN" altLang="en-US" b="1" dirty="0">
                <a:solidFill>
                  <a:srgbClr val="000000"/>
                </a:solidFill>
                <a:latin typeface="楷体" panose="02010609060101010101" pitchFamily="49" charset="-122"/>
                <a:ea typeface="楷体" panose="02010609060101010101" pitchFamily="49" charset="-122"/>
              </a:rPr>
              <a:t>。</a:t>
            </a:r>
            <a:endParaRPr lang="zh-CN" altLang="en-US" b="1" dirty="0">
              <a:solidFill>
                <a:srgbClr val="000000"/>
              </a:solidFill>
              <a:latin typeface="楷体" panose="02010609060101010101" pitchFamily="49" charset="-122"/>
              <a:ea typeface="楷体" panose="02010609060101010101" pitchFamily="49" charset="-122"/>
            </a:endParaRPr>
          </a:p>
        </p:txBody>
      </p:sp>
      <p:grpSp>
        <p:nvGrpSpPr>
          <p:cNvPr id="16" name="组合 15"/>
          <p:cNvGrpSpPr/>
          <p:nvPr/>
        </p:nvGrpSpPr>
        <p:grpSpPr>
          <a:xfrm>
            <a:off x="1389415" y="1334013"/>
            <a:ext cx="6217484" cy="1446210"/>
            <a:chOff x="1389415" y="1334013"/>
            <a:chExt cx="6217484" cy="1446210"/>
          </a:xfrm>
        </p:grpSpPr>
        <p:graphicFrame>
          <p:nvGraphicFramePr>
            <p:cNvPr id="62" name="Object 14"/>
            <p:cNvGraphicFramePr>
              <a:graphicFrameLocks noChangeAspect="1"/>
            </p:cNvGraphicFramePr>
            <p:nvPr/>
          </p:nvGraphicFramePr>
          <p:xfrm>
            <a:off x="1389415" y="1351225"/>
            <a:ext cx="2574925" cy="1401762"/>
          </p:xfrm>
          <a:graphic>
            <a:graphicData uri="http://schemas.openxmlformats.org/presentationml/2006/ole">
              <mc:AlternateContent xmlns:mc="http://schemas.openxmlformats.org/markup-compatibility/2006">
                <mc:Choice xmlns:v="urn:schemas-microsoft-com:vml" Requires="v">
                  <p:oleObj spid="_x0000_s72710" name="Visio" r:id="rId2" imgW="1167765" imgH="626110" progId="Visio.Drawing.11">
                    <p:embed/>
                  </p:oleObj>
                </mc:Choice>
                <mc:Fallback>
                  <p:oleObj name="Visio" r:id="rId2" imgW="1167765" imgH="626110" progId="Visio.Drawing.11">
                    <p:embed/>
                    <p:pic>
                      <p:nvPicPr>
                        <p:cNvPr id="0"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9415" y="1351225"/>
                          <a:ext cx="2574925" cy="140176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aphicFrame>
          <p:nvGraphicFramePr>
            <p:cNvPr id="63" name="Object 20"/>
            <p:cNvGraphicFramePr>
              <a:graphicFrameLocks noChangeAspect="1"/>
            </p:cNvGraphicFramePr>
            <p:nvPr/>
          </p:nvGraphicFramePr>
          <p:xfrm>
            <a:off x="5031974" y="1334013"/>
            <a:ext cx="2574925" cy="1404937"/>
          </p:xfrm>
          <a:graphic>
            <a:graphicData uri="http://schemas.openxmlformats.org/presentationml/2006/ole">
              <mc:AlternateContent xmlns:mc="http://schemas.openxmlformats.org/markup-compatibility/2006">
                <mc:Choice xmlns:v="urn:schemas-microsoft-com:vml" Requires="v">
                  <p:oleObj spid="_x0000_s72711" name="Visio" r:id="rId4" imgW="1590675" imgH="847725" progId="Visio.Drawing.11">
                    <p:embed/>
                  </p:oleObj>
                </mc:Choice>
                <mc:Fallback>
                  <p:oleObj name="Visio" r:id="rId4" imgW="1590675" imgH="847725" progId="Visio.Drawing.11">
                    <p:embed/>
                    <p:pic>
                      <p:nvPicPr>
                        <p:cNvPr id="0" name="Object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31974" y="1334013"/>
                          <a:ext cx="2574925" cy="140493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sp>
          <p:nvSpPr>
            <p:cNvPr id="64" name="椭圆 63"/>
            <p:cNvSpPr/>
            <p:nvPr/>
          </p:nvSpPr>
          <p:spPr>
            <a:xfrm>
              <a:off x="2224191" y="2290939"/>
              <a:ext cx="320839" cy="489284"/>
            </a:xfrm>
            <a:prstGeom prst="ellipse">
              <a:avLst/>
            </a:prstGeom>
            <a:solidFill>
              <a:srgbClr val="FF0000">
                <a:alpha val="25000"/>
              </a:srgbClr>
            </a:solidFill>
            <a:ln w="28575">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椭圆 64"/>
            <p:cNvSpPr/>
            <p:nvPr/>
          </p:nvSpPr>
          <p:spPr>
            <a:xfrm>
              <a:off x="6880413" y="2282918"/>
              <a:ext cx="320839" cy="489284"/>
            </a:xfrm>
            <a:prstGeom prst="ellipse">
              <a:avLst/>
            </a:prstGeom>
            <a:solidFill>
              <a:srgbClr val="FF0000">
                <a:alpha val="25000"/>
              </a:srgbClr>
            </a:solidFill>
            <a:ln w="28575">
              <a:solidFill>
                <a:srgbClr val="0000FF"/>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6" name="圆角矩形标注 65"/>
          <p:cNvSpPr/>
          <p:nvPr/>
        </p:nvSpPr>
        <p:spPr>
          <a:xfrm>
            <a:off x="2729488" y="1905929"/>
            <a:ext cx="798094" cy="404101"/>
          </a:xfrm>
          <a:prstGeom prst="wedgeRoundRectCallout">
            <a:avLst>
              <a:gd name="adj1" fmla="val -63377"/>
              <a:gd name="adj2" fmla="val 7362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latin typeface="Arial" panose="020B0604020202020204" pitchFamily="34" charset="0"/>
                <a:ea typeface="黑体" panose="02010609060101010101" pitchFamily="49" charset="-122"/>
                <a:cs typeface="Arial" panose="020B0604020202020204" pitchFamily="34" charset="0"/>
              </a:rPr>
              <a:t>“1”</a:t>
            </a:r>
            <a:r>
              <a:rPr lang="zh-CN" altLang="en-US" sz="1600" dirty="0">
                <a:latin typeface="Arial" panose="020B0604020202020204" pitchFamily="34" charset="0"/>
                <a:ea typeface="黑体" panose="02010609060101010101" pitchFamily="49" charset="-122"/>
                <a:cs typeface="Arial" panose="020B0604020202020204" pitchFamily="34" charset="0"/>
              </a:rPr>
              <a:t>冒险</a:t>
            </a:r>
            <a:endParaRPr lang="zh-CN" altLang="en-US" sz="1600" dirty="0">
              <a:latin typeface="Arial" panose="020B0604020202020204" pitchFamily="34" charset="0"/>
              <a:ea typeface="黑体" panose="02010609060101010101" pitchFamily="49" charset="-122"/>
              <a:cs typeface="Arial" panose="020B0604020202020204" pitchFamily="34" charset="0"/>
            </a:endParaRPr>
          </a:p>
        </p:txBody>
      </p:sp>
      <p:sp>
        <p:nvSpPr>
          <p:cNvPr id="67" name="圆角矩形标注 66"/>
          <p:cNvSpPr/>
          <p:nvPr/>
        </p:nvSpPr>
        <p:spPr>
          <a:xfrm>
            <a:off x="7353624" y="1942024"/>
            <a:ext cx="798094" cy="404101"/>
          </a:xfrm>
          <a:prstGeom prst="wedgeRoundRectCallout">
            <a:avLst>
              <a:gd name="adj1" fmla="val -63377"/>
              <a:gd name="adj2" fmla="val 7362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latin typeface="Arial" panose="020B0604020202020204" pitchFamily="34" charset="0"/>
                <a:ea typeface="黑体" panose="02010609060101010101" pitchFamily="49" charset="-122"/>
                <a:cs typeface="Arial" panose="020B0604020202020204" pitchFamily="34" charset="0"/>
              </a:rPr>
              <a:t>“0”</a:t>
            </a:r>
            <a:r>
              <a:rPr lang="zh-CN" altLang="en-US" sz="1600" dirty="0">
                <a:latin typeface="Arial" panose="020B0604020202020204" pitchFamily="34" charset="0"/>
                <a:ea typeface="黑体" panose="02010609060101010101" pitchFamily="49" charset="-122"/>
                <a:cs typeface="Arial" panose="020B0604020202020204" pitchFamily="34" charset="0"/>
              </a:rPr>
              <a:t>冒险</a:t>
            </a:r>
            <a:endParaRPr lang="zh-CN" altLang="en-US" sz="1600" dirty="0">
              <a:latin typeface="Arial" panose="020B0604020202020204" pitchFamily="34" charset="0"/>
              <a:ea typeface="黑体" panose="02010609060101010101" pitchFamily="49" charset="-122"/>
              <a:cs typeface="Arial" panose="020B0604020202020204" pitchFamily="34" charset="0"/>
            </a:endParaRPr>
          </a:p>
        </p:txBody>
      </p:sp>
      <p:grpSp>
        <p:nvGrpSpPr>
          <p:cNvPr id="13" name="组合 12"/>
          <p:cNvGrpSpPr/>
          <p:nvPr/>
        </p:nvGrpSpPr>
        <p:grpSpPr>
          <a:xfrm>
            <a:off x="684258" y="4135616"/>
            <a:ext cx="5147676" cy="739780"/>
            <a:chOff x="524518" y="3525252"/>
            <a:chExt cx="5147676" cy="739780"/>
          </a:xfrm>
        </p:grpSpPr>
        <p:sp>
          <p:nvSpPr>
            <p:cNvPr id="14" name="圆角矩形 13"/>
            <p:cNvSpPr/>
            <p:nvPr/>
          </p:nvSpPr>
          <p:spPr>
            <a:xfrm>
              <a:off x="720389" y="3701656"/>
              <a:ext cx="4951805" cy="563376"/>
            </a:xfrm>
            <a:prstGeom prst="roundRect">
              <a:avLst>
                <a:gd name="adj" fmla="val 4386"/>
              </a:avLst>
            </a:prstGeom>
            <a:solidFill>
              <a:schemeClr val="bg1"/>
            </a:solidFill>
            <a:ln w="28575">
              <a:solidFill>
                <a:srgbClr val="33669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9705"/>
              <a:r>
                <a:rPr lang="zh-CN" altLang="en-US" dirty="0">
                  <a:solidFill>
                    <a:srgbClr val="6600FF"/>
                  </a:solidFill>
                  <a:latin typeface="黑体" panose="02010609060101010101" pitchFamily="49" charset="-122"/>
                  <a:ea typeface="黑体" panose="02010609060101010101" pitchFamily="49" charset="-122"/>
                </a:rPr>
                <a:t> 如何判断组合逻辑电路是否存在冒险</a:t>
              </a:r>
              <a:r>
                <a:rPr lang="zh-CN" altLang="zh-CN" dirty="0">
                  <a:solidFill>
                    <a:srgbClr val="6600FF"/>
                  </a:solidFill>
                  <a:latin typeface="黑体" panose="02010609060101010101" pitchFamily="49" charset="-122"/>
                  <a:ea typeface="黑体" panose="02010609060101010101" pitchFamily="49" charset="-122"/>
                </a:rPr>
                <a:t>？</a:t>
              </a:r>
              <a:endParaRPr lang="zh-CN" altLang="en-US" b="1" dirty="0">
                <a:solidFill>
                  <a:srgbClr val="6600FF"/>
                </a:solidFill>
                <a:latin typeface="黑体" panose="02010609060101010101" pitchFamily="49" charset="-122"/>
                <a:ea typeface="黑体" panose="02010609060101010101" pitchFamily="49" charset="-122"/>
              </a:endParaRPr>
            </a:p>
          </p:txBody>
        </p:sp>
        <p:pic>
          <p:nvPicPr>
            <p:cNvPr id="15" name="Picture 7" descr="ç¸å³å¾ç"/>
            <p:cNvPicPr>
              <a:picLocks noChangeAspect="1" noChangeArrowheads="1"/>
            </p:cNvPicPr>
            <p:nvPr/>
          </p:nvPicPr>
          <p:blipFill>
            <a:blip r:embed="rId6" cstate="print"/>
            <a:srcRect/>
            <a:stretch>
              <a:fillRect/>
            </a:stretch>
          </p:blipFill>
          <p:spPr bwMode="auto">
            <a:xfrm>
              <a:off x="524518" y="3525252"/>
              <a:ext cx="464550" cy="441158"/>
            </a:xfrm>
            <a:prstGeom prst="rect">
              <a:avLst/>
            </a:prstGeom>
            <a:noFill/>
          </p:spPr>
        </p:pic>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slide(fromBottom)">
                                      <p:cBhvr>
                                        <p:cTn id="7" dur="1000"/>
                                        <p:tgtEl>
                                          <p:spTgt spid="30"/>
                                        </p:tgtEl>
                                      </p:cBhvr>
                                    </p:animEffect>
                                  </p:childTnLst>
                                </p:cTn>
                              </p:par>
                            </p:childTnLst>
                          </p:cTn>
                        </p:par>
                        <p:par>
                          <p:cTn id="8" fill="hold">
                            <p:stCondLst>
                              <p:cond delay="1000"/>
                            </p:stCondLst>
                            <p:childTnLst>
                              <p:par>
                                <p:cTn id="9" presetID="12" presetClass="entr" presetSubtype="4" fill="hold" nodeType="afterEffect">
                                  <p:stCondLst>
                                    <p:cond delay="0"/>
                                  </p:stCondLst>
                                  <p:childTnLst>
                                    <p:set>
                                      <p:cBhvr>
                                        <p:cTn id="10" dur="1" fill="hold">
                                          <p:stCondLst>
                                            <p:cond delay="0"/>
                                          </p:stCondLst>
                                        </p:cTn>
                                        <p:tgtEl>
                                          <p:spTgt spid="16"/>
                                        </p:tgtEl>
                                        <p:attrNameLst>
                                          <p:attrName>style.visibility</p:attrName>
                                        </p:attrNameLst>
                                      </p:cBhvr>
                                      <p:to>
                                        <p:strVal val="visible"/>
                                      </p:to>
                                    </p:set>
                                    <p:animEffect transition="in" filter="slide(fromBottom)">
                                      <p:cBhvr>
                                        <p:cTn id="11" dur="500"/>
                                        <p:tgtEl>
                                          <p:spTgt spid="16"/>
                                        </p:tgtEl>
                                      </p:cBhvr>
                                    </p:animEffect>
                                  </p:childTnLst>
                                </p:cTn>
                              </p:par>
                            </p:childTnLst>
                          </p:cTn>
                        </p:par>
                        <p:par>
                          <p:cTn id="12" fill="hold">
                            <p:stCondLst>
                              <p:cond delay="1500"/>
                            </p:stCondLst>
                            <p:childTnLst>
                              <p:par>
                                <p:cTn id="13" presetID="12" presetClass="entr" presetSubtype="4" fill="hold" grpId="0" nodeType="afterEffect">
                                  <p:stCondLst>
                                    <p:cond delay="0"/>
                                  </p:stCondLst>
                                  <p:childTnLst>
                                    <p:set>
                                      <p:cBhvr>
                                        <p:cTn id="14" dur="1" fill="hold">
                                          <p:stCondLst>
                                            <p:cond delay="0"/>
                                          </p:stCondLst>
                                        </p:cTn>
                                        <p:tgtEl>
                                          <p:spTgt spid="60"/>
                                        </p:tgtEl>
                                        <p:attrNameLst>
                                          <p:attrName>style.visibility</p:attrName>
                                        </p:attrNameLst>
                                      </p:cBhvr>
                                      <p:to>
                                        <p:strVal val="visible"/>
                                      </p:to>
                                    </p:set>
                                    <p:animEffect transition="in" filter="slide(fromBottom)">
                                      <p:cBhvr>
                                        <p:cTn id="15" dur="1000"/>
                                        <p:tgtEl>
                                          <p:spTgt spid="60"/>
                                        </p:tgtEl>
                                      </p:cBhvr>
                                    </p:animEffect>
                                  </p:childTnLst>
                                </p:cTn>
                              </p:par>
                            </p:childTnLst>
                          </p:cTn>
                        </p:par>
                        <p:par>
                          <p:cTn id="16" fill="hold">
                            <p:stCondLst>
                              <p:cond delay="2500"/>
                            </p:stCondLst>
                            <p:childTnLst>
                              <p:par>
                                <p:cTn id="17" presetID="12" presetClass="entr" presetSubtype="4" fill="hold" grpId="0" nodeType="afterEffect">
                                  <p:stCondLst>
                                    <p:cond delay="0"/>
                                  </p:stCondLst>
                                  <p:childTnLst>
                                    <p:set>
                                      <p:cBhvr>
                                        <p:cTn id="18" dur="1" fill="hold">
                                          <p:stCondLst>
                                            <p:cond delay="0"/>
                                          </p:stCondLst>
                                        </p:cTn>
                                        <p:tgtEl>
                                          <p:spTgt spid="61"/>
                                        </p:tgtEl>
                                        <p:attrNameLst>
                                          <p:attrName>style.visibility</p:attrName>
                                        </p:attrNameLst>
                                      </p:cBhvr>
                                      <p:to>
                                        <p:strVal val="visible"/>
                                      </p:to>
                                    </p:set>
                                    <p:animEffect transition="in" filter="slide(fromBottom)">
                                      <p:cBhvr>
                                        <p:cTn id="19" dur="1000"/>
                                        <p:tgtEl>
                                          <p:spTgt spid="61"/>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66"/>
                                        </p:tgtEl>
                                        <p:attrNameLst>
                                          <p:attrName>style.visibility</p:attrName>
                                        </p:attrNameLst>
                                      </p:cBhvr>
                                      <p:to>
                                        <p:strVal val="visible"/>
                                      </p:to>
                                    </p:set>
                                    <p:animEffect transition="in" filter="wipe(left)">
                                      <p:cBhvr>
                                        <p:cTn id="24" dur="1000"/>
                                        <p:tgtEl>
                                          <p:spTgt spid="66"/>
                                        </p:tgtEl>
                                      </p:cBhvr>
                                    </p:animEffect>
                                  </p:childTnLst>
                                </p:cTn>
                              </p:par>
                            </p:childTnLst>
                          </p:cTn>
                        </p:par>
                        <p:par>
                          <p:cTn id="25" fill="hold">
                            <p:stCondLst>
                              <p:cond delay="1000"/>
                            </p:stCondLst>
                            <p:childTnLst>
                              <p:par>
                                <p:cTn id="26" presetID="22" presetClass="entr" presetSubtype="8" fill="hold" grpId="0" nodeType="afterEffect">
                                  <p:stCondLst>
                                    <p:cond delay="0"/>
                                  </p:stCondLst>
                                  <p:childTnLst>
                                    <p:set>
                                      <p:cBhvr>
                                        <p:cTn id="27" dur="1" fill="hold">
                                          <p:stCondLst>
                                            <p:cond delay="0"/>
                                          </p:stCondLst>
                                        </p:cTn>
                                        <p:tgtEl>
                                          <p:spTgt spid="67"/>
                                        </p:tgtEl>
                                        <p:attrNameLst>
                                          <p:attrName>style.visibility</p:attrName>
                                        </p:attrNameLst>
                                      </p:cBhvr>
                                      <p:to>
                                        <p:strVal val="visible"/>
                                      </p:to>
                                    </p:set>
                                    <p:animEffect transition="in" filter="wipe(left)">
                                      <p:cBhvr>
                                        <p:cTn id="28" dur="1000"/>
                                        <p:tgtEl>
                                          <p:spTgt spid="67"/>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left)">
                                      <p:cBhvr>
                                        <p:cTn id="33"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1" grpId="0"/>
      <p:bldP spid="66" grpId="0" animBg="1"/>
      <p:bldP spid="67"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组合 17"/>
          <p:cNvGrpSpPr/>
          <p:nvPr/>
        </p:nvGrpSpPr>
        <p:grpSpPr>
          <a:xfrm>
            <a:off x="392432" y="761724"/>
            <a:ext cx="3425126" cy="420971"/>
            <a:chOff x="670560" y="892917"/>
            <a:chExt cx="3425126" cy="420971"/>
          </a:xfrm>
        </p:grpSpPr>
        <p:sp>
          <p:nvSpPr>
            <p:cNvPr id="61" name="矩形 60"/>
            <p:cNvSpPr/>
            <p:nvPr/>
          </p:nvSpPr>
          <p:spPr>
            <a:xfrm>
              <a:off x="1035233" y="913778"/>
              <a:ext cx="3060453"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冒险现象的识别</a:t>
              </a:r>
              <a:r>
                <a:rPr lang="en-US" altLang="zh-CN" sz="2000" b="1" dirty="0">
                  <a:solidFill>
                    <a:srgbClr val="002060"/>
                  </a:solidFill>
                  <a:latin typeface="微软雅黑" panose="020B0503020204020204" pitchFamily="34" charset="-122"/>
                  <a:ea typeface="微软雅黑" panose="020B0503020204020204" pitchFamily="34" charset="-122"/>
                </a:rPr>
                <a:t>-(</a:t>
              </a:r>
              <a:r>
                <a:rPr lang="zh-CN" altLang="en-US" b="1" dirty="0">
                  <a:solidFill>
                    <a:srgbClr val="FF00FF"/>
                  </a:solidFill>
                  <a:latin typeface="微软雅黑" panose="020B0503020204020204" pitchFamily="34" charset="-122"/>
                  <a:ea typeface="微软雅黑" panose="020B0503020204020204" pitchFamily="34" charset="-122"/>
                </a:rPr>
                <a:t>代数法</a:t>
              </a:r>
              <a:r>
                <a:rPr lang="en-US" altLang="zh-CN" sz="2000" b="1" dirty="0">
                  <a:solidFill>
                    <a:srgbClr val="002060"/>
                  </a:solidFill>
                  <a:latin typeface="微软雅黑" panose="020B0503020204020204" pitchFamily="34" charset="-122"/>
                  <a:ea typeface="微软雅黑" panose="020B0503020204020204" pitchFamily="34" charset="-122"/>
                </a:rPr>
                <a:t>)</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63"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76" name="矩形 75"/>
          <p:cNvSpPr/>
          <p:nvPr/>
        </p:nvSpPr>
        <p:spPr>
          <a:xfrm>
            <a:off x="712651" y="1216382"/>
            <a:ext cx="7928811" cy="707886"/>
          </a:xfrm>
          <a:prstGeom prst="rect">
            <a:avLst/>
          </a:prstGeom>
        </p:spPr>
        <p:txBody>
          <a:bodyPr wrap="square">
            <a:spAutoFit/>
          </a:bodyPr>
          <a:lstStyle/>
          <a:p>
            <a:pPr marL="717550" indent="-717550">
              <a:lnSpc>
                <a:spcPct val="125000"/>
              </a:lnSpc>
              <a:spcBef>
                <a:spcPct val="50000"/>
              </a:spcBef>
              <a:defRPr/>
            </a:pPr>
            <a:r>
              <a:rPr lang="zh-CN" altLang="en-US" sz="1600" b="1" dirty="0">
                <a:solidFill>
                  <a:srgbClr val="FF00FF"/>
                </a:solidFill>
                <a:latin typeface="黑体" panose="02010609060101010101" pitchFamily="49" charset="-122"/>
                <a:ea typeface="黑体" panose="02010609060101010101" pitchFamily="49" charset="-122"/>
              </a:rPr>
              <a:t>方法</a:t>
            </a:r>
            <a:r>
              <a:rPr lang="zh-CN" altLang="en-US" sz="1600" dirty="0">
                <a:solidFill>
                  <a:srgbClr val="000000"/>
                </a:solidFill>
              </a:rPr>
              <a:t>：</a:t>
            </a:r>
            <a:r>
              <a:rPr lang="zh-CN" altLang="zh-CN" sz="1600" b="1" dirty="0">
                <a:solidFill>
                  <a:srgbClr val="000000"/>
                </a:solidFill>
                <a:latin typeface="楷体" panose="02010609060101010101" pitchFamily="49" charset="-122"/>
                <a:ea typeface="楷体" panose="02010609060101010101" pitchFamily="49" charset="-122"/>
              </a:rPr>
              <a:t>对于一个</a:t>
            </a:r>
            <a:r>
              <a:rPr lang="zh-CN" altLang="en-US" sz="1600" b="1" dirty="0">
                <a:solidFill>
                  <a:srgbClr val="000000"/>
                </a:solidFill>
                <a:latin typeface="楷体" panose="02010609060101010101" pitchFamily="49" charset="-122"/>
                <a:ea typeface="楷体" panose="02010609060101010101" pitchFamily="49" charset="-122"/>
              </a:rPr>
              <a:t>简单的</a:t>
            </a:r>
            <a:r>
              <a:rPr lang="zh-CN" altLang="zh-CN" sz="1600" b="1" dirty="0">
                <a:solidFill>
                  <a:srgbClr val="000000"/>
                </a:solidFill>
                <a:latin typeface="楷体" panose="02010609060101010101" pitchFamily="49" charset="-122"/>
                <a:ea typeface="楷体" panose="02010609060101010101" pitchFamily="49" charset="-122"/>
              </a:rPr>
              <a:t>组合逻辑电路，按照电路写出该电路的原始逻辑表达式</a:t>
            </a:r>
            <a:r>
              <a:rPr lang="zh-CN" altLang="en-US" sz="1600" b="1" dirty="0">
                <a:solidFill>
                  <a:srgbClr val="000000"/>
                </a:solidFill>
                <a:latin typeface="楷体" panose="02010609060101010101" pitchFamily="49" charset="-122"/>
                <a:ea typeface="楷体" panose="02010609060101010101" pitchFamily="49" charset="-122"/>
              </a:rPr>
              <a:t>，当表达式中某些逻辑变量取特定值（</a:t>
            </a:r>
            <a:r>
              <a:rPr lang="en-US" altLang="zh-CN" sz="1600" b="1" dirty="0">
                <a:solidFill>
                  <a:srgbClr val="000000"/>
                </a:solidFill>
                <a:latin typeface="楷体" panose="02010609060101010101" pitchFamily="49" charset="-122"/>
                <a:ea typeface="楷体" panose="02010609060101010101" pitchFamily="49" charset="-122"/>
              </a:rPr>
              <a:t>0</a:t>
            </a:r>
            <a:r>
              <a:rPr lang="zh-CN" altLang="en-US" sz="1600" b="1" dirty="0">
                <a:solidFill>
                  <a:srgbClr val="000000"/>
                </a:solidFill>
                <a:latin typeface="楷体" panose="02010609060101010101" pitchFamily="49" charset="-122"/>
                <a:ea typeface="楷体" panose="02010609060101010101" pitchFamily="49" charset="-122"/>
              </a:rPr>
              <a:t>或</a:t>
            </a:r>
            <a:r>
              <a:rPr lang="en-US" altLang="zh-CN" sz="1600" b="1" dirty="0">
                <a:solidFill>
                  <a:srgbClr val="000000"/>
                </a:solidFill>
                <a:latin typeface="楷体" panose="02010609060101010101" pitchFamily="49" charset="-122"/>
                <a:ea typeface="楷体" panose="02010609060101010101" pitchFamily="49" charset="-122"/>
              </a:rPr>
              <a:t>1</a:t>
            </a:r>
            <a:r>
              <a:rPr lang="zh-CN" altLang="en-US" sz="1600" b="1" dirty="0">
                <a:solidFill>
                  <a:srgbClr val="000000"/>
                </a:solidFill>
                <a:latin typeface="楷体" panose="02010609060101010101" pitchFamily="49" charset="-122"/>
                <a:ea typeface="楷体" panose="02010609060101010101" pitchFamily="49" charset="-122"/>
              </a:rPr>
              <a:t>）时，表达式能转换如下形式：</a:t>
            </a:r>
            <a:endParaRPr lang="zh-CN" altLang="en-US" sz="1600" b="1" dirty="0">
              <a:solidFill>
                <a:srgbClr val="000000"/>
              </a:solidFill>
              <a:latin typeface="楷体" panose="02010609060101010101" pitchFamily="49" charset="-122"/>
              <a:ea typeface="楷体" panose="02010609060101010101" pitchFamily="49" charset="-122"/>
            </a:endParaRPr>
          </a:p>
        </p:txBody>
      </p:sp>
      <p:grpSp>
        <p:nvGrpSpPr>
          <p:cNvPr id="92" name="组合 91"/>
          <p:cNvGrpSpPr/>
          <p:nvPr/>
        </p:nvGrpSpPr>
        <p:grpSpPr>
          <a:xfrm>
            <a:off x="1522551" y="2011687"/>
            <a:ext cx="2451846" cy="352604"/>
            <a:chOff x="1502529" y="2274815"/>
            <a:chExt cx="2451846" cy="352604"/>
          </a:xfrm>
        </p:grpSpPr>
        <p:graphicFrame>
          <p:nvGraphicFramePr>
            <p:cNvPr id="78" name="Object 17"/>
            <p:cNvGraphicFramePr>
              <a:graphicFrameLocks noChangeAspect="1"/>
            </p:cNvGraphicFramePr>
            <p:nvPr/>
          </p:nvGraphicFramePr>
          <p:xfrm>
            <a:off x="1502529" y="2315297"/>
            <a:ext cx="987984" cy="288000"/>
          </p:xfrm>
          <a:graphic>
            <a:graphicData uri="http://schemas.openxmlformats.org/presentationml/2006/ole">
              <mc:AlternateContent xmlns:mc="http://schemas.openxmlformats.org/markup-compatibility/2006">
                <mc:Choice xmlns:v="urn:schemas-microsoft-com:vml" Requires="v">
                  <p:oleObj spid="_x0000_s73742" name="公式" r:id="rId2" imgW="584200" imgH="190500" progId="Equation.3">
                    <p:embed/>
                  </p:oleObj>
                </mc:Choice>
                <mc:Fallback>
                  <p:oleObj name="公式" r:id="rId2" imgW="584200" imgH="190500" progId="Equation.3">
                    <p:embed/>
                    <p:pic>
                      <p:nvPicPr>
                        <p:cNvPr id="0" name="Object 1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02529" y="2315297"/>
                          <a:ext cx="987984" cy="288000"/>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sp>
          <p:nvSpPr>
            <p:cNvPr id="86" name="右箭头 85"/>
            <p:cNvSpPr/>
            <p:nvPr/>
          </p:nvSpPr>
          <p:spPr>
            <a:xfrm>
              <a:off x="2514592" y="2291176"/>
              <a:ext cx="409072" cy="336243"/>
            </a:xfrm>
            <a:prstGeom prst="rightArrow">
              <a:avLst>
                <a:gd name="adj1" fmla="val 50000"/>
                <a:gd name="adj2" fmla="val 53578"/>
              </a:avLst>
            </a:prstGeom>
            <a:solidFill>
              <a:srgbClr val="66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圆角矩形 86"/>
            <p:cNvSpPr/>
            <p:nvPr/>
          </p:nvSpPr>
          <p:spPr>
            <a:xfrm>
              <a:off x="2963731" y="2274815"/>
              <a:ext cx="990644" cy="3368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“1”</a:t>
              </a:r>
              <a:r>
                <a:rPr lang="zh-CN" altLang="en-US" sz="1600" dirty="0">
                  <a:latin typeface="黑体" panose="02010609060101010101" pitchFamily="49" charset="-122"/>
                  <a:ea typeface="黑体" panose="02010609060101010101" pitchFamily="49" charset="-122"/>
                </a:rPr>
                <a:t>冒险</a:t>
              </a:r>
              <a:endParaRPr lang="zh-CN" altLang="en-US" sz="1600" dirty="0">
                <a:latin typeface="黑体" panose="02010609060101010101" pitchFamily="49" charset="-122"/>
                <a:ea typeface="黑体" panose="02010609060101010101" pitchFamily="49" charset="-122"/>
              </a:endParaRPr>
            </a:p>
          </p:txBody>
        </p:sp>
      </p:grpSp>
      <p:grpSp>
        <p:nvGrpSpPr>
          <p:cNvPr id="93" name="组合 92"/>
          <p:cNvGrpSpPr/>
          <p:nvPr/>
        </p:nvGrpSpPr>
        <p:grpSpPr>
          <a:xfrm>
            <a:off x="4767067" y="2011687"/>
            <a:ext cx="2451846" cy="352604"/>
            <a:chOff x="4747045" y="2274815"/>
            <a:chExt cx="2451846" cy="352604"/>
          </a:xfrm>
        </p:grpSpPr>
        <p:graphicFrame>
          <p:nvGraphicFramePr>
            <p:cNvPr id="80" name="Object 18"/>
            <p:cNvGraphicFramePr>
              <a:graphicFrameLocks noChangeAspect="1"/>
            </p:cNvGraphicFramePr>
            <p:nvPr/>
          </p:nvGraphicFramePr>
          <p:xfrm>
            <a:off x="4747045" y="2315297"/>
            <a:ext cx="979456" cy="288000"/>
          </p:xfrm>
          <a:graphic>
            <a:graphicData uri="http://schemas.openxmlformats.org/presentationml/2006/ole">
              <mc:AlternateContent xmlns:mc="http://schemas.openxmlformats.org/markup-compatibility/2006">
                <mc:Choice xmlns:v="urn:schemas-microsoft-com:vml" Requires="v">
                  <p:oleObj spid="_x0000_s73743" name="公式" r:id="rId4" imgW="647700" imgH="190500" progId="Equation.3">
                    <p:embed/>
                  </p:oleObj>
                </mc:Choice>
                <mc:Fallback>
                  <p:oleObj name="公式" r:id="rId4" imgW="647700" imgH="190500" progId="Equation.3">
                    <p:embed/>
                    <p:pic>
                      <p:nvPicPr>
                        <p:cNvPr id="0" name="Object 1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47045" y="2315297"/>
                          <a:ext cx="979456" cy="288000"/>
                        </a:xfrm>
                        <a:prstGeom prst="rect">
                          <a:avLst/>
                        </a:prstGeom>
                        <a:solidFill>
                          <a:srgbClr val="FF990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sp>
          <p:nvSpPr>
            <p:cNvPr id="88" name="右箭头 87"/>
            <p:cNvSpPr/>
            <p:nvPr/>
          </p:nvSpPr>
          <p:spPr>
            <a:xfrm>
              <a:off x="5759108" y="2291176"/>
              <a:ext cx="409072" cy="336243"/>
            </a:xfrm>
            <a:prstGeom prst="rightArrow">
              <a:avLst>
                <a:gd name="adj1" fmla="val 50000"/>
                <a:gd name="adj2" fmla="val 53578"/>
              </a:avLst>
            </a:prstGeom>
            <a:solidFill>
              <a:srgbClr val="66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9" name="圆角矩形 88"/>
            <p:cNvSpPr/>
            <p:nvPr/>
          </p:nvSpPr>
          <p:spPr>
            <a:xfrm>
              <a:off x="6208247" y="2274815"/>
              <a:ext cx="990644" cy="336881"/>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dirty="0"/>
                <a:t>“0”</a:t>
              </a:r>
              <a:r>
                <a:rPr lang="zh-CN" altLang="en-US" sz="1600" dirty="0">
                  <a:latin typeface="黑体" panose="02010609060101010101" pitchFamily="49" charset="-122"/>
                  <a:ea typeface="黑体" panose="02010609060101010101" pitchFamily="49" charset="-122"/>
                </a:rPr>
                <a:t>冒险</a:t>
              </a:r>
              <a:endParaRPr lang="zh-CN" altLang="en-US" sz="1600" dirty="0">
                <a:latin typeface="黑体" panose="02010609060101010101" pitchFamily="49" charset="-122"/>
                <a:ea typeface="黑体" panose="02010609060101010101" pitchFamily="49" charset="-122"/>
              </a:endParaRPr>
            </a:p>
          </p:txBody>
        </p:sp>
      </p:grpSp>
      <p:grpSp>
        <p:nvGrpSpPr>
          <p:cNvPr id="95" name="组合 94"/>
          <p:cNvGrpSpPr/>
          <p:nvPr/>
        </p:nvGrpSpPr>
        <p:grpSpPr>
          <a:xfrm>
            <a:off x="761997" y="2735164"/>
            <a:ext cx="2795340" cy="1576137"/>
            <a:chOff x="605586" y="2803376"/>
            <a:chExt cx="2927688" cy="1740550"/>
          </a:xfrm>
        </p:grpSpPr>
        <p:pic>
          <p:nvPicPr>
            <p:cNvPr id="1043" name="Picture 19"/>
            <p:cNvPicPr>
              <a:picLocks noChangeAspect="1" noChangeArrowheads="1"/>
            </p:cNvPicPr>
            <p:nvPr/>
          </p:nvPicPr>
          <p:blipFill>
            <a:blip r:embed="rId6" cstate="print"/>
            <a:srcRect/>
            <a:stretch>
              <a:fillRect/>
            </a:stretch>
          </p:blipFill>
          <p:spPr bwMode="auto">
            <a:xfrm>
              <a:off x="730164" y="2889871"/>
              <a:ext cx="2730918" cy="1599664"/>
            </a:xfrm>
            <a:prstGeom prst="rect">
              <a:avLst/>
            </a:prstGeom>
            <a:noFill/>
            <a:ln w="9525">
              <a:noFill/>
              <a:miter lim="800000"/>
              <a:headEnd/>
              <a:tailEnd/>
            </a:ln>
          </p:spPr>
        </p:pic>
        <p:sp>
          <p:nvSpPr>
            <p:cNvPr id="94" name="圆角矩形 93"/>
            <p:cNvSpPr/>
            <p:nvPr/>
          </p:nvSpPr>
          <p:spPr>
            <a:xfrm>
              <a:off x="605586" y="2803376"/>
              <a:ext cx="2927688" cy="1740550"/>
            </a:xfrm>
            <a:prstGeom prst="roundRect">
              <a:avLst>
                <a:gd name="adj" fmla="val 10088"/>
              </a:avLst>
            </a:prstGeom>
            <a:no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04" name="组合 103"/>
          <p:cNvGrpSpPr/>
          <p:nvPr/>
        </p:nvGrpSpPr>
        <p:grpSpPr>
          <a:xfrm>
            <a:off x="3661608" y="2967743"/>
            <a:ext cx="1371603" cy="348915"/>
            <a:chOff x="3677650" y="2963778"/>
            <a:chExt cx="1371603" cy="348915"/>
          </a:xfrm>
        </p:grpSpPr>
        <p:sp>
          <p:nvSpPr>
            <p:cNvPr id="102" name="圆角矩形 101"/>
            <p:cNvSpPr/>
            <p:nvPr/>
          </p:nvSpPr>
          <p:spPr>
            <a:xfrm>
              <a:off x="3677650" y="2963778"/>
              <a:ext cx="1371603" cy="348915"/>
            </a:xfrm>
            <a:prstGeom prst="roundRect">
              <a:avLst>
                <a:gd name="adj" fmla="val 10088"/>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6" name="Object 18"/>
            <p:cNvGraphicFramePr>
              <a:graphicFrameLocks noChangeAspect="1"/>
            </p:cNvGraphicFramePr>
            <p:nvPr/>
          </p:nvGraphicFramePr>
          <p:xfrm>
            <a:off x="3695283" y="2975226"/>
            <a:ext cx="1325562" cy="307975"/>
          </p:xfrm>
          <a:graphic>
            <a:graphicData uri="http://schemas.openxmlformats.org/presentationml/2006/ole">
              <mc:AlternateContent xmlns:mc="http://schemas.openxmlformats.org/markup-compatibility/2006">
                <mc:Choice xmlns:v="urn:schemas-microsoft-com:vml" Requires="v">
                  <p:oleObj spid="_x0000_s73744" name="公式" r:id="rId7" imgW="876300" imgH="203200" progId="Equation.3">
                    <p:embed/>
                  </p:oleObj>
                </mc:Choice>
                <mc:Fallback>
                  <p:oleObj name="公式" r:id="rId7" imgW="876300" imgH="203200" progId="Equation.3">
                    <p:embed/>
                    <p:pic>
                      <p:nvPicPr>
                        <p:cNvPr id="0" name="Object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95283" y="2975226"/>
                          <a:ext cx="1325562" cy="307975"/>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sp>
        <p:nvSpPr>
          <p:cNvPr id="98" name="右箭头 97"/>
          <p:cNvSpPr/>
          <p:nvPr/>
        </p:nvSpPr>
        <p:spPr>
          <a:xfrm>
            <a:off x="5105401" y="2883523"/>
            <a:ext cx="1110917" cy="54543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600" i="1" dirty="0">
                <a:latin typeface="Times New Roman" panose="02020603050405020304" pitchFamily="18" charset="0"/>
                <a:cs typeface="Times New Roman" panose="02020603050405020304" pitchFamily="18" charset="0"/>
              </a:rPr>
              <a:t>A</a:t>
            </a:r>
            <a:r>
              <a:rPr lang="en-US" altLang="zh-CN"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B</a:t>
            </a:r>
            <a:r>
              <a:rPr lang="en-US" altLang="zh-CN" sz="1600" dirty="0">
                <a:latin typeface="Times New Roman" panose="02020603050405020304" pitchFamily="18" charset="0"/>
                <a:cs typeface="Times New Roman" panose="02020603050405020304" pitchFamily="18" charset="0"/>
              </a:rPr>
              <a:t>=1</a:t>
            </a:r>
            <a:endParaRPr lang="zh-CN" altLang="en-US" sz="1600" dirty="0">
              <a:latin typeface="Times New Roman" panose="02020603050405020304" pitchFamily="18" charset="0"/>
              <a:cs typeface="Times New Roman" panose="02020603050405020304" pitchFamily="18" charset="0"/>
            </a:endParaRPr>
          </a:p>
        </p:txBody>
      </p:sp>
      <p:grpSp>
        <p:nvGrpSpPr>
          <p:cNvPr id="105" name="组合 104"/>
          <p:cNvGrpSpPr/>
          <p:nvPr/>
        </p:nvGrpSpPr>
        <p:grpSpPr>
          <a:xfrm>
            <a:off x="6264440" y="2975764"/>
            <a:ext cx="1179097" cy="348915"/>
            <a:chOff x="3677650" y="2963778"/>
            <a:chExt cx="1179097" cy="348915"/>
          </a:xfrm>
        </p:grpSpPr>
        <p:sp>
          <p:nvSpPr>
            <p:cNvPr id="107" name="圆角矩形 106"/>
            <p:cNvSpPr/>
            <p:nvPr/>
          </p:nvSpPr>
          <p:spPr>
            <a:xfrm>
              <a:off x="3677650" y="2963778"/>
              <a:ext cx="1179097" cy="348915"/>
            </a:xfrm>
            <a:prstGeom prst="roundRect">
              <a:avLst>
                <a:gd name="adj" fmla="val 10088"/>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09" name="Object 18"/>
            <p:cNvGraphicFramePr>
              <a:graphicFrameLocks noChangeAspect="1"/>
            </p:cNvGraphicFramePr>
            <p:nvPr/>
          </p:nvGraphicFramePr>
          <p:xfrm>
            <a:off x="3769717" y="2975644"/>
            <a:ext cx="1000125" cy="307975"/>
          </p:xfrm>
          <a:graphic>
            <a:graphicData uri="http://schemas.openxmlformats.org/presentationml/2006/ole">
              <mc:AlternateContent xmlns:mc="http://schemas.openxmlformats.org/markup-compatibility/2006">
                <mc:Choice xmlns:v="urn:schemas-microsoft-com:vml" Requires="v">
                  <p:oleObj spid="_x0000_s73745" name="公式" r:id="rId9" imgW="660400" imgH="203200" progId="Equation.3">
                    <p:embed/>
                  </p:oleObj>
                </mc:Choice>
                <mc:Fallback>
                  <p:oleObj name="公式" r:id="rId9" imgW="660400" imgH="203200" progId="Equation.3">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69717" y="2975644"/>
                          <a:ext cx="1000125" cy="307975"/>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sp>
        <p:nvSpPr>
          <p:cNvPr id="121" name="圆角矩形标注 120"/>
          <p:cNvSpPr/>
          <p:nvPr/>
        </p:nvSpPr>
        <p:spPr>
          <a:xfrm>
            <a:off x="6853988" y="3521195"/>
            <a:ext cx="798094" cy="404101"/>
          </a:xfrm>
          <a:prstGeom prst="wedgeRoundRectCallout">
            <a:avLst>
              <a:gd name="adj1" fmla="val -40261"/>
              <a:gd name="adj2" fmla="val -95089"/>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latin typeface="Arial" panose="020B0604020202020204" pitchFamily="34" charset="0"/>
                <a:ea typeface="黑体" panose="02010609060101010101" pitchFamily="49" charset="-122"/>
                <a:cs typeface="Arial" panose="020B0604020202020204" pitchFamily="34" charset="0"/>
              </a:rPr>
              <a:t>“0”</a:t>
            </a:r>
            <a:r>
              <a:rPr lang="zh-CN" altLang="en-US" sz="1600" dirty="0">
                <a:latin typeface="Arial" panose="020B0604020202020204" pitchFamily="34" charset="0"/>
                <a:ea typeface="黑体" panose="02010609060101010101" pitchFamily="49" charset="-122"/>
                <a:cs typeface="Arial" panose="020B0604020202020204" pitchFamily="34" charset="0"/>
              </a:rPr>
              <a:t>冒险</a:t>
            </a:r>
            <a:endParaRPr lang="zh-CN" altLang="en-US" sz="1600" dirty="0">
              <a:latin typeface="Arial" panose="020B0604020202020204" pitchFamily="34" charset="0"/>
              <a:ea typeface="黑体" panose="02010609060101010101" pitchFamily="49" charset="-122"/>
              <a:cs typeface="Arial" panose="020B0604020202020204" pitchFamily="34" charset="0"/>
            </a:endParaRPr>
          </a:p>
        </p:txBody>
      </p:sp>
      <p:grpSp>
        <p:nvGrpSpPr>
          <p:cNvPr id="122" name="Group 22"/>
          <p:cNvGrpSpPr/>
          <p:nvPr/>
        </p:nvGrpSpPr>
        <p:grpSpPr bwMode="auto">
          <a:xfrm>
            <a:off x="726491" y="4396111"/>
            <a:ext cx="4676775" cy="542925"/>
            <a:chOff x="277" y="3061"/>
            <a:chExt cx="2946" cy="342"/>
          </a:xfrm>
        </p:grpSpPr>
        <p:sp>
          <p:nvSpPr>
            <p:cNvPr id="123" name="Rectangle 16"/>
            <p:cNvSpPr>
              <a:spLocks noChangeArrowheads="1"/>
            </p:cNvSpPr>
            <p:nvPr/>
          </p:nvSpPr>
          <p:spPr bwMode="auto">
            <a:xfrm>
              <a:off x="617" y="3142"/>
              <a:ext cx="582" cy="233"/>
            </a:xfrm>
            <a:prstGeom prst="rect">
              <a:avLst/>
            </a:prstGeom>
            <a:noFill/>
            <a:ln w="9525" algn="ctr">
              <a:noFill/>
              <a:miter lim="800000"/>
            </a:ln>
          </p:spPr>
          <p:txBody>
            <a:bodyPr wrap="none" lIns="0" rIns="0" anchor="ctr">
              <a:spAutoFit/>
            </a:bodyPr>
            <a:lstStyle/>
            <a:p>
              <a:pPr algn="l"/>
              <a:r>
                <a:rPr lang="zh-CN" altLang="en-US" dirty="0">
                  <a:solidFill>
                    <a:srgbClr val="000000"/>
                  </a:solidFill>
                  <a:latin typeface="黑体" panose="02010609060101010101" pitchFamily="49" charset="-122"/>
                  <a:ea typeface="黑体" panose="02010609060101010101" pitchFamily="49" charset="-122"/>
                </a:rPr>
                <a:t>逻辑函数</a:t>
              </a:r>
              <a:endParaRPr lang="zh-CN" altLang="en-US" dirty="0">
                <a:solidFill>
                  <a:srgbClr val="000000"/>
                </a:solidFill>
                <a:latin typeface="黑体" panose="02010609060101010101" pitchFamily="49" charset="-122"/>
                <a:ea typeface="黑体" panose="02010609060101010101" pitchFamily="49" charset="-122"/>
              </a:endParaRPr>
            </a:p>
          </p:txBody>
        </p:sp>
        <p:graphicFrame>
          <p:nvGraphicFramePr>
            <p:cNvPr id="124" name="Object 15"/>
            <p:cNvGraphicFramePr>
              <a:graphicFrameLocks noChangeAspect="1"/>
            </p:cNvGraphicFramePr>
            <p:nvPr/>
          </p:nvGraphicFramePr>
          <p:xfrm>
            <a:off x="1185" y="3147"/>
            <a:ext cx="1080" cy="222"/>
          </p:xfrm>
          <a:graphic>
            <a:graphicData uri="http://schemas.openxmlformats.org/presentationml/2006/ole">
              <mc:AlternateContent xmlns:mc="http://schemas.openxmlformats.org/markup-compatibility/2006">
                <mc:Choice xmlns:v="urn:schemas-microsoft-com:vml" Requires="v">
                  <p:oleObj spid="_x0000_s73746" name="公式" r:id="rId11" imgW="1066800" imgH="228600" progId="Equation.3">
                    <p:embed/>
                  </p:oleObj>
                </mc:Choice>
                <mc:Fallback>
                  <p:oleObj name="公式" r:id="rId11" imgW="1066800" imgH="228600" progId="Equation.3">
                    <p:embed/>
                    <p:pic>
                      <p:nvPicPr>
                        <p:cNvPr id="0" name="Object 1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85" y="3147"/>
                          <a:ext cx="1080" cy="2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6" name="Rectangle 19"/>
            <p:cNvSpPr>
              <a:spLocks noChangeArrowheads="1"/>
            </p:cNvSpPr>
            <p:nvPr/>
          </p:nvSpPr>
          <p:spPr bwMode="auto">
            <a:xfrm>
              <a:off x="2278" y="3142"/>
              <a:ext cx="945" cy="233"/>
            </a:xfrm>
            <a:prstGeom prst="rect">
              <a:avLst/>
            </a:prstGeom>
            <a:noFill/>
            <a:ln w="9525" algn="ctr">
              <a:noFill/>
              <a:miter lim="800000"/>
            </a:ln>
          </p:spPr>
          <p:txBody>
            <a:bodyPr wrap="none" lIns="0" rIns="0">
              <a:spAutoFit/>
            </a:bodyPr>
            <a:lstStyle/>
            <a:p>
              <a:r>
                <a:rPr lang="zh-CN" altLang="en-US" dirty="0">
                  <a:solidFill>
                    <a:srgbClr val="000000"/>
                  </a:solidFill>
                  <a:latin typeface="黑体" panose="02010609060101010101" pitchFamily="49" charset="-122"/>
                  <a:ea typeface="黑体" panose="02010609060101010101" pitchFamily="49" charset="-122"/>
                </a:rPr>
                <a:t>是否存在冒险</a:t>
              </a:r>
              <a:r>
                <a:rPr lang="en-US" altLang="zh-CN" dirty="0">
                  <a:solidFill>
                    <a:srgbClr val="000000"/>
                  </a:solidFill>
                  <a:latin typeface="黑体" panose="02010609060101010101" pitchFamily="49" charset="-122"/>
                  <a:ea typeface="黑体" panose="02010609060101010101" pitchFamily="49" charset="-122"/>
                </a:rPr>
                <a:t>?</a:t>
              </a:r>
              <a:endParaRPr lang="zh-CN" altLang="en-US" dirty="0">
                <a:solidFill>
                  <a:srgbClr val="000000"/>
                </a:solidFill>
                <a:latin typeface="黑体" panose="02010609060101010101" pitchFamily="49" charset="-122"/>
                <a:ea typeface="黑体" panose="02010609060101010101" pitchFamily="49" charset="-122"/>
              </a:endParaRPr>
            </a:p>
          </p:txBody>
        </p:sp>
        <p:pic>
          <p:nvPicPr>
            <p:cNvPr id="127" name="Picture 21" descr="icon_question"/>
            <p:cNvPicPr>
              <a:picLocks noChangeAspect="1" noChangeArrowheads="1"/>
            </p:cNvPicPr>
            <p:nvPr/>
          </p:nvPicPr>
          <p:blipFill>
            <a:blip r:embed="rId13" cstate="print"/>
            <a:srcRect/>
            <a:stretch>
              <a:fillRect/>
            </a:stretch>
          </p:blipFill>
          <p:spPr bwMode="auto">
            <a:xfrm>
              <a:off x="277" y="3061"/>
              <a:ext cx="342" cy="342"/>
            </a:xfrm>
            <a:prstGeom prst="rect">
              <a:avLst/>
            </a:prstGeom>
            <a:noFill/>
            <a:ln w="9525">
              <a:noFill/>
              <a:miter lim="800000"/>
              <a:headEnd/>
              <a:tailEnd/>
            </a:ln>
          </p:spPr>
        </p:pic>
      </p:grpSp>
      <p:grpSp>
        <p:nvGrpSpPr>
          <p:cNvPr id="36" name="组合 35"/>
          <p:cNvGrpSpPr/>
          <p:nvPr/>
        </p:nvGrpSpPr>
        <p:grpSpPr>
          <a:xfrm>
            <a:off x="3777914" y="3797956"/>
            <a:ext cx="1227221" cy="676175"/>
            <a:chOff x="3777914" y="3797956"/>
            <a:chExt cx="1227221" cy="676175"/>
          </a:xfrm>
        </p:grpSpPr>
        <p:sp>
          <p:nvSpPr>
            <p:cNvPr id="138" name="圆角右箭头 137"/>
            <p:cNvSpPr/>
            <p:nvPr/>
          </p:nvSpPr>
          <p:spPr>
            <a:xfrm>
              <a:off x="3777914" y="3797956"/>
              <a:ext cx="1227221" cy="676175"/>
            </a:xfrm>
            <a:prstGeom prst="bentArrow">
              <a:avLst>
                <a:gd name="adj1" fmla="val 43387"/>
                <a:gd name="adj2" fmla="val 35380"/>
                <a:gd name="adj3" fmla="val 36863"/>
                <a:gd name="adj4" fmla="val 4532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39" name="矩形 138"/>
            <p:cNvSpPr/>
            <p:nvPr/>
          </p:nvSpPr>
          <p:spPr>
            <a:xfrm>
              <a:off x="4044375" y="3851914"/>
              <a:ext cx="854722" cy="369332"/>
            </a:xfrm>
            <a:prstGeom prst="rect">
              <a:avLst/>
            </a:prstGeom>
          </p:spPr>
          <p:txBody>
            <a:bodyPr wrap="none">
              <a:spAutoFit/>
            </a:bodyPr>
            <a:lstStyle/>
            <a:p>
              <a:pPr algn="ctr"/>
              <a:r>
                <a:rPr lang="en-US" altLang="zh-CN" i="1" dirty="0">
                  <a:solidFill>
                    <a:schemeClr val="bg1"/>
                  </a:solidFill>
                  <a:latin typeface="Times New Roman" panose="02020603050405020304" pitchFamily="18" charset="0"/>
                  <a:cs typeface="Times New Roman" panose="02020603050405020304" pitchFamily="18" charset="0"/>
                </a:rPr>
                <a:t>A</a:t>
              </a:r>
              <a:r>
                <a:rPr lang="en-US" altLang="zh-CN" dirty="0">
                  <a:solidFill>
                    <a:schemeClr val="bg1"/>
                  </a:solidFill>
                  <a:latin typeface="Times New Roman" panose="02020603050405020304" pitchFamily="18" charset="0"/>
                  <a:cs typeface="Times New Roman" panose="02020603050405020304" pitchFamily="18" charset="0"/>
                </a:rPr>
                <a:t>=</a:t>
              </a:r>
              <a:r>
                <a:rPr lang="en-US" altLang="zh-CN" i="1" dirty="0">
                  <a:solidFill>
                    <a:schemeClr val="bg1"/>
                  </a:solidFill>
                  <a:latin typeface="Times New Roman" panose="02020603050405020304" pitchFamily="18" charset="0"/>
                  <a:cs typeface="Times New Roman" panose="02020603050405020304" pitchFamily="18" charset="0"/>
                </a:rPr>
                <a:t>C</a:t>
              </a:r>
              <a:r>
                <a:rPr lang="en-US" altLang="zh-CN" dirty="0">
                  <a:solidFill>
                    <a:schemeClr val="bg1"/>
                  </a:solidFill>
                  <a:latin typeface="Times New Roman" panose="02020603050405020304" pitchFamily="18" charset="0"/>
                  <a:cs typeface="Times New Roman" panose="02020603050405020304" pitchFamily="18" charset="0"/>
                </a:rPr>
                <a:t>=0</a:t>
              </a:r>
              <a:endParaRPr lang="zh-CN" altLang="en-US" dirty="0">
                <a:solidFill>
                  <a:schemeClr val="bg1"/>
                </a:solidFill>
                <a:latin typeface="Times New Roman" panose="02020603050405020304" pitchFamily="18" charset="0"/>
                <a:cs typeface="Times New Roman" panose="02020603050405020304" pitchFamily="18" charset="0"/>
              </a:endParaRPr>
            </a:p>
          </p:txBody>
        </p:sp>
      </p:grpSp>
      <p:grpSp>
        <p:nvGrpSpPr>
          <p:cNvPr id="140" name="组合 139"/>
          <p:cNvGrpSpPr/>
          <p:nvPr/>
        </p:nvGrpSpPr>
        <p:grpSpPr>
          <a:xfrm>
            <a:off x="5045240" y="3866104"/>
            <a:ext cx="1179097" cy="348915"/>
            <a:chOff x="3677650" y="2963778"/>
            <a:chExt cx="1179097" cy="348915"/>
          </a:xfrm>
        </p:grpSpPr>
        <p:sp>
          <p:nvSpPr>
            <p:cNvPr id="143" name="圆角矩形 142"/>
            <p:cNvSpPr/>
            <p:nvPr/>
          </p:nvSpPr>
          <p:spPr>
            <a:xfrm>
              <a:off x="3677650" y="2963778"/>
              <a:ext cx="1179097" cy="348915"/>
            </a:xfrm>
            <a:prstGeom prst="roundRect">
              <a:avLst>
                <a:gd name="adj" fmla="val 10088"/>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144" name="Object 18"/>
            <p:cNvGraphicFramePr>
              <a:graphicFrameLocks noChangeAspect="1"/>
            </p:cNvGraphicFramePr>
            <p:nvPr/>
          </p:nvGraphicFramePr>
          <p:xfrm>
            <a:off x="3826710" y="2984448"/>
            <a:ext cx="884238" cy="287337"/>
          </p:xfrm>
          <a:graphic>
            <a:graphicData uri="http://schemas.openxmlformats.org/presentationml/2006/ole">
              <mc:AlternateContent xmlns:mc="http://schemas.openxmlformats.org/markup-compatibility/2006">
                <mc:Choice xmlns:v="urn:schemas-microsoft-com:vml" Requires="v">
                  <p:oleObj spid="_x0000_s73747" name="公式" r:id="rId14" imgW="584200" imgH="190500" progId="Equation.3">
                    <p:embed/>
                  </p:oleObj>
                </mc:Choice>
                <mc:Fallback>
                  <p:oleObj name="公式" r:id="rId14" imgW="584200" imgH="190500" progId="Equation.3">
                    <p:embed/>
                    <p:pic>
                      <p:nvPicPr>
                        <p:cNvPr id="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26710" y="2984448"/>
                          <a:ext cx="884238" cy="287337"/>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sp>
        <p:nvSpPr>
          <p:cNvPr id="145" name="圆角矩形标注 144"/>
          <p:cNvSpPr/>
          <p:nvPr/>
        </p:nvSpPr>
        <p:spPr>
          <a:xfrm>
            <a:off x="6368714" y="4110742"/>
            <a:ext cx="798094" cy="404101"/>
          </a:xfrm>
          <a:prstGeom prst="wedgeRoundRectCallout">
            <a:avLst>
              <a:gd name="adj1" fmla="val -59859"/>
              <a:gd name="adj2" fmla="val -73255"/>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latin typeface="Arial" panose="020B0604020202020204" pitchFamily="34" charset="0"/>
                <a:ea typeface="黑体" panose="02010609060101010101" pitchFamily="49" charset="-122"/>
                <a:cs typeface="Arial" panose="020B0604020202020204" pitchFamily="34" charset="0"/>
              </a:rPr>
              <a:t>“1”</a:t>
            </a:r>
            <a:r>
              <a:rPr lang="zh-CN" altLang="en-US" sz="1600" dirty="0">
                <a:latin typeface="Arial" panose="020B0604020202020204" pitchFamily="34" charset="0"/>
                <a:ea typeface="黑体" panose="02010609060101010101" pitchFamily="49" charset="-122"/>
                <a:cs typeface="Arial" panose="020B0604020202020204" pitchFamily="34" charset="0"/>
              </a:rPr>
              <a:t>冒险</a:t>
            </a:r>
            <a:endParaRPr lang="zh-CN" altLang="en-US" sz="1600" dirty="0">
              <a:latin typeface="Arial" panose="020B0604020202020204" pitchFamily="34" charset="0"/>
              <a:ea typeface="黑体" panose="02010609060101010101" pitchFamily="49" charset="-122"/>
              <a:cs typeface="Arial" panose="020B0604020202020204" pitchFamily="34" charset="0"/>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slide(fromBottom)">
                                      <p:cBhvr>
                                        <p:cTn id="7" dur="1000"/>
                                        <p:tgtEl>
                                          <p:spTgt spid="59"/>
                                        </p:tgtEl>
                                      </p:cBhvr>
                                    </p:animEffect>
                                  </p:childTnLst>
                                </p:cTn>
                              </p:par>
                            </p:childTnLst>
                          </p:cTn>
                        </p:par>
                        <p:par>
                          <p:cTn id="8" fill="hold">
                            <p:stCondLst>
                              <p:cond delay="1000"/>
                            </p:stCondLst>
                            <p:childTnLst>
                              <p:par>
                                <p:cTn id="9" presetID="12" presetClass="entr" presetSubtype="4" fill="hold" grpId="0" nodeType="afterEffect">
                                  <p:stCondLst>
                                    <p:cond delay="0"/>
                                  </p:stCondLst>
                                  <p:childTnLst>
                                    <p:set>
                                      <p:cBhvr>
                                        <p:cTn id="10" dur="1" fill="hold">
                                          <p:stCondLst>
                                            <p:cond delay="0"/>
                                          </p:stCondLst>
                                        </p:cTn>
                                        <p:tgtEl>
                                          <p:spTgt spid="76"/>
                                        </p:tgtEl>
                                        <p:attrNameLst>
                                          <p:attrName>style.visibility</p:attrName>
                                        </p:attrNameLst>
                                      </p:cBhvr>
                                      <p:to>
                                        <p:strVal val="visible"/>
                                      </p:to>
                                    </p:set>
                                    <p:animEffect transition="in" filter="slide(fromBottom)">
                                      <p:cBhvr>
                                        <p:cTn id="11" dur="1000"/>
                                        <p:tgtEl>
                                          <p:spTgt spid="76"/>
                                        </p:tgtEl>
                                      </p:cBhvr>
                                    </p:animEffect>
                                  </p:childTnLst>
                                </p:cTn>
                              </p:par>
                            </p:childTnLst>
                          </p:cTn>
                        </p:par>
                        <p:par>
                          <p:cTn id="12" fill="hold">
                            <p:stCondLst>
                              <p:cond delay="2000"/>
                            </p:stCondLst>
                            <p:childTnLst>
                              <p:par>
                                <p:cTn id="13" presetID="12" presetClass="entr" presetSubtype="4" fill="hold" nodeType="afterEffect">
                                  <p:stCondLst>
                                    <p:cond delay="0"/>
                                  </p:stCondLst>
                                  <p:childTnLst>
                                    <p:set>
                                      <p:cBhvr>
                                        <p:cTn id="14" dur="1" fill="hold">
                                          <p:stCondLst>
                                            <p:cond delay="0"/>
                                          </p:stCondLst>
                                        </p:cTn>
                                        <p:tgtEl>
                                          <p:spTgt spid="92"/>
                                        </p:tgtEl>
                                        <p:attrNameLst>
                                          <p:attrName>style.visibility</p:attrName>
                                        </p:attrNameLst>
                                      </p:cBhvr>
                                      <p:to>
                                        <p:strVal val="visible"/>
                                      </p:to>
                                    </p:set>
                                    <p:animEffect transition="in" filter="slide(fromBottom)">
                                      <p:cBhvr>
                                        <p:cTn id="15" dur="1000"/>
                                        <p:tgtEl>
                                          <p:spTgt spid="92"/>
                                        </p:tgtEl>
                                      </p:cBhvr>
                                    </p:animEffect>
                                  </p:childTnLst>
                                </p:cTn>
                              </p:par>
                            </p:childTnLst>
                          </p:cTn>
                        </p:par>
                        <p:par>
                          <p:cTn id="16" fill="hold">
                            <p:stCondLst>
                              <p:cond delay="3000"/>
                            </p:stCondLst>
                            <p:childTnLst>
                              <p:par>
                                <p:cTn id="17" presetID="12" presetClass="entr" presetSubtype="4" fill="hold" nodeType="afterEffect">
                                  <p:stCondLst>
                                    <p:cond delay="0"/>
                                  </p:stCondLst>
                                  <p:childTnLst>
                                    <p:set>
                                      <p:cBhvr>
                                        <p:cTn id="18" dur="1" fill="hold">
                                          <p:stCondLst>
                                            <p:cond delay="0"/>
                                          </p:stCondLst>
                                        </p:cTn>
                                        <p:tgtEl>
                                          <p:spTgt spid="93"/>
                                        </p:tgtEl>
                                        <p:attrNameLst>
                                          <p:attrName>style.visibility</p:attrName>
                                        </p:attrNameLst>
                                      </p:cBhvr>
                                      <p:to>
                                        <p:strVal val="visible"/>
                                      </p:to>
                                    </p:set>
                                    <p:animEffect transition="in" filter="slide(fromBottom)">
                                      <p:cBhvr>
                                        <p:cTn id="19" dur="1000"/>
                                        <p:tgtEl>
                                          <p:spTgt spid="93"/>
                                        </p:tgtEl>
                                      </p:cBhvr>
                                    </p:animEffect>
                                  </p:childTnLst>
                                </p:cTn>
                              </p:par>
                            </p:childTnLst>
                          </p:cTn>
                        </p:par>
                      </p:childTnLst>
                    </p:cTn>
                  </p:par>
                  <p:par>
                    <p:cTn id="20" fill="hold">
                      <p:stCondLst>
                        <p:cond delay="indefinite"/>
                      </p:stCondLst>
                      <p:childTnLst>
                        <p:par>
                          <p:cTn id="21" fill="hold">
                            <p:stCondLst>
                              <p:cond delay="0"/>
                            </p:stCondLst>
                            <p:childTnLst>
                              <p:par>
                                <p:cTn id="22" presetID="12" presetClass="entr" presetSubtype="8" fill="hold" nodeType="clickEffect">
                                  <p:stCondLst>
                                    <p:cond delay="0"/>
                                  </p:stCondLst>
                                  <p:childTnLst>
                                    <p:set>
                                      <p:cBhvr>
                                        <p:cTn id="23" dur="1" fill="hold">
                                          <p:stCondLst>
                                            <p:cond delay="0"/>
                                          </p:stCondLst>
                                        </p:cTn>
                                        <p:tgtEl>
                                          <p:spTgt spid="95"/>
                                        </p:tgtEl>
                                        <p:attrNameLst>
                                          <p:attrName>style.visibility</p:attrName>
                                        </p:attrNameLst>
                                      </p:cBhvr>
                                      <p:to>
                                        <p:strVal val="visible"/>
                                      </p:to>
                                    </p:set>
                                    <p:animEffect transition="in" filter="slide(fromLeft)">
                                      <p:cBhvr>
                                        <p:cTn id="24" dur="1000"/>
                                        <p:tgtEl>
                                          <p:spTgt spid="95"/>
                                        </p:tgtEl>
                                      </p:cBhvr>
                                    </p:animEffect>
                                  </p:childTnLst>
                                </p:cTn>
                              </p:par>
                            </p:childTnLst>
                          </p:cTn>
                        </p:par>
                        <p:par>
                          <p:cTn id="25" fill="hold">
                            <p:stCondLst>
                              <p:cond delay="1000"/>
                            </p:stCondLst>
                            <p:childTnLst>
                              <p:par>
                                <p:cTn id="26" presetID="12" presetClass="entr" presetSubtype="8" fill="hold" nodeType="afterEffect">
                                  <p:stCondLst>
                                    <p:cond delay="0"/>
                                  </p:stCondLst>
                                  <p:childTnLst>
                                    <p:set>
                                      <p:cBhvr>
                                        <p:cTn id="27" dur="1" fill="hold">
                                          <p:stCondLst>
                                            <p:cond delay="0"/>
                                          </p:stCondLst>
                                        </p:cTn>
                                        <p:tgtEl>
                                          <p:spTgt spid="104"/>
                                        </p:tgtEl>
                                        <p:attrNameLst>
                                          <p:attrName>style.visibility</p:attrName>
                                        </p:attrNameLst>
                                      </p:cBhvr>
                                      <p:to>
                                        <p:strVal val="visible"/>
                                      </p:to>
                                    </p:set>
                                    <p:animEffect transition="in" filter="slide(fromLeft)">
                                      <p:cBhvr>
                                        <p:cTn id="28" dur="1000"/>
                                        <p:tgtEl>
                                          <p:spTgt spid="104"/>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grpId="0" nodeType="clickEffect">
                                  <p:stCondLst>
                                    <p:cond delay="0"/>
                                  </p:stCondLst>
                                  <p:childTnLst>
                                    <p:set>
                                      <p:cBhvr>
                                        <p:cTn id="32" dur="1" fill="hold">
                                          <p:stCondLst>
                                            <p:cond delay="0"/>
                                          </p:stCondLst>
                                        </p:cTn>
                                        <p:tgtEl>
                                          <p:spTgt spid="98"/>
                                        </p:tgtEl>
                                        <p:attrNameLst>
                                          <p:attrName>style.visibility</p:attrName>
                                        </p:attrNameLst>
                                      </p:cBhvr>
                                      <p:to>
                                        <p:strVal val="visible"/>
                                      </p:to>
                                    </p:set>
                                    <p:animEffect transition="in" filter="slide(fromLeft)">
                                      <p:cBhvr>
                                        <p:cTn id="33" dur="1000"/>
                                        <p:tgtEl>
                                          <p:spTgt spid="98"/>
                                        </p:tgtEl>
                                      </p:cBhvr>
                                    </p:animEffect>
                                  </p:childTnLst>
                                </p:cTn>
                              </p:par>
                            </p:childTnLst>
                          </p:cTn>
                        </p:par>
                        <p:par>
                          <p:cTn id="34" fill="hold">
                            <p:stCondLst>
                              <p:cond delay="1000"/>
                            </p:stCondLst>
                            <p:childTnLst>
                              <p:par>
                                <p:cTn id="35" presetID="12" presetClass="entr" presetSubtype="8" fill="hold" nodeType="afterEffect">
                                  <p:stCondLst>
                                    <p:cond delay="0"/>
                                  </p:stCondLst>
                                  <p:childTnLst>
                                    <p:set>
                                      <p:cBhvr>
                                        <p:cTn id="36" dur="1" fill="hold">
                                          <p:stCondLst>
                                            <p:cond delay="0"/>
                                          </p:stCondLst>
                                        </p:cTn>
                                        <p:tgtEl>
                                          <p:spTgt spid="105"/>
                                        </p:tgtEl>
                                        <p:attrNameLst>
                                          <p:attrName>style.visibility</p:attrName>
                                        </p:attrNameLst>
                                      </p:cBhvr>
                                      <p:to>
                                        <p:strVal val="visible"/>
                                      </p:to>
                                    </p:set>
                                    <p:animEffect transition="in" filter="slide(fromLeft)">
                                      <p:cBhvr>
                                        <p:cTn id="37" dur="1000"/>
                                        <p:tgtEl>
                                          <p:spTgt spid="105"/>
                                        </p:tgtEl>
                                      </p:cBhvr>
                                    </p:animEffect>
                                  </p:childTnLst>
                                </p:cTn>
                              </p:par>
                            </p:childTnLst>
                          </p:cTn>
                        </p:par>
                        <p:par>
                          <p:cTn id="38" fill="hold">
                            <p:stCondLst>
                              <p:cond delay="2000"/>
                            </p:stCondLst>
                            <p:childTnLst>
                              <p:par>
                                <p:cTn id="39" presetID="22" presetClass="entr" presetSubtype="1" fill="hold" grpId="0" nodeType="afterEffect">
                                  <p:stCondLst>
                                    <p:cond delay="0"/>
                                  </p:stCondLst>
                                  <p:childTnLst>
                                    <p:set>
                                      <p:cBhvr>
                                        <p:cTn id="40" dur="1" fill="hold">
                                          <p:stCondLst>
                                            <p:cond delay="0"/>
                                          </p:stCondLst>
                                        </p:cTn>
                                        <p:tgtEl>
                                          <p:spTgt spid="121"/>
                                        </p:tgtEl>
                                        <p:attrNameLst>
                                          <p:attrName>style.visibility</p:attrName>
                                        </p:attrNameLst>
                                      </p:cBhvr>
                                      <p:to>
                                        <p:strVal val="visible"/>
                                      </p:to>
                                    </p:set>
                                    <p:animEffect transition="in" filter="wipe(up)">
                                      <p:cBhvr>
                                        <p:cTn id="41" dur="1000"/>
                                        <p:tgtEl>
                                          <p:spTgt spid="121"/>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4" fill="hold" nodeType="clickEffect">
                                  <p:stCondLst>
                                    <p:cond delay="0"/>
                                  </p:stCondLst>
                                  <p:childTnLst>
                                    <p:set>
                                      <p:cBhvr>
                                        <p:cTn id="45" dur="1" fill="hold">
                                          <p:stCondLst>
                                            <p:cond delay="0"/>
                                          </p:stCondLst>
                                        </p:cTn>
                                        <p:tgtEl>
                                          <p:spTgt spid="122"/>
                                        </p:tgtEl>
                                        <p:attrNameLst>
                                          <p:attrName>style.visibility</p:attrName>
                                        </p:attrNameLst>
                                      </p:cBhvr>
                                      <p:to>
                                        <p:strVal val="visible"/>
                                      </p:to>
                                    </p:set>
                                    <p:animEffect transition="in" filter="slide(fromBottom)">
                                      <p:cBhvr>
                                        <p:cTn id="46" dur="1000"/>
                                        <p:tgtEl>
                                          <p:spTgt spid="122"/>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wipe(left)">
                                      <p:cBhvr>
                                        <p:cTn id="51" dur="1000"/>
                                        <p:tgtEl>
                                          <p:spTgt spid="36"/>
                                        </p:tgtEl>
                                      </p:cBhvr>
                                    </p:animEffect>
                                  </p:childTnLst>
                                </p:cTn>
                              </p:par>
                            </p:childTnLst>
                          </p:cTn>
                        </p:par>
                        <p:par>
                          <p:cTn id="52" fill="hold">
                            <p:stCondLst>
                              <p:cond delay="1000"/>
                            </p:stCondLst>
                            <p:childTnLst>
                              <p:par>
                                <p:cTn id="53" presetID="22" presetClass="entr" presetSubtype="8" fill="hold" nodeType="afterEffect">
                                  <p:stCondLst>
                                    <p:cond delay="0"/>
                                  </p:stCondLst>
                                  <p:childTnLst>
                                    <p:set>
                                      <p:cBhvr>
                                        <p:cTn id="54" dur="1" fill="hold">
                                          <p:stCondLst>
                                            <p:cond delay="0"/>
                                          </p:stCondLst>
                                        </p:cTn>
                                        <p:tgtEl>
                                          <p:spTgt spid="140"/>
                                        </p:tgtEl>
                                        <p:attrNameLst>
                                          <p:attrName>style.visibility</p:attrName>
                                        </p:attrNameLst>
                                      </p:cBhvr>
                                      <p:to>
                                        <p:strVal val="visible"/>
                                      </p:to>
                                    </p:set>
                                    <p:animEffect transition="in" filter="wipe(left)">
                                      <p:cBhvr>
                                        <p:cTn id="55" dur="1000"/>
                                        <p:tgtEl>
                                          <p:spTgt spid="140"/>
                                        </p:tgtEl>
                                      </p:cBhvr>
                                    </p:animEffect>
                                  </p:childTnLst>
                                </p:cTn>
                              </p:par>
                            </p:childTnLst>
                          </p:cTn>
                        </p:par>
                        <p:par>
                          <p:cTn id="56" fill="hold">
                            <p:stCondLst>
                              <p:cond delay="2000"/>
                            </p:stCondLst>
                            <p:childTnLst>
                              <p:par>
                                <p:cTn id="57" presetID="22" presetClass="entr" presetSubtype="8" fill="hold" grpId="0" nodeType="afterEffect">
                                  <p:stCondLst>
                                    <p:cond delay="0"/>
                                  </p:stCondLst>
                                  <p:childTnLst>
                                    <p:set>
                                      <p:cBhvr>
                                        <p:cTn id="58" dur="1" fill="hold">
                                          <p:stCondLst>
                                            <p:cond delay="0"/>
                                          </p:stCondLst>
                                        </p:cTn>
                                        <p:tgtEl>
                                          <p:spTgt spid="145"/>
                                        </p:tgtEl>
                                        <p:attrNameLst>
                                          <p:attrName>style.visibility</p:attrName>
                                        </p:attrNameLst>
                                      </p:cBhvr>
                                      <p:to>
                                        <p:strVal val="visible"/>
                                      </p:to>
                                    </p:set>
                                    <p:animEffect transition="in" filter="wipe(left)">
                                      <p:cBhvr>
                                        <p:cTn id="59" dur="500"/>
                                        <p:tgtEl>
                                          <p:spTgt spid="1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p:bldP spid="98" grpId="0" animBg="1"/>
      <p:bldP spid="121" grpId="0" animBg="1"/>
      <p:bldP spid="145"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7" name="组合 17"/>
          <p:cNvGrpSpPr/>
          <p:nvPr/>
        </p:nvGrpSpPr>
        <p:grpSpPr>
          <a:xfrm>
            <a:off x="392432" y="725625"/>
            <a:ext cx="2857663" cy="420971"/>
            <a:chOff x="670560" y="892917"/>
            <a:chExt cx="2857663" cy="420971"/>
          </a:xfrm>
        </p:grpSpPr>
        <p:sp>
          <p:nvSpPr>
            <p:cNvPr id="38" name="矩形 37"/>
            <p:cNvSpPr/>
            <p:nvPr/>
          </p:nvSpPr>
          <p:spPr>
            <a:xfrm>
              <a:off x="1035233" y="913778"/>
              <a:ext cx="2492990" cy="400110"/>
            </a:xfrm>
            <a:prstGeom prst="rect">
              <a:avLst/>
            </a:prstGeom>
          </p:spPr>
          <p:txBody>
            <a:bodyPr wrap="none">
              <a:spAutoFit/>
            </a:bodyPr>
            <a:lstStyle/>
            <a:p>
              <a:r>
                <a:rPr lang="zh-CN" altLang="en-US" sz="2000" b="1" dirty="0">
                  <a:solidFill>
                    <a:srgbClr val="002060"/>
                  </a:solidFill>
                  <a:latin typeface="微软雅黑" panose="020B0503020204020204" pitchFamily="34" charset="-122"/>
                  <a:ea typeface="微软雅黑" panose="020B0503020204020204" pitchFamily="34" charset="-122"/>
                </a:rPr>
                <a:t>竞争冒险的消除方法</a:t>
              </a:r>
              <a:endParaRPr lang="zh-CN" altLang="en-US" sz="2000" b="1" dirty="0">
                <a:solidFill>
                  <a:srgbClr val="002060"/>
                </a:solidFill>
                <a:latin typeface="微软雅黑" panose="020B0503020204020204" pitchFamily="34" charset="-122"/>
                <a:ea typeface="微软雅黑" panose="020B0503020204020204" pitchFamily="34" charset="-122"/>
              </a:endParaRPr>
            </a:p>
          </p:txBody>
        </p:sp>
        <p:pic>
          <p:nvPicPr>
            <p:cNvPr id="39" name="Picture 3"/>
            <p:cNvPicPr>
              <a:picLocks noChangeAspect="1" noChangeArrowheads="1"/>
            </p:cNvPicPr>
            <p:nvPr/>
          </p:nvPicPr>
          <p:blipFill>
            <a:blip r:embed="rId1" cstate="print"/>
            <a:srcRect/>
            <a:stretch>
              <a:fillRect/>
            </a:stretch>
          </p:blipFill>
          <p:spPr bwMode="auto">
            <a:xfrm flipH="1">
              <a:off x="670560" y="892917"/>
              <a:ext cx="342900" cy="411055"/>
            </a:xfrm>
            <a:prstGeom prst="rect">
              <a:avLst/>
            </a:prstGeom>
            <a:noFill/>
            <a:ln w="9525">
              <a:noFill/>
              <a:miter lim="800000"/>
              <a:headEnd/>
              <a:tailEnd/>
            </a:ln>
          </p:spPr>
        </p:pic>
      </p:grpSp>
      <p:sp>
        <p:nvSpPr>
          <p:cNvPr id="55" name="Rectangle 24"/>
          <p:cNvSpPr>
            <a:spLocks noChangeArrowheads="1"/>
          </p:cNvSpPr>
          <p:nvPr/>
        </p:nvSpPr>
        <p:spPr bwMode="auto">
          <a:xfrm>
            <a:off x="459948" y="3936843"/>
            <a:ext cx="8170862" cy="973343"/>
          </a:xfrm>
          <a:prstGeom prst="rect">
            <a:avLst/>
          </a:prstGeom>
          <a:noFill/>
          <a:ln w="9525" algn="ctr">
            <a:noFill/>
            <a:miter lim="800000"/>
          </a:ln>
        </p:spPr>
        <p:txBody>
          <a:bodyPr lIns="0" rIns="0">
            <a:spAutoFit/>
          </a:bodyPr>
          <a:lstStyle/>
          <a:p>
            <a:pPr indent="533400">
              <a:lnSpc>
                <a:spcPct val="125000"/>
              </a:lnSpc>
            </a:pPr>
            <a:r>
              <a:rPr lang="zh-CN" altLang="en-US" sz="1600" b="1" dirty="0">
                <a:solidFill>
                  <a:srgbClr val="000000"/>
                </a:solidFill>
                <a:latin typeface="楷体" panose="02010609060101010101" pitchFamily="49" charset="-122"/>
                <a:ea typeface="楷体" panose="02010609060101010101" pitchFamily="49" charset="-122"/>
              </a:rPr>
              <a:t>竞争冒险产生的干扰脉冲的宽度一般都很窄，在可能产生冒险的门电路输出端并接一个电容（一般为</a:t>
            </a:r>
            <a:r>
              <a:rPr lang="en-US" altLang="zh-CN" sz="1600" b="1" dirty="0">
                <a:solidFill>
                  <a:srgbClr val="000000"/>
                </a:solidFill>
                <a:latin typeface="楷体" panose="02010609060101010101" pitchFamily="49" charset="-122"/>
                <a:ea typeface="楷体" panose="02010609060101010101" pitchFamily="49" charset="-122"/>
              </a:rPr>
              <a:t>4</a:t>
            </a:r>
            <a:r>
              <a:rPr lang="zh-CN" altLang="en-US" sz="1600" b="1" dirty="0">
                <a:solidFill>
                  <a:srgbClr val="000000"/>
                </a:solidFill>
                <a:latin typeface="楷体" panose="02010609060101010101" pitchFamily="49" charset="-122"/>
                <a:ea typeface="楷体" panose="02010609060101010101" pitchFamily="49" charset="-122"/>
              </a:rPr>
              <a:t>～</a:t>
            </a:r>
            <a:r>
              <a:rPr lang="en-US" altLang="zh-CN" sz="1600" b="1" dirty="0">
                <a:solidFill>
                  <a:srgbClr val="000000"/>
                </a:solidFill>
                <a:latin typeface="楷体" panose="02010609060101010101" pitchFamily="49" charset="-122"/>
                <a:ea typeface="楷体" panose="02010609060101010101" pitchFamily="49" charset="-122"/>
              </a:rPr>
              <a:t>20pF</a:t>
            </a:r>
            <a:r>
              <a:rPr lang="zh-CN" altLang="en-US" sz="1600" b="1" dirty="0">
                <a:solidFill>
                  <a:srgbClr val="000000"/>
                </a:solidFill>
                <a:latin typeface="楷体" panose="02010609060101010101" pitchFamily="49" charset="-122"/>
                <a:ea typeface="楷体" panose="02010609060101010101" pitchFamily="49" charset="-122"/>
              </a:rPr>
              <a:t>），利用电容两端的电压不能突变的特性</a:t>
            </a:r>
            <a:r>
              <a:rPr lang="en-US" altLang="zh-CN" sz="1600" b="1" dirty="0">
                <a:solidFill>
                  <a:srgbClr val="000000"/>
                </a:solidFill>
                <a:latin typeface="楷体" panose="02010609060101010101" pitchFamily="49" charset="-122"/>
                <a:ea typeface="楷体" panose="02010609060101010101" pitchFamily="49" charset="-122"/>
              </a:rPr>
              <a:t>(</a:t>
            </a:r>
            <a:r>
              <a:rPr lang="zh-CN" altLang="en-US" sz="1600" b="1" dirty="0">
                <a:solidFill>
                  <a:srgbClr val="FF00FF"/>
                </a:solidFill>
                <a:latin typeface="楷体" panose="02010609060101010101" pitchFamily="49" charset="-122"/>
                <a:ea typeface="楷体" panose="02010609060101010101" pitchFamily="49" charset="-122"/>
              </a:rPr>
              <a:t>滤波</a:t>
            </a:r>
            <a:r>
              <a:rPr lang="en-US" altLang="zh-CN" sz="1600" b="1" dirty="0">
                <a:solidFill>
                  <a:srgbClr val="000000"/>
                </a:solidFill>
                <a:latin typeface="楷体" panose="02010609060101010101" pitchFamily="49" charset="-122"/>
                <a:ea typeface="楷体" panose="02010609060101010101" pitchFamily="49" charset="-122"/>
              </a:rPr>
              <a:t>)</a:t>
            </a:r>
            <a:r>
              <a:rPr lang="zh-CN" altLang="en-US" sz="1600" b="1" dirty="0">
                <a:solidFill>
                  <a:srgbClr val="000000"/>
                </a:solidFill>
                <a:latin typeface="楷体" panose="02010609060101010101" pitchFamily="49" charset="-122"/>
                <a:ea typeface="楷体" panose="02010609060101010101" pitchFamily="49" charset="-122"/>
              </a:rPr>
              <a:t>，使输出波形上升沿和下降沿都变的比较缓慢，从而起到消除冒险现象的作用。</a:t>
            </a:r>
            <a:endParaRPr lang="zh-CN" altLang="en-US" sz="1600" b="1" dirty="0">
              <a:solidFill>
                <a:srgbClr val="000000"/>
              </a:solidFill>
              <a:latin typeface="楷体" panose="02010609060101010101" pitchFamily="49" charset="-122"/>
              <a:ea typeface="楷体" panose="02010609060101010101" pitchFamily="49" charset="-122"/>
            </a:endParaRPr>
          </a:p>
        </p:txBody>
      </p:sp>
      <p:grpSp>
        <p:nvGrpSpPr>
          <p:cNvPr id="69" name="组合 68"/>
          <p:cNvGrpSpPr/>
          <p:nvPr/>
        </p:nvGrpSpPr>
        <p:grpSpPr>
          <a:xfrm>
            <a:off x="453441" y="1248442"/>
            <a:ext cx="3755860" cy="396000"/>
            <a:chOff x="499309" y="1380805"/>
            <a:chExt cx="3755860" cy="396000"/>
          </a:xfrm>
        </p:grpSpPr>
        <p:sp>
          <p:nvSpPr>
            <p:cNvPr id="43" name="Rectangle 6"/>
            <p:cNvSpPr>
              <a:spLocks noChangeArrowheads="1"/>
            </p:cNvSpPr>
            <p:nvPr/>
          </p:nvSpPr>
          <p:spPr bwMode="auto">
            <a:xfrm>
              <a:off x="873627" y="1394139"/>
              <a:ext cx="3381542" cy="369332"/>
            </a:xfrm>
            <a:prstGeom prst="rect">
              <a:avLst/>
            </a:prstGeom>
            <a:noFill/>
            <a:ln w="9525" algn="ctr">
              <a:noFill/>
              <a:miter lim="800000"/>
            </a:ln>
          </p:spPr>
          <p:txBody>
            <a:bodyPr wrap="square">
              <a:spAutoFit/>
            </a:bodyPr>
            <a:lstStyle/>
            <a:p>
              <a:pPr algn="l"/>
              <a:r>
                <a:rPr lang="zh-CN" altLang="en-US" dirty="0">
                  <a:solidFill>
                    <a:srgbClr val="FF0000"/>
                  </a:solidFill>
                  <a:latin typeface="黑体" panose="02010609060101010101" pitchFamily="49" charset="-122"/>
                  <a:ea typeface="黑体" panose="02010609060101010101" pitchFamily="49" charset="-122"/>
                </a:rPr>
                <a:t>增加乘积项以避免互补项相加</a:t>
              </a:r>
              <a:endParaRPr lang="zh-CN" altLang="en-US" dirty="0">
                <a:solidFill>
                  <a:srgbClr val="FF0000"/>
                </a:solidFill>
                <a:latin typeface="黑体" panose="02010609060101010101" pitchFamily="49" charset="-122"/>
                <a:ea typeface="黑体" panose="02010609060101010101" pitchFamily="49" charset="-122"/>
              </a:endParaRPr>
            </a:p>
          </p:txBody>
        </p:sp>
        <p:pic>
          <p:nvPicPr>
            <p:cNvPr id="20496" name="Picture 16"/>
            <p:cNvPicPr>
              <a:picLocks noChangeArrowheads="1"/>
            </p:cNvPicPr>
            <p:nvPr/>
          </p:nvPicPr>
          <p:blipFill>
            <a:blip r:embed="rId2" cstate="print"/>
            <a:srcRect/>
            <a:stretch>
              <a:fillRect/>
            </a:stretch>
          </p:blipFill>
          <p:spPr bwMode="auto">
            <a:xfrm>
              <a:off x="499309" y="1380805"/>
              <a:ext cx="396000" cy="396000"/>
            </a:xfrm>
            <a:prstGeom prst="rect">
              <a:avLst/>
            </a:prstGeom>
            <a:noFill/>
            <a:ln w="9525">
              <a:noFill/>
              <a:miter lim="800000"/>
              <a:headEnd/>
              <a:tailEnd/>
            </a:ln>
          </p:spPr>
        </p:pic>
      </p:grpSp>
      <p:graphicFrame>
        <p:nvGraphicFramePr>
          <p:cNvPr id="56" name="Object 10"/>
          <p:cNvGraphicFramePr>
            <a:graphicFrameLocks noChangeAspect="1"/>
          </p:cNvGraphicFramePr>
          <p:nvPr/>
        </p:nvGraphicFramePr>
        <p:xfrm>
          <a:off x="968963" y="1846782"/>
          <a:ext cx="1449387" cy="353019"/>
        </p:xfrm>
        <a:graphic>
          <a:graphicData uri="http://schemas.openxmlformats.org/presentationml/2006/ole">
            <mc:AlternateContent xmlns:mc="http://schemas.openxmlformats.org/markup-compatibility/2006">
              <mc:Choice xmlns:v="urn:schemas-microsoft-com:vml" Requires="v">
                <p:oleObj spid="_x0000_s74770" name="公式" r:id="rId3" imgW="850265" imgH="215900" progId="Equation.3">
                  <p:embed/>
                </p:oleObj>
              </mc:Choice>
              <mc:Fallback>
                <p:oleObj name="公式" r:id="rId3" imgW="850265" imgH="215900" progId="Equation.3">
                  <p:embed/>
                  <p:pic>
                    <p:nvPicPr>
                      <p:cNvPr id="0"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8963" y="1846782"/>
                        <a:ext cx="1449387" cy="3530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8" name="右箭头 57"/>
          <p:cNvSpPr/>
          <p:nvPr/>
        </p:nvSpPr>
        <p:spPr>
          <a:xfrm>
            <a:off x="2470486" y="1820774"/>
            <a:ext cx="822153" cy="405034"/>
          </a:xfrm>
          <a:prstGeom prst="rightArrow">
            <a:avLst>
              <a:gd name="adj1" fmla="val 66176"/>
              <a:gd name="adj2" fmla="val 50735"/>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i="1" dirty="0">
                <a:latin typeface="Times New Roman" panose="02020603050405020304" pitchFamily="18" charset="0"/>
                <a:cs typeface="Times New Roman" panose="02020603050405020304" pitchFamily="18" charset="0"/>
              </a:rPr>
              <a:t>A</a:t>
            </a:r>
            <a:r>
              <a:rPr lang="en-US" altLang="zh-CN"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B</a:t>
            </a:r>
            <a:r>
              <a:rPr lang="en-US" altLang="zh-CN" sz="1600" dirty="0">
                <a:latin typeface="Times New Roman" panose="02020603050405020304" pitchFamily="18" charset="0"/>
                <a:cs typeface="Times New Roman" panose="02020603050405020304" pitchFamily="18" charset="0"/>
              </a:rPr>
              <a:t>=1</a:t>
            </a:r>
            <a:endParaRPr lang="zh-CN" altLang="en-US" sz="1600" dirty="0">
              <a:latin typeface="Times New Roman" panose="02020603050405020304" pitchFamily="18" charset="0"/>
              <a:cs typeface="Times New Roman" panose="02020603050405020304" pitchFamily="18" charset="0"/>
            </a:endParaRPr>
          </a:p>
        </p:txBody>
      </p:sp>
      <p:grpSp>
        <p:nvGrpSpPr>
          <p:cNvPr id="59" name="组合 58"/>
          <p:cNvGrpSpPr/>
          <p:nvPr/>
        </p:nvGrpSpPr>
        <p:grpSpPr>
          <a:xfrm>
            <a:off x="3308660" y="1848834"/>
            <a:ext cx="1163078" cy="348915"/>
            <a:chOff x="3677650" y="2963778"/>
            <a:chExt cx="1179097" cy="348915"/>
          </a:xfrm>
        </p:grpSpPr>
        <p:sp>
          <p:nvSpPr>
            <p:cNvPr id="60" name="圆角矩形 59"/>
            <p:cNvSpPr/>
            <p:nvPr/>
          </p:nvSpPr>
          <p:spPr>
            <a:xfrm>
              <a:off x="3677650" y="2963778"/>
              <a:ext cx="1179097" cy="348915"/>
            </a:xfrm>
            <a:prstGeom prst="roundRect">
              <a:avLst>
                <a:gd name="adj" fmla="val 10088"/>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1" name="Object 18"/>
            <p:cNvGraphicFramePr>
              <a:graphicFrameLocks noChangeAspect="1"/>
            </p:cNvGraphicFramePr>
            <p:nvPr/>
          </p:nvGraphicFramePr>
          <p:xfrm>
            <a:off x="3769717" y="2975644"/>
            <a:ext cx="1000125" cy="307975"/>
          </p:xfrm>
          <a:graphic>
            <a:graphicData uri="http://schemas.openxmlformats.org/presentationml/2006/ole">
              <mc:AlternateContent xmlns:mc="http://schemas.openxmlformats.org/markup-compatibility/2006">
                <mc:Choice xmlns:v="urn:schemas-microsoft-com:vml" Requires="v">
                  <p:oleObj spid="_x0000_s74771" name="公式" r:id="rId5" imgW="660400" imgH="203200" progId="Equation.3">
                    <p:embed/>
                  </p:oleObj>
                </mc:Choice>
                <mc:Fallback>
                  <p:oleObj name="公式" r:id="rId5" imgW="660400" imgH="203200" progId="Equation.3">
                    <p:embed/>
                    <p:pic>
                      <p:nvPicPr>
                        <p:cNvPr id="0" name="Object 1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69717" y="2975644"/>
                          <a:ext cx="1000125" cy="307975"/>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sp>
        <p:nvSpPr>
          <p:cNvPr id="62" name="圆角矩形标注 61"/>
          <p:cNvSpPr/>
          <p:nvPr/>
        </p:nvSpPr>
        <p:spPr>
          <a:xfrm>
            <a:off x="4010523" y="1283329"/>
            <a:ext cx="798094" cy="404101"/>
          </a:xfrm>
          <a:prstGeom prst="wedgeRoundRectCallout">
            <a:avLst>
              <a:gd name="adj1" fmla="val -19155"/>
              <a:gd name="adj2" fmla="val 74621"/>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latin typeface="Arial" panose="020B0604020202020204" pitchFamily="34" charset="0"/>
                <a:ea typeface="黑体" panose="02010609060101010101" pitchFamily="49" charset="-122"/>
                <a:cs typeface="Arial" panose="020B0604020202020204" pitchFamily="34" charset="0"/>
              </a:rPr>
              <a:t>“0”</a:t>
            </a:r>
            <a:r>
              <a:rPr lang="zh-CN" altLang="en-US" sz="1600" dirty="0">
                <a:latin typeface="Arial" panose="020B0604020202020204" pitchFamily="34" charset="0"/>
                <a:ea typeface="黑体" panose="02010609060101010101" pitchFamily="49" charset="-122"/>
                <a:cs typeface="Arial" panose="020B0604020202020204" pitchFamily="34" charset="0"/>
              </a:rPr>
              <a:t>冒险</a:t>
            </a:r>
            <a:endParaRPr lang="zh-CN" altLang="en-US" sz="1600" dirty="0">
              <a:latin typeface="Arial" panose="020B0604020202020204" pitchFamily="34" charset="0"/>
              <a:ea typeface="黑体" panose="02010609060101010101" pitchFamily="49" charset="-122"/>
              <a:cs typeface="Arial" panose="020B0604020202020204" pitchFamily="34" charset="0"/>
            </a:endParaRPr>
          </a:p>
        </p:txBody>
      </p:sp>
      <p:graphicFrame>
        <p:nvGraphicFramePr>
          <p:cNvPr id="20500" name="Object 10"/>
          <p:cNvGraphicFramePr>
            <a:graphicFrameLocks noChangeAspect="1"/>
          </p:cNvGraphicFramePr>
          <p:nvPr/>
        </p:nvGraphicFramePr>
        <p:xfrm>
          <a:off x="4821825" y="1847079"/>
          <a:ext cx="2033588" cy="352425"/>
        </p:xfrm>
        <a:graphic>
          <a:graphicData uri="http://schemas.openxmlformats.org/presentationml/2006/ole">
            <mc:AlternateContent xmlns:mc="http://schemas.openxmlformats.org/markup-compatibility/2006">
              <mc:Choice xmlns:v="urn:schemas-microsoft-com:vml" Requires="v">
                <p:oleObj spid="_x0000_s74772" name="公式" r:id="rId7" imgW="1193800" imgH="215900" progId="Equation.3">
                  <p:embed/>
                </p:oleObj>
              </mc:Choice>
              <mc:Fallback>
                <p:oleObj name="公式" r:id="rId7" imgW="1193800" imgH="215900" progId="Equation.3">
                  <p:embed/>
                  <p:pic>
                    <p:nvPicPr>
                      <p:cNvPr id="0" name="Object 1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21825" y="1847079"/>
                        <a:ext cx="2033588" cy="352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4" name="右箭头 63"/>
          <p:cNvSpPr/>
          <p:nvPr/>
        </p:nvSpPr>
        <p:spPr>
          <a:xfrm>
            <a:off x="6874046" y="1820774"/>
            <a:ext cx="822153" cy="405034"/>
          </a:xfrm>
          <a:prstGeom prst="rightArrow">
            <a:avLst>
              <a:gd name="adj1" fmla="val 66176"/>
              <a:gd name="adj2" fmla="val 50735"/>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i="1" dirty="0">
                <a:latin typeface="Times New Roman" panose="02020603050405020304" pitchFamily="18" charset="0"/>
                <a:cs typeface="Times New Roman" panose="02020603050405020304" pitchFamily="18" charset="0"/>
              </a:rPr>
              <a:t>A</a:t>
            </a:r>
            <a:r>
              <a:rPr lang="en-US" altLang="zh-CN"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B</a:t>
            </a:r>
            <a:r>
              <a:rPr lang="en-US" altLang="zh-CN" sz="1600" dirty="0">
                <a:latin typeface="Times New Roman" panose="02020603050405020304" pitchFamily="18" charset="0"/>
                <a:cs typeface="Times New Roman" panose="02020603050405020304" pitchFamily="18" charset="0"/>
              </a:rPr>
              <a:t>=1</a:t>
            </a:r>
            <a:endParaRPr lang="zh-CN" altLang="en-US" sz="1600" dirty="0">
              <a:latin typeface="Times New Roman" panose="02020603050405020304" pitchFamily="18" charset="0"/>
              <a:cs typeface="Times New Roman" panose="02020603050405020304" pitchFamily="18" charset="0"/>
            </a:endParaRPr>
          </a:p>
        </p:txBody>
      </p:sp>
      <p:grpSp>
        <p:nvGrpSpPr>
          <p:cNvPr id="65" name="组合 64"/>
          <p:cNvGrpSpPr/>
          <p:nvPr/>
        </p:nvGrpSpPr>
        <p:grpSpPr>
          <a:xfrm>
            <a:off x="7764363" y="1848834"/>
            <a:ext cx="705870" cy="348915"/>
            <a:chOff x="3677651" y="2963778"/>
            <a:chExt cx="705870" cy="348915"/>
          </a:xfrm>
        </p:grpSpPr>
        <p:sp>
          <p:nvSpPr>
            <p:cNvPr id="66" name="圆角矩形 65"/>
            <p:cNvSpPr/>
            <p:nvPr/>
          </p:nvSpPr>
          <p:spPr>
            <a:xfrm>
              <a:off x="3677651" y="2963778"/>
              <a:ext cx="705870" cy="348915"/>
            </a:xfrm>
            <a:prstGeom prst="roundRect">
              <a:avLst>
                <a:gd name="adj" fmla="val 10088"/>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67" name="Object 18"/>
            <p:cNvGraphicFramePr>
              <a:graphicFrameLocks noChangeAspect="1"/>
            </p:cNvGraphicFramePr>
            <p:nvPr/>
          </p:nvGraphicFramePr>
          <p:xfrm>
            <a:off x="3772205" y="3020299"/>
            <a:ext cx="519113" cy="250825"/>
          </p:xfrm>
          <a:graphic>
            <a:graphicData uri="http://schemas.openxmlformats.org/presentationml/2006/ole">
              <mc:AlternateContent xmlns:mc="http://schemas.openxmlformats.org/markup-compatibility/2006">
                <mc:Choice xmlns:v="urn:schemas-microsoft-com:vml" Requires="v">
                  <p:oleObj spid="_x0000_s74773" name="公式" r:id="rId9" imgW="342900" imgH="165100" progId="Equation.3">
                    <p:embed/>
                  </p:oleObj>
                </mc:Choice>
                <mc:Fallback>
                  <p:oleObj name="公式" r:id="rId9" imgW="342900" imgH="165100" progId="Equation.3">
                    <p:embed/>
                    <p:pic>
                      <p:nvPicPr>
                        <p:cNvPr id="0" name="Object 1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772205" y="3020299"/>
                          <a:ext cx="519113" cy="250825"/>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grpSp>
        <p:nvGrpSpPr>
          <p:cNvPr id="70" name="组合 69"/>
          <p:cNvGrpSpPr/>
          <p:nvPr/>
        </p:nvGrpSpPr>
        <p:grpSpPr>
          <a:xfrm>
            <a:off x="453441" y="2454083"/>
            <a:ext cx="3250030" cy="396000"/>
            <a:chOff x="543928" y="2835128"/>
            <a:chExt cx="3250030" cy="396000"/>
          </a:xfrm>
        </p:grpSpPr>
        <p:sp>
          <p:nvSpPr>
            <p:cNvPr id="48" name="Rectangle 15"/>
            <p:cNvSpPr>
              <a:spLocks noChangeArrowheads="1"/>
            </p:cNvSpPr>
            <p:nvPr/>
          </p:nvSpPr>
          <p:spPr bwMode="auto">
            <a:xfrm>
              <a:off x="901945" y="2848462"/>
              <a:ext cx="2892013" cy="369332"/>
            </a:xfrm>
            <a:prstGeom prst="rect">
              <a:avLst/>
            </a:prstGeom>
            <a:noFill/>
            <a:ln w="9525" algn="ctr">
              <a:noFill/>
              <a:miter lim="800000"/>
            </a:ln>
          </p:spPr>
          <p:txBody>
            <a:bodyPr wrap="square">
              <a:spAutoFit/>
            </a:bodyPr>
            <a:lstStyle/>
            <a:p>
              <a:pPr algn="l"/>
              <a:r>
                <a:rPr lang="zh-CN" altLang="en-US" dirty="0">
                  <a:solidFill>
                    <a:srgbClr val="FF0000"/>
                  </a:solidFill>
                  <a:latin typeface="黑体" panose="02010609060101010101" pitchFamily="49" charset="-122"/>
                  <a:ea typeface="黑体" panose="02010609060101010101" pitchFamily="49" charset="-122"/>
                </a:rPr>
                <a:t>发现并消去互补相乘项</a:t>
              </a:r>
              <a:endParaRPr lang="zh-CN" altLang="en-US" dirty="0">
                <a:solidFill>
                  <a:srgbClr val="FF0000"/>
                </a:solidFill>
                <a:latin typeface="黑体" panose="02010609060101010101" pitchFamily="49" charset="-122"/>
                <a:ea typeface="黑体" panose="02010609060101010101" pitchFamily="49" charset="-122"/>
              </a:endParaRPr>
            </a:p>
          </p:txBody>
        </p:sp>
        <p:pic>
          <p:nvPicPr>
            <p:cNvPr id="20502" name="Picture 22"/>
            <p:cNvPicPr>
              <a:picLocks noChangeAspect="1" noChangeArrowheads="1"/>
            </p:cNvPicPr>
            <p:nvPr/>
          </p:nvPicPr>
          <p:blipFill>
            <a:blip r:embed="rId11" cstate="print"/>
            <a:srcRect/>
            <a:stretch>
              <a:fillRect/>
            </a:stretch>
          </p:blipFill>
          <p:spPr bwMode="auto">
            <a:xfrm>
              <a:off x="543928" y="2835128"/>
              <a:ext cx="397541" cy="396000"/>
            </a:xfrm>
            <a:prstGeom prst="rect">
              <a:avLst/>
            </a:prstGeom>
            <a:noFill/>
            <a:ln w="9525">
              <a:noFill/>
              <a:miter lim="800000"/>
              <a:headEnd/>
              <a:tailEnd/>
            </a:ln>
          </p:spPr>
        </p:pic>
      </p:grpSp>
      <p:graphicFrame>
        <p:nvGraphicFramePr>
          <p:cNvPr id="71" name="Object 17"/>
          <p:cNvGraphicFramePr>
            <a:graphicFrameLocks noChangeAspect="1"/>
          </p:cNvGraphicFramePr>
          <p:nvPr/>
        </p:nvGraphicFramePr>
        <p:xfrm>
          <a:off x="955172" y="2991913"/>
          <a:ext cx="1862928" cy="382920"/>
        </p:xfrm>
        <a:graphic>
          <a:graphicData uri="http://schemas.openxmlformats.org/presentationml/2006/ole">
            <mc:AlternateContent xmlns:mc="http://schemas.openxmlformats.org/markup-compatibility/2006">
              <mc:Choice xmlns:v="urn:schemas-microsoft-com:vml" Requires="v">
                <p:oleObj spid="_x0000_s74774" name="公式" r:id="rId12" imgW="1066800" imgH="228600" progId="Equation.3">
                  <p:embed/>
                </p:oleObj>
              </mc:Choice>
              <mc:Fallback>
                <p:oleObj name="公式" r:id="rId12" imgW="1066800" imgH="228600" progId="Equation.3">
                  <p:embed/>
                  <p:pic>
                    <p:nvPicPr>
                      <p:cNvPr id="0"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55172" y="2991913"/>
                        <a:ext cx="1862928" cy="38292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2" name="组合 71"/>
          <p:cNvGrpSpPr/>
          <p:nvPr/>
        </p:nvGrpSpPr>
        <p:grpSpPr>
          <a:xfrm>
            <a:off x="3701692" y="3008916"/>
            <a:ext cx="990625" cy="348915"/>
            <a:chOff x="3677650" y="2963778"/>
            <a:chExt cx="967569" cy="348915"/>
          </a:xfrm>
        </p:grpSpPr>
        <p:sp>
          <p:nvSpPr>
            <p:cNvPr id="73" name="圆角矩形 72"/>
            <p:cNvSpPr/>
            <p:nvPr/>
          </p:nvSpPr>
          <p:spPr>
            <a:xfrm>
              <a:off x="3677650" y="2963778"/>
              <a:ext cx="967569" cy="348915"/>
            </a:xfrm>
            <a:prstGeom prst="roundRect">
              <a:avLst>
                <a:gd name="adj" fmla="val 10088"/>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74" name="Object 18"/>
            <p:cNvGraphicFramePr>
              <a:graphicFrameLocks noChangeAspect="1"/>
            </p:cNvGraphicFramePr>
            <p:nvPr/>
          </p:nvGraphicFramePr>
          <p:xfrm>
            <a:off x="3705263" y="2984448"/>
            <a:ext cx="884238" cy="287337"/>
          </p:xfrm>
          <a:graphic>
            <a:graphicData uri="http://schemas.openxmlformats.org/presentationml/2006/ole">
              <mc:AlternateContent xmlns:mc="http://schemas.openxmlformats.org/markup-compatibility/2006">
                <mc:Choice xmlns:v="urn:schemas-microsoft-com:vml" Requires="v">
                  <p:oleObj spid="_x0000_s74775" name="公式" r:id="rId14" imgW="584200" imgH="190500" progId="Equation.3">
                    <p:embed/>
                  </p:oleObj>
                </mc:Choice>
                <mc:Fallback>
                  <p:oleObj name="公式" r:id="rId14" imgW="584200" imgH="190500" progId="Equation.3">
                    <p:embed/>
                    <p:pic>
                      <p:nvPicPr>
                        <p:cNvPr id="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705263" y="2984448"/>
                          <a:ext cx="884238" cy="287337"/>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sp>
        <p:nvSpPr>
          <p:cNvPr id="75" name="右箭头 74"/>
          <p:cNvSpPr/>
          <p:nvPr/>
        </p:nvSpPr>
        <p:spPr>
          <a:xfrm>
            <a:off x="2831429" y="2980856"/>
            <a:ext cx="822153" cy="405034"/>
          </a:xfrm>
          <a:prstGeom prst="rightArrow">
            <a:avLst>
              <a:gd name="adj1" fmla="val 66176"/>
              <a:gd name="adj2" fmla="val 50735"/>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i="1" dirty="0">
                <a:latin typeface="Times New Roman" panose="02020603050405020304" pitchFamily="18" charset="0"/>
                <a:cs typeface="Times New Roman" panose="02020603050405020304" pitchFamily="18" charset="0"/>
              </a:rPr>
              <a:t>A</a:t>
            </a:r>
            <a:r>
              <a:rPr lang="en-US" altLang="zh-CN"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C</a:t>
            </a:r>
            <a:r>
              <a:rPr lang="en-US" altLang="zh-CN" sz="1600" dirty="0">
                <a:latin typeface="Times New Roman" panose="02020603050405020304" pitchFamily="18" charset="0"/>
                <a:cs typeface="Times New Roman" panose="02020603050405020304" pitchFamily="18" charset="0"/>
              </a:rPr>
              <a:t>=0</a:t>
            </a:r>
            <a:endParaRPr lang="zh-CN" altLang="en-US" sz="1600" dirty="0">
              <a:latin typeface="Times New Roman" panose="02020603050405020304" pitchFamily="18" charset="0"/>
              <a:cs typeface="Times New Roman" panose="02020603050405020304" pitchFamily="18" charset="0"/>
            </a:endParaRPr>
          </a:p>
        </p:txBody>
      </p:sp>
      <p:sp>
        <p:nvSpPr>
          <p:cNvPr id="76" name="圆角矩形标注 75"/>
          <p:cNvSpPr/>
          <p:nvPr/>
        </p:nvSpPr>
        <p:spPr>
          <a:xfrm>
            <a:off x="4275219" y="2470467"/>
            <a:ext cx="798094" cy="404101"/>
          </a:xfrm>
          <a:prstGeom prst="wedgeRoundRectCallout">
            <a:avLst>
              <a:gd name="adj1" fmla="val -47296"/>
              <a:gd name="adj2" fmla="val 69658"/>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dirty="0">
                <a:latin typeface="Arial" panose="020B0604020202020204" pitchFamily="34" charset="0"/>
                <a:ea typeface="黑体" panose="02010609060101010101" pitchFamily="49" charset="-122"/>
                <a:cs typeface="Arial" panose="020B0604020202020204" pitchFamily="34" charset="0"/>
              </a:rPr>
              <a:t>“1”</a:t>
            </a:r>
            <a:r>
              <a:rPr lang="zh-CN" altLang="en-US" sz="1600" dirty="0">
                <a:latin typeface="Arial" panose="020B0604020202020204" pitchFamily="34" charset="0"/>
                <a:ea typeface="黑体" panose="02010609060101010101" pitchFamily="49" charset="-122"/>
                <a:cs typeface="Arial" panose="020B0604020202020204" pitchFamily="34" charset="0"/>
              </a:rPr>
              <a:t>冒险</a:t>
            </a:r>
            <a:endParaRPr lang="zh-CN" altLang="en-US" sz="1600" dirty="0">
              <a:latin typeface="Arial" panose="020B0604020202020204" pitchFamily="34" charset="0"/>
              <a:ea typeface="黑体" panose="02010609060101010101" pitchFamily="49" charset="-122"/>
              <a:cs typeface="Arial" panose="020B0604020202020204" pitchFamily="34" charset="0"/>
            </a:endParaRPr>
          </a:p>
        </p:txBody>
      </p:sp>
      <p:graphicFrame>
        <p:nvGraphicFramePr>
          <p:cNvPr id="77" name="Object 16"/>
          <p:cNvGraphicFramePr>
            <a:graphicFrameLocks noChangeAspect="1"/>
          </p:cNvGraphicFramePr>
          <p:nvPr/>
        </p:nvGraphicFramePr>
        <p:xfrm>
          <a:off x="4846718" y="3017724"/>
          <a:ext cx="1931072" cy="331299"/>
        </p:xfrm>
        <a:graphic>
          <a:graphicData uri="http://schemas.openxmlformats.org/presentationml/2006/ole">
            <mc:AlternateContent xmlns:mc="http://schemas.openxmlformats.org/markup-compatibility/2006">
              <mc:Choice xmlns:v="urn:schemas-microsoft-com:vml" Requires="v">
                <p:oleObj spid="_x0000_s74776" name="公式" r:id="rId16" imgW="1078865" imgH="203200" progId="Equation.3">
                  <p:embed/>
                </p:oleObj>
              </mc:Choice>
              <mc:Fallback>
                <p:oleObj name="公式" r:id="rId16" imgW="1078865" imgH="203200" progId="Equation.3">
                  <p:embed/>
                  <p:pic>
                    <p:nvPicPr>
                      <p:cNvPr id="0" name="Object 16"/>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846718" y="3017724"/>
                        <a:ext cx="1931072" cy="33129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8" name="右箭头 77"/>
          <p:cNvSpPr/>
          <p:nvPr/>
        </p:nvSpPr>
        <p:spPr>
          <a:xfrm>
            <a:off x="6757739" y="2980856"/>
            <a:ext cx="822153" cy="405034"/>
          </a:xfrm>
          <a:prstGeom prst="rightArrow">
            <a:avLst>
              <a:gd name="adj1" fmla="val 66176"/>
              <a:gd name="adj2" fmla="val 50735"/>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altLang="zh-CN" sz="1600" i="1" dirty="0">
                <a:latin typeface="Times New Roman" panose="02020603050405020304" pitchFamily="18" charset="0"/>
                <a:cs typeface="Times New Roman" panose="02020603050405020304" pitchFamily="18" charset="0"/>
              </a:rPr>
              <a:t>A</a:t>
            </a:r>
            <a:r>
              <a:rPr lang="en-US" altLang="zh-CN" sz="1600" dirty="0">
                <a:latin typeface="Times New Roman" panose="02020603050405020304" pitchFamily="18" charset="0"/>
                <a:cs typeface="Times New Roman" panose="02020603050405020304" pitchFamily="18" charset="0"/>
              </a:rPr>
              <a:t>=</a:t>
            </a:r>
            <a:r>
              <a:rPr lang="en-US" altLang="zh-CN" sz="1600" i="1" dirty="0">
                <a:latin typeface="Times New Roman" panose="02020603050405020304" pitchFamily="18" charset="0"/>
                <a:cs typeface="Times New Roman" panose="02020603050405020304" pitchFamily="18" charset="0"/>
              </a:rPr>
              <a:t>C</a:t>
            </a:r>
            <a:r>
              <a:rPr lang="en-US" altLang="zh-CN" sz="1600" dirty="0">
                <a:latin typeface="Times New Roman" panose="02020603050405020304" pitchFamily="18" charset="0"/>
                <a:cs typeface="Times New Roman" panose="02020603050405020304" pitchFamily="18" charset="0"/>
              </a:rPr>
              <a:t>=0</a:t>
            </a:r>
            <a:endParaRPr lang="zh-CN" altLang="en-US" sz="1600" dirty="0">
              <a:latin typeface="Times New Roman" panose="02020603050405020304" pitchFamily="18" charset="0"/>
              <a:cs typeface="Times New Roman" panose="02020603050405020304" pitchFamily="18" charset="0"/>
            </a:endParaRPr>
          </a:p>
        </p:txBody>
      </p:sp>
      <p:grpSp>
        <p:nvGrpSpPr>
          <p:cNvPr id="79" name="组合 78"/>
          <p:cNvGrpSpPr/>
          <p:nvPr/>
        </p:nvGrpSpPr>
        <p:grpSpPr>
          <a:xfrm>
            <a:off x="7664099" y="3008916"/>
            <a:ext cx="745976" cy="348915"/>
            <a:chOff x="3677651" y="2963778"/>
            <a:chExt cx="745976" cy="348915"/>
          </a:xfrm>
        </p:grpSpPr>
        <p:sp>
          <p:nvSpPr>
            <p:cNvPr id="80" name="圆角矩形 79"/>
            <p:cNvSpPr/>
            <p:nvPr/>
          </p:nvSpPr>
          <p:spPr>
            <a:xfrm>
              <a:off x="3677651" y="2963778"/>
              <a:ext cx="745976" cy="348915"/>
            </a:xfrm>
            <a:prstGeom prst="roundRect">
              <a:avLst>
                <a:gd name="adj" fmla="val 10088"/>
              </a:avLst>
            </a:prstGeom>
            <a:solidFill>
              <a:srgbClr val="FFFF00"/>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81" name="Object 18"/>
            <p:cNvGraphicFramePr>
              <a:graphicFrameLocks noChangeAspect="1"/>
            </p:cNvGraphicFramePr>
            <p:nvPr/>
          </p:nvGraphicFramePr>
          <p:xfrm>
            <a:off x="3796943" y="2993639"/>
            <a:ext cx="557213" cy="268287"/>
          </p:xfrm>
          <a:graphic>
            <a:graphicData uri="http://schemas.openxmlformats.org/presentationml/2006/ole">
              <mc:AlternateContent xmlns:mc="http://schemas.openxmlformats.org/markup-compatibility/2006">
                <mc:Choice xmlns:v="urn:schemas-microsoft-com:vml" Requires="v">
                  <p:oleObj spid="_x0000_s74777" name="公式" r:id="rId18" imgW="368300" imgH="177800" progId="Equation.3">
                    <p:embed/>
                  </p:oleObj>
                </mc:Choice>
                <mc:Fallback>
                  <p:oleObj name="公式" r:id="rId18" imgW="368300" imgH="177800" progId="Equation.3">
                    <p:embed/>
                    <p:pic>
                      <p:nvPicPr>
                        <p:cNvPr id="0" name="Object 18"/>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796943" y="2993639"/>
                          <a:ext cx="557213" cy="268287"/>
                        </a:xfrm>
                        <a:prstGeom prst="rect">
                          <a:avLst/>
                        </a:prstGeom>
                        <a:solidFill>
                          <a:srgbClr val="FFFF99"/>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07763" dir="13500000" algn="ctr" rotWithShape="0">
                                  <a:srgbClr val="808080"/>
                                </a:outerShdw>
                              </a:effectLst>
                            </a14:hiddenEffects>
                          </a:ext>
                        </a:extLst>
                      </p:spPr>
                    </p:pic>
                  </p:oleObj>
                </mc:Fallback>
              </mc:AlternateContent>
            </a:graphicData>
          </a:graphic>
        </p:graphicFrame>
      </p:grpSp>
      <p:grpSp>
        <p:nvGrpSpPr>
          <p:cNvPr id="83" name="组合 82"/>
          <p:cNvGrpSpPr/>
          <p:nvPr/>
        </p:nvGrpSpPr>
        <p:grpSpPr>
          <a:xfrm>
            <a:off x="453441" y="3554172"/>
            <a:ext cx="2835204" cy="379310"/>
            <a:chOff x="453441" y="4175877"/>
            <a:chExt cx="2835204" cy="379310"/>
          </a:xfrm>
        </p:grpSpPr>
        <p:sp>
          <p:nvSpPr>
            <p:cNvPr id="54" name="Rectangle 23"/>
            <p:cNvSpPr>
              <a:spLocks noChangeArrowheads="1"/>
            </p:cNvSpPr>
            <p:nvPr/>
          </p:nvSpPr>
          <p:spPr bwMode="auto">
            <a:xfrm>
              <a:off x="872972" y="4180866"/>
              <a:ext cx="2415673" cy="369332"/>
            </a:xfrm>
            <a:prstGeom prst="rect">
              <a:avLst/>
            </a:prstGeom>
            <a:noFill/>
            <a:ln w="9525" algn="ctr">
              <a:noFill/>
              <a:miter lim="800000"/>
            </a:ln>
          </p:spPr>
          <p:txBody>
            <a:bodyPr wrap="square">
              <a:spAutoFit/>
            </a:bodyPr>
            <a:lstStyle/>
            <a:p>
              <a:pPr algn="l"/>
              <a:r>
                <a:rPr lang="zh-CN" altLang="en-US" dirty="0">
                  <a:solidFill>
                    <a:srgbClr val="FF0000"/>
                  </a:solidFill>
                  <a:latin typeface="黑体" panose="02010609060101010101" pitchFamily="49" charset="-122"/>
                  <a:ea typeface="黑体" panose="02010609060101010101" pitchFamily="49" charset="-122"/>
                </a:rPr>
                <a:t>输出并联滤波电容 </a:t>
              </a:r>
              <a:endParaRPr lang="zh-CN" altLang="en-US" dirty="0">
                <a:solidFill>
                  <a:srgbClr val="FF0000"/>
                </a:solidFill>
                <a:latin typeface="黑体" panose="02010609060101010101" pitchFamily="49" charset="-122"/>
                <a:ea typeface="黑体" panose="02010609060101010101" pitchFamily="49" charset="-122"/>
              </a:endParaRPr>
            </a:p>
          </p:txBody>
        </p:sp>
        <p:pic>
          <p:nvPicPr>
            <p:cNvPr id="20507" name="Picture 27"/>
            <p:cNvPicPr>
              <a:picLocks noChangeAspect="1" noChangeArrowheads="1"/>
            </p:cNvPicPr>
            <p:nvPr/>
          </p:nvPicPr>
          <p:blipFill>
            <a:blip r:embed="rId20" cstate="print"/>
            <a:srcRect/>
            <a:stretch>
              <a:fillRect/>
            </a:stretch>
          </p:blipFill>
          <p:spPr bwMode="auto">
            <a:xfrm>
              <a:off x="453441" y="4175877"/>
              <a:ext cx="396000" cy="379310"/>
            </a:xfrm>
            <a:prstGeom prst="rect">
              <a:avLst/>
            </a:prstGeom>
            <a:noFill/>
            <a:ln w="9525">
              <a:noFill/>
              <a:miter lim="800000"/>
              <a:headEnd/>
              <a:tailEnd/>
            </a:ln>
          </p:spPr>
        </p:pic>
      </p:grpSp>
    </p:spTree>
  </p:cSld>
  <p:clrMapOvr>
    <a:masterClrMapping/>
  </p:clrMapOvr>
  <p:transition>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wipe(left)">
                                      <p:cBhvr>
                                        <p:cTn id="7" dur="500"/>
                                        <p:tgtEl>
                                          <p:spTgt spid="37"/>
                                        </p:tgtEl>
                                      </p:cBhvr>
                                    </p:animEffect>
                                  </p:childTnLst>
                                </p:cTn>
                              </p:par>
                            </p:childTnLst>
                          </p:cTn>
                        </p:par>
                        <p:par>
                          <p:cTn id="8" fill="hold">
                            <p:stCondLst>
                              <p:cond delay="500"/>
                            </p:stCondLst>
                            <p:childTnLst>
                              <p:par>
                                <p:cTn id="9" presetID="12" presetClass="entr" presetSubtype="4" fill="hold" nodeType="afterEffect">
                                  <p:stCondLst>
                                    <p:cond delay="0"/>
                                  </p:stCondLst>
                                  <p:childTnLst>
                                    <p:set>
                                      <p:cBhvr>
                                        <p:cTn id="10" dur="1" fill="hold">
                                          <p:stCondLst>
                                            <p:cond delay="0"/>
                                          </p:stCondLst>
                                        </p:cTn>
                                        <p:tgtEl>
                                          <p:spTgt spid="69"/>
                                        </p:tgtEl>
                                        <p:attrNameLst>
                                          <p:attrName>style.visibility</p:attrName>
                                        </p:attrNameLst>
                                      </p:cBhvr>
                                      <p:to>
                                        <p:strVal val="visible"/>
                                      </p:to>
                                    </p:set>
                                    <p:animEffect transition="in" filter="slide(fromBottom)">
                                      <p:cBhvr>
                                        <p:cTn id="11" dur="1000"/>
                                        <p:tgtEl>
                                          <p:spTgt spid="69"/>
                                        </p:tgtEl>
                                      </p:cBhvr>
                                    </p:animEffect>
                                  </p:childTnLst>
                                </p:cTn>
                              </p:par>
                            </p:childTnLst>
                          </p:cTn>
                        </p:par>
                      </p:childTnLst>
                    </p:cTn>
                  </p:par>
                  <p:par>
                    <p:cTn id="12" fill="hold">
                      <p:stCondLst>
                        <p:cond delay="indefinite"/>
                      </p:stCondLst>
                      <p:childTnLst>
                        <p:par>
                          <p:cTn id="13" fill="hold">
                            <p:stCondLst>
                              <p:cond delay="0"/>
                            </p:stCondLst>
                            <p:childTnLst>
                              <p:par>
                                <p:cTn id="14" presetID="12" presetClass="entr" presetSubtype="8" fill="hold" nodeType="clickEffect">
                                  <p:stCondLst>
                                    <p:cond delay="0"/>
                                  </p:stCondLst>
                                  <p:childTnLst>
                                    <p:set>
                                      <p:cBhvr>
                                        <p:cTn id="15" dur="1" fill="hold">
                                          <p:stCondLst>
                                            <p:cond delay="0"/>
                                          </p:stCondLst>
                                        </p:cTn>
                                        <p:tgtEl>
                                          <p:spTgt spid="56"/>
                                        </p:tgtEl>
                                        <p:attrNameLst>
                                          <p:attrName>style.visibility</p:attrName>
                                        </p:attrNameLst>
                                      </p:cBhvr>
                                      <p:to>
                                        <p:strVal val="visible"/>
                                      </p:to>
                                    </p:set>
                                    <p:animEffect transition="in" filter="slide(fromLeft)">
                                      <p:cBhvr>
                                        <p:cTn id="16" dur="1000"/>
                                        <p:tgtEl>
                                          <p:spTgt spid="56"/>
                                        </p:tgtEl>
                                      </p:cBhvr>
                                    </p:animEffect>
                                  </p:childTnLst>
                                </p:cTn>
                              </p:par>
                            </p:childTnLst>
                          </p:cTn>
                        </p:par>
                        <p:par>
                          <p:cTn id="17" fill="hold">
                            <p:stCondLst>
                              <p:cond delay="1000"/>
                            </p:stCondLst>
                            <p:childTnLst>
                              <p:par>
                                <p:cTn id="18" presetID="12" presetClass="entr" presetSubtype="8" fill="hold" grpId="0" nodeType="afterEffect">
                                  <p:stCondLst>
                                    <p:cond delay="0"/>
                                  </p:stCondLst>
                                  <p:childTnLst>
                                    <p:set>
                                      <p:cBhvr>
                                        <p:cTn id="19" dur="1" fill="hold">
                                          <p:stCondLst>
                                            <p:cond delay="0"/>
                                          </p:stCondLst>
                                        </p:cTn>
                                        <p:tgtEl>
                                          <p:spTgt spid="58"/>
                                        </p:tgtEl>
                                        <p:attrNameLst>
                                          <p:attrName>style.visibility</p:attrName>
                                        </p:attrNameLst>
                                      </p:cBhvr>
                                      <p:to>
                                        <p:strVal val="visible"/>
                                      </p:to>
                                    </p:set>
                                    <p:animEffect transition="in" filter="slide(fromLeft)">
                                      <p:cBhvr>
                                        <p:cTn id="20" dur="1000"/>
                                        <p:tgtEl>
                                          <p:spTgt spid="58"/>
                                        </p:tgtEl>
                                      </p:cBhvr>
                                    </p:animEffect>
                                  </p:childTnLst>
                                </p:cTn>
                              </p:par>
                            </p:childTnLst>
                          </p:cTn>
                        </p:par>
                        <p:par>
                          <p:cTn id="21" fill="hold">
                            <p:stCondLst>
                              <p:cond delay="2000"/>
                            </p:stCondLst>
                            <p:childTnLst>
                              <p:par>
                                <p:cTn id="22" presetID="12" presetClass="entr" presetSubtype="8" fill="hold" nodeType="afterEffect">
                                  <p:stCondLst>
                                    <p:cond delay="0"/>
                                  </p:stCondLst>
                                  <p:childTnLst>
                                    <p:set>
                                      <p:cBhvr>
                                        <p:cTn id="23" dur="1" fill="hold">
                                          <p:stCondLst>
                                            <p:cond delay="0"/>
                                          </p:stCondLst>
                                        </p:cTn>
                                        <p:tgtEl>
                                          <p:spTgt spid="59"/>
                                        </p:tgtEl>
                                        <p:attrNameLst>
                                          <p:attrName>style.visibility</p:attrName>
                                        </p:attrNameLst>
                                      </p:cBhvr>
                                      <p:to>
                                        <p:strVal val="visible"/>
                                      </p:to>
                                    </p:set>
                                    <p:animEffect transition="in" filter="slide(fromLeft)">
                                      <p:cBhvr>
                                        <p:cTn id="24" dur="1000"/>
                                        <p:tgtEl>
                                          <p:spTgt spid="59"/>
                                        </p:tgtEl>
                                      </p:cBhvr>
                                    </p:animEffect>
                                  </p:childTnLst>
                                </p:cTn>
                              </p:par>
                            </p:childTnLst>
                          </p:cTn>
                        </p:par>
                        <p:par>
                          <p:cTn id="25" fill="hold">
                            <p:stCondLst>
                              <p:cond delay="3000"/>
                            </p:stCondLst>
                            <p:childTnLst>
                              <p:par>
                                <p:cTn id="26" presetID="22" presetClass="entr" presetSubtype="4" fill="hold" grpId="0" nodeType="afterEffect">
                                  <p:stCondLst>
                                    <p:cond delay="0"/>
                                  </p:stCondLst>
                                  <p:childTnLst>
                                    <p:set>
                                      <p:cBhvr>
                                        <p:cTn id="27" dur="1" fill="hold">
                                          <p:stCondLst>
                                            <p:cond delay="0"/>
                                          </p:stCondLst>
                                        </p:cTn>
                                        <p:tgtEl>
                                          <p:spTgt spid="62"/>
                                        </p:tgtEl>
                                        <p:attrNameLst>
                                          <p:attrName>style.visibility</p:attrName>
                                        </p:attrNameLst>
                                      </p:cBhvr>
                                      <p:to>
                                        <p:strVal val="visible"/>
                                      </p:to>
                                    </p:set>
                                    <p:animEffect transition="in" filter="wipe(down)">
                                      <p:cBhvr>
                                        <p:cTn id="28" dur="1000"/>
                                        <p:tgtEl>
                                          <p:spTgt spid="62"/>
                                        </p:tgtEl>
                                      </p:cBhvr>
                                    </p:animEffect>
                                  </p:childTnLst>
                                </p:cTn>
                              </p:par>
                            </p:childTnLst>
                          </p:cTn>
                        </p:par>
                      </p:childTnLst>
                    </p:cTn>
                  </p:par>
                  <p:par>
                    <p:cTn id="29" fill="hold">
                      <p:stCondLst>
                        <p:cond delay="indefinite"/>
                      </p:stCondLst>
                      <p:childTnLst>
                        <p:par>
                          <p:cTn id="30" fill="hold">
                            <p:stCondLst>
                              <p:cond delay="0"/>
                            </p:stCondLst>
                            <p:childTnLst>
                              <p:par>
                                <p:cTn id="31" presetID="12" presetClass="entr" presetSubtype="8" fill="hold" nodeType="clickEffect">
                                  <p:stCondLst>
                                    <p:cond delay="0"/>
                                  </p:stCondLst>
                                  <p:childTnLst>
                                    <p:set>
                                      <p:cBhvr>
                                        <p:cTn id="32" dur="1" fill="hold">
                                          <p:stCondLst>
                                            <p:cond delay="0"/>
                                          </p:stCondLst>
                                        </p:cTn>
                                        <p:tgtEl>
                                          <p:spTgt spid="20500"/>
                                        </p:tgtEl>
                                        <p:attrNameLst>
                                          <p:attrName>style.visibility</p:attrName>
                                        </p:attrNameLst>
                                      </p:cBhvr>
                                      <p:to>
                                        <p:strVal val="visible"/>
                                      </p:to>
                                    </p:set>
                                    <p:animEffect transition="in" filter="slide(fromLeft)">
                                      <p:cBhvr>
                                        <p:cTn id="33" dur="500"/>
                                        <p:tgtEl>
                                          <p:spTgt spid="20500"/>
                                        </p:tgtEl>
                                      </p:cBhvr>
                                    </p:animEffect>
                                  </p:childTnLst>
                                </p:cTn>
                              </p:par>
                            </p:childTnLst>
                          </p:cTn>
                        </p:par>
                        <p:par>
                          <p:cTn id="34" fill="hold">
                            <p:stCondLst>
                              <p:cond delay="500"/>
                            </p:stCondLst>
                            <p:childTnLst>
                              <p:par>
                                <p:cTn id="35" presetID="12" presetClass="entr" presetSubtype="8" fill="hold" grpId="0" nodeType="afterEffect">
                                  <p:stCondLst>
                                    <p:cond delay="0"/>
                                  </p:stCondLst>
                                  <p:childTnLst>
                                    <p:set>
                                      <p:cBhvr>
                                        <p:cTn id="36" dur="1" fill="hold">
                                          <p:stCondLst>
                                            <p:cond delay="0"/>
                                          </p:stCondLst>
                                        </p:cTn>
                                        <p:tgtEl>
                                          <p:spTgt spid="64"/>
                                        </p:tgtEl>
                                        <p:attrNameLst>
                                          <p:attrName>style.visibility</p:attrName>
                                        </p:attrNameLst>
                                      </p:cBhvr>
                                      <p:to>
                                        <p:strVal val="visible"/>
                                      </p:to>
                                    </p:set>
                                    <p:animEffect transition="in" filter="slide(fromLeft)">
                                      <p:cBhvr>
                                        <p:cTn id="37" dur="500"/>
                                        <p:tgtEl>
                                          <p:spTgt spid="64"/>
                                        </p:tgtEl>
                                      </p:cBhvr>
                                    </p:animEffect>
                                  </p:childTnLst>
                                </p:cTn>
                              </p:par>
                            </p:childTnLst>
                          </p:cTn>
                        </p:par>
                        <p:par>
                          <p:cTn id="38" fill="hold">
                            <p:stCondLst>
                              <p:cond delay="1000"/>
                            </p:stCondLst>
                            <p:childTnLst>
                              <p:par>
                                <p:cTn id="39" presetID="12" presetClass="entr" presetSubtype="8" fill="hold" nodeType="afterEffect">
                                  <p:stCondLst>
                                    <p:cond delay="0"/>
                                  </p:stCondLst>
                                  <p:childTnLst>
                                    <p:set>
                                      <p:cBhvr>
                                        <p:cTn id="40" dur="1" fill="hold">
                                          <p:stCondLst>
                                            <p:cond delay="0"/>
                                          </p:stCondLst>
                                        </p:cTn>
                                        <p:tgtEl>
                                          <p:spTgt spid="65"/>
                                        </p:tgtEl>
                                        <p:attrNameLst>
                                          <p:attrName>style.visibility</p:attrName>
                                        </p:attrNameLst>
                                      </p:cBhvr>
                                      <p:to>
                                        <p:strVal val="visible"/>
                                      </p:to>
                                    </p:set>
                                    <p:animEffect transition="in" filter="slide(fromLeft)">
                                      <p:cBhvr>
                                        <p:cTn id="41" dur="500"/>
                                        <p:tgtEl>
                                          <p:spTgt spid="65"/>
                                        </p:tgtEl>
                                      </p:cBhvr>
                                    </p:animEffect>
                                  </p:childTnLst>
                                </p:cTn>
                              </p:par>
                            </p:childTnLst>
                          </p:cTn>
                        </p:par>
                      </p:childTnLst>
                    </p:cTn>
                  </p:par>
                  <p:par>
                    <p:cTn id="42" fill="hold">
                      <p:stCondLst>
                        <p:cond delay="indefinite"/>
                      </p:stCondLst>
                      <p:childTnLst>
                        <p:par>
                          <p:cTn id="43" fill="hold">
                            <p:stCondLst>
                              <p:cond delay="0"/>
                            </p:stCondLst>
                            <p:childTnLst>
                              <p:par>
                                <p:cTn id="44" presetID="12" presetClass="entr" presetSubtype="4" fill="hold" nodeType="clickEffect">
                                  <p:stCondLst>
                                    <p:cond delay="0"/>
                                  </p:stCondLst>
                                  <p:childTnLst>
                                    <p:set>
                                      <p:cBhvr>
                                        <p:cTn id="45" dur="1" fill="hold">
                                          <p:stCondLst>
                                            <p:cond delay="0"/>
                                          </p:stCondLst>
                                        </p:cTn>
                                        <p:tgtEl>
                                          <p:spTgt spid="70"/>
                                        </p:tgtEl>
                                        <p:attrNameLst>
                                          <p:attrName>style.visibility</p:attrName>
                                        </p:attrNameLst>
                                      </p:cBhvr>
                                      <p:to>
                                        <p:strVal val="visible"/>
                                      </p:to>
                                    </p:set>
                                    <p:animEffect transition="in" filter="slide(fromBottom)">
                                      <p:cBhvr>
                                        <p:cTn id="46" dur="1000"/>
                                        <p:tgtEl>
                                          <p:spTgt spid="70"/>
                                        </p:tgtEl>
                                      </p:cBhvr>
                                    </p:animEffect>
                                  </p:childTnLst>
                                </p:cTn>
                              </p:par>
                            </p:childTnLst>
                          </p:cTn>
                        </p:par>
                        <p:par>
                          <p:cTn id="47" fill="hold">
                            <p:stCondLst>
                              <p:cond delay="1000"/>
                            </p:stCondLst>
                            <p:childTnLst>
                              <p:par>
                                <p:cTn id="48" presetID="12" presetClass="entr" presetSubtype="8" fill="hold" nodeType="afterEffect">
                                  <p:stCondLst>
                                    <p:cond delay="0"/>
                                  </p:stCondLst>
                                  <p:childTnLst>
                                    <p:set>
                                      <p:cBhvr>
                                        <p:cTn id="49" dur="1" fill="hold">
                                          <p:stCondLst>
                                            <p:cond delay="0"/>
                                          </p:stCondLst>
                                        </p:cTn>
                                        <p:tgtEl>
                                          <p:spTgt spid="71"/>
                                        </p:tgtEl>
                                        <p:attrNameLst>
                                          <p:attrName>style.visibility</p:attrName>
                                        </p:attrNameLst>
                                      </p:cBhvr>
                                      <p:to>
                                        <p:strVal val="visible"/>
                                      </p:to>
                                    </p:set>
                                    <p:animEffect transition="in" filter="slide(fromLeft)">
                                      <p:cBhvr>
                                        <p:cTn id="50" dur="1000"/>
                                        <p:tgtEl>
                                          <p:spTgt spid="71"/>
                                        </p:tgtEl>
                                      </p:cBhvr>
                                    </p:animEffect>
                                  </p:childTnLst>
                                </p:cTn>
                              </p:par>
                            </p:childTnLst>
                          </p:cTn>
                        </p:par>
                        <p:par>
                          <p:cTn id="51" fill="hold">
                            <p:stCondLst>
                              <p:cond delay="2000"/>
                            </p:stCondLst>
                            <p:childTnLst>
                              <p:par>
                                <p:cTn id="52" presetID="12" presetClass="entr" presetSubtype="8" fill="hold" grpId="0" nodeType="afterEffect">
                                  <p:stCondLst>
                                    <p:cond delay="0"/>
                                  </p:stCondLst>
                                  <p:childTnLst>
                                    <p:set>
                                      <p:cBhvr>
                                        <p:cTn id="53" dur="1" fill="hold">
                                          <p:stCondLst>
                                            <p:cond delay="0"/>
                                          </p:stCondLst>
                                        </p:cTn>
                                        <p:tgtEl>
                                          <p:spTgt spid="75"/>
                                        </p:tgtEl>
                                        <p:attrNameLst>
                                          <p:attrName>style.visibility</p:attrName>
                                        </p:attrNameLst>
                                      </p:cBhvr>
                                      <p:to>
                                        <p:strVal val="visible"/>
                                      </p:to>
                                    </p:set>
                                    <p:animEffect transition="in" filter="slide(fromLeft)">
                                      <p:cBhvr>
                                        <p:cTn id="54" dur="1000"/>
                                        <p:tgtEl>
                                          <p:spTgt spid="75"/>
                                        </p:tgtEl>
                                      </p:cBhvr>
                                    </p:animEffect>
                                  </p:childTnLst>
                                </p:cTn>
                              </p:par>
                            </p:childTnLst>
                          </p:cTn>
                        </p:par>
                        <p:par>
                          <p:cTn id="55" fill="hold">
                            <p:stCondLst>
                              <p:cond delay="3000"/>
                            </p:stCondLst>
                            <p:childTnLst>
                              <p:par>
                                <p:cTn id="56" presetID="12" presetClass="entr" presetSubtype="8" fill="hold" nodeType="afterEffect">
                                  <p:stCondLst>
                                    <p:cond delay="0"/>
                                  </p:stCondLst>
                                  <p:childTnLst>
                                    <p:set>
                                      <p:cBhvr>
                                        <p:cTn id="57" dur="1" fill="hold">
                                          <p:stCondLst>
                                            <p:cond delay="0"/>
                                          </p:stCondLst>
                                        </p:cTn>
                                        <p:tgtEl>
                                          <p:spTgt spid="72"/>
                                        </p:tgtEl>
                                        <p:attrNameLst>
                                          <p:attrName>style.visibility</p:attrName>
                                        </p:attrNameLst>
                                      </p:cBhvr>
                                      <p:to>
                                        <p:strVal val="visible"/>
                                      </p:to>
                                    </p:set>
                                    <p:animEffect transition="in" filter="slide(fromLeft)">
                                      <p:cBhvr>
                                        <p:cTn id="58" dur="1000"/>
                                        <p:tgtEl>
                                          <p:spTgt spid="72"/>
                                        </p:tgtEl>
                                      </p:cBhvr>
                                    </p:animEffect>
                                  </p:childTnLst>
                                </p:cTn>
                              </p:par>
                            </p:childTnLst>
                          </p:cTn>
                        </p:par>
                        <p:par>
                          <p:cTn id="59" fill="hold">
                            <p:stCondLst>
                              <p:cond delay="4000"/>
                            </p:stCondLst>
                            <p:childTnLst>
                              <p:par>
                                <p:cTn id="60" presetID="22" presetClass="entr" presetSubtype="4" fill="hold" grpId="0" nodeType="afterEffect">
                                  <p:stCondLst>
                                    <p:cond delay="0"/>
                                  </p:stCondLst>
                                  <p:childTnLst>
                                    <p:set>
                                      <p:cBhvr>
                                        <p:cTn id="61" dur="1" fill="hold">
                                          <p:stCondLst>
                                            <p:cond delay="0"/>
                                          </p:stCondLst>
                                        </p:cTn>
                                        <p:tgtEl>
                                          <p:spTgt spid="76"/>
                                        </p:tgtEl>
                                        <p:attrNameLst>
                                          <p:attrName>style.visibility</p:attrName>
                                        </p:attrNameLst>
                                      </p:cBhvr>
                                      <p:to>
                                        <p:strVal val="visible"/>
                                      </p:to>
                                    </p:set>
                                    <p:animEffect transition="in" filter="wipe(down)">
                                      <p:cBhvr>
                                        <p:cTn id="62" dur="1000"/>
                                        <p:tgtEl>
                                          <p:spTgt spid="76"/>
                                        </p:tgtEl>
                                      </p:cBhvr>
                                    </p:animEffect>
                                  </p:childTnLst>
                                </p:cTn>
                              </p:par>
                            </p:childTnLst>
                          </p:cTn>
                        </p:par>
                      </p:childTnLst>
                    </p:cTn>
                  </p:par>
                  <p:par>
                    <p:cTn id="63" fill="hold">
                      <p:stCondLst>
                        <p:cond delay="indefinite"/>
                      </p:stCondLst>
                      <p:childTnLst>
                        <p:par>
                          <p:cTn id="64" fill="hold">
                            <p:stCondLst>
                              <p:cond delay="0"/>
                            </p:stCondLst>
                            <p:childTnLst>
                              <p:par>
                                <p:cTn id="65" presetID="12" presetClass="entr" presetSubtype="8" fill="hold" nodeType="clickEffect">
                                  <p:stCondLst>
                                    <p:cond delay="0"/>
                                  </p:stCondLst>
                                  <p:childTnLst>
                                    <p:set>
                                      <p:cBhvr>
                                        <p:cTn id="66" dur="1" fill="hold">
                                          <p:stCondLst>
                                            <p:cond delay="0"/>
                                          </p:stCondLst>
                                        </p:cTn>
                                        <p:tgtEl>
                                          <p:spTgt spid="77"/>
                                        </p:tgtEl>
                                        <p:attrNameLst>
                                          <p:attrName>style.visibility</p:attrName>
                                        </p:attrNameLst>
                                      </p:cBhvr>
                                      <p:to>
                                        <p:strVal val="visible"/>
                                      </p:to>
                                    </p:set>
                                    <p:animEffect transition="in" filter="slide(fromLeft)">
                                      <p:cBhvr>
                                        <p:cTn id="67" dur="1000"/>
                                        <p:tgtEl>
                                          <p:spTgt spid="77"/>
                                        </p:tgtEl>
                                      </p:cBhvr>
                                    </p:animEffect>
                                  </p:childTnLst>
                                </p:cTn>
                              </p:par>
                            </p:childTnLst>
                          </p:cTn>
                        </p:par>
                        <p:par>
                          <p:cTn id="68" fill="hold">
                            <p:stCondLst>
                              <p:cond delay="1000"/>
                            </p:stCondLst>
                            <p:childTnLst>
                              <p:par>
                                <p:cTn id="69" presetID="12" presetClass="entr" presetSubtype="8" fill="hold" grpId="0" nodeType="afterEffect">
                                  <p:stCondLst>
                                    <p:cond delay="0"/>
                                  </p:stCondLst>
                                  <p:childTnLst>
                                    <p:set>
                                      <p:cBhvr>
                                        <p:cTn id="70" dur="1" fill="hold">
                                          <p:stCondLst>
                                            <p:cond delay="0"/>
                                          </p:stCondLst>
                                        </p:cTn>
                                        <p:tgtEl>
                                          <p:spTgt spid="78"/>
                                        </p:tgtEl>
                                        <p:attrNameLst>
                                          <p:attrName>style.visibility</p:attrName>
                                        </p:attrNameLst>
                                      </p:cBhvr>
                                      <p:to>
                                        <p:strVal val="visible"/>
                                      </p:to>
                                    </p:set>
                                    <p:animEffect transition="in" filter="slide(fromLeft)">
                                      <p:cBhvr>
                                        <p:cTn id="71" dur="1000"/>
                                        <p:tgtEl>
                                          <p:spTgt spid="78"/>
                                        </p:tgtEl>
                                      </p:cBhvr>
                                    </p:animEffect>
                                  </p:childTnLst>
                                </p:cTn>
                              </p:par>
                            </p:childTnLst>
                          </p:cTn>
                        </p:par>
                        <p:par>
                          <p:cTn id="72" fill="hold">
                            <p:stCondLst>
                              <p:cond delay="2000"/>
                            </p:stCondLst>
                            <p:childTnLst>
                              <p:par>
                                <p:cTn id="73" presetID="12" presetClass="entr" presetSubtype="8" fill="hold" nodeType="afterEffect">
                                  <p:stCondLst>
                                    <p:cond delay="0"/>
                                  </p:stCondLst>
                                  <p:childTnLst>
                                    <p:set>
                                      <p:cBhvr>
                                        <p:cTn id="74" dur="1" fill="hold">
                                          <p:stCondLst>
                                            <p:cond delay="0"/>
                                          </p:stCondLst>
                                        </p:cTn>
                                        <p:tgtEl>
                                          <p:spTgt spid="79"/>
                                        </p:tgtEl>
                                        <p:attrNameLst>
                                          <p:attrName>style.visibility</p:attrName>
                                        </p:attrNameLst>
                                      </p:cBhvr>
                                      <p:to>
                                        <p:strVal val="visible"/>
                                      </p:to>
                                    </p:set>
                                    <p:animEffect transition="in" filter="slide(fromLeft)">
                                      <p:cBhvr>
                                        <p:cTn id="75" dur="1000"/>
                                        <p:tgtEl>
                                          <p:spTgt spid="79"/>
                                        </p:tgtEl>
                                      </p:cBhvr>
                                    </p:animEffect>
                                  </p:childTnLst>
                                </p:cTn>
                              </p:par>
                            </p:childTnLst>
                          </p:cTn>
                        </p:par>
                      </p:childTnLst>
                    </p:cTn>
                  </p:par>
                  <p:par>
                    <p:cTn id="76" fill="hold">
                      <p:stCondLst>
                        <p:cond delay="indefinite"/>
                      </p:stCondLst>
                      <p:childTnLst>
                        <p:par>
                          <p:cTn id="77" fill="hold">
                            <p:stCondLst>
                              <p:cond delay="0"/>
                            </p:stCondLst>
                            <p:childTnLst>
                              <p:par>
                                <p:cTn id="78" presetID="12" presetClass="entr" presetSubtype="4" fill="hold" nodeType="clickEffect">
                                  <p:stCondLst>
                                    <p:cond delay="0"/>
                                  </p:stCondLst>
                                  <p:childTnLst>
                                    <p:set>
                                      <p:cBhvr>
                                        <p:cTn id="79" dur="1" fill="hold">
                                          <p:stCondLst>
                                            <p:cond delay="0"/>
                                          </p:stCondLst>
                                        </p:cTn>
                                        <p:tgtEl>
                                          <p:spTgt spid="83"/>
                                        </p:tgtEl>
                                        <p:attrNameLst>
                                          <p:attrName>style.visibility</p:attrName>
                                        </p:attrNameLst>
                                      </p:cBhvr>
                                      <p:to>
                                        <p:strVal val="visible"/>
                                      </p:to>
                                    </p:set>
                                    <p:animEffect transition="in" filter="slide(fromBottom)">
                                      <p:cBhvr>
                                        <p:cTn id="80" dur="1000"/>
                                        <p:tgtEl>
                                          <p:spTgt spid="83"/>
                                        </p:tgtEl>
                                      </p:cBhvr>
                                    </p:animEffect>
                                  </p:childTnLst>
                                </p:cTn>
                              </p:par>
                            </p:childTnLst>
                          </p:cTn>
                        </p:par>
                        <p:par>
                          <p:cTn id="81" fill="hold">
                            <p:stCondLst>
                              <p:cond delay="1000"/>
                            </p:stCondLst>
                            <p:childTnLst>
                              <p:par>
                                <p:cTn id="82" presetID="12" presetClass="entr" presetSubtype="4" fill="hold" grpId="0" nodeType="afterEffect">
                                  <p:stCondLst>
                                    <p:cond delay="0"/>
                                  </p:stCondLst>
                                  <p:childTnLst>
                                    <p:set>
                                      <p:cBhvr>
                                        <p:cTn id="83" dur="1" fill="hold">
                                          <p:stCondLst>
                                            <p:cond delay="0"/>
                                          </p:stCondLst>
                                        </p:cTn>
                                        <p:tgtEl>
                                          <p:spTgt spid="55"/>
                                        </p:tgtEl>
                                        <p:attrNameLst>
                                          <p:attrName>style.visibility</p:attrName>
                                        </p:attrNameLst>
                                      </p:cBhvr>
                                      <p:to>
                                        <p:strVal val="visible"/>
                                      </p:to>
                                    </p:set>
                                    <p:animEffect transition="in" filter="slide(fromBottom)">
                                      <p:cBhvr>
                                        <p:cTn id="84" dur="10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8" grpId="0" animBg="1"/>
      <p:bldP spid="62" grpId="0" animBg="1"/>
      <p:bldP spid="64" grpId="0" animBg="1"/>
      <p:bldP spid="75" grpId="0" animBg="1"/>
      <p:bldP spid="76" grpId="0" animBg="1"/>
      <p:bldP spid="78" grpId="0" animBg="1"/>
    </p:bldLst>
  </p:timing>
</p:sld>
</file>

<file path=ppt/theme/theme1.xml><?xml version="1.0" encoding="utf-8"?>
<a:theme xmlns:a="http://schemas.openxmlformats.org/drawingml/2006/main" name="Office 主题">
  <a:themeElements>
    <a:clrScheme name="学术蓝">
      <a:dk1>
        <a:sysClr val="windowText" lastClr="000000"/>
      </a:dk1>
      <a:lt1>
        <a:sysClr val="window" lastClr="FFFFFF"/>
      </a:lt1>
      <a:dk2>
        <a:srgbClr val="44546A"/>
      </a:dk2>
      <a:lt2>
        <a:srgbClr val="E7E6E6"/>
      </a:lt2>
      <a:accent1>
        <a:srgbClr val="0070C0"/>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15403</Words>
  <Application>WPS 演示</Application>
  <PresentationFormat>全屏显示(16:10)</PresentationFormat>
  <Paragraphs>4705</Paragraphs>
  <Slides>96</Slides>
  <Notes>70</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201</vt:i4>
      </vt:variant>
      <vt:variant>
        <vt:lpstr>幻灯片标题</vt:lpstr>
      </vt:variant>
      <vt:variant>
        <vt:i4>96</vt:i4>
      </vt:variant>
    </vt:vector>
  </HeadingPairs>
  <TitlesOfParts>
    <vt:vector size="312" baseType="lpstr">
      <vt:lpstr>Arial</vt:lpstr>
      <vt:lpstr>宋体</vt:lpstr>
      <vt:lpstr>Wingdings</vt:lpstr>
      <vt:lpstr>微软雅黑</vt:lpstr>
      <vt:lpstr>方正粗黑宋简体</vt:lpstr>
      <vt:lpstr>楷体</vt:lpstr>
      <vt:lpstr>Times New Roman</vt:lpstr>
      <vt:lpstr>Calibri</vt:lpstr>
      <vt:lpstr>黑体</vt:lpstr>
      <vt:lpstr>楷体_GB2312</vt:lpstr>
      <vt:lpstr>新宋体</vt:lpstr>
      <vt:lpstr>Arial Unicode MS</vt:lpstr>
      <vt:lpstr>方正姚体</vt:lpstr>
      <vt:lpstr>华文琥珀</vt:lpstr>
      <vt:lpstr>Office 主题</vt:lpstr>
      <vt:lpstr>Equation.DSMT4</vt:lpstr>
      <vt:lpstr>Visio.Drawing.11</vt:lpstr>
      <vt:lpstr>Equation.3</vt:lpstr>
      <vt:lpstr>Equation.3</vt:lpstr>
      <vt:lpstr>Equation.3</vt:lpstr>
      <vt:lpstr>Equation.3</vt:lpstr>
      <vt:lpstr>Equation.3</vt:lpstr>
      <vt:lpstr>Equation.3</vt:lpstr>
      <vt:lpstr>Equation.3</vt:lpstr>
      <vt:lpstr>Equation.3</vt:lpstr>
      <vt:lpstr>PBrush</vt:lpstr>
      <vt:lpstr>Equation.3</vt:lpstr>
      <vt:lpstr>Equation.DSMT4</vt:lpstr>
      <vt:lpstr>Equation.DSMT4</vt:lpstr>
      <vt:lpstr>Equation.DSMT4</vt:lpstr>
      <vt:lpstr>Equation.DSMT4</vt:lpstr>
      <vt:lpstr>Equation.DSMT4</vt:lpstr>
      <vt:lpstr>Visio.Drawing.11</vt:lpstr>
      <vt:lpstr>Equation.3</vt:lpstr>
      <vt:lpstr>PBrush</vt:lpstr>
      <vt:lpstr>Equation.DSMT4</vt:lpstr>
      <vt:lpstr>Equation.3</vt:lpstr>
      <vt:lpstr>Equation.DSMT4</vt:lpstr>
      <vt:lpstr>Equation.DSMT4</vt:lpstr>
      <vt:lpstr>Equation.DSMT4</vt:lpstr>
      <vt:lpstr>Equation.DSMT4</vt:lpstr>
      <vt:lpstr>Equation.DSMT4</vt:lpstr>
      <vt:lpstr>Equation.DSMT4</vt:lpstr>
      <vt:lpstr>Equation.DSMT4</vt:lpstr>
      <vt:lpstr>Equation.DSMT4</vt:lpstr>
      <vt:lpstr>Visio.Drawing.11</vt:lpstr>
      <vt:lpstr>Visio.Drawing.11</vt:lpstr>
      <vt:lpstr>Visio.Drawing.11</vt:lpstr>
      <vt:lpstr>Equation.3</vt:lpstr>
      <vt:lpstr>Visio.Drawing.11</vt:lpstr>
      <vt:lpstr>Equation.DSMT4</vt:lpstr>
      <vt:lpstr>Equation.DSMT4</vt:lpstr>
      <vt:lpstr>Equation.DSMT4</vt:lpstr>
      <vt:lpstr>Visio.Drawing.11</vt:lpstr>
      <vt:lpstr>Equation.DSMT4</vt:lpstr>
      <vt:lpstr>Equation.DSMT4</vt:lpstr>
      <vt:lpstr>Equation.DSMT4</vt:lpstr>
      <vt:lpstr>Equation.DSMT4</vt:lpstr>
      <vt:lpstr>Equation.DSMT4</vt:lpstr>
      <vt:lpstr>Equation.3</vt:lpstr>
      <vt:lpstr>Visio.Drawing.11</vt:lpstr>
      <vt:lpstr>Visio.Drawing.11</vt:lpstr>
      <vt:lpstr>Equation.DSMT4</vt:lpstr>
      <vt:lpstr>Equation.DSMT4</vt:lpstr>
      <vt:lpstr>Equation.DSMT4</vt:lpstr>
      <vt:lpstr>Equation.DSMT4</vt:lpstr>
      <vt:lpstr>Equation.DSMT4</vt:lpstr>
      <vt:lpstr>Equation.DSMT4</vt:lpstr>
      <vt:lpstr>Equation.DSMT4</vt:lpstr>
      <vt:lpstr>Equation.DSMT4</vt:lpstr>
      <vt:lpstr>Equation.3</vt:lpstr>
      <vt:lpstr>Visio.Drawing.11</vt:lpstr>
      <vt:lpstr>Visio.Drawing.11</vt:lpstr>
      <vt:lpstr>Equation.DSMT4</vt:lpstr>
      <vt:lpstr>Equation.DSMT4</vt:lpstr>
      <vt:lpstr>Equation.DSMT4</vt:lpstr>
      <vt:lpstr>Equation.DSMT4</vt:lpstr>
      <vt:lpstr>Equation.DSMT4</vt:lpstr>
      <vt:lpstr>Equation.DSMT4</vt:lpstr>
      <vt:lpstr>Visio.Drawing.11</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Visio.Drawing.11</vt:lpstr>
      <vt:lpstr>Equation.DSMT4</vt:lpstr>
      <vt:lpstr>Equation.DSMT4</vt:lpstr>
      <vt:lpstr>Equation.DSMT4</vt:lpstr>
      <vt:lpstr>Equation.3</vt:lpstr>
      <vt:lpstr>Visio.Drawing.11</vt:lpstr>
      <vt:lpstr>Equation.DSMT4</vt:lpstr>
      <vt:lpstr>Equation.DSMT4</vt:lpstr>
      <vt:lpstr>Equation.DSMT4</vt:lpstr>
      <vt:lpstr>Equation.DSMT4</vt:lpstr>
      <vt:lpstr>Equation.DSMT4</vt:lpstr>
      <vt:lpstr>Equation.DSMT4</vt:lpstr>
      <vt:lpstr>Visio.Drawing.11</vt:lpstr>
      <vt:lpstr>Visio.Drawing.11</vt:lpstr>
      <vt:lpstr>Visio.Drawing.11</vt:lpstr>
      <vt:lpstr>Visio.Drawing.11</vt:lpstr>
      <vt:lpstr>Visio.Drawing.11</vt:lpstr>
      <vt:lpstr>Equation.DSMT4</vt:lpstr>
      <vt:lpstr>Equation.DSMT4</vt:lpstr>
      <vt:lpstr>Equation.DSMT4</vt:lpstr>
      <vt:lpstr>Visio.Drawing.11</vt:lpstr>
      <vt:lpstr>Equation.DSMT4</vt:lpstr>
      <vt:lpstr>Equation.DSMT4</vt:lpstr>
      <vt:lpstr>Equation.DSMT4</vt:lpstr>
      <vt:lpstr>Equation.DSMT4</vt:lpstr>
      <vt:lpstr>Equation.DSMT4</vt:lpstr>
      <vt:lpstr>Equation.DSMT4</vt:lpstr>
      <vt:lpstr>Visio.Drawing.11</vt:lpstr>
      <vt:lpstr>Equation.DSMT4</vt:lpstr>
      <vt:lpstr>Equation.DSMT4</vt:lpstr>
      <vt:lpstr>Equation.3</vt:lpstr>
      <vt:lpstr>Equation.DSMT4</vt:lpstr>
      <vt:lpstr>Equation.DSMT4</vt:lpstr>
      <vt:lpstr>Equation.DSMT4</vt:lpstr>
      <vt:lpstr>Equation.DSMT4</vt:lpstr>
      <vt:lpstr>Visio.Drawing.11</vt:lpstr>
      <vt:lpstr>Equation.3</vt:lpstr>
      <vt:lpstr>Equation.DSMT4</vt:lpstr>
      <vt:lpstr>Equation.3</vt:lpstr>
      <vt:lpstr>Equation.DSMT4</vt:lpstr>
      <vt:lpstr>Equation.DSMT4</vt:lpstr>
      <vt:lpstr>Visio.Drawing.11</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Visio.Drawing.11</vt:lpstr>
      <vt:lpstr>Equation.3</vt:lpstr>
      <vt:lpstr>Equation.3</vt:lpstr>
      <vt:lpstr>Equation.3</vt:lpstr>
      <vt:lpstr>Equation.3</vt:lpstr>
      <vt:lpstr>Equation.3</vt:lpstr>
      <vt:lpstr>Equation.3</vt:lpstr>
      <vt:lpstr>Visio.Drawing.11</vt:lpstr>
      <vt:lpstr>Visio.Drawing.11</vt:lpstr>
      <vt:lpstr>Equation.3</vt:lpstr>
      <vt:lpstr>Equation.3</vt:lpstr>
      <vt:lpstr>Equation.3</vt:lpstr>
      <vt:lpstr>Equation.3</vt:lpstr>
      <vt:lpstr>Equation.3</vt:lpstr>
      <vt:lpstr>Equation.3</vt:lpstr>
      <vt:lpstr>Equation.3</vt:lpstr>
      <vt:lpstr>Equation.3</vt:lpstr>
      <vt:lpstr>Equation.3</vt:lpstr>
      <vt:lpstr>Equation.3</vt:lpstr>
      <vt:lpstr>Visio.Drawing.11</vt:lpstr>
      <vt:lpstr>Visio.Drawing.11</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Equation.3</vt:lpstr>
      <vt:lpstr>PBrush</vt:lpstr>
      <vt:lpstr>PBrush</vt:lpstr>
      <vt:lpstr>Visio.Drawing.11</vt:lpstr>
      <vt:lpstr>Equation.3</vt:lpstr>
      <vt:lpstr>Equation.3</vt:lpstr>
      <vt:lpstr>Visio.Drawing.11</vt:lpstr>
      <vt:lpstr>Equation.3</vt:lpstr>
      <vt:lpstr>Equation.3</vt:lpstr>
      <vt:lpstr>Visio.Drawing.11</vt:lpstr>
      <vt:lpstr>PBrush</vt:lpstr>
      <vt:lpstr>PBrush</vt:lpstr>
      <vt:lpstr>Equation.3</vt:lpstr>
      <vt:lpstr>PBrush</vt:lpstr>
      <vt:lpstr>Equation.DSMT4</vt:lpstr>
      <vt:lpstr>Equation.3</vt:lpstr>
      <vt:lpstr>Visio.Drawing.11</vt:lpstr>
      <vt:lpstr>Visio.Drawing.11</vt:lpstr>
      <vt:lpstr>Equation.3</vt:lpstr>
      <vt:lpstr>Equation.3</vt:lpstr>
      <vt:lpstr>Equation.3</vt:lpstr>
      <vt:lpstr>Equation.3</vt:lpstr>
      <vt:lpstr>Visio.Drawing.11</vt:lpstr>
      <vt:lpstr>Equation.3</vt:lpstr>
      <vt:lpstr>Equation.DSMT4</vt:lpstr>
      <vt:lpstr>Equation.3</vt:lpstr>
      <vt:lpstr>Equation.3</vt:lpstr>
      <vt:lpstr>Equation.3</vt:lpstr>
      <vt:lpstr>Visio.Drawing.11</vt:lpstr>
      <vt:lpstr>Equation.3</vt:lpstr>
      <vt:lpstr>Equation.3</vt:lpstr>
      <vt:lpstr>Equation.3</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DY</dc:creator>
  <cp:lastModifiedBy>鼎鼎</cp:lastModifiedBy>
  <cp:revision>779</cp:revision>
  <dcterms:created xsi:type="dcterms:W3CDTF">2015-01-13T10:49:00Z</dcterms:created>
  <dcterms:modified xsi:type="dcterms:W3CDTF">2025-10-09T12:12:32Z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217D611CE0EC48E78B1384B275E5AC34_12</vt:lpwstr>
  </property>
  <property fmtid="{D5CDD505-2E9C-101B-9397-08002B2CF9AE}" pid="3" name="KSOProductBuildVer">
    <vt:lpwstr>2052-12.1.0.22529</vt:lpwstr>
  </property>
</Properties>
</file>