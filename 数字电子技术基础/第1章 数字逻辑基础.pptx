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ebp"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54"/>
  </p:notesMasterIdLst>
  <p:sldIdLst>
    <p:sldId id="256" r:id="rId2"/>
    <p:sldId id="333" r:id="rId3"/>
    <p:sldId id="364" r:id="rId4"/>
    <p:sldId id="396" r:id="rId5"/>
    <p:sldId id="359" r:id="rId6"/>
    <p:sldId id="360" r:id="rId7"/>
    <p:sldId id="362" r:id="rId8"/>
    <p:sldId id="357" r:id="rId9"/>
    <p:sldId id="363" r:id="rId10"/>
    <p:sldId id="344" r:id="rId11"/>
    <p:sldId id="366" r:id="rId12"/>
    <p:sldId id="367" r:id="rId13"/>
    <p:sldId id="375" r:id="rId14"/>
    <p:sldId id="370" r:id="rId15"/>
    <p:sldId id="371" r:id="rId16"/>
    <p:sldId id="372" r:id="rId17"/>
    <p:sldId id="373" r:id="rId18"/>
    <p:sldId id="377" r:id="rId19"/>
    <p:sldId id="378" r:id="rId20"/>
    <p:sldId id="379" r:id="rId21"/>
    <p:sldId id="395" r:id="rId22"/>
    <p:sldId id="380" r:id="rId23"/>
    <p:sldId id="381" r:id="rId24"/>
    <p:sldId id="382" r:id="rId25"/>
    <p:sldId id="388" r:id="rId26"/>
    <p:sldId id="383" r:id="rId27"/>
    <p:sldId id="384" r:id="rId28"/>
    <p:sldId id="385" r:id="rId29"/>
    <p:sldId id="386" r:id="rId30"/>
    <p:sldId id="387" r:id="rId31"/>
    <p:sldId id="334" r:id="rId32"/>
    <p:sldId id="346" r:id="rId33"/>
    <p:sldId id="335" r:id="rId34"/>
    <p:sldId id="404" r:id="rId35"/>
    <p:sldId id="405" r:id="rId36"/>
    <p:sldId id="397" r:id="rId37"/>
    <p:sldId id="398" r:id="rId38"/>
    <p:sldId id="399" r:id="rId39"/>
    <p:sldId id="400" r:id="rId40"/>
    <p:sldId id="401" r:id="rId41"/>
    <p:sldId id="402" r:id="rId42"/>
    <p:sldId id="390" r:id="rId43"/>
    <p:sldId id="403" r:id="rId44"/>
    <p:sldId id="392" r:id="rId45"/>
    <p:sldId id="393" r:id="rId46"/>
    <p:sldId id="348" r:id="rId47"/>
    <p:sldId id="349" r:id="rId48"/>
    <p:sldId id="350" r:id="rId49"/>
    <p:sldId id="394" r:id="rId50"/>
    <p:sldId id="351" r:id="rId51"/>
    <p:sldId id="352" r:id="rId52"/>
    <p:sldId id="406" r:id="rId5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5375" userDrawn="1">
          <p15:clr>
            <a:srgbClr val="A4A3A4"/>
          </p15:clr>
        </p15:guide>
        <p15:guide id="3" pos="385" userDrawn="1">
          <p15:clr>
            <a:srgbClr val="A4A3A4"/>
          </p15:clr>
        </p15:guide>
        <p15:guide id="4" orient="horz" pos="3997" userDrawn="1">
          <p15:clr>
            <a:srgbClr val="A4A3A4"/>
          </p15:clr>
        </p15:guide>
        <p15:guide id="5" orient="horz" pos="288">
          <p15:clr>
            <a:srgbClr val="A4A3A4"/>
          </p15:clr>
        </p15:guide>
        <p15:guide id="6" orient="horz" pos="3331">
          <p15:clr>
            <a:srgbClr val="A4A3A4"/>
          </p15:clr>
        </p15:guide>
        <p15:guide id="7" orient="horz" pos="311">
          <p15:clr>
            <a:srgbClr val="A4A3A4"/>
          </p15:clr>
        </p15:guide>
        <p15:guide id="8" orient="horz" pos="3597">
          <p15:clr>
            <a:srgbClr val="A4A3A4"/>
          </p15:clr>
        </p15:guide>
        <p15:guide id="9" orient="horz" pos="259">
          <p15:clr>
            <a:srgbClr val="A4A3A4"/>
          </p15:clr>
        </p15:guide>
        <p15:guide id="10" orient="horz" pos="29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66FFCC"/>
    <a:srgbClr val="6600FF"/>
    <a:srgbClr val="CC00CC"/>
    <a:srgbClr val="0070C0"/>
    <a:srgbClr val="66FF66"/>
    <a:srgbClr val="FF66FF"/>
    <a:srgbClr val="00CC00"/>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86417" autoAdjust="0"/>
  </p:normalViewPr>
  <p:slideViewPr>
    <p:cSldViewPr snapToGrid="0" showGuides="1">
      <p:cViewPr varScale="1">
        <p:scale>
          <a:sx n="89" d="100"/>
          <a:sy n="89" d="100"/>
        </p:scale>
        <p:origin x="1182" y="72"/>
      </p:cViewPr>
      <p:guideLst>
        <p:guide orient="horz" pos="346"/>
        <p:guide pos="5375"/>
        <p:guide pos="385"/>
        <p:guide orient="horz" pos="3997"/>
        <p:guide orient="horz" pos="288"/>
        <p:guide orient="horz" pos="3331"/>
        <p:guide orient="horz" pos="311"/>
        <p:guide orient="horz" pos="3597"/>
        <p:guide orient="horz" pos="259"/>
        <p:guide orient="horz" pos="2998"/>
      </p:guideLst>
    </p:cSldViewPr>
  </p:slideViewPr>
  <p:outlineViewPr>
    <p:cViewPr>
      <p:scale>
        <a:sx n="100" d="100"/>
        <a:sy n="100" d="100"/>
      </p:scale>
      <p:origin x="0" y="-9180"/>
    </p:cViewPr>
  </p:outlineViewPr>
  <p:notesTextViewPr>
    <p:cViewPr>
      <p:scale>
        <a:sx n="66" d="100"/>
        <a:sy n="66"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wmf"/><Relationship Id="rId1"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wmf"/><Relationship Id="rId1" Type="http://schemas.openxmlformats.org/officeDocument/2006/relationships/image" Target="../media/image60.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image" Target="../media/image6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emf"/><Relationship Id="rId5" Type="http://schemas.openxmlformats.org/officeDocument/2006/relationships/image" Target="../media/image69.wmf"/><Relationship Id="rId4" Type="http://schemas.openxmlformats.org/officeDocument/2006/relationships/image" Target="../media/image6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7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pPr/>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pPr/>
              <a:t>‹#›</a:t>
            </a:fld>
            <a:endParaRPr lang="zh-CN" altLang="en-US"/>
          </a:p>
        </p:txBody>
      </p:sp>
    </p:spTree>
    <p:extLst>
      <p:ext uri="{BB962C8B-B14F-4D97-AF65-F5344CB8AC3E}">
        <p14:creationId xmlns:p14="http://schemas.microsoft.com/office/powerpoint/2010/main" val="544490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a:t>
            </a:fld>
            <a:endParaRPr lang="zh-CN" altLang="en-US"/>
          </a:p>
        </p:txBody>
      </p:sp>
    </p:spTree>
    <p:extLst>
      <p:ext uri="{BB962C8B-B14F-4D97-AF65-F5344CB8AC3E}">
        <p14:creationId xmlns:p14="http://schemas.microsoft.com/office/powerpoint/2010/main" val="1659339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2</a:t>
            </a:fld>
            <a:endParaRPr lang="zh-CN" altLang="en-US"/>
          </a:p>
        </p:txBody>
      </p:sp>
    </p:spTree>
    <p:extLst>
      <p:ext uri="{BB962C8B-B14F-4D97-AF65-F5344CB8AC3E}">
        <p14:creationId xmlns:p14="http://schemas.microsoft.com/office/powerpoint/2010/main" val="2626043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a:t>
            </a:fld>
            <a:endParaRPr lang="zh-CN" altLang="en-US"/>
          </a:p>
        </p:txBody>
      </p:sp>
    </p:spTree>
    <p:extLst>
      <p:ext uri="{BB962C8B-B14F-4D97-AF65-F5344CB8AC3E}">
        <p14:creationId xmlns:p14="http://schemas.microsoft.com/office/powerpoint/2010/main" val="574299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4</a:t>
            </a:fld>
            <a:endParaRPr lang="zh-CN" altLang="en-US"/>
          </a:p>
        </p:txBody>
      </p:sp>
    </p:spTree>
    <p:extLst>
      <p:ext uri="{BB962C8B-B14F-4D97-AF65-F5344CB8AC3E}">
        <p14:creationId xmlns:p14="http://schemas.microsoft.com/office/powerpoint/2010/main" val="146128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5</a:t>
            </a:fld>
            <a:endParaRPr lang="zh-CN" altLang="en-US"/>
          </a:p>
        </p:txBody>
      </p:sp>
    </p:spTree>
    <p:extLst>
      <p:ext uri="{BB962C8B-B14F-4D97-AF65-F5344CB8AC3E}">
        <p14:creationId xmlns:p14="http://schemas.microsoft.com/office/powerpoint/2010/main" val="1306308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6</a:t>
            </a:fld>
            <a:endParaRPr lang="zh-CN" altLang="en-US"/>
          </a:p>
        </p:txBody>
      </p:sp>
    </p:spTree>
    <p:extLst>
      <p:ext uri="{BB962C8B-B14F-4D97-AF65-F5344CB8AC3E}">
        <p14:creationId xmlns:p14="http://schemas.microsoft.com/office/powerpoint/2010/main" val="944104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7</a:t>
            </a:fld>
            <a:endParaRPr lang="zh-CN" altLang="en-US"/>
          </a:p>
        </p:txBody>
      </p:sp>
    </p:spTree>
    <p:extLst>
      <p:ext uri="{BB962C8B-B14F-4D97-AF65-F5344CB8AC3E}">
        <p14:creationId xmlns:p14="http://schemas.microsoft.com/office/powerpoint/2010/main" val="1750856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8</a:t>
            </a:fld>
            <a:endParaRPr lang="zh-CN" altLang="en-US"/>
          </a:p>
        </p:txBody>
      </p:sp>
    </p:spTree>
    <p:extLst>
      <p:ext uri="{BB962C8B-B14F-4D97-AF65-F5344CB8AC3E}">
        <p14:creationId xmlns:p14="http://schemas.microsoft.com/office/powerpoint/2010/main" val="341446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9</a:t>
            </a:fld>
            <a:endParaRPr lang="zh-CN" altLang="en-US"/>
          </a:p>
        </p:txBody>
      </p:sp>
    </p:spTree>
    <p:extLst>
      <p:ext uri="{BB962C8B-B14F-4D97-AF65-F5344CB8AC3E}">
        <p14:creationId xmlns:p14="http://schemas.microsoft.com/office/powerpoint/2010/main" val="3795110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10</a:t>
            </a:fld>
            <a:endParaRPr lang="zh-CN" altLang="en-US"/>
          </a:p>
        </p:txBody>
      </p:sp>
    </p:spTree>
    <p:extLst>
      <p:ext uri="{BB962C8B-B14F-4D97-AF65-F5344CB8AC3E}">
        <p14:creationId xmlns:p14="http://schemas.microsoft.com/office/powerpoint/2010/main" val="755253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11</a:t>
            </a:fld>
            <a:endParaRPr lang="zh-CN" altLang="en-US"/>
          </a:p>
        </p:txBody>
      </p:sp>
    </p:spTree>
    <p:extLst>
      <p:ext uri="{BB962C8B-B14F-4D97-AF65-F5344CB8AC3E}">
        <p14:creationId xmlns:p14="http://schemas.microsoft.com/office/powerpoint/2010/main" val="4061867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12</a:t>
            </a:fld>
            <a:endParaRPr lang="zh-CN" altLang="en-US"/>
          </a:p>
        </p:txBody>
      </p:sp>
    </p:spTree>
    <p:extLst>
      <p:ext uri="{BB962C8B-B14F-4D97-AF65-F5344CB8AC3E}">
        <p14:creationId xmlns:p14="http://schemas.microsoft.com/office/powerpoint/2010/main" val="1647875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13</a:t>
            </a:fld>
            <a:endParaRPr lang="zh-CN" altLang="en-US"/>
          </a:p>
        </p:txBody>
      </p:sp>
    </p:spTree>
    <p:extLst>
      <p:ext uri="{BB962C8B-B14F-4D97-AF65-F5344CB8AC3E}">
        <p14:creationId xmlns:p14="http://schemas.microsoft.com/office/powerpoint/2010/main" val="2040451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15</a:t>
            </a:fld>
            <a:endParaRPr lang="zh-CN" altLang="en-US"/>
          </a:p>
        </p:txBody>
      </p:sp>
    </p:spTree>
    <p:extLst>
      <p:ext uri="{BB962C8B-B14F-4D97-AF65-F5344CB8AC3E}">
        <p14:creationId xmlns:p14="http://schemas.microsoft.com/office/powerpoint/2010/main" val="362348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16</a:t>
            </a:fld>
            <a:endParaRPr lang="zh-CN" altLang="en-US"/>
          </a:p>
        </p:txBody>
      </p:sp>
    </p:spTree>
    <p:extLst>
      <p:ext uri="{BB962C8B-B14F-4D97-AF65-F5344CB8AC3E}">
        <p14:creationId xmlns:p14="http://schemas.microsoft.com/office/powerpoint/2010/main" val="859946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17</a:t>
            </a:fld>
            <a:endParaRPr lang="zh-CN" altLang="en-US"/>
          </a:p>
        </p:txBody>
      </p:sp>
    </p:spTree>
    <p:extLst>
      <p:ext uri="{BB962C8B-B14F-4D97-AF65-F5344CB8AC3E}">
        <p14:creationId xmlns:p14="http://schemas.microsoft.com/office/powerpoint/2010/main" val="82530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18</a:t>
            </a:fld>
            <a:endParaRPr lang="zh-CN" altLang="en-US"/>
          </a:p>
        </p:txBody>
      </p:sp>
    </p:spTree>
    <p:extLst>
      <p:ext uri="{BB962C8B-B14F-4D97-AF65-F5344CB8AC3E}">
        <p14:creationId xmlns:p14="http://schemas.microsoft.com/office/powerpoint/2010/main" val="3601950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19</a:t>
            </a:fld>
            <a:endParaRPr lang="zh-CN" altLang="en-US"/>
          </a:p>
        </p:txBody>
      </p:sp>
    </p:spTree>
    <p:extLst>
      <p:ext uri="{BB962C8B-B14F-4D97-AF65-F5344CB8AC3E}">
        <p14:creationId xmlns:p14="http://schemas.microsoft.com/office/powerpoint/2010/main" val="865673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20</a:t>
            </a:fld>
            <a:endParaRPr lang="zh-CN" altLang="en-US"/>
          </a:p>
        </p:txBody>
      </p:sp>
    </p:spTree>
    <p:extLst>
      <p:ext uri="{BB962C8B-B14F-4D97-AF65-F5344CB8AC3E}">
        <p14:creationId xmlns:p14="http://schemas.microsoft.com/office/powerpoint/2010/main" val="186915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21</a:t>
            </a:fld>
            <a:endParaRPr lang="zh-CN" altLang="en-US"/>
          </a:p>
        </p:txBody>
      </p:sp>
    </p:spTree>
    <p:extLst>
      <p:ext uri="{BB962C8B-B14F-4D97-AF65-F5344CB8AC3E}">
        <p14:creationId xmlns:p14="http://schemas.microsoft.com/office/powerpoint/2010/main" val="3795869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22</a:t>
            </a:fld>
            <a:endParaRPr lang="zh-CN" altLang="en-US"/>
          </a:p>
        </p:txBody>
      </p:sp>
    </p:spTree>
    <p:extLst>
      <p:ext uri="{BB962C8B-B14F-4D97-AF65-F5344CB8AC3E}">
        <p14:creationId xmlns:p14="http://schemas.microsoft.com/office/powerpoint/2010/main" val="4040505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23</a:t>
            </a:fld>
            <a:endParaRPr lang="zh-CN" altLang="en-US"/>
          </a:p>
        </p:txBody>
      </p:sp>
    </p:spTree>
    <p:extLst>
      <p:ext uri="{BB962C8B-B14F-4D97-AF65-F5344CB8AC3E}">
        <p14:creationId xmlns:p14="http://schemas.microsoft.com/office/powerpoint/2010/main" val="145531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24</a:t>
            </a:fld>
            <a:endParaRPr lang="zh-CN" altLang="en-US"/>
          </a:p>
        </p:txBody>
      </p:sp>
    </p:spTree>
    <p:extLst>
      <p:ext uri="{BB962C8B-B14F-4D97-AF65-F5344CB8AC3E}">
        <p14:creationId xmlns:p14="http://schemas.microsoft.com/office/powerpoint/2010/main" val="1062948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25</a:t>
            </a:fld>
            <a:endParaRPr lang="zh-CN" altLang="en-US"/>
          </a:p>
        </p:txBody>
      </p:sp>
    </p:spTree>
    <p:extLst>
      <p:ext uri="{BB962C8B-B14F-4D97-AF65-F5344CB8AC3E}">
        <p14:creationId xmlns:p14="http://schemas.microsoft.com/office/powerpoint/2010/main" val="14255771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26</a:t>
            </a:fld>
            <a:endParaRPr lang="zh-CN" altLang="en-US"/>
          </a:p>
        </p:txBody>
      </p:sp>
    </p:spTree>
    <p:extLst>
      <p:ext uri="{BB962C8B-B14F-4D97-AF65-F5344CB8AC3E}">
        <p14:creationId xmlns:p14="http://schemas.microsoft.com/office/powerpoint/2010/main" val="54196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27</a:t>
            </a:fld>
            <a:endParaRPr lang="zh-CN" altLang="en-US"/>
          </a:p>
        </p:txBody>
      </p:sp>
    </p:spTree>
    <p:extLst>
      <p:ext uri="{BB962C8B-B14F-4D97-AF65-F5344CB8AC3E}">
        <p14:creationId xmlns:p14="http://schemas.microsoft.com/office/powerpoint/2010/main" val="28675606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28</a:t>
            </a:fld>
            <a:endParaRPr lang="zh-CN" altLang="en-US"/>
          </a:p>
        </p:txBody>
      </p:sp>
    </p:spTree>
    <p:extLst>
      <p:ext uri="{BB962C8B-B14F-4D97-AF65-F5344CB8AC3E}">
        <p14:creationId xmlns:p14="http://schemas.microsoft.com/office/powerpoint/2010/main" val="38357474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29</a:t>
            </a:fld>
            <a:endParaRPr lang="zh-CN" altLang="en-US"/>
          </a:p>
        </p:txBody>
      </p:sp>
    </p:spTree>
    <p:extLst>
      <p:ext uri="{BB962C8B-B14F-4D97-AF65-F5344CB8AC3E}">
        <p14:creationId xmlns:p14="http://schemas.microsoft.com/office/powerpoint/2010/main" val="11419107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30</a:t>
            </a:fld>
            <a:endParaRPr lang="zh-CN" altLang="en-US"/>
          </a:p>
        </p:txBody>
      </p:sp>
    </p:spTree>
    <p:extLst>
      <p:ext uri="{BB962C8B-B14F-4D97-AF65-F5344CB8AC3E}">
        <p14:creationId xmlns:p14="http://schemas.microsoft.com/office/powerpoint/2010/main" val="39771827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31</a:t>
            </a:fld>
            <a:endParaRPr lang="zh-CN" altLang="en-US"/>
          </a:p>
        </p:txBody>
      </p:sp>
    </p:spTree>
    <p:extLst>
      <p:ext uri="{BB962C8B-B14F-4D97-AF65-F5344CB8AC3E}">
        <p14:creationId xmlns:p14="http://schemas.microsoft.com/office/powerpoint/2010/main" val="480420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32</a:t>
            </a:fld>
            <a:endParaRPr lang="zh-CN" altLang="en-US"/>
          </a:p>
        </p:txBody>
      </p:sp>
    </p:spTree>
    <p:extLst>
      <p:ext uri="{BB962C8B-B14F-4D97-AF65-F5344CB8AC3E}">
        <p14:creationId xmlns:p14="http://schemas.microsoft.com/office/powerpoint/2010/main" val="26298114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33</a:t>
            </a:fld>
            <a:endParaRPr lang="zh-CN" altLang="en-US"/>
          </a:p>
        </p:txBody>
      </p:sp>
    </p:spTree>
    <p:extLst>
      <p:ext uri="{BB962C8B-B14F-4D97-AF65-F5344CB8AC3E}">
        <p14:creationId xmlns:p14="http://schemas.microsoft.com/office/powerpoint/2010/main" val="41245131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34</a:t>
            </a:fld>
            <a:endParaRPr lang="zh-CN" altLang="en-US"/>
          </a:p>
        </p:txBody>
      </p:sp>
    </p:spTree>
    <p:extLst>
      <p:ext uri="{BB962C8B-B14F-4D97-AF65-F5344CB8AC3E}">
        <p14:creationId xmlns:p14="http://schemas.microsoft.com/office/powerpoint/2010/main" val="2990714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35</a:t>
            </a:fld>
            <a:endParaRPr lang="zh-CN" altLang="en-US"/>
          </a:p>
        </p:txBody>
      </p:sp>
    </p:spTree>
    <p:extLst>
      <p:ext uri="{BB962C8B-B14F-4D97-AF65-F5344CB8AC3E}">
        <p14:creationId xmlns:p14="http://schemas.microsoft.com/office/powerpoint/2010/main" val="35456030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36</a:t>
            </a:fld>
            <a:endParaRPr lang="zh-CN" altLang="en-US"/>
          </a:p>
        </p:txBody>
      </p:sp>
    </p:spTree>
    <p:extLst>
      <p:ext uri="{BB962C8B-B14F-4D97-AF65-F5344CB8AC3E}">
        <p14:creationId xmlns:p14="http://schemas.microsoft.com/office/powerpoint/2010/main" val="3928390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37</a:t>
            </a:fld>
            <a:endParaRPr lang="zh-CN" altLang="en-US"/>
          </a:p>
        </p:txBody>
      </p:sp>
    </p:spTree>
    <p:extLst>
      <p:ext uri="{BB962C8B-B14F-4D97-AF65-F5344CB8AC3E}">
        <p14:creationId xmlns:p14="http://schemas.microsoft.com/office/powerpoint/2010/main" val="18093478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38</a:t>
            </a:fld>
            <a:endParaRPr lang="zh-CN" altLang="en-US"/>
          </a:p>
        </p:txBody>
      </p:sp>
    </p:spTree>
    <p:extLst>
      <p:ext uri="{BB962C8B-B14F-4D97-AF65-F5344CB8AC3E}">
        <p14:creationId xmlns:p14="http://schemas.microsoft.com/office/powerpoint/2010/main" val="14500620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39</a:t>
            </a:fld>
            <a:endParaRPr lang="zh-CN" altLang="en-US"/>
          </a:p>
        </p:txBody>
      </p:sp>
    </p:spTree>
    <p:extLst>
      <p:ext uri="{BB962C8B-B14F-4D97-AF65-F5344CB8AC3E}">
        <p14:creationId xmlns:p14="http://schemas.microsoft.com/office/powerpoint/2010/main" val="1256237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40</a:t>
            </a:fld>
            <a:endParaRPr lang="zh-CN" altLang="en-US"/>
          </a:p>
        </p:txBody>
      </p:sp>
    </p:spTree>
    <p:extLst>
      <p:ext uri="{BB962C8B-B14F-4D97-AF65-F5344CB8AC3E}">
        <p14:creationId xmlns:p14="http://schemas.microsoft.com/office/powerpoint/2010/main" val="389306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41</a:t>
            </a:fld>
            <a:endParaRPr lang="zh-CN" altLang="en-US"/>
          </a:p>
        </p:txBody>
      </p:sp>
    </p:spTree>
    <p:extLst>
      <p:ext uri="{BB962C8B-B14F-4D97-AF65-F5344CB8AC3E}">
        <p14:creationId xmlns:p14="http://schemas.microsoft.com/office/powerpoint/2010/main" val="2277803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42</a:t>
            </a:fld>
            <a:endParaRPr lang="zh-CN" altLang="en-US"/>
          </a:p>
        </p:txBody>
      </p:sp>
    </p:spTree>
    <p:extLst>
      <p:ext uri="{BB962C8B-B14F-4D97-AF65-F5344CB8AC3E}">
        <p14:creationId xmlns:p14="http://schemas.microsoft.com/office/powerpoint/2010/main" val="37102091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43</a:t>
            </a:fld>
            <a:endParaRPr lang="zh-CN" altLang="en-US"/>
          </a:p>
        </p:txBody>
      </p:sp>
    </p:spTree>
    <p:extLst>
      <p:ext uri="{BB962C8B-B14F-4D97-AF65-F5344CB8AC3E}">
        <p14:creationId xmlns:p14="http://schemas.microsoft.com/office/powerpoint/2010/main" val="34267383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pPr/>
              <a:t>44</a:t>
            </a:fld>
            <a:endParaRPr lang="zh-CN" altLang="en-US"/>
          </a:p>
        </p:txBody>
      </p:sp>
    </p:spTree>
    <p:extLst>
      <p:ext uri="{BB962C8B-B14F-4D97-AF65-F5344CB8AC3E}">
        <p14:creationId xmlns:p14="http://schemas.microsoft.com/office/powerpoint/2010/main" val="6017123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45</a:t>
            </a:fld>
            <a:endParaRPr lang="zh-CN" altLang="en-US"/>
          </a:p>
        </p:txBody>
      </p:sp>
    </p:spTree>
    <p:extLst>
      <p:ext uri="{BB962C8B-B14F-4D97-AF65-F5344CB8AC3E}">
        <p14:creationId xmlns:p14="http://schemas.microsoft.com/office/powerpoint/2010/main" val="772049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46</a:t>
            </a:fld>
            <a:endParaRPr lang="zh-CN" altLang="en-US"/>
          </a:p>
        </p:txBody>
      </p:sp>
    </p:spTree>
    <p:extLst>
      <p:ext uri="{BB962C8B-B14F-4D97-AF65-F5344CB8AC3E}">
        <p14:creationId xmlns:p14="http://schemas.microsoft.com/office/powerpoint/2010/main" val="34427579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47</a:t>
            </a:fld>
            <a:endParaRPr lang="zh-CN" altLang="en-US"/>
          </a:p>
        </p:txBody>
      </p:sp>
    </p:spTree>
    <p:extLst>
      <p:ext uri="{BB962C8B-B14F-4D97-AF65-F5344CB8AC3E}">
        <p14:creationId xmlns:p14="http://schemas.microsoft.com/office/powerpoint/2010/main" val="40817459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48</a:t>
            </a:fld>
            <a:endParaRPr lang="zh-CN" altLang="en-US"/>
          </a:p>
        </p:txBody>
      </p:sp>
    </p:spTree>
    <p:extLst>
      <p:ext uri="{BB962C8B-B14F-4D97-AF65-F5344CB8AC3E}">
        <p14:creationId xmlns:p14="http://schemas.microsoft.com/office/powerpoint/2010/main" val="27324231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49</a:t>
            </a:fld>
            <a:endParaRPr lang="zh-CN" altLang="en-US"/>
          </a:p>
        </p:txBody>
      </p:sp>
    </p:spTree>
    <p:extLst>
      <p:ext uri="{BB962C8B-B14F-4D97-AF65-F5344CB8AC3E}">
        <p14:creationId xmlns:p14="http://schemas.microsoft.com/office/powerpoint/2010/main" val="37539670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50</a:t>
            </a:fld>
            <a:endParaRPr lang="zh-CN" altLang="en-US"/>
          </a:p>
        </p:txBody>
      </p:sp>
    </p:spTree>
    <p:extLst>
      <p:ext uri="{BB962C8B-B14F-4D97-AF65-F5344CB8AC3E}">
        <p14:creationId xmlns:p14="http://schemas.microsoft.com/office/powerpoint/2010/main" val="41585294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51</a:t>
            </a:fld>
            <a:endParaRPr lang="zh-CN" altLang="en-US"/>
          </a:p>
        </p:txBody>
      </p:sp>
    </p:spTree>
    <p:extLst>
      <p:ext uri="{BB962C8B-B14F-4D97-AF65-F5344CB8AC3E}">
        <p14:creationId xmlns:p14="http://schemas.microsoft.com/office/powerpoint/2010/main" val="35842828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pPr/>
              <a:t>52</a:t>
            </a:fld>
            <a:endParaRPr lang="zh-CN" altLang="en-US"/>
          </a:p>
        </p:txBody>
      </p:sp>
    </p:spTree>
    <p:extLst>
      <p:ext uri="{BB962C8B-B14F-4D97-AF65-F5344CB8AC3E}">
        <p14:creationId xmlns:p14="http://schemas.microsoft.com/office/powerpoint/2010/main" val="2559777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675159130"/>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555980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0" y="0"/>
            <a:ext cx="5737860" cy="541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 y="500438"/>
            <a:ext cx="9143999"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userDrawn="1"/>
        </p:nvPicPr>
        <p:blipFill>
          <a:blip r:embed="rId4" cstate="print"/>
          <a:srcRect/>
          <a:stretch>
            <a:fillRect/>
          </a:stretch>
        </p:blipFill>
        <p:spPr bwMode="auto">
          <a:xfrm>
            <a:off x="91442" y="22861"/>
            <a:ext cx="2307724" cy="430952"/>
          </a:xfrm>
          <a:prstGeom prst="rect">
            <a:avLst/>
          </a:prstGeom>
          <a:noFill/>
          <a:ln w="9525">
            <a:noFill/>
            <a:miter lim="800000"/>
            <a:headEnd/>
            <a:tailEnd/>
          </a:ln>
        </p:spPr>
      </p:pic>
      <p:sp>
        <p:nvSpPr>
          <p:cNvPr id="14" name="矩形 13"/>
          <p:cNvSpPr/>
          <p:nvPr userDrawn="1"/>
        </p:nvSpPr>
        <p:spPr>
          <a:xfrm>
            <a:off x="6789420" y="0"/>
            <a:ext cx="2354580" cy="502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数据 12"/>
          <p:cNvSpPr/>
          <p:nvPr userDrawn="1"/>
        </p:nvSpPr>
        <p:spPr>
          <a:xfrm>
            <a:off x="4846320" y="0"/>
            <a:ext cx="3855720" cy="502920"/>
          </a:xfrm>
          <a:prstGeom prst="flowChartInputOut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5638804" y="1"/>
            <a:ext cx="3228975" cy="553998"/>
          </a:xfrm>
          <a:prstGeom prst="rect">
            <a:avLst/>
          </a:prstGeom>
        </p:spPr>
        <p:txBody>
          <a:bodyPr wrap="square">
            <a:spAutoFit/>
          </a:bodyPr>
          <a:lstStyle/>
          <a:p>
            <a:pPr algn="r">
              <a:lnSpc>
                <a:spcPct val="125000"/>
              </a:lnSpc>
            </a:pPr>
            <a:r>
              <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p>
        </p:txBody>
      </p:sp>
    </p:spTree>
    <p:extLst>
      <p:ext uri="{BB962C8B-B14F-4D97-AF65-F5344CB8AC3E}">
        <p14:creationId xmlns:p14="http://schemas.microsoft.com/office/powerpoint/2010/main" val="4035107080"/>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webp"/><Relationship Id="rId4" Type="http://schemas.openxmlformats.org/officeDocument/2006/relationships/image" Target="../media/image12.webp"/></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0.jpeg"/><Relationship Id="rId3" Type="http://schemas.openxmlformats.org/officeDocument/2006/relationships/notesSlide" Target="../notesSlides/notesSlide7.xml"/><Relationship Id="rId7" Type="http://schemas.openxmlformats.org/officeDocument/2006/relationships/oleObject" Target="../embeddings/oleObject1.bin"/><Relationship Id="rId12" Type="http://schemas.openxmlformats.org/officeDocument/2006/relationships/image" Target="../media/image19.jp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image" Target="../media/image16.wmf"/><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oleObject" Target="../embeddings/oleObject2.bin"/><Relationship Id="rId1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emf"/><Relationship Id="rId5" Type="http://schemas.openxmlformats.org/officeDocument/2006/relationships/oleObject" Target="../embeddings/oleObject3.bin"/><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notesSlide" Target="../notesSlides/notesSlide13.xml"/><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7.emf"/><Relationship Id="rId5" Type="http://schemas.openxmlformats.org/officeDocument/2006/relationships/oleObject" Target="../embeddings/oleObject4.bin"/><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png"/><Relationship Id="rId5" Type="http://schemas.openxmlformats.org/officeDocument/2006/relationships/image" Target="../media/image32.emf"/><Relationship Id="rId4"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4.png"/><Relationship Id="rId4" Type="http://schemas.openxmlformats.org/officeDocument/2006/relationships/image" Target="../media/image3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12.bin"/><Relationship Id="rId3" Type="http://schemas.openxmlformats.org/officeDocument/2006/relationships/notesSlide" Target="../notesSlides/notesSlide18.xml"/><Relationship Id="rId7" Type="http://schemas.openxmlformats.org/officeDocument/2006/relationships/oleObject" Target="../embeddings/oleObject9.bin"/><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5.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37.wmf"/><Relationship Id="rId4" Type="http://schemas.openxmlformats.org/officeDocument/2006/relationships/image" Target="../media/image4.png"/><Relationship Id="rId9" Type="http://schemas.openxmlformats.org/officeDocument/2006/relationships/oleObject" Target="../embeddings/oleObject10.bin"/><Relationship Id="rId14" Type="http://schemas.openxmlformats.org/officeDocument/2006/relationships/image" Target="../media/image39.wm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43.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image" Target="../media/image44.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0.png"/><Relationship Id="rId9"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45.xml"/><Relationship Id="rId7"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4.bin"/><Relationship Id="rId11" Type="http://schemas.openxmlformats.org/officeDocument/2006/relationships/image" Target="../media/image58.emf"/><Relationship Id="rId5" Type="http://schemas.openxmlformats.org/officeDocument/2006/relationships/image" Target="../media/image59.png"/><Relationship Id="rId10" Type="http://schemas.openxmlformats.org/officeDocument/2006/relationships/oleObject" Target="../embeddings/oleObject16.bin"/><Relationship Id="rId4" Type="http://schemas.openxmlformats.org/officeDocument/2006/relationships/image" Target="../media/image4.png"/><Relationship Id="rId9" Type="http://schemas.openxmlformats.org/officeDocument/2006/relationships/image" Target="../media/image57.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46.xml"/><Relationship Id="rId7" Type="http://schemas.openxmlformats.org/officeDocument/2006/relationships/image" Target="../media/image60.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7.bin"/><Relationship Id="rId11" Type="http://schemas.openxmlformats.org/officeDocument/2006/relationships/image" Target="../media/image62.emf"/><Relationship Id="rId5" Type="http://schemas.openxmlformats.org/officeDocument/2006/relationships/image" Target="../media/image59.png"/><Relationship Id="rId10" Type="http://schemas.openxmlformats.org/officeDocument/2006/relationships/oleObject" Target="../embeddings/oleObject19.bin"/><Relationship Id="rId4" Type="http://schemas.openxmlformats.org/officeDocument/2006/relationships/image" Target="../media/image4.png"/><Relationship Id="rId9" Type="http://schemas.openxmlformats.org/officeDocument/2006/relationships/image" Target="../media/image61.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47.xml"/><Relationship Id="rId7"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59.png"/><Relationship Id="rId4" Type="http://schemas.openxmlformats.org/officeDocument/2006/relationships/image" Target="../media/image4.png"/><Relationship Id="rId9" Type="http://schemas.openxmlformats.org/officeDocument/2006/relationships/image" Target="../media/image64.emf"/></Relationships>
</file>

<file path=ppt/slides/_rels/slide49.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26.bin"/><Relationship Id="rId3" Type="http://schemas.openxmlformats.org/officeDocument/2006/relationships/notesSlide" Target="../notesSlides/notesSlide48.xml"/><Relationship Id="rId7" Type="http://schemas.openxmlformats.org/officeDocument/2006/relationships/oleObject" Target="../embeddings/oleObject23.bin"/><Relationship Id="rId12"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5.e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67.wmf"/><Relationship Id="rId4" Type="http://schemas.openxmlformats.org/officeDocument/2006/relationships/image" Target="../media/image4.png"/><Relationship Id="rId9" Type="http://schemas.openxmlformats.org/officeDocument/2006/relationships/oleObject" Target="../embeddings/oleObject24.bin"/><Relationship Id="rId14" Type="http://schemas.openxmlformats.org/officeDocument/2006/relationships/image" Target="../media/image69.wmf"/></Relationships>
</file>

<file path=ppt/slides/_rels/slide50.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notesSlide" Target="../notesSlides/notesSlide49.xml"/><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70.emf"/><Relationship Id="rId5" Type="http://schemas.openxmlformats.org/officeDocument/2006/relationships/oleObject" Target="../embeddings/oleObject27.bin"/><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image" Target="../media/image76.png"/><Relationship Id="rId3" Type="http://schemas.openxmlformats.org/officeDocument/2006/relationships/notesSlide" Target="../notesSlides/notesSlide50.xml"/><Relationship Id="rId7" Type="http://schemas.openxmlformats.org/officeDocument/2006/relationships/oleObject" Target="../embeddings/oleObject30.bin"/><Relationship Id="rId12" Type="http://schemas.openxmlformats.org/officeDocument/2006/relationships/image" Target="../media/image75.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72.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74.wmf"/><Relationship Id="rId4" Type="http://schemas.openxmlformats.org/officeDocument/2006/relationships/image" Target="../media/image4.png"/><Relationship Id="rId9" Type="http://schemas.openxmlformats.org/officeDocument/2006/relationships/oleObject" Target="../embeddings/oleObject31.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51.xml"/><Relationship Id="rId7"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78.png"/><Relationship Id="rId11" Type="http://schemas.openxmlformats.org/officeDocument/2006/relationships/image" Target="../media/image73.wmf"/><Relationship Id="rId5" Type="http://schemas.openxmlformats.org/officeDocument/2006/relationships/image" Target="../media/image77.png"/><Relationship Id="rId10" Type="http://schemas.openxmlformats.org/officeDocument/2006/relationships/oleObject" Target="../embeddings/oleObject34.bin"/><Relationship Id="rId4" Type="http://schemas.openxmlformats.org/officeDocument/2006/relationships/image" Target="../media/image4.png"/><Relationship Id="rId9" Type="http://schemas.openxmlformats.org/officeDocument/2006/relationships/image" Target="../media/image7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1"/>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https://timgsa.baidu.com/timg?image&amp;quality=80&amp;size=b9999_10000&amp;sec=1580725348395&amp;di=7d0f97d144a87161ca1f8c https://timgsa.baidu.com/timg?image&amp;quality=80&amp;size=b9999_10000&amp;sec=1580725348395&amp;di=7d0f97d144a87161ca1f8c49f6249c5f&amp;imgtype=0&amp;src=http%3A%2F%2Fpic1.16pic.com%2F00%2F54%2F86%2F16pic_5486472_b.jpg 49f6249c5f&amp;imgtype=0&amp;src=http%3A%2F%2Fpic1.16pic.com%2F00%2F54%2F86%2F16pic_5486472_b.jpg</a:t>
            </a:r>
            <a:endParaRPr lang="zh-CN" altLang="en-US" dirty="0"/>
          </a:p>
        </p:txBody>
      </p:sp>
      <p:pic>
        <p:nvPicPr>
          <p:cNvPr id="10244" name="Picture 4" descr="http://img.mp.itc.cn/upload/20170309/9f3693de49bf44d791994c44caa6c12c_th.jpeg"/>
          <p:cNvPicPr>
            <a:picLocks noChangeAspect="1" noChangeArrowheads="1"/>
          </p:cNvPicPr>
          <p:nvPr/>
        </p:nvPicPr>
        <p:blipFill>
          <a:blip r:embed="rId3" cstate="print"/>
          <a:srcRect/>
          <a:stretch>
            <a:fillRect/>
          </a:stretch>
        </p:blipFill>
        <p:spPr bwMode="auto">
          <a:xfrm>
            <a:off x="1958498" y="1847778"/>
            <a:ext cx="5356703" cy="2469245"/>
          </a:xfrm>
          <a:prstGeom prst="ellipse">
            <a:avLst/>
          </a:prstGeom>
          <a:ln>
            <a:noFill/>
          </a:ln>
          <a:effectLst>
            <a:softEdge rad="112500"/>
          </a:effectLst>
        </p:spPr>
      </p:pic>
      <p:sp>
        <p:nvSpPr>
          <p:cNvPr id="23" name="矩形 22"/>
          <p:cNvSpPr/>
          <p:nvPr/>
        </p:nvSpPr>
        <p:spPr>
          <a:xfrm>
            <a:off x="4" y="907629"/>
            <a:ext cx="9143999" cy="2050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322604" y="1273966"/>
            <a:ext cx="6498792" cy="746358"/>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p>
        </p:txBody>
      </p:sp>
      <p:sp>
        <p:nvSpPr>
          <p:cNvPr id="31" name="矩形 30"/>
          <p:cNvSpPr/>
          <p:nvPr/>
        </p:nvSpPr>
        <p:spPr>
          <a:xfrm>
            <a:off x="0" y="2"/>
            <a:ext cx="9144000" cy="985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rrowheads="1"/>
          </p:cNvPicPr>
          <p:nvPr/>
        </p:nvPicPr>
        <p:blipFill>
          <a:blip r:embed="rId4" cstate="print"/>
          <a:srcRect/>
          <a:stretch>
            <a:fillRect/>
          </a:stretch>
        </p:blipFill>
        <p:spPr bwMode="auto">
          <a:xfrm>
            <a:off x="150496" y="198377"/>
            <a:ext cx="3261360" cy="604103"/>
          </a:xfrm>
          <a:prstGeom prst="rect">
            <a:avLst/>
          </a:prstGeom>
          <a:noFill/>
          <a:ln w="9525">
            <a:noFill/>
            <a:miter lim="800000"/>
            <a:headEnd/>
            <a:tailEnd/>
          </a:ln>
        </p:spPr>
      </p:pic>
      <p:sp>
        <p:nvSpPr>
          <p:cNvPr id="9" name="文本框 8"/>
          <p:cNvSpPr txBox="1"/>
          <p:nvPr/>
        </p:nvSpPr>
        <p:spPr>
          <a:xfrm>
            <a:off x="5829300" y="96394"/>
            <a:ext cx="307086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电子与通信工程系</a:t>
            </a:r>
          </a:p>
        </p:txBody>
      </p:sp>
      <p:sp>
        <p:nvSpPr>
          <p:cNvPr id="12" name="文本框 8"/>
          <p:cNvSpPr txBox="1"/>
          <p:nvPr/>
        </p:nvSpPr>
        <p:spPr>
          <a:xfrm>
            <a:off x="3080919" y="4081673"/>
            <a:ext cx="339090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a:solidFill>
                  <a:srgbClr val="002060"/>
                </a:solidFill>
              </a:rPr>
              <a:t>主讲人</a:t>
            </a:r>
            <a:r>
              <a:rPr lang="zh-CN" altLang="en-US" sz="2000" smtClean="0">
                <a:solidFill>
                  <a:srgbClr val="002060"/>
                </a:solidFill>
              </a:rPr>
              <a:t>：赵伟</a:t>
            </a:r>
            <a:endParaRPr lang="zh-CN" altLang="en-US" sz="2000" dirty="0">
              <a:solidFill>
                <a:srgbClr val="002060"/>
              </a:solidFill>
            </a:endParaRPr>
          </a:p>
        </p:txBody>
      </p:sp>
    </p:spTree>
    <p:extLst>
      <p:ext uri="{BB962C8B-B14F-4D97-AF65-F5344CB8AC3E}">
        <p14:creationId xmlns:p14="http://schemas.microsoft.com/office/powerpoint/2010/main" val="32149485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10244"/>
                                        </p:tgtEl>
                                        <p:attrNameLst>
                                          <p:attrName>style.visibility</p:attrName>
                                        </p:attrNameLst>
                                      </p:cBhvr>
                                      <p:to>
                                        <p:strVal val="visible"/>
                                      </p:to>
                                    </p:set>
                                    <p:anim calcmode="lin" valueType="num">
                                      <p:cBhvr>
                                        <p:cTn id="11" dur="1000" fill="hold"/>
                                        <p:tgtEl>
                                          <p:spTgt spid="10244"/>
                                        </p:tgtEl>
                                        <p:attrNameLst>
                                          <p:attrName>ppt_w</p:attrName>
                                        </p:attrNameLst>
                                      </p:cBhvr>
                                      <p:tavLst>
                                        <p:tav tm="0">
                                          <p:val>
                                            <p:fltVal val="0"/>
                                          </p:val>
                                        </p:tav>
                                        <p:tav tm="100000">
                                          <p:val>
                                            <p:strVal val="#ppt_w"/>
                                          </p:val>
                                        </p:tav>
                                      </p:tavLst>
                                    </p:anim>
                                    <p:anim calcmode="lin" valueType="num">
                                      <p:cBhvr>
                                        <p:cTn id="12" dur="1000" fill="hold"/>
                                        <p:tgtEl>
                                          <p:spTgt spid="10244"/>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1000" fill="hold"/>
                                        <p:tgtEl>
                                          <p:spTgt spid="12"/>
                                        </p:tgtEl>
                                        <p:attrNameLst>
                                          <p:attrName>ppt_w</p:attrName>
                                        </p:attrNameLst>
                                      </p:cBhvr>
                                      <p:tavLst>
                                        <p:tav tm="0">
                                          <p:val>
                                            <p:fltVal val="0"/>
                                          </p:val>
                                        </p:tav>
                                        <p:tav tm="100000">
                                          <p:val>
                                            <p:strVal val="#ppt_w"/>
                                          </p:val>
                                        </p:tav>
                                      </p:tavLst>
                                    </p:anim>
                                    <p:anim calcmode="lin" valueType="num">
                                      <p:cBhvr>
                                        <p:cTn id="16" dur="10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01090" y="1642111"/>
            <a:ext cx="6713220" cy="1865100"/>
            <a:chOff x="1101090" y="1824567"/>
            <a:chExt cx="6713220" cy="2072333"/>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108483" y="2545562"/>
              <a:ext cx="6498792" cy="77150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1</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rPr>
                <a:t>数字逻辑基础</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大黑简体" panose="02010601030101010101" pitchFamily="2" charset="-122"/>
                <a:ea typeface="方正大黑简体" panose="02010601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79213" y="1090204"/>
            <a:ext cx="8631294" cy="3415502"/>
            <a:chOff x="256353" y="1058938"/>
            <a:chExt cx="8631294" cy="3795002"/>
          </a:xfrm>
        </p:grpSpPr>
        <p:sp>
          <p:nvSpPr>
            <p:cNvPr id="4" name="矩形 3">
              <a:extLst>
                <a:ext uri="{FF2B5EF4-FFF2-40B4-BE49-F238E27FC236}">
                  <a16:creationId xmlns:a16="http://schemas.microsoft.com/office/drawing/2014/main" xmlns="" id="{DD99E520-B893-474A-A840-13599A7C4162}"/>
                </a:ext>
              </a:extLst>
            </p:cNvPr>
            <p:cNvSpPr/>
            <p:nvPr/>
          </p:nvSpPr>
          <p:spPr>
            <a:xfrm>
              <a:off x="256353" y="1426524"/>
              <a:ext cx="8631294" cy="3427416"/>
            </a:xfrm>
            <a:prstGeom prst="rect">
              <a:avLst/>
            </a:prstGeom>
            <a:solidFill>
              <a:sysClr val="window" lastClr="FFFFFF">
                <a:alpha val="0"/>
              </a:sysClr>
            </a:solidFill>
            <a:ln w="25400" cap="flat" cmpd="sng" algn="ctr">
              <a:solidFill>
                <a:srgbClr val="2090EC"/>
              </a:solidFill>
              <a:prstDash val="solid"/>
            </a:ln>
            <a:effectLst/>
          </p:spPr>
          <p:txBody>
            <a:bodyPr lIns="0" tIns="72000" rIns="0" bIns="0" numCol="3" spcCol="180000" anchor="ctr"/>
            <a:lstStyle/>
            <a:p>
              <a:pPr marL="357496" indent="-268599">
                <a:spcBef>
                  <a:spcPts val="600"/>
                </a:spcBef>
                <a:buSzPct val="100000"/>
                <a:buFont typeface="Wingdings" panose="05000000000000000000" pitchFamily="2" charset="2"/>
                <a:buChar char="n"/>
              </a:pPr>
              <a:endParaRPr sz="1400" kern="100" dirty="0">
                <a:solidFill>
                  <a:srgbClr val="002060"/>
                </a:solidFill>
                <a:latin typeface="微软雅黑" panose="020B0503020204020204" pitchFamily="34" charset="-122"/>
                <a:ea typeface="微软雅黑" panose="020B0503020204020204" pitchFamily="34" charset="-122"/>
                <a:sym typeface="+mn-ea"/>
              </a:endParaRPr>
            </a:p>
          </p:txBody>
        </p:sp>
        <p:sp>
          <p:nvSpPr>
            <p:cNvPr id="3" name="文本框 2">
              <a:extLst>
                <a:ext uri="{FF2B5EF4-FFF2-40B4-BE49-F238E27FC236}">
                  <a16:creationId xmlns:a16="http://schemas.microsoft.com/office/drawing/2014/main" xmlns="" id="{20AAD544-EAE7-46C3-8E19-956FA907F7BC}"/>
                </a:ext>
              </a:extLst>
            </p:cNvPr>
            <p:cNvSpPr txBox="1"/>
            <p:nvPr/>
          </p:nvSpPr>
          <p:spPr>
            <a:xfrm>
              <a:off x="568913" y="1815352"/>
              <a:ext cx="8006174" cy="2952375"/>
            </a:xfrm>
            <a:prstGeom prst="rect">
              <a:avLst/>
            </a:prstGeom>
            <a:noFill/>
          </p:spPr>
          <p:txBody>
            <a:bodyPr wrap="square">
              <a:spAutoFit/>
            </a:bodyPr>
            <a:lstStyle/>
            <a:p>
              <a:pPr marL="342900" lvl="0" indent="-342900">
                <a:spcAft>
                  <a:spcPts val="800"/>
                </a:spcAft>
                <a:buFont typeface="Wingdings" panose="05000000000000000000" pitchFamily="2" charset="2"/>
                <a:buChar char=""/>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数字电路技术的发展及应用，数字电路的分类及特点；</a:t>
              </a:r>
            </a:p>
            <a:p>
              <a:pPr marL="342900" lvl="0" indent="-342900">
                <a:spcAft>
                  <a:spcPts val="800"/>
                </a:spcAft>
                <a:buFont typeface="Wingdings" panose="05000000000000000000" pitchFamily="2" charset="2"/>
                <a:buChar char=""/>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数字信号的特点，二进制数字信号的描述方法；</a:t>
              </a:r>
            </a:p>
            <a:p>
              <a:pPr marL="342900" lvl="0" indent="-342900">
                <a:spcAft>
                  <a:spcPts val="800"/>
                </a:spcAft>
                <a:buFont typeface="Wingdings" panose="05000000000000000000" pitchFamily="2" charset="2"/>
                <a:buChar char=""/>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常用的计数体制，不同数制之间的转换，无符号和有符号二进制数的算术运算；</a:t>
              </a:r>
            </a:p>
            <a:p>
              <a:pPr marL="342900" lvl="0" indent="-342900">
                <a:spcAft>
                  <a:spcPts val="800"/>
                </a:spcAft>
                <a:buFont typeface="Wingdings" panose="05000000000000000000" pitchFamily="2" charset="2"/>
                <a:buChar char=""/>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编码的概念，常用的二进制编码方法；</a:t>
              </a:r>
            </a:p>
            <a:p>
              <a:pPr marL="342900" lvl="0" indent="-342900">
                <a:spcAft>
                  <a:spcPts val="800"/>
                </a:spcAft>
                <a:buFont typeface="Wingdings" panose="05000000000000000000" pitchFamily="2" charset="2"/>
                <a:buChar char=""/>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二值逻辑变量，三种基本的逻辑运算，常用的复合逻辑运算，逻辑函数及其</a:t>
              </a:r>
              <a:r>
                <a:rPr lang="zh-CN" altLang="en-US" sz="2000" dirty="0">
                  <a:effectLst/>
                  <a:latin typeface="黑体" panose="02010609060101010101" pitchFamily="49" charset="-122"/>
                  <a:ea typeface="黑体" panose="02010609060101010101" pitchFamily="49" charset="-122"/>
                  <a:cs typeface="Times New Roman" panose="02020603050405020304" pitchFamily="18" charset="0"/>
                </a:rPr>
                <a:t>表达</a:t>
              </a: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方法。</a:t>
              </a:r>
            </a:p>
          </p:txBody>
        </p:sp>
        <p:sp>
          <p:nvSpPr>
            <p:cNvPr id="5" name="平行四边形 4">
              <a:extLst>
                <a:ext uri="{FF2B5EF4-FFF2-40B4-BE49-F238E27FC236}">
                  <a16:creationId xmlns:a16="http://schemas.microsoft.com/office/drawing/2014/main" xmlns="" id="{04804CD1-8332-45D4-9B92-208C342F9875}"/>
                </a:ext>
              </a:extLst>
            </p:cNvPr>
            <p:cNvSpPr/>
            <p:nvPr/>
          </p:nvSpPr>
          <p:spPr>
            <a:xfrm>
              <a:off x="256353" y="1058938"/>
              <a:ext cx="7344511" cy="374964"/>
            </a:xfrm>
            <a:prstGeom prst="parallelogram">
              <a:avLst>
                <a:gd name="adj" fmla="val 64377"/>
              </a:avLst>
            </a:prstGeom>
            <a:solidFill>
              <a:srgbClr val="005DA2"/>
            </a:solidFill>
            <a:ln w="15875" cap="flat" cmpd="sng" algn="ctr">
              <a:solidFill>
                <a:srgbClr val="005DA2"/>
              </a:solidFill>
              <a:prstDash val="solid"/>
            </a:ln>
            <a:effectLst>
              <a:outerShdw blurRad="50800" dist="38100" dir="2700000" algn="tl" rotWithShape="0">
                <a:prstClr val="black">
                  <a:alpha val="40000"/>
                </a:prstClr>
              </a:outerShdw>
            </a:effectLst>
          </p:spPr>
          <p:txBody>
            <a:bodyPr lIns="0" tIns="0" rIns="0" bIns="0" rtlCol="0" anchor="ctr"/>
            <a:lstStyle/>
            <a:p>
              <a:pPr defTabSz="914377">
                <a:defRPr/>
              </a:pPr>
              <a:r>
                <a:rPr lang="zh-CN" altLang="en-US" sz="20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内 容 提 要</a:t>
              </a:r>
              <a:endParaRPr lang="zh-CN" altLang="en-US" sz="2000" b="1" kern="0" dirty="0">
                <a:solidFill>
                  <a:schemeClr val="bg1"/>
                </a:solidFill>
                <a:latin typeface="Calibri" panose="020F0502020204030204"/>
              </a:endParaRPr>
            </a:p>
          </p:txBody>
        </p:sp>
      </p:grpSp>
    </p:spTree>
    <p:extLst>
      <p:ext uri="{BB962C8B-B14F-4D97-AF65-F5344CB8AC3E}">
        <p14:creationId xmlns:p14="http://schemas.microsoft.com/office/powerpoint/2010/main" val="33145956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6">
            <a:extLst>
              <a:ext uri="{FF2B5EF4-FFF2-40B4-BE49-F238E27FC236}">
                <a16:creationId xmlns:a16="http://schemas.microsoft.com/office/drawing/2014/main" xmlns="" id="{D440C342-809F-4214-8D11-B51E8BEDF1C7}"/>
              </a:ext>
            </a:extLst>
          </p:cNvPr>
          <p:cNvGrpSpPr/>
          <p:nvPr/>
        </p:nvGrpSpPr>
        <p:grpSpPr>
          <a:xfrm>
            <a:off x="1101090" y="1642110"/>
            <a:ext cx="1371600" cy="684000"/>
            <a:chOff x="1101090" y="1824567"/>
            <a:chExt cx="1371600" cy="760000"/>
          </a:xfrm>
        </p:grpSpPr>
        <p:grpSp>
          <p:nvGrpSpPr>
            <p:cNvPr id="19" name="组合 35">
              <a:extLst>
                <a:ext uri="{FF2B5EF4-FFF2-40B4-BE49-F238E27FC236}">
                  <a16:creationId xmlns:a16="http://schemas.microsoft.com/office/drawing/2014/main" xmlns="" id="{62C37C89-5985-4299-97CF-962A67EDF69F}"/>
                </a:ext>
              </a:extLst>
            </p:cNvPr>
            <p:cNvGrpSpPr/>
            <p:nvPr/>
          </p:nvGrpSpPr>
          <p:grpSpPr>
            <a:xfrm>
              <a:off x="1101090" y="1972734"/>
              <a:ext cx="1371600" cy="110067"/>
              <a:chOff x="910590" y="1699260"/>
              <a:chExt cx="1371600" cy="99060"/>
            </a:xfrm>
          </p:grpSpPr>
          <p:cxnSp>
            <p:nvCxnSpPr>
              <p:cNvPr id="23" name="直接连接符 22">
                <a:extLst>
                  <a:ext uri="{FF2B5EF4-FFF2-40B4-BE49-F238E27FC236}">
                    <a16:creationId xmlns:a16="http://schemas.microsoft.com/office/drawing/2014/main" xmlns="" id="{8A494D2C-D130-4802-B51C-00149183ED64}"/>
                  </a:ext>
                </a:extLst>
              </p:cNvPr>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4" name="直接连接符 23">
                <a:extLst>
                  <a:ext uri="{FF2B5EF4-FFF2-40B4-BE49-F238E27FC236}">
                    <a16:creationId xmlns:a16="http://schemas.microsoft.com/office/drawing/2014/main" xmlns="" id="{23306CF0-B735-45A4-88F4-B3ED4CEAAAA3}"/>
                  </a:ext>
                </a:extLst>
              </p:cNvPr>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0" name="组合 36">
              <a:extLst>
                <a:ext uri="{FF2B5EF4-FFF2-40B4-BE49-F238E27FC236}">
                  <a16:creationId xmlns:a16="http://schemas.microsoft.com/office/drawing/2014/main" xmlns="" id="{77524BB2-B5B0-4B05-BCF0-DAF06BE10227}"/>
                </a:ext>
              </a:extLst>
            </p:cNvPr>
            <p:cNvGrpSpPr/>
            <p:nvPr/>
          </p:nvGrpSpPr>
          <p:grpSpPr>
            <a:xfrm rot="5400000">
              <a:off x="986715" y="2155037"/>
              <a:ext cx="760000" cy="99060"/>
              <a:chOff x="910590" y="1699260"/>
              <a:chExt cx="1371600" cy="99060"/>
            </a:xfrm>
          </p:grpSpPr>
          <p:cxnSp>
            <p:nvCxnSpPr>
              <p:cNvPr id="21" name="直接连接符 20">
                <a:extLst>
                  <a:ext uri="{FF2B5EF4-FFF2-40B4-BE49-F238E27FC236}">
                    <a16:creationId xmlns:a16="http://schemas.microsoft.com/office/drawing/2014/main" xmlns="" id="{F97E144A-3BC3-4C3E-86DD-287C4326DB18}"/>
                  </a:ext>
                </a:extLst>
              </p:cNvPr>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xmlns="" id="{66D71C3C-B055-422F-8058-781882375A6D}"/>
                  </a:ext>
                </a:extLst>
              </p:cNvPr>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5" name="组合 17">
            <a:extLst>
              <a:ext uri="{FF2B5EF4-FFF2-40B4-BE49-F238E27FC236}">
                <a16:creationId xmlns:a16="http://schemas.microsoft.com/office/drawing/2014/main" xmlns="" id="{2B166E81-D8A6-4BD2-ABEB-F6BCE6E70D52}"/>
              </a:ext>
            </a:extLst>
          </p:cNvPr>
          <p:cNvGrpSpPr/>
          <p:nvPr/>
        </p:nvGrpSpPr>
        <p:grpSpPr>
          <a:xfrm>
            <a:off x="6442710" y="2823210"/>
            <a:ext cx="1371600" cy="684000"/>
            <a:chOff x="6442710" y="3136900"/>
            <a:chExt cx="1371600" cy="760000"/>
          </a:xfrm>
        </p:grpSpPr>
        <p:grpSp>
          <p:nvGrpSpPr>
            <p:cNvPr id="26" name="组合 35">
              <a:extLst>
                <a:ext uri="{FF2B5EF4-FFF2-40B4-BE49-F238E27FC236}">
                  <a16:creationId xmlns:a16="http://schemas.microsoft.com/office/drawing/2014/main" xmlns="" id="{C8A301AF-96D7-4A5E-9542-FC21DEB8D093}"/>
                </a:ext>
              </a:extLst>
            </p:cNvPr>
            <p:cNvGrpSpPr/>
            <p:nvPr/>
          </p:nvGrpSpPr>
          <p:grpSpPr>
            <a:xfrm rot="10800000">
              <a:off x="6442710" y="3638667"/>
              <a:ext cx="1371600" cy="110067"/>
              <a:chOff x="910590" y="1699260"/>
              <a:chExt cx="1371600" cy="99060"/>
            </a:xfrm>
          </p:grpSpPr>
          <p:cxnSp>
            <p:nvCxnSpPr>
              <p:cNvPr id="31" name="直接连接符 30">
                <a:extLst>
                  <a:ext uri="{FF2B5EF4-FFF2-40B4-BE49-F238E27FC236}">
                    <a16:creationId xmlns:a16="http://schemas.microsoft.com/office/drawing/2014/main" xmlns="" id="{EFB0FB98-C757-4DD9-A44E-D5F00B021574}"/>
                  </a:ext>
                </a:extLst>
              </p:cNvPr>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a:extLst>
                  <a:ext uri="{FF2B5EF4-FFF2-40B4-BE49-F238E27FC236}">
                    <a16:creationId xmlns:a16="http://schemas.microsoft.com/office/drawing/2014/main" xmlns="" id="{055CA543-F4EB-4481-ACB4-8D478AE80203}"/>
                  </a:ext>
                </a:extLst>
              </p:cNvPr>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a:extLst>
                <a:ext uri="{FF2B5EF4-FFF2-40B4-BE49-F238E27FC236}">
                  <a16:creationId xmlns:a16="http://schemas.microsoft.com/office/drawing/2014/main" xmlns="" id="{DCA38172-0CA5-435A-8EA3-1BEA86AFA957}"/>
                </a:ext>
              </a:extLst>
            </p:cNvPr>
            <p:cNvGrpSpPr/>
            <p:nvPr/>
          </p:nvGrpSpPr>
          <p:grpSpPr>
            <a:xfrm rot="16200000">
              <a:off x="7092485" y="3467370"/>
              <a:ext cx="760000" cy="99060"/>
              <a:chOff x="910590" y="1699260"/>
              <a:chExt cx="1371600" cy="99060"/>
            </a:xfrm>
          </p:grpSpPr>
          <p:cxnSp>
            <p:nvCxnSpPr>
              <p:cNvPr id="28" name="直接连接符 27">
                <a:extLst>
                  <a:ext uri="{FF2B5EF4-FFF2-40B4-BE49-F238E27FC236}">
                    <a16:creationId xmlns:a16="http://schemas.microsoft.com/office/drawing/2014/main" xmlns="" id="{AEC61FDE-5A75-42BB-9A03-9D97D3592DF0}"/>
                  </a:ext>
                </a:extLst>
              </p:cNvPr>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a:extLst>
                  <a:ext uri="{FF2B5EF4-FFF2-40B4-BE49-F238E27FC236}">
                    <a16:creationId xmlns:a16="http://schemas.microsoft.com/office/drawing/2014/main" xmlns="" id="{0607ED23-95EA-4AC4-B251-73F61276CE4F}"/>
                  </a:ext>
                </a:extLst>
              </p:cNvPr>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a:extLst>
              <a:ext uri="{FF2B5EF4-FFF2-40B4-BE49-F238E27FC236}">
                <a16:creationId xmlns:a16="http://schemas.microsoft.com/office/drawing/2014/main" xmlns="" id="{85D81C56-F304-41B6-A534-9076CC70B962}"/>
              </a:ext>
            </a:extLst>
          </p:cNvPr>
          <p:cNvSpPr txBox="1"/>
          <p:nvPr/>
        </p:nvSpPr>
        <p:spPr>
          <a:xfrm>
            <a:off x="1023223" y="1955544"/>
            <a:ext cx="6498792" cy="1284967"/>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1</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数字逻辑基础</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1.1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数字电路概述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Left)">
                                      <p:cBhvr>
                                        <p:cTn id="7" dur="500"/>
                                        <p:tgtEl>
                                          <p:spTgt spid="18"/>
                                        </p:tgtEl>
                                      </p:cBhvr>
                                    </p:animEffect>
                                  </p:childTnLst>
                                </p:cTn>
                              </p:par>
                              <p:par>
                                <p:cTn id="8" presetID="12" presetClass="entr" presetSubtype="2"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slide(fromRight)">
                                      <p:cBhvr>
                                        <p:cTn id="10" dur="500"/>
                                        <p:tgtEl>
                                          <p:spTgt spid="25"/>
                                        </p:tgtEl>
                                      </p:cBhvr>
                                    </p:animEffect>
                                  </p:childTnLst>
                                </p:cTn>
                              </p:par>
                              <p:par>
                                <p:cTn id="11" presetID="17" presetClass="entr" presetSubtype="1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p:cTn id="13" dur="1000" fill="hold"/>
                                        <p:tgtEl>
                                          <p:spTgt spid="33"/>
                                        </p:tgtEl>
                                        <p:attrNameLst>
                                          <p:attrName>ppt_w</p:attrName>
                                        </p:attrNameLst>
                                      </p:cBhvr>
                                      <p:tavLst>
                                        <p:tav tm="0">
                                          <p:val>
                                            <p:fltVal val="0"/>
                                          </p:val>
                                        </p:tav>
                                        <p:tav tm="100000">
                                          <p:val>
                                            <p:strVal val="#ppt_w"/>
                                          </p:val>
                                        </p:tav>
                                      </p:tavLst>
                                    </p:anim>
                                    <p:anim calcmode="lin" valueType="num">
                                      <p:cBhvr>
                                        <p:cTn id="14" dur="1000" fill="hold"/>
                                        <p:tgtEl>
                                          <p:spTgt spid="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6"/>
          <p:cNvSpPr>
            <a:spLocks noChangeArrowheads="1"/>
          </p:cNvSpPr>
          <p:nvPr/>
        </p:nvSpPr>
        <p:spPr bwMode="auto">
          <a:xfrm>
            <a:off x="364619" y="1156774"/>
            <a:ext cx="5892673" cy="369332"/>
          </a:xfrm>
          <a:prstGeom prst="rect">
            <a:avLst/>
          </a:prstGeom>
          <a:noFill/>
          <a:ln w="9525" algn="ctr">
            <a:noFill/>
            <a:miter lim="800000"/>
            <a:headEnd/>
            <a:tailEnd/>
          </a:ln>
        </p:spPr>
        <p:txBody>
          <a:bodyPr wrap="squar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）电子电路发展史</a:t>
            </a:r>
            <a:endParaRPr lang="zh-CN" altLang="en-US" b="1" dirty="0">
              <a:solidFill>
                <a:srgbClr val="CC00CC"/>
              </a:solidFill>
              <a:latin typeface="微软雅黑" pitchFamily="34" charset="-122"/>
              <a:ea typeface="微软雅黑" pitchFamily="34" charset="-122"/>
            </a:endParaRPr>
          </a:p>
        </p:txBody>
      </p:sp>
      <p:grpSp>
        <p:nvGrpSpPr>
          <p:cNvPr id="17" name="组合 16"/>
          <p:cNvGrpSpPr/>
          <p:nvPr/>
        </p:nvGrpSpPr>
        <p:grpSpPr>
          <a:xfrm>
            <a:off x="231982" y="692994"/>
            <a:ext cx="3928539" cy="418885"/>
            <a:chOff x="670560" y="892917"/>
            <a:chExt cx="3928539" cy="465428"/>
          </a:xfrm>
        </p:grpSpPr>
        <p:sp>
          <p:nvSpPr>
            <p:cNvPr id="18" name="矩形 17"/>
            <p:cNvSpPr/>
            <p:nvPr/>
          </p:nvSpPr>
          <p:spPr>
            <a:xfrm>
              <a:off x="1035233" y="913778"/>
              <a:ext cx="356386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、数字技术的发展及其应用</a:t>
              </a:r>
            </a:p>
          </p:txBody>
        </p:sp>
        <p:pic>
          <p:nvPicPr>
            <p:cNvPr id="19"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028" name="AutoShape 4" descr="http://img3.imgtn.bdimg.com/it/u=254707472,39558361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030" name="AutoShape 6" descr="http://img3.imgtn.bdimg.com/it/u=254707472,39558361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8" name="文本框 27">
            <a:extLst>
              <a:ext uri="{FF2B5EF4-FFF2-40B4-BE49-F238E27FC236}">
                <a16:creationId xmlns:a16="http://schemas.microsoft.com/office/drawing/2014/main" xmlns="" id="{643B1F12-F713-41E8-8B3D-454E51B3C005}"/>
              </a:ext>
            </a:extLst>
          </p:cNvPr>
          <p:cNvSpPr txBox="1"/>
          <p:nvPr/>
        </p:nvSpPr>
        <p:spPr>
          <a:xfrm>
            <a:off x="460375" y="1509994"/>
            <a:ext cx="8260080" cy="1142620"/>
          </a:xfrm>
          <a:prstGeom prst="rect">
            <a:avLst/>
          </a:prstGeom>
          <a:noFill/>
        </p:spPr>
        <p:txBody>
          <a:bodyPr wrap="square">
            <a:spAutoFit/>
          </a:bodyPr>
          <a:lstStyle/>
          <a:p>
            <a:pPr>
              <a:lnSpc>
                <a:spcPct val="150000"/>
              </a:lnSpc>
            </a:pPr>
            <a:r>
              <a:rPr lang="zh-CN" altLang="zh-CN" sz="1600" dirty="0">
                <a:solidFill>
                  <a:srgbClr val="CC00CC"/>
                </a:solidFill>
                <a:effectLst/>
                <a:latin typeface="黑体" panose="02010609060101010101" pitchFamily="49" charset="-122"/>
                <a:ea typeface="黑体" panose="02010609060101010101" pitchFamily="49" charset="-122"/>
                <a:cs typeface="Times New Roman" panose="02020603050405020304" pitchFamily="18" charset="0"/>
              </a:rPr>
              <a:t>模拟电路</a:t>
            </a:r>
            <a:r>
              <a:rPr lang="zh-CN" altLang="en-US" sz="1600" dirty="0">
                <a:effectLst/>
                <a:latin typeface="黑体" panose="02010609060101010101" pitchFamily="49" charset="-122"/>
                <a:ea typeface="黑体" panose="02010609060101010101" pitchFamily="49" charset="-122"/>
                <a:cs typeface="Times New Roman" panose="02020603050405020304" pitchFamily="18" charset="0"/>
              </a:rPr>
              <a:t>：</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处理模拟信号的电路</a:t>
            </a:r>
            <a:endParaRPr lang="en-US" altLang="zh-CN" sz="1600" dirty="0">
              <a:effectLst/>
              <a:latin typeface="黑体" panose="02010609060101010101" pitchFamily="49" charset="-122"/>
              <a:ea typeface="黑体" panose="02010609060101010101" pitchFamily="49" charset="-122"/>
              <a:cs typeface="Times New Roman" panose="02020603050405020304" pitchFamily="18" charset="0"/>
            </a:endParaRPr>
          </a:p>
          <a:p>
            <a:pPr>
              <a:lnSpc>
                <a:spcPct val="150000"/>
              </a:lnSpc>
            </a:pPr>
            <a:r>
              <a:rPr lang="zh-CN" altLang="zh-CN" sz="1600" dirty="0">
                <a:solidFill>
                  <a:srgbClr val="CC00CC"/>
                </a:solidFill>
                <a:latin typeface="黑体" panose="02010609060101010101" pitchFamily="49" charset="-122"/>
                <a:ea typeface="黑体" panose="02010609060101010101" pitchFamily="49" charset="-122"/>
                <a:cs typeface="Times New Roman" panose="02020603050405020304" pitchFamily="18" charset="0"/>
              </a:rPr>
              <a:t>数字电路</a:t>
            </a:r>
            <a:r>
              <a:rPr lang="zh-CN" altLang="en-US" sz="1600" dirty="0">
                <a:effectLst/>
                <a:latin typeface="黑体" panose="02010609060101010101" pitchFamily="49" charset="-122"/>
                <a:ea typeface="黑体" panose="02010609060101010101" pitchFamily="49" charset="-122"/>
                <a:cs typeface="Times New Roman" panose="02020603050405020304" pitchFamily="18" charset="0"/>
              </a:rPr>
              <a:t>：</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处理</a:t>
            </a:r>
            <a:r>
              <a:rPr lang="zh-CN" altLang="zh-CN" sz="1600" dirty="0">
                <a:latin typeface="黑体" panose="02010609060101010101" pitchFamily="49" charset="-122"/>
                <a:ea typeface="黑体" panose="02010609060101010101" pitchFamily="49" charset="-122"/>
                <a:cs typeface="Times New Roman" panose="02020603050405020304" pitchFamily="18" charset="0"/>
              </a:rPr>
              <a:t>数字信号</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（也</a:t>
            </a:r>
            <a:r>
              <a:rPr lang="zh-CN" altLang="zh-CN" sz="1600" dirty="0">
                <a:latin typeface="黑体" panose="02010609060101010101" pitchFamily="49" charset="-122"/>
                <a:ea typeface="黑体" panose="02010609060101010101" pitchFamily="49" charset="-122"/>
                <a:cs typeface="Times New Roman" panose="02020603050405020304" pitchFamily="18" charset="0"/>
              </a:rPr>
              <a:t>称为离散信号</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）的电路。</a:t>
            </a:r>
            <a:endParaRPr lang="en-US" altLang="zh-CN" sz="1600" dirty="0">
              <a:effectLst/>
              <a:latin typeface="黑体" panose="02010609060101010101" pitchFamily="49" charset="-122"/>
              <a:ea typeface="黑体" panose="02010609060101010101" pitchFamily="49" charset="-122"/>
              <a:cs typeface="Times New Roman" panose="02020603050405020304" pitchFamily="18" charset="0"/>
            </a:endParaRPr>
          </a:p>
          <a:p>
            <a:pPr>
              <a:lnSpc>
                <a:spcPct val="150000"/>
              </a:lnSpc>
            </a:pP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无论是模拟电路还是数字电路，其发展均与电子电路器件的发展紧密相关。</a:t>
            </a:r>
            <a:endParaRPr lang="zh-CN" altLang="en-US" sz="1600" dirty="0">
              <a:latin typeface="黑体" panose="02010609060101010101" pitchFamily="49" charset="-122"/>
              <a:ea typeface="黑体" panose="02010609060101010101" pitchFamily="49" charset="-122"/>
            </a:endParaRPr>
          </a:p>
        </p:txBody>
      </p:sp>
      <p:grpSp>
        <p:nvGrpSpPr>
          <p:cNvPr id="2" name="组合 1">
            <a:extLst>
              <a:ext uri="{FF2B5EF4-FFF2-40B4-BE49-F238E27FC236}">
                <a16:creationId xmlns:a16="http://schemas.microsoft.com/office/drawing/2014/main" xmlns="" id="{6E207B21-7CB8-4260-8FC2-A95CA1CE9E9C}"/>
              </a:ext>
            </a:extLst>
          </p:cNvPr>
          <p:cNvGrpSpPr/>
          <p:nvPr/>
        </p:nvGrpSpPr>
        <p:grpSpPr>
          <a:xfrm>
            <a:off x="1034804" y="2821168"/>
            <a:ext cx="7085831" cy="2086553"/>
            <a:chOff x="1034804" y="2821168"/>
            <a:chExt cx="7085831" cy="2086553"/>
          </a:xfrm>
        </p:grpSpPr>
        <p:grpSp>
          <p:nvGrpSpPr>
            <p:cNvPr id="5" name="组合 4">
              <a:extLst>
                <a:ext uri="{FF2B5EF4-FFF2-40B4-BE49-F238E27FC236}">
                  <a16:creationId xmlns:a16="http://schemas.microsoft.com/office/drawing/2014/main" xmlns="" id="{CFF8FFF2-53BE-4726-ABC2-C1979A05B02B}"/>
                </a:ext>
              </a:extLst>
            </p:cNvPr>
            <p:cNvGrpSpPr/>
            <p:nvPr/>
          </p:nvGrpSpPr>
          <p:grpSpPr>
            <a:xfrm>
              <a:off x="4623055" y="2821168"/>
              <a:ext cx="3497580" cy="1656283"/>
              <a:chOff x="4160520" y="2884086"/>
              <a:chExt cx="3497580" cy="1840314"/>
            </a:xfrm>
          </p:grpSpPr>
          <p:sp>
            <p:nvSpPr>
              <p:cNvPr id="60" name="Rectangle 17">
                <a:extLst>
                  <a:ext uri="{FF2B5EF4-FFF2-40B4-BE49-F238E27FC236}">
                    <a16:creationId xmlns:a16="http://schemas.microsoft.com/office/drawing/2014/main" xmlns="" id="{AD5EF362-7791-43BF-B1B4-E2EBF3704D80}"/>
                  </a:ext>
                </a:extLst>
              </p:cNvPr>
              <p:cNvSpPr>
                <a:spLocks noChangeArrowheads="1"/>
              </p:cNvSpPr>
              <p:nvPr/>
            </p:nvSpPr>
            <p:spPr bwMode="auto">
              <a:xfrm>
                <a:off x="4226807" y="3857249"/>
                <a:ext cx="3326941" cy="820738"/>
              </a:xfrm>
              <a:prstGeom prst="rect">
                <a:avLst/>
              </a:prstGeom>
              <a:noFill/>
              <a:ln w="9525" algn="ctr">
                <a:noFill/>
                <a:miter lim="800000"/>
                <a:headEnd/>
                <a:tailEnd/>
              </a:ln>
            </p:spPr>
            <p:txBody>
              <a:bodyPr wrap="square" lIns="0" rIns="0">
                <a:spAutoFit/>
              </a:bodyPr>
              <a:lstStyle/>
              <a:p>
                <a:pPr indent="-982663" algn="ctr"/>
                <a:r>
                  <a:rPr kumimoji="1" lang="zh-CN" altLang="en-US" sz="1400" b="1" dirty="0">
                    <a:solidFill>
                      <a:srgbClr val="0000FF"/>
                    </a:solidFill>
                    <a:latin typeface="微软雅黑" pitchFamily="34" charset="-122"/>
                    <a:ea typeface="微软雅黑" pitchFamily="34" charset="-122"/>
                  </a:rPr>
                  <a:t>集成电路</a:t>
                </a:r>
                <a:endParaRPr kumimoji="1" lang="en-US" altLang="zh-CN" sz="1400" b="1" dirty="0">
                  <a:solidFill>
                    <a:srgbClr val="0000FF"/>
                  </a:solidFill>
                  <a:latin typeface="微软雅黑" pitchFamily="34" charset="-122"/>
                  <a:ea typeface="微软雅黑" pitchFamily="34" charset="-122"/>
                </a:endParaRPr>
              </a:p>
              <a:p>
                <a:r>
                  <a:rPr kumimoji="1" lang="en-US" altLang="zh-CN" sz="1400" dirty="0">
                    <a:solidFill>
                      <a:srgbClr val="000000"/>
                    </a:solidFill>
                    <a:latin typeface="微软雅黑" pitchFamily="34" charset="-122"/>
                    <a:ea typeface="微软雅黑" pitchFamily="34" charset="-122"/>
                  </a:rPr>
                  <a:t>1958</a:t>
                </a:r>
                <a:r>
                  <a:rPr kumimoji="1" lang="zh-CN" altLang="en-US" sz="1400" dirty="0">
                    <a:solidFill>
                      <a:srgbClr val="000000"/>
                    </a:solidFill>
                    <a:latin typeface="微软雅黑" pitchFamily="34" charset="-122"/>
                    <a:ea typeface="微软雅黑" pitchFamily="34" charset="-122"/>
                  </a:rPr>
                  <a:t>年，</a:t>
                </a:r>
                <a:r>
                  <a:rPr kumimoji="1" lang="zh-CN" altLang="en-US" sz="1400" b="1" dirty="0">
                    <a:solidFill>
                      <a:srgbClr val="CC00CC"/>
                    </a:solidFill>
                    <a:latin typeface="微软雅黑" pitchFamily="34" charset="-122"/>
                    <a:ea typeface="微软雅黑" pitchFamily="34" charset="-122"/>
                  </a:rPr>
                  <a:t>基尔比</a:t>
                </a:r>
                <a:r>
                  <a:rPr kumimoji="1" lang="zh-CN" altLang="en-US" sz="1400" dirty="0">
                    <a:solidFill>
                      <a:srgbClr val="000000"/>
                    </a:solidFill>
                    <a:latin typeface="微软雅黑" pitchFamily="34" charset="-122"/>
                    <a:ea typeface="微软雅黑" pitchFamily="34" charset="-122"/>
                  </a:rPr>
                  <a:t>制成第一块集成电路；</a:t>
                </a:r>
                <a:endParaRPr kumimoji="1" lang="en-US" altLang="zh-CN" sz="1400" dirty="0">
                  <a:solidFill>
                    <a:srgbClr val="000000"/>
                  </a:solidFill>
                  <a:latin typeface="微软雅黑" pitchFamily="34" charset="-122"/>
                  <a:ea typeface="微软雅黑" pitchFamily="34" charset="-122"/>
                </a:endParaRPr>
              </a:p>
              <a:p>
                <a:r>
                  <a:rPr kumimoji="1" lang="en-US" altLang="zh-CN" sz="1400" dirty="0">
                    <a:solidFill>
                      <a:srgbClr val="000000"/>
                    </a:solidFill>
                    <a:latin typeface="微软雅黑" pitchFamily="34" charset="-122"/>
                    <a:ea typeface="微软雅黑" pitchFamily="34" charset="-122"/>
                  </a:rPr>
                  <a:t>6</a:t>
                </a:r>
                <a:r>
                  <a:rPr kumimoji="1" lang="zh-CN" altLang="en-US" sz="1400" dirty="0">
                    <a:solidFill>
                      <a:srgbClr val="000000"/>
                    </a:solidFill>
                    <a:latin typeface="微软雅黑" pitchFamily="34" charset="-122"/>
                    <a:ea typeface="微软雅黑" pitchFamily="34" charset="-122"/>
                  </a:rPr>
                  <a:t>个月后，</a:t>
                </a:r>
                <a:r>
                  <a:rPr kumimoji="1" lang="zh-CN" altLang="en-US" sz="1400" b="1" dirty="0">
                    <a:solidFill>
                      <a:srgbClr val="CC00CC"/>
                    </a:solidFill>
                    <a:latin typeface="微软雅黑" pitchFamily="34" charset="-122"/>
                    <a:ea typeface="微软雅黑" pitchFamily="34" charset="-122"/>
                  </a:rPr>
                  <a:t>诺伊斯</a:t>
                </a:r>
                <a:r>
                  <a:rPr kumimoji="1" lang="zh-CN" altLang="en-US" sz="1400" dirty="0">
                    <a:solidFill>
                      <a:srgbClr val="000000"/>
                    </a:solidFill>
                    <a:latin typeface="微软雅黑" pitchFamily="34" charset="-122"/>
                    <a:ea typeface="微软雅黑" pitchFamily="34" charset="-122"/>
                  </a:rPr>
                  <a:t>制成第一块硅集成电路。</a:t>
                </a:r>
              </a:p>
            </p:txBody>
          </p:sp>
          <p:grpSp>
            <p:nvGrpSpPr>
              <p:cNvPr id="61" name="组合 60">
                <a:extLst>
                  <a:ext uri="{FF2B5EF4-FFF2-40B4-BE49-F238E27FC236}">
                    <a16:creationId xmlns:a16="http://schemas.microsoft.com/office/drawing/2014/main" xmlns="" id="{14D11CF9-24F1-43C0-8EC8-9B45978BB15E}"/>
                  </a:ext>
                </a:extLst>
              </p:cNvPr>
              <p:cNvGrpSpPr/>
              <p:nvPr/>
            </p:nvGrpSpPr>
            <p:grpSpPr>
              <a:xfrm>
                <a:off x="4223693" y="2959394"/>
                <a:ext cx="2259917" cy="916807"/>
                <a:chOff x="3909112" y="3493020"/>
                <a:chExt cx="2720978" cy="1260000"/>
              </a:xfrm>
            </p:grpSpPr>
            <p:pic>
              <p:nvPicPr>
                <p:cNvPr id="64" name="Picture 13">
                  <a:extLst>
                    <a:ext uri="{FF2B5EF4-FFF2-40B4-BE49-F238E27FC236}">
                      <a16:creationId xmlns:a16="http://schemas.microsoft.com/office/drawing/2014/main" xmlns="" id="{D68ED97E-AEAE-4E00-90AA-A76B54E3ED98}"/>
                    </a:ext>
                  </a:extLst>
                </p:cNvPr>
                <p:cNvPicPr>
                  <a:picLocks noChangeAspect="1" noChangeArrowheads="1"/>
                </p:cNvPicPr>
                <p:nvPr/>
              </p:nvPicPr>
              <p:blipFill>
                <a:blip r:embed="rId4" cstate="print"/>
                <a:srcRect/>
                <a:stretch>
                  <a:fillRect/>
                </a:stretch>
              </p:blipFill>
              <p:spPr bwMode="auto">
                <a:xfrm>
                  <a:off x="3909112" y="3493020"/>
                  <a:ext cx="1058085" cy="1260000"/>
                </a:xfrm>
                <a:prstGeom prst="rect">
                  <a:avLst/>
                </a:prstGeom>
                <a:noFill/>
                <a:ln w="9525">
                  <a:noFill/>
                  <a:miter lim="800000"/>
                  <a:headEnd/>
                  <a:tailEnd/>
                </a:ln>
                <a:effectLst/>
              </p:spPr>
            </p:pic>
            <p:pic>
              <p:nvPicPr>
                <p:cNvPr id="65" name="Picture 14">
                  <a:extLst>
                    <a:ext uri="{FF2B5EF4-FFF2-40B4-BE49-F238E27FC236}">
                      <a16:creationId xmlns:a16="http://schemas.microsoft.com/office/drawing/2014/main" xmlns="" id="{55CBBD72-8868-4221-8430-06F7383B6034}"/>
                    </a:ext>
                  </a:extLst>
                </p:cNvPr>
                <p:cNvPicPr>
                  <a:picLocks noChangeAspect="1" noChangeArrowheads="1"/>
                </p:cNvPicPr>
                <p:nvPr/>
              </p:nvPicPr>
              <p:blipFill>
                <a:blip r:embed="rId5" cstate="print"/>
                <a:srcRect/>
                <a:stretch>
                  <a:fillRect/>
                </a:stretch>
              </p:blipFill>
              <p:spPr bwMode="auto">
                <a:xfrm>
                  <a:off x="5011659" y="3493020"/>
                  <a:ext cx="1618431" cy="1260000"/>
                </a:xfrm>
                <a:prstGeom prst="rect">
                  <a:avLst/>
                </a:prstGeom>
                <a:noFill/>
                <a:ln w="9525">
                  <a:noFill/>
                  <a:miter lim="800000"/>
                  <a:headEnd/>
                  <a:tailEnd/>
                </a:ln>
                <a:effectLst/>
              </p:spPr>
            </p:pic>
          </p:grpSp>
          <p:sp>
            <p:nvSpPr>
              <p:cNvPr id="62" name="圆角矩形 43">
                <a:extLst>
                  <a:ext uri="{FF2B5EF4-FFF2-40B4-BE49-F238E27FC236}">
                    <a16:creationId xmlns:a16="http://schemas.microsoft.com/office/drawing/2014/main" xmlns="" id="{96A073F7-8058-444F-B11A-74BDCDC790EB}"/>
                  </a:ext>
                </a:extLst>
              </p:cNvPr>
              <p:cNvSpPr/>
              <p:nvPr/>
            </p:nvSpPr>
            <p:spPr>
              <a:xfrm>
                <a:off x="4160520" y="2884086"/>
                <a:ext cx="3497580" cy="1840314"/>
              </a:xfrm>
              <a:prstGeom prst="roundRect">
                <a:avLst>
                  <a:gd name="adj" fmla="val 4061"/>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63" name="Picture 16" descr="https://gss2.bdstatic.com/-fo3dSag_xI4khGkpoWK1HF6hhy/baike/w%3D268%3Bg%3D0/sign=b28ca77a97dda144da096bb48a8cb79f/a50f4bfbfbedab64bd144ea9f736afc379311e70.jpg">
                <a:extLst>
                  <a:ext uri="{FF2B5EF4-FFF2-40B4-BE49-F238E27FC236}">
                    <a16:creationId xmlns:a16="http://schemas.microsoft.com/office/drawing/2014/main" xmlns="" id="{E51A3E38-A0B4-4F54-89B6-6E5E53B365BC}"/>
                  </a:ext>
                </a:extLst>
              </p:cNvPr>
              <p:cNvPicPr>
                <a:picLocks noChangeAspect="1" noChangeArrowheads="1"/>
              </p:cNvPicPr>
              <p:nvPr/>
            </p:nvPicPr>
            <p:blipFill>
              <a:blip r:embed="rId6" cstate="print"/>
              <a:srcRect/>
              <a:stretch>
                <a:fillRect/>
              </a:stretch>
            </p:blipFill>
            <p:spPr bwMode="auto">
              <a:xfrm>
                <a:off x="6528060" y="2959394"/>
                <a:ext cx="1025689" cy="911339"/>
              </a:xfrm>
              <a:prstGeom prst="rect">
                <a:avLst/>
              </a:prstGeom>
              <a:noFill/>
            </p:spPr>
          </p:pic>
        </p:grpSp>
        <p:grpSp>
          <p:nvGrpSpPr>
            <p:cNvPr id="4" name="组合 3">
              <a:extLst>
                <a:ext uri="{FF2B5EF4-FFF2-40B4-BE49-F238E27FC236}">
                  <a16:creationId xmlns:a16="http://schemas.microsoft.com/office/drawing/2014/main" xmlns="" id="{90B66858-E9F2-4B65-AFBB-6FEAA490285F}"/>
                </a:ext>
              </a:extLst>
            </p:cNvPr>
            <p:cNvGrpSpPr/>
            <p:nvPr/>
          </p:nvGrpSpPr>
          <p:grpSpPr>
            <a:xfrm>
              <a:off x="1034804" y="2821168"/>
              <a:ext cx="1646842" cy="1668372"/>
              <a:chOff x="574881" y="2884086"/>
              <a:chExt cx="1646842" cy="1853746"/>
            </a:xfrm>
          </p:grpSpPr>
          <p:sp>
            <p:nvSpPr>
              <p:cNvPr id="67" name="圆角矩形 35">
                <a:extLst>
                  <a:ext uri="{FF2B5EF4-FFF2-40B4-BE49-F238E27FC236}">
                    <a16:creationId xmlns:a16="http://schemas.microsoft.com/office/drawing/2014/main" xmlns="" id="{E411A6E9-F801-4871-947C-DA97F42B1F00}"/>
                  </a:ext>
                </a:extLst>
              </p:cNvPr>
              <p:cNvSpPr/>
              <p:nvPr/>
            </p:nvSpPr>
            <p:spPr>
              <a:xfrm>
                <a:off x="574881" y="2884086"/>
                <a:ext cx="1646842" cy="1840314"/>
              </a:xfrm>
              <a:prstGeom prst="roundRect">
                <a:avLst>
                  <a:gd name="adj" fmla="val 4061"/>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nvGrpSpPr>
              <p:cNvPr id="68" name="组合 67">
                <a:extLst>
                  <a:ext uri="{FF2B5EF4-FFF2-40B4-BE49-F238E27FC236}">
                    <a16:creationId xmlns:a16="http://schemas.microsoft.com/office/drawing/2014/main" xmlns="" id="{F5FAB00D-DDD4-4391-AA38-278CD5F75275}"/>
                  </a:ext>
                </a:extLst>
              </p:cNvPr>
              <p:cNvGrpSpPr/>
              <p:nvPr/>
            </p:nvGrpSpPr>
            <p:grpSpPr>
              <a:xfrm>
                <a:off x="618538" y="2959394"/>
                <a:ext cx="1559526" cy="916807"/>
                <a:chOff x="6175435" y="809105"/>
                <a:chExt cx="2433937" cy="1476000"/>
              </a:xfrm>
            </p:grpSpPr>
            <p:pic>
              <p:nvPicPr>
                <p:cNvPr id="70" name="Picture 10">
                  <a:extLst>
                    <a:ext uri="{FF2B5EF4-FFF2-40B4-BE49-F238E27FC236}">
                      <a16:creationId xmlns:a16="http://schemas.microsoft.com/office/drawing/2014/main" xmlns="" id="{CF69FD5F-ED34-48B2-A8E5-D4D95204A46D}"/>
                    </a:ext>
                  </a:extLst>
                </p:cNvPr>
                <p:cNvPicPr>
                  <a:picLocks noChangeAspect="1" noChangeArrowheads="1"/>
                </p:cNvPicPr>
                <p:nvPr/>
              </p:nvPicPr>
              <p:blipFill>
                <a:blip r:embed="rId7" cstate="print"/>
                <a:srcRect/>
                <a:stretch>
                  <a:fillRect/>
                </a:stretch>
              </p:blipFill>
              <p:spPr bwMode="auto">
                <a:xfrm>
                  <a:off x="6175435" y="809105"/>
                  <a:ext cx="1256978" cy="1476000"/>
                </a:xfrm>
                <a:prstGeom prst="rect">
                  <a:avLst/>
                </a:prstGeom>
                <a:noFill/>
                <a:ln w="9525">
                  <a:solidFill>
                    <a:schemeClr val="tx1">
                      <a:lumMod val="95000"/>
                      <a:lumOff val="5000"/>
                    </a:schemeClr>
                  </a:solidFill>
                  <a:miter lim="800000"/>
                  <a:headEnd/>
                  <a:tailEnd/>
                </a:ln>
                <a:effectLst/>
              </p:spPr>
            </p:pic>
            <p:pic>
              <p:nvPicPr>
                <p:cNvPr id="71" name="Picture 11">
                  <a:extLst>
                    <a:ext uri="{FF2B5EF4-FFF2-40B4-BE49-F238E27FC236}">
                      <a16:creationId xmlns:a16="http://schemas.microsoft.com/office/drawing/2014/main" xmlns="" id="{BAFD2070-C394-46B6-A13B-46C67E847BA2}"/>
                    </a:ext>
                  </a:extLst>
                </p:cNvPr>
                <p:cNvPicPr>
                  <a:picLocks noChangeAspect="1" noChangeArrowheads="1"/>
                </p:cNvPicPr>
                <p:nvPr/>
              </p:nvPicPr>
              <p:blipFill>
                <a:blip r:embed="rId8" cstate="print"/>
                <a:srcRect/>
                <a:stretch>
                  <a:fillRect/>
                </a:stretch>
              </p:blipFill>
              <p:spPr bwMode="auto">
                <a:xfrm>
                  <a:off x="7451737" y="809105"/>
                  <a:ext cx="1157635" cy="1476000"/>
                </a:xfrm>
                <a:prstGeom prst="rect">
                  <a:avLst/>
                </a:prstGeom>
                <a:noFill/>
                <a:ln w="9525">
                  <a:solidFill>
                    <a:schemeClr val="tx1">
                      <a:lumMod val="95000"/>
                      <a:lumOff val="5000"/>
                    </a:schemeClr>
                  </a:solidFill>
                  <a:miter lim="800000"/>
                  <a:headEnd/>
                  <a:tailEnd/>
                </a:ln>
                <a:effectLst/>
              </p:spPr>
            </p:pic>
          </p:grpSp>
          <p:sp>
            <p:nvSpPr>
              <p:cNvPr id="69" name="矩形 68">
                <a:extLst>
                  <a:ext uri="{FF2B5EF4-FFF2-40B4-BE49-F238E27FC236}">
                    <a16:creationId xmlns:a16="http://schemas.microsoft.com/office/drawing/2014/main" xmlns="" id="{7C3C7F57-B7C4-46AD-9D0E-E4A467C62A91}"/>
                  </a:ext>
                </a:extLst>
              </p:cNvPr>
              <p:cNvSpPr/>
              <p:nvPr/>
            </p:nvSpPr>
            <p:spPr>
              <a:xfrm>
                <a:off x="609591" y="3857249"/>
                <a:ext cx="1542653" cy="880583"/>
              </a:xfrm>
              <a:prstGeom prst="rect">
                <a:avLst/>
              </a:prstGeom>
            </p:spPr>
            <p:txBody>
              <a:bodyPr wrap="square">
                <a:spAutoFit/>
              </a:bodyPr>
              <a:lstStyle/>
              <a:p>
                <a:pPr algn="ctr">
                  <a:lnSpc>
                    <a:spcPct val="125000"/>
                  </a:lnSpc>
                  <a:spcBef>
                    <a:spcPts val="1200"/>
                  </a:spcBef>
                </a:pPr>
                <a:r>
                  <a:rPr kumimoji="1" lang="zh-CN" altLang="en-US" sz="1400" b="1" dirty="0">
                    <a:solidFill>
                      <a:srgbClr val="0000FF"/>
                    </a:solidFill>
                    <a:latin typeface="微软雅黑" pitchFamily="34" charset="-122"/>
                    <a:ea typeface="微软雅黑" pitchFamily="34" charset="-122"/>
                  </a:rPr>
                  <a:t>真空三极管</a:t>
                </a:r>
                <a:endParaRPr kumimoji="1" lang="en-US" altLang="zh-CN" sz="1400" b="1" dirty="0">
                  <a:solidFill>
                    <a:srgbClr val="0000FF"/>
                  </a:solidFill>
                  <a:latin typeface="微软雅黑" pitchFamily="34" charset="-122"/>
                  <a:ea typeface="微软雅黑" pitchFamily="34" charset="-122"/>
                </a:endParaRPr>
              </a:p>
              <a:p>
                <a:pPr algn="ctr"/>
                <a:r>
                  <a:rPr kumimoji="1" lang="en-US" altLang="zh-CN" sz="1400" dirty="0">
                    <a:solidFill>
                      <a:srgbClr val="000000"/>
                    </a:solidFill>
                    <a:latin typeface="微软雅黑" pitchFamily="34" charset="-122"/>
                    <a:ea typeface="微软雅黑" pitchFamily="34" charset="-122"/>
                  </a:rPr>
                  <a:t>1906</a:t>
                </a:r>
                <a:r>
                  <a:rPr kumimoji="1" lang="zh-CN" altLang="en-US" sz="1400" dirty="0">
                    <a:solidFill>
                      <a:srgbClr val="000000"/>
                    </a:solidFill>
                    <a:latin typeface="微软雅黑" pitchFamily="34" charset="-122"/>
                    <a:ea typeface="微软雅黑" pitchFamily="34" charset="-122"/>
                  </a:rPr>
                  <a:t>年，美国</a:t>
                </a:r>
                <a:r>
                  <a:rPr kumimoji="1" lang="zh-CN" altLang="en-US" sz="1400" b="1" dirty="0">
                    <a:solidFill>
                      <a:srgbClr val="CC00CC"/>
                    </a:solidFill>
                    <a:latin typeface="微软雅黑" pitchFamily="34" charset="-122"/>
                    <a:ea typeface="微软雅黑" pitchFamily="34" charset="-122"/>
                  </a:rPr>
                  <a:t>李</a:t>
                </a:r>
                <a:r>
                  <a:rPr kumimoji="1" lang="en-US" altLang="zh-CN" sz="1400" b="1" dirty="0">
                    <a:solidFill>
                      <a:srgbClr val="CC00CC"/>
                    </a:solidFill>
                    <a:latin typeface="微软雅黑" pitchFamily="34" charset="-122"/>
                    <a:ea typeface="微软雅黑" pitchFamily="34" charset="-122"/>
                  </a:rPr>
                  <a:t>.</a:t>
                </a:r>
                <a:r>
                  <a:rPr kumimoji="1" lang="zh-CN" altLang="en-US" sz="1400" b="1" dirty="0">
                    <a:solidFill>
                      <a:srgbClr val="CC00CC"/>
                    </a:solidFill>
                    <a:latin typeface="微软雅黑" pitchFamily="34" charset="-122"/>
                    <a:ea typeface="微软雅黑" pitchFamily="34" charset="-122"/>
                  </a:rPr>
                  <a:t>德福雷斯特</a:t>
                </a:r>
                <a:r>
                  <a:rPr kumimoji="1" lang="zh-CN" altLang="en-US" sz="1400" dirty="0">
                    <a:solidFill>
                      <a:srgbClr val="000000"/>
                    </a:solidFill>
                    <a:latin typeface="微软雅黑" pitchFamily="34" charset="-122"/>
                    <a:ea typeface="微软雅黑" pitchFamily="34" charset="-122"/>
                  </a:rPr>
                  <a:t>发明</a:t>
                </a:r>
                <a:endParaRPr kumimoji="1" lang="en-US" altLang="zh-CN" sz="1400" dirty="0">
                  <a:solidFill>
                    <a:srgbClr val="000000"/>
                  </a:solidFill>
                  <a:latin typeface="微软雅黑" pitchFamily="34" charset="-122"/>
                  <a:ea typeface="微软雅黑" pitchFamily="34" charset="-122"/>
                </a:endParaRPr>
              </a:p>
            </p:txBody>
          </p:sp>
        </p:grpSp>
        <p:grpSp>
          <p:nvGrpSpPr>
            <p:cNvPr id="3" name="组合 2">
              <a:extLst>
                <a:ext uri="{FF2B5EF4-FFF2-40B4-BE49-F238E27FC236}">
                  <a16:creationId xmlns:a16="http://schemas.microsoft.com/office/drawing/2014/main" xmlns="" id="{E20F1B4B-5614-4320-955F-DF2EDFEF6172}"/>
                </a:ext>
              </a:extLst>
            </p:cNvPr>
            <p:cNvGrpSpPr/>
            <p:nvPr/>
          </p:nvGrpSpPr>
          <p:grpSpPr>
            <a:xfrm>
              <a:off x="2810633" y="2821168"/>
              <a:ext cx="1728618" cy="1656283"/>
              <a:chOff x="2350710" y="2884086"/>
              <a:chExt cx="1728618" cy="1840314"/>
            </a:xfrm>
          </p:grpSpPr>
          <p:grpSp>
            <p:nvGrpSpPr>
              <p:cNvPr id="73" name="组合 72">
                <a:extLst>
                  <a:ext uri="{FF2B5EF4-FFF2-40B4-BE49-F238E27FC236}">
                    <a16:creationId xmlns:a16="http://schemas.microsoft.com/office/drawing/2014/main" xmlns="" id="{26897B07-D20A-4FA4-AEC4-A85F40A32913}"/>
                  </a:ext>
                </a:extLst>
              </p:cNvPr>
              <p:cNvGrpSpPr/>
              <p:nvPr/>
            </p:nvGrpSpPr>
            <p:grpSpPr>
              <a:xfrm>
                <a:off x="2396443" y="2959394"/>
                <a:ext cx="1572333" cy="916807"/>
                <a:chOff x="6182098" y="2372265"/>
                <a:chExt cx="2436122" cy="1476000"/>
              </a:xfrm>
            </p:grpSpPr>
            <p:pic>
              <p:nvPicPr>
                <p:cNvPr id="76" name="Picture 9">
                  <a:extLst>
                    <a:ext uri="{FF2B5EF4-FFF2-40B4-BE49-F238E27FC236}">
                      <a16:creationId xmlns:a16="http://schemas.microsoft.com/office/drawing/2014/main" xmlns="" id="{F7263402-041B-4BD0-AF47-BF23276E456E}"/>
                    </a:ext>
                  </a:extLst>
                </p:cNvPr>
                <p:cNvPicPr>
                  <a:picLocks noChangeAspect="1" noChangeArrowheads="1"/>
                </p:cNvPicPr>
                <p:nvPr/>
              </p:nvPicPr>
              <p:blipFill>
                <a:blip r:embed="rId9" cstate="print"/>
                <a:srcRect/>
                <a:stretch>
                  <a:fillRect/>
                </a:stretch>
              </p:blipFill>
              <p:spPr bwMode="auto">
                <a:xfrm>
                  <a:off x="6182098" y="2372265"/>
                  <a:ext cx="1254065" cy="1476000"/>
                </a:xfrm>
                <a:prstGeom prst="rect">
                  <a:avLst/>
                </a:prstGeom>
                <a:noFill/>
                <a:ln w="9525">
                  <a:solidFill>
                    <a:schemeClr val="tx1"/>
                  </a:solidFill>
                  <a:miter lim="800000"/>
                  <a:headEnd/>
                  <a:tailEnd/>
                </a:ln>
                <a:effectLst/>
              </p:spPr>
            </p:pic>
            <p:pic>
              <p:nvPicPr>
                <p:cNvPr id="77" name="Picture 12">
                  <a:extLst>
                    <a:ext uri="{FF2B5EF4-FFF2-40B4-BE49-F238E27FC236}">
                      <a16:creationId xmlns:a16="http://schemas.microsoft.com/office/drawing/2014/main" xmlns="" id="{4F62BA5F-DAEB-454E-83E7-B14B8A4CDFEB}"/>
                    </a:ext>
                  </a:extLst>
                </p:cNvPr>
                <p:cNvPicPr>
                  <a:picLocks noChangeAspect="1" noChangeArrowheads="1"/>
                </p:cNvPicPr>
                <p:nvPr/>
              </p:nvPicPr>
              <p:blipFill>
                <a:blip r:embed="rId10" cstate="print"/>
                <a:srcRect/>
                <a:stretch>
                  <a:fillRect/>
                </a:stretch>
              </p:blipFill>
              <p:spPr bwMode="auto">
                <a:xfrm>
                  <a:off x="7475220" y="2372265"/>
                  <a:ext cx="1143000" cy="1476000"/>
                </a:xfrm>
                <a:prstGeom prst="rect">
                  <a:avLst/>
                </a:prstGeom>
                <a:noFill/>
                <a:ln w="9525">
                  <a:solidFill>
                    <a:schemeClr val="tx1"/>
                  </a:solidFill>
                  <a:miter lim="800000"/>
                  <a:headEnd/>
                  <a:tailEnd/>
                </a:ln>
                <a:effectLst/>
              </p:spPr>
            </p:pic>
          </p:grpSp>
          <p:sp>
            <p:nvSpPr>
              <p:cNvPr id="74" name="圆角矩形 38">
                <a:extLst>
                  <a:ext uri="{FF2B5EF4-FFF2-40B4-BE49-F238E27FC236}">
                    <a16:creationId xmlns:a16="http://schemas.microsoft.com/office/drawing/2014/main" xmlns="" id="{FA28A95C-9D34-443A-910E-D02E85E84CA6}"/>
                  </a:ext>
                </a:extLst>
              </p:cNvPr>
              <p:cNvSpPr/>
              <p:nvPr/>
            </p:nvSpPr>
            <p:spPr>
              <a:xfrm>
                <a:off x="2350710" y="2884086"/>
                <a:ext cx="1662330" cy="1840314"/>
              </a:xfrm>
              <a:prstGeom prst="roundRect">
                <a:avLst>
                  <a:gd name="adj" fmla="val 4061"/>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75" name="矩形 74">
                <a:extLst>
                  <a:ext uri="{FF2B5EF4-FFF2-40B4-BE49-F238E27FC236}">
                    <a16:creationId xmlns:a16="http://schemas.microsoft.com/office/drawing/2014/main" xmlns="" id="{FD4D2916-9F5E-484F-8D1A-EC5B92C26D26}"/>
                  </a:ext>
                </a:extLst>
              </p:cNvPr>
              <p:cNvSpPr/>
              <p:nvPr/>
            </p:nvSpPr>
            <p:spPr>
              <a:xfrm>
                <a:off x="2380918" y="3857249"/>
                <a:ext cx="1698410" cy="820738"/>
              </a:xfrm>
              <a:prstGeom prst="rect">
                <a:avLst/>
              </a:prstGeom>
            </p:spPr>
            <p:txBody>
              <a:bodyPr wrap="square">
                <a:spAutoFit/>
              </a:bodyPr>
              <a:lstStyle/>
              <a:p>
                <a:pPr indent="-982663" algn="ctr"/>
                <a:r>
                  <a:rPr kumimoji="1" lang="zh-CN" altLang="en-US" sz="1400" b="1" dirty="0">
                    <a:solidFill>
                      <a:srgbClr val="0000FF"/>
                    </a:solidFill>
                    <a:latin typeface="微软雅黑" pitchFamily="34" charset="-122"/>
                    <a:ea typeface="微软雅黑" pitchFamily="34" charset="-122"/>
                  </a:rPr>
                  <a:t>晶体管</a:t>
                </a:r>
                <a:endParaRPr kumimoji="1" lang="en-US" altLang="zh-CN" sz="1400" b="1" dirty="0">
                  <a:solidFill>
                    <a:srgbClr val="0000FF"/>
                  </a:solidFill>
                  <a:latin typeface="微软雅黑" pitchFamily="34" charset="-122"/>
                  <a:ea typeface="微软雅黑" pitchFamily="34" charset="-122"/>
                </a:endParaRPr>
              </a:p>
              <a:p>
                <a:pPr algn="ctr"/>
                <a:r>
                  <a:rPr kumimoji="1" lang="en-US" altLang="zh-CN" sz="1400" dirty="0">
                    <a:solidFill>
                      <a:srgbClr val="000000"/>
                    </a:solidFill>
                    <a:latin typeface="微软雅黑" pitchFamily="34" charset="-122"/>
                    <a:ea typeface="微软雅黑" pitchFamily="34" charset="-122"/>
                  </a:rPr>
                  <a:t>1948</a:t>
                </a:r>
                <a:r>
                  <a:rPr kumimoji="1" lang="zh-CN" altLang="en-US" sz="1400" dirty="0">
                    <a:solidFill>
                      <a:srgbClr val="000000"/>
                    </a:solidFill>
                    <a:latin typeface="微软雅黑" pitchFamily="34" charset="-122"/>
                    <a:ea typeface="微软雅黑" pitchFamily="34" charset="-122"/>
                  </a:rPr>
                  <a:t>年</a:t>
                </a:r>
                <a:r>
                  <a:rPr kumimoji="1" lang="en-US" altLang="zh-CN" sz="1400" dirty="0">
                    <a:solidFill>
                      <a:srgbClr val="000000"/>
                    </a:solidFill>
                    <a:latin typeface="微软雅黑" pitchFamily="34" charset="-122"/>
                    <a:ea typeface="微软雅黑" pitchFamily="34" charset="-122"/>
                  </a:rPr>
                  <a:t>,</a:t>
                </a:r>
                <a:r>
                  <a:rPr kumimoji="1" lang="zh-CN" altLang="en-US" sz="1400" dirty="0">
                    <a:solidFill>
                      <a:srgbClr val="000000"/>
                    </a:solidFill>
                    <a:latin typeface="微软雅黑" pitchFamily="34" charset="-122"/>
                    <a:ea typeface="微软雅黑" pitchFamily="34" charset="-122"/>
                  </a:rPr>
                  <a:t>晶体管之父</a:t>
                </a:r>
                <a:r>
                  <a:rPr kumimoji="1" lang="zh-CN" altLang="en-US" sz="1400" b="1" dirty="0">
                    <a:solidFill>
                      <a:srgbClr val="CC00CC"/>
                    </a:solidFill>
                    <a:latin typeface="微软雅黑" pitchFamily="34" charset="-122"/>
                    <a:ea typeface="微软雅黑" pitchFamily="34" charset="-122"/>
                  </a:rPr>
                  <a:t>威廉</a:t>
                </a:r>
                <a:r>
                  <a:rPr kumimoji="1" lang="en-US" altLang="zh-CN" sz="1400" b="1" dirty="0">
                    <a:solidFill>
                      <a:srgbClr val="CC00CC"/>
                    </a:solidFill>
                    <a:latin typeface="微软雅黑" pitchFamily="34" charset="-122"/>
                    <a:ea typeface="微软雅黑" pitchFamily="34" charset="-122"/>
                  </a:rPr>
                  <a:t>•</a:t>
                </a:r>
                <a:r>
                  <a:rPr kumimoji="1" lang="zh-CN" altLang="en-US" sz="1400" b="1" dirty="0">
                    <a:solidFill>
                      <a:srgbClr val="CC00CC"/>
                    </a:solidFill>
                    <a:latin typeface="微软雅黑" pitchFamily="34" charset="-122"/>
                    <a:ea typeface="微软雅黑" pitchFamily="34" charset="-122"/>
                  </a:rPr>
                  <a:t>肖克利</a:t>
                </a:r>
                <a:r>
                  <a:rPr kumimoji="1" lang="zh-CN" altLang="en-US" sz="1400" dirty="0">
                    <a:solidFill>
                      <a:srgbClr val="000000"/>
                    </a:solidFill>
                    <a:latin typeface="微软雅黑" pitchFamily="34" charset="-122"/>
                    <a:ea typeface="微软雅黑" pitchFamily="34" charset="-122"/>
                  </a:rPr>
                  <a:t>发明。</a:t>
                </a:r>
                <a:endParaRPr kumimoji="1" lang="en-US" altLang="zh-CN" sz="1400" dirty="0">
                  <a:solidFill>
                    <a:srgbClr val="000000"/>
                  </a:solidFill>
                  <a:latin typeface="微软雅黑" pitchFamily="34" charset="-122"/>
                  <a:ea typeface="微软雅黑" pitchFamily="34" charset="-122"/>
                </a:endParaRPr>
              </a:p>
            </p:txBody>
          </p:sp>
        </p:grpSp>
        <p:sp>
          <p:nvSpPr>
            <p:cNvPr id="29" name="矩形 28"/>
            <p:cNvSpPr/>
            <p:nvPr/>
          </p:nvSpPr>
          <p:spPr>
            <a:xfrm>
              <a:off x="2873693" y="4538389"/>
              <a:ext cx="2954655" cy="369332"/>
            </a:xfrm>
            <a:prstGeom prst="rect">
              <a:avLst/>
            </a:prstGeom>
          </p:spPr>
          <p:txBody>
            <a:bodyPr wrap="none">
              <a:spAutoFit/>
            </a:bodyPr>
            <a:lstStyle/>
            <a:p>
              <a:r>
                <a:rPr lang="zh-CN" altLang="en-US" b="1" dirty="0">
                  <a:solidFill>
                    <a:srgbClr val="CC00CC"/>
                  </a:solidFill>
                  <a:latin typeface="微软雅黑" pitchFamily="34" charset="-122"/>
                  <a:ea typeface="微软雅黑" pitchFamily="34" charset="-122"/>
                </a:rPr>
                <a:t>真空管</a:t>
              </a:r>
              <a:r>
                <a:rPr lang="zh-CN" altLang="en-US" b="1" dirty="0">
                  <a:solidFill>
                    <a:srgbClr val="CC00CC"/>
                  </a:solidFill>
                  <a:latin typeface="Times New Roman"/>
                  <a:ea typeface="微软雅黑" pitchFamily="34" charset="-122"/>
                  <a:cs typeface="Times New Roman"/>
                </a:rPr>
                <a:t>→</a:t>
              </a:r>
              <a:r>
                <a:rPr lang="zh-CN" altLang="en-US" b="1" dirty="0">
                  <a:solidFill>
                    <a:srgbClr val="CC00CC"/>
                  </a:solidFill>
                  <a:latin typeface="微软雅黑" pitchFamily="34" charset="-122"/>
                  <a:ea typeface="微软雅黑" pitchFamily="34" charset="-122"/>
                </a:rPr>
                <a:t>晶体管</a:t>
              </a:r>
              <a:r>
                <a:rPr lang="zh-CN" altLang="en-US" b="1" dirty="0">
                  <a:solidFill>
                    <a:srgbClr val="CC00CC"/>
                  </a:solidFill>
                  <a:latin typeface="Times New Roman"/>
                  <a:ea typeface="微软雅黑" pitchFamily="34" charset="-122"/>
                  <a:cs typeface="Times New Roman"/>
                </a:rPr>
                <a:t>→</a:t>
              </a:r>
              <a:r>
                <a:rPr lang="zh-CN" altLang="en-US" b="1" dirty="0">
                  <a:solidFill>
                    <a:srgbClr val="CC00CC"/>
                  </a:solidFill>
                  <a:latin typeface="微软雅黑" pitchFamily="34" charset="-122"/>
                  <a:ea typeface="微软雅黑" pitchFamily="34" charset="-122"/>
                </a:rPr>
                <a:t>集成电路</a:t>
              </a:r>
              <a:endParaRPr lang="zh-CN" altLang="en-US" dirty="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1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6"/>
          <p:cNvSpPr>
            <a:spLocks noChangeArrowheads="1"/>
          </p:cNvSpPr>
          <p:nvPr/>
        </p:nvSpPr>
        <p:spPr bwMode="auto">
          <a:xfrm>
            <a:off x="355728" y="1120270"/>
            <a:ext cx="5892673" cy="369332"/>
          </a:xfrm>
          <a:prstGeom prst="rect">
            <a:avLst/>
          </a:prstGeom>
          <a:noFill/>
          <a:ln w="9525" algn="ctr">
            <a:noFill/>
            <a:miter lim="800000"/>
            <a:headEnd/>
            <a:tailEnd/>
          </a:ln>
        </p:spPr>
        <p:txBody>
          <a:bodyPr wrap="squar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）电子电路发展史：</a:t>
            </a:r>
            <a:r>
              <a:rPr lang="zh-CN" altLang="en-US" b="1" dirty="0">
                <a:solidFill>
                  <a:srgbClr val="CC00CC"/>
                </a:solidFill>
                <a:latin typeface="微软雅黑" pitchFamily="34" charset="-122"/>
                <a:ea typeface="微软雅黑" pitchFamily="34" charset="-122"/>
              </a:rPr>
              <a:t>集成电路</a:t>
            </a:r>
          </a:p>
        </p:txBody>
      </p:sp>
      <p:grpSp>
        <p:nvGrpSpPr>
          <p:cNvPr id="14" name="组合 13"/>
          <p:cNvGrpSpPr/>
          <p:nvPr/>
        </p:nvGrpSpPr>
        <p:grpSpPr>
          <a:xfrm>
            <a:off x="231982" y="692994"/>
            <a:ext cx="3936159" cy="418885"/>
            <a:chOff x="670560" y="892917"/>
            <a:chExt cx="3936159" cy="465428"/>
          </a:xfrm>
        </p:grpSpPr>
        <p:sp>
          <p:nvSpPr>
            <p:cNvPr id="15" name="矩形 14"/>
            <p:cNvSpPr/>
            <p:nvPr/>
          </p:nvSpPr>
          <p:spPr>
            <a:xfrm>
              <a:off x="1035233" y="913778"/>
              <a:ext cx="357148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、数字技术的发展及其应用</a:t>
              </a:r>
            </a:p>
          </p:txBody>
        </p:sp>
        <p:pic>
          <p:nvPicPr>
            <p:cNvPr id="16"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 name="组合 6">
            <a:extLst>
              <a:ext uri="{FF2B5EF4-FFF2-40B4-BE49-F238E27FC236}">
                <a16:creationId xmlns:a16="http://schemas.microsoft.com/office/drawing/2014/main" xmlns="" id="{428F9644-8A63-4BA4-9A9F-D3895A2E7749}"/>
              </a:ext>
            </a:extLst>
          </p:cNvPr>
          <p:cNvGrpSpPr/>
          <p:nvPr/>
        </p:nvGrpSpPr>
        <p:grpSpPr>
          <a:xfrm>
            <a:off x="403432" y="1452668"/>
            <a:ext cx="8566579" cy="3437052"/>
            <a:chOff x="403432" y="1452668"/>
            <a:chExt cx="8566579" cy="3437052"/>
          </a:xfrm>
        </p:grpSpPr>
        <p:sp>
          <p:nvSpPr>
            <p:cNvPr id="37" name="文本框 36">
              <a:extLst>
                <a:ext uri="{FF2B5EF4-FFF2-40B4-BE49-F238E27FC236}">
                  <a16:creationId xmlns:a16="http://schemas.microsoft.com/office/drawing/2014/main" xmlns="" id="{0BE9B4E0-DF8D-48DB-83E7-194B8B807D25}"/>
                </a:ext>
              </a:extLst>
            </p:cNvPr>
            <p:cNvSpPr txBox="1"/>
            <p:nvPr/>
          </p:nvSpPr>
          <p:spPr>
            <a:xfrm>
              <a:off x="403432" y="1452668"/>
              <a:ext cx="8566579" cy="2308324"/>
            </a:xfrm>
            <a:prstGeom prst="rect">
              <a:avLst/>
            </a:prstGeom>
            <a:noFill/>
          </p:spPr>
          <p:txBody>
            <a:bodyPr wrap="square">
              <a:spAutoFit/>
            </a:bodyPr>
            <a:lstStyle>
              <a:defPPr>
                <a:defRPr lang="zh-CN"/>
              </a:defPPr>
              <a:lvl1pPr>
                <a:lnSpc>
                  <a:spcPct val="150000"/>
                </a:lnSpc>
                <a:defRPr sz="1600">
                  <a:effectLst/>
                  <a:latin typeface="黑体" panose="02010609060101010101" pitchFamily="49" charset="-122"/>
                  <a:ea typeface="黑体" panose="02010609060101010101" pitchFamily="49" charset="-122"/>
                  <a:cs typeface="Times New Roman" panose="02020603050405020304" pitchFamily="18" charset="0"/>
                </a:defRPr>
              </a:lvl1pPr>
            </a:lstStyle>
            <a:p>
              <a:pPr indent="361950"/>
              <a:r>
                <a:rPr lang="zh-CN" altLang="zh-CN" dirty="0">
                  <a:latin typeface="Times New Roman" panose="02020603050405020304" pitchFamily="18" charset="0"/>
                </a:rPr>
                <a:t>集成电路将电子技术推向了发展高潮，目前，集成电路内部晶体管的</a:t>
              </a:r>
              <a:r>
                <a:rPr lang="zh-CN" altLang="zh-CN" b="1" dirty="0">
                  <a:solidFill>
                    <a:srgbClr val="0000FF"/>
                  </a:solidFill>
                  <a:latin typeface="Times New Roman" panose="02020603050405020304" pitchFamily="18" charset="0"/>
                </a:rPr>
                <a:t>尺寸越来越小、集成度越来越高、功能越来越强</a:t>
              </a:r>
              <a:r>
                <a:rPr lang="zh-CN" altLang="zh-CN" dirty="0">
                  <a:latin typeface="Times New Roman" panose="02020603050405020304" pitchFamily="18" charset="0"/>
                </a:rPr>
                <a:t>。特别是数字集成电路，在</a:t>
              </a:r>
              <a:r>
                <a:rPr lang="zh-CN" altLang="zh-CN" b="1" dirty="0">
                  <a:solidFill>
                    <a:srgbClr val="0000FF"/>
                  </a:solidFill>
                  <a:latin typeface="Times New Roman" panose="02020603050405020304" pitchFamily="18" charset="0"/>
                </a:rPr>
                <a:t>专用集成电路</a:t>
              </a:r>
              <a:r>
                <a:rPr lang="en-US" altLang="zh-CN" dirty="0">
                  <a:latin typeface="Times New Roman" panose="02020603050405020304" pitchFamily="18" charset="0"/>
                </a:rPr>
                <a:t>(ASIC</a:t>
              </a:r>
              <a:r>
                <a:rPr lang="zh-CN" altLang="zh-CN" dirty="0">
                  <a:latin typeface="Times New Roman" panose="02020603050405020304" pitchFamily="18" charset="0"/>
                </a:rPr>
                <a:t>，</a:t>
              </a:r>
              <a:r>
                <a:rPr lang="en-US" altLang="zh-CN" dirty="0">
                  <a:latin typeface="Times New Roman" panose="02020603050405020304" pitchFamily="18" charset="0"/>
                </a:rPr>
                <a:t>Application Specific Integrated Circuit )</a:t>
              </a:r>
              <a:r>
                <a:rPr lang="zh-CN" altLang="zh-CN" dirty="0">
                  <a:latin typeface="Times New Roman" panose="02020603050405020304" pitchFamily="18" charset="0"/>
                </a:rPr>
                <a:t>迅猛发展的同时，还出现了</a:t>
              </a:r>
              <a:r>
                <a:rPr lang="zh-CN" altLang="zh-CN" b="1" dirty="0">
                  <a:solidFill>
                    <a:srgbClr val="0000FF"/>
                  </a:solidFill>
                  <a:latin typeface="Times New Roman" panose="02020603050405020304" pitchFamily="18" charset="0"/>
                </a:rPr>
                <a:t>可编程逻辑器件</a:t>
              </a:r>
              <a:r>
                <a:rPr lang="en-US" altLang="zh-CN" dirty="0">
                  <a:latin typeface="Times New Roman" panose="02020603050405020304" pitchFamily="18" charset="0"/>
                </a:rPr>
                <a:t>(PLD)</a:t>
              </a:r>
              <a:r>
                <a:rPr lang="zh-CN" altLang="zh-CN" dirty="0">
                  <a:latin typeface="Times New Roman" panose="02020603050405020304" pitchFamily="18" charset="0"/>
                </a:rPr>
                <a:t>。可编程逻辑器件特别是</a:t>
              </a:r>
              <a:r>
                <a:rPr lang="zh-CN" altLang="zh-CN" b="1" dirty="0">
                  <a:solidFill>
                    <a:srgbClr val="0000FF"/>
                  </a:solidFill>
                  <a:latin typeface="Times New Roman" panose="02020603050405020304" pitchFamily="18" charset="0"/>
                </a:rPr>
                <a:t>现场可编程逻辑门阵列</a:t>
              </a:r>
              <a:r>
                <a:rPr lang="en-US" altLang="zh-CN" dirty="0">
                  <a:latin typeface="Times New Roman" panose="02020603050405020304" pitchFamily="18" charset="0"/>
                </a:rPr>
                <a:t>(FPGA, Field-Programmable Gate Array)</a:t>
              </a:r>
              <a:r>
                <a:rPr lang="zh-CN" altLang="zh-CN" dirty="0">
                  <a:latin typeface="Times New Roman" panose="02020603050405020304" pitchFamily="18" charset="0"/>
                </a:rPr>
                <a:t>技术的飞速发展，为数字电子技术开创了</a:t>
              </a:r>
              <a:r>
                <a:rPr lang="zh-CN" altLang="zh-CN" b="1" dirty="0">
                  <a:solidFill>
                    <a:srgbClr val="0000FF"/>
                  </a:solidFill>
                  <a:latin typeface="Times New Roman" panose="02020603050405020304" pitchFamily="18" charset="0"/>
                </a:rPr>
                <a:t>硬件与软件</a:t>
              </a:r>
              <a:r>
                <a:rPr lang="zh-CN" altLang="zh-CN" dirty="0">
                  <a:latin typeface="Times New Roman" panose="02020603050405020304" pitchFamily="18" charset="0"/>
                </a:rPr>
                <a:t>相结合的新局面，使数字集成电路的功能更加强大，使用起来更加灵活。</a:t>
              </a:r>
              <a:endParaRPr lang="zh-CN" altLang="en-US" dirty="0">
                <a:latin typeface="Times New Roman" panose="02020603050405020304" pitchFamily="18" charset="0"/>
              </a:endParaRPr>
            </a:p>
          </p:txBody>
        </p:sp>
        <p:pic>
          <p:nvPicPr>
            <p:cNvPr id="3" name="图片 2">
              <a:extLst>
                <a:ext uri="{FF2B5EF4-FFF2-40B4-BE49-F238E27FC236}">
                  <a16:creationId xmlns:a16="http://schemas.microsoft.com/office/drawing/2014/main" xmlns="" id="{786A2794-DEF4-4034-B140-4F84A886C7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7946" y="3467854"/>
              <a:ext cx="2380910" cy="1421866"/>
            </a:xfrm>
            <a:prstGeom prst="rect">
              <a:avLst/>
            </a:prstGeom>
            <a:ln>
              <a:noFill/>
            </a:ln>
            <a:effectLst>
              <a:softEdge rad="112500"/>
            </a:effectLst>
          </p:spPr>
        </p:pic>
        <p:pic>
          <p:nvPicPr>
            <p:cNvPr id="6" name="图片 5">
              <a:extLst>
                <a:ext uri="{FF2B5EF4-FFF2-40B4-BE49-F238E27FC236}">
                  <a16:creationId xmlns:a16="http://schemas.microsoft.com/office/drawing/2014/main" xmlns="" id="{C1039AB8-1067-4C39-94E6-1BAF0AE6A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5144" y="3467854"/>
              <a:ext cx="2517887" cy="1421866"/>
            </a:xfrm>
            <a:prstGeom prst="rect">
              <a:avLst/>
            </a:prstGeom>
            <a:ln>
              <a:noFill/>
            </a:ln>
            <a:effectLst>
              <a:softEdge rad="112500"/>
            </a:effectLst>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p:cNvSpPr>
            <a:spLocks noChangeArrowheads="1"/>
          </p:cNvSpPr>
          <p:nvPr/>
        </p:nvSpPr>
        <p:spPr bwMode="auto">
          <a:xfrm>
            <a:off x="363348" y="1147702"/>
            <a:ext cx="5892673" cy="369332"/>
          </a:xfrm>
          <a:prstGeom prst="rect">
            <a:avLst/>
          </a:prstGeom>
          <a:noFill/>
          <a:ln w="9525" algn="ctr">
            <a:noFill/>
            <a:miter lim="800000"/>
            <a:headEnd/>
            <a:tailEnd/>
          </a:ln>
        </p:spPr>
        <p:txBody>
          <a:bodyPr wrap="squar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）数字电子技术的应用</a:t>
            </a:r>
            <a:endParaRPr lang="zh-CN" altLang="en-US" b="1" dirty="0">
              <a:solidFill>
                <a:srgbClr val="CC00CC"/>
              </a:solidFill>
              <a:latin typeface="微软雅黑" pitchFamily="34" charset="-122"/>
              <a:ea typeface="微软雅黑" pitchFamily="34" charset="-122"/>
            </a:endParaRPr>
          </a:p>
        </p:txBody>
      </p:sp>
      <p:grpSp>
        <p:nvGrpSpPr>
          <p:cNvPr id="3" name="组合 2"/>
          <p:cNvGrpSpPr/>
          <p:nvPr/>
        </p:nvGrpSpPr>
        <p:grpSpPr>
          <a:xfrm>
            <a:off x="231982" y="692994"/>
            <a:ext cx="4263819" cy="418885"/>
            <a:chOff x="670560" y="892917"/>
            <a:chExt cx="4263819" cy="465428"/>
          </a:xfrm>
        </p:grpSpPr>
        <p:sp>
          <p:nvSpPr>
            <p:cNvPr id="4" name="矩形 3"/>
            <p:cNvSpPr/>
            <p:nvPr/>
          </p:nvSpPr>
          <p:spPr>
            <a:xfrm>
              <a:off x="1035233" y="913778"/>
              <a:ext cx="389914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、数字技术的发展及其应用</a:t>
              </a:r>
            </a:p>
          </p:txBody>
        </p:sp>
        <p:pic>
          <p:nvPicPr>
            <p:cNvPr id="5"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7" name="组合 26">
            <a:extLst>
              <a:ext uri="{FF2B5EF4-FFF2-40B4-BE49-F238E27FC236}">
                <a16:creationId xmlns:a16="http://schemas.microsoft.com/office/drawing/2014/main" xmlns="" id="{6F1285D6-092F-41DE-AEC7-9E38D93A3EB1}"/>
              </a:ext>
            </a:extLst>
          </p:cNvPr>
          <p:cNvGrpSpPr/>
          <p:nvPr/>
        </p:nvGrpSpPr>
        <p:grpSpPr>
          <a:xfrm>
            <a:off x="596655" y="1583959"/>
            <a:ext cx="8060863" cy="3294534"/>
            <a:chOff x="596655" y="1583959"/>
            <a:chExt cx="8060863" cy="3294534"/>
          </a:xfrm>
        </p:grpSpPr>
        <p:grpSp>
          <p:nvGrpSpPr>
            <p:cNvPr id="6" name="Group 32"/>
            <p:cNvGrpSpPr>
              <a:grpSpLocks/>
            </p:cNvGrpSpPr>
            <p:nvPr/>
          </p:nvGrpSpPr>
          <p:grpSpPr bwMode="auto">
            <a:xfrm>
              <a:off x="4800374" y="3339413"/>
              <a:ext cx="1800226" cy="1504513"/>
              <a:chOff x="503" y="1239"/>
              <a:chExt cx="1134" cy="1449"/>
            </a:xfrm>
          </p:grpSpPr>
          <p:pic>
            <p:nvPicPr>
              <p:cNvPr id="7" name="Picture 10"/>
              <p:cNvPicPr>
                <a:picLocks noChangeArrowheads="1"/>
              </p:cNvPicPr>
              <p:nvPr/>
            </p:nvPicPr>
            <p:blipFill>
              <a:blip r:embed="rId5" cstate="print"/>
              <a:srcRect/>
              <a:stretch>
                <a:fillRect/>
              </a:stretch>
            </p:blipFill>
            <p:spPr bwMode="auto">
              <a:xfrm rot="5400000">
                <a:off x="503" y="1239"/>
                <a:ext cx="1134" cy="1134"/>
              </a:xfrm>
              <a:prstGeom prst="rect">
                <a:avLst/>
              </a:prstGeom>
              <a:noFill/>
              <a:ln w="9525" algn="ctr">
                <a:noFill/>
                <a:miter lim="800000"/>
                <a:headEnd/>
                <a:tailEnd/>
              </a:ln>
            </p:spPr>
          </p:pic>
          <p:sp>
            <p:nvSpPr>
              <p:cNvPr id="8" name="Rectangle 11"/>
              <p:cNvSpPr>
                <a:spLocks noChangeArrowheads="1"/>
              </p:cNvSpPr>
              <p:nvPr/>
            </p:nvSpPr>
            <p:spPr bwMode="auto">
              <a:xfrm>
                <a:off x="659" y="2362"/>
                <a:ext cx="633" cy="326"/>
              </a:xfrm>
              <a:prstGeom prst="rect">
                <a:avLst/>
              </a:prstGeom>
              <a:noFill/>
              <a:ln w="9525" algn="ctr">
                <a:noFill/>
                <a:miter lim="800000"/>
                <a:headEnd/>
                <a:tailEnd/>
              </a:ln>
            </p:spPr>
            <p:txBody>
              <a:bodyPr wrap="none" lIns="91422" tIns="45711" rIns="91422" bIns="45711">
                <a:spAutoFit/>
              </a:bodyPr>
              <a:lstStyle/>
              <a:p>
                <a:r>
                  <a:rPr kumimoji="1" lang="zh-CN" altLang="en-US" sz="1600" b="1" dirty="0">
                    <a:solidFill>
                      <a:srgbClr val="000000"/>
                    </a:solidFill>
                    <a:latin typeface="微软雅黑" pitchFamily="34" charset="-122"/>
                    <a:ea typeface="微软雅黑" pitchFamily="34" charset="-122"/>
                  </a:rPr>
                  <a:t>航空航天</a:t>
                </a:r>
              </a:p>
            </p:txBody>
          </p:sp>
        </p:grpSp>
        <p:grpSp>
          <p:nvGrpSpPr>
            <p:cNvPr id="12" name="Group 34"/>
            <p:cNvGrpSpPr>
              <a:grpSpLocks/>
            </p:cNvGrpSpPr>
            <p:nvPr/>
          </p:nvGrpSpPr>
          <p:grpSpPr bwMode="auto">
            <a:xfrm>
              <a:off x="2644531" y="3339413"/>
              <a:ext cx="1800226" cy="1504513"/>
              <a:chOff x="3013" y="1239"/>
              <a:chExt cx="1134" cy="1449"/>
            </a:xfrm>
          </p:grpSpPr>
          <p:pic>
            <p:nvPicPr>
              <p:cNvPr id="13" name="Picture 16"/>
              <p:cNvPicPr>
                <a:picLocks noChangeArrowheads="1"/>
              </p:cNvPicPr>
              <p:nvPr/>
            </p:nvPicPr>
            <p:blipFill>
              <a:blip r:embed="rId6" cstate="print"/>
              <a:srcRect/>
              <a:stretch>
                <a:fillRect/>
              </a:stretch>
            </p:blipFill>
            <p:spPr bwMode="auto">
              <a:xfrm>
                <a:off x="3013" y="1239"/>
                <a:ext cx="1134" cy="1134"/>
              </a:xfrm>
              <a:prstGeom prst="rect">
                <a:avLst/>
              </a:prstGeom>
              <a:noFill/>
              <a:ln w="9525" algn="ctr">
                <a:noFill/>
                <a:miter lim="800000"/>
                <a:headEnd/>
                <a:tailEnd/>
              </a:ln>
            </p:spPr>
          </p:pic>
          <p:sp>
            <p:nvSpPr>
              <p:cNvPr id="14" name="Rectangle 17"/>
              <p:cNvSpPr>
                <a:spLocks noChangeArrowheads="1"/>
              </p:cNvSpPr>
              <p:nvPr/>
            </p:nvSpPr>
            <p:spPr bwMode="auto">
              <a:xfrm>
                <a:off x="3237" y="2362"/>
                <a:ext cx="633" cy="326"/>
              </a:xfrm>
              <a:prstGeom prst="rect">
                <a:avLst/>
              </a:prstGeom>
              <a:noFill/>
              <a:ln w="9525" algn="ctr">
                <a:noFill/>
                <a:miter lim="800000"/>
                <a:headEnd/>
                <a:tailEnd/>
              </a:ln>
            </p:spPr>
            <p:txBody>
              <a:bodyPr wrap="none" lIns="91422" tIns="45711" rIns="91422" bIns="45711">
                <a:spAutoFit/>
              </a:bodyPr>
              <a:lstStyle/>
              <a:p>
                <a:r>
                  <a:rPr kumimoji="1" lang="zh-CN" altLang="en-US" sz="1600" b="1">
                    <a:solidFill>
                      <a:srgbClr val="000000"/>
                    </a:solidFill>
                    <a:latin typeface="微软雅黑" pitchFamily="34" charset="-122"/>
                    <a:ea typeface="微软雅黑" pitchFamily="34" charset="-122"/>
                  </a:rPr>
                  <a:t>雷达技术</a:t>
                </a:r>
              </a:p>
            </p:txBody>
          </p:sp>
        </p:grpSp>
        <p:grpSp>
          <p:nvGrpSpPr>
            <p:cNvPr id="21" name="Group 37"/>
            <p:cNvGrpSpPr>
              <a:grpSpLocks/>
            </p:cNvGrpSpPr>
            <p:nvPr/>
          </p:nvGrpSpPr>
          <p:grpSpPr bwMode="auto">
            <a:xfrm>
              <a:off x="596655" y="3339413"/>
              <a:ext cx="1800226" cy="1530901"/>
              <a:chOff x="1758" y="2701"/>
              <a:chExt cx="1134" cy="1512"/>
            </a:xfrm>
          </p:grpSpPr>
          <p:graphicFrame>
            <p:nvGraphicFramePr>
              <p:cNvPr id="22" name="Object 27"/>
              <p:cNvGraphicFramePr>
                <a:graphicFrameLocks/>
              </p:cNvGraphicFramePr>
              <p:nvPr>
                <p:extLst>
                  <p:ext uri="{D42A27DB-BD31-4B8C-83A1-F6EECF244321}">
                    <p14:modId xmlns:p14="http://schemas.microsoft.com/office/powerpoint/2010/main" val="912905545"/>
                  </p:ext>
                </p:extLst>
              </p:nvPr>
            </p:nvGraphicFramePr>
            <p:xfrm>
              <a:off x="1758" y="2701"/>
              <a:ext cx="1134" cy="1134"/>
            </p:xfrm>
            <a:graphic>
              <a:graphicData uri="http://schemas.openxmlformats.org/presentationml/2006/ole">
                <mc:AlternateContent xmlns:mc="http://schemas.openxmlformats.org/markup-compatibility/2006">
                  <mc:Choice xmlns:v="urn:schemas-microsoft-com:vml" Requires="v">
                    <p:oleObj spid="_x0000_s20557" name="位图图像" r:id="rId7" imgW="3723810" imgH="2561905" progId="PBrush">
                      <p:embed/>
                    </p:oleObj>
                  </mc:Choice>
                  <mc:Fallback>
                    <p:oleObj name="位图图像" r:id="rId7" imgW="3723810" imgH="2561905" progId="PBrush">
                      <p:embed/>
                      <p:pic>
                        <p:nvPicPr>
                          <p:cNvPr id="0" name="Picture 3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8" y="2701"/>
                            <a:ext cx="1134" cy="1134"/>
                          </a:xfrm>
                          <a:prstGeom prst="rect">
                            <a:avLst/>
                          </a:prstGeom>
                          <a:noFill/>
                          <a:ln>
                            <a:noFill/>
                          </a:ln>
                          <a:effectLst/>
                        </p:spPr>
                      </p:pic>
                    </p:oleObj>
                  </mc:Fallback>
                </mc:AlternateContent>
              </a:graphicData>
            </a:graphic>
          </p:graphicFrame>
          <p:sp>
            <p:nvSpPr>
              <p:cNvPr id="23" name="Rectangle 29"/>
              <p:cNvSpPr>
                <a:spLocks noChangeArrowheads="1"/>
              </p:cNvSpPr>
              <p:nvPr/>
            </p:nvSpPr>
            <p:spPr bwMode="auto">
              <a:xfrm>
                <a:off x="1916" y="3879"/>
                <a:ext cx="633" cy="334"/>
              </a:xfrm>
              <a:prstGeom prst="rect">
                <a:avLst/>
              </a:prstGeom>
              <a:noFill/>
              <a:ln w="9525" algn="ctr">
                <a:noFill/>
                <a:miter lim="800000"/>
                <a:headEnd/>
                <a:tailEnd/>
              </a:ln>
            </p:spPr>
            <p:txBody>
              <a:bodyPr wrap="none" lIns="91422" tIns="45711" rIns="91422" bIns="45711">
                <a:spAutoFit/>
              </a:bodyPr>
              <a:lstStyle/>
              <a:p>
                <a:r>
                  <a:rPr kumimoji="1" lang="zh-CN" altLang="en-US" sz="1600" b="1">
                    <a:solidFill>
                      <a:srgbClr val="000000"/>
                    </a:solidFill>
                    <a:latin typeface="微软雅黑" pitchFamily="34" charset="-122"/>
                    <a:ea typeface="微软雅黑" pitchFamily="34" charset="-122"/>
                  </a:rPr>
                  <a:t>智能仪器</a:t>
                </a:r>
              </a:p>
            </p:txBody>
          </p:sp>
        </p:grpSp>
        <p:grpSp>
          <p:nvGrpSpPr>
            <p:cNvPr id="24" name="Group 38"/>
            <p:cNvGrpSpPr>
              <a:grpSpLocks/>
            </p:cNvGrpSpPr>
            <p:nvPr/>
          </p:nvGrpSpPr>
          <p:grpSpPr bwMode="auto">
            <a:xfrm>
              <a:off x="621234" y="1583959"/>
              <a:ext cx="1800226" cy="1510651"/>
              <a:chOff x="3013" y="2721"/>
              <a:chExt cx="1134" cy="1492"/>
            </a:xfrm>
          </p:grpSpPr>
          <p:graphicFrame>
            <p:nvGraphicFramePr>
              <p:cNvPr id="25" name="Object 26"/>
              <p:cNvGraphicFramePr>
                <a:graphicFrameLocks/>
              </p:cNvGraphicFramePr>
              <p:nvPr>
                <p:extLst>
                  <p:ext uri="{D42A27DB-BD31-4B8C-83A1-F6EECF244321}">
                    <p14:modId xmlns:p14="http://schemas.microsoft.com/office/powerpoint/2010/main" val="128972058"/>
                  </p:ext>
                </p:extLst>
              </p:nvPr>
            </p:nvGraphicFramePr>
            <p:xfrm>
              <a:off x="3013" y="2721"/>
              <a:ext cx="1134" cy="1134"/>
            </p:xfrm>
            <a:graphic>
              <a:graphicData uri="http://schemas.openxmlformats.org/presentationml/2006/ole">
                <mc:AlternateContent xmlns:mc="http://schemas.openxmlformats.org/markup-compatibility/2006">
                  <mc:Choice xmlns:v="urn:schemas-microsoft-com:vml" Requires="v">
                    <p:oleObj spid="_x0000_s20558" name="位图图像" r:id="rId9" imgW="4105848" imgH="2771429" progId="PBrush">
                      <p:embed/>
                    </p:oleObj>
                  </mc:Choice>
                  <mc:Fallback>
                    <p:oleObj name="位图图像" r:id="rId9" imgW="4105848" imgH="2771429" progId="PBrush">
                      <p:embed/>
                      <p:pic>
                        <p:nvPicPr>
                          <p:cNvPr id="0" name="Picture 3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3" y="2721"/>
                            <a:ext cx="1134" cy="1134"/>
                          </a:xfrm>
                          <a:prstGeom prst="rect">
                            <a:avLst/>
                          </a:prstGeom>
                          <a:noFill/>
                          <a:ln>
                            <a:noFill/>
                          </a:ln>
                          <a:effectLst/>
                        </p:spPr>
                      </p:pic>
                    </p:oleObj>
                  </mc:Fallback>
                </mc:AlternateContent>
              </a:graphicData>
            </a:graphic>
          </p:graphicFrame>
          <p:sp>
            <p:nvSpPr>
              <p:cNvPr id="26" name="Rectangle 30"/>
              <p:cNvSpPr>
                <a:spLocks noChangeArrowheads="1"/>
              </p:cNvSpPr>
              <p:nvPr/>
            </p:nvSpPr>
            <p:spPr bwMode="auto">
              <a:xfrm>
                <a:off x="3124" y="3879"/>
                <a:ext cx="763" cy="334"/>
              </a:xfrm>
              <a:prstGeom prst="rect">
                <a:avLst/>
              </a:prstGeom>
              <a:noFill/>
              <a:ln w="9525" algn="ctr">
                <a:noFill/>
                <a:miter lim="800000"/>
                <a:headEnd/>
                <a:tailEnd/>
              </a:ln>
            </p:spPr>
            <p:txBody>
              <a:bodyPr wrap="none" lIns="91422" tIns="45711" rIns="91422" bIns="45711">
                <a:spAutoFit/>
              </a:bodyPr>
              <a:lstStyle/>
              <a:p>
                <a:r>
                  <a:rPr kumimoji="1" lang="zh-CN" altLang="en-US" sz="1600" b="1" dirty="0">
                    <a:solidFill>
                      <a:srgbClr val="000000"/>
                    </a:solidFill>
                    <a:latin typeface="微软雅黑" pitchFamily="34" charset="-122"/>
                    <a:ea typeface="微软雅黑" pitchFamily="34" charset="-122"/>
                  </a:rPr>
                  <a:t>计算机技术</a:t>
                </a:r>
              </a:p>
            </p:txBody>
          </p:sp>
        </p:grpSp>
        <p:grpSp>
          <p:nvGrpSpPr>
            <p:cNvPr id="31" name="组合 30"/>
            <p:cNvGrpSpPr/>
            <p:nvPr/>
          </p:nvGrpSpPr>
          <p:grpSpPr>
            <a:xfrm>
              <a:off x="2691427" y="1605207"/>
              <a:ext cx="1838323" cy="1516851"/>
              <a:chOff x="661034" y="3513317"/>
              <a:chExt cx="1731646" cy="1685390"/>
            </a:xfrm>
          </p:grpSpPr>
          <p:sp>
            <p:nvSpPr>
              <p:cNvPr id="17" name="Rectangle 20"/>
              <p:cNvSpPr>
                <a:spLocks noChangeArrowheads="1"/>
              </p:cNvSpPr>
              <p:nvPr/>
            </p:nvSpPr>
            <p:spPr bwMode="auto">
              <a:xfrm>
                <a:off x="967423" y="4822556"/>
                <a:ext cx="1005367" cy="376151"/>
              </a:xfrm>
              <a:prstGeom prst="rect">
                <a:avLst/>
              </a:prstGeom>
              <a:noFill/>
              <a:ln w="9525" algn="ctr">
                <a:noFill/>
                <a:miter lim="800000"/>
                <a:headEnd/>
                <a:tailEnd/>
              </a:ln>
            </p:spPr>
            <p:txBody>
              <a:bodyPr wrap="none" lIns="91422" tIns="45711" rIns="91422" bIns="45711">
                <a:spAutoFit/>
              </a:bodyPr>
              <a:lstStyle/>
              <a:p>
                <a:r>
                  <a:rPr kumimoji="1" lang="zh-CN" altLang="en-US" sz="1600" b="1">
                    <a:solidFill>
                      <a:srgbClr val="000000"/>
                    </a:solidFill>
                    <a:latin typeface="微软雅黑" pitchFamily="34" charset="-122"/>
                    <a:ea typeface="微软雅黑" pitchFamily="34" charset="-122"/>
                  </a:rPr>
                  <a:t>通信技术</a:t>
                </a:r>
              </a:p>
            </p:txBody>
          </p:sp>
          <p:pic>
            <p:nvPicPr>
              <p:cNvPr id="20486" name="Picture 6"/>
              <p:cNvPicPr>
                <a:picLocks noChangeAspect="1" noChangeArrowheads="1"/>
              </p:cNvPicPr>
              <p:nvPr/>
            </p:nvPicPr>
            <p:blipFill>
              <a:blip r:embed="rId11" cstate="print"/>
              <a:srcRect/>
              <a:stretch>
                <a:fillRect/>
              </a:stretch>
            </p:blipFill>
            <p:spPr bwMode="auto">
              <a:xfrm>
                <a:off x="661034" y="3513317"/>
                <a:ext cx="1731646" cy="1238959"/>
              </a:xfrm>
              <a:prstGeom prst="rect">
                <a:avLst/>
              </a:prstGeom>
              <a:noFill/>
              <a:ln w="9525">
                <a:noFill/>
                <a:miter lim="800000"/>
                <a:headEnd/>
                <a:tailEnd/>
              </a:ln>
              <a:effectLst/>
            </p:spPr>
          </p:pic>
        </p:grpSp>
        <p:pic>
          <p:nvPicPr>
            <p:cNvPr id="16" name="图片 15">
              <a:extLst>
                <a:ext uri="{FF2B5EF4-FFF2-40B4-BE49-F238E27FC236}">
                  <a16:creationId xmlns:a16="http://schemas.microsoft.com/office/drawing/2014/main" xmlns="" id="{2A30393F-675C-47EF-9CF8-731C86E9E3D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00359" y="1644505"/>
              <a:ext cx="1800241" cy="1125969"/>
            </a:xfrm>
            <a:prstGeom prst="rect">
              <a:avLst/>
            </a:prstGeom>
          </p:spPr>
        </p:pic>
        <p:sp>
          <p:nvSpPr>
            <p:cNvPr id="37" name="Rectangle 17">
              <a:extLst>
                <a:ext uri="{FF2B5EF4-FFF2-40B4-BE49-F238E27FC236}">
                  <a16:creationId xmlns:a16="http://schemas.microsoft.com/office/drawing/2014/main" xmlns="" id="{3114D8CE-DC5A-4605-B8B0-EEBCD83BC068}"/>
                </a:ext>
              </a:extLst>
            </p:cNvPr>
            <p:cNvSpPr>
              <a:spLocks noChangeArrowheads="1"/>
            </p:cNvSpPr>
            <p:nvPr/>
          </p:nvSpPr>
          <p:spPr bwMode="auto">
            <a:xfrm>
              <a:off x="5141050" y="2790502"/>
              <a:ext cx="1005367" cy="338536"/>
            </a:xfrm>
            <a:prstGeom prst="rect">
              <a:avLst/>
            </a:prstGeom>
            <a:noFill/>
            <a:ln w="9525" algn="ctr">
              <a:noFill/>
              <a:miter lim="800000"/>
              <a:headEnd/>
              <a:tailEnd/>
            </a:ln>
          </p:spPr>
          <p:txBody>
            <a:bodyPr wrap="none" lIns="91422" tIns="45711" rIns="91422" bIns="45711">
              <a:spAutoFit/>
            </a:bodyPr>
            <a:lstStyle/>
            <a:p>
              <a:r>
                <a:rPr kumimoji="1" lang="zh-CN" altLang="en-US" sz="1600" b="1" dirty="0">
                  <a:solidFill>
                    <a:srgbClr val="000000"/>
                  </a:solidFill>
                  <a:latin typeface="微软雅黑" pitchFamily="34" charset="-122"/>
                  <a:ea typeface="微软雅黑" pitchFamily="34" charset="-122"/>
                </a:rPr>
                <a:t>工业控制</a:t>
              </a:r>
            </a:p>
          </p:txBody>
        </p:sp>
        <p:pic>
          <p:nvPicPr>
            <p:cNvPr id="20520" name="Picture 40">
              <a:extLst>
                <a:ext uri="{FF2B5EF4-FFF2-40B4-BE49-F238E27FC236}">
                  <a16:creationId xmlns:a16="http://schemas.microsoft.com/office/drawing/2014/main" xmlns="" id="{0F8CC870-575F-4315-9891-2EF3B73F222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828961" y="1637705"/>
              <a:ext cx="1798009" cy="1177447"/>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17">
              <a:extLst>
                <a:ext uri="{FF2B5EF4-FFF2-40B4-BE49-F238E27FC236}">
                  <a16:creationId xmlns:a16="http://schemas.microsoft.com/office/drawing/2014/main" xmlns="" id="{C1A44ACB-2567-4144-9EC4-669A82B88142}"/>
                </a:ext>
              </a:extLst>
            </p:cNvPr>
            <p:cNvSpPr>
              <a:spLocks noChangeArrowheads="1"/>
            </p:cNvSpPr>
            <p:nvPr/>
          </p:nvSpPr>
          <p:spPr bwMode="auto">
            <a:xfrm>
              <a:off x="7341186" y="2816020"/>
              <a:ext cx="1005367" cy="338536"/>
            </a:xfrm>
            <a:prstGeom prst="rect">
              <a:avLst/>
            </a:prstGeom>
            <a:noFill/>
            <a:ln w="9525" algn="ctr">
              <a:noFill/>
              <a:miter lim="800000"/>
              <a:headEnd/>
              <a:tailEnd/>
            </a:ln>
          </p:spPr>
          <p:txBody>
            <a:bodyPr wrap="none" lIns="91422" tIns="45711" rIns="91422" bIns="45711">
              <a:spAutoFit/>
            </a:bodyPr>
            <a:lstStyle/>
            <a:p>
              <a:r>
                <a:rPr kumimoji="1" lang="zh-CN" altLang="en-US" sz="1600" b="1" dirty="0">
                  <a:solidFill>
                    <a:srgbClr val="000000"/>
                  </a:solidFill>
                  <a:latin typeface="微软雅黑" pitchFamily="34" charset="-122"/>
                  <a:ea typeface="微软雅黑" pitchFamily="34" charset="-122"/>
                </a:rPr>
                <a:t>智能交通</a:t>
              </a:r>
            </a:p>
          </p:txBody>
        </p:sp>
        <p:pic>
          <p:nvPicPr>
            <p:cNvPr id="20" name="图片 19">
              <a:extLst>
                <a:ext uri="{FF2B5EF4-FFF2-40B4-BE49-F238E27FC236}">
                  <a16:creationId xmlns:a16="http://schemas.microsoft.com/office/drawing/2014/main" xmlns="" id="{A66408FE-8044-48F9-8EA4-5892DD718C1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877527" y="3302502"/>
              <a:ext cx="1779991" cy="1221998"/>
            </a:xfrm>
            <a:prstGeom prst="rect">
              <a:avLst/>
            </a:prstGeom>
          </p:spPr>
        </p:pic>
        <p:sp>
          <p:nvSpPr>
            <p:cNvPr id="40" name="Rectangle 17">
              <a:extLst>
                <a:ext uri="{FF2B5EF4-FFF2-40B4-BE49-F238E27FC236}">
                  <a16:creationId xmlns:a16="http://schemas.microsoft.com/office/drawing/2014/main" xmlns="" id="{AFF8BFBD-B2B3-4DD1-92D1-5F1D3A9A1336}"/>
                </a:ext>
              </a:extLst>
            </p:cNvPr>
            <p:cNvSpPr>
              <a:spLocks noChangeArrowheads="1"/>
            </p:cNvSpPr>
            <p:nvPr/>
          </p:nvSpPr>
          <p:spPr bwMode="auto">
            <a:xfrm>
              <a:off x="7341186" y="4539957"/>
              <a:ext cx="1005367" cy="338536"/>
            </a:xfrm>
            <a:prstGeom prst="rect">
              <a:avLst/>
            </a:prstGeom>
            <a:noFill/>
            <a:ln w="9525" algn="ctr">
              <a:noFill/>
              <a:miter lim="800000"/>
              <a:headEnd/>
              <a:tailEnd/>
            </a:ln>
          </p:spPr>
          <p:txBody>
            <a:bodyPr wrap="none" lIns="91422" tIns="45711" rIns="91422" bIns="45711">
              <a:spAutoFit/>
            </a:bodyPr>
            <a:lstStyle/>
            <a:p>
              <a:r>
                <a:rPr kumimoji="1" lang="zh-CN" altLang="en-US" sz="1600" b="1" dirty="0">
                  <a:solidFill>
                    <a:srgbClr val="000000"/>
                  </a:solidFill>
                  <a:latin typeface="微软雅黑" pitchFamily="34" charset="-122"/>
                  <a:ea typeface="微软雅黑" pitchFamily="34" charset="-122"/>
                </a:rPr>
                <a:t>家用电器</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6"/>
          <p:cNvSpPr>
            <a:spLocks noChangeArrowheads="1"/>
          </p:cNvSpPr>
          <p:nvPr/>
        </p:nvSpPr>
        <p:spPr bwMode="auto">
          <a:xfrm>
            <a:off x="363348" y="1147702"/>
            <a:ext cx="5892673" cy="369332"/>
          </a:xfrm>
          <a:prstGeom prst="rect">
            <a:avLst/>
          </a:prstGeom>
          <a:noFill/>
          <a:ln w="9525" algn="ctr">
            <a:noFill/>
            <a:miter lim="800000"/>
            <a:headEnd/>
            <a:tailEnd/>
          </a:ln>
        </p:spPr>
        <p:txBody>
          <a:bodyPr wrap="squar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）数字电子技术的应用</a:t>
            </a:r>
            <a:endParaRPr lang="zh-CN" altLang="en-US" b="1" dirty="0">
              <a:solidFill>
                <a:srgbClr val="CC00CC"/>
              </a:solidFill>
              <a:latin typeface="微软雅黑" pitchFamily="34" charset="-122"/>
              <a:ea typeface="微软雅黑" pitchFamily="34" charset="-122"/>
            </a:endParaRPr>
          </a:p>
        </p:txBody>
      </p:sp>
      <p:grpSp>
        <p:nvGrpSpPr>
          <p:cNvPr id="11" name="组合 10"/>
          <p:cNvGrpSpPr/>
          <p:nvPr/>
        </p:nvGrpSpPr>
        <p:grpSpPr>
          <a:xfrm>
            <a:off x="231982" y="692994"/>
            <a:ext cx="3997119" cy="418885"/>
            <a:chOff x="670560" y="892917"/>
            <a:chExt cx="3997119" cy="465428"/>
          </a:xfrm>
        </p:grpSpPr>
        <p:sp>
          <p:nvSpPr>
            <p:cNvPr id="12" name="矩形 11"/>
            <p:cNvSpPr/>
            <p:nvPr/>
          </p:nvSpPr>
          <p:spPr>
            <a:xfrm>
              <a:off x="1035233" y="913778"/>
              <a:ext cx="363244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、数字技术的发展及其应用</a:t>
              </a:r>
            </a:p>
          </p:txBody>
        </p:sp>
        <p:pic>
          <p:nvPicPr>
            <p:cNvPr id="13"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4" name="Rectangle 8"/>
          <p:cNvSpPr>
            <a:spLocks noChangeArrowheads="1"/>
          </p:cNvSpPr>
          <p:nvPr/>
        </p:nvSpPr>
        <p:spPr bwMode="auto">
          <a:xfrm>
            <a:off x="622936" y="1575912"/>
            <a:ext cx="7701915" cy="311624"/>
          </a:xfrm>
          <a:prstGeom prst="rect">
            <a:avLst/>
          </a:prstGeom>
          <a:noFill/>
          <a:ln w="9525" algn="ctr">
            <a:noFill/>
            <a:miter lim="800000"/>
            <a:headEnd/>
            <a:tailEnd/>
          </a:ln>
        </p:spPr>
        <p:txBody>
          <a:bodyPr wrap="square" lIns="0" tIns="0" rIns="0" bIns="0">
            <a:spAutoFit/>
          </a:bodyPr>
          <a:lstStyle/>
          <a:p>
            <a:pPr>
              <a:lnSpc>
                <a:spcPct val="125000"/>
              </a:lnSpc>
              <a:spcBef>
                <a:spcPct val="50000"/>
              </a:spcBef>
            </a:pPr>
            <a:r>
              <a:rPr lang="zh-CN" altLang="zh-CN" dirty="0">
                <a:latin typeface="微软雅黑" panose="020B0503020204020204" pitchFamily="34" charset="-122"/>
                <a:ea typeface="微软雅黑" panose="020B0503020204020204" pitchFamily="34" charset="-122"/>
              </a:rPr>
              <a:t>人类已经完全进入到数字时代，并开启了数字化生活的新模式</a:t>
            </a:r>
            <a:r>
              <a:rPr lang="zh-CN" altLang="en-US" dirty="0">
                <a:latin typeface="微软雅黑" panose="020B0503020204020204" pitchFamily="34" charset="-122"/>
                <a:ea typeface="微软雅黑" panose="020B0503020204020204" pitchFamily="34" charset="-122"/>
              </a:rPr>
              <a:t>。</a:t>
            </a:r>
            <a:endParaRPr kumimoji="1" lang="zh-CN" altLang="en-US" dirty="0">
              <a:solidFill>
                <a:srgbClr val="000000"/>
              </a:solidFill>
              <a:latin typeface="微软雅黑" pitchFamily="34" charset="-122"/>
              <a:ea typeface="微软雅黑" pitchFamily="34" charset="-122"/>
            </a:endParaRPr>
          </a:p>
        </p:txBody>
      </p:sp>
      <p:grpSp>
        <p:nvGrpSpPr>
          <p:cNvPr id="20" name="组合 19"/>
          <p:cNvGrpSpPr/>
          <p:nvPr/>
        </p:nvGrpSpPr>
        <p:grpSpPr>
          <a:xfrm>
            <a:off x="647700" y="2002536"/>
            <a:ext cx="7894320" cy="2666568"/>
            <a:chOff x="647700" y="2225040"/>
            <a:chExt cx="7894320" cy="2671484"/>
          </a:xfrm>
        </p:grpSpPr>
        <p:sp>
          <p:nvSpPr>
            <p:cNvPr id="19" name="剪去对角的矩形 18"/>
            <p:cNvSpPr/>
            <p:nvPr/>
          </p:nvSpPr>
          <p:spPr>
            <a:xfrm>
              <a:off x="647700" y="2225040"/>
              <a:ext cx="7894320" cy="2506980"/>
            </a:xfrm>
            <a:prstGeom prst="snip2DiagRect">
              <a:avLst>
                <a:gd name="adj1" fmla="val 0"/>
                <a:gd name="adj2" fmla="val 10434"/>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0" name="Picture 2" descr="https://timgsa.baidu.com/timg?image&amp;quality=80&amp;size=b9999_10000&amp;sec=1580804897880&amp;di=646601d9f120ff9deacd1d655da9f1e9&amp;imgtype=jpg&amp;src=http%3A%2F%2Fimg0.imgtn.bdimg.com%2Fit%2Fu%3D1043735745%2C2322544747%26fm%3D214%26gp%3D0.jpg"/>
            <p:cNvPicPr>
              <a:picLocks noChangeAspect="1" noChangeArrowheads="1"/>
            </p:cNvPicPr>
            <p:nvPr/>
          </p:nvPicPr>
          <p:blipFill>
            <a:blip r:embed="rId4" cstate="print"/>
            <a:srcRect/>
            <a:stretch>
              <a:fillRect/>
            </a:stretch>
          </p:blipFill>
          <p:spPr bwMode="auto">
            <a:xfrm>
              <a:off x="2426336" y="2415540"/>
              <a:ext cx="1775588" cy="2133600"/>
            </a:xfrm>
            <a:prstGeom prst="rect">
              <a:avLst/>
            </a:prstGeom>
            <a:noFill/>
            <a:ln>
              <a:solidFill>
                <a:schemeClr val="tx1"/>
              </a:solidFill>
            </a:ln>
          </p:spPr>
        </p:pic>
        <p:pic>
          <p:nvPicPr>
            <p:cNvPr id="7172" name="Picture 4" descr="https://timgsa.baidu.com/timg?image&amp;quality=80&amp;size=b9999_10000&amp;sec=1580804937685&amp;di=8d7d5bbb0c76c0f80f895213898429a1&amp;imgtype=0&amp;src=http%3A%2F%2Fp3.tbnimg.com%2F2018%2F10%2F25%2FvMB4Y7xE.jpg"/>
            <p:cNvPicPr>
              <a:picLocks noChangeAspect="1" noChangeArrowheads="1"/>
            </p:cNvPicPr>
            <p:nvPr/>
          </p:nvPicPr>
          <p:blipFill>
            <a:blip r:embed="rId5" cstate="print"/>
            <a:srcRect/>
            <a:stretch>
              <a:fillRect/>
            </a:stretch>
          </p:blipFill>
          <p:spPr bwMode="auto">
            <a:xfrm>
              <a:off x="879476" y="2411229"/>
              <a:ext cx="1489468" cy="2146439"/>
            </a:xfrm>
            <a:prstGeom prst="rect">
              <a:avLst/>
            </a:prstGeom>
            <a:noFill/>
          </p:spPr>
        </p:pic>
        <p:sp>
          <p:nvSpPr>
            <p:cNvPr id="17" name="矩形 16"/>
            <p:cNvSpPr/>
            <p:nvPr/>
          </p:nvSpPr>
          <p:spPr>
            <a:xfrm>
              <a:off x="4305300" y="2331720"/>
              <a:ext cx="4076700" cy="2564804"/>
            </a:xfrm>
            <a:prstGeom prst="rect">
              <a:avLst/>
            </a:prstGeom>
          </p:spPr>
          <p:txBody>
            <a:bodyPr wrap="square">
              <a:spAutoFit/>
            </a:bodyPr>
            <a:lstStyle/>
            <a:p>
              <a:r>
                <a:rPr lang="zh-CN" altLang="en-US" sz="1600" dirty="0">
                  <a:solidFill>
                    <a:schemeClr val="bg1"/>
                  </a:solidFill>
                  <a:latin typeface="微软雅黑" pitchFamily="34" charset="-122"/>
                  <a:ea typeface="微软雅黑" pitchFamily="34" charset="-122"/>
                </a:rPr>
                <a:t>数字化、网络化、信息化使人的生存方式发生了巨大的变化，并由此带来一种全新的生存方式</a:t>
              </a:r>
              <a:r>
                <a:rPr lang="en-US" altLang="zh-CN" sz="1600" dirty="0">
                  <a:solidFill>
                    <a:schemeClr val="bg1"/>
                  </a:solidFill>
                  <a:latin typeface="微软雅黑" pitchFamily="34" charset="-122"/>
                  <a:ea typeface="微软雅黑" pitchFamily="34" charset="-122"/>
                </a:rPr>
                <a:t>—</a:t>
              </a:r>
              <a:r>
                <a:rPr lang="zh-CN" altLang="en-US" sz="1600" b="1" dirty="0">
                  <a:solidFill>
                    <a:srgbClr val="FFFF00"/>
                  </a:solidFill>
                  <a:latin typeface="微软雅黑" pitchFamily="34" charset="-122"/>
                  <a:ea typeface="微软雅黑" pitchFamily="34" charset="-122"/>
                </a:rPr>
                <a:t>数字化生存</a:t>
              </a:r>
              <a:r>
                <a:rPr lang="en-US" altLang="zh-CN" sz="1600" b="1" dirty="0">
                  <a:solidFill>
                    <a:srgbClr val="FFFF00"/>
                  </a:solidFill>
                  <a:latin typeface="微软雅黑" pitchFamily="34" charset="-122"/>
                  <a:ea typeface="微软雅黑" pitchFamily="34" charset="-122"/>
                </a:rPr>
                <a:t>(Being Digital)</a:t>
              </a:r>
              <a:r>
                <a:rPr lang="zh-CN" altLang="en-US" sz="1600" b="1"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由美国学者尼葛洛庞帝在</a:t>
              </a:r>
              <a:r>
                <a:rPr lang="en-US" altLang="zh-CN" sz="1600" dirty="0">
                  <a:solidFill>
                    <a:schemeClr val="bg1"/>
                  </a:solidFill>
                  <a:latin typeface="微软雅黑" pitchFamily="34" charset="-122"/>
                  <a:ea typeface="微软雅黑" pitchFamily="34" charset="-122"/>
                </a:rPr>
                <a:t>1996</a:t>
              </a:r>
              <a:r>
                <a:rPr lang="zh-CN" altLang="en-US" sz="1600" dirty="0">
                  <a:solidFill>
                    <a:schemeClr val="bg1"/>
                  </a:solidFill>
                  <a:latin typeface="微软雅黑" pitchFamily="34" charset="-122"/>
                  <a:ea typeface="微软雅黑" pitchFamily="34" charset="-122"/>
                </a:rPr>
                <a:t>年出版的</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数字化生存</a:t>
              </a:r>
              <a:r>
                <a:rPr lang="en-US" altLang="zh-CN" sz="1600" dirty="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一书中提出：人类生存于一个虚拟的、数字化的生存活动空间，在这个空间里人们应用数字技术（信息技术）从事信息传播、交流、学习、工作等活动，这便是数字化生存。</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1000"/>
                                        <p:tgtEl>
                                          <p:spTgt spid="10"/>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lide(fromBottom)">
                                      <p:cBhvr>
                                        <p:cTn id="11" dur="1000"/>
                                        <p:tgtEl>
                                          <p:spTgt spid="14"/>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1982" y="692994"/>
            <a:ext cx="4119039" cy="418885"/>
            <a:chOff x="670560" y="892917"/>
            <a:chExt cx="4119039" cy="465428"/>
          </a:xfrm>
        </p:grpSpPr>
        <p:sp>
          <p:nvSpPr>
            <p:cNvPr id="3" name="矩形 2"/>
            <p:cNvSpPr/>
            <p:nvPr/>
          </p:nvSpPr>
          <p:spPr>
            <a:xfrm>
              <a:off x="1035233" y="913778"/>
              <a:ext cx="3754366" cy="444567"/>
            </a:xfrm>
            <a:prstGeom prst="rect">
              <a:avLst/>
            </a:prstGeom>
          </p:spPr>
          <p:txBody>
            <a:bodyPr wrap="square">
              <a:spAutoFit/>
            </a:bodyPr>
            <a:lstStyle/>
            <a:p>
              <a:r>
                <a:rPr lang="en-US" altLang="zh-CN" sz="2000" b="1" dirty="0">
                  <a:solidFill>
                    <a:srgbClr val="002060"/>
                  </a:solidFill>
                  <a:latin typeface="Times New Roman" pitchFamily="18" charset="0"/>
                  <a:ea typeface="微软雅黑" pitchFamily="34" charset="-122"/>
                  <a:cs typeface="Times New Roman" pitchFamily="18" charset="0"/>
                </a:rPr>
                <a:t>2</a:t>
              </a:r>
              <a:r>
                <a:rPr lang="zh-CN" altLang="en-US" sz="2000" b="1" dirty="0">
                  <a:solidFill>
                    <a:srgbClr val="002060"/>
                  </a:solidFill>
                  <a:latin typeface="Times New Roman" pitchFamily="18" charset="0"/>
                  <a:ea typeface="微软雅黑" pitchFamily="34" charset="-122"/>
                  <a:cs typeface="Times New Roman" pitchFamily="18" charset="0"/>
                </a:rPr>
                <a:t>、数字集成电路的分类及特点</a:t>
              </a: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9"/>
          <p:cNvSpPr>
            <a:spLocks noChangeArrowheads="1"/>
          </p:cNvSpPr>
          <p:nvPr/>
        </p:nvSpPr>
        <p:spPr bwMode="auto">
          <a:xfrm>
            <a:off x="404178" y="1177005"/>
            <a:ext cx="2839239" cy="369332"/>
          </a:xfrm>
          <a:prstGeom prst="rect">
            <a:avLst/>
          </a:prstGeom>
          <a:noFill/>
          <a:ln w="9525" algn="ctr">
            <a:noFill/>
            <a:miter lim="800000"/>
            <a:headEnd/>
            <a:tailEnd/>
          </a:ln>
        </p:spPr>
        <p:txBody>
          <a:bodyPr wrap="none">
            <a:spAutoFit/>
          </a:bodyPr>
          <a:lstStyle/>
          <a:p>
            <a:pPr algn="l"/>
            <a:r>
              <a:rPr lang="zh-CN" altLang="en-US" b="1" dirty="0">
                <a:solidFill>
                  <a:srgbClr val="FF0000"/>
                </a:solidFill>
                <a:latin typeface="Times New Roman" pitchFamily="18" charset="0"/>
                <a:ea typeface="微软雅黑" pitchFamily="34" charset="-122"/>
                <a:cs typeface="Times New Roman" pitchFamily="18" charset="0"/>
              </a:rPr>
              <a:t>（</a:t>
            </a:r>
            <a:r>
              <a:rPr lang="en-US" altLang="zh-CN" b="1" dirty="0">
                <a:solidFill>
                  <a:srgbClr val="FF0000"/>
                </a:solidFill>
                <a:latin typeface="Times New Roman" pitchFamily="18" charset="0"/>
                <a:ea typeface="微软雅黑" pitchFamily="34" charset="-122"/>
                <a:cs typeface="Times New Roman" pitchFamily="18" charset="0"/>
              </a:rPr>
              <a:t>1</a:t>
            </a:r>
            <a:r>
              <a:rPr lang="zh-CN" altLang="en-US" b="1" dirty="0">
                <a:solidFill>
                  <a:srgbClr val="FF0000"/>
                </a:solidFill>
                <a:latin typeface="Times New Roman" pitchFamily="18" charset="0"/>
                <a:ea typeface="微软雅黑" pitchFamily="34" charset="-122"/>
                <a:cs typeface="Times New Roman" pitchFamily="18" charset="0"/>
              </a:rPr>
              <a:t>）数字集成电路的分类</a:t>
            </a:r>
          </a:p>
        </p:txBody>
      </p:sp>
      <p:sp>
        <p:nvSpPr>
          <p:cNvPr id="6" name="Rectangle 10"/>
          <p:cNvSpPr>
            <a:spLocks noChangeArrowheads="1"/>
          </p:cNvSpPr>
          <p:nvPr/>
        </p:nvSpPr>
        <p:spPr bwMode="auto">
          <a:xfrm>
            <a:off x="596654" y="1939007"/>
            <a:ext cx="2819082" cy="369332"/>
          </a:xfrm>
          <a:prstGeom prst="rect">
            <a:avLst/>
          </a:prstGeom>
          <a:noFill/>
          <a:ln w="9525">
            <a:noFill/>
            <a:miter lim="800000"/>
            <a:headEnd/>
            <a:tailEnd/>
          </a:ln>
        </p:spPr>
        <p:txBody>
          <a:bodyPr wrap="square">
            <a:spAutoFit/>
          </a:bodyPr>
          <a:lstStyle/>
          <a:p>
            <a:pPr>
              <a:spcBef>
                <a:spcPct val="20000"/>
              </a:spcBef>
              <a:buSzPct val="80000"/>
              <a:buFont typeface="Wingdings" pitchFamily="2" charset="2"/>
              <a:buChar char="u"/>
            </a:pPr>
            <a:r>
              <a:rPr kumimoji="1" lang="zh-CN" altLang="en-US" dirty="0">
                <a:solidFill>
                  <a:srgbClr val="000066"/>
                </a:solidFill>
                <a:latin typeface="Times New Roman" pitchFamily="18" charset="0"/>
                <a:ea typeface="微软雅黑" pitchFamily="34" charset="-122"/>
                <a:cs typeface="Times New Roman" pitchFamily="18" charset="0"/>
              </a:rPr>
              <a:t>  按集成度不同划分：</a:t>
            </a:r>
          </a:p>
        </p:txBody>
      </p:sp>
      <p:sp>
        <p:nvSpPr>
          <p:cNvPr id="8" name="Rectangle 13"/>
          <p:cNvSpPr>
            <a:spLocks noChangeArrowheads="1"/>
          </p:cNvSpPr>
          <p:nvPr/>
        </p:nvSpPr>
        <p:spPr bwMode="auto">
          <a:xfrm>
            <a:off x="903674" y="2305263"/>
            <a:ext cx="4733988" cy="338554"/>
          </a:xfrm>
          <a:prstGeom prst="rect">
            <a:avLst/>
          </a:prstGeom>
          <a:noFill/>
          <a:ln w="9525">
            <a:noFill/>
            <a:miter lim="800000"/>
            <a:headEnd/>
            <a:tailEnd/>
          </a:ln>
        </p:spPr>
        <p:txBody>
          <a:bodyPr wrap="none">
            <a:spAutoFit/>
          </a:bodyPr>
          <a:lstStyle/>
          <a:p>
            <a:pPr algn="l"/>
            <a:r>
              <a:rPr kumimoji="1" lang="zh-CN" altLang="en-US" sz="1600" b="1" dirty="0">
                <a:solidFill>
                  <a:srgbClr val="CC00CC"/>
                </a:solidFill>
                <a:latin typeface="Times New Roman" pitchFamily="18" charset="0"/>
                <a:ea typeface="方正粗黑宋简体" pitchFamily="2" charset="-122"/>
                <a:cs typeface="Times New Roman" pitchFamily="18" charset="0"/>
              </a:rPr>
              <a:t>集成度</a:t>
            </a:r>
            <a:r>
              <a:rPr kumimoji="1" lang="zh-CN" altLang="en-US" sz="1600" b="1" dirty="0">
                <a:latin typeface="Times New Roman" pitchFamily="18" charset="0"/>
                <a:ea typeface="方正粗黑宋简体" pitchFamily="2" charset="-122"/>
                <a:cs typeface="Times New Roman" pitchFamily="18" charset="0"/>
              </a:rPr>
              <a:t>：每块集成电路芯片中包含的元器件数目。</a:t>
            </a:r>
          </a:p>
        </p:txBody>
      </p:sp>
      <p:graphicFrame>
        <p:nvGraphicFramePr>
          <p:cNvPr id="9" name="Group 119"/>
          <p:cNvGraphicFramePr>
            <a:graphicFrameLocks noGrp="1"/>
          </p:cNvGraphicFramePr>
          <p:nvPr>
            <p:extLst>
              <p:ext uri="{D42A27DB-BD31-4B8C-83A1-F6EECF244321}">
                <p14:modId xmlns:p14="http://schemas.microsoft.com/office/powerpoint/2010/main" val="280757166"/>
              </p:ext>
            </p:extLst>
          </p:nvPr>
        </p:nvGraphicFramePr>
        <p:xfrm>
          <a:off x="998924" y="2671314"/>
          <a:ext cx="7040880" cy="1660107"/>
        </p:xfrm>
        <a:graphic>
          <a:graphicData uri="http://schemas.openxmlformats.org/drawingml/2006/table">
            <a:tbl>
              <a:tblPr/>
              <a:tblGrid>
                <a:gridCol w="2011680">
                  <a:extLst>
                    <a:ext uri="{9D8B030D-6E8A-4147-A177-3AD203B41FA5}">
                      <a16:colId xmlns:a16="http://schemas.microsoft.com/office/drawing/2014/main" xmlns="" val="20000"/>
                    </a:ext>
                  </a:extLst>
                </a:gridCol>
                <a:gridCol w="1455420">
                  <a:extLst>
                    <a:ext uri="{9D8B030D-6E8A-4147-A177-3AD203B41FA5}">
                      <a16:colId xmlns:a16="http://schemas.microsoft.com/office/drawing/2014/main" xmlns="" val="20001"/>
                    </a:ext>
                  </a:extLst>
                </a:gridCol>
                <a:gridCol w="3573780">
                  <a:extLst>
                    <a:ext uri="{9D8B030D-6E8A-4147-A177-3AD203B41FA5}">
                      <a16:colId xmlns:a16="http://schemas.microsoft.com/office/drawing/2014/main" xmlns="" val="20002"/>
                    </a:ext>
                  </a:extLst>
                </a:gridCol>
              </a:tblGrid>
              <a:tr h="27117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1" i="0" u="none" strike="noStrike" cap="none" normalizeH="0" baseline="0" dirty="0">
                          <a:ln>
                            <a:noFill/>
                          </a:ln>
                          <a:solidFill>
                            <a:srgbClr val="F8F8F8"/>
                          </a:solidFill>
                          <a:effectLst/>
                          <a:latin typeface="黑体" pitchFamily="2" charset="-122"/>
                          <a:ea typeface="黑体" pitchFamily="2" charset="-122"/>
                        </a:rPr>
                        <a:t>分类</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1" i="0" u="none" strike="noStrike" cap="none" normalizeH="0" baseline="0" dirty="0">
                          <a:ln>
                            <a:noFill/>
                          </a:ln>
                          <a:solidFill>
                            <a:srgbClr val="F8F8F8"/>
                          </a:solidFill>
                          <a:effectLst/>
                          <a:latin typeface="黑体" pitchFamily="2" charset="-122"/>
                          <a:ea typeface="黑体" pitchFamily="2" charset="-122"/>
                        </a:rPr>
                        <a:t>门的个数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1" i="0" u="none" strike="noStrike" cap="none" normalizeH="0" baseline="0" dirty="0">
                          <a:ln>
                            <a:noFill/>
                          </a:ln>
                          <a:solidFill>
                            <a:srgbClr val="F8F8F8"/>
                          </a:solidFill>
                          <a:effectLst/>
                          <a:latin typeface="黑体" pitchFamily="2" charset="-122"/>
                          <a:ea typeface="黑体" pitchFamily="2" charset="-122"/>
                        </a:rPr>
                        <a:t>典型集成电路</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0033CC"/>
                    </a:solidFill>
                  </a:tcPr>
                </a:tc>
                <a:extLst>
                  <a:ext uri="{0D108BD9-81ED-4DB2-BD59-A6C34878D82A}">
                    <a16:rowId xmlns:a16="http://schemas.microsoft.com/office/drawing/2014/main" xmlns="" val="10000"/>
                  </a:ext>
                </a:extLst>
              </a:tr>
              <a:tr h="210602">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小规模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SSI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个以下</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a:ln>
                            <a:noFill/>
                          </a:ln>
                          <a:solidFill>
                            <a:srgbClr val="000000"/>
                          </a:solidFill>
                          <a:effectLst/>
                          <a:latin typeface="黑体" pitchFamily="2" charset="-122"/>
                          <a:ea typeface="黑体" pitchFamily="2" charset="-122"/>
                        </a:rPr>
                        <a:t>逻辑门、触发器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10602">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中规模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MSI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1</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a:t>
                      </a: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计数器、加法器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4827">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大规模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LSI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2</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a:t>
                      </a: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小型存储器、门阵列</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10602">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超大规模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VLSI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5</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a:t>
                      </a: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7</a:t>
                      </a:r>
                      <a:endParaRPr kumimoji="0" lang="en-US" altLang="zh-CN"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大型存储器、微处理器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6701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甚大规模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ULSI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7</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a:t>
                      </a: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9</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可编程逻辑器件、多功能专用集成电路</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6701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极大规模</a:t>
                      </a:r>
                      <a:r>
                        <a:rPr lang="zh-CN" altLang="en-US" sz="1300" dirty="0">
                          <a:solidFill>
                            <a:srgbClr val="CC00CC"/>
                          </a:solidFill>
                          <a:latin typeface="方正粗黑宋简体" pitchFamily="2" charset="-122"/>
                          <a:ea typeface="方正粗黑宋简体" pitchFamily="2" charset="-122"/>
                        </a:rPr>
                        <a:t>（</a:t>
                      </a:r>
                      <a:r>
                        <a:rPr lang="en-US" altLang="zh-CN" sz="1300" dirty="0">
                          <a:solidFill>
                            <a:srgbClr val="CC00CC"/>
                          </a:solidFill>
                          <a:latin typeface="方正粗黑宋简体" pitchFamily="2" charset="-122"/>
                          <a:ea typeface="方正粗黑宋简体" pitchFamily="2" charset="-122"/>
                        </a:rPr>
                        <a:t>GLSI</a:t>
                      </a:r>
                      <a:r>
                        <a:rPr lang="zh-CN" altLang="en-US" sz="1300" dirty="0">
                          <a:solidFill>
                            <a:srgbClr val="CC00CC"/>
                          </a:solidFill>
                          <a:latin typeface="方正粗黑宋简体" pitchFamily="2" charset="-122"/>
                          <a:ea typeface="方正粗黑宋简体" pitchFamily="2" charset="-122"/>
                        </a:rPr>
                        <a:t>）</a:t>
                      </a:r>
                      <a:endParaRPr kumimoji="0" lang="zh-CN" altLang="en-US" sz="1400" b="0" i="0" u="none" strike="noStrike" cap="none" normalizeH="0" baseline="0" dirty="0">
                        <a:ln>
                          <a:noFill/>
                        </a:ln>
                        <a:solidFill>
                          <a:srgbClr val="000000"/>
                        </a:solidFill>
                        <a:effectLst/>
                        <a:latin typeface="黑体" pitchFamily="2" charset="-122"/>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黑体" pitchFamily="2" charset="-122"/>
                          <a:ea typeface="黑体" pitchFamily="2" charset="-122"/>
                        </a:rPr>
                        <a:t>10</a:t>
                      </a:r>
                      <a:r>
                        <a:rPr kumimoji="0" lang="en-US" altLang="zh-CN" sz="1400" b="0" i="0" u="none" strike="noStrike" cap="none" normalizeH="0" baseline="30000" dirty="0">
                          <a:ln>
                            <a:noFill/>
                          </a:ln>
                          <a:solidFill>
                            <a:srgbClr val="000000"/>
                          </a:solidFill>
                          <a:effectLst/>
                          <a:latin typeface="黑体" pitchFamily="2" charset="-122"/>
                          <a:ea typeface="黑体" pitchFamily="2" charset="-122"/>
                        </a:rPr>
                        <a:t>9</a:t>
                      </a:r>
                      <a:r>
                        <a:rPr kumimoji="0" lang="zh-CN" altLang="en-US" sz="1400" b="0" i="0" u="none" strike="noStrike" cap="none" normalizeH="0" baseline="0" dirty="0">
                          <a:ln>
                            <a:noFill/>
                          </a:ln>
                          <a:solidFill>
                            <a:srgbClr val="000000"/>
                          </a:solidFill>
                          <a:effectLst/>
                          <a:latin typeface="黑体" pitchFamily="2" charset="-122"/>
                          <a:ea typeface="黑体" pitchFamily="2" charset="-122"/>
                        </a:rPr>
                        <a:t>以上</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黑体" pitchFamily="2" charset="-122"/>
                          <a:ea typeface="黑体" pitchFamily="2" charset="-122"/>
                        </a:rPr>
                        <a:t>大规模存储器、专用集成电路</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xmlns="" val="10006"/>
                  </a:ext>
                </a:extLst>
              </a:tr>
            </a:tbl>
          </a:graphicData>
        </a:graphic>
      </p:graphicFrame>
      <p:sp>
        <p:nvSpPr>
          <p:cNvPr id="16" name="Rectangle 10"/>
          <p:cNvSpPr>
            <a:spLocks noChangeArrowheads="1"/>
          </p:cNvSpPr>
          <p:nvPr/>
        </p:nvSpPr>
        <p:spPr bwMode="auto">
          <a:xfrm>
            <a:off x="596654" y="1586760"/>
            <a:ext cx="8121896" cy="369332"/>
          </a:xfrm>
          <a:prstGeom prst="rect">
            <a:avLst/>
          </a:prstGeom>
          <a:noFill/>
          <a:ln w="9525">
            <a:noFill/>
            <a:miter lim="800000"/>
            <a:headEnd/>
            <a:tailEnd/>
          </a:ln>
        </p:spPr>
        <p:txBody>
          <a:bodyPr wrap="square">
            <a:spAutoFit/>
          </a:bodyPr>
          <a:lstStyle/>
          <a:p>
            <a:pPr>
              <a:spcBef>
                <a:spcPct val="20000"/>
              </a:spcBef>
              <a:buSzPct val="80000"/>
              <a:buFont typeface="Wingdings" pitchFamily="2" charset="2"/>
              <a:buChar char="u"/>
            </a:pPr>
            <a:r>
              <a:rPr kumimoji="1" lang="zh-CN" altLang="en-US" dirty="0">
                <a:solidFill>
                  <a:srgbClr val="000066"/>
                </a:solidFill>
                <a:latin typeface="Times New Roman" pitchFamily="18" charset="0"/>
                <a:ea typeface="微软雅黑" pitchFamily="34" charset="-122"/>
                <a:cs typeface="Times New Roman" pitchFamily="18" charset="0"/>
              </a:rPr>
              <a:t> 按电路结构和工作特点不同划分：</a:t>
            </a:r>
            <a:r>
              <a:rPr lang="zh-CN" altLang="en-US" dirty="0">
                <a:solidFill>
                  <a:srgbClr val="000000"/>
                </a:solidFill>
                <a:latin typeface="Times New Roman" pitchFamily="18" charset="0"/>
                <a:ea typeface="方正粗黑宋简体" pitchFamily="2" charset="-122"/>
                <a:cs typeface="Times New Roman" pitchFamily="18" charset="0"/>
              </a:rPr>
              <a:t>分为</a:t>
            </a:r>
            <a:r>
              <a:rPr lang="zh-CN" altLang="en-US" b="1" dirty="0">
                <a:solidFill>
                  <a:srgbClr val="FF00FF"/>
                </a:solidFill>
                <a:latin typeface="Times New Roman" pitchFamily="18" charset="0"/>
                <a:ea typeface="方正粗黑宋简体" pitchFamily="2" charset="-122"/>
                <a:cs typeface="Times New Roman" pitchFamily="18" charset="0"/>
              </a:rPr>
              <a:t>组合逻辑电路</a:t>
            </a:r>
            <a:r>
              <a:rPr lang="zh-CN" altLang="en-US" dirty="0">
                <a:solidFill>
                  <a:srgbClr val="000000"/>
                </a:solidFill>
                <a:latin typeface="Times New Roman" pitchFamily="18" charset="0"/>
                <a:ea typeface="方正粗黑宋简体" pitchFamily="2" charset="-122"/>
                <a:cs typeface="Times New Roman" pitchFamily="18" charset="0"/>
              </a:rPr>
              <a:t>和</a:t>
            </a:r>
            <a:r>
              <a:rPr lang="zh-CN" altLang="en-US" b="1" dirty="0">
                <a:solidFill>
                  <a:srgbClr val="FF00FF"/>
                </a:solidFill>
                <a:latin typeface="Times New Roman" pitchFamily="18" charset="0"/>
                <a:ea typeface="方正粗黑宋简体" pitchFamily="2" charset="-122"/>
                <a:cs typeface="Times New Roman" pitchFamily="18" charset="0"/>
              </a:rPr>
              <a:t>时序逻辑电路</a:t>
            </a:r>
            <a:r>
              <a:rPr lang="zh-CN" altLang="en-US" dirty="0">
                <a:solidFill>
                  <a:srgbClr val="000000"/>
                </a:solidFill>
                <a:latin typeface="Times New Roman" pitchFamily="18" charset="0"/>
                <a:ea typeface="方正粗黑宋简体" pitchFamily="2" charset="-122"/>
                <a:cs typeface="Times New Roman" pitchFamily="18" charset="0"/>
              </a:rPr>
              <a:t>两大类</a:t>
            </a:r>
            <a:endParaRPr kumimoji="1" lang="zh-CN" altLang="en-US" dirty="0">
              <a:solidFill>
                <a:srgbClr val="000066"/>
              </a:solidFill>
              <a:latin typeface="Times New Roman" pitchFamily="18" charset="0"/>
              <a:ea typeface="微软雅黑" pitchFamily="34" charset="-122"/>
              <a:cs typeface="Times New Roman" pitchFamily="18" charset="0"/>
            </a:endParaRPr>
          </a:p>
        </p:txBody>
      </p:sp>
      <p:sp>
        <p:nvSpPr>
          <p:cNvPr id="12" name="文本框 11">
            <a:extLst>
              <a:ext uri="{FF2B5EF4-FFF2-40B4-BE49-F238E27FC236}">
                <a16:creationId xmlns:a16="http://schemas.microsoft.com/office/drawing/2014/main" xmlns="" id="{1FDB14B9-79E9-4164-B1B8-29E12457784B}"/>
              </a:ext>
            </a:extLst>
          </p:cNvPr>
          <p:cNvSpPr txBox="1"/>
          <p:nvPr/>
        </p:nvSpPr>
        <p:spPr>
          <a:xfrm>
            <a:off x="596654" y="4491126"/>
            <a:ext cx="7396480" cy="369332"/>
          </a:xfrm>
          <a:prstGeom prst="rect">
            <a:avLst/>
          </a:prstGeom>
          <a:noFill/>
          <a:ln w="9525">
            <a:noFill/>
            <a:miter lim="800000"/>
            <a:headEnd/>
            <a:tailEnd/>
          </a:ln>
        </p:spPr>
        <p:txBody>
          <a:bodyPr wrap="square">
            <a:spAutoFit/>
          </a:bodyPr>
          <a:lstStyle>
            <a:defPPr>
              <a:defRPr lang="zh-CN"/>
            </a:defPPr>
            <a:lvl1pPr>
              <a:spcBef>
                <a:spcPct val="20000"/>
              </a:spcBef>
              <a:buSzPct val="80000"/>
              <a:buFont typeface="Wingdings" pitchFamily="2" charset="2"/>
              <a:buChar char="u"/>
              <a:defRPr kumimoji="1">
                <a:solidFill>
                  <a:srgbClr val="000066"/>
                </a:solidFill>
                <a:latin typeface="微软雅黑" pitchFamily="34" charset="-122"/>
                <a:ea typeface="微软雅黑" pitchFamily="34" charset="-122"/>
              </a:defRPr>
            </a:lvl1pPr>
          </a:lstStyle>
          <a:p>
            <a:r>
              <a:rPr lang="en-US" altLang="zh-CN" dirty="0">
                <a:latin typeface="Times New Roman" pitchFamily="18" charset="0"/>
                <a:cs typeface="Times New Roman" pitchFamily="18" charset="0"/>
              </a:rPr>
              <a:t> </a:t>
            </a:r>
            <a:r>
              <a:rPr lang="zh-CN" altLang="zh-CN" dirty="0">
                <a:latin typeface="Times New Roman" pitchFamily="18" charset="0"/>
                <a:cs typeface="Times New Roman" pitchFamily="18" charset="0"/>
              </a:rPr>
              <a:t>按电路使用的器件不同</a:t>
            </a:r>
            <a:r>
              <a:rPr lang="zh-CN" altLang="en-US" dirty="0">
                <a:latin typeface="Times New Roman" pitchFamily="18" charset="0"/>
                <a:cs typeface="Times New Roman" pitchFamily="18" charset="0"/>
              </a:rPr>
              <a:t>：</a:t>
            </a:r>
            <a:r>
              <a:rPr lang="zh-CN" altLang="zh-CN" dirty="0">
                <a:solidFill>
                  <a:srgbClr val="000000"/>
                </a:solidFill>
                <a:latin typeface="Times New Roman" pitchFamily="18" charset="0"/>
                <a:ea typeface="方正粗黑宋简体" pitchFamily="2" charset="-122"/>
                <a:cs typeface="Times New Roman" pitchFamily="18" charset="0"/>
              </a:rPr>
              <a:t>可分为</a:t>
            </a:r>
            <a:r>
              <a:rPr lang="zh-CN" altLang="zh-CN" dirty="0">
                <a:solidFill>
                  <a:srgbClr val="FF00FF"/>
                </a:solidFill>
                <a:latin typeface="Times New Roman" pitchFamily="18" charset="0"/>
                <a:ea typeface="方正粗黑宋简体" pitchFamily="2" charset="-122"/>
                <a:cs typeface="Times New Roman" pitchFamily="18" charset="0"/>
              </a:rPr>
              <a:t>双极型</a:t>
            </a:r>
            <a:r>
              <a:rPr lang="zh-CN" altLang="zh-CN" dirty="0">
                <a:solidFill>
                  <a:srgbClr val="000000"/>
                </a:solidFill>
                <a:latin typeface="Times New Roman" pitchFamily="18" charset="0"/>
                <a:ea typeface="方正粗黑宋简体" pitchFamily="2" charset="-122"/>
                <a:cs typeface="Times New Roman" pitchFamily="18" charset="0"/>
              </a:rPr>
              <a:t>、</a:t>
            </a:r>
            <a:r>
              <a:rPr lang="zh-CN" altLang="zh-CN" dirty="0">
                <a:solidFill>
                  <a:srgbClr val="FF00FF"/>
                </a:solidFill>
                <a:latin typeface="Times New Roman" pitchFamily="18" charset="0"/>
                <a:ea typeface="方正粗黑宋简体" pitchFamily="2" charset="-122"/>
                <a:cs typeface="Times New Roman" pitchFamily="18" charset="0"/>
              </a:rPr>
              <a:t>单极型</a:t>
            </a:r>
            <a:r>
              <a:rPr lang="zh-CN" altLang="zh-CN" dirty="0">
                <a:solidFill>
                  <a:srgbClr val="000000"/>
                </a:solidFill>
                <a:latin typeface="Times New Roman" pitchFamily="18" charset="0"/>
                <a:ea typeface="方正粗黑宋简体" pitchFamily="2" charset="-122"/>
                <a:cs typeface="Times New Roman" pitchFamily="18" charset="0"/>
              </a:rPr>
              <a:t>和</a:t>
            </a:r>
            <a:r>
              <a:rPr lang="zh-CN" altLang="zh-CN" dirty="0">
                <a:solidFill>
                  <a:srgbClr val="FF00FF"/>
                </a:solidFill>
                <a:latin typeface="Times New Roman" pitchFamily="18" charset="0"/>
                <a:ea typeface="方正粗黑宋简体" pitchFamily="2" charset="-122"/>
                <a:cs typeface="Times New Roman" pitchFamily="18" charset="0"/>
              </a:rPr>
              <a:t>混合型</a:t>
            </a:r>
            <a:r>
              <a:rPr lang="zh-CN" altLang="zh-CN" dirty="0">
                <a:solidFill>
                  <a:srgbClr val="000000"/>
                </a:solidFill>
                <a:latin typeface="Times New Roman" pitchFamily="18" charset="0"/>
                <a:ea typeface="方正粗黑宋简体" pitchFamily="2" charset="-122"/>
                <a:cs typeface="Times New Roman" pitchFamily="18" charset="0"/>
              </a:rPr>
              <a:t>电路</a:t>
            </a:r>
            <a:endParaRPr lang="zh-CN" altLang="en-US" dirty="0">
              <a:solidFill>
                <a:srgbClr val="000000"/>
              </a:solidFill>
              <a:latin typeface="Times New Roman" pitchFamily="18" charset="0"/>
              <a:ea typeface="方正粗黑宋简体" pitchFamily="2" charset="-122"/>
              <a:cs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1000" fill="hold"/>
                                        <p:tgtEl>
                                          <p:spTgt spid="16"/>
                                        </p:tgtEl>
                                        <p:attrNameLst>
                                          <p:attrName>ppt_x</p:attrName>
                                        </p:attrNameLst>
                                      </p:cBhvr>
                                      <p:tavLst>
                                        <p:tav tm="0">
                                          <p:val>
                                            <p:strVal val="#ppt_x"/>
                                          </p:val>
                                        </p:tav>
                                        <p:tav tm="100000">
                                          <p:val>
                                            <p:strVal val="#ppt_x"/>
                                          </p:val>
                                        </p:tav>
                                      </p:tavLst>
                                    </p:anim>
                                    <p:anim calcmode="lin" valueType="num">
                                      <p:cBhvr additive="base">
                                        <p:cTn id="18"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000" fill="hold"/>
                                        <p:tgtEl>
                                          <p:spTgt spid="6"/>
                                        </p:tgtEl>
                                        <p:attrNameLst>
                                          <p:attrName>ppt_x</p:attrName>
                                        </p:attrNameLst>
                                      </p:cBhvr>
                                      <p:tavLst>
                                        <p:tav tm="0">
                                          <p:val>
                                            <p:strVal val="#ppt_x"/>
                                          </p:val>
                                        </p:tav>
                                        <p:tav tm="100000">
                                          <p:val>
                                            <p:strVal val="#ppt_x"/>
                                          </p:val>
                                        </p:tav>
                                      </p:tavLst>
                                    </p:anim>
                                    <p:anim calcmode="lin" valueType="num">
                                      <p:cBhvr additive="base">
                                        <p:cTn id="24" dur="1000" fill="hold"/>
                                        <p:tgtEl>
                                          <p:spTgt spid="6"/>
                                        </p:tgtEl>
                                        <p:attrNameLst>
                                          <p:attrName>ppt_y</p:attrName>
                                        </p:attrNameLst>
                                      </p:cBhvr>
                                      <p:tavLst>
                                        <p:tav tm="0">
                                          <p:val>
                                            <p:strVal val="1+#ppt_h/2"/>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1000" fill="hold"/>
                                        <p:tgtEl>
                                          <p:spTgt spid="8"/>
                                        </p:tgtEl>
                                        <p:attrNameLst>
                                          <p:attrName>ppt_x</p:attrName>
                                        </p:attrNameLst>
                                      </p:cBhvr>
                                      <p:tavLst>
                                        <p:tav tm="0">
                                          <p:val>
                                            <p:strVal val="#ppt_x"/>
                                          </p:val>
                                        </p:tav>
                                        <p:tav tm="100000">
                                          <p:val>
                                            <p:strVal val="#ppt_x"/>
                                          </p:val>
                                        </p:tav>
                                      </p:tavLst>
                                    </p:anim>
                                    <p:anim calcmode="lin" valueType="num">
                                      <p:cBhvr additive="base">
                                        <p:cTn id="29" dur="1000" fill="hold"/>
                                        <p:tgtEl>
                                          <p:spTgt spid="8"/>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8" presetClass="entr" presetSubtype="16"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amond(in)">
                                      <p:cBhvr>
                                        <p:cTn id="33" dur="1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slide(fromBottom)">
                                      <p:cBhvr>
                                        <p:cTn id="3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6"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xmlns="" id="{089B5F61-7B31-4D9C-AEEC-A7EDF3D9359B}"/>
              </a:ext>
            </a:extLst>
          </p:cNvPr>
          <p:cNvSpPr txBox="1"/>
          <p:nvPr/>
        </p:nvSpPr>
        <p:spPr>
          <a:xfrm>
            <a:off x="324432" y="1522538"/>
            <a:ext cx="8584565" cy="773289"/>
          </a:xfrm>
          <a:prstGeom prst="rect">
            <a:avLst/>
          </a:prstGeom>
          <a:noFill/>
        </p:spPr>
        <p:txBody>
          <a:bodyPr wrap="square">
            <a:spAutoFit/>
          </a:bodyPr>
          <a:lstStyle/>
          <a:p>
            <a:pPr indent="449263" algn="just">
              <a:lnSpc>
                <a:spcPct val="150000"/>
              </a:lnSpc>
              <a:spcBef>
                <a:spcPts val="600"/>
              </a:spcBef>
            </a:pP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数字信号从逻辑上一般只有</a:t>
            </a:r>
            <a:r>
              <a:rPr lang="en-US" altLang="zh-CN" sz="1600" b="1" dirty="0">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0</a:t>
            </a:r>
            <a:r>
              <a:rPr lang="zh-CN" altLang="zh-CN" sz="1600" b="1" dirty="0">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1600" b="1" dirty="0">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1</a:t>
            </a:r>
            <a:r>
              <a:rPr lang="zh-CN" altLang="zh-CN" sz="1600" b="1" dirty="0">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两种对立逻辑状态</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，对应电路的输出状态为</a:t>
            </a:r>
            <a:r>
              <a:rPr lang="zh-CN" altLang="zh-CN" sz="1600" b="1" dirty="0">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高、低两种电平</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，器件工作在</a:t>
            </a:r>
            <a:r>
              <a:rPr lang="zh-CN" altLang="zh-CN" sz="1600" dirty="0">
                <a:solidFill>
                  <a:srgbClr val="CC00CC"/>
                </a:solidFill>
                <a:effectLst/>
                <a:latin typeface="黑体" panose="02010609060101010101" pitchFamily="49" charset="-122"/>
                <a:ea typeface="黑体" panose="02010609060101010101" pitchFamily="49" charset="-122"/>
                <a:cs typeface="Times New Roman" panose="02020603050405020304" pitchFamily="18" charset="0"/>
              </a:rPr>
              <a:t>导通和截止两种状态</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a:t>
            </a:r>
            <a:r>
              <a:rPr lang="zh-CN" altLang="en-US" sz="1600" dirty="0">
                <a:latin typeface="黑体" panose="02010609060101010101" pitchFamily="49" charset="-122"/>
                <a:ea typeface="黑体" panose="02010609060101010101" pitchFamily="49" charset="-122"/>
                <a:cs typeface="Times New Roman" panose="02020603050405020304" pitchFamily="18" charset="0"/>
              </a:rPr>
              <a:t>与</a:t>
            </a: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模拟电路相比，数字电路具有如下特点：</a:t>
            </a:r>
          </a:p>
        </p:txBody>
      </p:sp>
      <p:grpSp>
        <p:nvGrpSpPr>
          <p:cNvPr id="36" name="组合 35"/>
          <p:cNvGrpSpPr/>
          <p:nvPr/>
        </p:nvGrpSpPr>
        <p:grpSpPr>
          <a:xfrm>
            <a:off x="231982" y="692994"/>
            <a:ext cx="4119039" cy="418885"/>
            <a:chOff x="670560" y="892917"/>
            <a:chExt cx="4119039" cy="465428"/>
          </a:xfrm>
        </p:grpSpPr>
        <p:sp>
          <p:nvSpPr>
            <p:cNvPr id="37" name="矩形 36"/>
            <p:cNvSpPr/>
            <p:nvPr/>
          </p:nvSpPr>
          <p:spPr>
            <a:xfrm>
              <a:off x="1035233" y="913778"/>
              <a:ext cx="375436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、数字集成电路的分类及特点</a:t>
              </a:r>
            </a:p>
          </p:txBody>
        </p:sp>
        <p:pic>
          <p:nvPicPr>
            <p:cNvPr id="38"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3" name="Rectangle 6"/>
          <p:cNvSpPr>
            <a:spLocks noChangeArrowheads="1"/>
          </p:cNvSpPr>
          <p:nvPr/>
        </p:nvSpPr>
        <p:spPr bwMode="auto">
          <a:xfrm>
            <a:off x="382588" y="1189578"/>
            <a:ext cx="2935419" cy="369332"/>
          </a:xfrm>
          <a:prstGeom prst="rect">
            <a:avLst/>
          </a:prstGeom>
          <a:noFill/>
          <a:ln w="9525" algn="ctr">
            <a:noFill/>
            <a:miter lim="800000"/>
            <a:headEnd/>
            <a:tailEnd/>
          </a:ln>
        </p:spPr>
        <p:txBody>
          <a:bodyPr wrap="none">
            <a:spAutoFit/>
          </a:bodyPr>
          <a:lstStyle/>
          <a:p>
            <a:pPr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）数字集成电路的特点 </a:t>
            </a:r>
          </a:p>
        </p:txBody>
      </p:sp>
      <p:sp>
        <p:nvSpPr>
          <p:cNvPr id="6146" name="AutoShape 2" descr="http://img4.imgtn.bdimg.com/it/u=3566492144,3051011700&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149" name="AutoShape 5" descr="http://img2.imgtn.bdimg.com/it/u=1433648076,1634502908&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11" name="Picture 2" descr="http://spider.nosdn.127.net/4f9e1a2350ae28ce0a2be0bd544a62cc.jpeg"/>
          <p:cNvPicPr>
            <a:picLocks noChangeAspect="1" noChangeArrowheads="1"/>
          </p:cNvPicPr>
          <p:nvPr/>
        </p:nvPicPr>
        <p:blipFill>
          <a:blip r:embed="rId4" cstate="print"/>
          <a:srcRect/>
          <a:stretch>
            <a:fillRect/>
          </a:stretch>
        </p:blipFill>
        <p:spPr bwMode="auto">
          <a:xfrm>
            <a:off x="7069067" y="558088"/>
            <a:ext cx="1957705" cy="1081598"/>
          </a:xfrm>
          <a:prstGeom prst="rect">
            <a:avLst/>
          </a:prstGeom>
          <a:ln>
            <a:noFill/>
          </a:ln>
          <a:effectLst>
            <a:softEdge rad="112500"/>
          </a:effectLst>
        </p:spPr>
      </p:pic>
      <p:sp>
        <p:nvSpPr>
          <p:cNvPr id="13" name="文本框 12">
            <a:extLst>
              <a:ext uri="{FF2B5EF4-FFF2-40B4-BE49-F238E27FC236}">
                <a16:creationId xmlns:a16="http://schemas.microsoft.com/office/drawing/2014/main" xmlns="" id="{B86447DE-B4DD-4538-B450-D51CD9AF920F}"/>
              </a:ext>
            </a:extLst>
          </p:cNvPr>
          <p:cNvSpPr txBox="1"/>
          <p:nvPr/>
        </p:nvSpPr>
        <p:spPr>
          <a:xfrm>
            <a:off x="460375" y="2365490"/>
            <a:ext cx="8448622" cy="2373727"/>
          </a:xfrm>
          <a:prstGeom prst="rect">
            <a:avLst/>
          </a:prstGeom>
          <a:noFill/>
        </p:spPr>
        <p:txBody>
          <a:bodyPr wrap="square">
            <a:spAutoFit/>
          </a:bodyPr>
          <a:lstStyle/>
          <a:p>
            <a:pPr marL="285750" indent="-19050" algn="just">
              <a:lnSpc>
                <a:spcPct val="150000"/>
              </a:lnSpc>
              <a:spcBef>
                <a:spcPts val="600"/>
              </a:spcBef>
              <a:buFont typeface="Wingdings" panose="05000000000000000000" pitchFamily="2" charset="2"/>
              <a:buChar char="u"/>
            </a:pPr>
            <a:r>
              <a:rPr lang="en-US" altLang="zh-CN" sz="1400" dirty="0">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1400" dirty="0">
                <a:effectLst/>
                <a:latin typeface="黑体" panose="02010609060101010101" pitchFamily="49" charset="-122"/>
                <a:ea typeface="黑体" panose="02010609060101010101" pitchFamily="49" charset="-122"/>
                <a:cs typeface="Times New Roman" panose="02020603050405020304" pitchFamily="18" charset="0"/>
              </a:rPr>
              <a:t>信息处理能力强，处理精度高，能够实现大规模的信息的存储、处理和传输；</a:t>
            </a:r>
          </a:p>
          <a:p>
            <a:pPr marL="285750" indent="-19050" algn="just">
              <a:lnSpc>
                <a:spcPct val="150000"/>
              </a:lnSpc>
              <a:buFont typeface="Wingdings" panose="05000000000000000000" pitchFamily="2" charset="2"/>
              <a:buChar char="u"/>
            </a:pPr>
            <a:r>
              <a:rPr lang="en-US" altLang="zh-CN" sz="1400" dirty="0">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1400" dirty="0">
                <a:effectLst/>
                <a:latin typeface="黑体" panose="02010609060101010101" pitchFamily="49" charset="-122"/>
                <a:ea typeface="黑体" panose="02010609060101010101" pitchFamily="49" charset="-122"/>
                <a:cs typeface="Times New Roman" panose="02020603050405020304" pitchFamily="18" charset="0"/>
              </a:rPr>
              <a:t>稳定性高，抗干扰能力强，结果再现性好；</a:t>
            </a:r>
          </a:p>
          <a:p>
            <a:pPr marL="285750" indent="-19050" algn="just">
              <a:lnSpc>
                <a:spcPct val="150000"/>
              </a:lnSpc>
              <a:buFont typeface="Wingdings" panose="05000000000000000000" pitchFamily="2" charset="2"/>
              <a:buChar char="u"/>
            </a:pPr>
            <a:r>
              <a:rPr lang="en-US" altLang="zh-CN" sz="1400" dirty="0">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1400" dirty="0">
                <a:effectLst/>
                <a:latin typeface="黑体" panose="02010609060101010101" pitchFamily="49" charset="-122"/>
                <a:ea typeface="黑体" panose="02010609060101010101" pitchFamily="49" charset="-122"/>
                <a:cs typeface="Times New Roman" panose="02020603050405020304" pitchFamily="18" charset="0"/>
              </a:rPr>
              <a:t>电路结构简单、通用性强，易于设计，便于大批量生产，成本低廉；</a:t>
            </a:r>
          </a:p>
          <a:p>
            <a:pPr marL="285750" indent="-19050" algn="just">
              <a:lnSpc>
                <a:spcPct val="150000"/>
              </a:lnSpc>
              <a:buFont typeface="Wingdings" panose="05000000000000000000" pitchFamily="2" charset="2"/>
              <a:buChar char="u"/>
            </a:pPr>
            <a:r>
              <a:rPr lang="en-US" altLang="zh-CN" sz="1400" dirty="0">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1400" dirty="0">
                <a:effectLst/>
                <a:latin typeface="黑体" panose="02010609060101010101" pitchFamily="49" charset="-122"/>
                <a:ea typeface="黑体" panose="02010609060101010101" pitchFamily="49" charset="-122"/>
                <a:cs typeface="Times New Roman" panose="02020603050405020304" pitchFamily="18" charset="0"/>
              </a:rPr>
              <a:t>具备灵活的可编程性，实现硬件设计的软件化；</a:t>
            </a:r>
          </a:p>
          <a:p>
            <a:pPr marL="285750" indent="-19050" algn="just">
              <a:lnSpc>
                <a:spcPct val="150000"/>
              </a:lnSpc>
              <a:buFont typeface="Wingdings" panose="05000000000000000000" pitchFamily="2" charset="2"/>
              <a:buChar char="u"/>
            </a:pPr>
            <a:r>
              <a:rPr lang="en-US" altLang="zh-CN" sz="1400" dirty="0">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1400" dirty="0">
                <a:effectLst/>
                <a:latin typeface="黑体" panose="02010609060101010101" pitchFamily="49" charset="-122"/>
                <a:ea typeface="黑体" panose="02010609060101010101" pitchFamily="49" charset="-122"/>
                <a:cs typeface="Times New Roman" panose="02020603050405020304" pitchFamily="18" charset="0"/>
              </a:rPr>
              <a:t>具有高速度、低功耗特点</a:t>
            </a:r>
            <a:r>
              <a:rPr lang="zh-CN" altLang="en-US" sz="1400" dirty="0">
                <a:effectLst/>
                <a:latin typeface="黑体" panose="02010609060101010101" pitchFamily="49" charset="-122"/>
                <a:ea typeface="黑体" panose="02010609060101010101" pitchFamily="49" charset="-122"/>
                <a:cs typeface="Times New Roman" panose="02020603050405020304" pitchFamily="18" charset="0"/>
              </a:rPr>
              <a:t>；</a:t>
            </a:r>
            <a:endParaRPr lang="en-US" altLang="zh-CN" sz="1400" dirty="0">
              <a:effectLst/>
              <a:latin typeface="黑体" panose="02010609060101010101" pitchFamily="49" charset="-122"/>
              <a:ea typeface="黑体" panose="02010609060101010101" pitchFamily="49" charset="-122"/>
              <a:cs typeface="Times New Roman" panose="02020603050405020304" pitchFamily="18" charset="0"/>
            </a:endParaRPr>
          </a:p>
          <a:p>
            <a:pPr marL="285750" indent="-19050" algn="just">
              <a:lnSpc>
                <a:spcPct val="150000"/>
              </a:lnSpc>
              <a:buFont typeface="Wingdings" panose="05000000000000000000" pitchFamily="2" charset="2"/>
              <a:buChar char="u"/>
            </a:pPr>
            <a:r>
              <a:rPr lang="en-US" altLang="zh-CN" sz="1400" dirty="0">
                <a:latin typeface="黑体" panose="02010609060101010101" pitchFamily="49" charset="-122"/>
                <a:ea typeface="黑体" panose="02010609060101010101" pitchFamily="49" charset="-122"/>
                <a:cs typeface="Times New Roman" panose="02020603050405020304" pitchFamily="18" charset="0"/>
              </a:rPr>
              <a:t> </a:t>
            </a:r>
            <a:r>
              <a:rPr lang="zh-CN" altLang="en-US" sz="1400" dirty="0">
                <a:latin typeface="黑体" panose="02010609060101010101" pitchFamily="49" charset="-122"/>
                <a:ea typeface="黑体" panose="02010609060101010101" pitchFamily="49" charset="-122"/>
                <a:cs typeface="Times New Roman" panose="02020603050405020304" pitchFamily="18" charset="0"/>
              </a:rPr>
              <a:t>便于信息的加密、解码等。</a:t>
            </a:r>
            <a:endParaRPr lang="zh-CN" altLang="zh-CN" sz="1400" dirty="0">
              <a:effectLst/>
              <a:latin typeface="黑体" panose="02010609060101010101" pitchFamily="49" charset="-122"/>
              <a:ea typeface="黑体" panose="02010609060101010101" pitchFamily="49" charset="-122"/>
              <a:cs typeface="Times New Roman" panose="02020603050405020304" pitchFamily="18" charset="0"/>
            </a:endParaRPr>
          </a:p>
          <a:p>
            <a:pPr indent="266700" algn="just">
              <a:lnSpc>
                <a:spcPct val="125000"/>
              </a:lnSpc>
              <a:spcBef>
                <a:spcPts val="600"/>
              </a:spcBef>
            </a:pPr>
            <a:r>
              <a:rPr lang="zh-CN" altLang="zh-CN" sz="1600" dirty="0">
                <a:effectLst/>
                <a:latin typeface="黑体" panose="02010609060101010101" pitchFamily="49" charset="-122"/>
                <a:ea typeface="黑体" panose="02010609060101010101" pitchFamily="49" charset="-122"/>
                <a:cs typeface="Times New Roman" panose="02020603050405020304" pitchFamily="18" charset="0"/>
              </a:rPr>
              <a:t>数字电路在众多领域逐步取代了模拟电路，并且这一趋势将继续发展下去。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lide(fromBottom)">
                                      <p:cBhvr>
                                        <p:cTn id="7" dur="500"/>
                                        <p:tgtEl>
                                          <p:spTgt spid="43"/>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lide(fromBottom)">
                                      <p:cBhvr>
                                        <p:cTn id="11" dur="1000"/>
                                        <p:tgtEl>
                                          <p:spTgt spid="12"/>
                                        </p:tgtEl>
                                      </p:cBhvr>
                                    </p:animEffect>
                                  </p:childTnLst>
                                </p:cTn>
                              </p:par>
                            </p:childTnLst>
                          </p:cTn>
                        </p:par>
                        <p:par>
                          <p:cTn id="12" fill="hold">
                            <p:stCondLst>
                              <p:cond delay="1500"/>
                            </p:stCondLst>
                            <p:childTnLst>
                              <p:par>
                                <p:cTn id="13" presetID="42"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3"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6"/>
          <p:cNvGrpSpPr/>
          <p:nvPr/>
        </p:nvGrpSpPr>
        <p:grpSpPr>
          <a:xfrm>
            <a:off x="1101090" y="1642110"/>
            <a:ext cx="1371600" cy="684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5" name="组合 17"/>
          <p:cNvGrpSpPr/>
          <p:nvPr/>
        </p:nvGrpSpPr>
        <p:grpSpPr>
          <a:xfrm>
            <a:off x="6442710" y="2823210"/>
            <a:ext cx="1371600" cy="684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1949922"/>
            <a:ext cx="6498792" cy="1284967"/>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1</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数字逻辑基础</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1.2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数字信号及其描述方法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par>
                                <p:cTn id="8" presetID="12" presetClass="entr" presetSubtype="2"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slide(fromRight)">
                                      <p:cBhvr>
                                        <p:cTn id="10" dur="500"/>
                                        <p:tgtEl>
                                          <p:spTgt spid="5"/>
                                        </p:tgtEl>
                                      </p:cBhvr>
                                    </p:animEffect>
                                  </p:childTnLst>
                                </p:cTn>
                              </p:par>
                              <p:par>
                                <p:cTn id="11" presetID="17" presetClass="entr" presetSubtype="1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p:cTn id="13" dur="1000" fill="hold"/>
                                        <p:tgtEl>
                                          <p:spTgt spid="33"/>
                                        </p:tgtEl>
                                        <p:attrNameLst>
                                          <p:attrName>ppt_w</p:attrName>
                                        </p:attrNameLst>
                                      </p:cBhvr>
                                      <p:tavLst>
                                        <p:tav tm="0">
                                          <p:val>
                                            <p:fltVal val="0"/>
                                          </p:val>
                                        </p:tav>
                                        <p:tav tm="100000">
                                          <p:val>
                                            <p:strVal val="#ppt_w"/>
                                          </p:val>
                                        </p:tav>
                                      </p:tavLst>
                                    </p:anim>
                                    <p:anim calcmode="lin" valueType="num">
                                      <p:cBhvr>
                                        <p:cTn id="14" dur="1000" fill="hold"/>
                                        <p:tgtEl>
                                          <p:spTgt spid="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227333" y="702128"/>
            <a:ext cx="3272841" cy="418885"/>
            <a:chOff x="670560" y="892917"/>
            <a:chExt cx="3272841" cy="465428"/>
          </a:xfrm>
        </p:grpSpPr>
        <p:sp>
          <p:nvSpPr>
            <p:cNvPr id="21" name="矩形 20"/>
            <p:cNvSpPr/>
            <p:nvPr/>
          </p:nvSpPr>
          <p:spPr>
            <a:xfrm>
              <a:off x="1035233" y="913778"/>
              <a:ext cx="290816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、模拟信号和数字信号</a:t>
              </a:r>
            </a:p>
          </p:txBody>
        </p:sp>
        <p:pic>
          <p:nvPicPr>
            <p:cNvPr id="2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7" name="组合 26"/>
          <p:cNvGrpSpPr/>
          <p:nvPr/>
        </p:nvGrpSpPr>
        <p:grpSpPr>
          <a:xfrm>
            <a:off x="749456" y="1561503"/>
            <a:ext cx="5683094" cy="707886"/>
            <a:chOff x="749456" y="1735002"/>
            <a:chExt cx="5683094" cy="786540"/>
          </a:xfrm>
        </p:grpSpPr>
        <p:sp>
          <p:nvSpPr>
            <p:cNvPr id="67" name="矩形 66"/>
            <p:cNvSpPr/>
            <p:nvPr/>
          </p:nvSpPr>
          <p:spPr>
            <a:xfrm>
              <a:off x="968335" y="1735002"/>
              <a:ext cx="5464215" cy="786540"/>
            </a:xfrm>
            <a:prstGeom prst="rect">
              <a:avLst/>
            </a:prstGeom>
          </p:spPr>
          <p:txBody>
            <a:bodyPr wrap="square">
              <a:spAutoFit/>
            </a:bodyPr>
            <a:lstStyle/>
            <a:p>
              <a:pPr>
                <a:lnSpc>
                  <a:spcPct val="125000"/>
                </a:lnSpc>
              </a:pPr>
              <a:r>
                <a:rPr lang="zh-CN" altLang="en-US" sz="1600" dirty="0">
                  <a:latin typeface="黑体" pitchFamily="49" charset="-122"/>
                  <a:ea typeface="黑体" pitchFamily="49" charset="-122"/>
                </a:rPr>
                <a:t>时间和幅值均连续变化的电信号称为</a:t>
              </a:r>
              <a:r>
                <a:rPr lang="zh-CN" altLang="en-US" sz="1600" b="1" dirty="0">
                  <a:solidFill>
                    <a:srgbClr val="FF00FF"/>
                  </a:solidFill>
                  <a:effectLst>
                    <a:outerShdw blurRad="38100" dist="38100" dir="2700000" algn="tl">
                      <a:srgbClr val="000000">
                        <a:alpha val="43137"/>
                      </a:srgbClr>
                    </a:outerShdw>
                  </a:effectLst>
                  <a:latin typeface="黑体" pitchFamily="49" charset="-122"/>
                  <a:ea typeface="黑体" pitchFamily="49" charset="-122"/>
                </a:rPr>
                <a:t>模拟信号</a:t>
              </a:r>
              <a:r>
                <a:rPr lang="zh-CN" altLang="zh-CN" sz="1600" dirty="0">
                  <a:latin typeface="黑体" pitchFamily="49" charset="-122"/>
                  <a:ea typeface="黑体" pitchFamily="49" charset="-122"/>
                </a:rPr>
                <a:t>（通常是电压或电流信号）</a:t>
              </a:r>
              <a:r>
                <a:rPr lang="zh-CN" altLang="zh-CN" sz="1600" dirty="0"/>
                <a:t> </a:t>
              </a:r>
              <a:r>
                <a:rPr lang="zh-CN" altLang="en-US" sz="1600" dirty="0">
                  <a:latin typeface="黑体" pitchFamily="49" charset="-122"/>
                  <a:ea typeface="黑体" pitchFamily="49" charset="-122"/>
                </a:rPr>
                <a:t>，如正弦波、三角波等 。</a:t>
              </a:r>
              <a:endParaRPr lang="zh-CN" altLang="en-US" sz="1600" dirty="0"/>
            </a:p>
          </p:txBody>
        </p:sp>
        <p:grpSp>
          <p:nvGrpSpPr>
            <p:cNvPr id="4" name="组合 13">
              <a:extLst>
                <a:ext uri="{FF2B5EF4-FFF2-40B4-BE49-F238E27FC236}">
                  <a16:creationId xmlns:a16="http://schemas.microsoft.com/office/drawing/2014/main" xmlns="" id="{FF3B2FB4-753E-483C-B856-C25711218C46}"/>
                </a:ext>
              </a:extLst>
            </p:cNvPr>
            <p:cNvGrpSpPr/>
            <p:nvPr/>
          </p:nvGrpSpPr>
          <p:grpSpPr>
            <a:xfrm>
              <a:off x="749456" y="1817321"/>
              <a:ext cx="217678" cy="240080"/>
              <a:chOff x="5908675" y="1281113"/>
              <a:chExt cx="246063" cy="260350"/>
            </a:xfrm>
            <a:solidFill>
              <a:srgbClr val="CC6600"/>
            </a:solidFill>
            <a:effectLst/>
          </p:grpSpPr>
          <p:sp>
            <p:nvSpPr>
              <p:cNvPr id="15"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6"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7"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9"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20"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sp>
        <p:nvSpPr>
          <p:cNvPr id="24" name="矩形 23"/>
          <p:cNvSpPr/>
          <p:nvPr/>
        </p:nvSpPr>
        <p:spPr>
          <a:xfrm>
            <a:off x="459462" y="1112818"/>
            <a:ext cx="171232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）模拟信号</a:t>
            </a:r>
          </a:p>
        </p:txBody>
      </p:sp>
      <p:grpSp>
        <p:nvGrpSpPr>
          <p:cNvPr id="26" name="组合 25"/>
          <p:cNvGrpSpPr/>
          <p:nvPr/>
        </p:nvGrpSpPr>
        <p:grpSpPr>
          <a:xfrm>
            <a:off x="6439615" y="716714"/>
            <a:ext cx="2359660" cy="2867025"/>
            <a:chOff x="6616700" y="800100"/>
            <a:chExt cx="2038350" cy="2686050"/>
          </a:xfrm>
        </p:grpSpPr>
        <p:graphicFrame>
          <p:nvGraphicFramePr>
            <p:cNvPr id="47" name="Object 7">
              <a:extLst>
                <a:ext uri="{FF2B5EF4-FFF2-40B4-BE49-F238E27FC236}">
                  <a16:creationId xmlns:a16="http://schemas.microsoft.com/office/drawing/2014/main" xmlns="" id="{CAA44965-B1AD-4C53-A7B6-2CDEC3A279CA}"/>
                </a:ext>
              </a:extLst>
            </p:cNvPr>
            <p:cNvGraphicFramePr>
              <a:graphicFrameLocks noChangeAspect="1"/>
            </p:cNvGraphicFramePr>
            <p:nvPr/>
          </p:nvGraphicFramePr>
          <p:xfrm>
            <a:off x="6756400" y="850900"/>
            <a:ext cx="1841500" cy="2451100"/>
          </p:xfrm>
          <a:graphic>
            <a:graphicData uri="http://schemas.openxmlformats.org/presentationml/2006/ole">
              <mc:AlternateContent xmlns:mc="http://schemas.openxmlformats.org/markup-compatibility/2006">
                <mc:Choice xmlns:v="urn:schemas-microsoft-com:vml" Requires="v">
                  <p:oleObj spid="_x0000_s21512" name="Visio" r:id="rId5" imgW="1134215" imgH="1664917" progId="Visio.Drawing.11">
                    <p:embed/>
                  </p:oleObj>
                </mc:Choice>
                <mc:Fallback>
                  <p:oleObj name="Visio" r:id="rId5" imgW="1134215" imgH="1664917" progId="Visio.Drawing.11">
                    <p:embed/>
                    <p:pic>
                      <p:nvPicPr>
                        <p:cNvPr id="47" name="Object 7">
                          <a:extLst>
                            <a:ext uri="{FF2B5EF4-FFF2-40B4-BE49-F238E27FC236}">
                              <a16:creationId xmlns:a16="http://schemas.microsoft.com/office/drawing/2014/main" xmlns="" id="{CAA44965-B1AD-4C53-A7B6-2CDEC3A279CA}"/>
                            </a:ext>
                          </a:extLst>
                        </p:cNvPr>
                        <p:cNvPicPr>
                          <a:picLocks noChangeAspect="1" noChangeArrowheads="1"/>
                        </p:cNvPicPr>
                        <p:nvPr/>
                      </p:nvPicPr>
                      <p:blipFill>
                        <a:blip r:embed="rId6"/>
                        <a:srcRect/>
                        <a:stretch>
                          <a:fillRect/>
                        </a:stretch>
                      </p:blipFill>
                      <p:spPr bwMode="auto">
                        <a:xfrm>
                          <a:off x="6756400" y="850900"/>
                          <a:ext cx="18415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mpd="dbl">
                              <a:solidFill>
                                <a:schemeClr val="accent2"/>
                              </a:solidFill>
                              <a:miter lim="800000"/>
                              <a:headEnd/>
                              <a:tailEnd/>
                            </a14:hiddenLine>
                          </a:ext>
                        </a:extLst>
                      </p:spPr>
                    </p:pic>
                  </p:oleObj>
                </mc:Fallback>
              </mc:AlternateContent>
            </a:graphicData>
          </a:graphic>
        </p:graphicFrame>
        <p:sp>
          <p:nvSpPr>
            <p:cNvPr id="25" name="剪去对角的矩形 24"/>
            <p:cNvSpPr/>
            <p:nvPr/>
          </p:nvSpPr>
          <p:spPr>
            <a:xfrm>
              <a:off x="6616700" y="800100"/>
              <a:ext cx="2038350" cy="2686050"/>
            </a:xfrm>
            <a:prstGeom prst="snip2DiagRect">
              <a:avLst>
                <a:gd name="adj1" fmla="val 0"/>
                <a:gd name="adj2" fmla="val 8879"/>
              </a:avLst>
            </a:prstGeom>
            <a:noFill/>
            <a:ln w="28575">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p:nvGrpSpPr>
        <p:grpSpPr>
          <a:xfrm>
            <a:off x="729664" y="2756074"/>
            <a:ext cx="5607636" cy="338554"/>
            <a:chOff x="653464" y="2954358"/>
            <a:chExt cx="5607636" cy="376171"/>
          </a:xfrm>
        </p:grpSpPr>
        <p:sp>
          <p:nvSpPr>
            <p:cNvPr id="29" name="矩形 28"/>
            <p:cNvSpPr/>
            <p:nvPr/>
          </p:nvSpPr>
          <p:spPr>
            <a:xfrm>
              <a:off x="861609" y="2954358"/>
              <a:ext cx="5399491" cy="376171"/>
            </a:xfrm>
            <a:prstGeom prst="rect">
              <a:avLst/>
            </a:prstGeom>
          </p:spPr>
          <p:txBody>
            <a:bodyPr wrap="square">
              <a:spAutoFit/>
            </a:bodyPr>
            <a:lstStyle/>
            <a:p>
              <a:r>
                <a:rPr lang="zh-CN" altLang="en-US" sz="1600" dirty="0">
                  <a:latin typeface="黑体" pitchFamily="49" charset="-122"/>
                  <a:ea typeface="黑体" pitchFamily="49" charset="-122"/>
                </a:rPr>
                <a:t>在时间和幅度取值均为离散值的信号称为</a:t>
              </a:r>
              <a:r>
                <a:rPr lang="zh-CN" altLang="en-US" sz="1600" b="1" dirty="0">
                  <a:solidFill>
                    <a:srgbClr val="FF00FF"/>
                  </a:solidFill>
                  <a:effectLst>
                    <a:outerShdw blurRad="38100" dist="38100" dir="2700000" algn="tl">
                      <a:srgbClr val="000000">
                        <a:alpha val="43137"/>
                      </a:srgbClr>
                    </a:outerShdw>
                  </a:effectLst>
                  <a:latin typeface="黑体" pitchFamily="49" charset="-122"/>
                  <a:ea typeface="黑体" pitchFamily="49" charset="-122"/>
                </a:rPr>
                <a:t>数字信号</a:t>
              </a:r>
              <a:r>
                <a:rPr lang="zh-CN" altLang="en-US" sz="1600" dirty="0">
                  <a:latin typeface="黑体" pitchFamily="49" charset="-122"/>
                  <a:ea typeface="黑体" pitchFamily="49" charset="-122"/>
                </a:rPr>
                <a:t>。</a:t>
              </a:r>
            </a:p>
          </p:txBody>
        </p:sp>
        <p:grpSp>
          <p:nvGrpSpPr>
            <p:cNvPr id="30" name="组合 31">
              <a:extLst>
                <a:ext uri="{FF2B5EF4-FFF2-40B4-BE49-F238E27FC236}">
                  <a16:creationId xmlns:a16="http://schemas.microsoft.com/office/drawing/2014/main" xmlns="" id="{51ECEF4A-9737-40F7-8671-3C639A657472}"/>
                </a:ext>
              </a:extLst>
            </p:cNvPr>
            <p:cNvGrpSpPr/>
            <p:nvPr/>
          </p:nvGrpSpPr>
          <p:grpSpPr>
            <a:xfrm>
              <a:off x="653464" y="3001053"/>
              <a:ext cx="222836" cy="245164"/>
              <a:chOff x="5908675" y="1281113"/>
              <a:chExt cx="246063" cy="260350"/>
            </a:xfrm>
            <a:solidFill>
              <a:srgbClr val="CC6600"/>
            </a:solidFill>
            <a:effectLst/>
          </p:grpSpPr>
          <p:sp>
            <p:nvSpPr>
              <p:cNvPr id="31" name="Rectangle 5">
                <a:extLst>
                  <a:ext uri="{FF2B5EF4-FFF2-40B4-BE49-F238E27FC236}">
                    <a16:creationId xmlns:a16="http://schemas.microsoft.com/office/drawing/2014/main" xmlns="" id="{8368FABB-9B19-4B21-82C6-3F3B3FC0C3C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2" name="Freeform 6">
                <a:extLst>
                  <a:ext uri="{FF2B5EF4-FFF2-40B4-BE49-F238E27FC236}">
                    <a16:creationId xmlns:a16="http://schemas.microsoft.com/office/drawing/2014/main" xmlns="" id="{390437BA-075F-4CC8-BDF5-69C1DC2744E2}"/>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3" name="Freeform 7">
                <a:extLst>
                  <a:ext uri="{FF2B5EF4-FFF2-40B4-BE49-F238E27FC236}">
                    <a16:creationId xmlns:a16="http://schemas.microsoft.com/office/drawing/2014/main" xmlns="" id="{7924EE5E-C229-4FA8-B33D-CE2D0353BCB6}"/>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4" name="Freeform 8">
                <a:extLst>
                  <a:ext uri="{FF2B5EF4-FFF2-40B4-BE49-F238E27FC236}">
                    <a16:creationId xmlns:a16="http://schemas.microsoft.com/office/drawing/2014/main" xmlns="" id="{86FF0EAF-F321-4220-8D2E-34A6BB5AF7B2}"/>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5" name="Freeform 9">
                <a:extLst>
                  <a:ext uri="{FF2B5EF4-FFF2-40B4-BE49-F238E27FC236}">
                    <a16:creationId xmlns:a16="http://schemas.microsoft.com/office/drawing/2014/main" xmlns="" id="{ECDED55B-B5F9-475B-85F6-DF0895466A15}"/>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sp>
        <p:nvSpPr>
          <p:cNvPr id="37" name="矩形 36"/>
          <p:cNvSpPr/>
          <p:nvPr/>
        </p:nvSpPr>
        <p:spPr>
          <a:xfrm>
            <a:off x="434062" y="2312968"/>
            <a:ext cx="171232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）数字信号</a:t>
            </a:r>
          </a:p>
        </p:txBody>
      </p:sp>
      <p:pic>
        <p:nvPicPr>
          <p:cNvPr id="5" name="图片 4">
            <a:extLst>
              <a:ext uri="{FF2B5EF4-FFF2-40B4-BE49-F238E27FC236}">
                <a16:creationId xmlns:a16="http://schemas.microsoft.com/office/drawing/2014/main" xmlns="" id="{BE8DBCA2-3CAD-4964-B4D0-055518924BC3}"/>
              </a:ext>
            </a:extLst>
          </p:cNvPr>
          <p:cNvPicPr>
            <a:picLocks noChangeAspect="1"/>
          </p:cNvPicPr>
          <p:nvPr/>
        </p:nvPicPr>
        <p:blipFill>
          <a:blip r:embed="rId7"/>
          <a:stretch>
            <a:fillRect/>
          </a:stretch>
        </p:blipFill>
        <p:spPr>
          <a:xfrm>
            <a:off x="1070664" y="3217723"/>
            <a:ext cx="3026356" cy="1625918"/>
          </a:xfrm>
          <a:prstGeom prst="rect">
            <a:avLst/>
          </a:prstGeom>
          <a:ln w="12700">
            <a:solidFill>
              <a:schemeClr val="accent1">
                <a:lumMod val="75000"/>
              </a:schemeClr>
            </a:solidFill>
          </a:ln>
        </p:spPr>
      </p:pic>
      <p:grpSp>
        <p:nvGrpSpPr>
          <p:cNvPr id="9" name="组合 8">
            <a:extLst>
              <a:ext uri="{FF2B5EF4-FFF2-40B4-BE49-F238E27FC236}">
                <a16:creationId xmlns:a16="http://schemas.microsoft.com/office/drawing/2014/main" xmlns="" id="{B123C1E9-4AD7-4318-8473-24486C902644}"/>
              </a:ext>
            </a:extLst>
          </p:cNvPr>
          <p:cNvGrpSpPr/>
          <p:nvPr/>
        </p:nvGrpSpPr>
        <p:grpSpPr>
          <a:xfrm>
            <a:off x="4886390" y="4030682"/>
            <a:ext cx="3612958" cy="616861"/>
            <a:chOff x="4886390" y="4030682"/>
            <a:chExt cx="3612958" cy="616861"/>
          </a:xfrm>
        </p:grpSpPr>
        <p:sp>
          <p:nvSpPr>
            <p:cNvPr id="7" name="箭头: V 形 6">
              <a:extLst>
                <a:ext uri="{FF2B5EF4-FFF2-40B4-BE49-F238E27FC236}">
                  <a16:creationId xmlns:a16="http://schemas.microsoft.com/office/drawing/2014/main" xmlns="" id="{3C320012-AD37-4C39-9E67-22B2AAA7B6B9}"/>
                </a:ext>
              </a:extLst>
            </p:cNvPr>
            <p:cNvSpPr/>
            <p:nvPr/>
          </p:nvSpPr>
          <p:spPr>
            <a:xfrm>
              <a:off x="5768340" y="4134887"/>
              <a:ext cx="1623060" cy="408451"/>
            </a:xfrm>
            <a:prstGeom prst="chevr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模</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数转换</a:t>
              </a:r>
            </a:p>
          </p:txBody>
        </p:sp>
        <p:sp>
          <p:nvSpPr>
            <p:cNvPr id="8" name="箭头: 五边形 7">
              <a:extLst>
                <a:ext uri="{FF2B5EF4-FFF2-40B4-BE49-F238E27FC236}">
                  <a16:creationId xmlns:a16="http://schemas.microsoft.com/office/drawing/2014/main" xmlns="" id="{51283A3C-2880-47AA-995B-B00704A33478}"/>
                </a:ext>
              </a:extLst>
            </p:cNvPr>
            <p:cNvSpPr/>
            <p:nvPr/>
          </p:nvSpPr>
          <p:spPr>
            <a:xfrm>
              <a:off x="4886390" y="4030682"/>
              <a:ext cx="978408" cy="616861"/>
            </a:xfrm>
            <a:prstGeom prst="homePlat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bg1"/>
                  </a:solidFill>
                  <a:effectLst>
                    <a:outerShdw blurRad="38100" dist="38100" dir="2700000" algn="tl">
                      <a:srgbClr val="000000">
                        <a:alpha val="43137"/>
                      </a:srgbClr>
                    </a:outerShdw>
                  </a:effectLst>
                  <a:latin typeface="黑体" pitchFamily="49" charset="-122"/>
                  <a:ea typeface="黑体" pitchFamily="49" charset="-122"/>
                </a:rPr>
                <a:t>模拟信号</a:t>
              </a:r>
              <a:endParaRPr lang="zh-CN" altLang="en-US" dirty="0">
                <a:solidFill>
                  <a:schemeClr val="bg1"/>
                </a:solidFill>
              </a:endParaRPr>
            </a:p>
          </p:txBody>
        </p:sp>
        <p:sp>
          <p:nvSpPr>
            <p:cNvPr id="39" name="箭头: V 形 38">
              <a:extLst>
                <a:ext uri="{FF2B5EF4-FFF2-40B4-BE49-F238E27FC236}">
                  <a16:creationId xmlns:a16="http://schemas.microsoft.com/office/drawing/2014/main" xmlns="" id="{BACA07B1-83C0-4465-8BF6-7D8AAB634714}"/>
                </a:ext>
              </a:extLst>
            </p:cNvPr>
            <p:cNvSpPr/>
            <p:nvPr/>
          </p:nvSpPr>
          <p:spPr>
            <a:xfrm>
              <a:off x="7181088" y="4030682"/>
              <a:ext cx="1318260" cy="616861"/>
            </a:xfrm>
            <a:prstGeom prst="chevro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effectLst>
                    <a:outerShdw blurRad="38100" dist="38100" dir="2700000" algn="tl">
                      <a:srgbClr val="000000">
                        <a:alpha val="43137"/>
                      </a:srgbClr>
                    </a:outerShdw>
                  </a:effectLst>
                  <a:latin typeface="黑体" pitchFamily="49" charset="-122"/>
                  <a:ea typeface="黑体" pitchFamily="49" charset="-122"/>
                </a:rPr>
                <a:t>数字信号</a:t>
              </a:r>
            </a:p>
          </p:txBody>
        </p:sp>
      </p:grpSp>
      <p:sp>
        <p:nvSpPr>
          <p:cNvPr id="36" name="流程图: 可选过程 35">
            <a:extLst>
              <a:ext uri="{FF2B5EF4-FFF2-40B4-BE49-F238E27FC236}">
                <a16:creationId xmlns:a16="http://schemas.microsoft.com/office/drawing/2014/main" xmlns="" id="{33D8DF53-7125-4477-92FC-FB6A6F0E779E}"/>
              </a:ext>
            </a:extLst>
          </p:cNvPr>
          <p:cNvSpPr/>
          <p:nvPr/>
        </p:nvSpPr>
        <p:spPr>
          <a:xfrm>
            <a:off x="1070664" y="3642360"/>
            <a:ext cx="765756" cy="1005183"/>
          </a:xfrm>
          <a:prstGeom prst="flowChartAlternateProcess">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nchorCtr="0"/>
          <a:lstStyle/>
          <a:p>
            <a:pPr algn="ctr"/>
            <a:r>
              <a:rPr lang="zh-CN" altLang="en-US" sz="1000" dirty="0">
                <a:solidFill>
                  <a:srgbClr val="FF00FF"/>
                </a:solidFill>
                <a:latin typeface="方正粗黑宋简体" panose="02000000000000000000" pitchFamily="2" charset="-122"/>
                <a:ea typeface="方正粗黑宋简体" panose="02000000000000000000" pitchFamily="2" charset="-122"/>
              </a:rPr>
              <a:t>二进制信号</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1000"/>
                                        <p:tgtEl>
                                          <p:spTgt spid="24"/>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slide(fromBottom)">
                                      <p:cBhvr>
                                        <p:cTn id="15" dur="1000"/>
                                        <p:tgtEl>
                                          <p:spTgt spid="27"/>
                                        </p:tgtEl>
                                      </p:cBhvr>
                                    </p:animEffect>
                                  </p:childTnLst>
                                </p:cTn>
                              </p:par>
                            </p:childTnLst>
                          </p:cTn>
                        </p:par>
                        <p:par>
                          <p:cTn id="16" fill="hold">
                            <p:stCondLst>
                              <p:cond delay="3000"/>
                            </p:stCondLst>
                            <p:childTnLst>
                              <p:par>
                                <p:cTn id="17" presetID="12" presetClass="entr" presetSubtype="2"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slide(fromRight)">
                                      <p:cBhvr>
                                        <p:cTn id="19" dur="10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p:cTn id="24" dur="1000" fill="hold"/>
                                        <p:tgtEl>
                                          <p:spTgt spid="37"/>
                                        </p:tgtEl>
                                        <p:attrNameLst>
                                          <p:attrName>ppt_x</p:attrName>
                                        </p:attrNameLst>
                                      </p:cBhvr>
                                      <p:tavLst>
                                        <p:tav tm="0">
                                          <p:val>
                                            <p:strVal val="#ppt_x-#ppt_w/2"/>
                                          </p:val>
                                        </p:tav>
                                        <p:tav tm="100000">
                                          <p:val>
                                            <p:strVal val="#ppt_x"/>
                                          </p:val>
                                        </p:tav>
                                      </p:tavLst>
                                    </p:anim>
                                    <p:anim calcmode="lin" valueType="num">
                                      <p:cBhvr>
                                        <p:cTn id="25" dur="1000" fill="hold"/>
                                        <p:tgtEl>
                                          <p:spTgt spid="37"/>
                                        </p:tgtEl>
                                        <p:attrNameLst>
                                          <p:attrName>ppt_y</p:attrName>
                                        </p:attrNameLst>
                                      </p:cBhvr>
                                      <p:tavLst>
                                        <p:tav tm="0">
                                          <p:val>
                                            <p:strVal val="#ppt_y"/>
                                          </p:val>
                                        </p:tav>
                                        <p:tav tm="100000">
                                          <p:val>
                                            <p:strVal val="#ppt_y"/>
                                          </p:val>
                                        </p:tav>
                                      </p:tavLst>
                                    </p:anim>
                                    <p:anim calcmode="lin" valueType="num">
                                      <p:cBhvr>
                                        <p:cTn id="26" dur="1000" fill="hold"/>
                                        <p:tgtEl>
                                          <p:spTgt spid="37"/>
                                        </p:tgtEl>
                                        <p:attrNameLst>
                                          <p:attrName>ppt_w</p:attrName>
                                        </p:attrNameLst>
                                      </p:cBhvr>
                                      <p:tavLst>
                                        <p:tav tm="0">
                                          <p:val>
                                            <p:fltVal val="0"/>
                                          </p:val>
                                        </p:tav>
                                        <p:tav tm="100000">
                                          <p:val>
                                            <p:strVal val="#ppt_w"/>
                                          </p:val>
                                        </p:tav>
                                      </p:tavLst>
                                    </p:anim>
                                    <p:anim calcmode="lin" valueType="num">
                                      <p:cBhvr>
                                        <p:cTn id="27" dur="1000" fill="hold"/>
                                        <p:tgtEl>
                                          <p:spTgt spid="37"/>
                                        </p:tgtEl>
                                        <p:attrNameLst>
                                          <p:attrName>ppt_h</p:attrName>
                                        </p:attrNameLst>
                                      </p:cBhvr>
                                      <p:tavLst>
                                        <p:tav tm="0">
                                          <p:val>
                                            <p:strVal val="#ppt_h"/>
                                          </p:val>
                                        </p:tav>
                                        <p:tav tm="100000">
                                          <p:val>
                                            <p:strVal val="#ppt_h"/>
                                          </p:val>
                                        </p:tav>
                                      </p:tavLst>
                                    </p:anim>
                                  </p:childTnLst>
                                </p:cTn>
                              </p:par>
                            </p:childTnLst>
                          </p:cTn>
                        </p:par>
                        <p:par>
                          <p:cTn id="28" fill="hold">
                            <p:stCondLst>
                              <p:cond delay="1000"/>
                            </p:stCondLst>
                            <p:childTnLst>
                              <p:par>
                                <p:cTn id="29" presetID="12" presetClass="entr" presetSubtype="4"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slide(fromBottom)">
                                      <p:cBhvr>
                                        <p:cTn id="31" dur="1000"/>
                                        <p:tgtEl>
                                          <p:spTgt spid="38"/>
                                        </p:tgtEl>
                                      </p:cBhvr>
                                    </p:animEffect>
                                  </p:childTnLst>
                                </p:cTn>
                              </p:par>
                            </p:childTnLst>
                          </p:cTn>
                        </p:par>
                        <p:par>
                          <p:cTn id="32" fill="hold">
                            <p:stCondLst>
                              <p:cond delay="2000"/>
                            </p:stCondLst>
                            <p:childTnLst>
                              <p:par>
                                <p:cTn id="33" presetID="42"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 calcmode="lin" valueType="num">
                                      <p:cBhvr>
                                        <p:cTn id="42" dur="1000" fill="hold"/>
                                        <p:tgtEl>
                                          <p:spTgt spid="36"/>
                                        </p:tgtEl>
                                        <p:attrNameLst>
                                          <p:attrName>ppt_x</p:attrName>
                                        </p:attrNameLst>
                                      </p:cBhvr>
                                      <p:tavLst>
                                        <p:tav tm="0">
                                          <p:val>
                                            <p:strVal val="#ppt_x-#ppt_w/2"/>
                                          </p:val>
                                        </p:tav>
                                        <p:tav tm="100000">
                                          <p:val>
                                            <p:strVal val="#ppt_x"/>
                                          </p:val>
                                        </p:tav>
                                      </p:tavLst>
                                    </p:anim>
                                    <p:anim calcmode="lin" valueType="num">
                                      <p:cBhvr>
                                        <p:cTn id="43" dur="1000" fill="hold"/>
                                        <p:tgtEl>
                                          <p:spTgt spid="36"/>
                                        </p:tgtEl>
                                        <p:attrNameLst>
                                          <p:attrName>ppt_y</p:attrName>
                                        </p:attrNameLst>
                                      </p:cBhvr>
                                      <p:tavLst>
                                        <p:tav tm="0">
                                          <p:val>
                                            <p:strVal val="#ppt_y"/>
                                          </p:val>
                                        </p:tav>
                                        <p:tav tm="100000">
                                          <p:val>
                                            <p:strVal val="#ppt_y"/>
                                          </p:val>
                                        </p:tav>
                                      </p:tavLst>
                                    </p:anim>
                                    <p:anim calcmode="lin" valueType="num">
                                      <p:cBhvr>
                                        <p:cTn id="44" dur="1000" fill="hold"/>
                                        <p:tgtEl>
                                          <p:spTgt spid="36"/>
                                        </p:tgtEl>
                                        <p:attrNameLst>
                                          <p:attrName>ppt_w</p:attrName>
                                        </p:attrNameLst>
                                      </p:cBhvr>
                                      <p:tavLst>
                                        <p:tav tm="0">
                                          <p:val>
                                            <p:fltVal val="0"/>
                                          </p:val>
                                        </p:tav>
                                        <p:tav tm="100000">
                                          <p:val>
                                            <p:strVal val="#ppt_w"/>
                                          </p:val>
                                        </p:tav>
                                      </p:tavLst>
                                    </p:anim>
                                    <p:anim calcmode="lin" valueType="num">
                                      <p:cBhvr>
                                        <p:cTn id="45" dur="1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8"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1000" fill="hold"/>
                                        <p:tgtEl>
                                          <p:spTgt spid="9"/>
                                        </p:tgtEl>
                                        <p:attrNameLst>
                                          <p:attrName>ppt_x</p:attrName>
                                        </p:attrNameLst>
                                      </p:cBhvr>
                                      <p:tavLst>
                                        <p:tav tm="0">
                                          <p:val>
                                            <p:strVal val="#ppt_x-#ppt_w/2"/>
                                          </p:val>
                                        </p:tav>
                                        <p:tav tm="100000">
                                          <p:val>
                                            <p:strVal val="#ppt_x"/>
                                          </p:val>
                                        </p:tav>
                                      </p:tavLst>
                                    </p:anim>
                                    <p:anim calcmode="lin" valueType="num">
                                      <p:cBhvr>
                                        <p:cTn id="51" dur="1000" fill="hold"/>
                                        <p:tgtEl>
                                          <p:spTgt spid="9"/>
                                        </p:tgtEl>
                                        <p:attrNameLst>
                                          <p:attrName>ppt_y</p:attrName>
                                        </p:attrNameLst>
                                      </p:cBhvr>
                                      <p:tavLst>
                                        <p:tav tm="0">
                                          <p:val>
                                            <p:strVal val="#ppt_y"/>
                                          </p:val>
                                        </p:tav>
                                        <p:tav tm="100000">
                                          <p:val>
                                            <p:strVal val="#ppt_y"/>
                                          </p:val>
                                        </p:tav>
                                      </p:tavLst>
                                    </p:anim>
                                    <p:anim calcmode="lin" valueType="num">
                                      <p:cBhvr>
                                        <p:cTn id="52" dur="1000" fill="hold"/>
                                        <p:tgtEl>
                                          <p:spTgt spid="9"/>
                                        </p:tgtEl>
                                        <p:attrNameLst>
                                          <p:attrName>ppt_w</p:attrName>
                                        </p:attrNameLst>
                                      </p:cBhvr>
                                      <p:tavLst>
                                        <p:tav tm="0">
                                          <p:val>
                                            <p:fltVal val="0"/>
                                          </p:val>
                                        </p:tav>
                                        <p:tav tm="100000">
                                          <p:val>
                                            <p:strVal val="#ppt_w"/>
                                          </p:val>
                                        </p:tav>
                                      </p:tavLst>
                                    </p:anim>
                                    <p:anim calcmode="lin" valueType="num">
                                      <p:cBhvr>
                                        <p:cTn id="53" dur="1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7" grpId="0"/>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3529322" cy="418885"/>
            <a:chOff x="670560" y="892917"/>
            <a:chExt cx="3529322" cy="465428"/>
          </a:xfrm>
        </p:grpSpPr>
        <p:sp>
          <p:nvSpPr>
            <p:cNvPr id="3" name="矩形 2"/>
            <p:cNvSpPr/>
            <p:nvPr/>
          </p:nvSpPr>
          <p:spPr>
            <a:xfrm>
              <a:off x="1035233" y="913778"/>
              <a:ext cx="3164649"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二进制数字信号的表示</a:t>
              </a:r>
              <a:endParaRPr lang="zh-CN" altLang="en-US" sz="2000" b="1" dirty="0">
                <a:solidFill>
                  <a:srgbClr val="002060"/>
                </a:solidFill>
                <a:latin typeface="微软雅黑" pitchFamily="34" charset="-122"/>
                <a:ea typeface="微软雅黑" pitchFamily="34" charset="-122"/>
              </a:endParaRP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8" name="矩形 7"/>
          <p:cNvSpPr/>
          <p:nvPr/>
        </p:nvSpPr>
        <p:spPr>
          <a:xfrm>
            <a:off x="535663" y="1164253"/>
            <a:ext cx="3328155"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）二值数字逻辑和逻辑电平</a:t>
            </a:r>
          </a:p>
        </p:txBody>
      </p:sp>
      <p:grpSp>
        <p:nvGrpSpPr>
          <p:cNvPr id="5" name="组合 27"/>
          <p:cNvGrpSpPr/>
          <p:nvPr/>
        </p:nvGrpSpPr>
        <p:grpSpPr>
          <a:xfrm>
            <a:off x="931524" y="2557465"/>
            <a:ext cx="7755276" cy="707886"/>
            <a:chOff x="931524" y="2841625"/>
            <a:chExt cx="7755276" cy="786540"/>
          </a:xfrm>
        </p:grpSpPr>
        <p:sp>
          <p:nvSpPr>
            <p:cNvPr id="7" name="Rectangle 9"/>
            <p:cNvSpPr>
              <a:spLocks noChangeArrowheads="1"/>
            </p:cNvSpPr>
            <p:nvPr/>
          </p:nvSpPr>
          <p:spPr bwMode="auto">
            <a:xfrm>
              <a:off x="1252855" y="2841625"/>
              <a:ext cx="7433945" cy="786540"/>
            </a:xfrm>
            <a:prstGeom prst="rect">
              <a:avLst/>
            </a:prstGeom>
            <a:noFill/>
            <a:ln w="9525" algn="ctr">
              <a:noFill/>
              <a:miter lim="800000"/>
              <a:headEnd/>
              <a:tailEnd/>
            </a:ln>
          </p:spPr>
          <p:txBody>
            <a:bodyPr wrap="square">
              <a:spAutoFit/>
            </a:bodyPr>
            <a:lstStyle/>
            <a:p>
              <a:pPr>
                <a:lnSpc>
                  <a:spcPct val="125000"/>
                </a:lnSpc>
              </a:pPr>
              <a:r>
                <a:rPr lang="zh-CN" altLang="en-US" sz="1600" dirty="0">
                  <a:solidFill>
                    <a:srgbClr val="6600FF"/>
                  </a:solidFill>
                  <a:latin typeface="方正粗黑宋简体" pitchFamily="2" charset="-122"/>
                  <a:ea typeface="方正粗黑宋简体" pitchFamily="2" charset="-122"/>
                </a:rPr>
                <a:t>逻辑电平</a:t>
              </a:r>
              <a:r>
                <a:rPr lang="zh-CN" altLang="en-US" sz="1600" dirty="0">
                  <a:latin typeface="黑体" pitchFamily="49" charset="-122"/>
                  <a:ea typeface="黑体" pitchFamily="49" charset="-122"/>
                </a:rPr>
                <a:t>：数字电路中用高电平、低电平两种电压</a:t>
              </a:r>
              <a:r>
                <a:rPr lang="en-US" altLang="zh-CN" sz="1600" dirty="0">
                  <a:latin typeface="黑体" pitchFamily="49" charset="-122"/>
                  <a:ea typeface="黑体" pitchFamily="49" charset="-122"/>
                </a:rPr>
                <a:t>(</a:t>
              </a:r>
              <a:r>
                <a:rPr lang="zh-CN" altLang="en-US" sz="1600" dirty="0">
                  <a:latin typeface="黑体" pitchFamily="49" charset="-122"/>
                  <a:ea typeface="黑体" pitchFamily="49" charset="-122"/>
                </a:rPr>
                <a:t>不是一个特定的电压值，而是一个规定的范围值</a:t>
              </a:r>
              <a:r>
                <a:rPr lang="en-US" altLang="zh-CN" sz="1600" dirty="0">
                  <a:latin typeface="黑体" pitchFamily="49" charset="-122"/>
                  <a:ea typeface="黑体" pitchFamily="49" charset="-122"/>
                </a:rPr>
                <a:t>)</a:t>
              </a:r>
              <a:r>
                <a:rPr lang="zh-CN" altLang="en-US" sz="1600" dirty="0">
                  <a:latin typeface="黑体" pitchFamily="49" charset="-122"/>
                  <a:ea typeface="黑体" pitchFamily="49" charset="-122"/>
                </a:rPr>
                <a:t>分别表示</a:t>
              </a:r>
              <a:r>
                <a:rPr lang="en-US" altLang="zh-CN" sz="1600" dirty="0">
                  <a:latin typeface="黑体" pitchFamily="49" charset="-122"/>
                  <a:ea typeface="黑体" pitchFamily="49" charset="-122"/>
                </a:rPr>
                <a:t>0</a:t>
              </a:r>
              <a:r>
                <a:rPr lang="zh-CN" altLang="en-US" sz="1600" dirty="0">
                  <a:latin typeface="黑体" pitchFamily="49" charset="-122"/>
                  <a:ea typeface="黑体" pitchFamily="49" charset="-122"/>
                </a:rPr>
                <a:t>、</a:t>
              </a:r>
              <a:r>
                <a:rPr lang="en-US" altLang="zh-CN" sz="1600" dirty="0">
                  <a:latin typeface="黑体" pitchFamily="49" charset="-122"/>
                  <a:ea typeface="黑体" pitchFamily="49" charset="-122"/>
                </a:rPr>
                <a:t>1</a:t>
              </a:r>
              <a:r>
                <a:rPr lang="zh-CN" altLang="en-US" sz="1600" dirty="0">
                  <a:latin typeface="黑体" pitchFamily="49" charset="-122"/>
                  <a:ea typeface="黑体" pitchFamily="49" charset="-122"/>
                </a:rPr>
                <a:t>两种逻辑状态。</a:t>
              </a:r>
            </a:p>
          </p:txBody>
        </p:sp>
        <p:grpSp>
          <p:nvGrpSpPr>
            <p:cNvPr id="6" name="组合 31">
              <a:extLst>
                <a:ext uri="{FF2B5EF4-FFF2-40B4-BE49-F238E27FC236}">
                  <a16:creationId xmlns:a16="http://schemas.microsoft.com/office/drawing/2014/main" xmlns="" id="{51ECEF4A-9737-40F7-8671-3C639A657472}"/>
                </a:ext>
              </a:extLst>
            </p:cNvPr>
            <p:cNvGrpSpPr/>
            <p:nvPr/>
          </p:nvGrpSpPr>
          <p:grpSpPr>
            <a:xfrm>
              <a:off x="931524" y="2876496"/>
              <a:ext cx="272583" cy="310719"/>
              <a:chOff x="5908675" y="1281113"/>
              <a:chExt cx="246063" cy="260350"/>
            </a:xfrm>
            <a:solidFill>
              <a:srgbClr val="CC6600"/>
            </a:solidFill>
            <a:effectLst/>
          </p:grpSpPr>
          <p:sp>
            <p:nvSpPr>
              <p:cNvPr id="18" name="Rectangle 5">
                <a:extLst>
                  <a:ext uri="{FF2B5EF4-FFF2-40B4-BE49-F238E27FC236}">
                    <a16:creationId xmlns:a16="http://schemas.microsoft.com/office/drawing/2014/main" xmlns="" id="{8368FABB-9B19-4B21-82C6-3F3B3FC0C3C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9" name="Freeform 6">
                <a:extLst>
                  <a:ext uri="{FF2B5EF4-FFF2-40B4-BE49-F238E27FC236}">
                    <a16:creationId xmlns:a16="http://schemas.microsoft.com/office/drawing/2014/main" xmlns="" id="{390437BA-075F-4CC8-BDF5-69C1DC2744E2}"/>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20" name="Freeform 7">
                <a:extLst>
                  <a:ext uri="{FF2B5EF4-FFF2-40B4-BE49-F238E27FC236}">
                    <a16:creationId xmlns:a16="http://schemas.microsoft.com/office/drawing/2014/main" xmlns="" id="{7924EE5E-C229-4FA8-B33D-CE2D0353BCB6}"/>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21" name="Freeform 8">
                <a:extLst>
                  <a:ext uri="{FF2B5EF4-FFF2-40B4-BE49-F238E27FC236}">
                    <a16:creationId xmlns:a16="http://schemas.microsoft.com/office/drawing/2014/main" xmlns="" id="{86FF0EAF-F321-4220-8D2E-34A6BB5AF7B2}"/>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22" name="Freeform 9">
                <a:extLst>
                  <a:ext uri="{FF2B5EF4-FFF2-40B4-BE49-F238E27FC236}">
                    <a16:creationId xmlns:a16="http://schemas.microsoft.com/office/drawing/2014/main" xmlns="" id="{ECDED55B-B5F9-475B-85F6-DF0895466A15}"/>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sp>
        <p:nvSpPr>
          <p:cNvPr id="25" name="圆角矩形 24"/>
          <p:cNvSpPr/>
          <p:nvPr/>
        </p:nvSpPr>
        <p:spPr>
          <a:xfrm>
            <a:off x="954200" y="1896334"/>
            <a:ext cx="905080" cy="311943"/>
          </a:xfrm>
          <a:prstGeom prst="roundRect">
            <a:avLst>
              <a:gd name="adj" fmla="val 438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accent1">
                    <a:lumMod val="75000"/>
                  </a:schemeClr>
                </a:solidFill>
                <a:latin typeface="微软雅黑" panose="020B0503020204020204" pitchFamily="34" charset="-122"/>
                <a:ea typeface="微软雅黑" panose="020B0503020204020204" pitchFamily="34" charset="-122"/>
              </a:rPr>
              <a:t>数码 </a:t>
            </a:r>
            <a:r>
              <a:rPr lang="en-US" altLang="zh-CN" sz="1400" dirty="0">
                <a:solidFill>
                  <a:schemeClr val="accent1">
                    <a:lumMod val="75000"/>
                  </a:schemeClr>
                </a:solidFill>
                <a:latin typeface="微软雅黑" panose="020B0503020204020204" pitchFamily="34" charset="-122"/>
                <a:ea typeface="微软雅黑" panose="020B0503020204020204" pitchFamily="34" charset="-122"/>
              </a:rPr>
              <a:t>0,1</a:t>
            </a:r>
            <a:endParaRPr lang="zh-CN" altLang="en-US" sz="14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26" name="燕尾形 25"/>
          <p:cNvSpPr/>
          <p:nvPr/>
        </p:nvSpPr>
        <p:spPr>
          <a:xfrm flipH="1">
            <a:off x="1866900" y="1735074"/>
            <a:ext cx="701040" cy="589788"/>
          </a:xfrm>
          <a:prstGeom prst="chevron">
            <a:avLst>
              <a:gd name="adj" fmla="val 8144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流程图: 可选过程 29"/>
          <p:cNvSpPr/>
          <p:nvPr/>
        </p:nvSpPr>
        <p:spPr>
          <a:xfrm>
            <a:off x="2593432" y="1657268"/>
            <a:ext cx="1728000" cy="31521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表示数量大小</a:t>
            </a:r>
          </a:p>
        </p:txBody>
      </p:sp>
      <p:sp>
        <p:nvSpPr>
          <p:cNvPr id="31" name="流程图: 可选过程 30"/>
          <p:cNvSpPr/>
          <p:nvPr/>
        </p:nvSpPr>
        <p:spPr>
          <a:xfrm>
            <a:off x="2598655" y="2084954"/>
            <a:ext cx="1728000" cy="30848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表示两种对立的状态</a:t>
            </a:r>
          </a:p>
        </p:txBody>
      </p:sp>
      <p:sp>
        <p:nvSpPr>
          <p:cNvPr id="38" name="圆角矩形标注 37"/>
          <p:cNvSpPr/>
          <p:nvPr/>
        </p:nvSpPr>
        <p:spPr>
          <a:xfrm>
            <a:off x="4732020" y="1536192"/>
            <a:ext cx="3368040" cy="665226"/>
          </a:xfrm>
          <a:prstGeom prst="wedgeRoundRectCallout">
            <a:avLst>
              <a:gd name="adj1" fmla="val -59437"/>
              <a:gd name="adj2" fmla="val 39685"/>
              <a:gd name="adj3" fmla="val 16667"/>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82563">
              <a:lnSpc>
                <a:spcPct val="125000"/>
              </a:lnSpc>
            </a:pPr>
            <a:r>
              <a:rPr lang="en-US" altLang="zh-CN" sz="1600" dirty="0">
                <a:solidFill>
                  <a:schemeClr val="tx1"/>
                </a:solidFill>
                <a:latin typeface="黑体" pitchFamily="49" charset="-122"/>
                <a:ea typeface="黑体" pitchFamily="49" charset="-122"/>
              </a:rPr>
              <a:t>0</a:t>
            </a:r>
            <a:r>
              <a:rPr lang="zh-CN" altLang="en-US" sz="1600" dirty="0">
                <a:solidFill>
                  <a:schemeClr val="tx1"/>
                </a:solidFill>
                <a:latin typeface="黑体" pitchFamily="49" charset="-122"/>
                <a:ea typeface="黑体" pitchFamily="49" charset="-122"/>
              </a:rPr>
              <a:t>和</a:t>
            </a:r>
            <a:r>
              <a:rPr lang="en-US" altLang="zh-CN" sz="1600" dirty="0">
                <a:solidFill>
                  <a:schemeClr val="tx1"/>
                </a:solidFill>
                <a:latin typeface="黑体" pitchFamily="49" charset="-122"/>
                <a:ea typeface="黑体" pitchFamily="49" charset="-122"/>
              </a:rPr>
              <a:t>1</a:t>
            </a:r>
            <a:r>
              <a:rPr lang="zh-CN" altLang="en-US" sz="1600" dirty="0">
                <a:solidFill>
                  <a:schemeClr val="tx1"/>
                </a:solidFill>
                <a:latin typeface="黑体" pitchFamily="49" charset="-122"/>
                <a:ea typeface="黑体" pitchFamily="49" charset="-122"/>
              </a:rPr>
              <a:t>表示的两种对立逻辑状态的逻辑关系称为</a:t>
            </a:r>
            <a:r>
              <a:rPr lang="zh-CN" altLang="en-US" sz="1600" dirty="0">
                <a:solidFill>
                  <a:srgbClr val="6600FF"/>
                </a:solidFill>
                <a:latin typeface="方正粗黑宋简体" pitchFamily="2" charset="-122"/>
                <a:ea typeface="方正粗黑宋简体" pitchFamily="2" charset="-122"/>
              </a:rPr>
              <a:t>二值数字逻辑</a:t>
            </a:r>
            <a:r>
              <a:rPr lang="zh-CN" altLang="en-US" sz="1600" dirty="0">
                <a:solidFill>
                  <a:srgbClr val="000000"/>
                </a:solidFill>
                <a:latin typeface="楷体_GB2312" pitchFamily="49" charset="-122"/>
              </a:rPr>
              <a:t>。</a:t>
            </a:r>
            <a:endParaRPr lang="zh-CN" altLang="en-US" sz="1600" dirty="0"/>
          </a:p>
        </p:txBody>
      </p:sp>
      <p:sp>
        <p:nvSpPr>
          <p:cNvPr id="37890"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7889" name="Object 1"/>
          <p:cNvGraphicFramePr>
            <a:graphicFrameLocks noChangeAspect="1"/>
          </p:cNvGraphicFramePr>
          <p:nvPr/>
        </p:nvGraphicFramePr>
        <p:xfrm>
          <a:off x="822962" y="3202687"/>
          <a:ext cx="4693919" cy="1687353"/>
        </p:xfrm>
        <a:graphic>
          <a:graphicData uri="http://schemas.openxmlformats.org/presentationml/2006/ole">
            <mc:AlternateContent xmlns:mc="http://schemas.openxmlformats.org/markup-compatibility/2006">
              <mc:Choice xmlns:v="urn:schemas-microsoft-com:vml" Requires="v">
                <p:oleObj spid="_x0000_s22542" name="Visio" r:id="rId5" imgW="2165514" imgH="905041" progId="Visio.Drawing.11">
                  <p:embed/>
                </p:oleObj>
              </mc:Choice>
              <mc:Fallback>
                <p:oleObj name="Visio" r:id="rId5" imgW="2165514" imgH="905041" progId="Visio.Drawing.11">
                  <p:embed/>
                  <p:pic>
                    <p:nvPicPr>
                      <p:cNvPr id="37889" name="Object 1"/>
                      <p:cNvPicPr>
                        <a:picLocks noChangeAspect="1" noChangeArrowheads="1"/>
                      </p:cNvPicPr>
                      <p:nvPr/>
                    </p:nvPicPr>
                    <p:blipFill>
                      <a:blip r:embed="rId6"/>
                      <a:srcRect/>
                      <a:stretch>
                        <a:fillRect/>
                      </a:stretch>
                    </p:blipFill>
                    <p:spPr bwMode="auto">
                      <a:xfrm>
                        <a:off x="822962" y="3202687"/>
                        <a:ext cx="4693919" cy="1687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1" name="Object 3"/>
          <p:cNvGraphicFramePr>
            <a:graphicFrameLocks noChangeAspect="1"/>
          </p:cNvGraphicFramePr>
          <p:nvPr/>
        </p:nvGraphicFramePr>
        <p:xfrm>
          <a:off x="5692248" y="3202687"/>
          <a:ext cx="3154997" cy="1639062"/>
        </p:xfrm>
        <a:graphic>
          <a:graphicData uri="http://schemas.openxmlformats.org/presentationml/2006/ole">
            <mc:AlternateContent xmlns:mc="http://schemas.openxmlformats.org/markup-compatibility/2006">
              <mc:Choice xmlns:v="urn:schemas-microsoft-com:vml" Requires="v">
                <p:oleObj spid="_x0000_s22543" name="Visio" r:id="rId7" imgW="1452802" imgH="905228" progId="Visio.Drawing.11">
                  <p:embed/>
                </p:oleObj>
              </mc:Choice>
              <mc:Fallback>
                <p:oleObj name="Visio" r:id="rId7" imgW="1452802" imgH="905228" progId="Visio.Drawing.11">
                  <p:embed/>
                  <p:pic>
                    <p:nvPicPr>
                      <p:cNvPr id="37891"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2248" y="3202687"/>
                        <a:ext cx="3154997" cy="1639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圆角矩形 86">
            <a:extLst>
              <a:ext uri="{FF2B5EF4-FFF2-40B4-BE49-F238E27FC236}">
                <a16:creationId xmlns:a16="http://schemas.microsoft.com/office/drawing/2014/main" xmlns="" id="{B98DDBDB-6531-424E-B99B-3BB393226770}"/>
              </a:ext>
            </a:extLst>
          </p:cNvPr>
          <p:cNvSpPr/>
          <p:nvPr/>
        </p:nvSpPr>
        <p:spPr>
          <a:xfrm>
            <a:off x="3809308" y="3585309"/>
            <a:ext cx="1606754" cy="279073"/>
          </a:xfrm>
          <a:prstGeom prst="roundRect">
            <a:avLst>
              <a:gd name="adj" fmla="val 6817"/>
            </a:avLst>
          </a:prstGeom>
          <a:solidFill>
            <a:srgbClr val="FF66FF">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86">
            <a:extLst>
              <a:ext uri="{FF2B5EF4-FFF2-40B4-BE49-F238E27FC236}">
                <a16:creationId xmlns:a16="http://schemas.microsoft.com/office/drawing/2014/main" xmlns="" id="{2D081211-0042-468D-A8B5-5FACDE9DEA29}"/>
              </a:ext>
            </a:extLst>
          </p:cNvPr>
          <p:cNvSpPr/>
          <p:nvPr/>
        </p:nvSpPr>
        <p:spPr>
          <a:xfrm>
            <a:off x="3809308" y="3868941"/>
            <a:ext cx="1606754" cy="420290"/>
          </a:xfrm>
          <a:prstGeom prst="roundRect">
            <a:avLst>
              <a:gd name="adj" fmla="val 6817"/>
            </a:avLst>
          </a:prstGeom>
          <a:solidFill>
            <a:srgbClr val="FF66FF">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xmlns="" id="{0FA89CD2-EBC0-4A2F-952E-6AC1D42E30E4}"/>
              </a:ext>
            </a:extLst>
          </p:cNvPr>
          <p:cNvSpPr/>
          <p:nvPr/>
        </p:nvSpPr>
        <p:spPr>
          <a:xfrm>
            <a:off x="1708047" y="3355278"/>
            <a:ext cx="569161" cy="416622"/>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xmlns="" id="{31F794B2-E90B-4D46-B99C-6996851AB040}"/>
              </a:ext>
            </a:extLst>
          </p:cNvPr>
          <p:cNvSpPr/>
          <p:nvPr/>
        </p:nvSpPr>
        <p:spPr>
          <a:xfrm>
            <a:off x="2190948" y="4167477"/>
            <a:ext cx="569161" cy="416622"/>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Bottom)">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1000"/>
                                        <p:tgtEl>
                                          <p:spTgt spid="25"/>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1000"/>
                                        <p:tgtEl>
                                          <p:spTgt spid="26"/>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left)">
                                      <p:cBhvr>
                                        <p:cTn id="25" dur="1000"/>
                                        <p:tgtEl>
                                          <p:spTgt spid="30"/>
                                        </p:tgtEl>
                                      </p:cBhvr>
                                    </p:animEffect>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10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wipe(left)">
                                      <p:cBhvr>
                                        <p:cTn id="34" dur="1000"/>
                                        <p:tgtEl>
                                          <p:spTgt spid="38"/>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slide(fromBottom)">
                                      <p:cBhvr>
                                        <p:cTn id="39" dur="1000"/>
                                        <p:tgtEl>
                                          <p:spTgt spid="5"/>
                                        </p:tgtEl>
                                      </p:cBhvr>
                                    </p:animEffect>
                                  </p:childTnLst>
                                </p:cTn>
                              </p:par>
                            </p:childTnLst>
                          </p:cTn>
                        </p:par>
                        <p:par>
                          <p:cTn id="40" fill="hold">
                            <p:stCondLst>
                              <p:cond delay="1000"/>
                            </p:stCondLst>
                            <p:childTnLst>
                              <p:par>
                                <p:cTn id="41" presetID="12" presetClass="entr" presetSubtype="4" fill="hold" nodeType="afterEffect">
                                  <p:stCondLst>
                                    <p:cond delay="0"/>
                                  </p:stCondLst>
                                  <p:childTnLst>
                                    <p:set>
                                      <p:cBhvr>
                                        <p:cTn id="42" dur="1" fill="hold">
                                          <p:stCondLst>
                                            <p:cond delay="0"/>
                                          </p:stCondLst>
                                        </p:cTn>
                                        <p:tgtEl>
                                          <p:spTgt spid="37889"/>
                                        </p:tgtEl>
                                        <p:attrNameLst>
                                          <p:attrName>style.visibility</p:attrName>
                                        </p:attrNameLst>
                                      </p:cBhvr>
                                      <p:to>
                                        <p:strVal val="visible"/>
                                      </p:to>
                                    </p:set>
                                    <p:animEffect transition="in" filter="slide(fromBottom)">
                                      <p:cBhvr>
                                        <p:cTn id="43" dur="1000"/>
                                        <p:tgtEl>
                                          <p:spTgt spid="3788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p:cTn id="48" dur="1000" fill="hold"/>
                                        <p:tgtEl>
                                          <p:spTgt spid="27"/>
                                        </p:tgtEl>
                                        <p:attrNameLst>
                                          <p:attrName>ppt_w</p:attrName>
                                        </p:attrNameLst>
                                      </p:cBhvr>
                                      <p:tavLst>
                                        <p:tav tm="0">
                                          <p:val>
                                            <p:fltVal val="0"/>
                                          </p:val>
                                        </p:tav>
                                        <p:tav tm="100000">
                                          <p:val>
                                            <p:strVal val="#ppt_w"/>
                                          </p:val>
                                        </p:tav>
                                      </p:tavLst>
                                    </p:anim>
                                    <p:anim calcmode="lin" valueType="num">
                                      <p:cBhvr>
                                        <p:cTn id="49" dur="1000" fill="hold"/>
                                        <p:tgtEl>
                                          <p:spTgt spid="27"/>
                                        </p:tgtEl>
                                        <p:attrNameLst>
                                          <p:attrName>ppt_h</p:attrName>
                                        </p:attrNameLst>
                                      </p:cBhvr>
                                      <p:tavLst>
                                        <p:tav tm="0">
                                          <p:val>
                                            <p:fltVal val="0"/>
                                          </p:val>
                                        </p:tav>
                                        <p:tav tm="100000">
                                          <p:val>
                                            <p:strVal val="#ppt_h"/>
                                          </p:val>
                                        </p:tav>
                                      </p:tavLst>
                                    </p:anim>
                                    <p:animEffect transition="in" filter="fade">
                                      <p:cBhvr>
                                        <p:cTn id="50" dur="1000"/>
                                        <p:tgtEl>
                                          <p:spTgt spid="27"/>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1000" fill="hold"/>
                                        <p:tgtEl>
                                          <p:spTgt spid="28"/>
                                        </p:tgtEl>
                                        <p:attrNameLst>
                                          <p:attrName>ppt_w</p:attrName>
                                        </p:attrNameLst>
                                      </p:cBhvr>
                                      <p:tavLst>
                                        <p:tav tm="0">
                                          <p:val>
                                            <p:fltVal val="0"/>
                                          </p:val>
                                        </p:tav>
                                        <p:tav tm="100000">
                                          <p:val>
                                            <p:strVal val="#ppt_w"/>
                                          </p:val>
                                        </p:tav>
                                      </p:tavLst>
                                    </p:anim>
                                    <p:anim calcmode="lin" valueType="num">
                                      <p:cBhvr>
                                        <p:cTn id="54" dur="1000" fill="hold"/>
                                        <p:tgtEl>
                                          <p:spTgt spid="28"/>
                                        </p:tgtEl>
                                        <p:attrNameLst>
                                          <p:attrName>ppt_h</p:attrName>
                                        </p:attrNameLst>
                                      </p:cBhvr>
                                      <p:tavLst>
                                        <p:tav tm="0">
                                          <p:val>
                                            <p:fltVal val="0"/>
                                          </p:val>
                                        </p:tav>
                                        <p:tav tm="100000">
                                          <p:val>
                                            <p:strVal val="#ppt_h"/>
                                          </p:val>
                                        </p:tav>
                                      </p:tavLst>
                                    </p:anim>
                                    <p:animEffect transition="in" filter="fade">
                                      <p:cBhvr>
                                        <p:cTn id="55" dur="10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37" fill="hold" grpId="0" nodeType="clickEffect">
                                  <p:stCondLst>
                                    <p:cond delay="250"/>
                                  </p:stCondLst>
                                  <p:childTnLst>
                                    <p:set>
                                      <p:cBhvr>
                                        <p:cTn id="59" dur="1" fill="hold">
                                          <p:stCondLst>
                                            <p:cond delay="0"/>
                                          </p:stCondLst>
                                        </p:cTn>
                                        <p:tgtEl>
                                          <p:spTgt spid="23"/>
                                        </p:tgtEl>
                                        <p:attrNameLst>
                                          <p:attrName>style.visibility</p:attrName>
                                        </p:attrNameLst>
                                      </p:cBhvr>
                                      <p:to>
                                        <p:strVal val="visible"/>
                                      </p:to>
                                    </p:set>
                                    <p:animEffect transition="in" filter="barn(outVertical)">
                                      <p:cBhvr>
                                        <p:cTn id="60" dur="10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path" presetSubtype="0" accel="50000" decel="50000" fill="hold" grpId="1" nodeType="clickEffect">
                                  <p:stCondLst>
                                    <p:cond delay="0"/>
                                  </p:stCondLst>
                                  <p:childTnLst>
                                    <p:animMotion origin="layout" path="M -3.88889E-6 -4.07407E-6 L -3.88889E-6 0.1426 " pathEditMode="relative" rAng="0" ptsTypes="AA">
                                      <p:cBhvr>
                                        <p:cTn id="64" dur="2000" fill="hold"/>
                                        <p:tgtEl>
                                          <p:spTgt spid="23"/>
                                        </p:tgtEl>
                                        <p:attrNameLst>
                                          <p:attrName>ppt_x</p:attrName>
                                          <p:attrName>ppt_y</p:attrName>
                                        </p:attrNameLst>
                                      </p:cBhvr>
                                      <p:rCtr x="0" y="7130"/>
                                    </p:animMotion>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2" nodeType="clickEffect">
                                  <p:stCondLst>
                                    <p:cond delay="0"/>
                                  </p:stCondLst>
                                  <p:childTnLst>
                                    <p:animEffect transition="out" filter="fade">
                                      <p:cBhvr>
                                        <p:cTn id="68" dur="1000"/>
                                        <p:tgtEl>
                                          <p:spTgt spid="23"/>
                                        </p:tgtEl>
                                      </p:cBhvr>
                                    </p:animEffect>
                                    <p:set>
                                      <p:cBhvr>
                                        <p:cTn id="69" dur="1" fill="hold">
                                          <p:stCondLst>
                                            <p:cond delay="999"/>
                                          </p:stCondLst>
                                        </p:cTn>
                                        <p:tgtEl>
                                          <p:spTgt spid="23"/>
                                        </p:tgtEl>
                                        <p:attrNameLst>
                                          <p:attrName>style.visibility</p:attrName>
                                        </p:attrNameLst>
                                      </p:cBhvr>
                                      <p:to>
                                        <p:strVal val="hidden"/>
                                      </p:to>
                                    </p:set>
                                  </p:childTnLst>
                                </p:cTn>
                              </p:par>
                              <p:par>
                                <p:cTn id="70" presetID="16" presetClass="entr" presetSubtype="37"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barn(outVertical)">
                                      <p:cBhvr>
                                        <p:cTn id="72" dur="10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1000"/>
                                        <p:tgtEl>
                                          <p:spTgt spid="24"/>
                                        </p:tgtEl>
                                      </p:cBhvr>
                                    </p:animEffect>
                                    <p:set>
                                      <p:cBhvr>
                                        <p:cTn id="77" dur="1" fill="hold">
                                          <p:stCondLst>
                                            <p:cond delay="999"/>
                                          </p:stCondLst>
                                        </p:cTn>
                                        <p:tgtEl>
                                          <p:spTgt spid="24"/>
                                        </p:tgtEl>
                                        <p:attrNameLst>
                                          <p:attrName>style.visibility</p:attrName>
                                        </p:attrNameLst>
                                      </p:cBhvr>
                                      <p:to>
                                        <p:strVal val="hidden"/>
                                      </p:to>
                                    </p:set>
                                  </p:childTnLst>
                                </p:cTn>
                              </p:par>
                              <p:par>
                                <p:cTn id="78" presetID="12" presetClass="entr" presetSubtype="4" fill="hold" nodeType="withEffect">
                                  <p:stCondLst>
                                    <p:cond delay="0"/>
                                  </p:stCondLst>
                                  <p:childTnLst>
                                    <p:set>
                                      <p:cBhvr>
                                        <p:cTn id="79" dur="1" fill="hold">
                                          <p:stCondLst>
                                            <p:cond delay="0"/>
                                          </p:stCondLst>
                                        </p:cTn>
                                        <p:tgtEl>
                                          <p:spTgt spid="37891"/>
                                        </p:tgtEl>
                                        <p:attrNameLst>
                                          <p:attrName>style.visibility</p:attrName>
                                        </p:attrNameLst>
                                      </p:cBhvr>
                                      <p:to>
                                        <p:strVal val="visible"/>
                                      </p:to>
                                    </p:set>
                                    <p:animEffect transition="in" filter="slide(fromBottom)">
                                      <p:cBhvr>
                                        <p:cTn id="80" dur="10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animBg="1"/>
      <p:bldP spid="26" grpId="0" animBg="1"/>
      <p:bldP spid="30" grpId="0" animBg="1"/>
      <p:bldP spid="31" grpId="0" animBg="1"/>
      <p:bldP spid="38" grpId="0" animBg="1"/>
      <p:bldP spid="23" grpId="0" animBg="1"/>
      <p:bldP spid="23" grpId="1" animBg="1"/>
      <p:bldP spid="23" grpId="2" animBg="1"/>
      <p:bldP spid="24" grpId="0" animBg="1"/>
      <p:bldP spid="24" grpId="1"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35663" y="1164253"/>
            <a:ext cx="2173993"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）正负逻辑体制</a:t>
            </a:r>
          </a:p>
        </p:txBody>
      </p:sp>
      <p:graphicFrame>
        <p:nvGraphicFramePr>
          <p:cNvPr id="39" name="Group 43"/>
          <p:cNvGraphicFramePr>
            <a:graphicFrameLocks noGrp="1"/>
          </p:cNvGraphicFramePr>
          <p:nvPr/>
        </p:nvGraphicFramePr>
        <p:xfrm>
          <a:off x="1866900" y="1830801"/>
          <a:ext cx="4488180" cy="1375887"/>
        </p:xfrm>
        <a:graphic>
          <a:graphicData uri="http://schemas.openxmlformats.org/drawingml/2006/table">
            <a:tbl>
              <a:tblPr/>
              <a:tblGrid>
                <a:gridCol w="2388512">
                  <a:extLst>
                    <a:ext uri="{9D8B030D-6E8A-4147-A177-3AD203B41FA5}">
                      <a16:colId xmlns:a16="http://schemas.microsoft.com/office/drawing/2014/main" xmlns="" val="20001"/>
                    </a:ext>
                  </a:extLst>
                </a:gridCol>
                <a:gridCol w="2099668">
                  <a:extLst>
                    <a:ext uri="{9D8B030D-6E8A-4147-A177-3AD203B41FA5}">
                      <a16:colId xmlns:a16="http://schemas.microsoft.com/office/drawing/2014/main" xmlns="" val="20002"/>
                    </a:ext>
                  </a:extLst>
                </a:gridCol>
              </a:tblGrid>
              <a:tr h="478632">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800" b="1" i="0" u="none" strike="noStrike" cap="none" normalizeH="0" baseline="0" dirty="0">
                          <a:ln>
                            <a:noFill/>
                          </a:ln>
                          <a:solidFill>
                            <a:srgbClr val="000000"/>
                          </a:solidFill>
                          <a:effectLst/>
                          <a:latin typeface="Times New Roman" pitchFamily="18" charset="0"/>
                          <a:ea typeface="黑体" pitchFamily="2" charset="-122"/>
                        </a:rPr>
                        <a:t>电平</a:t>
                      </a: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800" b="1" i="0" u="none" strike="noStrike" cap="none" normalizeH="0" baseline="0" dirty="0">
                          <a:ln>
                            <a:noFill/>
                          </a:ln>
                          <a:solidFill>
                            <a:srgbClr val="000000"/>
                          </a:solidFill>
                          <a:effectLst/>
                          <a:latin typeface="Times New Roman" pitchFamily="18" charset="0"/>
                          <a:ea typeface="黑体" pitchFamily="2" charset="-122"/>
                        </a:rPr>
                        <a:t>逻辑值</a:t>
                      </a:r>
                    </a:p>
                  </a:txBody>
                  <a:tcPr marL="91422" marR="91422" marT="41140" marB="41140" anchor="ctr" horzOverflow="overflow">
                    <a:lnL w="28575" cap="flat" cmpd="sng" algn="ctr">
                      <a:solidFill>
                        <a:schemeClr val="bg1"/>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46863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2" charset="-122"/>
                        </a:rPr>
                        <a:t>H</a:t>
                      </a:r>
                      <a:r>
                        <a:rPr kumimoji="0" lang="zh-CN" altLang="en-US" sz="1800" b="1" i="0" u="none" strike="noStrike" cap="none" normalizeH="0" baseline="0" dirty="0">
                          <a:ln>
                            <a:noFill/>
                          </a:ln>
                          <a:solidFill>
                            <a:srgbClr val="000000"/>
                          </a:solidFill>
                          <a:effectLst/>
                          <a:latin typeface="Times New Roman" pitchFamily="18" charset="0"/>
                          <a:ea typeface="黑体" pitchFamily="2" charset="-122"/>
                        </a:rPr>
                        <a:t>（高电平）</a:t>
                      </a: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2" charset="-122"/>
                        </a:rPr>
                        <a:t>1    /    0</a:t>
                      </a:r>
                      <a:endParaRPr kumimoji="0" lang="zh-CN" altLang="en-US" sz="1800" b="1" i="0" u="none" strike="noStrike" cap="none" normalizeH="0" baseline="0" dirty="0">
                        <a:ln>
                          <a:noFill/>
                        </a:ln>
                        <a:solidFill>
                          <a:srgbClr val="000000"/>
                        </a:solidFill>
                        <a:effectLst/>
                        <a:latin typeface="Times New Roman" pitchFamily="18" charset="0"/>
                        <a:ea typeface="黑体" pitchFamily="2" charset="-122"/>
                      </a:endParaRPr>
                    </a:p>
                  </a:txBody>
                  <a:tcPr marL="91422" marR="91422" marT="41140" marB="41140" anchor="ctr" horzOverflow="overflow">
                    <a:lnL w="28575" cap="flat" cmpd="sng" algn="ctr">
                      <a:solidFill>
                        <a:schemeClr val="bg1"/>
                      </a:solidFill>
                      <a:prstDash val="solid"/>
                      <a:round/>
                      <a:headEnd type="none" w="med" len="med"/>
                      <a:tailEnd type="none" w="med" len="med"/>
                    </a:lnL>
                    <a:lnR cap="flat">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xmlns="" val="10001"/>
                  </a:ext>
                </a:extLst>
              </a:tr>
              <a:tr h="42862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2" charset="-122"/>
                        </a:rPr>
                        <a:t>L</a:t>
                      </a:r>
                      <a:r>
                        <a:rPr kumimoji="0" lang="zh-CN" altLang="en-US" sz="1800" b="1" i="0" u="none" strike="noStrike" cap="none" normalizeH="0" baseline="0" dirty="0">
                          <a:ln>
                            <a:noFill/>
                          </a:ln>
                          <a:solidFill>
                            <a:srgbClr val="000000"/>
                          </a:solidFill>
                          <a:effectLst/>
                          <a:latin typeface="Times New Roman" pitchFamily="18" charset="0"/>
                          <a:ea typeface="黑体" pitchFamily="2" charset="-122"/>
                        </a:rPr>
                        <a:t>（低电平）</a:t>
                      </a: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2" charset="-122"/>
                        </a:rPr>
                        <a:t>0     /   1</a:t>
                      </a:r>
                      <a:endParaRPr kumimoji="0" lang="zh-CN" altLang="en-US" sz="1800" b="1" i="0" u="none" strike="noStrike" cap="none" normalizeH="0" baseline="0" dirty="0">
                        <a:ln>
                          <a:noFill/>
                        </a:ln>
                        <a:solidFill>
                          <a:srgbClr val="000000"/>
                        </a:solidFill>
                        <a:effectLst/>
                        <a:latin typeface="Times New Roman" pitchFamily="18" charset="0"/>
                        <a:ea typeface="黑体" pitchFamily="2" charset="-122"/>
                      </a:endParaRPr>
                    </a:p>
                  </a:txBody>
                  <a:tcPr marL="91422" marR="91422" marT="41140" marB="41140" anchor="ctr" horzOverflow="overflow">
                    <a:lnL w="28575" cap="flat" cmpd="sng" algn="ctr">
                      <a:solidFill>
                        <a:schemeClr val="bg1"/>
                      </a:solidFill>
                      <a:prstDash val="solid"/>
                      <a:round/>
                      <a:headEnd type="none" w="med" len="med"/>
                      <a:tailEnd type="none" w="med" len="med"/>
                    </a:lnL>
                    <a:lnR cap="flat">
                      <a:noFill/>
                    </a:lnR>
                    <a:lnT w="28575"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xmlns="" val="10002"/>
                  </a:ext>
                </a:extLst>
              </a:tr>
            </a:tbl>
          </a:graphicData>
        </a:graphic>
      </p:graphicFrame>
      <p:grpSp>
        <p:nvGrpSpPr>
          <p:cNvPr id="9" name="组合 47"/>
          <p:cNvGrpSpPr/>
          <p:nvPr/>
        </p:nvGrpSpPr>
        <p:grpSpPr>
          <a:xfrm>
            <a:off x="3078480" y="2427732"/>
            <a:ext cx="2065020" cy="1207008"/>
            <a:chOff x="3322320" y="3992880"/>
            <a:chExt cx="2065020" cy="1341120"/>
          </a:xfrm>
        </p:grpSpPr>
        <p:sp>
          <p:nvSpPr>
            <p:cNvPr id="44" name="圆角右箭头 43"/>
            <p:cNvSpPr/>
            <p:nvPr/>
          </p:nvSpPr>
          <p:spPr>
            <a:xfrm flipH="1" flipV="1">
              <a:off x="4564380" y="3992880"/>
              <a:ext cx="822960" cy="1341120"/>
            </a:xfrm>
            <a:prstGeom prst="bentArrow">
              <a:avLst>
                <a:gd name="adj1" fmla="val 32491"/>
                <a:gd name="adj2" fmla="val 25000"/>
                <a:gd name="adj3" fmla="val 48408"/>
                <a:gd name="adj4" fmla="val 32514"/>
              </a:avLst>
            </a:prstGeom>
            <a:solidFill>
              <a:srgbClr val="CC00CC">
                <a:alpha val="2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圆角矩形 45"/>
            <p:cNvSpPr/>
            <p:nvPr/>
          </p:nvSpPr>
          <p:spPr>
            <a:xfrm>
              <a:off x="3322320" y="4964537"/>
              <a:ext cx="1219200" cy="346603"/>
            </a:xfrm>
            <a:prstGeom prst="roundRect">
              <a:avLst>
                <a:gd name="adj" fmla="val 438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accent1">
                      <a:lumMod val="75000"/>
                    </a:schemeClr>
                  </a:solidFill>
                  <a:latin typeface="微软雅黑" panose="020B0503020204020204" pitchFamily="34" charset="-122"/>
                  <a:ea typeface="微软雅黑" panose="020B0503020204020204" pitchFamily="34" charset="-122"/>
                </a:rPr>
                <a:t>正逻辑体制</a:t>
              </a:r>
            </a:p>
          </p:txBody>
        </p:sp>
      </p:grpSp>
      <p:grpSp>
        <p:nvGrpSpPr>
          <p:cNvPr id="10" name="组合 48"/>
          <p:cNvGrpSpPr/>
          <p:nvPr/>
        </p:nvGrpSpPr>
        <p:grpSpPr>
          <a:xfrm>
            <a:off x="5516880" y="2427732"/>
            <a:ext cx="2065020" cy="1207008"/>
            <a:chOff x="5562600" y="3992880"/>
            <a:chExt cx="2065020" cy="1341120"/>
          </a:xfrm>
        </p:grpSpPr>
        <p:sp>
          <p:nvSpPr>
            <p:cNvPr id="45" name="圆角右箭头 44"/>
            <p:cNvSpPr/>
            <p:nvPr/>
          </p:nvSpPr>
          <p:spPr>
            <a:xfrm flipV="1">
              <a:off x="5562600" y="3992880"/>
              <a:ext cx="822960" cy="1341120"/>
            </a:xfrm>
            <a:prstGeom prst="bentArrow">
              <a:avLst>
                <a:gd name="adj1" fmla="val 32491"/>
                <a:gd name="adj2" fmla="val 25000"/>
                <a:gd name="adj3" fmla="val 48408"/>
                <a:gd name="adj4" fmla="val 32514"/>
              </a:avLst>
            </a:prstGeom>
            <a:solidFill>
              <a:srgbClr val="CC00CC">
                <a:alpha val="2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圆角矩形 46"/>
            <p:cNvSpPr/>
            <p:nvPr/>
          </p:nvSpPr>
          <p:spPr>
            <a:xfrm>
              <a:off x="6408420" y="4964537"/>
              <a:ext cx="1219200" cy="346603"/>
            </a:xfrm>
            <a:prstGeom prst="roundRect">
              <a:avLst>
                <a:gd name="adj" fmla="val 4386"/>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accent1">
                      <a:lumMod val="75000"/>
                    </a:schemeClr>
                  </a:solidFill>
                  <a:latin typeface="微软雅黑" panose="020B0503020204020204" pitchFamily="34" charset="-122"/>
                  <a:ea typeface="微软雅黑" panose="020B0503020204020204" pitchFamily="34" charset="-122"/>
                </a:rPr>
                <a:t>负逻辑体制</a:t>
              </a:r>
            </a:p>
          </p:txBody>
        </p:sp>
      </p:grpSp>
      <p:sp>
        <p:nvSpPr>
          <p:cNvPr id="34" name="圆角矩形标注 33"/>
          <p:cNvSpPr/>
          <p:nvPr/>
        </p:nvSpPr>
        <p:spPr>
          <a:xfrm>
            <a:off x="2438400" y="3737610"/>
            <a:ext cx="1638300" cy="466344"/>
          </a:xfrm>
          <a:prstGeom prst="wedgeRoundRectCallout">
            <a:avLst>
              <a:gd name="adj1" fmla="val 25756"/>
              <a:gd name="adj2" fmla="val -741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itchFamily="49" charset="-122"/>
                <a:ea typeface="黑体" pitchFamily="49" charset="-122"/>
              </a:rPr>
              <a:t>本课程采用</a:t>
            </a:r>
          </a:p>
        </p:txBody>
      </p:sp>
      <p:grpSp>
        <p:nvGrpSpPr>
          <p:cNvPr id="35" name="组合 17"/>
          <p:cNvGrpSpPr/>
          <p:nvPr/>
        </p:nvGrpSpPr>
        <p:grpSpPr>
          <a:xfrm>
            <a:off x="392432" y="702128"/>
            <a:ext cx="3529322" cy="418885"/>
            <a:chOff x="670560" y="892917"/>
            <a:chExt cx="3529322" cy="465428"/>
          </a:xfrm>
        </p:grpSpPr>
        <p:sp>
          <p:nvSpPr>
            <p:cNvPr id="36" name="矩形 35"/>
            <p:cNvSpPr/>
            <p:nvPr/>
          </p:nvSpPr>
          <p:spPr>
            <a:xfrm>
              <a:off x="1035233" y="913778"/>
              <a:ext cx="3164649"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二进制数字信号的表示</a:t>
              </a:r>
              <a:endParaRPr lang="zh-CN" altLang="en-US" sz="2000" b="1" dirty="0">
                <a:solidFill>
                  <a:srgbClr val="002060"/>
                </a:solidFill>
                <a:latin typeface="微软雅黑" pitchFamily="34" charset="-122"/>
                <a:ea typeface="微软雅黑" pitchFamily="34" charset="-122"/>
              </a:endParaRPr>
            </a:p>
          </p:txBody>
        </p:sp>
        <p:pic>
          <p:nvPicPr>
            <p:cNvPr id="37"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1000"/>
                                        <p:tgtEl>
                                          <p:spTgt spid="8"/>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10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10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10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up)">
                                      <p:cBhvr>
                                        <p:cTn id="26"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4"/>
          <p:cNvGrpSpPr/>
          <p:nvPr/>
        </p:nvGrpSpPr>
        <p:grpSpPr>
          <a:xfrm>
            <a:off x="704850" y="1758315"/>
            <a:ext cx="4667250" cy="3017520"/>
            <a:chOff x="704850" y="1758950"/>
            <a:chExt cx="4667250" cy="3352800"/>
          </a:xfrm>
        </p:grpSpPr>
        <p:sp>
          <p:nvSpPr>
            <p:cNvPr id="84" name="圆角矩形 83"/>
            <p:cNvSpPr/>
            <p:nvPr/>
          </p:nvSpPr>
          <p:spPr>
            <a:xfrm>
              <a:off x="704850" y="1758950"/>
              <a:ext cx="4667250" cy="3352800"/>
            </a:xfrm>
            <a:prstGeom prst="roundRect">
              <a:avLst>
                <a:gd name="adj" fmla="val 597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109" name="Picture 5"/>
            <p:cNvPicPr>
              <a:picLocks noChangeAspect="1" noChangeArrowheads="1"/>
            </p:cNvPicPr>
            <p:nvPr/>
          </p:nvPicPr>
          <p:blipFill>
            <a:blip r:embed="rId3" cstate="print"/>
            <a:srcRect/>
            <a:stretch>
              <a:fillRect/>
            </a:stretch>
          </p:blipFill>
          <p:spPr bwMode="auto">
            <a:xfrm>
              <a:off x="781050" y="1836420"/>
              <a:ext cx="4407373" cy="3185160"/>
            </a:xfrm>
            <a:prstGeom prst="rect">
              <a:avLst/>
            </a:prstGeom>
            <a:noFill/>
            <a:ln w="9525">
              <a:noFill/>
              <a:miter lim="800000"/>
              <a:headEnd/>
              <a:tailEnd/>
            </a:ln>
            <a:effectLst/>
          </p:spPr>
        </p:pic>
      </p:grpSp>
      <p:sp>
        <p:nvSpPr>
          <p:cNvPr id="39" name="矩形 38"/>
          <p:cNvSpPr/>
          <p:nvPr/>
        </p:nvSpPr>
        <p:spPr>
          <a:xfrm>
            <a:off x="505183" y="1150537"/>
            <a:ext cx="6559809"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3</a:t>
            </a:r>
            <a:r>
              <a:rPr lang="zh-CN" altLang="en-US" b="1" dirty="0">
                <a:solidFill>
                  <a:srgbClr val="FF0000"/>
                </a:solidFill>
                <a:latin typeface="微软雅黑" pitchFamily="34" charset="-122"/>
                <a:ea typeface="微软雅黑" pitchFamily="34" charset="-122"/>
              </a:rPr>
              <a:t>）</a:t>
            </a:r>
            <a:r>
              <a:rPr lang="zh-CN" altLang="zh-CN" b="1" dirty="0">
                <a:solidFill>
                  <a:srgbClr val="FF0000"/>
                </a:solidFill>
                <a:latin typeface="微软雅黑" pitchFamily="34" charset="-122"/>
                <a:ea typeface="微软雅黑" pitchFamily="34" charset="-122"/>
              </a:rPr>
              <a:t>数字信号的波形表示</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信号逻辑电平对时间的图形表示</a:t>
            </a:r>
            <a:endParaRPr lang="zh-CN" altLang="zh-CN" b="1" dirty="0">
              <a:latin typeface="微软雅黑" pitchFamily="34" charset="-122"/>
              <a:ea typeface="微软雅黑" pitchFamily="34" charset="-122"/>
            </a:endParaRPr>
          </a:p>
        </p:txBody>
      </p:sp>
      <p:grpSp>
        <p:nvGrpSpPr>
          <p:cNvPr id="4" name="组合 81"/>
          <p:cNvGrpSpPr/>
          <p:nvPr/>
        </p:nvGrpSpPr>
        <p:grpSpPr>
          <a:xfrm>
            <a:off x="6082311" y="1864543"/>
            <a:ext cx="1899354" cy="1733667"/>
            <a:chOff x="6082311" y="1876980"/>
            <a:chExt cx="1899354" cy="1926297"/>
          </a:xfrm>
        </p:grpSpPr>
        <p:sp>
          <p:nvSpPr>
            <p:cNvPr id="48" name="流程图: 可选过程 47"/>
            <p:cNvSpPr/>
            <p:nvPr/>
          </p:nvSpPr>
          <p:spPr>
            <a:xfrm>
              <a:off x="6158931" y="3453038"/>
              <a:ext cx="1822734"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常见的数字波形</a:t>
              </a:r>
            </a:p>
          </p:txBody>
        </p:sp>
        <p:grpSp>
          <p:nvGrpSpPr>
            <p:cNvPr id="5" name="Group 54"/>
            <p:cNvGrpSpPr>
              <a:grpSpLocks/>
            </p:cNvGrpSpPr>
            <p:nvPr/>
          </p:nvGrpSpPr>
          <p:grpSpPr bwMode="auto">
            <a:xfrm>
              <a:off x="6193498" y="1938032"/>
              <a:ext cx="1653237" cy="539750"/>
              <a:chOff x="24" y="2150"/>
              <a:chExt cx="802" cy="340"/>
            </a:xfrm>
          </p:grpSpPr>
          <p:pic>
            <p:nvPicPr>
              <p:cNvPr id="50" name="Picture 55" descr="未标题-221">
                <a:hlinkHover r:id="" action="ppaction://noaction" highlightClick="1"/>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 y="2150"/>
                <a:ext cx="80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1" name="Text Box 56"/>
              <p:cNvSpPr txBox="1">
                <a:spLocks noChangeArrowheads="1"/>
              </p:cNvSpPr>
              <p:nvPr/>
            </p:nvSpPr>
            <p:spPr bwMode="auto">
              <a:xfrm>
                <a:off x="243" y="2233"/>
                <a:ext cx="55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1600" dirty="0">
                    <a:solidFill>
                      <a:srgbClr val="FFFFFF"/>
                    </a:solidFill>
                    <a:latin typeface="黑体" panose="02010609060101010101" pitchFamily="49" charset="-122"/>
                    <a:ea typeface="黑体" panose="02010609060101010101" pitchFamily="49" charset="-122"/>
                  </a:rPr>
                  <a:t>不标电压值</a:t>
                </a:r>
                <a:endParaRPr lang="en-US" altLang="zh-CN" sz="1600" dirty="0">
                  <a:solidFill>
                    <a:srgbClr val="FFFFFF"/>
                  </a:solidFill>
                  <a:latin typeface="黑体" panose="02010609060101010101" pitchFamily="49" charset="-122"/>
                  <a:ea typeface="黑体" panose="02010609060101010101" pitchFamily="49" charset="-122"/>
                </a:endParaRPr>
              </a:p>
            </p:txBody>
          </p:sp>
        </p:grpSp>
        <p:grpSp>
          <p:nvGrpSpPr>
            <p:cNvPr id="6" name="Group 57"/>
            <p:cNvGrpSpPr>
              <a:grpSpLocks/>
            </p:cNvGrpSpPr>
            <p:nvPr/>
          </p:nvGrpSpPr>
          <p:grpSpPr bwMode="auto">
            <a:xfrm>
              <a:off x="6156100" y="2431832"/>
              <a:ext cx="1727200" cy="539750"/>
              <a:chOff x="-12" y="2523"/>
              <a:chExt cx="1088" cy="340"/>
            </a:xfrm>
          </p:grpSpPr>
          <p:pic>
            <p:nvPicPr>
              <p:cNvPr id="53" name="Picture 58" descr="未标题4">
                <a:hlinkHover r:id="" action="ppaction://noaction" highlightClick="1"/>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 y="2523"/>
                <a:ext cx="108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59"/>
              <p:cNvSpPr txBox="1">
                <a:spLocks noChangeArrowheads="1"/>
              </p:cNvSpPr>
              <p:nvPr/>
            </p:nvSpPr>
            <p:spPr bwMode="auto">
              <a:xfrm>
                <a:off x="308" y="2607"/>
                <a:ext cx="72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1600" dirty="0">
                    <a:solidFill>
                      <a:srgbClr val="FFFFFF"/>
                    </a:solidFill>
                    <a:latin typeface="黑体" panose="02010609060101010101" pitchFamily="49" charset="-122"/>
                    <a:ea typeface="黑体" panose="02010609060101010101" pitchFamily="49" charset="-122"/>
                  </a:rPr>
                  <a:t>不画时间轴</a:t>
                </a:r>
                <a:endParaRPr lang="en-US" altLang="zh-CN" sz="1600" dirty="0">
                  <a:solidFill>
                    <a:srgbClr val="FFFFFF"/>
                  </a:solidFill>
                  <a:latin typeface="黑体" panose="02010609060101010101" pitchFamily="49" charset="-122"/>
                  <a:ea typeface="黑体" panose="02010609060101010101" pitchFamily="49" charset="-122"/>
                </a:endParaRPr>
              </a:p>
            </p:txBody>
          </p:sp>
        </p:grpSp>
        <p:sp>
          <p:nvSpPr>
            <p:cNvPr id="55" name="下箭头 54"/>
            <p:cNvSpPr/>
            <p:nvPr/>
          </p:nvSpPr>
          <p:spPr>
            <a:xfrm rot="10800000" flipV="1">
              <a:off x="6919440" y="3056097"/>
              <a:ext cx="244800" cy="363961"/>
            </a:xfrm>
            <a:prstGeom prst="downArrow">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6082311" y="1876980"/>
              <a:ext cx="1879029" cy="11481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74"/>
          <p:cNvGrpSpPr/>
          <p:nvPr/>
        </p:nvGrpSpPr>
        <p:grpSpPr>
          <a:xfrm>
            <a:off x="1607821" y="1861642"/>
            <a:ext cx="1890655" cy="857936"/>
            <a:chOff x="1607820" y="1858518"/>
            <a:chExt cx="1890655" cy="953262"/>
          </a:xfrm>
        </p:grpSpPr>
        <p:sp>
          <p:nvSpPr>
            <p:cNvPr id="45" name="流程图: 可选过程 44"/>
            <p:cNvSpPr/>
            <p:nvPr/>
          </p:nvSpPr>
          <p:spPr>
            <a:xfrm>
              <a:off x="1675741" y="1858518"/>
              <a:ext cx="1822734"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用低电平表示逻辑</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cxnSp>
          <p:nvCxnSpPr>
            <p:cNvPr id="59" name="曲线连接符 58"/>
            <p:cNvCxnSpPr/>
            <p:nvPr/>
          </p:nvCxnSpPr>
          <p:spPr>
            <a:xfrm rot="5400000" flipH="1" flipV="1">
              <a:off x="1447800" y="2392680"/>
              <a:ext cx="579120" cy="259080"/>
            </a:xfrm>
            <a:prstGeom prst="curvedConnector3">
              <a:avLst>
                <a:gd name="adj1" fmla="val 50000"/>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grpSp>
        <p:nvGrpSpPr>
          <p:cNvPr id="8" name="组合 75"/>
          <p:cNvGrpSpPr/>
          <p:nvPr/>
        </p:nvGrpSpPr>
        <p:grpSpPr>
          <a:xfrm>
            <a:off x="3657601" y="1807995"/>
            <a:ext cx="2077343" cy="417807"/>
            <a:chOff x="3657600" y="1791290"/>
            <a:chExt cx="2077343" cy="464230"/>
          </a:xfrm>
        </p:grpSpPr>
        <p:sp>
          <p:nvSpPr>
            <p:cNvPr id="47" name="流程图: 可选过程 46"/>
            <p:cNvSpPr/>
            <p:nvPr/>
          </p:nvSpPr>
          <p:spPr>
            <a:xfrm>
              <a:off x="3912209" y="1791290"/>
              <a:ext cx="1822734"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用高电平表示逻辑</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74" name="任意多边形 73"/>
            <p:cNvSpPr/>
            <p:nvPr/>
          </p:nvSpPr>
          <p:spPr>
            <a:xfrm>
              <a:off x="3657600" y="1988820"/>
              <a:ext cx="205740" cy="266700"/>
            </a:xfrm>
            <a:custGeom>
              <a:avLst/>
              <a:gdLst>
                <a:gd name="connsiteX0" fmla="*/ 0 w 205740"/>
                <a:gd name="connsiteY0" fmla="*/ 266700 h 266700"/>
                <a:gd name="connsiteX1" fmla="*/ 45720 w 205740"/>
                <a:gd name="connsiteY1" fmla="*/ 121920 h 266700"/>
                <a:gd name="connsiteX2" fmla="*/ 205740 w 205740"/>
                <a:gd name="connsiteY2" fmla="*/ 0 h 266700"/>
              </a:gdLst>
              <a:ahLst/>
              <a:cxnLst>
                <a:cxn ang="0">
                  <a:pos x="connsiteX0" y="connsiteY0"/>
                </a:cxn>
                <a:cxn ang="0">
                  <a:pos x="connsiteX1" y="connsiteY1"/>
                </a:cxn>
                <a:cxn ang="0">
                  <a:pos x="connsiteX2" y="connsiteY2"/>
                </a:cxn>
              </a:cxnLst>
              <a:rect l="l" t="t" r="r" b="b"/>
              <a:pathLst>
                <a:path w="205740" h="266700">
                  <a:moveTo>
                    <a:pt x="0" y="266700"/>
                  </a:moveTo>
                  <a:cubicBezTo>
                    <a:pt x="5715" y="216535"/>
                    <a:pt x="11430" y="166370"/>
                    <a:pt x="45720" y="121920"/>
                  </a:cubicBezTo>
                  <a:cubicBezTo>
                    <a:pt x="80010" y="77470"/>
                    <a:pt x="142875" y="38735"/>
                    <a:pt x="205740" y="0"/>
                  </a:cubicBezTo>
                </a:path>
              </a:pathLst>
            </a:cu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8" name="组合 17"/>
          <p:cNvGrpSpPr/>
          <p:nvPr/>
        </p:nvGrpSpPr>
        <p:grpSpPr>
          <a:xfrm>
            <a:off x="392432" y="702128"/>
            <a:ext cx="3529322" cy="418885"/>
            <a:chOff x="670560" y="892917"/>
            <a:chExt cx="3529322" cy="465428"/>
          </a:xfrm>
        </p:grpSpPr>
        <p:sp>
          <p:nvSpPr>
            <p:cNvPr id="29" name="矩形 28"/>
            <p:cNvSpPr/>
            <p:nvPr/>
          </p:nvSpPr>
          <p:spPr>
            <a:xfrm>
              <a:off x="1035233" y="913778"/>
              <a:ext cx="3164649"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二进制数字信号的表示</a:t>
              </a:r>
              <a:endParaRPr lang="zh-CN" altLang="en-US" sz="2000" b="1" dirty="0">
                <a:solidFill>
                  <a:srgbClr val="002060"/>
                </a:solidFill>
                <a:latin typeface="微软雅黑" pitchFamily="34" charset="-122"/>
                <a:ea typeface="微软雅黑" pitchFamily="34" charset="-122"/>
              </a:endParaRPr>
            </a:p>
          </p:txBody>
        </p:sp>
        <p:pic>
          <p:nvPicPr>
            <p:cNvPr id="30" name="Picture 3"/>
            <p:cNvPicPr>
              <a:picLocks noChangeAspect="1" noChangeArrowheads="1"/>
            </p:cNvPicPr>
            <p:nvPr/>
          </p:nvPicPr>
          <p:blipFill>
            <a:blip r:embed="rId6"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0" name="组合 9">
            <a:extLst>
              <a:ext uri="{FF2B5EF4-FFF2-40B4-BE49-F238E27FC236}">
                <a16:creationId xmlns:a16="http://schemas.microsoft.com/office/drawing/2014/main" xmlns="" id="{90175FBD-D614-405E-BB7C-060A022E0500}"/>
              </a:ext>
            </a:extLst>
          </p:cNvPr>
          <p:cNvGrpSpPr/>
          <p:nvPr/>
        </p:nvGrpSpPr>
        <p:grpSpPr>
          <a:xfrm>
            <a:off x="845819" y="3508248"/>
            <a:ext cx="6277615" cy="946404"/>
            <a:chOff x="845819" y="3508248"/>
            <a:chExt cx="6277615" cy="946404"/>
          </a:xfrm>
        </p:grpSpPr>
        <p:sp>
          <p:nvSpPr>
            <p:cNvPr id="77" name="圆角矩形 76"/>
            <p:cNvSpPr/>
            <p:nvPr/>
          </p:nvSpPr>
          <p:spPr>
            <a:xfrm>
              <a:off x="845819" y="3508248"/>
              <a:ext cx="4437628" cy="946404"/>
            </a:xfrm>
            <a:prstGeom prst="roundRect">
              <a:avLst/>
            </a:prstGeom>
            <a:solidFill>
              <a:srgbClr val="FF00FF">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箭头: 圆角右 2">
              <a:extLst>
                <a:ext uri="{FF2B5EF4-FFF2-40B4-BE49-F238E27FC236}">
                  <a16:creationId xmlns:a16="http://schemas.microsoft.com/office/drawing/2014/main" xmlns="" id="{3B7B10AB-17B6-4756-AC4D-BE9357E052E5}"/>
                </a:ext>
              </a:extLst>
            </p:cNvPr>
            <p:cNvSpPr/>
            <p:nvPr/>
          </p:nvSpPr>
          <p:spPr>
            <a:xfrm rot="10800000">
              <a:off x="5300701" y="3638421"/>
              <a:ext cx="1822733" cy="493964"/>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355345530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slide(fromBottom)">
                                      <p:cBhvr>
                                        <p:cTn id="7" dur="10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1000"/>
                                        <p:tgtEl>
                                          <p:spTgt spid="2"/>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1000"/>
                                        <p:tgtEl>
                                          <p:spTgt spid="7"/>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1000"/>
                                        <p:tgtEl>
                                          <p:spTgt spid="4"/>
                                        </p:tgtEl>
                                      </p:cBhvr>
                                    </p:animEffect>
                                  </p:childTnLst>
                                </p:cTn>
                              </p:par>
                            </p:childTnLst>
                          </p:cTn>
                        </p:par>
                        <p:par>
                          <p:cTn id="26" fill="hold">
                            <p:stCondLst>
                              <p:cond delay="1000"/>
                            </p:stCondLst>
                            <p:childTnLst>
                              <p:par>
                                <p:cTn id="27" presetID="22" presetClass="entr" presetSubtype="2"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right)">
                                      <p:cBhvr>
                                        <p:cTn id="2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1188720" y="2190750"/>
            <a:ext cx="5257800" cy="2049971"/>
            <a:chOff x="1188720" y="2171700"/>
            <a:chExt cx="5257800" cy="2277745"/>
          </a:xfrm>
        </p:grpSpPr>
        <p:sp>
          <p:nvSpPr>
            <p:cNvPr id="40" name="圆角矩形 39"/>
            <p:cNvSpPr/>
            <p:nvPr/>
          </p:nvSpPr>
          <p:spPr>
            <a:xfrm>
              <a:off x="1188720" y="2171700"/>
              <a:ext cx="5257800" cy="2202180"/>
            </a:xfrm>
            <a:prstGeom prst="roundRect">
              <a:avLst>
                <a:gd name="adj" fmla="val 597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4036" name="Object 4"/>
            <p:cNvGraphicFramePr>
              <a:graphicFrameLocks noChangeAspect="1"/>
            </p:cNvGraphicFramePr>
            <p:nvPr/>
          </p:nvGraphicFramePr>
          <p:xfrm>
            <a:off x="1310323" y="2225358"/>
            <a:ext cx="5105400" cy="2224087"/>
          </p:xfrm>
          <a:graphic>
            <a:graphicData uri="http://schemas.openxmlformats.org/presentationml/2006/ole">
              <mc:AlternateContent xmlns:mc="http://schemas.openxmlformats.org/markup-compatibility/2006">
                <mc:Choice xmlns:v="urn:schemas-microsoft-com:vml" Requires="v">
                  <p:oleObj spid="_x0000_s23560" name="Visio" r:id="rId4" imgW="1900876" imgH="801096" progId="Visio.Drawing.11">
                    <p:embed/>
                  </p:oleObj>
                </mc:Choice>
                <mc:Fallback>
                  <p:oleObj name="Visio" r:id="rId4" imgW="1900876" imgH="801096" progId="Visio.Drawing.11">
                    <p:embed/>
                    <p:pic>
                      <p:nvPicPr>
                        <p:cNvPr id="44036" name="Object 4"/>
                        <p:cNvPicPr>
                          <a:picLocks noChangeAspect="1" noChangeArrowheads="1"/>
                        </p:cNvPicPr>
                        <p:nvPr/>
                      </p:nvPicPr>
                      <p:blipFill>
                        <a:blip r:embed="rId5"/>
                        <a:srcRect/>
                        <a:stretch>
                          <a:fillRect/>
                        </a:stretch>
                      </p:blipFill>
                      <p:spPr bwMode="auto">
                        <a:xfrm>
                          <a:off x="1310323" y="2225358"/>
                          <a:ext cx="5105400" cy="222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0" name="组合 49"/>
          <p:cNvGrpSpPr/>
          <p:nvPr/>
        </p:nvGrpSpPr>
        <p:grpSpPr>
          <a:xfrm>
            <a:off x="795106" y="1643646"/>
            <a:ext cx="5758094" cy="338554"/>
            <a:chOff x="795106" y="1775476"/>
            <a:chExt cx="5758094" cy="376171"/>
          </a:xfrm>
        </p:grpSpPr>
        <p:sp>
          <p:nvSpPr>
            <p:cNvPr id="8" name="矩形 7"/>
            <p:cNvSpPr/>
            <p:nvPr/>
          </p:nvSpPr>
          <p:spPr>
            <a:xfrm>
              <a:off x="1096925" y="1775476"/>
              <a:ext cx="5456275" cy="376171"/>
            </a:xfrm>
            <a:prstGeom prst="rect">
              <a:avLst/>
            </a:prstGeom>
          </p:spPr>
          <p:txBody>
            <a:bodyPr wrap="square">
              <a:spAutoFit/>
            </a:bodyPr>
            <a:lstStyle/>
            <a:p>
              <a:r>
                <a:rPr lang="zh-CN" altLang="en-US" sz="1600" dirty="0">
                  <a:latin typeface="黑体" pitchFamily="49" charset="-122"/>
                  <a:ea typeface="黑体" pitchFamily="49" charset="-122"/>
                </a:rPr>
                <a:t>数字波形的两种类型：</a:t>
              </a:r>
              <a:r>
                <a:rPr lang="en-US"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 </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非归零型；</a:t>
              </a:r>
              <a:r>
                <a:rPr lang="en-US"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 </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归零型</a:t>
              </a:r>
            </a:p>
          </p:txBody>
        </p:sp>
        <p:grpSp>
          <p:nvGrpSpPr>
            <p:cNvPr id="7" name="组合 74">
              <a:extLst>
                <a:ext uri="{FF2B5EF4-FFF2-40B4-BE49-F238E27FC236}">
                  <a16:creationId xmlns:a16="http://schemas.microsoft.com/office/drawing/2014/main" xmlns="" id="{3B7CB451-D976-4D29-8E76-DA33667E7A5C}"/>
                </a:ext>
              </a:extLst>
            </p:cNvPr>
            <p:cNvGrpSpPr/>
            <p:nvPr/>
          </p:nvGrpSpPr>
          <p:grpSpPr>
            <a:xfrm>
              <a:off x="795106" y="1823271"/>
              <a:ext cx="218354" cy="249369"/>
              <a:chOff x="5908675" y="1281113"/>
              <a:chExt cx="246063" cy="260350"/>
            </a:xfrm>
            <a:solidFill>
              <a:srgbClr val="CC6600"/>
            </a:solidFill>
            <a:effectLst/>
          </p:grpSpPr>
          <p:sp>
            <p:nvSpPr>
              <p:cNvPr id="10" name="Rectangle 5">
                <a:extLst>
                  <a:ext uri="{FF2B5EF4-FFF2-40B4-BE49-F238E27FC236}">
                    <a16:creationId xmlns:a16="http://schemas.microsoft.com/office/drawing/2014/main" xmlns="" id="{90935C74-8C16-471E-91F1-B9F216BA1823}"/>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1" name="Freeform 6">
                <a:extLst>
                  <a:ext uri="{FF2B5EF4-FFF2-40B4-BE49-F238E27FC236}">
                    <a16:creationId xmlns:a16="http://schemas.microsoft.com/office/drawing/2014/main" xmlns="" id="{9EC21102-ADEE-41FF-9529-61E7203A5284}"/>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2" name="Freeform 7">
                <a:extLst>
                  <a:ext uri="{FF2B5EF4-FFF2-40B4-BE49-F238E27FC236}">
                    <a16:creationId xmlns:a16="http://schemas.microsoft.com/office/drawing/2014/main" xmlns="" id="{44A44B06-2211-4FE1-AE49-F5F5C8845D8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3" name="Freeform 8">
                <a:extLst>
                  <a:ext uri="{FF2B5EF4-FFF2-40B4-BE49-F238E27FC236}">
                    <a16:creationId xmlns:a16="http://schemas.microsoft.com/office/drawing/2014/main" xmlns="" id="{DE1E4F75-EE0C-4E67-BB12-229AF0E5FF16}"/>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4" name="Freeform 9">
                <a:extLst>
                  <a:ext uri="{FF2B5EF4-FFF2-40B4-BE49-F238E27FC236}">
                    <a16:creationId xmlns:a16="http://schemas.microsoft.com/office/drawing/2014/main" xmlns="" id="{1E98D8B2-94FA-4602-8E49-B84310CE13F4}"/>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grpSp>
        <p:nvGrpSpPr>
          <p:cNvPr id="21" name="组合 35"/>
          <p:cNvGrpSpPr/>
          <p:nvPr/>
        </p:nvGrpSpPr>
        <p:grpSpPr>
          <a:xfrm>
            <a:off x="3259102" y="3344816"/>
            <a:ext cx="1815819" cy="1341165"/>
            <a:chOff x="5081551" y="3563621"/>
            <a:chExt cx="1815819" cy="1490183"/>
          </a:xfrm>
        </p:grpSpPr>
        <p:sp>
          <p:nvSpPr>
            <p:cNvPr id="25" name="矩形 24">
              <a:extLst>
                <a:ext uri="{FF2B5EF4-FFF2-40B4-BE49-F238E27FC236}">
                  <a16:creationId xmlns:a16="http://schemas.microsoft.com/office/drawing/2014/main" xmlns="" id="{17DDC567-E11C-4C5C-88C5-7674FF68CF0F}"/>
                </a:ext>
              </a:extLst>
            </p:cNvPr>
            <p:cNvSpPr/>
            <p:nvPr/>
          </p:nvSpPr>
          <p:spPr>
            <a:xfrm>
              <a:off x="6242858" y="3563621"/>
              <a:ext cx="654512" cy="678180"/>
            </a:xfrm>
            <a:prstGeom prst="rect">
              <a:avLst/>
            </a:prstGeom>
            <a:solidFill>
              <a:srgbClr val="FFC000">
                <a:alpha val="42000"/>
              </a:srgbClr>
            </a:solid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流程图: 可选过程 25">
              <a:extLst>
                <a:ext uri="{FF2B5EF4-FFF2-40B4-BE49-F238E27FC236}">
                  <a16:creationId xmlns:a16="http://schemas.microsoft.com/office/drawing/2014/main" xmlns="" id="{A686DF12-8A70-4B7E-A87C-184DE8D28DE1}"/>
                </a:ext>
              </a:extLst>
            </p:cNvPr>
            <p:cNvSpPr/>
            <p:nvPr/>
          </p:nvSpPr>
          <p:spPr>
            <a:xfrm>
              <a:off x="5081551" y="4703565"/>
              <a:ext cx="1511007"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高电平归零</a:t>
              </a:r>
            </a:p>
          </p:txBody>
        </p:sp>
        <p:cxnSp>
          <p:nvCxnSpPr>
            <p:cNvPr id="28" name="直接箭头连接符 27">
              <a:extLst>
                <a:ext uri="{FF2B5EF4-FFF2-40B4-BE49-F238E27FC236}">
                  <a16:creationId xmlns:a16="http://schemas.microsoft.com/office/drawing/2014/main" xmlns="" id="{1FB09E70-DECD-4FFB-AEFA-143308E4FC85}"/>
                </a:ext>
              </a:extLst>
            </p:cNvPr>
            <p:cNvCxnSpPr/>
            <p:nvPr/>
          </p:nvCxnSpPr>
          <p:spPr>
            <a:xfrm flipH="1">
              <a:off x="6036310" y="4206239"/>
              <a:ext cx="212090" cy="4318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505183" y="1150537"/>
            <a:ext cx="6559809"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3</a:t>
            </a:r>
            <a:r>
              <a:rPr lang="zh-CN" altLang="en-US" b="1" dirty="0">
                <a:solidFill>
                  <a:srgbClr val="FF0000"/>
                </a:solidFill>
                <a:latin typeface="微软雅黑" pitchFamily="34" charset="-122"/>
                <a:ea typeface="微软雅黑" pitchFamily="34" charset="-122"/>
              </a:rPr>
              <a:t>）</a:t>
            </a:r>
            <a:r>
              <a:rPr lang="zh-CN" altLang="zh-CN" b="1" dirty="0">
                <a:solidFill>
                  <a:srgbClr val="FF0000"/>
                </a:solidFill>
                <a:latin typeface="微软雅黑" pitchFamily="34" charset="-122"/>
                <a:ea typeface="微软雅黑" pitchFamily="34" charset="-122"/>
              </a:rPr>
              <a:t>数字信号的波形表示</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信号逻辑电平对时间的图形表示</a:t>
            </a:r>
            <a:endParaRPr lang="zh-CN" altLang="zh-CN" b="1" dirty="0">
              <a:latin typeface="微软雅黑" pitchFamily="34" charset="-122"/>
              <a:ea typeface="微软雅黑" pitchFamily="34" charset="-122"/>
            </a:endParaRPr>
          </a:p>
        </p:txBody>
      </p:sp>
      <p:grpSp>
        <p:nvGrpSpPr>
          <p:cNvPr id="51" name="组合 17"/>
          <p:cNvGrpSpPr/>
          <p:nvPr/>
        </p:nvGrpSpPr>
        <p:grpSpPr>
          <a:xfrm>
            <a:off x="392432" y="702128"/>
            <a:ext cx="3529322" cy="418885"/>
            <a:chOff x="670560" y="892917"/>
            <a:chExt cx="3529322" cy="465428"/>
          </a:xfrm>
        </p:grpSpPr>
        <p:sp>
          <p:nvSpPr>
            <p:cNvPr id="52" name="矩形 51"/>
            <p:cNvSpPr/>
            <p:nvPr/>
          </p:nvSpPr>
          <p:spPr>
            <a:xfrm>
              <a:off x="1035233" y="913778"/>
              <a:ext cx="3164649"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二进制数字信号的表示</a:t>
              </a:r>
              <a:endParaRPr lang="zh-CN" altLang="en-US" sz="2000" b="1" dirty="0">
                <a:solidFill>
                  <a:srgbClr val="002060"/>
                </a:solidFill>
                <a:latin typeface="微软雅黑" pitchFamily="34" charset="-122"/>
                <a:ea typeface="微软雅黑" pitchFamily="34" charset="-122"/>
              </a:endParaRPr>
            </a:p>
          </p:txBody>
        </p:sp>
        <p:pic>
          <p:nvPicPr>
            <p:cNvPr id="53" name="Picture 3"/>
            <p:cNvPicPr>
              <a:picLocks noChangeAspect="1" noChangeArrowheads="1"/>
            </p:cNvPicPr>
            <p:nvPr/>
          </p:nvPicPr>
          <p:blipFill>
            <a:blip r:embed="rId6"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 name="组合 1">
            <a:extLst>
              <a:ext uri="{FF2B5EF4-FFF2-40B4-BE49-F238E27FC236}">
                <a16:creationId xmlns:a16="http://schemas.microsoft.com/office/drawing/2014/main" xmlns="" id="{BE0D6685-1847-45CD-858E-1019B3EA2894}"/>
              </a:ext>
            </a:extLst>
          </p:cNvPr>
          <p:cNvGrpSpPr/>
          <p:nvPr/>
        </p:nvGrpSpPr>
        <p:grpSpPr>
          <a:xfrm>
            <a:off x="-814" y="3051723"/>
            <a:ext cx="2233475" cy="868556"/>
            <a:chOff x="-814" y="3051723"/>
            <a:chExt cx="2233475" cy="868556"/>
          </a:xfrm>
        </p:grpSpPr>
        <p:grpSp>
          <p:nvGrpSpPr>
            <p:cNvPr id="49" name="组合 48"/>
            <p:cNvGrpSpPr/>
            <p:nvPr/>
          </p:nvGrpSpPr>
          <p:grpSpPr>
            <a:xfrm>
              <a:off x="-814" y="3051723"/>
              <a:ext cx="1708763" cy="605866"/>
              <a:chOff x="705619" y="4246879"/>
              <a:chExt cx="1708763" cy="673184"/>
            </a:xfrm>
          </p:grpSpPr>
          <p:sp>
            <p:nvSpPr>
              <p:cNvPr id="16" name="流程图: 可选过程 15"/>
              <p:cNvSpPr/>
              <p:nvPr/>
            </p:nvSpPr>
            <p:spPr>
              <a:xfrm>
                <a:off x="705619" y="4572538"/>
                <a:ext cx="1708763" cy="34752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l-GR" altLang="zh-CN" sz="1400" i="1" dirty="0">
                    <a:latin typeface="Times New Roman" pitchFamily="18" charset="0"/>
                    <a:ea typeface="宋体" panose="02010600030101010101" pitchFamily="2" charset="-122"/>
                    <a:cs typeface="Times New Roman" pitchFamily="18" charset="0"/>
                  </a:rPr>
                  <a:t>Δ</a:t>
                </a:r>
                <a:r>
                  <a:rPr lang="en-US" altLang="zh-CN" sz="1400" i="1" dirty="0">
                    <a:latin typeface="Times New Roman" pitchFamily="18" charset="0"/>
                    <a:ea typeface="微软雅黑" panose="020B0503020204020204" pitchFamily="34" charset="-122"/>
                    <a:cs typeface="Times New Roman" pitchFamily="18" charset="0"/>
                  </a:rPr>
                  <a:t>T </a:t>
                </a:r>
                <a:r>
                  <a:rPr lang="zh-CN" altLang="en-US" sz="1400" dirty="0">
                    <a:latin typeface="Times New Roman" pitchFamily="18" charset="0"/>
                    <a:ea typeface="微软雅黑" panose="020B0503020204020204" pitchFamily="34" charset="-122"/>
                    <a:cs typeface="Times New Roman" pitchFamily="18" charset="0"/>
                  </a:rPr>
                  <a:t>为一个时间节拍</a:t>
                </a:r>
              </a:p>
            </p:txBody>
          </p:sp>
          <p:cxnSp>
            <p:nvCxnSpPr>
              <p:cNvPr id="47" name="直接箭头连接符 46">
                <a:extLst>
                  <a:ext uri="{FF2B5EF4-FFF2-40B4-BE49-F238E27FC236}">
                    <a16:creationId xmlns:a16="http://schemas.microsoft.com/office/drawing/2014/main" xmlns="" id="{1FB09E70-DECD-4FFB-AEFA-143308E4FC85}"/>
                  </a:ext>
                </a:extLst>
              </p:cNvPr>
              <p:cNvCxnSpPr/>
              <p:nvPr/>
            </p:nvCxnSpPr>
            <p:spPr>
              <a:xfrm flipH="1">
                <a:off x="1874520" y="4246879"/>
                <a:ext cx="455930" cy="279401"/>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4" name="直接箭头连接符 33">
              <a:extLst>
                <a:ext uri="{FF2B5EF4-FFF2-40B4-BE49-F238E27FC236}">
                  <a16:creationId xmlns:a16="http://schemas.microsoft.com/office/drawing/2014/main" xmlns="" id="{2E0FB492-8677-4006-99C6-2B49BDC155B8}"/>
                </a:ext>
              </a:extLst>
            </p:cNvPr>
            <p:cNvCxnSpPr>
              <a:cxnSpLocks/>
            </p:cNvCxnSpPr>
            <p:nvPr/>
          </p:nvCxnSpPr>
          <p:spPr>
            <a:xfrm flipH="1" flipV="1">
              <a:off x="1661952" y="3657589"/>
              <a:ext cx="570709" cy="262690"/>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对话气泡: 圆角矩形 4">
            <a:extLst>
              <a:ext uri="{FF2B5EF4-FFF2-40B4-BE49-F238E27FC236}">
                <a16:creationId xmlns:a16="http://schemas.microsoft.com/office/drawing/2014/main" xmlns="" id="{05CCE77F-BF3F-4298-93B8-3682B3BD3E1F}"/>
              </a:ext>
            </a:extLst>
          </p:cNvPr>
          <p:cNvSpPr/>
          <p:nvPr/>
        </p:nvSpPr>
        <p:spPr>
          <a:xfrm>
            <a:off x="6467153" y="2478842"/>
            <a:ext cx="1241743" cy="369332"/>
          </a:xfrm>
          <a:prstGeom prst="wedgeRoundRectCallout">
            <a:avLst>
              <a:gd name="adj1" fmla="val -61869"/>
              <a:gd name="adj2" fmla="val 118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电平信号</a:t>
            </a:r>
          </a:p>
        </p:txBody>
      </p:sp>
      <p:sp>
        <p:nvSpPr>
          <p:cNvPr id="39" name="对话气泡: 圆角矩形 38">
            <a:extLst>
              <a:ext uri="{FF2B5EF4-FFF2-40B4-BE49-F238E27FC236}">
                <a16:creationId xmlns:a16="http://schemas.microsoft.com/office/drawing/2014/main" xmlns="" id="{D1E33F9C-134E-4620-AE9E-5CDAD3259F49}"/>
              </a:ext>
            </a:extLst>
          </p:cNvPr>
          <p:cNvSpPr/>
          <p:nvPr/>
        </p:nvSpPr>
        <p:spPr>
          <a:xfrm>
            <a:off x="6489364" y="3505330"/>
            <a:ext cx="1241743" cy="369332"/>
          </a:xfrm>
          <a:prstGeom prst="wedgeRoundRectCallout">
            <a:avLst>
              <a:gd name="adj1" fmla="val -61869"/>
              <a:gd name="adj2" fmla="val 118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脉冲信号</a:t>
            </a:r>
          </a:p>
        </p:txBody>
      </p:sp>
      <p:sp>
        <p:nvSpPr>
          <p:cNvPr id="29" name="矩形 28">
            <a:extLst>
              <a:ext uri="{FF2B5EF4-FFF2-40B4-BE49-F238E27FC236}">
                <a16:creationId xmlns:a16="http://schemas.microsoft.com/office/drawing/2014/main" xmlns="" id="{A31DC4B0-FE04-4FEF-B0E5-B2D10FA1C001}"/>
              </a:ext>
            </a:extLst>
          </p:cNvPr>
          <p:cNvSpPr/>
          <p:nvPr/>
        </p:nvSpPr>
        <p:spPr>
          <a:xfrm>
            <a:off x="3845755" y="2324998"/>
            <a:ext cx="1229165" cy="610362"/>
          </a:xfrm>
          <a:prstGeom prst="rect">
            <a:avLst/>
          </a:prstGeom>
          <a:solidFill>
            <a:srgbClr val="FFC000">
              <a:alpha val="42000"/>
            </a:srgbClr>
          </a:solid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1000"/>
                                        <p:tgtEl>
                                          <p:spTgt spid="50"/>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10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arn(inVertical)">
                                      <p:cBhvr>
                                        <p:cTn id="21" dur="1000"/>
                                        <p:tgtEl>
                                          <p:spTgt spid="29"/>
                                        </p:tgtEl>
                                      </p:cBhvr>
                                    </p:animEffect>
                                  </p:childTnLst>
                                </p:cTn>
                              </p:par>
                            </p:childTnLst>
                          </p:cTn>
                        </p:par>
                        <p:par>
                          <p:cTn id="22" fill="hold">
                            <p:stCondLst>
                              <p:cond delay="1000"/>
                            </p:stCondLst>
                            <p:childTnLst>
                              <p:par>
                                <p:cTn id="23" presetID="16" presetClass="entr" presetSubtype="37" fill="hold" grpId="1"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arn(outVertical)">
                                      <p:cBhvr>
                                        <p:cTn id="25" dur="10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up)">
                                      <p:cBhvr>
                                        <p:cTn id="30" dur="10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1000"/>
                                        <p:tgtEl>
                                          <p:spTgt spid="5"/>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9" grpId="0" animBg="1"/>
      <p:bldP spid="29" grpId="0" animBg="1"/>
      <p:bldP spid="2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xmlns="" id="{0DF9A10E-6B3A-486A-9897-336F00228FC7}"/>
              </a:ext>
            </a:extLst>
          </p:cNvPr>
          <p:cNvGrpSpPr/>
          <p:nvPr/>
        </p:nvGrpSpPr>
        <p:grpSpPr>
          <a:xfrm>
            <a:off x="673100" y="2274570"/>
            <a:ext cx="5289550" cy="1737360"/>
            <a:chOff x="673100" y="2274570"/>
            <a:chExt cx="5289550" cy="1737360"/>
          </a:xfrm>
        </p:grpSpPr>
        <p:grpSp>
          <p:nvGrpSpPr>
            <p:cNvPr id="2" name="组合 91"/>
            <p:cNvGrpSpPr/>
            <p:nvPr/>
          </p:nvGrpSpPr>
          <p:grpSpPr>
            <a:xfrm>
              <a:off x="673100" y="2274570"/>
              <a:ext cx="5289550" cy="1737360"/>
              <a:chOff x="673100" y="2660650"/>
              <a:chExt cx="5289550" cy="1930400"/>
            </a:xfrm>
          </p:grpSpPr>
          <p:sp>
            <p:nvSpPr>
              <p:cNvPr id="91" name="圆角矩形 90"/>
              <p:cNvSpPr/>
              <p:nvPr/>
            </p:nvSpPr>
            <p:spPr>
              <a:xfrm>
                <a:off x="673100" y="2660650"/>
                <a:ext cx="5289550" cy="1930400"/>
              </a:xfrm>
              <a:prstGeom prst="roundRect">
                <a:avLst>
                  <a:gd name="adj" fmla="val 943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a:extLst>
                  <a:ext uri="{FF2B5EF4-FFF2-40B4-BE49-F238E27FC236}">
                    <a16:creationId xmlns:a16="http://schemas.microsoft.com/office/drawing/2014/main" xmlns="" id="{87CAAFFF-B18B-49D7-BC70-25D98E68F88C}"/>
                  </a:ext>
                </a:extLst>
              </p:cNvPr>
              <p:cNvPicPr>
                <a:picLocks noChangeAspect="1"/>
              </p:cNvPicPr>
              <p:nvPr/>
            </p:nvPicPr>
            <p:blipFill>
              <a:blip r:embed="rId4" cstate="print"/>
              <a:srcRect r="16335"/>
              <a:stretch>
                <a:fillRect/>
              </a:stretch>
            </p:blipFill>
            <p:spPr>
              <a:xfrm>
                <a:off x="809090" y="2823904"/>
                <a:ext cx="4936390" cy="1662544"/>
              </a:xfrm>
              <a:prstGeom prst="rect">
                <a:avLst/>
              </a:prstGeom>
              <a:solidFill>
                <a:schemeClr val="bg1"/>
              </a:solidFill>
            </p:spPr>
          </p:pic>
        </p:grpSp>
        <p:sp>
          <p:nvSpPr>
            <p:cNvPr id="5" name="文本框 4">
              <a:extLst>
                <a:ext uri="{FF2B5EF4-FFF2-40B4-BE49-F238E27FC236}">
                  <a16:creationId xmlns:a16="http://schemas.microsoft.com/office/drawing/2014/main" xmlns="" id="{0C9F819B-A5FE-4A4B-84D9-6480B5CFF1BE}"/>
                </a:ext>
              </a:extLst>
            </p:cNvPr>
            <p:cNvSpPr txBox="1"/>
            <p:nvPr/>
          </p:nvSpPr>
          <p:spPr>
            <a:xfrm>
              <a:off x="1902616" y="3214700"/>
              <a:ext cx="142877" cy="153888"/>
            </a:xfrm>
            <a:prstGeom prst="rect">
              <a:avLst/>
            </a:prstGeom>
            <a:solidFill>
              <a:schemeClr val="bg1"/>
            </a:solidFill>
          </p:spPr>
          <p:txBody>
            <a:bodyPr wrap="square" lIns="0" tIns="0" rIns="0" bIns="0" rtlCol="0">
              <a:spAutoFit/>
            </a:bodyPr>
            <a:lstStyle/>
            <a:p>
              <a:r>
                <a:rPr lang="en-US" altLang="zh-CN" sz="1000" i="1" spc="-100"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1000" spc="-100" baseline="-25000" dirty="0">
                  <a:latin typeface="Times New Roman" panose="02020603050405020304" pitchFamily="18" charset="0"/>
                  <a:ea typeface="黑体" panose="02010609060101010101" pitchFamily="49" charset="-122"/>
                  <a:cs typeface="Times New Roman" panose="02020603050405020304" pitchFamily="18" charset="0"/>
                </a:rPr>
                <a:t>W</a:t>
              </a:r>
              <a:endParaRPr lang="zh-CN" altLang="en-US" sz="1000" spc="-100"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62" name="对话气泡: 圆角矩形 10">
            <a:extLst>
              <a:ext uri="{FF2B5EF4-FFF2-40B4-BE49-F238E27FC236}">
                <a16:creationId xmlns:a16="http://schemas.microsoft.com/office/drawing/2014/main" xmlns="" id="{7C6D4648-F02F-4947-897F-0C1AEE54EC22}"/>
              </a:ext>
            </a:extLst>
          </p:cNvPr>
          <p:cNvSpPr/>
          <p:nvPr/>
        </p:nvSpPr>
        <p:spPr>
          <a:xfrm>
            <a:off x="4149090" y="1816109"/>
            <a:ext cx="1813560" cy="381640"/>
          </a:xfrm>
          <a:prstGeom prst="wedgeRoundRectCallout">
            <a:avLst>
              <a:gd name="adj1" fmla="val -43490"/>
              <a:gd name="adj2" fmla="val 1547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非周期性数字波形</a:t>
            </a:r>
          </a:p>
        </p:txBody>
      </p:sp>
      <p:sp>
        <p:nvSpPr>
          <p:cNvPr id="66" name="Text Box 7">
            <a:extLst>
              <a:ext uri="{FF2B5EF4-FFF2-40B4-BE49-F238E27FC236}">
                <a16:creationId xmlns:a16="http://schemas.microsoft.com/office/drawing/2014/main" xmlns="" id="{7DC27B86-2143-4A07-911B-AA6D87C351BE}"/>
              </a:ext>
            </a:extLst>
          </p:cNvPr>
          <p:cNvSpPr txBox="1">
            <a:spLocks noChangeArrowheads="1"/>
          </p:cNvSpPr>
          <p:nvPr/>
        </p:nvSpPr>
        <p:spPr bwMode="auto">
          <a:xfrm>
            <a:off x="6304547" y="3524481"/>
            <a:ext cx="1847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rgbClr val="FFFFFF"/>
                </a:solidFill>
                <a:latin typeface="Times New Roman" panose="02020603050405020304" pitchFamily="18" charset="0"/>
                <a:ea typeface="楷体_GB2312" pitchFamily="49" charset="-122"/>
              </a:defRPr>
            </a:lvl1pPr>
            <a:lvl2pPr marL="742950" indent="-285750" eaLnBrk="0" hangingPunct="0">
              <a:defRPr sz="2400" b="1">
                <a:solidFill>
                  <a:srgbClr val="FFFFFF"/>
                </a:solidFill>
                <a:latin typeface="Times New Roman" panose="02020603050405020304" pitchFamily="18" charset="0"/>
                <a:ea typeface="楷体_GB2312" pitchFamily="49" charset="-122"/>
              </a:defRPr>
            </a:lvl2pPr>
            <a:lvl3pPr marL="1143000" indent="-228600" eaLnBrk="0" hangingPunct="0">
              <a:defRPr sz="2400" b="1">
                <a:solidFill>
                  <a:srgbClr val="FFFFFF"/>
                </a:solidFill>
                <a:latin typeface="Times New Roman" panose="02020603050405020304" pitchFamily="18" charset="0"/>
                <a:ea typeface="楷体_GB2312" pitchFamily="49" charset="-122"/>
              </a:defRPr>
            </a:lvl3pPr>
            <a:lvl4pPr marL="1600200" indent="-228600" eaLnBrk="0" hangingPunct="0">
              <a:defRPr sz="2400" b="1">
                <a:solidFill>
                  <a:srgbClr val="FFFFFF"/>
                </a:solidFill>
                <a:latin typeface="Times New Roman" panose="02020603050405020304" pitchFamily="18" charset="0"/>
                <a:ea typeface="楷体_GB2312" pitchFamily="49" charset="-122"/>
              </a:defRPr>
            </a:lvl4pPr>
            <a:lvl5pPr marL="2057400" indent="-228600" eaLnBrk="0" hangingPunct="0">
              <a:defRPr sz="2400" b="1">
                <a:solidFill>
                  <a:srgbClr val="FFFFFF"/>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400" b="1">
                <a:solidFill>
                  <a:srgbClr val="FFFFFF"/>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400" b="1">
                <a:solidFill>
                  <a:srgbClr val="FFFFFF"/>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400" b="1">
                <a:solidFill>
                  <a:srgbClr val="FFFFFF"/>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400" b="1">
                <a:solidFill>
                  <a:srgbClr val="FFFFFF"/>
                </a:solidFill>
                <a:latin typeface="Times New Roman" panose="02020603050405020304" pitchFamily="18" charset="0"/>
                <a:ea typeface="楷体_GB2312" pitchFamily="49" charset="-122"/>
              </a:defRPr>
            </a:lvl9pPr>
          </a:lstStyle>
          <a:p>
            <a:pPr algn="l" eaLnBrk="1" hangingPunct="1"/>
            <a:endParaRPr lang="zh-CN" altLang="en-US" sz="1600" dirty="0">
              <a:solidFill>
                <a:srgbClr val="336699"/>
              </a:solidFill>
              <a:latin typeface="黑体" panose="02010609060101010101" pitchFamily="49" charset="-122"/>
              <a:ea typeface="黑体" panose="02010609060101010101" pitchFamily="49" charset="-122"/>
            </a:endParaRPr>
          </a:p>
        </p:txBody>
      </p:sp>
      <p:sp>
        <p:nvSpPr>
          <p:cNvPr id="63" name="对话气泡: 圆角矩形 11">
            <a:extLst>
              <a:ext uri="{FF2B5EF4-FFF2-40B4-BE49-F238E27FC236}">
                <a16:creationId xmlns:a16="http://schemas.microsoft.com/office/drawing/2014/main" xmlns="" id="{B3CDD5B9-C930-4596-A340-910F52D4A1D4}"/>
              </a:ext>
            </a:extLst>
          </p:cNvPr>
          <p:cNvSpPr/>
          <p:nvPr/>
        </p:nvSpPr>
        <p:spPr>
          <a:xfrm>
            <a:off x="3785087" y="3775418"/>
            <a:ext cx="1622182" cy="313334"/>
          </a:xfrm>
          <a:prstGeom prst="wedgeRoundRectCallout">
            <a:avLst>
              <a:gd name="adj1" fmla="val -31906"/>
              <a:gd name="adj2" fmla="val -1253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周期性数字波形</a:t>
            </a:r>
          </a:p>
        </p:txBody>
      </p:sp>
      <p:grpSp>
        <p:nvGrpSpPr>
          <p:cNvPr id="7" name="组合 79"/>
          <p:cNvGrpSpPr/>
          <p:nvPr/>
        </p:nvGrpSpPr>
        <p:grpSpPr>
          <a:xfrm>
            <a:off x="6172735" y="2124042"/>
            <a:ext cx="2548742" cy="1862410"/>
            <a:chOff x="5991225" y="1192438"/>
            <a:chExt cx="2345856" cy="2069344"/>
          </a:xfrm>
        </p:grpSpPr>
        <p:sp>
          <p:nvSpPr>
            <p:cNvPr id="85" name="圆角矩形 84"/>
            <p:cNvSpPr/>
            <p:nvPr/>
          </p:nvSpPr>
          <p:spPr>
            <a:xfrm>
              <a:off x="5997081" y="1546779"/>
              <a:ext cx="2340000" cy="1715003"/>
            </a:xfrm>
            <a:prstGeom prst="roundRect">
              <a:avLst>
                <a:gd name="adj" fmla="val 277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lang="zh-CN" altLang="en-US" sz="1600" dirty="0">
                  <a:solidFill>
                    <a:srgbClr val="336699"/>
                  </a:solidFill>
                  <a:latin typeface="Times New Roman" pitchFamily="18" charset="0"/>
                  <a:ea typeface="黑体" panose="02010609060101010101" pitchFamily="49" charset="-122"/>
                  <a:cs typeface="Times New Roman" pitchFamily="18" charset="0"/>
                </a:rPr>
                <a:t>周期</a:t>
              </a:r>
              <a:r>
                <a:rPr lang="zh-CN" altLang="en-US" sz="1600" dirty="0">
                  <a:solidFill>
                    <a:srgbClr val="000000"/>
                  </a:solidFill>
                  <a:latin typeface="Times New Roman" pitchFamily="18" charset="0"/>
                  <a:cs typeface="Times New Roman" pitchFamily="18" charset="0"/>
                </a:rPr>
                <a:t> </a:t>
              </a:r>
              <a:r>
                <a:rPr lang="en-US" altLang="zh-CN" sz="1600" i="1" dirty="0">
                  <a:solidFill>
                    <a:srgbClr val="336699"/>
                  </a:solidFill>
                  <a:latin typeface="Times New Roman" pitchFamily="18" charset="0"/>
                  <a:cs typeface="Times New Roman" pitchFamily="18" charset="0"/>
                </a:rPr>
                <a:t>T</a:t>
              </a:r>
              <a:r>
                <a:rPr lang="zh-CN" altLang="en-US" sz="1600" i="1" dirty="0">
                  <a:solidFill>
                    <a:srgbClr val="336699"/>
                  </a:solidFill>
                  <a:latin typeface="Times New Roman" pitchFamily="18" charset="0"/>
                  <a:cs typeface="Times New Roman" pitchFamily="18" charset="0"/>
                </a:rPr>
                <a:t>、</a:t>
              </a:r>
              <a:r>
                <a:rPr lang="zh-CN" altLang="en-US" sz="1600" dirty="0">
                  <a:solidFill>
                    <a:srgbClr val="336699"/>
                  </a:solidFill>
                  <a:latin typeface="Times New Roman" pitchFamily="18" charset="0"/>
                  <a:ea typeface="黑体" panose="02010609060101010101" pitchFamily="49" charset="-122"/>
                  <a:cs typeface="Times New Roman" pitchFamily="18" charset="0"/>
                </a:rPr>
                <a:t>频率</a:t>
              </a:r>
              <a:r>
                <a:rPr lang="en-US" altLang="zh-CN" sz="1600" i="1" dirty="0">
                  <a:solidFill>
                    <a:srgbClr val="336699"/>
                  </a:solidFill>
                  <a:latin typeface="Times New Roman" pitchFamily="18" charset="0"/>
                  <a:cs typeface="Times New Roman" pitchFamily="18" charset="0"/>
                </a:rPr>
                <a:t>f</a:t>
              </a:r>
            </a:p>
            <a:p>
              <a:pPr>
                <a:spcBef>
                  <a:spcPct val="50000"/>
                </a:spcBef>
              </a:pPr>
              <a:endParaRPr lang="en-US" altLang="zh-CN" sz="1600" i="1" dirty="0">
                <a:solidFill>
                  <a:srgbClr val="336699"/>
                </a:solidFill>
                <a:latin typeface="Times New Roman" pitchFamily="18" charset="0"/>
                <a:ea typeface="黑体" panose="02010609060101010101" pitchFamily="49" charset="-122"/>
                <a:cs typeface="Times New Roman" pitchFamily="18" charset="0"/>
              </a:endParaRPr>
            </a:p>
            <a:p>
              <a:pPr>
                <a:spcBef>
                  <a:spcPct val="50000"/>
                </a:spcBef>
              </a:pPr>
              <a:endParaRPr lang="zh-CN" altLang="en-US" sz="1600" dirty="0">
                <a:solidFill>
                  <a:srgbClr val="336699"/>
                </a:solidFill>
                <a:latin typeface="Times New Roman" pitchFamily="18" charset="0"/>
                <a:ea typeface="黑体" panose="02010609060101010101" pitchFamily="49" charset="-122"/>
                <a:cs typeface="Times New Roman" pitchFamily="18" charset="0"/>
              </a:endParaRPr>
            </a:p>
          </p:txBody>
        </p:sp>
        <p:sp>
          <p:nvSpPr>
            <p:cNvPr id="81" name="流程图: 可选过程 80"/>
            <p:cNvSpPr/>
            <p:nvPr/>
          </p:nvSpPr>
          <p:spPr>
            <a:xfrm>
              <a:off x="5991225" y="1192438"/>
              <a:ext cx="2340000"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黑体" panose="02010609060101010101" pitchFamily="49" charset="-122"/>
                  <a:ea typeface="黑体" panose="02010609060101010101" pitchFamily="49" charset="-122"/>
                </a:rPr>
                <a:t>周期性数字波形的参数</a:t>
              </a:r>
            </a:p>
          </p:txBody>
        </p:sp>
      </p:grpSp>
      <p:sp>
        <p:nvSpPr>
          <p:cNvPr id="28" name="矩形 27"/>
          <p:cNvSpPr/>
          <p:nvPr/>
        </p:nvSpPr>
        <p:spPr>
          <a:xfrm>
            <a:off x="505183" y="1150537"/>
            <a:ext cx="6559809"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3</a:t>
            </a:r>
            <a:r>
              <a:rPr lang="zh-CN" altLang="en-US" b="1" dirty="0">
                <a:solidFill>
                  <a:srgbClr val="FF0000"/>
                </a:solidFill>
                <a:latin typeface="微软雅黑" pitchFamily="34" charset="-122"/>
                <a:ea typeface="微软雅黑" pitchFamily="34" charset="-122"/>
              </a:rPr>
              <a:t>）</a:t>
            </a:r>
            <a:r>
              <a:rPr lang="zh-CN" altLang="zh-CN" b="1" dirty="0">
                <a:solidFill>
                  <a:srgbClr val="FF0000"/>
                </a:solidFill>
                <a:latin typeface="微软雅黑" pitchFamily="34" charset="-122"/>
                <a:ea typeface="微软雅黑" pitchFamily="34" charset="-122"/>
              </a:rPr>
              <a:t>数字信号的波形表示</a:t>
            </a:r>
            <a:r>
              <a:rPr lang="en-US" altLang="zh-CN" dirty="0">
                <a:solidFill>
                  <a:srgbClr val="336699"/>
                </a:solidFill>
                <a:latin typeface="黑体" panose="02010609060101010101" pitchFamily="49" charset="-122"/>
                <a:ea typeface="黑体" panose="02010609060101010101" pitchFamily="49" charset="-122"/>
              </a:rPr>
              <a:t>——</a:t>
            </a:r>
            <a:r>
              <a:rPr lang="zh-CN" altLang="en-US" dirty="0">
                <a:solidFill>
                  <a:srgbClr val="336699"/>
                </a:solidFill>
                <a:latin typeface="黑体" panose="02010609060101010101" pitchFamily="49" charset="-122"/>
                <a:ea typeface="黑体" panose="02010609060101010101" pitchFamily="49" charset="-122"/>
              </a:rPr>
              <a:t>信号逻辑电平对时间的图形表示</a:t>
            </a:r>
            <a:endParaRPr lang="zh-CN" altLang="zh-CN" b="1" dirty="0">
              <a:solidFill>
                <a:srgbClr val="FF0000"/>
              </a:solidFill>
              <a:latin typeface="微软雅黑" pitchFamily="34" charset="-122"/>
              <a:ea typeface="微软雅黑" pitchFamily="34" charset="-122"/>
            </a:endParaRPr>
          </a:p>
        </p:txBody>
      </p:sp>
      <p:grpSp>
        <p:nvGrpSpPr>
          <p:cNvPr id="35" name="组合 34"/>
          <p:cNvGrpSpPr/>
          <p:nvPr/>
        </p:nvGrpSpPr>
        <p:grpSpPr>
          <a:xfrm>
            <a:off x="795107" y="1605927"/>
            <a:ext cx="5187565" cy="338554"/>
            <a:chOff x="795106" y="1784366"/>
            <a:chExt cx="5187565" cy="376171"/>
          </a:xfrm>
        </p:grpSpPr>
        <p:sp>
          <p:nvSpPr>
            <p:cNvPr id="50" name="矩形 49"/>
            <p:cNvSpPr/>
            <p:nvPr/>
          </p:nvSpPr>
          <p:spPr>
            <a:xfrm>
              <a:off x="1067020" y="1784366"/>
              <a:ext cx="4915651" cy="376171"/>
            </a:xfrm>
            <a:prstGeom prst="rect">
              <a:avLst/>
            </a:prstGeom>
          </p:spPr>
          <p:txBody>
            <a:bodyPr wrap="square">
              <a:spAutoFit/>
            </a:bodyPr>
            <a:lstStyle/>
            <a:p>
              <a:r>
                <a:rPr lang="zh-CN" altLang="en-US" sz="1600" dirty="0">
                  <a:latin typeface="黑体" pitchFamily="49" charset="-122"/>
                  <a:ea typeface="黑体" pitchFamily="49" charset="-122"/>
                </a:rPr>
                <a:t>数字信号的</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周期性与非周期性</a:t>
              </a:r>
            </a:p>
          </p:txBody>
        </p:sp>
        <p:grpSp>
          <p:nvGrpSpPr>
            <p:cNvPr id="29" name="组合 74">
              <a:extLst>
                <a:ext uri="{FF2B5EF4-FFF2-40B4-BE49-F238E27FC236}">
                  <a16:creationId xmlns:a16="http://schemas.microsoft.com/office/drawing/2014/main" xmlns="" id="{3B7CB451-D976-4D29-8E76-DA33667E7A5C}"/>
                </a:ext>
              </a:extLst>
            </p:cNvPr>
            <p:cNvGrpSpPr/>
            <p:nvPr/>
          </p:nvGrpSpPr>
          <p:grpSpPr>
            <a:xfrm>
              <a:off x="795106" y="1823271"/>
              <a:ext cx="218354" cy="249369"/>
              <a:chOff x="5908675" y="1281113"/>
              <a:chExt cx="246063" cy="260350"/>
            </a:xfrm>
            <a:solidFill>
              <a:srgbClr val="CC6600"/>
            </a:solidFill>
            <a:effectLst/>
          </p:grpSpPr>
          <p:sp>
            <p:nvSpPr>
              <p:cNvPr id="30" name="Rectangle 5">
                <a:extLst>
                  <a:ext uri="{FF2B5EF4-FFF2-40B4-BE49-F238E27FC236}">
                    <a16:creationId xmlns:a16="http://schemas.microsoft.com/office/drawing/2014/main" xmlns="" id="{90935C74-8C16-471E-91F1-B9F216BA1823}"/>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1" name="Freeform 6">
                <a:extLst>
                  <a:ext uri="{FF2B5EF4-FFF2-40B4-BE49-F238E27FC236}">
                    <a16:creationId xmlns:a16="http://schemas.microsoft.com/office/drawing/2014/main" xmlns="" id="{9EC21102-ADEE-41FF-9529-61E7203A5284}"/>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2" name="Freeform 7">
                <a:extLst>
                  <a:ext uri="{FF2B5EF4-FFF2-40B4-BE49-F238E27FC236}">
                    <a16:creationId xmlns:a16="http://schemas.microsoft.com/office/drawing/2014/main" xmlns="" id="{44A44B06-2211-4FE1-AE49-F5F5C8845D8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3" name="Freeform 8">
                <a:extLst>
                  <a:ext uri="{FF2B5EF4-FFF2-40B4-BE49-F238E27FC236}">
                    <a16:creationId xmlns:a16="http://schemas.microsoft.com/office/drawing/2014/main" xmlns="" id="{DE1E4F75-EE0C-4E67-BB12-229AF0E5FF16}"/>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34" name="Freeform 9">
                <a:extLst>
                  <a:ext uri="{FF2B5EF4-FFF2-40B4-BE49-F238E27FC236}">
                    <a16:creationId xmlns:a16="http://schemas.microsoft.com/office/drawing/2014/main" xmlns="" id="{1E98D8B2-94FA-4602-8E49-B84310CE13F4}"/>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grpSp>
        <p:nvGrpSpPr>
          <p:cNvPr id="36" name="组合 17"/>
          <p:cNvGrpSpPr/>
          <p:nvPr/>
        </p:nvGrpSpPr>
        <p:grpSpPr>
          <a:xfrm>
            <a:off x="392432" y="702128"/>
            <a:ext cx="3529322" cy="418885"/>
            <a:chOff x="670560" y="892917"/>
            <a:chExt cx="3529322" cy="465428"/>
          </a:xfrm>
        </p:grpSpPr>
        <p:sp>
          <p:nvSpPr>
            <p:cNvPr id="37" name="矩形 36"/>
            <p:cNvSpPr/>
            <p:nvPr/>
          </p:nvSpPr>
          <p:spPr>
            <a:xfrm>
              <a:off x="1035233" y="913778"/>
              <a:ext cx="3164649"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二进制数字信号的表示</a:t>
              </a:r>
              <a:endParaRPr lang="zh-CN" altLang="en-US" sz="2000" b="1" dirty="0">
                <a:solidFill>
                  <a:srgbClr val="002060"/>
                </a:solidFill>
                <a:latin typeface="微软雅黑" pitchFamily="34" charset="-122"/>
                <a:ea typeface="微软雅黑" pitchFamily="34" charset="-122"/>
              </a:endParaRPr>
            </a:p>
          </p:txBody>
        </p:sp>
        <p:pic>
          <p:nvPicPr>
            <p:cNvPr id="38" name="Picture 3"/>
            <p:cNvPicPr>
              <a:picLocks noChangeAspect="1" noChangeArrowheads="1"/>
            </p:cNvPicPr>
            <p:nvPr/>
          </p:nvPicPr>
          <p:blipFill>
            <a:blip r:embed="rId5"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 name="对话气泡: 圆角矩形 3">
            <a:extLst>
              <a:ext uri="{FF2B5EF4-FFF2-40B4-BE49-F238E27FC236}">
                <a16:creationId xmlns:a16="http://schemas.microsoft.com/office/drawing/2014/main" xmlns="" id="{9FD6CF4B-7BC1-4284-8F34-2836C3F61E95}"/>
              </a:ext>
            </a:extLst>
          </p:cNvPr>
          <p:cNvSpPr/>
          <p:nvPr/>
        </p:nvSpPr>
        <p:spPr>
          <a:xfrm>
            <a:off x="1759806" y="4342019"/>
            <a:ext cx="2255934" cy="527441"/>
          </a:xfrm>
          <a:prstGeom prst="wedgeRoundRectCallout">
            <a:avLst>
              <a:gd name="adj1" fmla="val -36758"/>
              <a:gd name="adj2" fmla="val -1262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Times New Roman" panose="02020603050405020304" pitchFamily="18" charset="0"/>
                <a:ea typeface="黑体" panose="02010609060101010101" pitchFamily="49" charset="-122"/>
                <a:cs typeface="Times New Roman" panose="02020603050405020304" pitchFamily="18" charset="0"/>
              </a:rPr>
              <a:t>周期</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，频率</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f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T</a:t>
            </a:r>
            <a:endParaRPr lang="zh-CN" altLang="en-US"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椭圆 7">
            <a:extLst>
              <a:ext uri="{FF2B5EF4-FFF2-40B4-BE49-F238E27FC236}">
                <a16:creationId xmlns:a16="http://schemas.microsoft.com/office/drawing/2014/main" xmlns="" id="{ED7BB530-5F9B-462A-A138-7C9F29556ACF}"/>
              </a:ext>
            </a:extLst>
          </p:cNvPr>
          <p:cNvSpPr/>
          <p:nvPr/>
        </p:nvSpPr>
        <p:spPr>
          <a:xfrm>
            <a:off x="1777632" y="3105038"/>
            <a:ext cx="392844" cy="463781"/>
          </a:xfrm>
          <a:prstGeom prst="ellipse">
            <a:avLst/>
          </a:prstGeom>
          <a:solidFill>
            <a:srgbClr val="FF00FF">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xmlns="" id="{CB791FE0-E298-41FF-9EC8-5B6BA42B117C}"/>
              </a:ext>
            </a:extLst>
          </p:cNvPr>
          <p:cNvSpPr txBox="1"/>
          <p:nvPr/>
        </p:nvSpPr>
        <p:spPr>
          <a:xfrm>
            <a:off x="6184900" y="3105038"/>
            <a:ext cx="1485900" cy="338554"/>
          </a:xfrm>
          <a:prstGeom prst="rect">
            <a:avLst/>
          </a:prstGeom>
          <a:noFill/>
        </p:spPr>
        <p:txBody>
          <a:bodyPr wrap="square">
            <a:spAutoFit/>
          </a:bodyPr>
          <a:lstStyle/>
          <a:p>
            <a:pPr>
              <a:spcBef>
                <a:spcPct val="50000"/>
              </a:spcBef>
            </a:pPr>
            <a:r>
              <a:rPr lang="zh-CN" altLang="en-US" sz="1600" dirty="0">
                <a:solidFill>
                  <a:srgbClr val="336699"/>
                </a:solidFill>
                <a:latin typeface="Times New Roman" pitchFamily="18" charset="0"/>
                <a:ea typeface="黑体" panose="02010609060101010101" pitchFamily="49" charset="-122"/>
                <a:cs typeface="Times New Roman" pitchFamily="18" charset="0"/>
              </a:rPr>
              <a:t>脉冲宽度</a:t>
            </a:r>
            <a:r>
              <a:rPr lang="en-US" altLang="zh-CN" sz="1600" i="1" dirty="0">
                <a:solidFill>
                  <a:srgbClr val="336699"/>
                </a:solidFill>
                <a:latin typeface="Times New Roman" pitchFamily="18" charset="0"/>
                <a:cs typeface="Times New Roman" pitchFamily="18" charset="0"/>
              </a:rPr>
              <a:t>T</a:t>
            </a:r>
            <a:r>
              <a:rPr lang="en-US" altLang="zh-CN" sz="1600" baseline="-25000" dirty="0">
                <a:solidFill>
                  <a:srgbClr val="336699"/>
                </a:solidFill>
                <a:latin typeface="Times New Roman" pitchFamily="18" charset="0"/>
                <a:cs typeface="Times New Roman" pitchFamily="18" charset="0"/>
              </a:rPr>
              <a:t>W</a:t>
            </a:r>
          </a:p>
        </p:txBody>
      </p:sp>
      <p:grpSp>
        <p:nvGrpSpPr>
          <p:cNvPr id="13" name="组合 12">
            <a:extLst>
              <a:ext uri="{FF2B5EF4-FFF2-40B4-BE49-F238E27FC236}">
                <a16:creationId xmlns:a16="http://schemas.microsoft.com/office/drawing/2014/main" xmlns="" id="{E65F4432-CA98-4911-A602-6498B1E3AD38}"/>
              </a:ext>
            </a:extLst>
          </p:cNvPr>
          <p:cNvGrpSpPr/>
          <p:nvPr/>
        </p:nvGrpSpPr>
        <p:grpSpPr>
          <a:xfrm>
            <a:off x="6185435" y="3421796"/>
            <a:ext cx="2149475" cy="456968"/>
            <a:chOff x="6185435" y="3421796"/>
            <a:chExt cx="2149475" cy="456968"/>
          </a:xfrm>
        </p:grpSpPr>
        <p:graphicFrame>
          <p:nvGraphicFramePr>
            <p:cNvPr id="11" name="对象 10">
              <a:extLst>
                <a:ext uri="{FF2B5EF4-FFF2-40B4-BE49-F238E27FC236}">
                  <a16:creationId xmlns:a16="http://schemas.microsoft.com/office/drawing/2014/main" xmlns="" id="{78D69488-356E-4B20-A201-985C4A7EC102}"/>
                </a:ext>
              </a:extLst>
            </p:cNvPr>
            <p:cNvGraphicFramePr>
              <a:graphicFrameLocks noChangeAspect="1"/>
            </p:cNvGraphicFramePr>
            <p:nvPr/>
          </p:nvGraphicFramePr>
          <p:xfrm>
            <a:off x="7014780" y="3421796"/>
            <a:ext cx="1320130" cy="456968"/>
          </p:xfrm>
          <a:graphic>
            <a:graphicData uri="http://schemas.openxmlformats.org/presentationml/2006/ole">
              <mc:AlternateContent xmlns:mc="http://schemas.openxmlformats.org/markup-compatibility/2006">
                <mc:Choice xmlns:v="urn:schemas-microsoft-com:vml" Requires="v">
                  <p:oleObj spid="_x0000_s24584" name="Equation" r:id="rId6" imgW="990170" imgH="342751" progId="Equation.DSMT4">
                    <p:embed/>
                  </p:oleObj>
                </mc:Choice>
                <mc:Fallback>
                  <p:oleObj name="Equation" r:id="rId6" imgW="990170" imgH="342751" progId="Equation.DSMT4">
                    <p:embed/>
                    <p:pic>
                      <p:nvPicPr>
                        <p:cNvPr id="11" name="对象 10">
                          <a:extLst>
                            <a:ext uri="{FF2B5EF4-FFF2-40B4-BE49-F238E27FC236}">
                              <a16:creationId xmlns:a16="http://schemas.microsoft.com/office/drawing/2014/main" xmlns="" id="{78D69488-356E-4B20-A201-985C4A7EC1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4780" y="3421796"/>
                          <a:ext cx="1320130" cy="456968"/>
                        </a:xfrm>
                        <a:prstGeom prst="rect">
                          <a:avLst/>
                        </a:prstGeom>
                        <a:noFill/>
                      </p:spPr>
                    </p:pic>
                  </p:oleObj>
                </mc:Fallback>
              </mc:AlternateContent>
            </a:graphicData>
          </a:graphic>
        </p:graphicFrame>
        <p:sp>
          <p:nvSpPr>
            <p:cNvPr id="40" name="文本框 39">
              <a:extLst>
                <a:ext uri="{FF2B5EF4-FFF2-40B4-BE49-F238E27FC236}">
                  <a16:creationId xmlns:a16="http://schemas.microsoft.com/office/drawing/2014/main" xmlns="" id="{54ABC58D-8D84-44A0-9C66-3A0E80CD9FF7}"/>
                </a:ext>
              </a:extLst>
            </p:cNvPr>
            <p:cNvSpPr txBox="1"/>
            <p:nvPr/>
          </p:nvSpPr>
          <p:spPr>
            <a:xfrm>
              <a:off x="6185435" y="3493703"/>
              <a:ext cx="1054100" cy="338554"/>
            </a:xfrm>
            <a:prstGeom prst="rect">
              <a:avLst/>
            </a:prstGeom>
            <a:noFill/>
          </p:spPr>
          <p:txBody>
            <a:bodyPr wrap="square">
              <a:spAutoFit/>
            </a:bodyPr>
            <a:lstStyle/>
            <a:p>
              <a:pPr>
                <a:spcBef>
                  <a:spcPct val="50000"/>
                </a:spcBef>
              </a:pPr>
              <a:r>
                <a:rPr lang="zh-CN" altLang="en-US" sz="1600" dirty="0">
                  <a:solidFill>
                    <a:srgbClr val="336699"/>
                  </a:solidFill>
                  <a:latin typeface="Times New Roman" pitchFamily="18" charset="0"/>
                  <a:ea typeface="黑体" panose="02010609060101010101" pitchFamily="49" charset="-122"/>
                  <a:cs typeface="Times New Roman" pitchFamily="18" charset="0"/>
                </a:rPr>
                <a:t>占空比</a:t>
              </a:r>
              <a:r>
                <a:rPr lang="zh-CN" altLang="en-US" sz="1600" dirty="0">
                  <a:solidFill>
                    <a:srgbClr val="336699"/>
                  </a:solidFill>
                  <a:latin typeface="Times New Roman" pitchFamily="18" charset="0"/>
                  <a:cs typeface="Times New Roman" pitchFamily="18" charset="0"/>
                </a:rPr>
                <a:t>：</a:t>
              </a:r>
              <a:endParaRPr lang="en-US" altLang="zh-CN" sz="1600" dirty="0">
                <a:solidFill>
                  <a:srgbClr val="336699"/>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24638965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1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wipe(down)">
                                      <p:cBhvr>
                                        <p:cTn id="18" dur="1000"/>
                                        <p:tgtEl>
                                          <p:spTgt spid="62"/>
                                        </p:tgtEl>
                                      </p:cBhvr>
                                    </p:animEffect>
                                  </p:childTnLst>
                                </p:cTn>
                              </p:par>
                            </p:childTnLst>
                          </p:cTn>
                        </p:par>
                        <p:par>
                          <p:cTn id="19" fill="hold">
                            <p:stCondLst>
                              <p:cond delay="1000"/>
                            </p:stCondLst>
                            <p:childTnLst>
                              <p:par>
                                <p:cTn id="20" presetID="22" presetClass="entr" presetSubtype="1" fill="hold" grpId="0" nodeType="after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wipe(up)">
                                      <p:cBhvr>
                                        <p:cTn id="22" dur="10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1000"/>
                                        <p:tgtEl>
                                          <p:spTgt spid="7"/>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10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1000"/>
                                        <p:tgtEl>
                                          <p:spTgt spid="39"/>
                                        </p:tgtEl>
                                      </p:cBhvr>
                                    </p:animEffect>
                                    <p:anim calcmode="lin" valueType="num">
                                      <p:cBhvr>
                                        <p:cTn id="40" dur="1000" fill="hold"/>
                                        <p:tgtEl>
                                          <p:spTgt spid="39"/>
                                        </p:tgtEl>
                                        <p:attrNameLst>
                                          <p:attrName>ppt_x</p:attrName>
                                        </p:attrNameLst>
                                      </p:cBhvr>
                                      <p:tavLst>
                                        <p:tav tm="0">
                                          <p:val>
                                            <p:strVal val="#ppt_x"/>
                                          </p:val>
                                        </p:tav>
                                        <p:tav tm="100000">
                                          <p:val>
                                            <p:strVal val="#ppt_x"/>
                                          </p:val>
                                        </p:tav>
                                      </p:tavLst>
                                    </p:anim>
                                    <p:anim calcmode="lin" valueType="num">
                                      <p:cBhvr>
                                        <p:cTn id="41"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1000"/>
                                        <p:tgtEl>
                                          <p:spTgt spid="13"/>
                                        </p:tgtEl>
                                      </p:cBhvr>
                                    </p:animEffect>
                                    <p:anim calcmode="lin" valueType="num">
                                      <p:cBhvr>
                                        <p:cTn id="47" dur="1000" fill="hold"/>
                                        <p:tgtEl>
                                          <p:spTgt spid="13"/>
                                        </p:tgtEl>
                                        <p:attrNameLst>
                                          <p:attrName>ppt_x</p:attrName>
                                        </p:attrNameLst>
                                      </p:cBhvr>
                                      <p:tavLst>
                                        <p:tav tm="0">
                                          <p:val>
                                            <p:strVal val="#ppt_x"/>
                                          </p:val>
                                        </p:tav>
                                        <p:tav tm="100000">
                                          <p:val>
                                            <p:strVal val="#ppt_x"/>
                                          </p:val>
                                        </p:tav>
                                      </p:tavLst>
                                    </p:anim>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4" grpId="0" animBg="1"/>
      <p:bldP spid="8" grpId="0" animBg="1"/>
      <p:bldP spid="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8"/>
          <p:cNvGrpSpPr/>
          <p:nvPr/>
        </p:nvGrpSpPr>
        <p:grpSpPr>
          <a:xfrm>
            <a:off x="1041354" y="1642111"/>
            <a:ext cx="6772956" cy="1865100"/>
            <a:chOff x="1041354" y="1824567"/>
            <a:chExt cx="6772956" cy="2072333"/>
          </a:xfrm>
        </p:grpSpPr>
        <p:grpSp>
          <p:nvGrpSpPr>
            <p:cNvPr id="3" name="组合 16"/>
            <p:cNvGrpSpPr/>
            <p:nvPr/>
          </p:nvGrpSpPr>
          <p:grpSpPr>
            <a:xfrm>
              <a:off x="1101090" y="1824567"/>
              <a:ext cx="1371600" cy="760000"/>
              <a:chOff x="1101090" y="1824567"/>
              <a:chExt cx="1371600" cy="760000"/>
            </a:xfrm>
          </p:grpSpPr>
          <p:grpSp>
            <p:nvGrpSpPr>
              <p:cNvPr id="4"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5"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6" name="组合 17"/>
            <p:cNvGrpSpPr/>
            <p:nvPr/>
          </p:nvGrpSpPr>
          <p:grpSpPr>
            <a:xfrm>
              <a:off x="6442710" y="3136900"/>
              <a:ext cx="1371600" cy="760000"/>
              <a:chOff x="6442710" y="3136900"/>
              <a:chExt cx="1371600" cy="760000"/>
            </a:xfrm>
          </p:grpSpPr>
          <p:grpSp>
            <p:nvGrpSpPr>
              <p:cNvPr id="7"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8"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2166579"/>
              <a:ext cx="6498792" cy="1427741"/>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1</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数字逻辑基础</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1.3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数制与二进制数的算术运算</a:t>
              </a:r>
            </a:p>
          </p:txBody>
        </p:sp>
      </p:grpSp>
      <p:sp>
        <p:nvSpPr>
          <p:cNvPr id="37890" name="AutoShape 2"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1477478" cy="418885"/>
            <a:chOff x="670560" y="892917"/>
            <a:chExt cx="1477478" cy="465428"/>
          </a:xfrm>
        </p:grpSpPr>
        <p:sp>
          <p:nvSpPr>
            <p:cNvPr id="21" name="矩形 20"/>
            <p:cNvSpPr/>
            <p:nvPr/>
          </p:nvSpPr>
          <p:spPr>
            <a:xfrm>
              <a:off x="1035233" y="913778"/>
              <a:ext cx="1112805"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a:t>
              </a:r>
              <a:r>
                <a:rPr lang="zh-CN" altLang="zh-CN" sz="2000" b="1" dirty="0">
                  <a:solidFill>
                    <a:srgbClr val="002060"/>
                  </a:solidFill>
                  <a:latin typeface="微软雅黑" pitchFamily="34" charset="-122"/>
                  <a:ea typeface="微软雅黑" pitchFamily="34" charset="-122"/>
                </a:rPr>
                <a:t>数制</a:t>
              </a:r>
              <a:endParaRPr lang="zh-CN" altLang="en-US" sz="2000" b="1" dirty="0">
                <a:solidFill>
                  <a:srgbClr val="002060"/>
                </a:solidFill>
                <a:latin typeface="微软雅黑" pitchFamily="34" charset="-122"/>
                <a:ea typeface="微软雅黑" pitchFamily="34" charset="-122"/>
              </a:endParaRPr>
            </a:p>
          </p:txBody>
        </p:sp>
        <p:pic>
          <p:nvPicPr>
            <p:cNvPr id="2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22"/>
          <p:cNvGrpSpPr/>
          <p:nvPr/>
        </p:nvGrpSpPr>
        <p:grpSpPr>
          <a:xfrm>
            <a:off x="816132" y="1058526"/>
            <a:ext cx="7867330" cy="463588"/>
            <a:chOff x="657274" y="3664683"/>
            <a:chExt cx="9531132" cy="642661"/>
          </a:xfrm>
        </p:grpSpPr>
        <p:sp>
          <p:nvSpPr>
            <p:cNvPr id="67" name="矩形 66"/>
            <p:cNvSpPr/>
            <p:nvPr/>
          </p:nvSpPr>
          <p:spPr>
            <a:xfrm>
              <a:off x="931363" y="3664683"/>
              <a:ext cx="9257043" cy="642661"/>
            </a:xfrm>
            <a:prstGeom prst="rect">
              <a:avLst/>
            </a:prstGeom>
          </p:spPr>
          <p:txBody>
            <a:bodyPr wrap="square">
              <a:spAutoFit/>
            </a:bodyPr>
            <a:lstStyle/>
            <a:p>
              <a:pPr>
                <a:lnSpc>
                  <a:spcPct val="150000"/>
                </a:lnSpc>
              </a:pPr>
              <a:r>
                <a:rPr lang="zh-CN" altLang="en-US" dirty="0">
                  <a:solidFill>
                    <a:srgbClr val="FF00FF"/>
                  </a:solidFill>
                  <a:effectLst>
                    <a:outerShdw blurRad="38100" dist="38100" dir="2700000" algn="tl">
                      <a:srgbClr val="000000">
                        <a:alpha val="43137"/>
                      </a:srgbClr>
                    </a:outerShdw>
                  </a:effectLst>
                  <a:latin typeface="方正粗黑宋简体" pitchFamily="2" charset="-122"/>
                  <a:ea typeface="方正粗黑宋简体" pitchFamily="2" charset="-122"/>
                </a:rPr>
                <a:t>数 制</a:t>
              </a:r>
              <a:r>
                <a:rPr lang="zh-CN" altLang="en-US" dirty="0">
                  <a:latin typeface="黑体" pitchFamily="49" charset="-122"/>
                  <a:ea typeface="黑体" pitchFamily="49" charset="-122"/>
                </a:rPr>
                <a:t>：数码的构成方式及低位向高位进位的规则</a:t>
              </a:r>
            </a:p>
          </p:txBody>
        </p:sp>
        <p:grpSp>
          <p:nvGrpSpPr>
            <p:cNvPr id="4" name="组合 13">
              <a:extLst>
                <a:ext uri="{FF2B5EF4-FFF2-40B4-BE49-F238E27FC236}">
                  <a16:creationId xmlns:a16="http://schemas.microsoft.com/office/drawing/2014/main" xmlns="" id="{FF3B2FB4-753E-483C-B856-C25711218C46}"/>
                </a:ext>
              </a:extLst>
            </p:cNvPr>
            <p:cNvGrpSpPr/>
            <p:nvPr/>
          </p:nvGrpSpPr>
          <p:grpSpPr>
            <a:xfrm>
              <a:off x="657274" y="3855670"/>
              <a:ext cx="272586" cy="310719"/>
              <a:chOff x="5908675" y="1281113"/>
              <a:chExt cx="246063" cy="260350"/>
            </a:xfrm>
            <a:solidFill>
              <a:srgbClr val="CC6600"/>
            </a:solidFill>
            <a:effectLst/>
          </p:grpSpPr>
          <p:sp>
            <p:nvSpPr>
              <p:cNvPr id="15"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6"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7"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9"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20"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sp>
        <p:nvSpPr>
          <p:cNvPr id="35848" name="AutoShape 8"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0" name="AutoShape 10"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5852" name="AutoShape 12"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57" name="Rectangle 17"/>
          <p:cNvSpPr>
            <a:spLocks noChangeArrowheads="1"/>
          </p:cNvSpPr>
          <p:nvPr/>
        </p:nvSpPr>
        <p:spPr bwMode="auto">
          <a:xfrm>
            <a:off x="541338" y="1490098"/>
            <a:ext cx="2290762" cy="369332"/>
          </a:xfrm>
          <a:prstGeom prst="rect">
            <a:avLst/>
          </a:prstGeom>
          <a:noFill/>
          <a:ln w="9525" algn="ctr">
            <a:noFill/>
            <a:miter lim="800000"/>
            <a:headEnd/>
            <a:tailEnd/>
          </a:ln>
        </p:spPr>
        <p:txBody>
          <a:bodyPr wrap="square">
            <a:spAutoFit/>
          </a:bodyPr>
          <a:lstStyle/>
          <a:p>
            <a:pPr marL="457200" indent="-457200"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）常用的数制</a:t>
            </a:r>
            <a:endParaRPr lang="zh-CN" altLang="en-US" dirty="0">
              <a:solidFill>
                <a:srgbClr val="336699"/>
              </a:solidFill>
              <a:latin typeface="黑体" pitchFamily="49" charset="-122"/>
              <a:ea typeface="黑体" pitchFamily="49" charset="-122"/>
            </a:endParaRPr>
          </a:p>
        </p:txBody>
      </p:sp>
      <p:graphicFrame>
        <p:nvGraphicFramePr>
          <p:cNvPr id="59" name="Group 43"/>
          <p:cNvGraphicFramePr>
            <a:graphicFrameLocks noGrp="1"/>
          </p:cNvGraphicFramePr>
          <p:nvPr/>
        </p:nvGraphicFramePr>
        <p:xfrm>
          <a:off x="787400" y="1881577"/>
          <a:ext cx="4813300" cy="1466368"/>
        </p:xfrm>
        <a:graphic>
          <a:graphicData uri="http://schemas.openxmlformats.org/drawingml/2006/table">
            <a:tbl>
              <a:tblPr/>
              <a:tblGrid>
                <a:gridCol w="2197100">
                  <a:extLst>
                    <a:ext uri="{9D8B030D-6E8A-4147-A177-3AD203B41FA5}">
                      <a16:colId xmlns:a16="http://schemas.microsoft.com/office/drawing/2014/main" xmlns="" val="20000"/>
                    </a:ext>
                  </a:extLst>
                </a:gridCol>
                <a:gridCol w="717550">
                  <a:extLst>
                    <a:ext uri="{9D8B030D-6E8A-4147-A177-3AD203B41FA5}">
                      <a16:colId xmlns:a16="http://schemas.microsoft.com/office/drawing/2014/main" xmlns="" val="20001"/>
                    </a:ext>
                  </a:extLst>
                </a:gridCol>
                <a:gridCol w="584200">
                  <a:extLst>
                    <a:ext uri="{9D8B030D-6E8A-4147-A177-3AD203B41FA5}">
                      <a16:colId xmlns:a16="http://schemas.microsoft.com/office/drawing/2014/main" xmlns="" val="20002"/>
                    </a:ext>
                  </a:extLst>
                </a:gridCol>
                <a:gridCol w="1314450">
                  <a:extLst>
                    <a:ext uri="{9D8B030D-6E8A-4147-A177-3AD203B41FA5}">
                      <a16:colId xmlns:a16="http://schemas.microsoft.com/office/drawing/2014/main" xmlns="" val="20003"/>
                    </a:ext>
                  </a:extLst>
                </a:gridCol>
              </a:tblGrid>
              <a:tr h="277073">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数制</a:t>
                      </a:r>
                    </a:p>
                  </a:txBody>
                  <a:tcPr marL="91422" marR="91422" marT="41140" marB="41140" anchor="ctr" horzOverflow="overflow">
                    <a:lnL cap="flat">
                      <a:noFill/>
                    </a:lnL>
                    <a:lnR w="12700" cap="flat" cmpd="sng" algn="ctr">
                      <a:solidFill>
                        <a:srgbClr val="00B0F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数码</a:t>
                      </a: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位权</a:t>
                      </a: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进位规律</a:t>
                      </a:r>
                    </a:p>
                  </a:txBody>
                  <a:tcPr marL="91422" marR="91422" marT="41140" marB="41140" anchor="ctr" horzOverflow="overflow">
                    <a:lnL w="12700" cap="flat" cmpd="sng" algn="ctr">
                      <a:solidFill>
                        <a:srgbClr val="00B0F0"/>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296492">
                <a:tc>
                  <a:txBody>
                    <a:bodyPr/>
                    <a:lstStyle/>
                    <a:p>
                      <a:pPr marL="0" marR="0" lvl="0" indent="0" algn="l"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Times New Roman" pitchFamily="18" charset="0"/>
                          <a:ea typeface="微软雅黑" pitchFamily="34" charset="-122"/>
                          <a:cs typeface="Times New Roman" pitchFamily="18" charset="0"/>
                        </a:rPr>
                        <a:t>    十进制 </a:t>
                      </a:r>
                      <a:r>
                        <a:rPr kumimoji="1" lang="en-US" altLang="zh-CN" sz="1300" kern="1200" dirty="0">
                          <a:solidFill>
                            <a:srgbClr val="0000FF"/>
                          </a:solidFill>
                          <a:latin typeface="Times New Roman" pitchFamily="18" charset="0"/>
                          <a:ea typeface="微软雅黑" pitchFamily="34" charset="-122"/>
                          <a:cs typeface="Times New Roman" pitchFamily="18" charset="0"/>
                        </a:rPr>
                        <a:t>D(</a:t>
                      </a:r>
                      <a:r>
                        <a:rPr kumimoji="1" lang="en-US" altLang="zh-CN" sz="1300" dirty="0">
                          <a:solidFill>
                            <a:srgbClr val="0000FF"/>
                          </a:solidFill>
                          <a:latin typeface="Times New Roman" pitchFamily="18" charset="0"/>
                          <a:ea typeface="微软雅黑" pitchFamily="34" charset="-122"/>
                          <a:cs typeface="Times New Roman" pitchFamily="18" charset="0"/>
                        </a:rPr>
                        <a:t>Decimal</a:t>
                      </a:r>
                      <a:r>
                        <a:rPr kumimoji="1" lang="en-US" altLang="zh-CN" sz="1300" kern="1200" dirty="0">
                          <a:solidFill>
                            <a:srgbClr val="0000FF"/>
                          </a:solidFill>
                          <a:latin typeface="Times New Roman" pitchFamily="18" charset="0"/>
                          <a:ea typeface="微软雅黑" pitchFamily="34" charset="-122"/>
                          <a:cs typeface="Times New Roman" pitchFamily="18" charset="0"/>
                        </a:rPr>
                        <a:t>)</a:t>
                      </a:r>
                      <a:r>
                        <a:rPr kumimoji="1" lang="en-US" altLang="zh-CN" sz="1300" dirty="0">
                          <a:solidFill>
                            <a:srgbClr val="0000FF"/>
                          </a:solidFill>
                          <a:latin typeface="Times New Roman" pitchFamily="18" charset="0"/>
                          <a:ea typeface="微软雅黑" pitchFamily="34" charset="-122"/>
                          <a:cs typeface="Times New Roman" pitchFamily="18" charset="0"/>
                        </a:rPr>
                        <a:t> </a:t>
                      </a:r>
                      <a:endParaRPr kumimoji="0" lang="en-US" altLang="zh-CN" sz="1300" b="0" i="0" u="none" strike="noStrike" cap="none" normalizeH="0" baseline="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cap="flat">
                      <a:noFill/>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0~9</a:t>
                      </a:r>
                      <a:endPar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10</a:t>
                      </a:r>
                      <a:r>
                        <a:rPr kumimoji="0" lang="en-US" altLang="zh-CN"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rPr>
                        <a:t>i</a:t>
                      </a:r>
                      <a:endParaRPr kumimoji="0" lang="zh-CN" altLang="en-US"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逢十进一</a:t>
                      </a:r>
                    </a:p>
                  </a:txBody>
                  <a:tcPr marL="91422" marR="91422" marT="41140" marB="41140" anchor="ctr" horzOverflow="overflow">
                    <a:lnL w="12700" cap="flat" cmpd="sng" algn="ctr">
                      <a:solidFill>
                        <a:srgbClr val="00B0F0"/>
                      </a:solidFill>
                      <a:prstDash val="solid"/>
                      <a:round/>
                      <a:headEnd type="none" w="med" len="med"/>
                      <a:tailEnd type="none" w="med" len="med"/>
                    </a:lnL>
                    <a:lnR cap="flat">
                      <a:noFill/>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96492">
                <a:tc>
                  <a:txBody>
                    <a:bodyPr/>
                    <a:lstStyle/>
                    <a:p>
                      <a:pPr marL="0" marR="0" lvl="0" indent="0" algn="l"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Times New Roman" pitchFamily="18" charset="0"/>
                          <a:ea typeface="微软雅黑" pitchFamily="34" charset="-122"/>
                          <a:cs typeface="Times New Roman" pitchFamily="18" charset="0"/>
                        </a:rPr>
                        <a:t>    二进制 </a:t>
                      </a:r>
                      <a:r>
                        <a:rPr kumimoji="1" lang="en-US" altLang="zh-CN" sz="1300" kern="1200" dirty="0">
                          <a:solidFill>
                            <a:srgbClr val="0000FF"/>
                          </a:solidFill>
                          <a:latin typeface="Times New Roman" pitchFamily="18" charset="0"/>
                          <a:ea typeface="微软雅黑" pitchFamily="34" charset="-122"/>
                          <a:cs typeface="Times New Roman" pitchFamily="18" charset="0"/>
                        </a:rPr>
                        <a:t>B(Binary) </a:t>
                      </a:r>
                    </a:p>
                  </a:txBody>
                  <a:tcPr marL="91422" marR="91422" marT="41140" marB="41140" anchor="ctr" horzOverflow="overflow">
                    <a:lnL cap="flat">
                      <a:noFill/>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0~1</a:t>
                      </a:r>
                      <a:endPar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2</a:t>
                      </a:r>
                      <a:r>
                        <a:rPr kumimoji="0" lang="en-US" altLang="zh-CN"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rPr>
                        <a:t>i</a:t>
                      </a:r>
                      <a:endParaRPr kumimoji="0" lang="zh-CN" altLang="en-US"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逢二进一</a:t>
                      </a:r>
                    </a:p>
                  </a:txBody>
                  <a:tcPr marL="91422" marR="91422" marT="41140" marB="41140" anchor="ctr" horzOverflow="overflow">
                    <a:lnL w="12700" cap="flat" cmpd="sng" algn="ctr">
                      <a:solidFill>
                        <a:srgbClr val="00B0F0"/>
                      </a:solidFill>
                      <a:prstDash val="solid"/>
                      <a:round/>
                      <a:headEnd type="none" w="med" len="med"/>
                      <a:tailEnd type="none" w="med" len="med"/>
                    </a:lnL>
                    <a:lnR cap="flat">
                      <a:noFill/>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96492">
                <a:tc>
                  <a:txBody>
                    <a:bodyPr/>
                    <a:lstStyle/>
                    <a:p>
                      <a:pPr marL="0" marR="0" lvl="0" indent="0" algn="l" defTabSz="914400" rtl="0" eaLnBrk="1" fontAlgn="base" latinLnBrk="0" hangingPunct="1">
                        <a:lnSpc>
                          <a:spcPct val="100000"/>
                        </a:lnSpc>
                        <a:spcBef>
                          <a:spcPct val="20000"/>
                        </a:spcBef>
                        <a:spcAft>
                          <a:spcPct val="0"/>
                        </a:spcAft>
                        <a:buClr>
                          <a:schemeClr val="tx1"/>
                        </a:buClr>
                        <a:buSzTx/>
                        <a:buFontTx/>
                        <a:buNone/>
                        <a:tabLst/>
                        <a:defRPr/>
                      </a:pPr>
                      <a:r>
                        <a:rPr kumimoji="0" lang="zh-CN" altLang="en-US" sz="1300" b="0" i="0" u="none" strike="noStrike" cap="none" normalizeH="0" baseline="0" dirty="0">
                          <a:ln>
                            <a:noFill/>
                          </a:ln>
                          <a:solidFill>
                            <a:srgbClr val="000000"/>
                          </a:solidFill>
                          <a:effectLst/>
                          <a:latin typeface="Times New Roman" pitchFamily="18" charset="0"/>
                          <a:ea typeface="微软雅黑" pitchFamily="34" charset="-122"/>
                          <a:cs typeface="Times New Roman" pitchFamily="18" charset="0"/>
                        </a:rPr>
                        <a:t>    八进制 </a:t>
                      </a:r>
                      <a:r>
                        <a:rPr kumimoji="1" lang="en-US" altLang="zh-CN" sz="1300" kern="1200" dirty="0">
                          <a:solidFill>
                            <a:srgbClr val="0000FF"/>
                          </a:solidFill>
                          <a:latin typeface="Times New Roman" pitchFamily="18" charset="0"/>
                          <a:ea typeface="微软雅黑" pitchFamily="34" charset="-122"/>
                          <a:cs typeface="Times New Roman" pitchFamily="18" charset="0"/>
                        </a:rPr>
                        <a:t>O(Octal) </a:t>
                      </a:r>
                      <a:r>
                        <a:rPr kumimoji="1" lang="zh-CN" altLang="en-US" sz="1300" kern="1200" dirty="0">
                          <a:solidFill>
                            <a:srgbClr val="0000FF"/>
                          </a:solidFill>
                          <a:latin typeface="Times New Roman" pitchFamily="18" charset="0"/>
                          <a:ea typeface="微软雅黑" pitchFamily="34" charset="-122"/>
                          <a:cs typeface="Times New Roman" pitchFamily="18" charset="0"/>
                        </a:rPr>
                        <a:t>）</a:t>
                      </a:r>
                      <a:endParaRPr kumimoji="1" lang="en-US" altLang="zh-CN" sz="1300" kern="1200" dirty="0">
                        <a:solidFill>
                          <a:srgbClr val="0000FF"/>
                        </a:solidFill>
                        <a:latin typeface="Times New Roman" pitchFamily="18" charset="0"/>
                        <a:ea typeface="微软雅黑" pitchFamily="34" charset="-122"/>
                        <a:cs typeface="Times New Roman" pitchFamily="18" charset="0"/>
                      </a:endParaRPr>
                    </a:p>
                  </a:txBody>
                  <a:tcPr marL="91422" marR="91422" marT="41140" marB="41140" anchor="ctr" horzOverflow="overflow">
                    <a:lnL cap="flat">
                      <a:noFill/>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0~7</a:t>
                      </a:r>
                      <a:endPar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8</a:t>
                      </a:r>
                      <a:r>
                        <a:rPr kumimoji="0" lang="en-US" altLang="zh-CN"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rPr>
                        <a:t>i</a:t>
                      </a:r>
                      <a:endParaRPr kumimoji="0" lang="zh-CN" altLang="en-US"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逢八进一</a:t>
                      </a:r>
                    </a:p>
                  </a:txBody>
                  <a:tcPr marL="91422" marR="91422" marT="41140" marB="41140" anchor="ctr" horzOverflow="overflow">
                    <a:lnL w="12700" cap="flat" cmpd="sng" algn="ctr">
                      <a:solidFill>
                        <a:srgbClr val="00B0F0"/>
                      </a:solidFill>
                      <a:prstDash val="solid"/>
                      <a:round/>
                      <a:headEnd type="none" w="med" len="med"/>
                      <a:tailEnd type="none" w="med" len="med"/>
                    </a:lnL>
                    <a:lnR cap="flat">
                      <a:noFill/>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96492">
                <a:tc>
                  <a:txBody>
                    <a:bodyPr/>
                    <a:lstStyle/>
                    <a:p>
                      <a:pPr marL="0" marR="0" lvl="0" indent="0" algn="l"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Times New Roman" pitchFamily="18" charset="0"/>
                          <a:ea typeface="微软雅黑" pitchFamily="34" charset="-122"/>
                          <a:cs typeface="Times New Roman" pitchFamily="18" charset="0"/>
                        </a:rPr>
                        <a:t>十六进制 </a:t>
                      </a:r>
                      <a:r>
                        <a:rPr kumimoji="1" lang="en-US" altLang="zh-CN" sz="1300" kern="1200" dirty="0">
                          <a:solidFill>
                            <a:srgbClr val="0000FF"/>
                          </a:solidFill>
                          <a:latin typeface="Times New Roman" pitchFamily="18" charset="0"/>
                          <a:ea typeface="微软雅黑" pitchFamily="34" charset="-122"/>
                          <a:cs typeface="Times New Roman" pitchFamily="18" charset="0"/>
                        </a:rPr>
                        <a:t>H(Hexadecimal)</a:t>
                      </a:r>
                    </a:p>
                  </a:txBody>
                  <a:tcPr marL="91422" marR="91422" marT="41140" marB="41140" anchor="ctr" horzOverflow="overflow">
                    <a:lnL cap="flat">
                      <a:noFill/>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0~F</a:t>
                      </a:r>
                      <a:r>
                        <a:rPr kumimoji="0" lang="en-US" altLang="zh-CN" sz="9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(15)</a:t>
                      </a:r>
                      <a:endParaRPr kumimoji="0" lang="zh-CN" altLang="en-US" sz="9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16</a:t>
                      </a:r>
                      <a:r>
                        <a:rPr kumimoji="0" lang="en-US" altLang="zh-CN"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rPr>
                        <a:t>i</a:t>
                      </a:r>
                      <a:endParaRPr kumimoji="0" lang="zh-CN" altLang="en-US" sz="1300" b="0" i="1" u="none" strike="noStrike" kern="1200" cap="none" normalizeH="0" baseline="30000" dirty="0">
                        <a:ln>
                          <a:noFill/>
                        </a:ln>
                        <a:solidFill>
                          <a:srgbClr val="000000"/>
                        </a:solidFill>
                        <a:effectLst/>
                        <a:latin typeface="Times New Roman" pitchFamily="18" charset="0"/>
                        <a:ea typeface="微软雅黑" pitchFamily="34" charset="-122"/>
                        <a:cs typeface="Times New Roman" pitchFamily="18" charset="0"/>
                      </a:endParaRPr>
                    </a:p>
                  </a:txBody>
                  <a:tcPr marL="91422" marR="91422" marT="41140" marB="4114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defRPr/>
                      </a:pPr>
                      <a:r>
                        <a:rPr kumimoji="0" lang="zh-CN" altLang="en-US" sz="1300" b="0" i="0" u="none" strike="noStrike" kern="1200" cap="none" normalizeH="0" baseline="0" dirty="0">
                          <a:ln>
                            <a:noFill/>
                          </a:ln>
                          <a:solidFill>
                            <a:srgbClr val="000000"/>
                          </a:solidFill>
                          <a:effectLst/>
                          <a:latin typeface="Times New Roman" pitchFamily="18" charset="0"/>
                          <a:ea typeface="微软雅黑" pitchFamily="34" charset="-122"/>
                          <a:cs typeface="Times New Roman" pitchFamily="18" charset="0"/>
                        </a:rPr>
                        <a:t>逢十六进一</a:t>
                      </a:r>
                    </a:p>
                  </a:txBody>
                  <a:tcPr marL="91422" marR="91422" marT="41140" marB="41140" anchor="ctr" horzOverflow="overflow">
                    <a:lnL w="12700" cap="flat" cmpd="sng" algn="ctr">
                      <a:solidFill>
                        <a:srgbClr val="00B0F0"/>
                      </a:solidFill>
                      <a:prstDash val="solid"/>
                      <a:round/>
                      <a:headEnd type="none" w="med" len="med"/>
                      <a:tailEnd type="none" w="med" len="med"/>
                    </a:lnL>
                    <a:lnR cap="flat">
                      <a:noFill/>
                    </a:lnR>
                    <a:lnT w="12700" cap="flat" cmpd="sng" algn="ctr">
                      <a:solidFill>
                        <a:srgbClr val="00B0F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bl>
          </a:graphicData>
        </a:graphic>
      </p:graphicFrame>
      <p:grpSp>
        <p:nvGrpSpPr>
          <p:cNvPr id="60" name="组合 59"/>
          <p:cNvGrpSpPr/>
          <p:nvPr/>
        </p:nvGrpSpPr>
        <p:grpSpPr>
          <a:xfrm>
            <a:off x="6692474" y="2143360"/>
            <a:ext cx="1879029" cy="1197947"/>
            <a:chOff x="6291861" y="2227488"/>
            <a:chExt cx="1879029" cy="1331052"/>
          </a:xfrm>
        </p:grpSpPr>
        <p:grpSp>
          <p:nvGrpSpPr>
            <p:cNvPr id="61" name="组合 44"/>
            <p:cNvGrpSpPr/>
            <p:nvPr/>
          </p:nvGrpSpPr>
          <p:grpSpPr>
            <a:xfrm>
              <a:off x="6291861" y="2227488"/>
              <a:ext cx="1879029" cy="1331052"/>
              <a:chOff x="6291861" y="2227488"/>
              <a:chExt cx="1879029" cy="1331052"/>
            </a:xfrm>
          </p:grpSpPr>
          <p:sp>
            <p:nvSpPr>
              <p:cNvPr id="64" name="圆角矩形 63"/>
              <p:cNvSpPr/>
              <p:nvPr/>
            </p:nvSpPr>
            <p:spPr>
              <a:xfrm>
                <a:off x="6291861" y="2410380"/>
                <a:ext cx="1879029" cy="1148160"/>
              </a:xfrm>
              <a:prstGeom prst="roundRect">
                <a:avLst>
                  <a:gd name="adj" fmla="val 9477"/>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流程图: 可选过程 73"/>
              <p:cNvSpPr/>
              <p:nvPr/>
            </p:nvSpPr>
            <p:spPr>
              <a:xfrm>
                <a:off x="6438331" y="2227488"/>
                <a:ext cx="1600769" cy="35023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数的位权展开式</a:t>
                </a:r>
              </a:p>
            </p:txBody>
          </p:sp>
        </p:grpSp>
        <p:graphicFrame>
          <p:nvGraphicFramePr>
            <p:cNvPr id="62" name="Object 11">
              <a:extLst>
                <a:ext uri="{FF2B5EF4-FFF2-40B4-BE49-F238E27FC236}">
                  <a16:creationId xmlns:a16="http://schemas.microsoft.com/office/drawing/2014/main" xmlns="" id="{6EA37A90-67F1-459B-BB8C-C9259F0D6124}"/>
                </a:ext>
              </a:extLst>
            </p:cNvPr>
            <p:cNvGraphicFramePr>
              <a:graphicFrameLocks noChangeAspect="1"/>
            </p:cNvGraphicFramePr>
            <p:nvPr/>
          </p:nvGraphicFramePr>
          <p:xfrm>
            <a:off x="6440614" y="2673350"/>
            <a:ext cx="1607845" cy="685800"/>
          </p:xfrm>
          <a:graphic>
            <a:graphicData uri="http://schemas.openxmlformats.org/presentationml/2006/ole">
              <mc:AlternateContent xmlns:mc="http://schemas.openxmlformats.org/markup-compatibility/2006">
                <mc:Choice xmlns:v="urn:schemas-microsoft-com:vml" Requires="v">
                  <p:oleObj spid="_x0000_s25632" name="Equation" r:id="rId5" imgW="977760" imgH="431640" progId="Equation.DSMT4">
                    <p:embed/>
                  </p:oleObj>
                </mc:Choice>
                <mc:Fallback>
                  <p:oleObj name="Equation" r:id="rId5" imgW="977760" imgH="431640" progId="Equation.DSMT4">
                    <p:embed/>
                    <p:pic>
                      <p:nvPicPr>
                        <p:cNvPr id="62" name="Object 11">
                          <a:extLst>
                            <a:ext uri="{FF2B5EF4-FFF2-40B4-BE49-F238E27FC236}">
                              <a16:creationId xmlns:a16="http://schemas.microsoft.com/office/drawing/2014/main" xmlns="" id="{6EA37A90-67F1-459B-BB8C-C9259F0D61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0614" y="2673350"/>
                          <a:ext cx="160784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5" name="组合 74"/>
          <p:cNvGrpSpPr/>
          <p:nvPr/>
        </p:nvGrpSpPr>
        <p:grpSpPr>
          <a:xfrm>
            <a:off x="7633262" y="2721800"/>
            <a:ext cx="342900" cy="618541"/>
            <a:chOff x="7232650" y="2870200"/>
            <a:chExt cx="342900" cy="687268"/>
          </a:xfrm>
        </p:grpSpPr>
        <p:sp>
          <p:nvSpPr>
            <p:cNvPr id="76" name="椭圆形标注 75"/>
            <p:cNvSpPr/>
            <p:nvPr/>
          </p:nvSpPr>
          <p:spPr>
            <a:xfrm>
              <a:off x="7232650" y="2870200"/>
              <a:ext cx="342900" cy="311150"/>
            </a:xfrm>
            <a:prstGeom prst="wedgeEllipseCallout">
              <a:avLst>
                <a:gd name="adj1" fmla="val -5324"/>
                <a:gd name="adj2" fmla="val 95346"/>
              </a:avLst>
            </a:prstGeom>
            <a:solidFill>
              <a:schemeClr val="accent1">
                <a:alpha val="2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7233334" y="3352284"/>
              <a:ext cx="307777" cy="205184"/>
            </a:xfrm>
            <a:prstGeom prst="rect">
              <a:avLst/>
            </a:prstGeom>
          </p:spPr>
          <p:txBody>
            <a:bodyPr wrap="none" lIns="0" tIns="0" rIns="0" bIns="0">
              <a:spAutoFit/>
            </a:bodyPr>
            <a:lstStyle/>
            <a:p>
              <a:pPr algn="ctr"/>
              <a:r>
                <a:rPr lang="zh-CN" altLang="en-US" sz="1200" dirty="0">
                  <a:solidFill>
                    <a:srgbClr val="0000FF"/>
                  </a:solidFill>
                  <a:latin typeface="微软雅黑" pitchFamily="34" charset="-122"/>
                  <a:ea typeface="微软雅黑" pitchFamily="34" charset="-122"/>
                </a:rPr>
                <a:t>系数</a:t>
              </a:r>
            </a:p>
          </p:txBody>
        </p:sp>
      </p:grpSp>
      <p:grpSp>
        <p:nvGrpSpPr>
          <p:cNvPr id="78" name="组合 77"/>
          <p:cNvGrpSpPr/>
          <p:nvPr/>
        </p:nvGrpSpPr>
        <p:grpSpPr>
          <a:xfrm>
            <a:off x="8109513" y="2687510"/>
            <a:ext cx="391011" cy="635686"/>
            <a:chOff x="7232650" y="2870200"/>
            <a:chExt cx="391011" cy="706318"/>
          </a:xfrm>
        </p:grpSpPr>
        <p:sp>
          <p:nvSpPr>
            <p:cNvPr id="79" name="椭圆形标注 78"/>
            <p:cNvSpPr/>
            <p:nvPr/>
          </p:nvSpPr>
          <p:spPr>
            <a:xfrm>
              <a:off x="7232650" y="2870200"/>
              <a:ext cx="342900" cy="311150"/>
            </a:xfrm>
            <a:prstGeom prst="wedgeEllipseCallout">
              <a:avLst>
                <a:gd name="adj1" fmla="val 13195"/>
                <a:gd name="adj2" fmla="val 95346"/>
              </a:avLst>
            </a:prstGeom>
            <a:solidFill>
              <a:schemeClr val="accent1">
                <a:alpha val="25000"/>
              </a:schemeClr>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7315884" y="3371334"/>
              <a:ext cx="307777" cy="205184"/>
            </a:xfrm>
            <a:prstGeom prst="rect">
              <a:avLst/>
            </a:prstGeom>
          </p:spPr>
          <p:txBody>
            <a:bodyPr wrap="none" lIns="0" tIns="0" rIns="0" bIns="0">
              <a:spAutoFit/>
            </a:bodyPr>
            <a:lstStyle/>
            <a:p>
              <a:pPr algn="ctr"/>
              <a:r>
                <a:rPr lang="zh-CN" altLang="en-US" sz="1200" dirty="0">
                  <a:solidFill>
                    <a:srgbClr val="0000FF"/>
                  </a:solidFill>
                  <a:latin typeface="微软雅黑" pitchFamily="34" charset="-122"/>
                  <a:ea typeface="微软雅黑" pitchFamily="34" charset="-122"/>
                </a:rPr>
                <a:t>位权</a:t>
              </a:r>
            </a:p>
          </p:txBody>
        </p:sp>
      </p:grpSp>
      <p:grpSp>
        <p:nvGrpSpPr>
          <p:cNvPr id="94" name="组合 93"/>
          <p:cNvGrpSpPr/>
          <p:nvPr/>
        </p:nvGrpSpPr>
        <p:grpSpPr>
          <a:xfrm>
            <a:off x="6485212" y="3660902"/>
            <a:ext cx="2198250" cy="848143"/>
            <a:chOff x="930437" y="4851400"/>
            <a:chExt cx="2198250" cy="942379"/>
          </a:xfrm>
        </p:grpSpPr>
        <p:sp>
          <p:nvSpPr>
            <p:cNvPr id="95" name="矩形 94">
              <a:extLst>
                <a:ext uri="{FF2B5EF4-FFF2-40B4-BE49-F238E27FC236}">
                  <a16:creationId xmlns:a16="http://schemas.microsoft.com/office/drawing/2014/main" xmlns="" id="{E4B952DC-9A9B-44CF-B2A1-0595A10630DF}"/>
                </a:ext>
              </a:extLst>
            </p:cNvPr>
            <p:cNvSpPr/>
            <p:nvPr/>
          </p:nvSpPr>
          <p:spPr>
            <a:xfrm>
              <a:off x="1110398" y="4870451"/>
              <a:ext cx="2018289" cy="923328"/>
            </a:xfrm>
            <a:prstGeom prst="rect">
              <a:avLst/>
            </a:prstGeom>
            <a:ln w="19050">
              <a:solidFill>
                <a:schemeClr val="accent1">
                  <a:lumMod val="75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a:defRPr/>
              </a:pPr>
              <a:r>
                <a:rPr kumimoji="1" lang="zh-CN" altLang="en-US" sz="1600" dirty="0">
                  <a:solidFill>
                    <a:srgbClr val="C00000"/>
                  </a:solidFill>
                  <a:latin typeface="华文新魏" panose="02010800040101010101" pitchFamily="2" charset="-122"/>
                  <a:ea typeface="华文新魏" panose="02010800040101010101" pitchFamily="2" charset="-122"/>
                </a:rPr>
                <a:t>    </a:t>
              </a:r>
              <a:r>
                <a:rPr lang="zh-CN" altLang="en-US" sz="1600" dirty="0">
                  <a:solidFill>
                    <a:srgbClr val="FF00FF"/>
                  </a:solidFill>
                  <a:effectLst>
                    <a:outerShdw blurRad="38100" dist="38100" dir="2700000" algn="tl">
                      <a:srgbClr val="000000">
                        <a:alpha val="43137"/>
                      </a:srgbClr>
                    </a:outerShdw>
                  </a:effectLst>
                  <a:latin typeface="方正粗黑宋简体" pitchFamily="2" charset="-122"/>
                  <a:ea typeface="方正粗黑宋简体" pitchFamily="2" charset="-122"/>
                </a:rPr>
                <a:t>数的位权展开提供了一种其他进制转换为十进制的一种方法。</a:t>
              </a:r>
            </a:p>
          </p:txBody>
        </p:sp>
        <p:grpSp>
          <p:nvGrpSpPr>
            <p:cNvPr id="96" name="组合 87"/>
            <p:cNvGrpSpPr/>
            <p:nvPr/>
          </p:nvGrpSpPr>
          <p:grpSpPr>
            <a:xfrm>
              <a:off x="930437" y="4851400"/>
              <a:ext cx="384013" cy="401304"/>
              <a:chOff x="841537" y="4826000"/>
              <a:chExt cx="540000" cy="541004"/>
            </a:xfrm>
          </p:grpSpPr>
          <p:sp>
            <p:nvSpPr>
              <p:cNvPr id="97" name="流程图: 联系 20">
                <a:extLst>
                  <a:ext uri="{FF2B5EF4-FFF2-40B4-BE49-F238E27FC236}">
                    <a16:creationId xmlns:a16="http://schemas.microsoft.com/office/drawing/2014/main" xmlns="" id="{80821DDE-A5A1-4771-9010-205DBA422A08}"/>
                  </a:ext>
                </a:extLst>
              </p:cNvPr>
              <p:cNvSpPr>
                <a:spLocks noChangeArrowheads="1"/>
              </p:cNvSpPr>
              <p:nvPr/>
            </p:nvSpPr>
            <p:spPr bwMode="auto">
              <a:xfrm>
                <a:off x="841537" y="4826000"/>
                <a:ext cx="540000" cy="541004"/>
              </a:xfrm>
              <a:prstGeom prst="flowChartConnector">
                <a:avLst/>
              </a:prstGeom>
              <a:solidFill>
                <a:srgbClr val="FA4453"/>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grpSp>
            <p:nvGrpSpPr>
              <p:cNvPr id="98" name="组 7">
                <a:extLst>
                  <a:ext uri="{FF2B5EF4-FFF2-40B4-BE49-F238E27FC236}">
                    <a16:creationId xmlns:a16="http://schemas.microsoft.com/office/drawing/2014/main" xmlns="" id="{17D639F7-B646-4657-976B-ED6BCEBAE714}"/>
                  </a:ext>
                </a:extLst>
              </p:cNvPr>
              <p:cNvGrpSpPr/>
              <p:nvPr/>
            </p:nvGrpSpPr>
            <p:grpSpPr>
              <a:xfrm>
                <a:off x="921507" y="4875239"/>
                <a:ext cx="364043" cy="442527"/>
                <a:chOff x="4333875" y="882650"/>
                <a:chExt cx="996950" cy="1165225"/>
              </a:xfrm>
              <a:solidFill>
                <a:schemeClr val="accent4">
                  <a:lumMod val="60000"/>
                  <a:lumOff val="40000"/>
                </a:schemeClr>
              </a:solidFill>
            </p:grpSpPr>
            <p:sp>
              <p:nvSpPr>
                <p:cNvPr id="99" name="Freeform 67">
                  <a:extLst>
                    <a:ext uri="{FF2B5EF4-FFF2-40B4-BE49-F238E27FC236}">
                      <a16:creationId xmlns:a16="http://schemas.microsoft.com/office/drawing/2014/main" xmlns="" id="{80BB6B83-59ED-4A2F-855A-894F116A3CDE}"/>
                    </a:ext>
                  </a:extLst>
                </p:cNvPr>
                <p:cNvSpPr>
                  <a:spLocks/>
                </p:cNvSpPr>
                <p:nvPr/>
              </p:nvSpPr>
              <p:spPr bwMode="auto">
                <a:xfrm>
                  <a:off x="4724400" y="1838325"/>
                  <a:ext cx="219075" cy="41275"/>
                </a:xfrm>
                <a:custGeom>
                  <a:avLst/>
                  <a:gdLst/>
                  <a:ahLst/>
                  <a:cxnLst>
                    <a:cxn ang="0">
                      <a:pos x="138" y="14"/>
                    </a:cxn>
                    <a:cxn ang="0">
                      <a:pos x="138" y="14"/>
                    </a:cxn>
                    <a:cxn ang="0">
                      <a:pos x="136" y="18"/>
                    </a:cxn>
                    <a:cxn ang="0">
                      <a:pos x="134" y="22"/>
                    </a:cxn>
                    <a:cxn ang="0">
                      <a:pos x="130" y="26"/>
                    </a:cxn>
                    <a:cxn ang="0">
                      <a:pos x="126" y="26"/>
                    </a:cxn>
                    <a:cxn ang="0">
                      <a:pos x="10" y="26"/>
                    </a:cxn>
                    <a:cxn ang="0">
                      <a:pos x="10" y="26"/>
                    </a:cxn>
                    <a:cxn ang="0">
                      <a:pos x="6" y="26"/>
                    </a:cxn>
                    <a:cxn ang="0">
                      <a:pos x="2" y="22"/>
                    </a:cxn>
                    <a:cxn ang="0">
                      <a:pos x="0" y="18"/>
                    </a:cxn>
                    <a:cxn ang="0">
                      <a:pos x="0" y="14"/>
                    </a:cxn>
                    <a:cxn ang="0">
                      <a:pos x="0" y="14"/>
                    </a:cxn>
                    <a:cxn ang="0">
                      <a:pos x="0" y="14"/>
                    </a:cxn>
                    <a:cxn ang="0">
                      <a:pos x="0" y="8"/>
                    </a:cxn>
                    <a:cxn ang="0">
                      <a:pos x="2" y="4"/>
                    </a:cxn>
                    <a:cxn ang="0">
                      <a:pos x="6" y="2"/>
                    </a:cxn>
                    <a:cxn ang="0">
                      <a:pos x="10" y="0"/>
                    </a:cxn>
                    <a:cxn ang="0">
                      <a:pos x="126" y="0"/>
                    </a:cxn>
                    <a:cxn ang="0">
                      <a:pos x="126" y="0"/>
                    </a:cxn>
                    <a:cxn ang="0">
                      <a:pos x="130" y="2"/>
                    </a:cxn>
                    <a:cxn ang="0">
                      <a:pos x="134" y="4"/>
                    </a:cxn>
                    <a:cxn ang="0">
                      <a:pos x="136" y="8"/>
                    </a:cxn>
                    <a:cxn ang="0">
                      <a:pos x="138" y="14"/>
                    </a:cxn>
                    <a:cxn ang="0">
                      <a:pos x="138" y="14"/>
                    </a:cxn>
                  </a:cxnLst>
                  <a:rect l="0" t="0" r="r" b="b"/>
                  <a:pathLst>
                    <a:path w="138" h="26">
                      <a:moveTo>
                        <a:pt x="138" y="14"/>
                      </a:moveTo>
                      <a:lnTo>
                        <a:pt x="138" y="14"/>
                      </a:lnTo>
                      <a:lnTo>
                        <a:pt x="136" y="18"/>
                      </a:lnTo>
                      <a:lnTo>
                        <a:pt x="134" y="22"/>
                      </a:lnTo>
                      <a:lnTo>
                        <a:pt x="130" y="26"/>
                      </a:lnTo>
                      <a:lnTo>
                        <a:pt x="126" y="26"/>
                      </a:lnTo>
                      <a:lnTo>
                        <a:pt x="10" y="26"/>
                      </a:lnTo>
                      <a:lnTo>
                        <a:pt x="10" y="26"/>
                      </a:lnTo>
                      <a:lnTo>
                        <a:pt x="6" y="26"/>
                      </a:lnTo>
                      <a:lnTo>
                        <a:pt x="2" y="22"/>
                      </a:lnTo>
                      <a:lnTo>
                        <a:pt x="0" y="18"/>
                      </a:lnTo>
                      <a:lnTo>
                        <a:pt x="0" y="14"/>
                      </a:lnTo>
                      <a:lnTo>
                        <a:pt x="0" y="14"/>
                      </a:lnTo>
                      <a:lnTo>
                        <a:pt x="0" y="14"/>
                      </a:lnTo>
                      <a:lnTo>
                        <a:pt x="0" y="8"/>
                      </a:lnTo>
                      <a:lnTo>
                        <a:pt x="2" y="4"/>
                      </a:lnTo>
                      <a:lnTo>
                        <a:pt x="6" y="2"/>
                      </a:lnTo>
                      <a:lnTo>
                        <a:pt x="10" y="0"/>
                      </a:lnTo>
                      <a:lnTo>
                        <a:pt x="126" y="0"/>
                      </a:lnTo>
                      <a:lnTo>
                        <a:pt x="126" y="0"/>
                      </a:lnTo>
                      <a:lnTo>
                        <a:pt x="130" y="2"/>
                      </a:lnTo>
                      <a:lnTo>
                        <a:pt x="134" y="4"/>
                      </a:lnTo>
                      <a:lnTo>
                        <a:pt x="136" y="8"/>
                      </a:lnTo>
                      <a:lnTo>
                        <a:pt x="138" y="14"/>
                      </a:lnTo>
                      <a:lnTo>
                        <a:pt x="138"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0" name="Freeform 68">
                  <a:extLst>
                    <a:ext uri="{FF2B5EF4-FFF2-40B4-BE49-F238E27FC236}">
                      <a16:creationId xmlns:a16="http://schemas.microsoft.com/office/drawing/2014/main" xmlns="" id="{EF1D4BA4-2D76-4058-9C03-85AF512F10CA}"/>
                    </a:ext>
                  </a:extLst>
                </p:cNvPr>
                <p:cNvSpPr>
                  <a:spLocks/>
                </p:cNvSpPr>
                <p:nvPr/>
              </p:nvSpPr>
              <p:spPr bwMode="auto">
                <a:xfrm>
                  <a:off x="4724400" y="1898650"/>
                  <a:ext cx="219075" cy="41275"/>
                </a:xfrm>
                <a:custGeom>
                  <a:avLst/>
                  <a:gdLst/>
                  <a:ahLst/>
                  <a:cxnLst>
                    <a:cxn ang="0">
                      <a:pos x="138" y="14"/>
                    </a:cxn>
                    <a:cxn ang="0">
                      <a:pos x="138" y="14"/>
                    </a:cxn>
                    <a:cxn ang="0">
                      <a:pos x="136" y="18"/>
                    </a:cxn>
                    <a:cxn ang="0">
                      <a:pos x="134" y="22"/>
                    </a:cxn>
                    <a:cxn ang="0">
                      <a:pos x="130" y="24"/>
                    </a:cxn>
                    <a:cxn ang="0">
                      <a:pos x="126" y="26"/>
                    </a:cxn>
                    <a:cxn ang="0">
                      <a:pos x="10" y="26"/>
                    </a:cxn>
                    <a:cxn ang="0">
                      <a:pos x="10" y="26"/>
                    </a:cxn>
                    <a:cxn ang="0">
                      <a:pos x="6" y="24"/>
                    </a:cxn>
                    <a:cxn ang="0">
                      <a:pos x="2" y="22"/>
                    </a:cxn>
                    <a:cxn ang="0">
                      <a:pos x="0" y="18"/>
                    </a:cxn>
                    <a:cxn ang="0">
                      <a:pos x="0" y="14"/>
                    </a:cxn>
                    <a:cxn ang="0">
                      <a:pos x="0" y="14"/>
                    </a:cxn>
                    <a:cxn ang="0">
                      <a:pos x="0" y="14"/>
                    </a:cxn>
                    <a:cxn ang="0">
                      <a:pos x="0" y="8"/>
                    </a:cxn>
                    <a:cxn ang="0">
                      <a:pos x="2" y="4"/>
                    </a:cxn>
                    <a:cxn ang="0">
                      <a:pos x="6" y="2"/>
                    </a:cxn>
                    <a:cxn ang="0">
                      <a:pos x="10" y="0"/>
                    </a:cxn>
                    <a:cxn ang="0">
                      <a:pos x="126" y="0"/>
                    </a:cxn>
                    <a:cxn ang="0">
                      <a:pos x="126" y="0"/>
                    </a:cxn>
                    <a:cxn ang="0">
                      <a:pos x="130" y="2"/>
                    </a:cxn>
                    <a:cxn ang="0">
                      <a:pos x="134" y="4"/>
                    </a:cxn>
                    <a:cxn ang="0">
                      <a:pos x="136" y="8"/>
                    </a:cxn>
                    <a:cxn ang="0">
                      <a:pos x="138" y="14"/>
                    </a:cxn>
                    <a:cxn ang="0">
                      <a:pos x="138" y="14"/>
                    </a:cxn>
                  </a:cxnLst>
                  <a:rect l="0" t="0" r="r" b="b"/>
                  <a:pathLst>
                    <a:path w="138" h="26">
                      <a:moveTo>
                        <a:pt x="138" y="14"/>
                      </a:moveTo>
                      <a:lnTo>
                        <a:pt x="138" y="14"/>
                      </a:lnTo>
                      <a:lnTo>
                        <a:pt x="136" y="18"/>
                      </a:lnTo>
                      <a:lnTo>
                        <a:pt x="134" y="22"/>
                      </a:lnTo>
                      <a:lnTo>
                        <a:pt x="130" y="24"/>
                      </a:lnTo>
                      <a:lnTo>
                        <a:pt x="126" y="26"/>
                      </a:lnTo>
                      <a:lnTo>
                        <a:pt x="10" y="26"/>
                      </a:lnTo>
                      <a:lnTo>
                        <a:pt x="10" y="26"/>
                      </a:lnTo>
                      <a:lnTo>
                        <a:pt x="6" y="24"/>
                      </a:lnTo>
                      <a:lnTo>
                        <a:pt x="2" y="22"/>
                      </a:lnTo>
                      <a:lnTo>
                        <a:pt x="0" y="18"/>
                      </a:lnTo>
                      <a:lnTo>
                        <a:pt x="0" y="14"/>
                      </a:lnTo>
                      <a:lnTo>
                        <a:pt x="0" y="14"/>
                      </a:lnTo>
                      <a:lnTo>
                        <a:pt x="0" y="14"/>
                      </a:lnTo>
                      <a:lnTo>
                        <a:pt x="0" y="8"/>
                      </a:lnTo>
                      <a:lnTo>
                        <a:pt x="2" y="4"/>
                      </a:lnTo>
                      <a:lnTo>
                        <a:pt x="6" y="2"/>
                      </a:lnTo>
                      <a:lnTo>
                        <a:pt x="10" y="0"/>
                      </a:lnTo>
                      <a:lnTo>
                        <a:pt x="126" y="0"/>
                      </a:lnTo>
                      <a:lnTo>
                        <a:pt x="126" y="0"/>
                      </a:lnTo>
                      <a:lnTo>
                        <a:pt x="130" y="2"/>
                      </a:lnTo>
                      <a:lnTo>
                        <a:pt x="134" y="4"/>
                      </a:lnTo>
                      <a:lnTo>
                        <a:pt x="136" y="8"/>
                      </a:lnTo>
                      <a:lnTo>
                        <a:pt x="138" y="14"/>
                      </a:lnTo>
                      <a:lnTo>
                        <a:pt x="138"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1" name="Freeform 69">
                  <a:extLst>
                    <a:ext uri="{FF2B5EF4-FFF2-40B4-BE49-F238E27FC236}">
                      <a16:creationId xmlns:a16="http://schemas.microsoft.com/office/drawing/2014/main" xmlns="" id="{64C2DA42-C041-4E8C-892B-A04368032EE6}"/>
                    </a:ext>
                  </a:extLst>
                </p:cNvPr>
                <p:cNvSpPr>
                  <a:spLocks/>
                </p:cNvSpPr>
                <p:nvPr/>
              </p:nvSpPr>
              <p:spPr bwMode="auto">
                <a:xfrm>
                  <a:off x="4724400" y="1958975"/>
                  <a:ext cx="219075" cy="41275"/>
                </a:xfrm>
                <a:custGeom>
                  <a:avLst/>
                  <a:gdLst/>
                  <a:ahLst/>
                  <a:cxnLst>
                    <a:cxn ang="0">
                      <a:pos x="138" y="12"/>
                    </a:cxn>
                    <a:cxn ang="0">
                      <a:pos x="138" y="12"/>
                    </a:cxn>
                    <a:cxn ang="0">
                      <a:pos x="136" y="18"/>
                    </a:cxn>
                    <a:cxn ang="0">
                      <a:pos x="134" y="22"/>
                    </a:cxn>
                    <a:cxn ang="0">
                      <a:pos x="130" y="24"/>
                    </a:cxn>
                    <a:cxn ang="0">
                      <a:pos x="126" y="26"/>
                    </a:cxn>
                    <a:cxn ang="0">
                      <a:pos x="10" y="26"/>
                    </a:cxn>
                    <a:cxn ang="0">
                      <a:pos x="10" y="26"/>
                    </a:cxn>
                    <a:cxn ang="0">
                      <a:pos x="6" y="24"/>
                    </a:cxn>
                    <a:cxn ang="0">
                      <a:pos x="2" y="22"/>
                    </a:cxn>
                    <a:cxn ang="0">
                      <a:pos x="0" y="18"/>
                    </a:cxn>
                    <a:cxn ang="0">
                      <a:pos x="0" y="12"/>
                    </a:cxn>
                    <a:cxn ang="0">
                      <a:pos x="0" y="12"/>
                    </a:cxn>
                    <a:cxn ang="0">
                      <a:pos x="0" y="12"/>
                    </a:cxn>
                    <a:cxn ang="0">
                      <a:pos x="0" y="8"/>
                    </a:cxn>
                    <a:cxn ang="0">
                      <a:pos x="2" y="4"/>
                    </a:cxn>
                    <a:cxn ang="0">
                      <a:pos x="6" y="2"/>
                    </a:cxn>
                    <a:cxn ang="0">
                      <a:pos x="10" y="0"/>
                    </a:cxn>
                    <a:cxn ang="0">
                      <a:pos x="126" y="0"/>
                    </a:cxn>
                    <a:cxn ang="0">
                      <a:pos x="126" y="0"/>
                    </a:cxn>
                    <a:cxn ang="0">
                      <a:pos x="130" y="2"/>
                    </a:cxn>
                    <a:cxn ang="0">
                      <a:pos x="134" y="4"/>
                    </a:cxn>
                    <a:cxn ang="0">
                      <a:pos x="136" y="8"/>
                    </a:cxn>
                    <a:cxn ang="0">
                      <a:pos x="138" y="12"/>
                    </a:cxn>
                    <a:cxn ang="0">
                      <a:pos x="138" y="12"/>
                    </a:cxn>
                  </a:cxnLst>
                  <a:rect l="0" t="0" r="r" b="b"/>
                  <a:pathLst>
                    <a:path w="138" h="26">
                      <a:moveTo>
                        <a:pt x="138" y="12"/>
                      </a:moveTo>
                      <a:lnTo>
                        <a:pt x="138" y="12"/>
                      </a:lnTo>
                      <a:lnTo>
                        <a:pt x="136" y="18"/>
                      </a:lnTo>
                      <a:lnTo>
                        <a:pt x="134" y="22"/>
                      </a:lnTo>
                      <a:lnTo>
                        <a:pt x="130" y="24"/>
                      </a:lnTo>
                      <a:lnTo>
                        <a:pt x="126" y="26"/>
                      </a:lnTo>
                      <a:lnTo>
                        <a:pt x="10" y="26"/>
                      </a:lnTo>
                      <a:lnTo>
                        <a:pt x="10" y="26"/>
                      </a:lnTo>
                      <a:lnTo>
                        <a:pt x="6" y="24"/>
                      </a:lnTo>
                      <a:lnTo>
                        <a:pt x="2" y="22"/>
                      </a:lnTo>
                      <a:lnTo>
                        <a:pt x="0" y="18"/>
                      </a:lnTo>
                      <a:lnTo>
                        <a:pt x="0" y="12"/>
                      </a:lnTo>
                      <a:lnTo>
                        <a:pt x="0" y="12"/>
                      </a:lnTo>
                      <a:lnTo>
                        <a:pt x="0" y="12"/>
                      </a:lnTo>
                      <a:lnTo>
                        <a:pt x="0" y="8"/>
                      </a:lnTo>
                      <a:lnTo>
                        <a:pt x="2" y="4"/>
                      </a:lnTo>
                      <a:lnTo>
                        <a:pt x="6" y="2"/>
                      </a:lnTo>
                      <a:lnTo>
                        <a:pt x="10" y="0"/>
                      </a:lnTo>
                      <a:lnTo>
                        <a:pt x="126" y="0"/>
                      </a:lnTo>
                      <a:lnTo>
                        <a:pt x="126" y="0"/>
                      </a:lnTo>
                      <a:lnTo>
                        <a:pt x="130" y="2"/>
                      </a:lnTo>
                      <a:lnTo>
                        <a:pt x="134" y="4"/>
                      </a:lnTo>
                      <a:lnTo>
                        <a:pt x="136" y="8"/>
                      </a:lnTo>
                      <a:lnTo>
                        <a:pt x="138" y="12"/>
                      </a:lnTo>
                      <a:lnTo>
                        <a:pt x="138" y="1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2" name="Freeform 70">
                  <a:extLst>
                    <a:ext uri="{FF2B5EF4-FFF2-40B4-BE49-F238E27FC236}">
                      <a16:creationId xmlns:a16="http://schemas.microsoft.com/office/drawing/2014/main" xmlns="" id="{4DCAA8E9-521B-452C-AA1D-7954B69F6935}"/>
                    </a:ext>
                  </a:extLst>
                </p:cNvPr>
                <p:cNvSpPr>
                  <a:spLocks/>
                </p:cNvSpPr>
                <p:nvPr/>
              </p:nvSpPr>
              <p:spPr bwMode="auto">
                <a:xfrm>
                  <a:off x="4772025" y="2019300"/>
                  <a:ext cx="120650" cy="28575"/>
                </a:xfrm>
                <a:custGeom>
                  <a:avLst/>
                  <a:gdLst/>
                  <a:ahLst/>
                  <a:cxnLst>
                    <a:cxn ang="0">
                      <a:pos x="0" y="0"/>
                    </a:cxn>
                    <a:cxn ang="0">
                      <a:pos x="0" y="6"/>
                    </a:cxn>
                    <a:cxn ang="0">
                      <a:pos x="0" y="6"/>
                    </a:cxn>
                    <a:cxn ang="0">
                      <a:pos x="2" y="12"/>
                    </a:cxn>
                    <a:cxn ang="0">
                      <a:pos x="6" y="16"/>
                    </a:cxn>
                    <a:cxn ang="0">
                      <a:pos x="10" y="18"/>
                    </a:cxn>
                    <a:cxn ang="0">
                      <a:pos x="18" y="18"/>
                    </a:cxn>
                    <a:cxn ang="0">
                      <a:pos x="58" y="18"/>
                    </a:cxn>
                    <a:cxn ang="0">
                      <a:pos x="58" y="18"/>
                    </a:cxn>
                    <a:cxn ang="0">
                      <a:pos x="66" y="18"/>
                    </a:cxn>
                    <a:cxn ang="0">
                      <a:pos x="70" y="16"/>
                    </a:cxn>
                    <a:cxn ang="0">
                      <a:pos x="74" y="12"/>
                    </a:cxn>
                    <a:cxn ang="0">
                      <a:pos x="76" y="6"/>
                    </a:cxn>
                    <a:cxn ang="0">
                      <a:pos x="76" y="0"/>
                    </a:cxn>
                    <a:cxn ang="0">
                      <a:pos x="0" y="0"/>
                    </a:cxn>
                  </a:cxnLst>
                  <a:rect l="0" t="0" r="r" b="b"/>
                  <a:pathLst>
                    <a:path w="76" h="18">
                      <a:moveTo>
                        <a:pt x="0" y="0"/>
                      </a:moveTo>
                      <a:lnTo>
                        <a:pt x="0" y="6"/>
                      </a:lnTo>
                      <a:lnTo>
                        <a:pt x="0" y="6"/>
                      </a:lnTo>
                      <a:lnTo>
                        <a:pt x="2" y="12"/>
                      </a:lnTo>
                      <a:lnTo>
                        <a:pt x="6" y="16"/>
                      </a:lnTo>
                      <a:lnTo>
                        <a:pt x="10" y="18"/>
                      </a:lnTo>
                      <a:lnTo>
                        <a:pt x="18" y="18"/>
                      </a:lnTo>
                      <a:lnTo>
                        <a:pt x="58" y="18"/>
                      </a:lnTo>
                      <a:lnTo>
                        <a:pt x="58" y="18"/>
                      </a:lnTo>
                      <a:lnTo>
                        <a:pt x="66" y="18"/>
                      </a:lnTo>
                      <a:lnTo>
                        <a:pt x="70" y="16"/>
                      </a:lnTo>
                      <a:lnTo>
                        <a:pt x="74" y="12"/>
                      </a:lnTo>
                      <a:lnTo>
                        <a:pt x="76" y="6"/>
                      </a:lnTo>
                      <a:lnTo>
                        <a:pt x="76"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3" name="Freeform 71">
                  <a:extLst>
                    <a:ext uri="{FF2B5EF4-FFF2-40B4-BE49-F238E27FC236}">
                      <a16:creationId xmlns:a16="http://schemas.microsoft.com/office/drawing/2014/main" xmlns="" id="{76B63FF0-19C6-4114-A6A8-A0B6E058645F}"/>
                    </a:ext>
                  </a:extLst>
                </p:cNvPr>
                <p:cNvSpPr>
                  <a:spLocks noEditPoints="1"/>
                </p:cNvSpPr>
                <p:nvPr/>
              </p:nvSpPr>
              <p:spPr bwMode="auto">
                <a:xfrm>
                  <a:off x="4514850" y="1063625"/>
                  <a:ext cx="635000" cy="755650"/>
                </a:xfrm>
                <a:custGeom>
                  <a:avLst/>
                  <a:gdLst/>
                  <a:ahLst/>
                  <a:cxnLst>
                    <a:cxn ang="0">
                      <a:pos x="342" y="58"/>
                    </a:cxn>
                    <a:cxn ang="0">
                      <a:pos x="312" y="34"/>
                    </a:cxn>
                    <a:cxn ang="0">
                      <a:pos x="278" y="16"/>
                    </a:cxn>
                    <a:cxn ang="0">
                      <a:pos x="240" y="4"/>
                    </a:cxn>
                    <a:cxn ang="0">
                      <a:pos x="200" y="0"/>
                    </a:cxn>
                    <a:cxn ang="0">
                      <a:pos x="180" y="0"/>
                    </a:cxn>
                    <a:cxn ang="0">
                      <a:pos x="140" y="8"/>
                    </a:cxn>
                    <a:cxn ang="0">
                      <a:pos x="104" y="24"/>
                    </a:cxn>
                    <a:cxn ang="0">
                      <a:pos x="72" y="46"/>
                    </a:cxn>
                    <a:cxn ang="0">
                      <a:pos x="58" y="58"/>
                    </a:cxn>
                    <a:cxn ang="0">
                      <a:pos x="34" y="88"/>
                    </a:cxn>
                    <a:cxn ang="0">
                      <a:pos x="16" y="122"/>
                    </a:cxn>
                    <a:cxn ang="0">
                      <a:pos x="4" y="160"/>
                    </a:cxn>
                    <a:cxn ang="0">
                      <a:pos x="0" y="200"/>
                    </a:cxn>
                    <a:cxn ang="0">
                      <a:pos x="0" y="214"/>
                    </a:cxn>
                    <a:cxn ang="0">
                      <a:pos x="10" y="254"/>
                    </a:cxn>
                    <a:cxn ang="0">
                      <a:pos x="34" y="306"/>
                    </a:cxn>
                    <a:cxn ang="0">
                      <a:pos x="66" y="354"/>
                    </a:cxn>
                    <a:cxn ang="0">
                      <a:pos x="100" y="402"/>
                    </a:cxn>
                    <a:cxn ang="0">
                      <a:pos x="124" y="444"/>
                    </a:cxn>
                    <a:cxn ang="0">
                      <a:pos x="138" y="470"/>
                    </a:cxn>
                    <a:cxn ang="0">
                      <a:pos x="142" y="474"/>
                    </a:cxn>
                    <a:cxn ang="0">
                      <a:pos x="150" y="476"/>
                    </a:cxn>
                    <a:cxn ang="0">
                      <a:pos x="250" y="476"/>
                    </a:cxn>
                    <a:cxn ang="0">
                      <a:pos x="258" y="474"/>
                    </a:cxn>
                    <a:cxn ang="0">
                      <a:pos x="262" y="470"/>
                    </a:cxn>
                    <a:cxn ang="0">
                      <a:pos x="276" y="444"/>
                    </a:cxn>
                    <a:cxn ang="0">
                      <a:pos x="300" y="402"/>
                    </a:cxn>
                    <a:cxn ang="0">
                      <a:pos x="334" y="354"/>
                    </a:cxn>
                    <a:cxn ang="0">
                      <a:pos x="366" y="306"/>
                    </a:cxn>
                    <a:cxn ang="0">
                      <a:pos x="392" y="254"/>
                    </a:cxn>
                    <a:cxn ang="0">
                      <a:pos x="400" y="214"/>
                    </a:cxn>
                    <a:cxn ang="0">
                      <a:pos x="400" y="200"/>
                    </a:cxn>
                    <a:cxn ang="0">
                      <a:pos x="396" y="160"/>
                    </a:cxn>
                    <a:cxn ang="0">
                      <a:pos x="386" y="122"/>
                    </a:cxn>
                    <a:cxn ang="0">
                      <a:pos x="366" y="88"/>
                    </a:cxn>
                    <a:cxn ang="0">
                      <a:pos x="342" y="58"/>
                    </a:cxn>
                    <a:cxn ang="0">
                      <a:pos x="200" y="38"/>
                    </a:cxn>
                    <a:cxn ang="0">
                      <a:pos x="220" y="40"/>
                    </a:cxn>
                    <a:cxn ang="0">
                      <a:pos x="254" y="50"/>
                    </a:cxn>
                    <a:cxn ang="0">
                      <a:pos x="282" y="62"/>
                    </a:cxn>
                    <a:cxn ang="0">
                      <a:pos x="314" y="88"/>
                    </a:cxn>
                    <a:cxn ang="0">
                      <a:pos x="322" y="98"/>
                    </a:cxn>
                    <a:cxn ang="0">
                      <a:pos x="338" y="120"/>
                    </a:cxn>
                    <a:cxn ang="0">
                      <a:pos x="352" y="150"/>
                    </a:cxn>
                    <a:cxn ang="0">
                      <a:pos x="360" y="182"/>
                    </a:cxn>
                    <a:cxn ang="0">
                      <a:pos x="364" y="200"/>
                    </a:cxn>
                    <a:cxn ang="0">
                      <a:pos x="346" y="164"/>
                    </a:cxn>
                    <a:cxn ang="0">
                      <a:pos x="314" y="116"/>
                    </a:cxn>
                    <a:cxn ang="0">
                      <a:pos x="300" y="100"/>
                    </a:cxn>
                    <a:cxn ang="0">
                      <a:pos x="270" y="76"/>
                    </a:cxn>
                    <a:cxn ang="0">
                      <a:pos x="210" y="42"/>
                    </a:cxn>
                    <a:cxn ang="0">
                      <a:pos x="200" y="38"/>
                    </a:cxn>
                  </a:cxnLst>
                  <a:rect l="0" t="0" r="r" b="b"/>
                  <a:pathLst>
                    <a:path w="400" h="476">
                      <a:moveTo>
                        <a:pt x="342" y="58"/>
                      </a:moveTo>
                      <a:lnTo>
                        <a:pt x="342" y="58"/>
                      </a:lnTo>
                      <a:lnTo>
                        <a:pt x="328" y="46"/>
                      </a:lnTo>
                      <a:lnTo>
                        <a:pt x="312" y="34"/>
                      </a:lnTo>
                      <a:lnTo>
                        <a:pt x="296" y="24"/>
                      </a:lnTo>
                      <a:lnTo>
                        <a:pt x="278" y="16"/>
                      </a:lnTo>
                      <a:lnTo>
                        <a:pt x="260" y="8"/>
                      </a:lnTo>
                      <a:lnTo>
                        <a:pt x="240" y="4"/>
                      </a:lnTo>
                      <a:lnTo>
                        <a:pt x="220" y="0"/>
                      </a:lnTo>
                      <a:lnTo>
                        <a:pt x="200" y="0"/>
                      </a:lnTo>
                      <a:lnTo>
                        <a:pt x="200" y="0"/>
                      </a:lnTo>
                      <a:lnTo>
                        <a:pt x="180" y="0"/>
                      </a:lnTo>
                      <a:lnTo>
                        <a:pt x="160" y="4"/>
                      </a:lnTo>
                      <a:lnTo>
                        <a:pt x="140" y="8"/>
                      </a:lnTo>
                      <a:lnTo>
                        <a:pt x="122" y="16"/>
                      </a:lnTo>
                      <a:lnTo>
                        <a:pt x="104" y="24"/>
                      </a:lnTo>
                      <a:lnTo>
                        <a:pt x="88" y="34"/>
                      </a:lnTo>
                      <a:lnTo>
                        <a:pt x="72" y="46"/>
                      </a:lnTo>
                      <a:lnTo>
                        <a:pt x="58" y="58"/>
                      </a:lnTo>
                      <a:lnTo>
                        <a:pt x="58" y="58"/>
                      </a:lnTo>
                      <a:lnTo>
                        <a:pt x="46" y="72"/>
                      </a:lnTo>
                      <a:lnTo>
                        <a:pt x="34" y="88"/>
                      </a:lnTo>
                      <a:lnTo>
                        <a:pt x="24" y="104"/>
                      </a:lnTo>
                      <a:lnTo>
                        <a:pt x="16" y="122"/>
                      </a:lnTo>
                      <a:lnTo>
                        <a:pt x="8" y="140"/>
                      </a:lnTo>
                      <a:lnTo>
                        <a:pt x="4" y="160"/>
                      </a:lnTo>
                      <a:lnTo>
                        <a:pt x="0" y="180"/>
                      </a:lnTo>
                      <a:lnTo>
                        <a:pt x="0" y="200"/>
                      </a:lnTo>
                      <a:lnTo>
                        <a:pt x="0" y="200"/>
                      </a:lnTo>
                      <a:lnTo>
                        <a:pt x="0" y="214"/>
                      </a:lnTo>
                      <a:lnTo>
                        <a:pt x="2" y="228"/>
                      </a:lnTo>
                      <a:lnTo>
                        <a:pt x="10" y="254"/>
                      </a:lnTo>
                      <a:lnTo>
                        <a:pt x="20" y="280"/>
                      </a:lnTo>
                      <a:lnTo>
                        <a:pt x="34" y="306"/>
                      </a:lnTo>
                      <a:lnTo>
                        <a:pt x="50" y="330"/>
                      </a:lnTo>
                      <a:lnTo>
                        <a:pt x="66" y="354"/>
                      </a:lnTo>
                      <a:lnTo>
                        <a:pt x="100" y="402"/>
                      </a:lnTo>
                      <a:lnTo>
                        <a:pt x="100" y="402"/>
                      </a:lnTo>
                      <a:lnTo>
                        <a:pt x="114" y="424"/>
                      </a:lnTo>
                      <a:lnTo>
                        <a:pt x="124" y="444"/>
                      </a:lnTo>
                      <a:lnTo>
                        <a:pt x="132" y="462"/>
                      </a:lnTo>
                      <a:lnTo>
                        <a:pt x="138" y="470"/>
                      </a:lnTo>
                      <a:lnTo>
                        <a:pt x="138" y="470"/>
                      </a:lnTo>
                      <a:lnTo>
                        <a:pt x="142" y="474"/>
                      </a:lnTo>
                      <a:lnTo>
                        <a:pt x="146" y="476"/>
                      </a:lnTo>
                      <a:lnTo>
                        <a:pt x="150" y="476"/>
                      </a:lnTo>
                      <a:lnTo>
                        <a:pt x="250" y="476"/>
                      </a:lnTo>
                      <a:lnTo>
                        <a:pt x="250" y="476"/>
                      </a:lnTo>
                      <a:lnTo>
                        <a:pt x="254" y="476"/>
                      </a:lnTo>
                      <a:lnTo>
                        <a:pt x="258" y="474"/>
                      </a:lnTo>
                      <a:lnTo>
                        <a:pt x="262" y="470"/>
                      </a:lnTo>
                      <a:lnTo>
                        <a:pt x="262" y="470"/>
                      </a:lnTo>
                      <a:lnTo>
                        <a:pt x="268" y="462"/>
                      </a:lnTo>
                      <a:lnTo>
                        <a:pt x="276" y="444"/>
                      </a:lnTo>
                      <a:lnTo>
                        <a:pt x="286" y="424"/>
                      </a:lnTo>
                      <a:lnTo>
                        <a:pt x="300" y="402"/>
                      </a:lnTo>
                      <a:lnTo>
                        <a:pt x="300" y="402"/>
                      </a:lnTo>
                      <a:lnTo>
                        <a:pt x="334" y="354"/>
                      </a:lnTo>
                      <a:lnTo>
                        <a:pt x="350" y="330"/>
                      </a:lnTo>
                      <a:lnTo>
                        <a:pt x="366" y="306"/>
                      </a:lnTo>
                      <a:lnTo>
                        <a:pt x="380" y="280"/>
                      </a:lnTo>
                      <a:lnTo>
                        <a:pt x="392" y="254"/>
                      </a:lnTo>
                      <a:lnTo>
                        <a:pt x="398" y="228"/>
                      </a:lnTo>
                      <a:lnTo>
                        <a:pt x="400" y="214"/>
                      </a:lnTo>
                      <a:lnTo>
                        <a:pt x="400" y="200"/>
                      </a:lnTo>
                      <a:lnTo>
                        <a:pt x="400" y="200"/>
                      </a:lnTo>
                      <a:lnTo>
                        <a:pt x="400" y="180"/>
                      </a:lnTo>
                      <a:lnTo>
                        <a:pt x="396" y="160"/>
                      </a:lnTo>
                      <a:lnTo>
                        <a:pt x="392" y="140"/>
                      </a:lnTo>
                      <a:lnTo>
                        <a:pt x="386" y="122"/>
                      </a:lnTo>
                      <a:lnTo>
                        <a:pt x="376" y="104"/>
                      </a:lnTo>
                      <a:lnTo>
                        <a:pt x="366" y="88"/>
                      </a:lnTo>
                      <a:lnTo>
                        <a:pt x="356" y="72"/>
                      </a:lnTo>
                      <a:lnTo>
                        <a:pt x="342" y="58"/>
                      </a:lnTo>
                      <a:lnTo>
                        <a:pt x="342" y="58"/>
                      </a:lnTo>
                      <a:close/>
                      <a:moveTo>
                        <a:pt x="200" y="38"/>
                      </a:moveTo>
                      <a:lnTo>
                        <a:pt x="200" y="38"/>
                      </a:lnTo>
                      <a:lnTo>
                        <a:pt x="220" y="40"/>
                      </a:lnTo>
                      <a:lnTo>
                        <a:pt x="238" y="44"/>
                      </a:lnTo>
                      <a:lnTo>
                        <a:pt x="254" y="50"/>
                      </a:lnTo>
                      <a:lnTo>
                        <a:pt x="268" y="56"/>
                      </a:lnTo>
                      <a:lnTo>
                        <a:pt x="282" y="62"/>
                      </a:lnTo>
                      <a:lnTo>
                        <a:pt x="292" y="70"/>
                      </a:lnTo>
                      <a:lnTo>
                        <a:pt x="314" y="88"/>
                      </a:lnTo>
                      <a:lnTo>
                        <a:pt x="314" y="88"/>
                      </a:lnTo>
                      <a:lnTo>
                        <a:pt x="322" y="98"/>
                      </a:lnTo>
                      <a:lnTo>
                        <a:pt x="330" y="108"/>
                      </a:lnTo>
                      <a:lnTo>
                        <a:pt x="338" y="120"/>
                      </a:lnTo>
                      <a:lnTo>
                        <a:pt x="346" y="134"/>
                      </a:lnTo>
                      <a:lnTo>
                        <a:pt x="352" y="150"/>
                      </a:lnTo>
                      <a:lnTo>
                        <a:pt x="356" y="166"/>
                      </a:lnTo>
                      <a:lnTo>
                        <a:pt x="360" y="182"/>
                      </a:lnTo>
                      <a:lnTo>
                        <a:pt x="364" y="200"/>
                      </a:lnTo>
                      <a:lnTo>
                        <a:pt x="364" y="200"/>
                      </a:lnTo>
                      <a:lnTo>
                        <a:pt x="358" y="190"/>
                      </a:lnTo>
                      <a:lnTo>
                        <a:pt x="346" y="164"/>
                      </a:lnTo>
                      <a:lnTo>
                        <a:pt x="326" y="132"/>
                      </a:lnTo>
                      <a:lnTo>
                        <a:pt x="314" y="116"/>
                      </a:lnTo>
                      <a:lnTo>
                        <a:pt x="300" y="100"/>
                      </a:lnTo>
                      <a:lnTo>
                        <a:pt x="300" y="100"/>
                      </a:lnTo>
                      <a:lnTo>
                        <a:pt x="286" y="88"/>
                      </a:lnTo>
                      <a:lnTo>
                        <a:pt x="270" y="76"/>
                      </a:lnTo>
                      <a:lnTo>
                        <a:pt x="238" y="56"/>
                      </a:lnTo>
                      <a:lnTo>
                        <a:pt x="210" y="42"/>
                      </a:lnTo>
                      <a:lnTo>
                        <a:pt x="200" y="38"/>
                      </a:lnTo>
                      <a:lnTo>
                        <a:pt x="20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4" name="Freeform 72">
                  <a:extLst>
                    <a:ext uri="{FF2B5EF4-FFF2-40B4-BE49-F238E27FC236}">
                      <a16:creationId xmlns:a16="http://schemas.microsoft.com/office/drawing/2014/main" xmlns="" id="{8EDC9F6E-7B9D-4C64-89CF-47D3F69182DF}"/>
                    </a:ext>
                  </a:extLst>
                </p:cNvPr>
                <p:cNvSpPr>
                  <a:spLocks/>
                </p:cNvSpPr>
                <p:nvPr/>
              </p:nvSpPr>
              <p:spPr bwMode="auto">
                <a:xfrm>
                  <a:off x="4810125" y="882650"/>
                  <a:ext cx="41275" cy="120650"/>
                </a:xfrm>
                <a:custGeom>
                  <a:avLst/>
                  <a:gdLst/>
                  <a:ahLst/>
                  <a:cxnLst>
                    <a:cxn ang="0">
                      <a:pos x="14" y="0"/>
                    </a:cxn>
                    <a:cxn ang="0">
                      <a:pos x="14" y="0"/>
                    </a:cxn>
                    <a:cxn ang="0">
                      <a:pos x="8" y="0"/>
                    </a:cxn>
                    <a:cxn ang="0">
                      <a:pos x="4" y="4"/>
                    </a:cxn>
                    <a:cxn ang="0">
                      <a:pos x="2" y="6"/>
                    </a:cxn>
                    <a:cxn ang="0">
                      <a:pos x="0" y="12"/>
                    </a:cxn>
                    <a:cxn ang="0">
                      <a:pos x="0" y="38"/>
                    </a:cxn>
                    <a:cxn ang="0">
                      <a:pos x="0" y="64"/>
                    </a:cxn>
                    <a:cxn ang="0">
                      <a:pos x="0" y="64"/>
                    </a:cxn>
                    <a:cxn ang="0">
                      <a:pos x="2" y="68"/>
                    </a:cxn>
                    <a:cxn ang="0">
                      <a:pos x="4" y="72"/>
                    </a:cxn>
                    <a:cxn ang="0">
                      <a:pos x="8" y="74"/>
                    </a:cxn>
                    <a:cxn ang="0">
                      <a:pos x="14" y="76"/>
                    </a:cxn>
                    <a:cxn ang="0">
                      <a:pos x="14" y="76"/>
                    </a:cxn>
                    <a:cxn ang="0">
                      <a:pos x="18" y="74"/>
                    </a:cxn>
                    <a:cxn ang="0">
                      <a:pos x="22" y="72"/>
                    </a:cxn>
                    <a:cxn ang="0">
                      <a:pos x="26" y="68"/>
                    </a:cxn>
                    <a:cxn ang="0">
                      <a:pos x="26" y="64"/>
                    </a:cxn>
                    <a:cxn ang="0">
                      <a:pos x="26" y="38"/>
                    </a:cxn>
                    <a:cxn ang="0">
                      <a:pos x="26" y="12"/>
                    </a:cxn>
                    <a:cxn ang="0">
                      <a:pos x="26" y="12"/>
                    </a:cxn>
                    <a:cxn ang="0">
                      <a:pos x="26" y="6"/>
                    </a:cxn>
                    <a:cxn ang="0">
                      <a:pos x="22" y="4"/>
                    </a:cxn>
                    <a:cxn ang="0">
                      <a:pos x="18" y="0"/>
                    </a:cxn>
                    <a:cxn ang="0">
                      <a:pos x="14" y="0"/>
                    </a:cxn>
                    <a:cxn ang="0">
                      <a:pos x="14" y="0"/>
                    </a:cxn>
                  </a:cxnLst>
                  <a:rect l="0" t="0" r="r" b="b"/>
                  <a:pathLst>
                    <a:path w="26" h="76">
                      <a:moveTo>
                        <a:pt x="14" y="0"/>
                      </a:moveTo>
                      <a:lnTo>
                        <a:pt x="14" y="0"/>
                      </a:lnTo>
                      <a:lnTo>
                        <a:pt x="8" y="0"/>
                      </a:lnTo>
                      <a:lnTo>
                        <a:pt x="4" y="4"/>
                      </a:lnTo>
                      <a:lnTo>
                        <a:pt x="2" y="6"/>
                      </a:lnTo>
                      <a:lnTo>
                        <a:pt x="0" y="12"/>
                      </a:lnTo>
                      <a:lnTo>
                        <a:pt x="0" y="38"/>
                      </a:lnTo>
                      <a:lnTo>
                        <a:pt x="0" y="64"/>
                      </a:lnTo>
                      <a:lnTo>
                        <a:pt x="0" y="64"/>
                      </a:lnTo>
                      <a:lnTo>
                        <a:pt x="2" y="68"/>
                      </a:lnTo>
                      <a:lnTo>
                        <a:pt x="4" y="72"/>
                      </a:lnTo>
                      <a:lnTo>
                        <a:pt x="8" y="74"/>
                      </a:lnTo>
                      <a:lnTo>
                        <a:pt x="14" y="76"/>
                      </a:lnTo>
                      <a:lnTo>
                        <a:pt x="14" y="76"/>
                      </a:lnTo>
                      <a:lnTo>
                        <a:pt x="18" y="74"/>
                      </a:lnTo>
                      <a:lnTo>
                        <a:pt x="22" y="72"/>
                      </a:lnTo>
                      <a:lnTo>
                        <a:pt x="26" y="68"/>
                      </a:lnTo>
                      <a:lnTo>
                        <a:pt x="26" y="64"/>
                      </a:lnTo>
                      <a:lnTo>
                        <a:pt x="26" y="38"/>
                      </a:lnTo>
                      <a:lnTo>
                        <a:pt x="26" y="12"/>
                      </a:lnTo>
                      <a:lnTo>
                        <a:pt x="26" y="12"/>
                      </a:lnTo>
                      <a:lnTo>
                        <a:pt x="26" y="6"/>
                      </a:lnTo>
                      <a:lnTo>
                        <a:pt x="22" y="4"/>
                      </a:lnTo>
                      <a:lnTo>
                        <a:pt x="18"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5" name="Freeform 73">
                  <a:extLst>
                    <a:ext uri="{FF2B5EF4-FFF2-40B4-BE49-F238E27FC236}">
                      <a16:creationId xmlns:a16="http://schemas.microsoft.com/office/drawing/2014/main" xmlns="" id="{50F3259F-57CD-43DC-A76C-51F31E83E958}"/>
                    </a:ext>
                  </a:extLst>
                </p:cNvPr>
                <p:cNvSpPr>
                  <a:spLocks/>
                </p:cNvSpPr>
                <p:nvPr/>
              </p:nvSpPr>
              <p:spPr bwMode="auto">
                <a:xfrm>
                  <a:off x="5010150" y="946150"/>
                  <a:ext cx="79375" cy="107950"/>
                </a:xfrm>
                <a:custGeom>
                  <a:avLst/>
                  <a:gdLst/>
                  <a:ahLst/>
                  <a:cxnLst>
                    <a:cxn ang="0">
                      <a:pos x="44" y="2"/>
                    </a:cxn>
                    <a:cxn ang="0">
                      <a:pos x="44" y="2"/>
                    </a:cxn>
                    <a:cxn ang="0">
                      <a:pos x="40" y="0"/>
                    </a:cxn>
                    <a:cxn ang="0">
                      <a:pos x="34" y="0"/>
                    </a:cxn>
                    <a:cxn ang="0">
                      <a:pos x="30" y="2"/>
                    </a:cxn>
                    <a:cxn ang="0">
                      <a:pos x="28" y="6"/>
                    </a:cxn>
                    <a:cxn ang="0">
                      <a:pos x="14" y="28"/>
                    </a:cxn>
                    <a:cxn ang="0">
                      <a:pos x="2" y="50"/>
                    </a:cxn>
                    <a:cxn ang="0">
                      <a:pos x="2" y="50"/>
                    </a:cxn>
                    <a:cxn ang="0">
                      <a:pos x="0" y="56"/>
                    </a:cxn>
                    <a:cxn ang="0">
                      <a:pos x="0" y="60"/>
                    </a:cxn>
                    <a:cxn ang="0">
                      <a:pos x="2" y="64"/>
                    </a:cxn>
                    <a:cxn ang="0">
                      <a:pos x="6" y="68"/>
                    </a:cxn>
                    <a:cxn ang="0">
                      <a:pos x="6" y="68"/>
                    </a:cxn>
                    <a:cxn ang="0">
                      <a:pos x="12" y="68"/>
                    </a:cxn>
                    <a:cxn ang="0">
                      <a:pos x="16" y="68"/>
                    </a:cxn>
                    <a:cxn ang="0">
                      <a:pos x="20" y="66"/>
                    </a:cxn>
                    <a:cxn ang="0">
                      <a:pos x="24" y="64"/>
                    </a:cxn>
                    <a:cxn ang="0">
                      <a:pos x="36" y="40"/>
                    </a:cxn>
                    <a:cxn ang="0">
                      <a:pos x="50" y="18"/>
                    </a:cxn>
                    <a:cxn ang="0">
                      <a:pos x="50" y="18"/>
                    </a:cxn>
                    <a:cxn ang="0">
                      <a:pos x="50" y="14"/>
                    </a:cxn>
                    <a:cxn ang="0">
                      <a:pos x="50" y="10"/>
                    </a:cxn>
                    <a:cxn ang="0">
                      <a:pos x="48" y="6"/>
                    </a:cxn>
                    <a:cxn ang="0">
                      <a:pos x="44" y="2"/>
                    </a:cxn>
                    <a:cxn ang="0">
                      <a:pos x="44" y="2"/>
                    </a:cxn>
                  </a:cxnLst>
                  <a:rect l="0" t="0" r="r" b="b"/>
                  <a:pathLst>
                    <a:path w="50" h="68">
                      <a:moveTo>
                        <a:pt x="44" y="2"/>
                      </a:moveTo>
                      <a:lnTo>
                        <a:pt x="44" y="2"/>
                      </a:lnTo>
                      <a:lnTo>
                        <a:pt x="40" y="0"/>
                      </a:lnTo>
                      <a:lnTo>
                        <a:pt x="34" y="0"/>
                      </a:lnTo>
                      <a:lnTo>
                        <a:pt x="30" y="2"/>
                      </a:lnTo>
                      <a:lnTo>
                        <a:pt x="28" y="6"/>
                      </a:lnTo>
                      <a:lnTo>
                        <a:pt x="14" y="28"/>
                      </a:lnTo>
                      <a:lnTo>
                        <a:pt x="2" y="50"/>
                      </a:lnTo>
                      <a:lnTo>
                        <a:pt x="2" y="50"/>
                      </a:lnTo>
                      <a:lnTo>
                        <a:pt x="0" y="56"/>
                      </a:lnTo>
                      <a:lnTo>
                        <a:pt x="0" y="60"/>
                      </a:lnTo>
                      <a:lnTo>
                        <a:pt x="2" y="64"/>
                      </a:lnTo>
                      <a:lnTo>
                        <a:pt x="6" y="68"/>
                      </a:lnTo>
                      <a:lnTo>
                        <a:pt x="6" y="68"/>
                      </a:lnTo>
                      <a:lnTo>
                        <a:pt x="12" y="68"/>
                      </a:lnTo>
                      <a:lnTo>
                        <a:pt x="16" y="68"/>
                      </a:lnTo>
                      <a:lnTo>
                        <a:pt x="20" y="66"/>
                      </a:lnTo>
                      <a:lnTo>
                        <a:pt x="24" y="64"/>
                      </a:lnTo>
                      <a:lnTo>
                        <a:pt x="36" y="40"/>
                      </a:lnTo>
                      <a:lnTo>
                        <a:pt x="50" y="18"/>
                      </a:lnTo>
                      <a:lnTo>
                        <a:pt x="50" y="18"/>
                      </a:lnTo>
                      <a:lnTo>
                        <a:pt x="50" y="14"/>
                      </a:lnTo>
                      <a:lnTo>
                        <a:pt x="50" y="10"/>
                      </a:lnTo>
                      <a:lnTo>
                        <a:pt x="48" y="6"/>
                      </a:lnTo>
                      <a:lnTo>
                        <a:pt x="44" y="2"/>
                      </a:lnTo>
                      <a:lnTo>
                        <a:pt x="44" y="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6" name="Freeform 74">
                  <a:extLst>
                    <a:ext uri="{FF2B5EF4-FFF2-40B4-BE49-F238E27FC236}">
                      <a16:creationId xmlns:a16="http://schemas.microsoft.com/office/drawing/2014/main" xmlns="" id="{E6AA1D9D-CB5B-41FC-9AAC-9DF2808A3CB0}"/>
                    </a:ext>
                  </a:extLst>
                </p:cNvPr>
                <p:cNvSpPr>
                  <a:spLocks/>
                </p:cNvSpPr>
                <p:nvPr/>
              </p:nvSpPr>
              <p:spPr bwMode="auto">
                <a:xfrm>
                  <a:off x="5156200" y="1120775"/>
                  <a:ext cx="107950" cy="79375"/>
                </a:xfrm>
                <a:custGeom>
                  <a:avLst/>
                  <a:gdLst/>
                  <a:ahLst/>
                  <a:cxnLst>
                    <a:cxn ang="0">
                      <a:pos x="68" y="6"/>
                    </a:cxn>
                    <a:cxn ang="0">
                      <a:pos x="68" y="6"/>
                    </a:cxn>
                    <a:cxn ang="0">
                      <a:pos x="64" y="2"/>
                    </a:cxn>
                    <a:cxn ang="0">
                      <a:pos x="60" y="0"/>
                    </a:cxn>
                    <a:cxn ang="0">
                      <a:pos x="56" y="0"/>
                    </a:cxn>
                    <a:cxn ang="0">
                      <a:pos x="50" y="2"/>
                    </a:cxn>
                    <a:cxn ang="0">
                      <a:pos x="28" y="14"/>
                    </a:cxn>
                    <a:cxn ang="0">
                      <a:pos x="6" y="28"/>
                    </a:cxn>
                    <a:cxn ang="0">
                      <a:pos x="6" y="28"/>
                    </a:cxn>
                    <a:cxn ang="0">
                      <a:pos x="2" y="30"/>
                    </a:cxn>
                    <a:cxn ang="0">
                      <a:pos x="0" y="36"/>
                    </a:cxn>
                    <a:cxn ang="0">
                      <a:pos x="0" y="40"/>
                    </a:cxn>
                    <a:cxn ang="0">
                      <a:pos x="2" y="44"/>
                    </a:cxn>
                    <a:cxn ang="0">
                      <a:pos x="2" y="44"/>
                    </a:cxn>
                    <a:cxn ang="0">
                      <a:pos x="6" y="48"/>
                    </a:cxn>
                    <a:cxn ang="0">
                      <a:pos x="10" y="50"/>
                    </a:cxn>
                    <a:cxn ang="0">
                      <a:pos x="14" y="50"/>
                    </a:cxn>
                    <a:cxn ang="0">
                      <a:pos x="18" y="50"/>
                    </a:cxn>
                    <a:cxn ang="0">
                      <a:pos x="40" y="36"/>
                    </a:cxn>
                    <a:cxn ang="0">
                      <a:pos x="64" y="24"/>
                    </a:cxn>
                    <a:cxn ang="0">
                      <a:pos x="64" y="24"/>
                    </a:cxn>
                    <a:cxn ang="0">
                      <a:pos x="66" y="20"/>
                    </a:cxn>
                    <a:cxn ang="0">
                      <a:pos x="68" y="16"/>
                    </a:cxn>
                    <a:cxn ang="0">
                      <a:pos x="68" y="12"/>
                    </a:cxn>
                    <a:cxn ang="0">
                      <a:pos x="68" y="6"/>
                    </a:cxn>
                    <a:cxn ang="0">
                      <a:pos x="68" y="6"/>
                    </a:cxn>
                  </a:cxnLst>
                  <a:rect l="0" t="0" r="r" b="b"/>
                  <a:pathLst>
                    <a:path w="68" h="50">
                      <a:moveTo>
                        <a:pt x="68" y="6"/>
                      </a:moveTo>
                      <a:lnTo>
                        <a:pt x="68" y="6"/>
                      </a:lnTo>
                      <a:lnTo>
                        <a:pt x="64" y="2"/>
                      </a:lnTo>
                      <a:lnTo>
                        <a:pt x="60" y="0"/>
                      </a:lnTo>
                      <a:lnTo>
                        <a:pt x="56" y="0"/>
                      </a:lnTo>
                      <a:lnTo>
                        <a:pt x="50" y="2"/>
                      </a:lnTo>
                      <a:lnTo>
                        <a:pt x="28" y="14"/>
                      </a:lnTo>
                      <a:lnTo>
                        <a:pt x="6" y="28"/>
                      </a:lnTo>
                      <a:lnTo>
                        <a:pt x="6" y="28"/>
                      </a:lnTo>
                      <a:lnTo>
                        <a:pt x="2" y="30"/>
                      </a:lnTo>
                      <a:lnTo>
                        <a:pt x="0" y="36"/>
                      </a:lnTo>
                      <a:lnTo>
                        <a:pt x="0" y="40"/>
                      </a:lnTo>
                      <a:lnTo>
                        <a:pt x="2" y="44"/>
                      </a:lnTo>
                      <a:lnTo>
                        <a:pt x="2" y="44"/>
                      </a:lnTo>
                      <a:lnTo>
                        <a:pt x="6" y="48"/>
                      </a:lnTo>
                      <a:lnTo>
                        <a:pt x="10" y="50"/>
                      </a:lnTo>
                      <a:lnTo>
                        <a:pt x="14" y="50"/>
                      </a:lnTo>
                      <a:lnTo>
                        <a:pt x="18" y="50"/>
                      </a:lnTo>
                      <a:lnTo>
                        <a:pt x="40" y="36"/>
                      </a:lnTo>
                      <a:lnTo>
                        <a:pt x="64" y="24"/>
                      </a:lnTo>
                      <a:lnTo>
                        <a:pt x="64" y="24"/>
                      </a:lnTo>
                      <a:lnTo>
                        <a:pt x="66" y="20"/>
                      </a:lnTo>
                      <a:lnTo>
                        <a:pt x="68" y="16"/>
                      </a:lnTo>
                      <a:lnTo>
                        <a:pt x="68" y="12"/>
                      </a:lnTo>
                      <a:lnTo>
                        <a:pt x="68" y="6"/>
                      </a:lnTo>
                      <a:lnTo>
                        <a:pt x="68"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7" name="Freeform 75">
                  <a:extLst>
                    <a:ext uri="{FF2B5EF4-FFF2-40B4-BE49-F238E27FC236}">
                      <a16:creationId xmlns:a16="http://schemas.microsoft.com/office/drawing/2014/main" xmlns="" id="{CB71A0FC-1324-4944-AA33-1288BC627143}"/>
                    </a:ext>
                  </a:extLst>
                </p:cNvPr>
                <p:cNvSpPr>
                  <a:spLocks/>
                </p:cNvSpPr>
                <p:nvPr/>
              </p:nvSpPr>
              <p:spPr bwMode="auto">
                <a:xfrm>
                  <a:off x="5210175" y="1362075"/>
                  <a:ext cx="120650" cy="38100"/>
                </a:xfrm>
                <a:custGeom>
                  <a:avLst/>
                  <a:gdLst/>
                  <a:ahLst/>
                  <a:cxnLst>
                    <a:cxn ang="0">
                      <a:pos x="64" y="0"/>
                    </a:cxn>
                    <a:cxn ang="0">
                      <a:pos x="38" y="0"/>
                    </a:cxn>
                    <a:cxn ang="0">
                      <a:pos x="12" y="0"/>
                    </a:cxn>
                    <a:cxn ang="0">
                      <a:pos x="12" y="0"/>
                    </a:cxn>
                    <a:cxn ang="0">
                      <a:pos x="6" y="0"/>
                    </a:cxn>
                    <a:cxn ang="0">
                      <a:pos x="4" y="2"/>
                    </a:cxn>
                    <a:cxn ang="0">
                      <a:pos x="0" y="6"/>
                    </a:cxn>
                    <a:cxn ang="0">
                      <a:pos x="0" y="12"/>
                    </a:cxn>
                    <a:cxn ang="0">
                      <a:pos x="0" y="12"/>
                    </a:cxn>
                    <a:cxn ang="0">
                      <a:pos x="0" y="16"/>
                    </a:cxn>
                    <a:cxn ang="0">
                      <a:pos x="4" y="20"/>
                    </a:cxn>
                    <a:cxn ang="0">
                      <a:pos x="6" y="24"/>
                    </a:cxn>
                    <a:cxn ang="0">
                      <a:pos x="12" y="24"/>
                    </a:cxn>
                    <a:cxn ang="0">
                      <a:pos x="38" y="24"/>
                    </a:cxn>
                    <a:cxn ang="0">
                      <a:pos x="64" y="24"/>
                    </a:cxn>
                    <a:cxn ang="0">
                      <a:pos x="64" y="24"/>
                    </a:cxn>
                    <a:cxn ang="0">
                      <a:pos x="68" y="24"/>
                    </a:cxn>
                    <a:cxn ang="0">
                      <a:pos x="72" y="20"/>
                    </a:cxn>
                    <a:cxn ang="0">
                      <a:pos x="74" y="16"/>
                    </a:cxn>
                    <a:cxn ang="0">
                      <a:pos x="76" y="12"/>
                    </a:cxn>
                    <a:cxn ang="0">
                      <a:pos x="76" y="12"/>
                    </a:cxn>
                    <a:cxn ang="0">
                      <a:pos x="74" y="6"/>
                    </a:cxn>
                    <a:cxn ang="0">
                      <a:pos x="72" y="2"/>
                    </a:cxn>
                    <a:cxn ang="0">
                      <a:pos x="68" y="0"/>
                    </a:cxn>
                    <a:cxn ang="0">
                      <a:pos x="64" y="0"/>
                    </a:cxn>
                    <a:cxn ang="0">
                      <a:pos x="64" y="0"/>
                    </a:cxn>
                  </a:cxnLst>
                  <a:rect l="0" t="0" r="r" b="b"/>
                  <a:pathLst>
                    <a:path w="76" h="24">
                      <a:moveTo>
                        <a:pt x="64" y="0"/>
                      </a:moveTo>
                      <a:lnTo>
                        <a:pt x="38" y="0"/>
                      </a:lnTo>
                      <a:lnTo>
                        <a:pt x="12" y="0"/>
                      </a:lnTo>
                      <a:lnTo>
                        <a:pt x="12" y="0"/>
                      </a:lnTo>
                      <a:lnTo>
                        <a:pt x="6" y="0"/>
                      </a:lnTo>
                      <a:lnTo>
                        <a:pt x="4" y="2"/>
                      </a:lnTo>
                      <a:lnTo>
                        <a:pt x="0" y="6"/>
                      </a:lnTo>
                      <a:lnTo>
                        <a:pt x="0" y="12"/>
                      </a:lnTo>
                      <a:lnTo>
                        <a:pt x="0" y="12"/>
                      </a:lnTo>
                      <a:lnTo>
                        <a:pt x="0" y="16"/>
                      </a:lnTo>
                      <a:lnTo>
                        <a:pt x="4" y="20"/>
                      </a:lnTo>
                      <a:lnTo>
                        <a:pt x="6" y="24"/>
                      </a:lnTo>
                      <a:lnTo>
                        <a:pt x="12" y="24"/>
                      </a:lnTo>
                      <a:lnTo>
                        <a:pt x="38" y="24"/>
                      </a:lnTo>
                      <a:lnTo>
                        <a:pt x="64" y="24"/>
                      </a:lnTo>
                      <a:lnTo>
                        <a:pt x="64" y="24"/>
                      </a:lnTo>
                      <a:lnTo>
                        <a:pt x="68" y="24"/>
                      </a:lnTo>
                      <a:lnTo>
                        <a:pt x="72" y="20"/>
                      </a:lnTo>
                      <a:lnTo>
                        <a:pt x="74" y="16"/>
                      </a:lnTo>
                      <a:lnTo>
                        <a:pt x="76" y="12"/>
                      </a:lnTo>
                      <a:lnTo>
                        <a:pt x="76" y="12"/>
                      </a:lnTo>
                      <a:lnTo>
                        <a:pt x="74" y="6"/>
                      </a:lnTo>
                      <a:lnTo>
                        <a:pt x="72" y="2"/>
                      </a:lnTo>
                      <a:lnTo>
                        <a:pt x="68" y="0"/>
                      </a:lnTo>
                      <a:lnTo>
                        <a:pt x="64" y="0"/>
                      </a:lnTo>
                      <a:lnTo>
                        <a:pt x="6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8" name="Freeform 76">
                  <a:extLst>
                    <a:ext uri="{FF2B5EF4-FFF2-40B4-BE49-F238E27FC236}">
                      <a16:creationId xmlns:a16="http://schemas.microsoft.com/office/drawing/2014/main" xmlns="" id="{44EEA4D0-2372-4A7E-B705-DDC3B7B3909A}"/>
                    </a:ext>
                  </a:extLst>
                </p:cNvPr>
                <p:cNvSpPr>
                  <a:spLocks/>
                </p:cNvSpPr>
                <p:nvPr/>
              </p:nvSpPr>
              <p:spPr bwMode="auto">
                <a:xfrm>
                  <a:off x="5156200" y="1558925"/>
                  <a:ext cx="107950" cy="79375"/>
                </a:xfrm>
                <a:custGeom>
                  <a:avLst/>
                  <a:gdLst/>
                  <a:ahLst/>
                  <a:cxnLst>
                    <a:cxn ang="0">
                      <a:pos x="64" y="28"/>
                    </a:cxn>
                    <a:cxn ang="0">
                      <a:pos x="40" y="14"/>
                    </a:cxn>
                    <a:cxn ang="0">
                      <a:pos x="18" y="2"/>
                    </a:cxn>
                    <a:cxn ang="0">
                      <a:pos x="18" y="2"/>
                    </a:cxn>
                    <a:cxn ang="0">
                      <a:pos x="14" y="0"/>
                    </a:cxn>
                    <a:cxn ang="0">
                      <a:pos x="10" y="0"/>
                    </a:cxn>
                    <a:cxn ang="0">
                      <a:pos x="6" y="4"/>
                    </a:cxn>
                    <a:cxn ang="0">
                      <a:pos x="2" y="6"/>
                    </a:cxn>
                    <a:cxn ang="0">
                      <a:pos x="2" y="6"/>
                    </a:cxn>
                    <a:cxn ang="0">
                      <a:pos x="0" y="12"/>
                    </a:cxn>
                    <a:cxn ang="0">
                      <a:pos x="0" y="16"/>
                    </a:cxn>
                    <a:cxn ang="0">
                      <a:pos x="2" y="20"/>
                    </a:cxn>
                    <a:cxn ang="0">
                      <a:pos x="6" y="24"/>
                    </a:cxn>
                    <a:cxn ang="0">
                      <a:pos x="28" y="36"/>
                    </a:cxn>
                    <a:cxn ang="0">
                      <a:pos x="50" y="50"/>
                    </a:cxn>
                    <a:cxn ang="0">
                      <a:pos x="50" y="50"/>
                    </a:cxn>
                    <a:cxn ang="0">
                      <a:pos x="56" y="50"/>
                    </a:cxn>
                    <a:cxn ang="0">
                      <a:pos x="60" y="50"/>
                    </a:cxn>
                    <a:cxn ang="0">
                      <a:pos x="64" y="48"/>
                    </a:cxn>
                    <a:cxn ang="0">
                      <a:pos x="68" y="44"/>
                    </a:cxn>
                    <a:cxn ang="0">
                      <a:pos x="68" y="44"/>
                    </a:cxn>
                    <a:cxn ang="0">
                      <a:pos x="68" y="40"/>
                    </a:cxn>
                    <a:cxn ang="0">
                      <a:pos x="68" y="36"/>
                    </a:cxn>
                    <a:cxn ang="0">
                      <a:pos x="66" y="30"/>
                    </a:cxn>
                    <a:cxn ang="0">
                      <a:pos x="64" y="28"/>
                    </a:cxn>
                    <a:cxn ang="0">
                      <a:pos x="64" y="28"/>
                    </a:cxn>
                  </a:cxnLst>
                  <a:rect l="0" t="0" r="r" b="b"/>
                  <a:pathLst>
                    <a:path w="68" h="50">
                      <a:moveTo>
                        <a:pt x="64" y="28"/>
                      </a:moveTo>
                      <a:lnTo>
                        <a:pt x="40" y="14"/>
                      </a:lnTo>
                      <a:lnTo>
                        <a:pt x="18" y="2"/>
                      </a:lnTo>
                      <a:lnTo>
                        <a:pt x="18" y="2"/>
                      </a:lnTo>
                      <a:lnTo>
                        <a:pt x="14" y="0"/>
                      </a:lnTo>
                      <a:lnTo>
                        <a:pt x="10" y="0"/>
                      </a:lnTo>
                      <a:lnTo>
                        <a:pt x="6" y="4"/>
                      </a:lnTo>
                      <a:lnTo>
                        <a:pt x="2" y="6"/>
                      </a:lnTo>
                      <a:lnTo>
                        <a:pt x="2" y="6"/>
                      </a:lnTo>
                      <a:lnTo>
                        <a:pt x="0" y="12"/>
                      </a:lnTo>
                      <a:lnTo>
                        <a:pt x="0" y="16"/>
                      </a:lnTo>
                      <a:lnTo>
                        <a:pt x="2" y="20"/>
                      </a:lnTo>
                      <a:lnTo>
                        <a:pt x="6" y="24"/>
                      </a:lnTo>
                      <a:lnTo>
                        <a:pt x="28" y="36"/>
                      </a:lnTo>
                      <a:lnTo>
                        <a:pt x="50" y="50"/>
                      </a:lnTo>
                      <a:lnTo>
                        <a:pt x="50" y="50"/>
                      </a:lnTo>
                      <a:lnTo>
                        <a:pt x="56" y="50"/>
                      </a:lnTo>
                      <a:lnTo>
                        <a:pt x="60" y="50"/>
                      </a:lnTo>
                      <a:lnTo>
                        <a:pt x="64" y="48"/>
                      </a:lnTo>
                      <a:lnTo>
                        <a:pt x="68" y="44"/>
                      </a:lnTo>
                      <a:lnTo>
                        <a:pt x="68" y="44"/>
                      </a:lnTo>
                      <a:lnTo>
                        <a:pt x="68" y="40"/>
                      </a:lnTo>
                      <a:lnTo>
                        <a:pt x="68" y="36"/>
                      </a:lnTo>
                      <a:lnTo>
                        <a:pt x="66" y="30"/>
                      </a:lnTo>
                      <a:lnTo>
                        <a:pt x="64" y="28"/>
                      </a:lnTo>
                      <a:lnTo>
                        <a:pt x="64" y="2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09" name="Freeform 77">
                  <a:extLst>
                    <a:ext uri="{FF2B5EF4-FFF2-40B4-BE49-F238E27FC236}">
                      <a16:creationId xmlns:a16="http://schemas.microsoft.com/office/drawing/2014/main" xmlns="" id="{36819191-7C34-4261-97C8-44A5CFC456C8}"/>
                    </a:ext>
                  </a:extLst>
                </p:cNvPr>
                <p:cNvSpPr>
                  <a:spLocks/>
                </p:cNvSpPr>
                <p:nvPr/>
              </p:nvSpPr>
              <p:spPr bwMode="auto">
                <a:xfrm>
                  <a:off x="4572000" y="946150"/>
                  <a:ext cx="79375" cy="107950"/>
                </a:xfrm>
                <a:custGeom>
                  <a:avLst/>
                  <a:gdLst/>
                  <a:ahLst/>
                  <a:cxnLst>
                    <a:cxn ang="0">
                      <a:pos x="50" y="50"/>
                    </a:cxn>
                    <a:cxn ang="0">
                      <a:pos x="36" y="28"/>
                    </a:cxn>
                    <a:cxn ang="0">
                      <a:pos x="24" y="6"/>
                    </a:cxn>
                    <a:cxn ang="0">
                      <a:pos x="24" y="6"/>
                    </a:cxn>
                    <a:cxn ang="0">
                      <a:pos x="20" y="2"/>
                    </a:cxn>
                    <a:cxn ang="0">
                      <a:pos x="16" y="0"/>
                    </a:cxn>
                    <a:cxn ang="0">
                      <a:pos x="12" y="0"/>
                    </a:cxn>
                    <a:cxn ang="0">
                      <a:pos x="6" y="2"/>
                    </a:cxn>
                    <a:cxn ang="0">
                      <a:pos x="6" y="2"/>
                    </a:cxn>
                    <a:cxn ang="0">
                      <a:pos x="2" y="6"/>
                    </a:cxn>
                    <a:cxn ang="0">
                      <a:pos x="0" y="10"/>
                    </a:cxn>
                    <a:cxn ang="0">
                      <a:pos x="0" y="14"/>
                    </a:cxn>
                    <a:cxn ang="0">
                      <a:pos x="2" y="18"/>
                    </a:cxn>
                    <a:cxn ang="0">
                      <a:pos x="14" y="40"/>
                    </a:cxn>
                    <a:cxn ang="0">
                      <a:pos x="28" y="64"/>
                    </a:cxn>
                    <a:cxn ang="0">
                      <a:pos x="28" y="64"/>
                    </a:cxn>
                    <a:cxn ang="0">
                      <a:pos x="30" y="66"/>
                    </a:cxn>
                    <a:cxn ang="0">
                      <a:pos x="34" y="68"/>
                    </a:cxn>
                    <a:cxn ang="0">
                      <a:pos x="40" y="68"/>
                    </a:cxn>
                    <a:cxn ang="0">
                      <a:pos x="44" y="68"/>
                    </a:cxn>
                    <a:cxn ang="0">
                      <a:pos x="44" y="68"/>
                    </a:cxn>
                    <a:cxn ang="0">
                      <a:pos x="48" y="64"/>
                    </a:cxn>
                    <a:cxn ang="0">
                      <a:pos x="50" y="60"/>
                    </a:cxn>
                    <a:cxn ang="0">
                      <a:pos x="50" y="56"/>
                    </a:cxn>
                    <a:cxn ang="0">
                      <a:pos x="50" y="50"/>
                    </a:cxn>
                    <a:cxn ang="0">
                      <a:pos x="50" y="50"/>
                    </a:cxn>
                  </a:cxnLst>
                  <a:rect l="0" t="0" r="r" b="b"/>
                  <a:pathLst>
                    <a:path w="50" h="68">
                      <a:moveTo>
                        <a:pt x="50" y="50"/>
                      </a:moveTo>
                      <a:lnTo>
                        <a:pt x="36" y="28"/>
                      </a:lnTo>
                      <a:lnTo>
                        <a:pt x="24" y="6"/>
                      </a:lnTo>
                      <a:lnTo>
                        <a:pt x="24" y="6"/>
                      </a:lnTo>
                      <a:lnTo>
                        <a:pt x="20" y="2"/>
                      </a:lnTo>
                      <a:lnTo>
                        <a:pt x="16" y="0"/>
                      </a:lnTo>
                      <a:lnTo>
                        <a:pt x="12" y="0"/>
                      </a:lnTo>
                      <a:lnTo>
                        <a:pt x="6" y="2"/>
                      </a:lnTo>
                      <a:lnTo>
                        <a:pt x="6" y="2"/>
                      </a:lnTo>
                      <a:lnTo>
                        <a:pt x="2" y="6"/>
                      </a:lnTo>
                      <a:lnTo>
                        <a:pt x="0" y="10"/>
                      </a:lnTo>
                      <a:lnTo>
                        <a:pt x="0" y="14"/>
                      </a:lnTo>
                      <a:lnTo>
                        <a:pt x="2" y="18"/>
                      </a:lnTo>
                      <a:lnTo>
                        <a:pt x="14" y="40"/>
                      </a:lnTo>
                      <a:lnTo>
                        <a:pt x="28" y="64"/>
                      </a:lnTo>
                      <a:lnTo>
                        <a:pt x="28" y="64"/>
                      </a:lnTo>
                      <a:lnTo>
                        <a:pt x="30" y="66"/>
                      </a:lnTo>
                      <a:lnTo>
                        <a:pt x="34" y="68"/>
                      </a:lnTo>
                      <a:lnTo>
                        <a:pt x="40" y="68"/>
                      </a:lnTo>
                      <a:lnTo>
                        <a:pt x="44" y="68"/>
                      </a:lnTo>
                      <a:lnTo>
                        <a:pt x="44" y="68"/>
                      </a:lnTo>
                      <a:lnTo>
                        <a:pt x="48" y="64"/>
                      </a:lnTo>
                      <a:lnTo>
                        <a:pt x="50" y="60"/>
                      </a:lnTo>
                      <a:lnTo>
                        <a:pt x="50" y="56"/>
                      </a:lnTo>
                      <a:lnTo>
                        <a:pt x="50" y="50"/>
                      </a:lnTo>
                      <a:lnTo>
                        <a:pt x="50" y="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10" name="Freeform 78">
                  <a:extLst>
                    <a:ext uri="{FF2B5EF4-FFF2-40B4-BE49-F238E27FC236}">
                      <a16:creationId xmlns:a16="http://schemas.microsoft.com/office/drawing/2014/main" xmlns="" id="{A1AB0297-C14D-4D7D-A206-F06014BCF62F}"/>
                    </a:ext>
                  </a:extLst>
                </p:cNvPr>
                <p:cNvSpPr>
                  <a:spLocks/>
                </p:cNvSpPr>
                <p:nvPr/>
              </p:nvSpPr>
              <p:spPr bwMode="auto">
                <a:xfrm>
                  <a:off x="4397375" y="1120775"/>
                  <a:ext cx="107950" cy="79375"/>
                </a:xfrm>
                <a:custGeom>
                  <a:avLst/>
                  <a:gdLst/>
                  <a:ahLst/>
                  <a:cxnLst>
                    <a:cxn ang="0">
                      <a:pos x="64" y="28"/>
                    </a:cxn>
                    <a:cxn ang="0">
                      <a:pos x="40" y="14"/>
                    </a:cxn>
                    <a:cxn ang="0">
                      <a:pos x="18" y="2"/>
                    </a:cxn>
                    <a:cxn ang="0">
                      <a:pos x="18" y="2"/>
                    </a:cxn>
                    <a:cxn ang="0">
                      <a:pos x="14" y="0"/>
                    </a:cxn>
                    <a:cxn ang="0">
                      <a:pos x="10" y="0"/>
                    </a:cxn>
                    <a:cxn ang="0">
                      <a:pos x="4" y="2"/>
                    </a:cxn>
                    <a:cxn ang="0">
                      <a:pos x="2" y="6"/>
                    </a:cxn>
                    <a:cxn ang="0">
                      <a:pos x="2" y="6"/>
                    </a:cxn>
                    <a:cxn ang="0">
                      <a:pos x="0" y="12"/>
                    </a:cxn>
                    <a:cxn ang="0">
                      <a:pos x="0" y="16"/>
                    </a:cxn>
                    <a:cxn ang="0">
                      <a:pos x="2" y="20"/>
                    </a:cxn>
                    <a:cxn ang="0">
                      <a:pos x="6" y="24"/>
                    </a:cxn>
                    <a:cxn ang="0">
                      <a:pos x="28" y="36"/>
                    </a:cxn>
                    <a:cxn ang="0">
                      <a:pos x="50" y="50"/>
                    </a:cxn>
                    <a:cxn ang="0">
                      <a:pos x="50" y="50"/>
                    </a:cxn>
                    <a:cxn ang="0">
                      <a:pos x="56" y="50"/>
                    </a:cxn>
                    <a:cxn ang="0">
                      <a:pos x="60" y="50"/>
                    </a:cxn>
                    <a:cxn ang="0">
                      <a:pos x="64" y="48"/>
                    </a:cxn>
                    <a:cxn ang="0">
                      <a:pos x="66" y="44"/>
                    </a:cxn>
                    <a:cxn ang="0">
                      <a:pos x="66" y="44"/>
                    </a:cxn>
                    <a:cxn ang="0">
                      <a:pos x="68" y="40"/>
                    </a:cxn>
                    <a:cxn ang="0">
                      <a:pos x="68" y="36"/>
                    </a:cxn>
                    <a:cxn ang="0">
                      <a:pos x="66" y="30"/>
                    </a:cxn>
                    <a:cxn ang="0">
                      <a:pos x="64" y="28"/>
                    </a:cxn>
                    <a:cxn ang="0">
                      <a:pos x="64" y="28"/>
                    </a:cxn>
                  </a:cxnLst>
                  <a:rect l="0" t="0" r="r" b="b"/>
                  <a:pathLst>
                    <a:path w="68" h="50">
                      <a:moveTo>
                        <a:pt x="64" y="28"/>
                      </a:moveTo>
                      <a:lnTo>
                        <a:pt x="40" y="14"/>
                      </a:lnTo>
                      <a:lnTo>
                        <a:pt x="18" y="2"/>
                      </a:lnTo>
                      <a:lnTo>
                        <a:pt x="18" y="2"/>
                      </a:lnTo>
                      <a:lnTo>
                        <a:pt x="14" y="0"/>
                      </a:lnTo>
                      <a:lnTo>
                        <a:pt x="10" y="0"/>
                      </a:lnTo>
                      <a:lnTo>
                        <a:pt x="4" y="2"/>
                      </a:lnTo>
                      <a:lnTo>
                        <a:pt x="2" y="6"/>
                      </a:lnTo>
                      <a:lnTo>
                        <a:pt x="2" y="6"/>
                      </a:lnTo>
                      <a:lnTo>
                        <a:pt x="0" y="12"/>
                      </a:lnTo>
                      <a:lnTo>
                        <a:pt x="0" y="16"/>
                      </a:lnTo>
                      <a:lnTo>
                        <a:pt x="2" y="20"/>
                      </a:lnTo>
                      <a:lnTo>
                        <a:pt x="6" y="24"/>
                      </a:lnTo>
                      <a:lnTo>
                        <a:pt x="28" y="36"/>
                      </a:lnTo>
                      <a:lnTo>
                        <a:pt x="50" y="50"/>
                      </a:lnTo>
                      <a:lnTo>
                        <a:pt x="50" y="50"/>
                      </a:lnTo>
                      <a:lnTo>
                        <a:pt x="56" y="50"/>
                      </a:lnTo>
                      <a:lnTo>
                        <a:pt x="60" y="50"/>
                      </a:lnTo>
                      <a:lnTo>
                        <a:pt x="64" y="48"/>
                      </a:lnTo>
                      <a:lnTo>
                        <a:pt x="66" y="44"/>
                      </a:lnTo>
                      <a:lnTo>
                        <a:pt x="66" y="44"/>
                      </a:lnTo>
                      <a:lnTo>
                        <a:pt x="68" y="40"/>
                      </a:lnTo>
                      <a:lnTo>
                        <a:pt x="68" y="36"/>
                      </a:lnTo>
                      <a:lnTo>
                        <a:pt x="66" y="30"/>
                      </a:lnTo>
                      <a:lnTo>
                        <a:pt x="64" y="28"/>
                      </a:lnTo>
                      <a:lnTo>
                        <a:pt x="64" y="2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11" name="Freeform 79">
                  <a:extLst>
                    <a:ext uri="{FF2B5EF4-FFF2-40B4-BE49-F238E27FC236}">
                      <a16:creationId xmlns:a16="http://schemas.microsoft.com/office/drawing/2014/main" xmlns="" id="{08465B75-2137-4D1B-9549-DFD89FF128B4}"/>
                    </a:ext>
                  </a:extLst>
                </p:cNvPr>
                <p:cNvSpPr>
                  <a:spLocks/>
                </p:cNvSpPr>
                <p:nvPr/>
              </p:nvSpPr>
              <p:spPr bwMode="auto">
                <a:xfrm>
                  <a:off x="4333875" y="1362075"/>
                  <a:ext cx="120650" cy="38100"/>
                </a:xfrm>
                <a:custGeom>
                  <a:avLst/>
                  <a:gdLst/>
                  <a:ahLst/>
                  <a:cxnLst>
                    <a:cxn ang="0">
                      <a:pos x="64" y="0"/>
                    </a:cxn>
                    <a:cxn ang="0">
                      <a:pos x="38" y="0"/>
                    </a:cxn>
                    <a:cxn ang="0">
                      <a:pos x="12" y="0"/>
                    </a:cxn>
                    <a:cxn ang="0">
                      <a:pos x="12" y="0"/>
                    </a:cxn>
                    <a:cxn ang="0">
                      <a:pos x="6" y="0"/>
                    </a:cxn>
                    <a:cxn ang="0">
                      <a:pos x="4" y="2"/>
                    </a:cxn>
                    <a:cxn ang="0">
                      <a:pos x="0" y="6"/>
                    </a:cxn>
                    <a:cxn ang="0">
                      <a:pos x="0" y="12"/>
                    </a:cxn>
                    <a:cxn ang="0">
                      <a:pos x="0" y="12"/>
                    </a:cxn>
                    <a:cxn ang="0">
                      <a:pos x="0" y="16"/>
                    </a:cxn>
                    <a:cxn ang="0">
                      <a:pos x="4" y="20"/>
                    </a:cxn>
                    <a:cxn ang="0">
                      <a:pos x="6" y="24"/>
                    </a:cxn>
                    <a:cxn ang="0">
                      <a:pos x="12" y="24"/>
                    </a:cxn>
                    <a:cxn ang="0">
                      <a:pos x="38" y="24"/>
                    </a:cxn>
                    <a:cxn ang="0">
                      <a:pos x="64" y="24"/>
                    </a:cxn>
                    <a:cxn ang="0">
                      <a:pos x="64" y="24"/>
                    </a:cxn>
                    <a:cxn ang="0">
                      <a:pos x="68" y="24"/>
                    </a:cxn>
                    <a:cxn ang="0">
                      <a:pos x="72" y="20"/>
                    </a:cxn>
                    <a:cxn ang="0">
                      <a:pos x="74" y="16"/>
                    </a:cxn>
                    <a:cxn ang="0">
                      <a:pos x="76" y="12"/>
                    </a:cxn>
                    <a:cxn ang="0">
                      <a:pos x="76" y="12"/>
                    </a:cxn>
                    <a:cxn ang="0">
                      <a:pos x="74" y="6"/>
                    </a:cxn>
                    <a:cxn ang="0">
                      <a:pos x="72" y="2"/>
                    </a:cxn>
                    <a:cxn ang="0">
                      <a:pos x="68" y="0"/>
                    </a:cxn>
                    <a:cxn ang="0">
                      <a:pos x="64" y="0"/>
                    </a:cxn>
                    <a:cxn ang="0">
                      <a:pos x="64" y="0"/>
                    </a:cxn>
                  </a:cxnLst>
                  <a:rect l="0" t="0" r="r" b="b"/>
                  <a:pathLst>
                    <a:path w="76" h="24">
                      <a:moveTo>
                        <a:pt x="64" y="0"/>
                      </a:moveTo>
                      <a:lnTo>
                        <a:pt x="38" y="0"/>
                      </a:lnTo>
                      <a:lnTo>
                        <a:pt x="12" y="0"/>
                      </a:lnTo>
                      <a:lnTo>
                        <a:pt x="12" y="0"/>
                      </a:lnTo>
                      <a:lnTo>
                        <a:pt x="6" y="0"/>
                      </a:lnTo>
                      <a:lnTo>
                        <a:pt x="4" y="2"/>
                      </a:lnTo>
                      <a:lnTo>
                        <a:pt x="0" y="6"/>
                      </a:lnTo>
                      <a:lnTo>
                        <a:pt x="0" y="12"/>
                      </a:lnTo>
                      <a:lnTo>
                        <a:pt x="0" y="12"/>
                      </a:lnTo>
                      <a:lnTo>
                        <a:pt x="0" y="16"/>
                      </a:lnTo>
                      <a:lnTo>
                        <a:pt x="4" y="20"/>
                      </a:lnTo>
                      <a:lnTo>
                        <a:pt x="6" y="24"/>
                      </a:lnTo>
                      <a:lnTo>
                        <a:pt x="12" y="24"/>
                      </a:lnTo>
                      <a:lnTo>
                        <a:pt x="38" y="24"/>
                      </a:lnTo>
                      <a:lnTo>
                        <a:pt x="64" y="24"/>
                      </a:lnTo>
                      <a:lnTo>
                        <a:pt x="64" y="24"/>
                      </a:lnTo>
                      <a:lnTo>
                        <a:pt x="68" y="24"/>
                      </a:lnTo>
                      <a:lnTo>
                        <a:pt x="72" y="20"/>
                      </a:lnTo>
                      <a:lnTo>
                        <a:pt x="74" y="16"/>
                      </a:lnTo>
                      <a:lnTo>
                        <a:pt x="76" y="12"/>
                      </a:lnTo>
                      <a:lnTo>
                        <a:pt x="76" y="12"/>
                      </a:lnTo>
                      <a:lnTo>
                        <a:pt x="74" y="6"/>
                      </a:lnTo>
                      <a:lnTo>
                        <a:pt x="72" y="2"/>
                      </a:lnTo>
                      <a:lnTo>
                        <a:pt x="68" y="0"/>
                      </a:lnTo>
                      <a:lnTo>
                        <a:pt x="64" y="0"/>
                      </a:lnTo>
                      <a:lnTo>
                        <a:pt x="6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sp>
              <p:nvSpPr>
                <p:cNvPr id="112" name="Freeform 80">
                  <a:extLst>
                    <a:ext uri="{FF2B5EF4-FFF2-40B4-BE49-F238E27FC236}">
                      <a16:creationId xmlns:a16="http://schemas.microsoft.com/office/drawing/2014/main" xmlns="" id="{808A4997-E35D-453B-8722-DFE659EF8EA2}"/>
                    </a:ext>
                  </a:extLst>
                </p:cNvPr>
                <p:cNvSpPr>
                  <a:spLocks/>
                </p:cNvSpPr>
                <p:nvPr/>
              </p:nvSpPr>
              <p:spPr bwMode="auto">
                <a:xfrm>
                  <a:off x="4397375" y="1558925"/>
                  <a:ext cx="107950" cy="79375"/>
                </a:xfrm>
                <a:custGeom>
                  <a:avLst/>
                  <a:gdLst/>
                  <a:ahLst/>
                  <a:cxnLst>
                    <a:cxn ang="0">
                      <a:pos x="66" y="6"/>
                    </a:cxn>
                    <a:cxn ang="0">
                      <a:pos x="66" y="6"/>
                    </a:cxn>
                    <a:cxn ang="0">
                      <a:pos x="64" y="4"/>
                    </a:cxn>
                    <a:cxn ang="0">
                      <a:pos x="60" y="0"/>
                    </a:cxn>
                    <a:cxn ang="0">
                      <a:pos x="56" y="0"/>
                    </a:cxn>
                    <a:cxn ang="0">
                      <a:pos x="50" y="2"/>
                    </a:cxn>
                    <a:cxn ang="0">
                      <a:pos x="28" y="14"/>
                    </a:cxn>
                    <a:cxn ang="0">
                      <a:pos x="6" y="28"/>
                    </a:cxn>
                    <a:cxn ang="0">
                      <a:pos x="6" y="28"/>
                    </a:cxn>
                    <a:cxn ang="0">
                      <a:pos x="2" y="30"/>
                    </a:cxn>
                    <a:cxn ang="0">
                      <a:pos x="0" y="36"/>
                    </a:cxn>
                    <a:cxn ang="0">
                      <a:pos x="0" y="40"/>
                    </a:cxn>
                    <a:cxn ang="0">
                      <a:pos x="2" y="44"/>
                    </a:cxn>
                    <a:cxn ang="0">
                      <a:pos x="2" y="44"/>
                    </a:cxn>
                    <a:cxn ang="0">
                      <a:pos x="4" y="48"/>
                    </a:cxn>
                    <a:cxn ang="0">
                      <a:pos x="10" y="50"/>
                    </a:cxn>
                    <a:cxn ang="0">
                      <a:pos x="14" y="50"/>
                    </a:cxn>
                    <a:cxn ang="0">
                      <a:pos x="18" y="50"/>
                    </a:cxn>
                    <a:cxn ang="0">
                      <a:pos x="40" y="36"/>
                    </a:cxn>
                    <a:cxn ang="0">
                      <a:pos x="64" y="24"/>
                    </a:cxn>
                    <a:cxn ang="0">
                      <a:pos x="64" y="24"/>
                    </a:cxn>
                    <a:cxn ang="0">
                      <a:pos x="66" y="20"/>
                    </a:cxn>
                    <a:cxn ang="0">
                      <a:pos x="68" y="16"/>
                    </a:cxn>
                    <a:cxn ang="0">
                      <a:pos x="68" y="12"/>
                    </a:cxn>
                    <a:cxn ang="0">
                      <a:pos x="66" y="6"/>
                    </a:cxn>
                    <a:cxn ang="0">
                      <a:pos x="66" y="6"/>
                    </a:cxn>
                  </a:cxnLst>
                  <a:rect l="0" t="0" r="r" b="b"/>
                  <a:pathLst>
                    <a:path w="68" h="50">
                      <a:moveTo>
                        <a:pt x="66" y="6"/>
                      </a:moveTo>
                      <a:lnTo>
                        <a:pt x="66" y="6"/>
                      </a:lnTo>
                      <a:lnTo>
                        <a:pt x="64" y="4"/>
                      </a:lnTo>
                      <a:lnTo>
                        <a:pt x="60" y="0"/>
                      </a:lnTo>
                      <a:lnTo>
                        <a:pt x="56" y="0"/>
                      </a:lnTo>
                      <a:lnTo>
                        <a:pt x="50" y="2"/>
                      </a:lnTo>
                      <a:lnTo>
                        <a:pt x="28" y="14"/>
                      </a:lnTo>
                      <a:lnTo>
                        <a:pt x="6" y="28"/>
                      </a:lnTo>
                      <a:lnTo>
                        <a:pt x="6" y="28"/>
                      </a:lnTo>
                      <a:lnTo>
                        <a:pt x="2" y="30"/>
                      </a:lnTo>
                      <a:lnTo>
                        <a:pt x="0" y="36"/>
                      </a:lnTo>
                      <a:lnTo>
                        <a:pt x="0" y="40"/>
                      </a:lnTo>
                      <a:lnTo>
                        <a:pt x="2" y="44"/>
                      </a:lnTo>
                      <a:lnTo>
                        <a:pt x="2" y="44"/>
                      </a:lnTo>
                      <a:lnTo>
                        <a:pt x="4" y="48"/>
                      </a:lnTo>
                      <a:lnTo>
                        <a:pt x="10" y="50"/>
                      </a:lnTo>
                      <a:lnTo>
                        <a:pt x="14" y="50"/>
                      </a:lnTo>
                      <a:lnTo>
                        <a:pt x="18" y="50"/>
                      </a:lnTo>
                      <a:lnTo>
                        <a:pt x="40" y="36"/>
                      </a:lnTo>
                      <a:lnTo>
                        <a:pt x="64" y="24"/>
                      </a:lnTo>
                      <a:lnTo>
                        <a:pt x="64" y="24"/>
                      </a:lnTo>
                      <a:lnTo>
                        <a:pt x="66" y="20"/>
                      </a:lnTo>
                      <a:lnTo>
                        <a:pt x="68" y="16"/>
                      </a:lnTo>
                      <a:lnTo>
                        <a:pt x="68" y="12"/>
                      </a:lnTo>
                      <a:lnTo>
                        <a:pt x="66" y="6"/>
                      </a:lnTo>
                      <a:lnTo>
                        <a:pt x="66"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u="sng"/>
                </a:p>
              </p:txBody>
            </p:sp>
          </p:grpSp>
        </p:grpSp>
      </p:grpSp>
      <p:sp>
        <p:nvSpPr>
          <p:cNvPr id="45085" name="Rectangle 29"/>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5087" name="Rectangle 31"/>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3" name="组合 112"/>
          <p:cNvGrpSpPr/>
          <p:nvPr/>
        </p:nvGrpSpPr>
        <p:grpSpPr>
          <a:xfrm>
            <a:off x="768024" y="3412034"/>
            <a:ext cx="5459240" cy="1165306"/>
            <a:chOff x="768024" y="3791149"/>
            <a:chExt cx="5459240" cy="1294784"/>
          </a:xfrm>
        </p:grpSpPr>
        <p:sp>
          <p:nvSpPr>
            <p:cNvPr id="91" name="剪去对角的矩形 90"/>
            <p:cNvSpPr/>
            <p:nvPr/>
          </p:nvSpPr>
          <p:spPr>
            <a:xfrm>
              <a:off x="768024" y="3791149"/>
              <a:ext cx="5459240" cy="1294784"/>
            </a:xfrm>
            <a:prstGeom prst="snip2DiagRect">
              <a:avLst>
                <a:gd name="adj1" fmla="val 7966"/>
                <a:gd name="adj2" fmla="val 1330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2" name="Object 15"/>
            <p:cNvGraphicFramePr>
              <a:graphicFrameLocks noChangeAspect="1"/>
            </p:cNvGraphicFramePr>
            <p:nvPr/>
          </p:nvGraphicFramePr>
          <p:xfrm>
            <a:off x="848754" y="3882284"/>
            <a:ext cx="4581397" cy="287258"/>
          </p:xfrm>
          <a:graphic>
            <a:graphicData uri="http://schemas.openxmlformats.org/presentationml/2006/ole">
              <mc:AlternateContent xmlns:mc="http://schemas.openxmlformats.org/markup-compatibility/2006">
                <mc:Choice xmlns:v="urn:schemas-microsoft-com:vml" Requires="v">
                  <p:oleObj spid="_x0000_s25633" name="Equation" r:id="rId7" imgW="3352680" imgH="215640" progId="Equation.DSMT4">
                    <p:embed/>
                  </p:oleObj>
                </mc:Choice>
                <mc:Fallback>
                  <p:oleObj name="Equation" r:id="rId7" imgW="3352680" imgH="215640" progId="Equation.DSMT4">
                    <p:embed/>
                    <p:pic>
                      <p:nvPicPr>
                        <p:cNvPr id="92"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754" y="3882284"/>
                          <a:ext cx="4581397" cy="287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 name="Object 14"/>
            <p:cNvGraphicFramePr>
              <a:graphicFrameLocks noChangeAspect="1"/>
            </p:cNvGraphicFramePr>
            <p:nvPr/>
          </p:nvGraphicFramePr>
          <p:xfrm>
            <a:off x="848754" y="4166103"/>
            <a:ext cx="5292725" cy="280988"/>
          </p:xfrm>
          <a:graphic>
            <a:graphicData uri="http://schemas.openxmlformats.org/presentationml/2006/ole">
              <mc:AlternateContent xmlns:mc="http://schemas.openxmlformats.org/markup-compatibility/2006">
                <mc:Choice xmlns:v="urn:schemas-microsoft-com:vml" Requires="v">
                  <p:oleObj spid="_x0000_s25634" name="Equation" r:id="rId9" imgW="3860640" imgH="215640" progId="Equation.DSMT4">
                    <p:embed/>
                  </p:oleObj>
                </mc:Choice>
                <mc:Fallback>
                  <p:oleObj name="Equation" r:id="rId9" imgW="3860640" imgH="215640" progId="Equation.DSMT4">
                    <p:embed/>
                    <p:pic>
                      <p:nvPicPr>
                        <p:cNvPr id="93"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8754" y="4166103"/>
                          <a:ext cx="5292725" cy="280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84" name="Object 28"/>
            <p:cNvGraphicFramePr>
              <a:graphicFrameLocks noChangeAspect="1"/>
            </p:cNvGraphicFramePr>
            <p:nvPr/>
          </p:nvGraphicFramePr>
          <p:xfrm>
            <a:off x="848754" y="4443652"/>
            <a:ext cx="3572012" cy="287036"/>
          </p:xfrm>
          <a:graphic>
            <a:graphicData uri="http://schemas.openxmlformats.org/presentationml/2006/ole">
              <mc:AlternateContent xmlns:mc="http://schemas.openxmlformats.org/markup-compatibility/2006">
                <mc:Choice xmlns:v="urn:schemas-microsoft-com:vml" Requires="v">
                  <p:oleObj spid="_x0000_s25635" name="Equation" r:id="rId11" imgW="2666880" imgH="215640" progId="Equation.DSMT4">
                    <p:embed/>
                  </p:oleObj>
                </mc:Choice>
                <mc:Fallback>
                  <p:oleObj name="Equation" r:id="rId11" imgW="2666880" imgH="215640" progId="Equation.DSMT4">
                    <p:embed/>
                    <p:pic>
                      <p:nvPicPr>
                        <p:cNvPr id="45084"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8754" y="4443652"/>
                          <a:ext cx="3572012" cy="2870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86" name="Object 30"/>
            <p:cNvGraphicFramePr>
              <a:graphicFrameLocks noChangeAspect="1"/>
            </p:cNvGraphicFramePr>
            <p:nvPr/>
          </p:nvGraphicFramePr>
          <p:xfrm>
            <a:off x="815975" y="4727575"/>
            <a:ext cx="4957763" cy="282575"/>
          </p:xfrm>
          <a:graphic>
            <a:graphicData uri="http://schemas.openxmlformats.org/presentationml/2006/ole">
              <mc:AlternateContent xmlns:mc="http://schemas.openxmlformats.org/markup-compatibility/2006">
                <mc:Choice xmlns:v="urn:schemas-microsoft-com:vml" Requires="v">
                  <p:oleObj spid="_x0000_s25636" name="Equation" r:id="rId13" imgW="3720960" imgH="215640" progId="Equation.DSMT4">
                    <p:embed/>
                  </p:oleObj>
                </mc:Choice>
                <mc:Fallback>
                  <p:oleObj name="Equation" r:id="rId13" imgW="3720960" imgH="215640" progId="Equation.DSMT4">
                    <p:embed/>
                    <p:pic>
                      <p:nvPicPr>
                        <p:cNvPr id="45086"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5975" y="4727575"/>
                          <a:ext cx="4957763" cy="282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3" name="圆角矩形 86">
            <a:extLst>
              <a:ext uri="{FF2B5EF4-FFF2-40B4-BE49-F238E27FC236}">
                <a16:creationId xmlns:a16="http://schemas.microsoft.com/office/drawing/2014/main" xmlns="" id="{92FE8392-31BB-41D3-9B91-7F92EC61F316}"/>
              </a:ext>
            </a:extLst>
          </p:cNvPr>
          <p:cNvSpPr/>
          <p:nvPr/>
        </p:nvSpPr>
        <p:spPr>
          <a:xfrm>
            <a:off x="784059" y="2174729"/>
            <a:ext cx="4813300" cy="279073"/>
          </a:xfrm>
          <a:prstGeom prst="roundRect">
            <a:avLst>
              <a:gd name="adj" fmla="val 6817"/>
            </a:avLst>
          </a:prstGeom>
          <a:solidFill>
            <a:srgbClr val="FF66FF">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xmlns="" id="{E7CF642A-F604-4921-B3B3-C3B7C46E5A7A}"/>
              </a:ext>
            </a:extLst>
          </p:cNvPr>
          <p:cNvSpPr/>
          <p:nvPr/>
        </p:nvSpPr>
        <p:spPr>
          <a:xfrm>
            <a:off x="1563485" y="2177418"/>
            <a:ext cx="1206070" cy="1142155"/>
          </a:xfrm>
          <a:prstGeom prst="roundRect">
            <a:avLst>
              <a:gd name="adj" fmla="val 1396"/>
            </a:avLst>
          </a:prstGeom>
          <a:solidFill>
            <a:srgbClr val="FF66FF">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标注 59">
            <a:extLst>
              <a:ext uri="{FF2B5EF4-FFF2-40B4-BE49-F238E27FC236}">
                <a16:creationId xmlns:a16="http://schemas.microsoft.com/office/drawing/2014/main" xmlns="" id="{AC3D05C5-D4BC-4DDB-B901-AF2B9E307650}"/>
              </a:ext>
            </a:extLst>
          </p:cNvPr>
          <p:cNvSpPr/>
          <p:nvPr/>
        </p:nvSpPr>
        <p:spPr>
          <a:xfrm>
            <a:off x="6099023" y="995966"/>
            <a:ext cx="2829802" cy="1071391"/>
          </a:xfrm>
          <a:prstGeom prst="wedgeRoundRectCallout">
            <a:avLst>
              <a:gd name="adj1" fmla="val 28654"/>
              <a:gd name="adj2" fmla="val 102462"/>
              <a:gd name="adj3" fmla="val 16667"/>
            </a:avLst>
          </a:prstGeom>
          <a:solidFill>
            <a:srgbClr val="FFFF00"/>
          </a:solidFill>
          <a:ln>
            <a:solidFill>
              <a:srgbClr val="262626"/>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u"/>
            </a:pP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整数部分由低位向高位，分别为</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0</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1</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2</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3</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p>
          <a:p>
            <a:pPr marL="285750" indent="-285750">
              <a:buFont typeface="Wingdings" panose="05000000000000000000" pitchFamily="2" charset="2"/>
              <a:buChar char="u"/>
            </a:pP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小数部分由高位到低位分别为</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i="1"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1</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i="1"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2</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i="1" dirty="0">
                <a:solidFill>
                  <a:srgbClr val="0070C0"/>
                </a:solidFill>
                <a:latin typeface="Times New Roman" panose="02020603050405020304" pitchFamily="18" charset="0"/>
                <a:ea typeface="方正粗黑宋简体" pitchFamily="2" charset="-122"/>
                <a:cs typeface="Times New Roman" panose="02020603050405020304" pitchFamily="18" charset="0"/>
              </a:rPr>
              <a:t>N</a:t>
            </a:r>
            <a:r>
              <a:rPr lang="en-US" altLang="zh-CN" sz="1400" i="1"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baseline="30000" dirty="0">
                <a:solidFill>
                  <a:srgbClr val="0070C0"/>
                </a:solidFill>
                <a:latin typeface="Times New Roman" panose="02020603050405020304" pitchFamily="18" charset="0"/>
                <a:ea typeface="方正粗黑宋简体" pitchFamily="2" charset="-122"/>
                <a:cs typeface="Times New Roman" panose="02020603050405020304" pitchFamily="18" charset="0"/>
              </a:rPr>
              <a:t>3 </a:t>
            </a:r>
            <a:r>
              <a:rPr lang="zh-CN"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r>
              <a:rPr lang="en-US" altLang="zh-CN" sz="1400" dirty="0">
                <a:solidFill>
                  <a:srgbClr val="0070C0"/>
                </a:solidFill>
                <a:latin typeface="Times New Roman" panose="02020603050405020304" pitchFamily="18" charset="0"/>
                <a:ea typeface="方正粗黑宋简体" pitchFamily="2" charset="-122"/>
                <a:cs typeface="Times New Roman" panose="02020603050405020304" pitchFamily="18" charset="0"/>
              </a:rPr>
              <a:t>…</a:t>
            </a:r>
            <a:endParaRPr lang="zh-CN" altLang="en-US" sz="1400" dirty="0">
              <a:solidFill>
                <a:srgbClr val="0070C0"/>
              </a:solidFill>
              <a:latin typeface="Times New Roman" panose="02020603050405020304" pitchFamily="18" charset="0"/>
              <a:ea typeface="方正粗黑宋简体"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slide(fromBottom)">
                                      <p:cBhvr>
                                        <p:cTn id="16" dur="1000"/>
                                        <p:tgtEl>
                                          <p:spTgt spid="57"/>
                                        </p:tgtEl>
                                      </p:cBhvr>
                                    </p:animEffect>
                                  </p:childTnLst>
                                </p:cTn>
                              </p:par>
                            </p:childTnLst>
                          </p:cTn>
                        </p:par>
                        <p:par>
                          <p:cTn id="17" fill="hold">
                            <p:stCondLst>
                              <p:cond delay="1000"/>
                            </p:stCondLst>
                            <p:childTnLst>
                              <p:par>
                                <p:cTn id="18" presetID="12" presetClass="entr" presetSubtype="4" fill="hold" nodeType="after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slide(fromBottom)">
                                      <p:cBhvr>
                                        <p:cTn id="20" dur="10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37" fill="hold" grpId="0" nodeType="clickEffect">
                                  <p:stCondLst>
                                    <p:cond delay="250"/>
                                  </p:stCondLst>
                                  <p:childTnLst>
                                    <p:set>
                                      <p:cBhvr>
                                        <p:cTn id="24" dur="1" fill="hold">
                                          <p:stCondLst>
                                            <p:cond delay="0"/>
                                          </p:stCondLst>
                                        </p:cTn>
                                        <p:tgtEl>
                                          <p:spTgt spid="63"/>
                                        </p:tgtEl>
                                        <p:attrNameLst>
                                          <p:attrName>style.visibility</p:attrName>
                                        </p:attrNameLst>
                                      </p:cBhvr>
                                      <p:to>
                                        <p:strVal val="visible"/>
                                      </p:to>
                                    </p:set>
                                    <p:animEffect transition="in" filter="barn(outVertical)">
                                      <p:cBhvr>
                                        <p:cTn id="25" dur="1000"/>
                                        <p:tgtEl>
                                          <p:spTgt spid="63"/>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grpId="1" nodeType="clickEffect">
                                  <p:stCondLst>
                                    <p:cond delay="0"/>
                                  </p:stCondLst>
                                  <p:childTnLst>
                                    <p:animMotion origin="layout" path="M 1.66667E-6 0 L 1.66667E-6 0.0571 " pathEditMode="relative" rAng="0" ptsTypes="AA">
                                      <p:cBhvr>
                                        <p:cTn id="29" dur="2000" fill="hold"/>
                                        <p:tgtEl>
                                          <p:spTgt spid="63"/>
                                        </p:tgtEl>
                                        <p:attrNameLst>
                                          <p:attrName>ppt_x</p:attrName>
                                          <p:attrName>ppt_y</p:attrName>
                                        </p:attrNameLst>
                                      </p:cBhvr>
                                      <p:rCtr x="0" y="2840"/>
                                    </p:animMotion>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grpId="3" nodeType="clickEffect">
                                  <p:stCondLst>
                                    <p:cond delay="0"/>
                                  </p:stCondLst>
                                  <p:childTnLst>
                                    <p:animMotion origin="layout" path="M 1.66667E-6 0.0571 L 1.66667E-6 0.11389 " pathEditMode="relative" rAng="0" ptsTypes="AA">
                                      <p:cBhvr>
                                        <p:cTn id="33" dur="2000" fill="hold"/>
                                        <p:tgtEl>
                                          <p:spTgt spid="63"/>
                                        </p:tgtEl>
                                        <p:attrNameLst>
                                          <p:attrName>ppt_x</p:attrName>
                                          <p:attrName>ppt_y</p:attrName>
                                        </p:attrNameLst>
                                      </p:cBhvr>
                                      <p:rCtr x="0" y="2840"/>
                                    </p:animMotion>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4" nodeType="clickEffect">
                                  <p:stCondLst>
                                    <p:cond delay="0"/>
                                  </p:stCondLst>
                                  <p:childTnLst>
                                    <p:animMotion origin="layout" path="M 1.66667E-6 0.11389 L 1.66667E-6 0.1716 " pathEditMode="relative" rAng="0" ptsTypes="AA">
                                      <p:cBhvr>
                                        <p:cTn id="37" dur="2000" fill="hold"/>
                                        <p:tgtEl>
                                          <p:spTgt spid="63"/>
                                        </p:tgtEl>
                                        <p:attrNameLst>
                                          <p:attrName>ppt_x</p:attrName>
                                          <p:attrName>ppt_y</p:attrName>
                                        </p:attrNameLst>
                                      </p:cBhvr>
                                      <p:rCtr x="0" y="2870"/>
                                    </p:animMotion>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2" nodeType="clickEffect">
                                  <p:stCondLst>
                                    <p:cond delay="0"/>
                                  </p:stCondLst>
                                  <p:childTnLst>
                                    <p:animEffect transition="out" filter="fade">
                                      <p:cBhvr>
                                        <p:cTn id="41" dur="1000"/>
                                        <p:tgtEl>
                                          <p:spTgt spid="63"/>
                                        </p:tgtEl>
                                      </p:cBhvr>
                                    </p:animEffect>
                                    <p:set>
                                      <p:cBhvr>
                                        <p:cTn id="42" dur="1" fill="hold">
                                          <p:stCondLst>
                                            <p:cond delay="999"/>
                                          </p:stCondLst>
                                        </p:cTn>
                                        <p:tgtEl>
                                          <p:spTgt spid="63"/>
                                        </p:tgtEl>
                                        <p:attrNameLst>
                                          <p:attrName>style.visibility</p:attrName>
                                        </p:attrNameLst>
                                      </p:cBhvr>
                                      <p:to>
                                        <p:strVal val="hidden"/>
                                      </p:to>
                                    </p:se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10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1" nodeType="clickEffect">
                                  <p:stCondLst>
                                    <p:cond delay="0"/>
                                  </p:stCondLst>
                                  <p:childTnLst>
                                    <p:animEffect transition="out" filter="wipe(left)">
                                      <p:cBhvr>
                                        <p:cTn id="50" dur="1000"/>
                                        <p:tgtEl>
                                          <p:spTgt spid="5"/>
                                        </p:tgtEl>
                                      </p:cBhvr>
                                    </p:animEffect>
                                    <p:set>
                                      <p:cBhvr>
                                        <p:cTn id="51" dur="1" fill="hold">
                                          <p:stCondLst>
                                            <p:cond delay="999"/>
                                          </p:stCondLst>
                                        </p:cTn>
                                        <p:tgtEl>
                                          <p:spTgt spid="5"/>
                                        </p:tgtEl>
                                        <p:attrNameLst>
                                          <p:attrName>style.visibility</p:attrName>
                                        </p:attrNameLst>
                                      </p:cBhvr>
                                      <p:to>
                                        <p:strVal val="hidden"/>
                                      </p:to>
                                    </p:set>
                                  </p:childTnLst>
                                </p:cTn>
                              </p:par>
                              <p:par>
                                <p:cTn id="52" presetID="12" presetClass="entr" presetSubtype="4" fill="hold" nodeType="with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slide(fromBottom)">
                                      <p:cBhvr>
                                        <p:cTn id="54" dur="1000"/>
                                        <p:tgtEl>
                                          <p:spTgt spid="60"/>
                                        </p:tgtEl>
                                      </p:cBhvr>
                                    </p:animEffect>
                                  </p:childTnLst>
                                </p:cTn>
                              </p:par>
                            </p:childTnLst>
                          </p:cTn>
                        </p:par>
                        <p:par>
                          <p:cTn id="55" fill="hold">
                            <p:stCondLst>
                              <p:cond delay="1000"/>
                            </p:stCondLst>
                            <p:childTnLst>
                              <p:par>
                                <p:cTn id="56" presetID="22" presetClass="entr" presetSubtype="1" fill="hold" nodeType="afterEffect">
                                  <p:stCondLst>
                                    <p:cond delay="0"/>
                                  </p:stCondLst>
                                  <p:childTnLst>
                                    <p:set>
                                      <p:cBhvr>
                                        <p:cTn id="57" dur="1" fill="hold">
                                          <p:stCondLst>
                                            <p:cond delay="0"/>
                                          </p:stCondLst>
                                        </p:cTn>
                                        <p:tgtEl>
                                          <p:spTgt spid="75"/>
                                        </p:tgtEl>
                                        <p:attrNameLst>
                                          <p:attrName>style.visibility</p:attrName>
                                        </p:attrNameLst>
                                      </p:cBhvr>
                                      <p:to>
                                        <p:strVal val="visible"/>
                                      </p:to>
                                    </p:set>
                                    <p:animEffect transition="in" filter="wipe(up)">
                                      <p:cBhvr>
                                        <p:cTn id="58" dur="1000"/>
                                        <p:tgtEl>
                                          <p:spTgt spid="75"/>
                                        </p:tgtEl>
                                      </p:cBhvr>
                                    </p:animEffect>
                                  </p:childTnLst>
                                </p:cTn>
                              </p:par>
                            </p:childTnLst>
                          </p:cTn>
                        </p:par>
                        <p:par>
                          <p:cTn id="59" fill="hold">
                            <p:stCondLst>
                              <p:cond delay="2000"/>
                            </p:stCondLst>
                            <p:childTnLst>
                              <p:par>
                                <p:cTn id="60" presetID="22" presetClass="entr" presetSubtype="1" fill="hold" nodeType="afterEffect">
                                  <p:stCondLst>
                                    <p:cond delay="0"/>
                                  </p:stCondLst>
                                  <p:childTnLst>
                                    <p:set>
                                      <p:cBhvr>
                                        <p:cTn id="61" dur="1" fill="hold">
                                          <p:stCondLst>
                                            <p:cond delay="0"/>
                                          </p:stCondLst>
                                        </p:cTn>
                                        <p:tgtEl>
                                          <p:spTgt spid="78"/>
                                        </p:tgtEl>
                                        <p:attrNameLst>
                                          <p:attrName>style.visibility</p:attrName>
                                        </p:attrNameLst>
                                      </p:cBhvr>
                                      <p:to>
                                        <p:strVal val="visible"/>
                                      </p:to>
                                    </p:set>
                                    <p:animEffect transition="in" filter="wipe(up)">
                                      <p:cBhvr>
                                        <p:cTn id="62" dur="1000"/>
                                        <p:tgtEl>
                                          <p:spTgt spid="7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wipe(up)">
                                      <p:cBhvr>
                                        <p:cTn id="67" dur="1000"/>
                                        <p:tgtEl>
                                          <p:spTgt spid="66"/>
                                        </p:tgtEl>
                                      </p:cBhvr>
                                    </p:animEffect>
                                  </p:childTnLst>
                                </p:cTn>
                              </p:par>
                            </p:childTnLst>
                          </p:cTn>
                        </p:par>
                      </p:childTnLst>
                    </p:cTn>
                  </p:par>
                  <p:par>
                    <p:cTn id="68" fill="hold">
                      <p:stCondLst>
                        <p:cond delay="indefinite"/>
                      </p:stCondLst>
                      <p:childTnLst>
                        <p:par>
                          <p:cTn id="69" fill="hold">
                            <p:stCondLst>
                              <p:cond delay="0"/>
                            </p:stCondLst>
                            <p:childTnLst>
                              <p:par>
                                <p:cTn id="70" presetID="17" presetClass="entr" presetSubtype="10" fill="hold" nodeType="clickEffect">
                                  <p:stCondLst>
                                    <p:cond delay="0"/>
                                  </p:stCondLst>
                                  <p:childTnLst>
                                    <p:set>
                                      <p:cBhvr>
                                        <p:cTn id="71" dur="1" fill="hold">
                                          <p:stCondLst>
                                            <p:cond delay="0"/>
                                          </p:stCondLst>
                                        </p:cTn>
                                        <p:tgtEl>
                                          <p:spTgt spid="113"/>
                                        </p:tgtEl>
                                        <p:attrNameLst>
                                          <p:attrName>style.visibility</p:attrName>
                                        </p:attrNameLst>
                                      </p:cBhvr>
                                      <p:to>
                                        <p:strVal val="visible"/>
                                      </p:to>
                                    </p:set>
                                    <p:anim calcmode="lin" valueType="num">
                                      <p:cBhvr>
                                        <p:cTn id="72" dur="1000" fill="hold"/>
                                        <p:tgtEl>
                                          <p:spTgt spid="113"/>
                                        </p:tgtEl>
                                        <p:attrNameLst>
                                          <p:attrName>ppt_w</p:attrName>
                                        </p:attrNameLst>
                                      </p:cBhvr>
                                      <p:tavLst>
                                        <p:tav tm="0">
                                          <p:val>
                                            <p:fltVal val="0"/>
                                          </p:val>
                                        </p:tav>
                                        <p:tav tm="100000">
                                          <p:val>
                                            <p:strVal val="#ppt_w"/>
                                          </p:val>
                                        </p:tav>
                                      </p:tavLst>
                                    </p:anim>
                                    <p:anim calcmode="lin" valueType="num">
                                      <p:cBhvr>
                                        <p:cTn id="73" dur="1000" fill="hold"/>
                                        <p:tgtEl>
                                          <p:spTgt spid="113"/>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10" fill="hold" nodeType="clickEffect">
                                  <p:stCondLst>
                                    <p:cond delay="0"/>
                                  </p:stCondLst>
                                  <p:childTnLst>
                                    <p:set>
                                      <p:cBhvr>
                                        <p:cTn id="77" dur="1" fill="hold">
                                          <p:stCondLst>
                                            <p:cond delay="0"/>
                                          </p:stCondLst>
                                        </p:cTn>
                                        <p:tgtEl>
                                          <p:spTgt spid="94"/>
                                        </p:tgtEl>
                                        <p:attrNameLst>
                                          <p:attrName>style.visibility</p:attrName>
                                        </p:attrNameLst>
                                      </p:cBhvr>
                                      <p:to>
                                        <p:strVal val="visible"/>
                                      </p:to>
                                    </p:set>
                                    <p:anim calcmode="lin" valueType="num">
                                      <p:cBhvr>
                                        <p:cTn id="78" dur="1000" fill="hold"/>
                                        <p:tgtEl>
                                          <p:spTgt spid="94"/>
                                        </p:tgtEl>
                                        <p:attrNameLst>
                                          <p:attrName>ppt_w</p:attrName>
                                        </p:attrNameLst>
                                      </p:cBhvr>
                                      <p:tavLst>
                                        <p:tav tm="0">
                                          <p:val>
                                            <p:fltVal val="0"/>
                                          </p:val>
                                        </p:tav>
                                        <p:tav tm="100000">
                                          <p:val>
                                            <p:strVal val="#ppt_w"/>
                                          </p:val>
                                        </p:tav>
                                      </p:tavLst>
                                    </p:anim>
                                    <p:anim calcmode="lin" valueType="num">
                                      <p:cBhvr>
                                        <p:cTn id="79" dur="1000" fill="hold"/>
                                        <p:tgtEl>
                                          <p:spTgt spid="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3" grpId="0" animBg="1"/>
      <p:bldP spid="63" grpId="1" animBg="1"/>
      <p:bldP spid="63" grpId="2" animBg="1"/>
      <p:bldP spid="63" grpId="3" animBg="1"/>
      <p:bldP spid="63" grpId="4" animBg="1"/>
      <p:bldP spid="5" grpId="0" animBg="1"/>
      <p:bldP spid="5" grpId="1" animBg="1"/>
      <p:bldP spid="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1477478" cy="418885"/>
            <a:chOff x="670560" y="892917"/>
            <a:chExt cx="1477478" cy="465428"/>
          </a:xfrm>
        </p:grpSpPr>
        <p:sp>
          <p:nvSpPr>
            <p:cNvPr id="27" name="矩形 26"/>
            <p:cNvSpPr/>
            <p:nvPr/>
          </p:nvSpPr>
          <p:spPr>
            <a:xfrm>
              <a:off x="1035233" y="913778"/>
              <a:ext cx="1112805"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、数制</a:t>
              </a:r>
            </a:p>
          </p:txBody>
        </p:sp>
        <p:pic>
          <p:nvPicPr>
            <p:cNvPr id="28"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9" name="Rectangle 17"/>
          <p:cNvSpPr>
            <a:spLocks noChangeArrowheads="1"/>
          </p:cNvSpPr>
          <p:nvPr/>
        </p:nvSpPr>
        <p:spPr bwMode="auto">
          <a:xfrm>
            <a:off x="554038" y="1082992"/>
            <a:ext cx="2290762" cy="369332"/>
          </a:xfrm>
          <a:prstGeom prst="rect">
            <a:avLst/>
          </a:prstGeom>
          <a:noFill/>
          <a:ln w="9525" algn="ctr">
            <a:noFill/>
            <a:miter lim="800000"/>
            <a:headEnd/>
            <a:tailEnd/>
          </a:ln>
        </p:spPr>
        <p:txBody>
          <a:bodyPr wrap="square">
            <a:spAutoFit/>
          </a:bodyPr>
          <a:lstStyle/>
          <a:p>
            <a:pPr marL="457200" indent="-457200"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）常用的数制</a:t>
            </a:r>
            <a:endParaRPr lang="zh-CN" altLang="en-US" dirty="0">
              <a:solidFill>
                <a:srgbClr val="336699"/>
              </a:solidFill>
              <a:latin typeface="黑体" pitchFamily="49" charset="-122"/>
              <a:ea typeface="黑体" pitchFamily="49" charset="-122"/>
            </a:endParaRPr>
          </a:p>
        </p:txBody>
      </p:sp>
      <p:grpSp>
        <p:nvGrpSpPr>
          <p:cNvPr id="3" name="组合 29">
            <a:extLst>
              <a:ext uri="{FF2B5EF4-FFF2-40B4-BE49-F238E27FC236}">
                <a16:creationId xmlns:a16="http://schemas.microsoft.com/office/drawing/2014/main" xmlns="" id="{E010191F-7F37-4AFE-B961-7090CF5FA91D}"/>
              </a:ext>
            </a:extLst>
          </p:cNvPr>
          <p:cNvGrpSpPr/>
          <p:nvPr/>
        </p:nvGrpSpPr>
        <p:grpSpPr>
          <a:xfrm>
            <a:off x="766448" y="2060371"/>
            <a:ext cx="2314082" cy="361240"/>
            <a:chOff x="358461" y="2491451"/>
            <a:chExt cx="2314082" cy="401378"/>
          </a:xfrm>
        </p:grpSpPr>
        <p:sp>
          <p:nvSpPr>
            <p:cNvPr id="31" name="矩形 30">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071194"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二进制的优点</a:t>
              </a:r>
            </a:p>
          </p:txBody>
        </p:sp>
        <p:sp>
          <p:nvSpPr>
            <p:cNvPr id="32" name="矩形 31">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38"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grpSp>
        <p:nvGrpSpPr>
          <p:cNvPr id="4" name="组合 42">
            <a:extLst>
              <a:ext uri="{FF2B5EF4-FFF2-40B4-BE49-F238E27FC236}">
                <a16:creationId xmlns:a16="http://schemas.microsoft.com/office/drawing/2014/main" xmlns="" id="{025C2864-CB35-474C-BE9E-54BEA9537D5A}"/>
              </a:ext>
            </a:extLst>
          </p:cNvPr>
          <p:cNvGrpSpPr/>
          <p:nvPr/>
        </p:nvGrpSpPr>
        <p:grpSpPr>
          <a:xfrm>
            <a:off x="766448" y="3402489"/>
            <a:ext cx="2314082" cy="361240"/>
            <a:chOff x="358461" y="2491451"/>
            <a:chExt cx="2314082" cy="401378"/>
          </a:xfrm>
        </p:grpSpPr>
        <p:sp>
          <p:nvSpPr>
            <p:cNvPr id="44" name="矩形 43">
              <a:extLst>
                <a:ext uri="{FF2B5EF4-FFF2-40B4-BE49-F238E27FC236}">
                  <a16:creationId xmlns:a16="http://schemas.microsoft.com/office/drawing/2014/main" xmlns="" id="{26C18856-768E-4448-9F6F-7A38C96F7E8D}"/>
                </a:ext>
              </a:extLst>
            </p:cNvPr>
            <p:cNvSpPr>
              <a:spLocks noChangeArrowheads="1"/>
            </p:cNvSpPr>
            <p:nvPr/>
          </p:nvSpPr>
          <p:spPr bwMode="auto">
            <a:xfrm>
              <a:off x="601349" y="2491452"/>
              <a:ext cx="2071194"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二进制的缺点</a:t>
              </a:r>
            </a:p>
          </p:txBody>
        </p:sp>
        <p:sp>
          <p:nvSpPr>
            <p:cNvPr id="47" name="矩形 46">
              <a:extLst>
                <a:ext uri="{FF2B5EF4-FFF2-40B4-BE49-F238E27FC236}">
                  <a16:creationId xmlns:a16="http://schemas.microsoft.com/office/drawing/2014/main" xmlns="" id="{7A741B02-52C2-48B4-8E09-628C6C98B3E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50" name="Freeform 10">
              <a:extLst>
                <a:ext uri="{FF2B5EF4-FFF2-40B4-BE49-F238E27FC236}">
                  <a16:creationId xmlns:a16="http://schemas.microsoft.com/office/drawing/2014/main" xmlns="" id="{3FE21CC9-EB78-46C3-8F59-02DE79A14061}"/>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grpSp>
        <p:nvGrpSpPr>
          <p:cNvPr id="5" name="组合 50">
            <a:extLst>
              <a:ext uri="{FF2B5EF4-FFF2-40B4-BE49-F238E27FC236}">
                <a16:creationId xmlns:a16="http://schemas.microsoft.com/office/drawing/2014/main" xmlns="" id="{713552CA-9BFF-4500-812A-E730AAAA39AE}"/>
              </a:ext>
            </a:extLst>
          </p:cNvPr>
          <p:cNvGrpSpPr/>
          <p:nvPr/>
        </p:nvGrpSpPr>
        <p:grpSpPr>
          <a:xfrm>
            <a:off x="1155012" y="3795267"/>
            <a:ext cx="5150538" cy="461665"/>
            <a:chOff x="682049" y="4299106"/>
            <a:chExt cx="7594201" cy="512960"/>
          </a:xfrm>
        </p:grpSpPr>
        <p:sp>
          <p:nvSpPr>
            <p:cNvPr id="52" name="矩形 51">
              <a:extLst>
                <a:ext uri="{FF2B5EF4-FFF2-40B4-BE49-F238E27FC236}">
                  <a16:creationId xmlns:a16="http://schemas.microsoft.com/office/drawing/2014/main" xmlns="" id="{5B464C15-204A-41F8-975D-4D8AA4353F19}"/>
                </a:ext>
              </a:extLst>
            </p:cNvPr>
            <p:cNvSpPr/>
            <p:nvPr/>
          </p:nvSpPr>
          <p:spPr>
            <a:xfrm>
              <a:off x="1175336" y="4299106"/>
              <a:ext cx="7100914" cy="512960"/>
            </a:xfrm>
            <a:prstGeom prst="rect">
              <a:avLst/>
            </a:prstGeom>
          </p:spPr>
          <p:txBody>
            <a:bodyPr wrap="square">
              <a:spAutoFit/>
            </a:bodyPr>
            <a:lstStyle/>
            <a:p>
              <a:pPr>
                <a:lnSpc>
                  <a:spcPct val="150000"/>
                </a:lnSpc>
                <a:defRPr/>
              </a:pPr>
              <a:r>
                <a:rPr lang="zh-CN" altLang="en-US" sz="1600" dirty="0">
                  <a:solidFill>
                    <a:srgbClr val="336699"/>
                  </a:solidFill>
                  <a:latin typeface="黑体" panose="02010609060101010101" pitchFamily="49" charset="-122"/>
                  <a:ea typeface="黑体" panose="02010609060101010101" pitchFamily="49" charset="-122"/>
                </a:rPr>
                <a:t>当表示同样数值时，二进制需要的位数更多。</a:t>
              </a:r>
            </a:p>
          </p:txBody>
        </p:sp>
        <p:pic>
          <p:nvPicPr>
            <p:cNvPr id="53" name="Picture 5">
              <a:extLst>
                <a:ext uri="{FF2B5EF4-FFF2-40B4-BE49-F238E27FC236}">
                  <a16:creationId xmlns:a16="http://schemas.microsoft.com/office/drawing/2014/main" xmlns="" id="{9564C16E-E622-4B74-BADC-883B469A6939}"/>
                </a:ext>
              </a:extLst>
            </p:cNvPr>
            <p:cNvPicPr>
              <a:picLocks noChangeAspect="1" noChangeArrowheads="1"/>
            </p:cNvPicPr>
            <p:nvPr/>
          </p:nvPicPr>
          <p:blipFill>
            <a:blip r:embed="rId4" cstate="print"/>
            <a:srcRect/>
            <a:stretch>
              <a:fillRect/>
            </a:stretch>
          </p:blipFill>
          <p:spPr bwMode="auto">
            <a:xfrm>
              <a:off x="682049" y="4363451"/>
              <a:ext cx="473774" cy="277564"/>
            </a:xfrm>
            <a:prstGeom prst="rect">
              <a:avLst/>
            </a:prstGeom>
            <a:noFill/>
            <a:ln w="9525">
              <a:noFill/>
              <a:miter lim="800000"/>
              <a:headEnd/>
              <a:tailEnd/>
            </a:ln>
          </p:spPr>
        </p:pic>
      </p:grpSp>
      <p:grpSp>
        <p:nvGrpSpPr>
          <p:cNvPr id="6" name="组合 53">
            <a:extLst>
              <a:ext uri="{FF2B5EF4-FFF2-40B4-BE49-F238E27FC236}">
                <a16:creationId xmlns:a16="http://schemas.microsoft.com/office/drawing/2014/main" xmlns="" id="{616233B7-0423-45C1-ADB2-20ADFAF2C228}"/>
              </a:ext>
            </a:extLst>
          </p:cNvPr>
          <p:cNvGrpSpPr/>
          <p:nvPr/>
        </p:nvGrpSpPr>
        <p:grpSpPr>
          <a:xfrm>
            <a:off x="1145886" y="2506799"/>
            <a:ext cx="7286914" cy="461665"/>
            <a:chOff x="682049" y="4299106"/>
            <a:chExt cx="10744177" cy="512960"/>
          </a:xfrm>
        </p:grpSpPr>
        <p:sp>
          <p:nvSpPr>
            <p:cNvPr id="55" name="矩形 54">
              <a:extLst>
                <a:ext uri="{FF2B5EF4-FFF2-40B4-BE49-F238E27FC236}">
                  <a16:creationId xmlns:a16="http://schemas.microsoft.com/office/drawing/2014/main" xmlns="" id="{1344D82B-D5A0-4135-8663-4FAABC4F114D}"/>
                </a:ext>
              </a:extLst>
            </p:cNvPr>
            <p:cNvSpPr/>
            <p:nvPr/>
          </p:nvSpPr>
          <p:spPr>
            <a:xfrm>
              <a:off x="1175336" y="4299106"/>
              <a:ext cx="10250890" cy="512960"/>
            </a:xfrm>
            <a:prstGeom prst="rect">
              <a:avLst/>
            </a:prstGeom>
          </p:spPr>
          <p:txBody>
            <a:bodyPr wrap="square">
              <a:spAutoFit/>
            </a:bodyPr>
            <a:lstStyle/>
            <a:p>
              <a:pPr>
                <a:lnSpc>
                  <a:spcPct val="150000"/>
                </a:lnSpc>
              </a:pPr>
              <a:r>
                <a:rPr lang="zh-CN" altLang="en-US" sz="1600" dirty="0">
                  <a:solidFill>
                    <a:srgbClr val="336699"/>
                  </a:solidFill>
                  <a:latin typeface="黑体" panose="02010609060101010101" pitchFamily="49" charset="-122"/>
                  <a:ea typeface="黑体" panose="02010609060101010101" pitchFamily="49" charset="-122"/>
                </a:rPr>
                <a:t>只有</a:t>
              </a:r>
              <a:r>
                <a:rPr lang="en-US" altLang="zh-CN" sz="1600" dirty="0">
                  <a:solidFill>
                    <a:srgbClr val="336699"/>
                  </a:solidFill>
                  <a:latin typeface="黑体" panose="02010609060101010101" pitchFamily="49" charset="-122"/>
                  <a:ea typeface="黑体" panose="02010609060101010101" pitchFamily="49" charset="-122"/>
                </a:rPr>
                <a:t>0</a:t>
              </a:r>
              <a:r>
                <a:rPr lang="zh-CN" altLang="en-US" sz="1600" dirty="0">
                  <a:solidFill>
                    <a:srgbClr val="336699"/>
                  </a:solidFill>
                  <a:latin typeface="黑体" panose="02010609060101010101" pitchFamily="49" charset="-122"/>
                  <a:ea typeface="黑体" panose="02010609060101010101" pitchFamily="49" charset="-122"/>
                </a:rPr>
                <a:t>和</a:t>
              </a:r>
              <a:r>
                <a:rPr lang="en-US" altLang="zh-CN" sz="1600" dirty="0">
                  <a:solidFill>
                    <a:srgbClr val="336699"/>
                  </a:solidFill>
                  <a:latin typeface="黑体" panose="02010609060101010101" pitchFamily="49" charset="-122"/>
                  <a:ea typeface="黑体" panose="02010609060101010101" pitchFamily="49" charset="-122"/>
                </a:rPr>
                <a:t>1</a:t>
              </a:r>
              <a:r>
                <a:rPr lang="zh-CN" altLang="en-US" sz="1600" dirty="0">
                  <a:solidFill>
                    <a:srgbClr val="336699"/>
                  </a:solidFill>
                  <a:latin typeface="黑体" panose="02010609060101010101" pitchFamily="49" charset="-122"/>
                  <a:ea typeface="黑体" panose="02010609060101010101" pitchFamily="49" charset="-122"/>
                </a:rPr>
                <a:t>两个数码，易于用电路来表达（高、低电平），电路简单可靠。</a:t>
              </a:r>
            </a:p>
          </p:txBody>
        </p:sp>
        <p:pic>
          <p:nvPicPr>
            <p:cNvPr id="56"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682049" y="4363451"/>
              <a:ext cx="473774" cy="277564"/>
            </a:xfrm>
            <a:prstGeom prst="rect">
              <a:avLst/>
            </a:prstGeom>
            <a:noFill/>
            <a:ln w="9525">
              <a:noFill/>
              <a:miter lim="800000"/>
              <a:headEnd/>
              <a:tailEnd/>
            </a:ln>
          </p:spPr>
        </p:pic>
      </p:grpSp>
      <p:grpSp>
        <p:nvGrpSpPr>
          <p:cNvPr id="7" name="组合 56">
            <a:extLst>
              <a:ext uri="{FF2B5EF4-FFF2-40B4-BE49-F238E27FC236}">
                <a16:creationId xmlns:a16="http://schemas.microsoft.com/office/drawing/2014/main" xmlns="" id="{1FE29BA1-989B-4157-AD45-49F07AA62A15}"/>
              </a:ext>
            </a:extLst>
          </p:cNvPr>
          <p:cNvGrpSpPr/>
          <p:nvPr/>
        </p:nvGrpSpPr>
        <p:grpSpPr>
          <a:xfrm>
            <a:off x="1148662" y="2853022"/>
            <a:ext cx="5620438" cy="461665"/>
            <a:chOff x="682049" y="4299106"/>
            <a:chExt cx="8287044" cy="512960"/>
          </a:xfrm>
        </p:grpSpPr>
        <p:sp>
          <p:nvSpPr>
            <p:cNvPr id="58" name="矩形 57">
              <a:extLst>
                <a:ext uri="{FF2B5EF4-FFF2-40B4-BE49-F238E27FC236}">
                  <a16:creationId xmlns:a16="http://schemas.microsoft.com/office/drawing/2014/main" xmlns="" id="{B07C858D-33A4-4FAE-950A-9C7E6CE18295}"/>
                </a:ext>
              </a:extLst>
            </p:cNvPr>
            <p:cNvSpPr/>
            <p:nvPr/>
          </p:nvSpPr>
          <p:spPr>
            <a:xfrm>
              <a:off x="1175336" y="4299106"/>
              <a:ext cx="7793757" cy="512960"/>
            </a:xfrm>
            <a:prstGeom prst="rect">
              <a:avLst/>
            </a:prstGeom>
          </p:spPr>
          <p:txBody>
            <a:bodyPr wrap="square">
              <a:spAutoFit/>
            </a:bodyPr>
            <a:lstStyle/>
            <a:p>
              <a:pPr>
                <a:lnSpc>
                  <a:spcPct val="150000"/>
                </a:lnSpc>
                <a:defRPr/>
              </a:pPr>
              <a:r>
                <a:rPr lang="zh-CN" altLang="en-US" sz="1600" dirty="0">
                  <a:solidFill>
                    <a:srgbClr val="336699"/>
                  </a:solidFill>
                  <a:latin typeface="黑体" panose="02010609060101010101" pitchFamily="49" charset="-122"/>
                  <a:ea typeface="黑体" panose="02010609060101010101" pitchFamily="49" charset="-122"/>
                </a:rPr>
                <a:t>运算规则简单，运算操作方便，运算电路容易实现。</a:t>
              </a:r>
            </a:p>
          </p:txBody>
        </p:sp>
        <p:pic>
          <p:nvPicPr>
            <p:cNvPr id="59" name="Picture 5">
              <a:extLst>
                <a:ext uri="{FF2B5EF4-FFF2-40B4-BE49-F238E27FC236}">
                  <a16:creationId xmlns:a16="http://schemas.microsoft.com/office/drawing/2014/main" xmlns="" id="{96859787-B248-483C-BAEA-18D5E7A5AB60}"/>
                </a:ext>
              </a:extLst>
            </p:cNvPr>
            <p:cNvPicPr>
              <a:picLocks noChangeAspect="1" noChangeArrowheads="1"/>
            </p:cNvPicPr>
            <p:nvPr/>
          </p:nvPicPr>
          <p:blipFill>
            <a:blip r:embed="rId4" cstate="print"/>
            <a:srcRect/>
            <a:stretch>
              <a:fillRect/>
            </a:stretch>
          </p:blipFill>
          <p:spPr bwMode="auto">
            <a:xfrm>
              <a:off x="682049" y="4363451"/>
              <a:ext cx="473774" cy="277564"/>
            </a:xfrm>
            <a:prstGeom prst="rect">
              <a:avLst/>
            </a:prstGeom>
            <a:noFill/>
            <a:ln w="9525">
              <a:noFill/>
              <a:miter lim="800000"/>
              <a:headEnd/>
              <a:tailEnd/>
            </a:ln>
          </p:spPr>
        </p:pic>
      </p:grpSp>
      <p:grpSp>
        <p:nvGrpSpPr>
          <p:cNvPr id="8" name="组合 59"/>
          <p:cNvGrpSpPr/>
          <p:nvPr/>
        </p:nvGrpSpPr>
        <p:grpSpPr>
          <a:xfrm>
            <a:off x="816062" y="1498696"/>
            <a:ext cx="6545860" cy="507831"/>
            <a:chOff x="657204" y="3709192"/>
            <a:chExt cx="7275216" cy="655369"/>
          </a:xfrm>
        </p:grpSpPr>
        <p:sp>
          <p:nvSpPr>
            <p:cNvPr id="61" name="矩形 60"/>
            <p:cNvSpPr/>
            <p:nvPr/>
          </p:nvSpPr>
          <p:spPr>
            <a:xfrm>
              <a:off x="931364" y="3709192"/>
              <a:ext cx="7001056" cy="655369"/>
            </a:xfrm>
            <a:prstGeom prst="rect">
              <a:avLst/>
            </a:prstGeom>
          </p:spPr>
          <p:txBody>
            <a:bodyPr wrap="square">
              <a:spAutoFit/>
            </a:bodyPr>
            <a:lstStyle/>
            <a:p>
              <a:pPr>
                <a:lnSpc>
                  <a:spcPct val="150000"/>
                </a:lnSpc>
              </a:pPr>
              <a:r>
                <a:rPr lang="zh-CN" altLang="en-US" dirty="0">
                  <a:solidFill>
                    <a:srgbClr val="336699"/>
                  </a:solidFill>
                  <a:latin typeface="黑体" pitchFamily="49" charset="-122"/>
                  <a:ea typeface="黑体" pitchFamily="49" charset="-122"/>
                </a:rPr>
                <a:t>在数字电路中，常采用</a:t>
              </a:r>
              <a:r>
                <a:rPr lang="zh-CN" altLang="en-US" dirty="0">
                  <a:solidFill>
                    <a:srgbClr val="6600FF"/>
                  </a:solidFill>
                  <a:latin typeface="方正粗黑宋简体" pitchFamily="2" charset="-122"/>
                  <a:ea typeface="方正粗黑宋简体" pitchFamily="2" charset="-122"/>
                </a:rPr>
                <a:t>二进制</a:t>
              </a:r>
              <a:r>
                <a:rPr lang="zh-CN" altLang="en-US" dirty="0">
                  <a:solidFill>
                    <a:srgbClr val="336699"/>
                  </a:solidFill>
                  <a:latin typeface="黑体" pitchFamily="49" charset="-122"/>
                  <a:ea typeface="黑体" pitchFamily="49" charset="-122"/>
                </a:rPr>
                <a:t>作为计数的体制。</a:t>
              </a:r>
            </a:p>
          </p:txBody>
        </p:sp>
        <p:grpSp>
          <p:nvGrpSpPr>
            <p:cNvPr id="9" name="组合 13">
              <a:extLst>
                <a:ext uri="{FF2B5EF4-FFF2-40B4-BE49-F238E27FC236}">
                  <a16:creationId xmlns:a16="http://schemas.microsoft.com/office/drawing/2014/main" xmlns="" id="{FF3B2FB4-753E-483C-B856-C25711218C46}"/>
                </a:ext>
              </a:extLst>
            </p:cNvPr>
            <p:cNvGrpSpPr/>
            <p:nvPr/>
          </p:nvGrpSpPr>
          <p:grpSpPr>
            <a:xfrm>
              <a:off x="657204" y="3855670"/>
              <a:ext cx="272583" cy="310719"/>
              <a:chOff x="5908675" y="1281113"/>
              <a:chExt cx="246063" cy="260350"/>
            </a:xfrm>
            <a:solidFill>
              <a:srgbClr val="CC6600"/>
            </a:solidFill>
            <a:effectLst/>
          </p:grpSpPr>
          <p:sp>
            <p:nvSpPr>
              <p:cNvPr id="63"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64"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65"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66"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68"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pic>
        <p:nvPicPr>
          <p:cNvPr id="46083" name="Picture 3"/>
          <p:cNvPicPr>
            <a:picLocks noChangeAspect="1" noChangeArrowheads="1"/>
          </p:cNvPicPr>
          <p:nvPr/>
        </p:nvPicPr>
        <p:blipFill>
          <a:blip r:embed="rId5" cstate="print"/>
          <a:srcRect/>
          <a:stretch>
            <a:fillRect/>
          </a:stretch>
        </p:blipFill>
        <p:spPr bwMode="auto">
          <a:xfrm>
            <a:off x="6305550" y="2908059"/>
            <a:ext cx="2800350" cy="1890237"/>
          </a:xfrm>
          <a:prstGeom prst="rect">
            <a:avLst/>
          </a:prstGeom>
          <a:ln>
            <a:noFill/>
          </a:ln>
          <a:effectLst>
            <a:softEdge rad="112500"/>
          </a:effectLst>
        </p:spPr>
      </p:pic>
      <p:pic>
        <p:nvPicPr>
          <p:cNvPr id="46085" name="Picture 5"/>
          <p:cNvPicPr>
            <a:picLocks noChangeAspect="1" noChangeArrowheads="1"/>
          </p:cNvPicPr>
          <p:nvPr/>
        </p:nvPicPr>
        <p:blipFill>
          <a:blip r:embed="rId6" cstate="print"/>
          <a:srcRect/>
          <a:stretch>
            <a:fillRect/>
          </a:stretch>
        </p:blipFill>
        <p:spPr bwMode="auto">
          <a:xfrm>
            <a:off x="6877050" y="574243"/>
            <a:ext cx="2254250" cy="1367429"/>
          </a:xfrm>
          <a:prstGeom prst="rect">
            <a:avLst/>
          </a:prstGeom>
          <a:ln>
            <a:noFill/>
          </a:ln>
          <a:effectLst>
            <a:softEdge rad="112500"/>
          </a:effectLst>
        </p:spPr>
      </p:pic>
    </p:spTree>
    <p:extLst>
      <p:ext uri="{BB962C8B-B14F-4D97-AF65-F5344CB8AC3E}">
        <p14:creationId xmlns:p14="http://schemas.microsoft.com/office/powerpoint/2010/main" val="944511715"/>
      </p:ext>
    </p:extLst>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1000"/>
                                        <p:tgtEl>
                                          <p:spTgt spid="8"/>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1000"/>
                                        <p:tgtEl>
                                          <p:spTgt spid="3"/>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lide(fromBottom)">
                                      <p:cBhvr>
                                        <p:cTn id="15" dur="1000"/>
                                        <p:tgtEl>
                                          <p:spTgt spid="6"/>
                                        </p:tgtEl>
                                      </p:cBhvr>
                                    </p:animEffect>
                                  </p:childTnLst>
                                </p:cTn>
                              </p:par>
                            </p:childTnLst>
                          </p:cTn>
                        </p:par>
                        <p:par>
                          <p:cTn id="16" fill="hold">
                            <p:stCondLst>
                              <p:cond delay="3000"/>
                            </p:stCondLst>
                            <p:childTnLst>
                              <p:par>
                                <p:cTn id="17" presetID="12" presetClass="entr" presetSubtype="4"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lide(fromBottom)">
                                      <p:cBhvr>
                                        <p:cTn id="19" dur="1000"/>
                                        <p:tgtEl>
                                          <p:spTgt spid="7"/>
                                        </p:tgtEl>
                                      </p:cBhvr>
                                    </p:animEffect>
                                  </p:childTnLst>
                                </p:cTn>
                              </p:par>
                            </p:childTnLst>
                          </p:cTn>
                        </p:par>
                        <p:par>
                          <p:cTn id="20" fill="hold">
                            <p:stCondLst>
                              <p:cond delay="4000"/>
                            </p:stCondLst>
                            <p:childTnLst>
                              <p:par>
                                <p:cTn id="21" presetID="12" presetClass="entr" presetSubtype="4"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slide(fromBottom)">
                                      <p:cBhvr>
                                        <p:cTn id="23" dur="1000"/>
                                        <p:tgtEl>
                                          <p:spTgt spid="4"/>
                                        </p:tgtEl>
                                      </p:cBhvr>
                                    </p:animEffect>
                                  </p:childTnLst>
                                </p:cTn>
                              </p:par>
                            </p:childTnLst>
                          </p:cTn>
                        </p:par>
                        <p:par>
                          <p:cTn id="24" fill="hold">
                            <p:stCondLst>
                              <p:cond delay="5000"/>
                            </p:stCondLst>
                            <p:childTnLst>
                              <p:par>
                                <p:cTn id="25" presetID="12" presetClass="entr" presetSubtype="4"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lide(fromBottom)">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1477478" cy="418885"/>
            <a:chOff x="670560" y="892917"/>
            <a:chExt cx="1477478" cy="465428"/>
          </a:xfrm>
        </p:grpSpPr>
        <p:sp>
          <p:nvSpPr>
            <p:cNvPr id="44" name="矩形 43"/>
            <p:cNvSpPr/>
            <p:nvPr/>
          </p:nvSpPr>
          <p:spPr>
            <a:xfrm>
              <a:off x="1035233" y="913778"/>
              <a:ext cx="1112805"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、数制</a:t>
              </a:r>
            </a:p>
          </p:txBody>
        </p:sp>
        <p:pic>
          <p:nvPicPr>
            <p:cNvPr id="49"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0" name="Rectangle 17"/>
          <p:cNvSpPr>
            <a:spLocks noChangeArrowheads="1"/>
          </p:cNvSpPr>
          <p:nvPr/>
        </p:nvSpPr>
        <p:spPr bwMode="auto">
          <a:xfrm>
            <a:off x="566738" y="1128712"/>
            <a:ext cx="2290762" cy="369332"/>
          </a:xfrm>
          <a:prstGeom prst="rect">
            <a:avLst/>
          </a:prstGeom>
          <a:noFill/>
          <a:ln w="9525" algn="ctr">
            <a:noFill/>
            <a:miter lim="800000"/>
            <a:headEnd/>
            <a:tailEnd/>
          </a:ln>
        </p:spPr>
        <p:txBody>
          <a:bodyPr wrap="square">
            <a:spAutoFit/>
          </a:bodyPr>
          <a:lstStyle/>
          <a:p>
            <a:pPr marL="457200" indent="-457200"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）数制的转换</a:t>
            </a:r>
            <a:endParaRPr lang="zh-CN" altLang="en-US" dirty="0">
              <a:solidFill>
                <a:srgbClr val="336699"/>
              </a:solidFill>
              <a:latin typeface="黑体" pitchFamily="49" charset="-122"/>
              <a:ea typeface="黑体" pitchFamily="49" charset="-122"/>
            </a:endParaRPr>
          </a:p>
        </p:txBody>
      </p:sp>
      <p:grpSp>
        <p:nvGrpSpPr>
          <p:cNvPr id="3" name="组合 57">
            <a:extLst>
              <a:ext uri="{FF2B5EF4-FFF2-40B4-BE49-F238E27FC236}">
                <a16:creationId xmlns:a16="http://schemas.microsoft.com/office/drawing/2014/main" xmlns="" id="{E010191F-7F37-4AFE-B961-7090CF5FA91D}"/>
              </a:ext>
            </a:extLst>
          </p:cNvPr>
          <p:cNvGrpSpPr/>
          <p:nvPr/>
        </p:nvGrpSpPr>
        <p:grpSpPr>
          <a:xfrm>
            <a:off x="766448" y="1535932"/>
            <a:ext cx="2630848" cy="361240"/>
            <a:chOff x="358461" y="2491451"/>
            <a:chExt cx="2630848" cy="401378"/>
          </a:xfrm>
        </p:grpSpPr>
        <p:sp>
          <p:nvSpPr>
            <p:cNvPr id="59" name="矩形 58">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387960"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十进制转非十进制</a:t>
              </a:r>
            </a:p>
          </p:txBody>
        </p:sp>
        <p:sp>
          <p:nvSpPr>
            <p:cNvPr id="60" name="矩形 59">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61"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sp>
        <p:nvSpPr>
          <p:cNvPr id="62" name="矩形 61"/>
          <p:cNvSpPr/>
          <p:nvPr/>
        </p:nvSpPr>
        <p:spPr>
          <a:xfrm>
            <a:off x="3465802" y="1498550"/>
            <a:ext cx="3877985" cy="461665"/>
          </a:xfrm>
          <a:prstGeom prst="rect">
            <a:avLst/>
          </a:prstGeom>
        </p:spPr>
        <p:txBody>
          <a:bodyPr wrap="none">
            <a:spAutoFit/>
          </a:bodyPr>
          <a:lstStyle/>
          <a:p>
            <a:pPr>
              <a:lnSpc>
                <a:spcPct val="150000"/>
              </a:lnSpc>
            </a:pPr>
            <a:r>
              <a:rPr lang="en-US" altLang="zh-CN"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rPr>
              <a:t>整数部分、小数部分分别转换，再合并</a:t>
            </a:r>
            <a:r>
              <a:rPr lang="en-US" altLang="zh-CN" sz="1600" dirty="0">
                <a:solidFill>
                  <a:srgbClr val="6600FF"/>
                </a:solidFill>
                <a:latin typeface="方正粗黑宋简体" pitchFamily="2" charset="-122"/>
                <a:ea typeface="方正粗黑宋简体" pitchFamily="2" charset="-122"/>
              </a:rPr>
              <a:t>)</a:t>
            </a:r>
            <a:endParaRPr lang="zh-CN" altLang="en-US" sz="1600" dirty="0">
              <a:solidFill>
                <a:srgbClr val="6600FF"/>
              </a:solidFill>
              <a:latin typeface="方正粗黑宋简体" pitchFamily="2" charset="-122"/>
              <a:ea typeface="方正粗黑宋简体" pitchFamily="2" charset="-122"/>
            </a:endParaRPr>
          </a:p>
        </p:txBody>
      </p:sp>
      <p:grpSp>
        <p:nvGrpSpPr>
          <p:cNvPr id="8" name="组合 86"/>
          <p:cNvGrpSpPr/>
          <p:nvPr/>
        </p:nvGrpSpPr>
        <p:grpSpPr>
          <a:xfrm>
            <a:off x="936336" y="2029043"/>
            <a:ext cx="6982114" cy="338554"/>
            <a:chOff x="936336" y="2254492"/>
            <a:chExt cx="6982114" cy="376171"/>
          </a:xfrm>
        </p:grpSpPr>
        <p:sp>
          <p:nvSpPr>
            <p:cNvPr id="52" name="Rectangle 14"/>
            <p:cNvSpPr>
              <a:spLocks noChangeArrowheads="1"/>
            </p:cNvSpPr>
            <p:nvPr/>
          </p:nvSpPr>
          <p:spPr bwMode="auto">
            <a:xfrm>
              <a:off x="1019175" y="2254492"/>
              <a:ext cx="6899275" cy="376171"/>
            </a:xfrm>
            <a:prstGeom prst="rect">
              <a:avLst/>
            </a:prstGeom>
            <a:noFill/>
            <a:ln w="9525">
              <a:noFill/>
              <a:miter lim="800000"/>
              <a:headEnd/>
              <a:tailEnd/>
            </a:ln>
          </p:spPr>
          <p:txBody>
            <a:bodyPr wrap="square" anchor="ctr">
              <a:spAutoFit/>
            </a:bodyPr>
            <a:lstStyle/>
            <a:p>
              <a:pPr algn="l">
                <a:spcBef>
                  <a:spcPct val="50000"/>
                </a:spcBef>
              </a:pPr>
              <a:r>
                <a:rPr lang="zh-CN" altLang="en-US" sz="1600" dirty="0">
                  <a:solidFill>
                    <a:srgbClr val="336699"/>
                  </a:solidFill>
                  <a:latin typeface="黑体" panose="02010609060101010101" pitchFamily="49" charset="-122"/>
                  <a:ea typeface="黑体" panose="02010609060101010101" pitchFamily="49" charset="-122"/>
                </a:rPr>
                <a:t>  </a:t>
              </a:r>
              <a:r>
                <a:rPr lang="zh-CN" altLang="en-US" sz="1600" b="1" dirty="0">
                  <a:solidFill>
                    <a:srgbClr val="336699"/>
                  </a:solidFill>
                  <a:latin typeface="黑体" panose="02010609060101010101" pitchFamily="49" charset="-122"/>
                  <a:ea typeface="黑体" panose="02010609060101010101" pitchFamily="49" charset="-122"/>
                </a:rPr>
                <a:t>整数部分</a:t>
              </a:r>
              <a:r>
                <a:rPr lang="en-US" altLang="zh-CN" sz="1600" dirty="0">
                  <a:solidFill>
                    <a:srgbClr val="336699"/>
                  </a:solidFill>
                  <a:latin typeface="黑体" panose="02010609060101010101" pitchFamily="49" charset="-122"/>
                  <a:ea typeface="黑体" panose="02010609060101010101" pitchFamily="49" charset="-122"/>
                </a:rPr>
                <a:t>: “</a:t>
              </a:r>
              <a:r>
                <a:rPr lang="zh-CN" altLang="en-US" sz="1600" dirty="0">
                  <a:solidFill>
                    <a:srgbClr val="6600FF"/>
                  </a:solidFill>
                  <a:latin typeface="方正粗黑宋简体" pitchFamily="2" charset="-122"/>
                  <a:ea typeface="方正粗黑宋简体" pitchFamily="2" charset="-122"/>
                </a:rPr>
                <a:t>除基取余</a:t>
              </a:r>
              <a:r>
                <a:rPr lang="zh-CN" altLang="en-US" sz="1600" dirty="0">
                  <a:solidFill>
                    <a:srgbClr val="336699"/>
                  </a:solidFill>
                  <a:latin typeface="黑体" panose="02010609060101010101" pitchFamily="49" charset="-122"/>
                  <a:ea typeface="黑体" panose="02010609060101010101" pitchFamily="49" charset="-122"/>
                </a:rPr>
                <a:t>”</a:t>
              </a:r>
            </a:p>
          </p:txBody>
        </p:sp>
        <p:pic>
          <p:nvPicPr>
            <p:cNvPr id="85"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936336" y="2260613"/>
              <a:ext cx="321323" cy="277564"/>
            </a:xfrm>
            <a:prstGeom prst="rect">
              <a:avLst/>
            </a:prstGeom>
            <a:noFill/>
            <a:ln w="9525">
              <a:noFill/>
              <a:miter lim="800000"/>
              <a:headEnd/>
              <a:tailEnd/>
            </a:ln>
          </p:spPr>
        </p:pic>
      </p:grpSp>
      <p:grpSp>
        <p:nvGrpSpPr>
          <p:cNvPr id="9" name="组合 87"/>
          <p:cNvGrpSpPr/>
          <p:nvPr/>
        </p:nvGrpSpPr>
        <p:grpSpPr>
          <a:xfrm>
            <a:off x="956358" y="3468674"/>
            <a:ext cx="7077364" cy="338554"/>
            <a:chOff x="936336" y="2640255"/>
            <a:chExt cx="7077364" cy="376171"/>
          </a:xfrm>
        </p:grpSpPr>
        <p:sp>
          <p:nvSpPr>
            <p:cNvPr id="53" name="Rectangle 15"/>
            <p:cNvSpPr>
              <a:spLocks noChangeArrowheads="1"/>
            </p:cNvSpPr>
            <p:nvPr/>
          </p:nvSpPr>
          <p:spPr bwMode="auto">
            <a:xfrm>
              <a:off x="1028700" y="2640255"/>
              <a:ext cx="6985000" cy="376171"/>
            </a:xfrm>
            <a:prstGeom prst="rect">
              <a:avLst/>
            </a:prstGeom>
            <a:noFill/>
            <a:ln w="9525">
              <a:noFill/>
              <a:miter lim="800000"/>
              <a:headEnd/>
              <a:tailEnd/>
            </a:ln>
          </p:spPr>
          <p:txBody>
            <a:bodyPr wrap="square" anchor="ctr">
              <a:spAutoFit/>
            </a:bodyPr>
            <a:lstStyle/>
            <a:p>
              <a:pPr algn="l" eaLnBrk="0" hangingPunct="0"/>
              <a:r>
                <a:rPr lang="zh-CN" altLang="en-US" sz="1600" dirty="0">
                  <a:solidFill>
                    <a:srgbClr val="336699"/>
                  </a:solidFill>
                  <a:latin typeface="黑体" panose="02010609060101010101" pitchFamily="49" charset="-122"/>
                  <a:ea typeface="黑体" panose="02010609060101010101" pitchFamily="49" charset="-122"/>
                </a:rPr>
                <a:t>  </a:t>
              </a:r>
              <a:r>
                <a:rPr lang="zh-CN" altLang="en-US" sz="1600" b="1" dirty="0">
                  <a:solidFill>
                    <a:srgbClr val="336699"/>
                  </a:solidFill>
                  <a:latin typeface="黑体" panose="02010609060101010101" pitchFamily="49" charset="-122"/>
                  <a:ea typeface="黑体" panose="02010609060101010101" pitchFamily="49" charset="-122"/>
                </a:rPr>
                <a:t>小数部分</a:t>
              </a:r>
              <a:r>
                <a:rPr lang="en-US" altLang="zh-CN" sz="1600" dirty="0">
                  <a:solidFill>
                    <a:srgbClr val="336699"/>
                  </a:solidFill>
                  <a:latin typeface="黑体" panose="02010609060101010101" pitchFamily="49" charset="-122"/>
                  <a:ea typeface="黑体" panose="02010609060101010101" pitchFamily="49" charset="-122"/>
                </a:rPr>
                <a:t>: “</a:t>
              </a:r>
              <a:r>
                <a:rPr lang="zh-CN" altLang="en-US" sz="1600" dirty="0">
                  <a:solidFill>
                    <a:srgbClr val="6600FF"/>
                  </a:solidFill>
                  <a:latin typeface="方正粗黑宋简体" pitchFamily="2" charset="-122"/>
                  <a:ea typeface="方正粗黑宋简体" pitchFamily="2" charset="-122"/>
                </a:rPr>
                <a:t>乘基取整</a:t>
              </a:r>
              <a:r>
                <a:rPr lang="zh-CN" altLang="en-US" sz="1600" dirty="0">
                  <a:solidFill>
                    <a:srgbClr val="336699"/>
                  </a:solidFill>
                  <a:latin typeface="黑体" panose="02010609060101010101" pitchFamily="49" charset="-122"/>
                  <a:ea typeface="黑体" panose="02010609060101010101" pitchFamily="49" charset="-122"/>
                </a:rPr>
                <a:t>”</a:t>
              </a:r>
            </a:p>
          </p:txBody>
        </p:sp>
        <p:pic>
          <p:nvPicPr>
            <p:cNvPr id="86"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936336" y="2641613"/>
              <a:ext cx="321323" cy="277564"/>
            </a:xfrm>
            <a:prstGeom prst="rect">
              <a:avLst/>
            </a:prstGeom>
            <a:noFill/>
            <a:ln w="9525">
              <a:noFill/>
              <a:miter lim="800000"/>
              <a:headEnd/>
              <a:tailEnd/>
            </a:ln>
          </p:spPr>
        </p:pic>
      </p:grpSp>
      <p:sp>
        <p:nvSpPr>
          <p:cNvPr id="96257" name="Rectangle 1"/>
          <p:cNvSpPr>
            <a:spLocks noChangeArrowheads="1"/>
          </p:cNvSpPr>
          <p:nvPr/>
        </p:nvSpPr>
        <p:spPr bwMode="auto">
          <a:xfrm>
            <a:off x="848746" y="2421646"/>
            <a:ext cx="8074993" cy="863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360363" fontAlgn="base">
              <a:lnSpc>
                <a:spcPct val="125000"/>
              </a:lnSpc>
              <a:spcBef>
                <a:spcPct val="0"/>
              </a:spcBef>
              <a:spcAft>
                <a:spcPct val="0"/>
              </a:spcAft>
            </a:pPr>
            <a:r>
              <a:rPr kumimoji="0" lang="zh-CN"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整数部分连续除以要转换的计数体制的基数（</a:t>
            </a:r>
            <a:r>
              <a:rPr kumimoji="0" lang="en-US" altLang="zh-CN"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2</a:t>
            </a:r>
            <a:r>
              <a:rPr kumimoji="0" lang="zh-CN" altLang="en-US"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8</a:t>
            </a:r>
            <a:r>
              <a:rPr lang="zh-CN" altLang="en-US" sz="1400" dirty="0">
                <a:latin typeface="黑体" pitchFamily="49" charset="-122"/>
                <a:ea typeface="黑体" pitchFamily="49" charset="-122"/>
                <a:cs typeface="Times New Roman" pitchFamily="18" charset="0"/>
              </a:rPr>
              <a:t>、</a:t>
            </a:r>
            <a:r>
              <a:rPr kumimoji="0" lang="en-US" altLang="zh-CN"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16</a:t>
            </a:r>
            <a:r>
              <a:rPr kumimoji="0" lang="zh-CN" altLang="en-US"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），取其</a:t>
            </a:r>
            <a:r>
              <a:rPr lang="zh-CN" altLang="en-US" sz="1400" dirty="0">
                <a:latin typeface="黑体" pitchFamily="49" charset="-122"/>
                <a:ea typeface="黑体" pitchFamily="49" charset="-122"/>
                <a:cs typeface="Times New Roman" pitchFamily="18" charset="0"/>
              </a:rPr>
              <a:t>余数作为转换数的系数（数码），</a:t>
            </a:r>
            <a:r>
              <a:rPr kumimoji="0" lang="zh-CN" altLang="en-US"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每次除后的商作为下一次的被除数继续作除法，</a:t>
            </a:r>
            <a:r>
              <a:rPr lang="zh-CN" altLang="en-US" sz="1400" dirty="0">
                <a:latin typeface="黑体" pitchFamily="49" charset="-122"/>
                <a:ea typeface="黑体" pitchFamily="49" charset="-122"/>
                <a:cs typeface="Times New Roman" pitchFamily="18" charset="0"/>
              </a:rPr>
              <a:t>直到商为</a:t>
            </a:r>
            <a:r>
              <a:rPr lang="en-US" altLang="zh-CN" sz="1400" dirty="0">
                <a:latin typeface="黑体" pitchFamily="49" charset="-122"/>
                <a:ea typeface="黑体" pitchFamily="49" charset="-122"/>
                <a:cs typeface="Times New Roman" pitchFamily="18" charset="0"/>
              </a:rPr>
              <a:t>0</a:t>
            </a:r>
            <a:r>
              <a:rPr lang="zh-CN" altLang="en-US" sz="1400" dirty="0">
                <a:latin typeface="黑体" pitchFamily="49" charset="-122"/>
                <a:ea typeface="黑体" pitchFamily="49" charset="-122"/>
                <a:cs typeface="Times New Roman" pitchFamily="18" charset="0"/>
              </a:rPr>
              <a:t>为止。最后将系数按“</a:t>
            </a:r>
            <a:r>
              <a:rPr lang="zh-CN" altLang="en-US" sz="1400" dirty="0">
                <a:solidFill>
                  <a:srgbClr val="6600FF"/>
                </a:solidFill>
                <a:latin typeface="Times New Roman" pitchFamily="18" charset="0"/>
                <a:ea typeface="黑体" pitchFamily="49" charset="-122"/>
                <a:cs typeface="Times New Roman" pitchFamily="18" charset="0"/>
              </a:rPr>
              <a:t>先得到的为低位，后得到的为高位</a:t>
            </a:r>
            <a:r>
              <a:rPr kumimoji="0" lang="zh-CN" altLang="en-US"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”的顺序组合，即得转换的整数。“</a:t>
            </a:r>
            <a:r>
              <a:rPr lang="zh-CN" altLang="en-US" sz="1400" dirty="0">
                <a:solidFill>
                  <a:srgbClr val="6600FF"/>
                </a:solidFill>
                <a:latin typeface="Times New Roman" pitchFamily="18" charset="0"/>
                <a:ea typeface="黑体" pitchFamily="49" charset="-122"/>
                <a:cs typeface="Times New Roman" pitchFamily="18" charset="0"/>
              </a:rPr>
              <a:t>除基数、取余数，从低位、到高位</a:t>
            </a:r>
            <a:r>
              <a:rPr kumimoji="0" lang="zh-CN" altLang="en-US" sz="1400" b="0" i="0" u="none" strike="noStrike" cap="none" normalizeH="0" baseline="0" dirty="0">
                <a:ln>
                  <a:noFill/>
                </a:ln>
                <a:solidFill>
                  <a:schemeClr val="tx1"/>
                </a:solidFill>
                <a:effectLst/>
                <a:latin typeface="黑体" pitchFamily="49" charset="-122"/>
                <a:ea typeface="黑体" pitchFamily="49" charset="-122"/>
                <a:cs typeface="Times New Roman" pitchFamily="18" charset="0"/>
              </a:rPr>
              <a:t>”。</a:t>
            </a:r>
            <a:endParaRPr kumimoji="0" lang="zh-CN" altLang="en-US" sz="1400" b="0" i="0" u="none" strike="noStrike" cap="none" normalizeH="0" baseline="0" dirty="0">
              <a:ln>
                <a:noFill/>
              </a:ln>
              <a:solidFill>
                <a:schemeClr val="tx1"/>
              </a:solidFill>
              <a:effectLst/>
              <a:latin typeface="黑体" pitchFamily="49" charset="-122"/>
              <a:ea typeface="黑体" pitchFamily="49" charset="-122"/>
              <a:cs typeface="宋体" pitchFamily="2" charset="-122"/>
            </a:endParaRPr>
          </a:p>
        </p:txBody>
      </p:sp>
      <p:sp>
        <p:nvSpPr>
          <p:cNvPr id="35" name="矩形 34"/>
          <p:cNvSpPr/>
          <p:nvPr/>
        </p:nvSpPr>
        <p:spPr>
          <a:xfrm>
            <a:off x="857672" y="3766117"/>
            <a:ext cx="7965953" cy="863250"/>
          </a:xfrm>
          <a:prstGeom prst="rect">
            <a:avLst/>
          </a:prstGeom>
        </p:spPr>
        <p:txBody>
          <a:bodyPr wrap="square">
            <a:spAutoFit/>
          </a:bodyPr>
          <a:lstStyle/>
          <a:p>
            <a:pPr indent="360363">
              <a:lnSpc>
                <a:spcPct val="125000"/>
              </a:lnSpc>
            </a:pPr>
            <a:r>
              <a:rPr lang="zh-CN" altLang="zh-CN" sz="1400" dirty="0">
                <a:latin typeface="黑体" pitchFamily="49" charset="-122"/>
                <a:ea typeface="黑体" pitchFamily="49" charset="-122"/>
                <a:cs typeface="Times New Roman" pitchFamily="18" charset="0"/>
              </a:rPr>
              <a:t>小数部分连续乘以要转换的计数体制的基数，取其积的整数部分作为系数，剩余的小数部分继续乘以基数，直到小数部分为</a:t>
            </a:r>
            <a:r>
              <a:rPr lang="en-US" altLang="zh-CN" sz="1400" dirty="0">
                <a:latin typeface="黑体" pitchFamily="49" charset="-122"/>
                <a:ea typeface="黑体" pitchFamily="49" charset="-122"/>
                <a:cs typeface="Times New Roman" pitchFamily="18" charset="0"/>
              </a:rPr>
              <a:t>0</a:t>
            </a:r>
            <a:r>
              <a:rPr lang="zh-CN" altLang="zh-CN" sz="1400" dirty="0">
                <a:latin typeface="黑体" pitchFamily="49" charset="-122"/>
                <a:ea typeface="黑体" pitchFamily="49" charset="-122"/>
                <a:cs typeface="Times New Roman" pitchFamily="18" charset="0"/>
              </a:rPr>
              <a:t>或到一定的精度为止。</a:t>
            </a:r>
            <a:r>
              <a:rPr lang="zh-CN" altLang="en-US" sz="1400" dirty="0">
                <a:latin typeface="黑体" pitchFamily="49" charset="-122"/>
                <a:ea typeface="黑体" pitchFamily="49" charset="-122"/>
                <a:cs typeface="Times New Roman" pitchFamily="18" charset="0"/>
              </a:rPr>
              <a:t>最后将系数按“</a:t>
            </a:r>
            <a:r>
              <a:rPr lang="zh-CN" altLang="zh-CN" sz="1400" dirty="0">
                <a:solidFill>
                  <a:srgbClr val="6600FF"/>
                </a:solidFill>
                <a:latin typeface="Times New Roman" pitchFamily="18" charset="0"/>
                <a:ea typeface="黑体" pitchFamily="49" charset="-122"/>
                <a:cs typeface="Times New Roman" pitchFamily="18" charset="0"/>
              </a:rPr>
              <a:t>先得到的</a:t>
            </a:r>
            <a:r>
              <a:rPr lang="zh-CN" altLang="en-US" sz="1400" dirty="0">
                <a:solidFill>
                  <a:srgbClr val="6600FF"/>
                </a:solidFill>
                <a:latin typeface="Times New Roman" pitchFamily="18" charset="0"/>
                <a:ea typeface="黑体" pitchFamily="49" charset="-122"/>
                <a:cs typeface="Times New Roman" pitchFamily="18" charset="0"/>
              </a:rPr>
              <a:t>为</a:t>
            </a:r>
            <a:r>
              <a:rPr lang="zh-CN" altLang="zh-CN" sz="1400" dirty="0">
                <a:solidFill>
                  <a:srgbClr val="6600FF"/>
                </a:solidFill>
                <a:latin typeface="Times New Roman" pitchFamily="18" charset="0"/>
                <a:ea typeface="黑体" pitchFamily="49" charset="-122"/>
                <a:cs typeface="Times New Roman" pitchFamily="18" charset="0"/>
              </a:rPr>
              <a:t>高位，后得到的为低位</a:t>
            </a:r>
            <a:r>
              <a:rPr lang="zh-CN" altLang="en-US" sz="1400" dirty="0">
                <a:solidFill>
                  <a:srgbClr val="6600FF"/>
                </a:solidFill>
                <a:latin typeface="Times New Roman" pitchFamily="18" charset="0"/>
                <a:ea typeface="黑体" pitchFamily="49" charset="-122"/>
                <a:cs typeface="Times New Roman" pitchFamily="18" charset="0"/>
              </a:rPr>
              <a:t>”</a:t>
            </a:r>
            <a:r>
              <a:rPr lang="zh-CN" altLang="en-US" sz="1400" dirty="0">
                <a:latin typeface="黑体" pitchFamily="49" charset="-122"/>
                <a:ea typeface="黑体" pitchFamily="49" charset="-122"/>
                <a:cs typeface="Times New Roman" pitchFamily="18" charset="0"/>
              </a:rPr>
              <a:t>的顺序组合，即得转换的小数。 </a:t>
            </a:r>
            <a:r>
              <a:rPr lang="zh-CN" altLang="zh-CN" sz="1400" dirty="0">
                <a:latin typeface="黑体" pitchFamily="49" charset="-122"/>
                <a:ea typeface="黑体" pitchFamily="49" charset="-122"/>
                <a:cs typeface="Times New Roman" pitchFamily="18" charset="0"/>
              </a:rPr>
              <a:t>“</a:t>
            </a:r>
            <a:r>
              <a:rPr lang="zh-CN" altLang="zh-CN" sz="1400" dirty="0">
                <a:solidFill>
                  <a:srgbClr val="6600FF"/>
                </a:solidFill>
                <a:latin typeface="Times New Roman" pitchFamily="18" charset="0"/>
                <a:ea typeface="黑体" pitchFamily="49" charset="-122"/>
                <a:cs typeface="Times New Roman" pitchFamily="18" charset="0"/>
              </a:rPr>
              <a:t>乘基数、取整数、从高位、到低位</a:t>
            </a:r>
            <a:r>
              <a:rPr lang="zh-CN" altLang="zh-CN" sz="1400" dirty="0">
                <a:latin typeface="黑体" pitchFamily="49" charset="-122"/>
                <a:ea typeface="黑体" pitchFamily="49" charset="-122"/>
                <a:cs typeface="Times New Roman" pitchFamily="18" charset="0"/>
              </a:rPr>
              <a:t>”。</a:t>
            </a:r>
            <a:endParaRPr lang="zh-CN" altLang="en-US" sz="1400" dirty="0">
              <a:latin typeface="黑体" pitchFamily="49" charset="-122"/>
              <a:ea typeface="黑体" pitchFamily="49" charset="-122"/>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10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1000"/>
                                        <p:tgtEl>
                                          <p:spTgt spid="3"/>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slide(fromLeft)">
                                      <p:cBhvr>
                                        <p:cTn id="16" dur="1000"/>
                                        <p:tgtEl>
                                          <p:spTgt spid="6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lide(fromBottom)">
                                      <p:cBhvr>
                                        <p:cTn id="21" dur="1000"/>
                                        <p:tgtEl>
                                          <p:spTgt spid="8"/>
                                        </p:tgtEl>
                                      </p:cBhvr>
                                    </p:animEffect>
                                  </p:childTnLst>
                                </p:cTn>
                              </p:par>
                            </p:childTnLst>
                          </p:cTn>
                        </p:par>
                        <p:par>
                          <p:cTn id="22" fill="hold">
                            <p:stCondLst>
                              <p:cond delay="1000"/>
                            </p:stCondLst>
                            <p:childTnLst>
                              <p:par>
                                <p:cTn id="23" presetID="12" presetClass="entr" presetSubtype="4" fill="hold" grpId="0" nodeType="afterEffect">
                                  <p:stCondLst>
                                    <p:cond delay="0"/>
                                  </p:stCondLst>
                                  <p:childTnLst>
                                    <p:set>
                                      <p:cBhvr>
                                        <p:cTn id="24" dur="1" fill="hold">
                                          <p:stCondLst>
                                            <p:cond delay="0"/>
                                          </p:stCondLst>
                                        </p:cTn>
                                        <p:tgtEl>
                                          <p:spTgt spid="96257"/>
                                        </p:tgtEl>
                                        <p:attrNameLst>
                                          <p:attrName>style.visibility</p:attrName>
                                        </p:attrNameLst>
                                      </p:cBhvr>
                                      <p:to>
                                        <p:strVal val="visible"/>
                                      </p:to>
                                    </p:set>
                                    <p:animEffect transition="in" filter="slide(fromBottom)">
                                      <p:cBhvr>
                                        <p:cTn id="25" dur="1000"/>
                                        <p:tgtEl>
                                          <p:spTgt spid="9625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lide(fromBottom)">
                                      <p:cBhvr>
                                        <p:cTn id="30" dur="1000"/>
                                        <p:tgtEl>
                                          <p:spTgt spid="9"/>
                                        </p:tgtEl>
                                      </p:cBhvr>
                                    </p:animEffect>
                                  </p:childTnLst>
                                </p:cTn>
                              </p:par>
                            </p:childTnLst>
                          </p:cTn>
                        </p:par>
                        <p:par>
                          <p:cTn id="31" fill="hold">
                            <p:stCondLst>
                              <p:cond delay="1000"/>
                            </p:stCondLst>
                            <p:childTnLst>
                              <p:par>
                                <p:cTn id="32" presetID="12" presetClass="entr" presetSubtype="4" fill="hold" grpId="0"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slide(fromBottom)">
                                      <p:cBhvr>
                                        <p:cTn id="34"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62" grpId="0"/>
      <p:bldP spid="96257" grpId="0"/>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1477478" cy="418885"/>
            <a:chOff x="670560" y="892917"/>
            <a:chExt cx="1477478" cy="465428"/>
          </a:xfrm>
        </p:grpSpPr>
        <p:sp>
          <p:nvSpPr>
            <p:cNvPr id="44" name="矩形 43"/>
            <p:cNvSpPr/>
            <p:nvPr/>
          </p:nvSpPr>
          <p:spPr>
            <a:xfrm>
              <a:off x="1035233" y="913778"/>
              <a:ext cx="1112805"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、数制</a:t>
              </a:r>
            </a:p>
          </p:txBody>
        </p:sp>
        <p:pic>
          <p:nvPicPr>
            <p:cNvPr id="49"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0" name="Rectangle 17"/>
          <p:cNvSpPr>
            <a:spLocks noChangeArrowheads="1"/>
          </p:cNvSpPr>
          <p:nvPr/>
        </p:nvSpPr>
        <p:spPr bwMode="auto">
          <a:xfrm>
            <a:off x="566738" y="1128712"/>
            <a:ext cx="2290762" cy="369332"/>
          </a:xfrm>
          <a:prstGeom prst="rect">
            <a:avLst/>
          </a:prstGeom>
          <a:noFill/>
          <a:ln w="9525" algn="ctr">
            <a:noFill/>
            <a:miter lim="800000"/>
            <a:headEnd/>
            <a:tailEnd/>
          </a:ln>
        </p:spPr>
        <p:txBody>
          <a:bodyPr wrap="square">
            <a:spAutoFit/>
          </a:bodyPr>
          <a:lstStyle/>
          <a:p>
            <a:pPr marL="457200" indent="-457200"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）数制的转换</a:t>
            </a:r>
            <a:endParaRPr lang="zh-CN" altLang="en-US" dirty="0">
              <a:solidFill>
                <a:srgbClr val="336699"/>
              </a:solidFill>
              <a:latin typeface="黑体" pitchFamily="49" charset="-122"/>
              <a:ea typeface="黑体" pitchFamily="49" charset="-122"/>
            </a:endParaRPr>
          </a:p>
        </p:txBody>
      </p:sp>
      <p:sp>
        <p:nvSpPr>
          <p:cNvPr id="54" name="Rectangle 4"/>
          <p:cNvSpPr>
            <a:spLocks noChangeArrowheads="1"/>
          </p:cNvSpPr>
          <p:nvPr/>
        </p:nvSpPr>
        <p:spPr bwMode="auto">
          <a:xfrm>
            <a:off x="809625" y="1911723"/>
            <a:ext cx="5733942" cy="438582"/>
          </a:xfrm>
          <a:prstGeom prst="rect">
            <a:avLst/>
          </a:prstGeom>
          <a:noFill/>
          <a:ln w="9525" algn="ctr">
            <a:noFill/>
            <a:miter lim="800000"/>
            <a:headEnd/>
            <a:tailEnd/>
          </a:ln>
        </p:spPr>
        <p:txBody>
          <a:bodyPr wrap="none" lIns="0" rIns="0">
            <a:spAutoFit/>
          </a:bodyPr>
          <a:lstStyle/>
          <a:p>
            <a:pPr algn="l">
              <a:lnSpc>
                <a:spcPct val="125000"/>
              </a:lnSpc>
              <a:spcBef>
                <a:spcPct val="50000"/>
              </a:spcBef>
            </a:pPr>
            <a:r>
              <a:rPr lang="zh-CN" altLang="en-US" sz="1600" dirty="0">
                <a:solidFill>
                  <a:srgbClr val="6600FF"/>
                </a:solidFill>
                <a:latin typeface="方正粗黑宋简体" pitchFamily="2" charset="-122"/>
                <a:ea typeface="方正粗黑宋简体" pitchFamily="2" charset="-122"/>
              </a:rPr>
              <a:t>例</a:t>
            </a:r>
            <a:r>
              <a:rPr lang="zh-CN" altLang="en-US" sz="1600" dirty="0">
                <a:solidFill>
                  <a:srgbClr val="262626"/>
                </a:solidFill>
                <a:latin typeface="方正粗黑宋简体" pitchFamily="2" charset="-122"/>
                <a:ea typeface="方正粗黑宋简体" pitchFamily="2" charset="-122"/>
              </a:rPr>
              <a:t>：</a:t>
            </a:r>
            <a:r>
              <a:rPr lang="zh-CN" altLang="en-US" dirty="0">
                <a:solidFill>
                  <a:srgbClr val="262626"/>
                </a:solidFill>
                <a:latin typeface="黑体" panose="02010609060101010101" pitchFamily="49" charset="-122"/>
                <a:ea typeface="黑体" panose="02010609060101010101" pitchFamily="49" charset="-122"/>
              </a:rPr>
              <a:t>将十进制数</a:t>
            </a:r>
            <a:r>
              <a:rPr lang="en-US" altLang="zh-CN" dirty="0">
                <a:solidFill>
                  <a:srgbClr val="262626"/>
                </a:solidFill>
                <a:latin typeface="黑体" panose="02010609060101010101" pitchFamily="49" charset="-122"/>
                <a:ea typeface="黑体" panose="02010609060101010101" pitchFamily="49" charset="-122"/>
              </a:rPr>
              <a:t>26.74</a:t>
            </a:r>
            <a:r>
              <a:rPr lang="zh-CN" altLang="en-US" dirty="0">
                <a:solidFill>
                  <a:srgbClr val="262626"/>
                </a:solidFill>
                <a:latin typeface="黑体" panose="02010609060101010101" pitchFamily="49" charset="-122"/>
                <a:ea typeface="黑体" panose="02010609060101010101" pitchFamily="49" charset="-122"/>
              </a:rPr>
              <a:t>转换成二进制数。误差</a:t>
            </a:r>
            <a:r>
              <a:rPr lang="en-US" altLang="zh-CN" i="1" dirty="0">
                <a:solidFill>
                  <a:srgbClr val="262626"/>
                </a:solidFill>
                <a:latin typeface="Times New Roman" pitchFamily="18" charset="0"/>
                <a:ea typeface="黑体" panose="02010609060101010101" pitchFamily="49" charset="-122"/>
                <a:cs typeface="Times New Roman" pitchFamily="18" charset="0"/>
              </a:rPr>
              <a:t>ε</a:t>
            </a:r>
            <a:r>
              <a:rPr lang="zh-CN" altLang="en-US" dirty="0">
                <a:solidFill>
                  <a:srgbClr val="262626"/>
                </a:solidFill>
                <a:latin typeface="黑体" panose="02010609060101010101" pitchFamily="49" charset="-122"/>
                <a:ea typeface="黑体" panose="02010609060101010101" pitchFamily="49" charset="-122"/>
              </a:rPr>
              <a:t>不大于</a:t>
            </a:r>
            <a:r>
              <a:rPr lang="en-US" altLang="zh-CN" dirty="0">
                <a:solidFill>
                  <a:srgbClr val="262626"/>
                </a:solidFill>
                <a:latin typeface="黑体" panose="02010609060101010101" pitchFamily="49" charset="-122"/>
                <a:ea typeface="黑体" panose="02010609060101010101" pitchFamily="49" charset="-122"/>
              </a:rPr>
              <a:t>2</a:t>
            </a:r>
            <a:r>
              <a:rPr lang="en-US" altLang="zh-CN" baseline="30000" dirty="0">
                <a:solidFill>
                  <a:srgbClr val="262626"/>
                </a:solidFill>
                <a:latin typeface="黑体" panose="02010609060101010101" pitchFamily="49" charset="-122"/>
                <a:ea typeface="黑体" panose="02010609060101010101" pitchFamily="49" charset="-122"/>
              </a:rPr>
              <a:t>-5</a:t>
            </a:r>
            <a:r>
              <a:rPr lang="zh-CN" altLang="en-US" dirty="0">
                <a:solidFill>
                  <a:srgbClr val="262626"/>
                </a:solidFill>
                <a:latin typeface="黑体" panose="02010609060101010101" pitchFamily="49" charset="-122"/>
                <a:ea typeface="黑体" panose="02010609060101010101" pitchFamily="49" charset="-122"/>
              </a:rPr>
              <a:t>。</a:t>
            </a:r>
          </a:p>
        </p:txBody>
      </p:sp>
      <p:grpSp>
        <p:nvGrpSpPr>
          <p:cNvPr id="3" name="组合 57">
            <a:extLst>
              <a:ext uri="{FF2B5EF4-FFF2-40B4-BE49-F238E27FC236}">
                <a16:creationId xmlns:a16="http://schemas.microsoft.com/office/drawing/2014/main" xmlns="" id="{E010191F-7F37-4AFE-B961-7090CF5FA91D}"/>
              </a:ext>
            </a:extLst>
          </p:cNvPr>
          <p:cNvGrpSpPr/>
          <p:nvPr/>
        </p:nvGrpSpPr>
        <p:grpSpPr>
          <a:xfrm>
            <a:off x="766448" y="1535932"/>
            <a:ext cx="2630848" cy="361240"/>
            <a:chOff x="358461" y="2491451"/>
            <a:chExt cx="2630848" cy="401378"/>
          </a:xfrm>
        </p:grpSpPr>
        <p:sp>
          <p:nvSpPr>
            <p:cNvPr id="59" name="矩形 58">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387960"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十进制转非二进制</a:t>
              </a:r>
            </a:p>
          </p:txBody>
        </p:sp>
        <p:sp>
          <p:nvSpPr>
            <p:cNvPr id="60" name="矩形 59">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61"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sp>
        <p:nvSpPr>
          <p:cNvPr id="62" name="矩形 61"/>
          <p:cNvSpPr/>
          <p:nvPr/>
        </p:nvSpPr>
        <p:spPr>
          <a:xfrm>
            <a:off x="3465802" y="1498550"/>
            <a:ext cx="3877985" cy="461665"/>
          </a:xfrm>
          <a:prstGeom prst="rect">
            <a:avLst/>
          </a:prstGeom>
        </p:spPr>
        <p:txBody>
          <a:bodyPr wrap="none">
            <a:spAutoFit/>
          </a:bodyPr>
          <a:lstStyle/>
          <a:p>
            <a:pPr>
              <a:lnSpc>
                <a:spcPct val="150000"/>
              </a:lnSpc>
            </a:pPr>
            <a:r>
              <a:rPr lang="en-US" altLang="zh-CN"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rPr>
              <a:t>整数部分、小数部分分别转换，再合并</a:t>
            </a:r>
            <a:r>
              <a:rPr lang="en-US" altLang="zh-CN" sz="1600" dirty="0">
                <a:solidFill>
                  <a:srgbClr val="6600FF"/>
                </a:solidFill>
                <a:latin typeface="方正粗黑宋简体" pitchFamily="2" charset="-122"/>
                <a:ea typeface="方正粗黑宋简体" pitchFamily="2" charset="-122"/>
              </a:rPr>
              <a:t>)</a:t>
            </a:r>
            <a:endParaRPr lang="zh-CN" altLang="en-US" sz="1600" dirty="0">
              <a:solidFill>
                <a:srgbClr val="6600FF"/>
              </a:solidFill>
              <a:latin typeface="方正粗黑宋简体" pitchFamily="2" charset="-122"/>
              <a:ea typeface="方正粗黑宋简体" pitchFamily="2" charset="-122"/>
            </a:endParaRPr>
          </a:p>
        </p:txBody>
      </p:sp>
      <p:sp>
        <p:nvSpPr>
          <p:cNvPr id="80" name="剪去对角的矩形 79"/>
          <p:cNvSpPr/>
          <p:nvPr/>
        </p:nvSpPr>
        <p:spPr>
          <a:xfrm>
            <a:off x="6001435" y="2479759"/>
            <a:ext cx="2925170" cy="404039"/>
          </a:xfrm>
          <a:prstGeom prst="snip2DiagRect">
            <a:avLst/>
          </a:prstGeom>
          <a:ln w="19050">
            <a:solidFill>
              <a:schemeClr val="accent1">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0" rIns="0">
            <a:spAutoFit/>
          </a:bodyPr>
          <a:lstStyle/>
          <a:p>
            <a:pPr algn="ctr">
              <a:defRPr/>
            </a:pPr>
            <a:r>
              <a:rPr lang="en-US" altLang="zh-CN" sz="1600" dirty="0">
                <a:solidFill>
                  <a:srgbClr val="6600FF"/>
                </a:solidFill>
                <a:latin typeface="方正粗黑宋简体" pitchFamily="2" charset="-122"/>
                <a:ea typeface="方正粗黑宋简体" pitchFamily="2" charset="-122"/>
              </a:rPr>
              <a:t>(26.74)</a:t>
            </a:r>
            <a:r>
              <a:rPr lang="en-US" altLang="zh-CN" sz="1600" baseline="-25000" dirty="0">
                <a:solidFill>
                  <a:srgbClr val="6600FF"/>
                </a:solidFill>
                <a:latin typeface="方正粗黑宋简体" pitchFamily="2" charset="-122"/>
                <a:ea typeface="方正粗黑宋简体" pitchFamily="2" charset="-122"/>
              </a:rPr>
              <a:t>D</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(11010.10111)</a:t>
            </a:r>
            <a:r>
              <a:rPr lang="en-US" altLang="zh-CN" sz="1600" baseline="-25000" dirty="0">
                <a:solidFill>
                  <a:srgbClr val="6600FF"/>
                </a:solidFill>
                <a:latin typeface="方正粗黑宋简体" pitchFamily="2" charset="-122"/>
                <a:ea typeface="方正粗黑宋简体" pitchFamily="2" charset="-122"/>
              </a:rPr>
              <a:t>B</a:t>
            </a:r>
            <a:endParaRPr lang="zh-CN" altLang="en-US" sz="1600" baseline="-25000" dirty="0">
              <a:solidFill>
                <a:srgbClr val="6600FF"/>
              </a:solidFill>
              <a:latin typeface="方正粗黑宋简体" pitchFamily="2" charset="-122"/>
              <a:ea typeface="方正粗黑宋简体" pitchFamily="2" charset="-122"/>
            </a:endParaRPr>
          </a:p>
        </p:txBody>
      </p:sp>
      <p:graphicFrame>
        <p:nvGraphicFramePr>
          <p:cNvPr id="34" name="表格 33"/>
          <p:cNvGraphicFramePr>
            <a:graphicFrameLocks noGrp="1"/>
          </p:cNvGraphicFramePr>
          <p:nvPr/>
        </p:nvGraphicFramePr>
        <p:xfrm>
          <a:off x="1263659" y="2397666"/>
          <a:ext cx="3795577" cy="972264"/>
        </p:xfrm>
        <a:graphic>
          <a:graphicData uri="http://schemas.openxmlformats.org/drawingml/2006/table">
            <a:tbl>
              <a:tblPr/>
              <a:tblGrid>
                <a:gridCol w="462183">
                  <a:extLst>
                    <a:ext uri="{9D8B030D-6E8A-4147-A177-3AD203B41FA5}">
                      <a16:colId xmlns:a16="http://schemas.microsoft.com/office/drawing/2014/main" xmlns="" val="20000"/>
                    </a:ext>
                  </a:extLst>
                </a:gridCol>
                <a:gridCol w="482454">
                  <a:extLst>
                    <a:ext uri="{9D8B030D-6E8A-4147-A177-3AD203B41FA5}">
                      <a16:colId xmlns:a16="http://schemas.microsoft.com/office/drawing/2014/main" xmlns="" val="20001"/>
                    </a:ext>
                  </a:extLst>
                </a:gridCol>
                <a:gridCol w="482454">
                  <a:extLst>
                    <a:ext uri="{9D8B030D-6E8A-4147-A177-3AD203B41FA5}">
                      <a16:colId xmlns:a16="http://schemas.microsoft.com/office/drawing/2014/main" xmlns="" val="20002"/>
                    </a:ext>
                  </a:extLst>
                </a:gridCol>
                <a:gridCol w="483265">
                  <a:extLst>
                    <a:ext uri="{9D8B030D-6E8A-4147-A177-3AD203B41FA5}">
                      <a16:colId xmlns:a16="http://schemas.microsoft.com/office/drawing/2014/main" xmlns="" val="20003"/>
                    </a:ext>
                  </a:extLst>
                </a:gridCol>
                <a:gridCol w="482454">
                  <a:extLst>
                    <a:ext uri="{9D8B030D-6E8A-4147-A177-3AD203B41FA5}">
                      <a16:colId xmlns:a16="http://schemas.microsoft.com/office/drawing/2014/main" xmlns="" val="20004"/>
                    </a:ext>
                  </a:extLst>
                </a:gridCol>
                <a:gridCol w="713546">
                  <a:extLst>
                    <a:ext uri="{9D8B030D-6E8A-4147-A177-3AD203B41FA5}">
                      <a16:colId xmlns:a16="http://schemas.microsoft.com/office/drawing/2014/main" xmlns="" val="20005"/>
                    </a:ext>
                  </a:extLst>
                </a:gridCol>
                <a:gridCol w="689221">
                  <a:extLst>
                    <a:ext uri="{9D8B030D-6E8A-4147-A177-3AD203B41FA5}">
                      <a16:colId xmlns:a16="http://schemas.microsoft.com/office/drawing/2014/main" xmlns="" val="20006"/>
                    </a:ext>
                  </a:extLst>
                </a:gridCol>
              </a:tblGrid>
              <a:tr h="324088">
                <a:tc>
                  <a:txBody>
                    <a:bodyPr/>
                    <a:lstStyle/>
                    <a:p>
                      <a:pPr algn="ctr">
                        <a:lnSpc>
                          <a:spcPct val="107000"/>
                        </a:lnSpc>
                        <a:spcAft>
                          <a:spcPts val="0"/>
                        </a:spcAft>
                        <a:tabLst>
                          <a:tab pos="457200" algn="l"/>
                        </a:tabLst>
                      </a:pPr>
                      <a:r>
                        <a:rPr lang="en-US" sz="1600" b="1" kern="100" dirty="0">
                          <a:solidFill>
                            <a:srgbClr val="6600FF"/>
                          </a:solidFill>
                          <a:latin typeface="Times New Roman"/>
                          <a:ea typeface="宋体"/>
                          <a:cs typeface="Times New Roman"/>
                        </a:rPr>
                        <a:t>26</a:t>
                      </a:r>
                      <a:endParaRPr lang="zh-CN" sz="1600" b="1" kern="100" dirty="0">
                        <a:solidFill>
                          <a:srgbClr val="6600FF"/>
                        </a:solidFill>
                        <a:latin typeface="等线"/>
                        <a:ea typeface="宋体"/>
                        <a:cs typeface="Times New Roman"/>
                      </a:endParaRPr>
                    </a:p>
                  </a:txBody>
                  <a:tcPr marL="0" marR="0" marT="0" marB="0" anchor="ctr">
                    <a:lnL>
                      <a:noFill/>
                    </a:lnL>
                    <a:lnR w="19050" cap="flat" cmpd="dbl"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b="1" kern="100">
                        <a:latin typeface="等线"/>
                        <a:ea typeface="宋体"/>
                        <a:cs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b="1" kern="10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r>
                        <a:rPr lang="zh-CN" sz="1600" b="1" kern="100" dirty="0">
                          <a:latin typeface="黑体" pitchFamily="49" charset="-122"/>
                          <a:ea typeface="黑体" pitchFamily="49" charset="-122"/>
                          <a:cs typeface="Times New Roman"/>
                        </a:rPr>
                        <a:t>商</a:t>
                      </a: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24088">
                <a:tc>
                  <a:txBody>
                    <a:bodyPr/>
                    <a:lstStyle/>
                    <a:p>
                      <a:pPr algn="ctr">
                        <a:lnSpc>
                          <a:spcPct val="107000"/>
                        </a:lnSpc>
                        <a:spcAft>
                          <a:spcPts val="0"/>
                        </a:spcAft>
                        <a:tabLst>
                          <a:tab pos="457200" algn="l"/>
                        </a:tabLst>
                      </a:pPr>
                      <a:r>
                        <a:rPr lang="en-US" sz="1600" b="1" kern="100" dirty="0">
                          <a:solidFill>
                            <a:srgbClr val="6600FF"/>
                          </a:solidFill>
                          <a:latin typeface="Times New Roman"/>
                          <a:ea typeface="宋体"/>
                          <a:cs typeface="Times New Roman"/>
                        </a:rPr>
                        <a:t>÷2</a:t>
                      </a:r>
                      <a:endParaRPr lang="zh-CN" sz="1600" b="1" kern="100" dirty="0">
                        <a:solidFill>
                          <a:srgbClr val="6600FF"/>
                        </a:solidFill>
                        <a:latin typeface="等线"/>
                        <a:ea typeface="宋体"/>
                        <a:cs typeface="Times New Roman"/>
                      </a:endParaRPr>
                    </a:p>
                  </a:txBody>
                  <a:tcPr marL="0" marR="0" marT="0" marB="0" anchor="ctr">
                    <a:lnL>
                      <a:noFill/>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r>
                        <a:rPr lang="zh-CN" sz="1600" b="1" kern="100" dirty="0">
                          <a:latin typeface="黑体" pitchFamily="49" charset="-122"/>
                          <a:ea typeface="黑体" pitchFamily="49" charset="-122"/>
                          <a:cs typeface="Times New Roman"/>
                        </a:rPr>
                        <a:t>余数</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1"/>
                  </a:ext>
                </a:extLst>
              </a:tr>
              <a:tr h="324088">
                <a:tc>
                  <a:txBody>
                    <a:bodyPr/>
                    <a:lstStyle/>
                    <a:p>
                      <a:pPr algn="r">
                        <a:lnSpc>
                          <a:spcPct val="107000"/>
                        </a:lnSpc>
                        <a:spcAft>
                          <a:spcPts val="0"/>
                        </a:spcAft>
                        <a:tabLst>
                          <a:tab pos="457200" algn="l"/>
                        </a:tabLst>
                      </a:pPr>
                      <a:endParaRPr lang="en-US" sz="1600" b="1" kern="100">
                        <a:latin typeface="Times New Roman"/>
                        <a:ea typeface="宋体"/>
                        <a:cs typeface="Times New Roman"/>
                      </a:endParaRPr>
                    </a:p>
                  </a:txBody>
                  <a:tcPr marL="0" marR="0" marT="0" marB="0" anchor="ctr">
                    <a:lnL>
                      <a:noFill/>
                    </a:lnL>
                    <a:lnR w="19050" cap="flat" cmpd="dbl" algn="ctr">
                      <a:solidFill>
                        <a:srgbClr val="000000"/>
                      </a:solidFill>
                      <a:prstDash val="solid"/>
                      <a:round/>
                      <a:headEnd type="none" w="med" len="med"/>
                      <a:tailEnd type="none" w="med" len="med"/>
                    </a:lnR>
                    <a:lnT>
                      <a:noFill/>
                    </a:lnT>
                    <a:lnB>
                      <a:noFill/>
                    </a:lnB>
                  </a:tcPr>
                </a:tc>
                <a:tc>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a:noFill/>
                    </a:lnT>
                    <a:lnB>
                      <a:noFill/>
                    </a:lnB>
                  </a:tcPr>
                </a:tc>
                <a:tc gridSpan="3">
                  <a:txBody>
                    <a:bodyPr/>
                    <a:lstStyle/>
                    <a:p>
                      <a:pPr algn="ctr">
                        <a:lnSpc>
                          <a:spcPct val="107000"/>
                        </a:lnSpc>
                        <a:spcAft>
                          <a:spcPts val="0"/>
                        </a:spcAft>
                        <a:tabLst>
                          <a:tab pos="457200" algn="l"/>
                        </a:tabLst>
                      </a:pPr>
                      <a:endParaRPr lang="zh-CN" sz="1600" b="1" kern="100" dirty="0">
                        <a:latin typeface="等线"/>
                        <a:ea typeface="宋体"/>
                        <a:cs typeface="Times New Roman"/>
                      </a:endParaRPr>
                    </a:p>
                  </a:txBody>
                  <a:tcPr marL="0" marR="0" marT="0" marB="0" anchor="ctr">
                    <a:lnL>
                      <a:noFill/>
                    </a:lnL>
                    <a:lnR>
                      <a:noFill/>
                    </a:lnR>
                    <a:lnT>
                      <a:noFill/>
                    </a:lnT>
                    <a:lnB>
                      <a:noFill/>
                    </a:lnB>
                  </a:tcPr>
                </a:tc>
                <a:tc hMerge="1">
                  <a:txBody>
                    <a:bodyPr/>
                    <a:lstStyle/>
                    <a:p>
                      <a:endParaRPr lang="zh-CN" altLang="en-US"/>
                    </a:p>
                  </a:txBody>
                  <a:tcPr/>
                </a:tc>
                <a:tc hMerge="1">
                  <a:txBody>
                    <a:bodyPr/>
                    <a:lstStyle/>
                    <a:p>
                      <a:endParaRPr lang="zh-CN" altLang="en-US"/>
                    </a:p>
                  </a:txBody>
                  <a:tcPr/>
                </a:tc>
                <a:tc>
                  <a:txBody>
                    <a:bodyPr/>
                    <a:lstStyle/>
                    <a:p>
                      <a:pPr algn="ctr">
                        <a:lnSpc>
                          <a:spcPct val="107000"/>
                        </a:lnSpc>
                        <a:spcAft>
                          <a:spcPts val="0"/>
                        </a:spcAft>
                        <a:tabLst>
                          <a:tab pos="400050" algn="l"/>
                        </a:tabLst>
                      </a:pPr>
                      <a:endParaRPr lang="zh-CN" sz="1600" b="1"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07000"/>
                        </a:lnSpc>
                        <a:spcAft>
                          <a:spcPts val="0"/>
                        </a:spcAft>
                        <a:tabLst>
                          <a:tab pos="457200" algn="l"/>
                        </a:tabLst>
                      </a:pPr>
                      <a:endParaRPr lang="en-US" sz="1600" b="1" kern="100" dirty="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xmlns="" val="10002"/>
                  </a:ext>
                </a:extLst>
              </a:tr>
            </a:tbl>
          </a:graphicData>
        </a:graphic>
      </p:graphicFrame>
      <p:graphicFrame>
        <p:nvGraphicFramePr>
          <p:cNvPr id="35" name="表格 34"/>
          <p:cNvGraphicFramePr>
            <a:graphicFrameLocks noGrp="1"/>
          </p:cNvGraphicFramePr>
          <p:nvPr/>
        </p:nvGraphicFramePr>
        <p:xfrm>
          <a:off x="1837699" y="3055650"/>
          <a:ext cx="2460649" cy="324088"/>
        </p:xfrm>
        <a:graphic>
          <a:graphicData uri="http://schemas.openxmlformats.org/drawingml/2006/table">
            <a:tbl>
              <a:tblPr/>
              <a:tblGrid>
                <a:gridCol w="448968">
                  <a:extLst>
                    <a:ext uri="{9D8B030D-6E8A-4147-A177-3AD203B41FA5}">
                      <a16:colId xmlns:a16="http://schemas.microsoft.com/office/drawing/2014/main" xmlns="" val="20000"/>
                    </a:ext>
                  </a:extLst>
                </a:gridCol>
                <a:gridCol w="448968">
                  <a:extLst>
                    <a:ext uri="{9D8B030D-6E8A-4147-A177-3AD203B41FA5}">
                      <a16:colId xmlns:a16="http://schemas.microsoft.com/office/drawing/2014/main" xmlns="" val="20001"/>
                    </a:ext>
                  </a:extLst>
                </a:gridCol>
                <a:gridCol w="449724">
                  <a:extLst>
                    <a:ext uri="{9D8B030D-6E8A-4147-A177-3AD203B41FA5}">
                      <a16:colId xmlns:a16="http://schemas.microsoft.com/office/drawing/2014/main" xmlns="" val="20002"/>
                    </a:ext>
                  </a:extLst>
                </a:gridCol>
                <a:gridCol w="448968">
                  <a:extLst>
                    <a:ext uri="{9D8B030D-6E8A-4147-A177-3AD203B41FA5}">
                      <a16:colId xmlns:a16="http://schemas.microsoft.com/office/drawing/2014/main" xmlns="" val="20003"/>
                    </a:ext>
                  </a:extLst>
                </a:gridCol>
                <a:gridCol w="664021">
                  <a:extLst>
                    <a:ext uri="{9D8B030D-6E8A-4147-A177-3AD203B41FA5}">
                      <a16:colId xmlns:a16="http://schemas.microsoft.com/office/drawing/2014/main" xmlns="" val="20004"/>
                    </a:ext>
                  </a:extLst>
                </a:gridCol>
              </a:tblGrid>
              <a:tr h="324088">
                <a:tc>
                  <a:txBody>
                    <a:bodyPr/>
                    <a:lstStyle/>
                    <a:p>
                      <a:pPr algn="ctr">
                        <a:lnSpc>
                          <a:spcPct val="107000"/>
                        </a:lnSpc>
                        <a:spcAft>
                          <a:spcPts val="0"/>
                        </a:spcAft>
                        <a:tabLst>
                          <a:tab pos="457200" algn="l"/>
                        </a:tabLst>
                      </a:pPr>
                      <a:r>
                        <a:rPr lang="en-US" sz="1600" b="1" kern="100" dirty="0">
                          <a:solidFill>
                            <a:srgbClr val="0000FF"/>
                          </a:solidFill>
                          <a:latin typeface="Times New Roman"/>
                          <a:ea typeface="宋体"/>
                          <a:cs typeface="Times New Roman"/>
                        </a:rPr>
                        <a:t>LSB</a:t>
                      </a:r>
                      <a:endParaRPr lang="zh-CN" sz="1600" b="1" kern="100" dirty="0">
                        <a:solidFill>
                          <a:srgbClr val="0000FF"/>
                        </a:solidFill>
                        <a:latin typeface="等线"/>
                        <a:ea typeface="宋体"/>
                        <a:cs typeface="Times New Roman"/>
                      </a:endParaRPr>
                    </a:p>
                  </a:txBody>
                  <a:tcPr marL="0" marR="0" marT="0" marB="0" anchor="ctr">
                    <a:lnL w="19050" cap="flat" cmpd="dbl"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gridSpan="3">
                  <a:txBody>
                    <a:bodyPr/>
                    <a:lstStyle/>
                    <a:p>
                      <a:pPr algn="ctr">
                        <a:lnSpc>
                          <a:spcPct val="107000"/>
                        </a:lnSpc>
                        <a:spcAft>
                          <a:spcPts val="0"/>
                        </a:spcAft>
                        <a:tabLst>
                          <a:tab pos="457200" algn="l"/>
                        </a:tabLst>
                      </a:pPr>
                      <a:r>
                        <a:rPr lang="zh-CN" sz="1600" b="1" kern="100" dirty="0">
                          <a:solidFill>
                            <a:srgbClr val="0000FF"/>
                          </a:solidFill>
                          <a:latin typeface="黑体" pitchFamily="49" charset="-122"/>
                          <a:ea typeface="黑体" pitchFamily="49" charset="-122"/>
                          <a:cs typeface="Times New Roman"/>
                        </a:rPr>
                        <a:t>←</a:t>
                      </a: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a:txBody>
                    <a:bodyPr/>
                    <a:lstStyle/>
                    <a:p>
                      <a:pPr algn="ctr">
                        <a:lnSpc>
                          <a:spcPct val="107000"/>
                        </a:lnSpc>
                        <a:spcAft>
                          <a:spcPts val="0"/>
                        </a:spcAft>
                        <a:tabLst>
                          <a:tab pos="400050" algn="l"/>
                        </a:tabLst>
                      </a:pPr>
                      <a:r>
                        <a:rPr lang="en-US" sz="1600" b="1" kern="100" dirty="0">
                          <a:solidFill>
                            <a:srgbClr val="0000FF"/>
                          </a:solidFill>
                          <a:latin typeface="Times New Roman"/>
                          <a:ea typeface="宋体"/>
                          <a:cs typeface="Times New Roman"/>
                        </a:rPr>
                        <a:t>MSB</a:t>
                      </a:r>
                      <a:endParaRPr lang="zh-CN" sz="1600" b="1" kern="100" dirty="0">
                        <a:solidFill>
                          <a:srgbClr val="0000FF"/>
                        </a:solidFill>
                        <a:latin typeface="等线"/>
                        <a:ea typeface="宋体"/>
                        <a:cs typeface="Times New Roman"/>
                      </a:endParaRP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grpSp>
        <p:nvGrpSpPr>
          <p:cNvPr id="47" name="组合 46"/>
          <p:cNvGrpSpPr/>
          <p:nvPr/>
        </p:nvGrpSpPr>
        <p:grpSpPr>
          <a:xfrm>
            <a:off x="1894701" y="2396836"/>
            <a:ext cx="415498" cy="718080"/>
            <a:chOff x="1894701" y="2663150"/>
            <a:chExt cx="415498" cy="797867"/>
          </a:xfrm>
        </p:grpSpPr>
        <p:sp>
          <p:nvSpPr>
            <p:cNvPr id="36" name="矩形 35"/>
            <p:cNvSpPr/>
            <p:nvPr/>
          </p:nvSpPr>
          <p:spPr>
            <a:xfrm>
              <a:off x="1894701" y="2663150"/>
              <a:ext cx="415498"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0000FF"/>
                  </a:solidFill>
                  <a:latin typeface="Times New Roman" pitchFamily="18" charset="0"/>
                  <a:cs typeface="Times New Roman" pitchFamily="18" charset="0"/>
                </a:rPr>
                <a:t>13</a:t>
              </a:r>
              <a:endParaRPr lang="zh-CN" altLang="zh-CN" b="1" kern="100" dirty="0">
                <a:solidFill>
                  <a:srgbClr val="0000FF"/>
                </a:solidFill>
                <a:latin typeface="Times New Roman" pitchFamily="18" charset="0"/>
                <a:cs typeface="Times New Roman" pitchFamily="18" charset="0"/>
              </a:endParaRPr>
            </a:p>
          </p:txBody>
        </p:sp>
        <p:sp>
          <p:nvSpPr>
            <p:cNvPr id="37" name="矩形 36"/>
            <p:cNvSpPr/>
            <p:nvPr/>
          </p:nvSpPr>
          <p:spPr>
            <a:xfrm>
              <a:off x="1951297" y="3029132"/>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FF00FF"/>
                  </a:solidFill>
                  <a:latin typeface="Times New Roman" pitchFamily="18" charset="0"/>
                  <a:cs typeface="Times New Roman" pitchFamily="18" charset="0"/>
                </a:rPr>
                <a:t>0</a:t>
              </a:r>
              <a:endParaRPr lang="zh-CN" altLang="zh-CN" b="1" kern="100" dirty="0">
                <a:solidFill>
                  <a:srgbClr val="FF00FF"/>
                </a:solidFill>
                <a:latin typeface="Times New Roman" pitchFamily="18" charset="0"/>
                <a:cs typeface="Times New Roman" pitchFamily="18" charset="0"/>
              </a:endParaRPr>
            </a:p>
          </p:txBody>
        </p:sp>
      </p:grpSp>
      <p:grpSp>
        <p:nvGrpSpPr>
          <p:cNvPr id="48" name="组合 47"/>
          <p:cNvGrpSpPr/>
          <p:nvPr/>
        </p:nvGrpSpPr>
        <p:grpSpPr>
          <a:xfrm>
            <a:off x="2464117" y="2401844"/>
            <a:ext cx="301194" cy="718080"/>
            <a:chOff x="2464116" y="2668715"/>
            <a:chExt cx="301194" cy="797867"/>
          </a:xfrm>
        </p:grpSpPr>
        <p:sp>
          <p:nvSpPr>
            <p:cNvPr id="38" name="矩形 37"/>
            <p:cNvSpPr/>
            <p:nvPr/>
          </p:nvSpPr>
          <p:spPr>
            <a:xfrm>
              <a:off x="2465228" y="2668715"/>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0000FF"/>
                  </a:solidFill>
                  <a:latin typeface="Times New Roman" pitchFamily="18" charset="0"/>
                  <a:cs typeface="Times New Roman" pitchFamily="18" charset="0"/>
                </a:rPr>
                <a:t>6</a:t>
              </a:r>
              <a:endParaRPr lang="zh-CN" altLang="zh-CN" b="1" kern="100" dirty="0">
                <a:solidFill>
                  <a:srgbClr val="0000FF"/>
                </a:solidFill>
                <a:latin typeface="Times New Roman" pitchFamily="18" charset="0"/>
                <a:cs typeface="Times New Roman" pitchFamily="18" charset="0"/>
              </a:endParaRPr>
            </a:p>
          </p:txBody>
        </p:sp>
        <p:sp>
          <p:nvSpPr>
            <p:cNvPr id="39" name="矩形 38"/>
            <p:cNvSpPr/>
            <p:nvPr/>
          </p:nvSpPr>
          <p:spPr>
            <a:xfrm>
              <a:off x="2464116" y="3034697"/>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FF00FF"/>
                  </a:solidFill>
                  <a:latin typeface="Times New Roman" pitchFamily="18" charset="0"/>
                  <a:cs typeface="Times New Roman" pitchFamily="18" charset="0"/>
                </a:rPr>
                <a:t>1</a:t>
              </a:r>
              <a:endParaRPr lang="zh-CN" altLang="zh-CN" b="1" kern="100" dirty="0">
                <a:solidFill>
                  <a:srgbClr val="FF00FF"/>
                </a:solidFill>
                <a:latin typeface="Times New Roman" pitchFamily="18" charset="0"/>
                <a:cs typeface="Times New Roman" pitchFamily="18" charset="0"/>
              </a:endParaRPr>
            </a:p>
          </p:txBody>
        </p:sp>
      </p:grpSp>
      <p:grpSp>
        <p:nvGrpSpPr>
          <p:cNvPr id="51" name="组合 50"/>
          <p:cNvGrpSpPr/>
          <p:nvPr/>
        </p:nvGrpSpPr>
        <p:grpSpPr>
          <a:xfrm>
            <a:off x="2943572" y="2400843"/>
            <a:ext cx="301194" cy="718080"/>
            <a:chOff x="2943571" y="2667603"/>
            <a:chExt cx="301194" cy="797867"/>
          </a:xfrm>
        </p:grpSpPr>
        <p:sp>
          <p:nvSpPr>
            <p:cNvPr id="40" name="矩形 39"/>
            <p:cNvSpPr/>
            <p:nvPr/>
          </p:nvSpPr>
          <p:spPr>
            <a:xfrm>
              <a:off x="2944683" y="2667603"/>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0000FF"/>
                  </a:solidFill>
                  <a:latin typeface="Times New Roman" pitchFamily="18" charset="0"/>
                  <a:cs typeface="Times New Roman" pitchFamily="18" charset="0"/>
                </a:rPr>
                <a:t>3</a:t>
              </a:r>
              <a:endParaRPr lang="zh-CN" altLang="zh-CN" b="1" kern="100" dirty="0">
                <a:solidFill>
                  <a:srgbClr val="0000FF"/>
                </a:solidFill>
                <a:latin typeface="Times New Roman" pitchFamily="18" charset="0"/>
                <a:cs typeface="Times New Roman" pitchFamily="18" charset="0"/>
              </a:endParaRPr>
            </a:p>
          </p:txBody>
        </p:sp>
        <p:sp>
          <p:nvSpPr>
            <p:cNvPr id="41" name="矩形 40"/>
            <p:cNvSpPr/>
            <p:nvPr/>
          </p:nvSpPr>
          <p:spPr>
            <a:xfrm>
              <a:off x="2943571" y="3033585"/>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FF00FF"/>
                  </a:solidFill>
                  <a:latin typeface="Times New Roman" pitchFamily="18" charset="0"/>
                  <a:cs typeface="Times New Roman" pitchFamily="18" charset="0"/>
                </a:rPr>
                <a:t>0</a:t>
              </a:r>
              <a:endParaRPr lang="zh-CN" altLang="zh-CN" b="1" kern="100" dirty="0">
                <a:solidFill>
                  <a:srgbClr val="FF00FF"/>
                </a:solidFill>
                <a:latin typeface="Times New Roman" pitchFamily="18" charset="0"/>
                <a:cs typeface="Times New Roman" pitchFamily="18" charset="0"/>
              </a:endParaRPr>
            </a:p>
          </p:txBody>
        </p:sp>
      </p:grpSp>
      <p:grpSp>
        <p:nvGrpSpPr>
          <p:cNvPr id="55" name="组合 54"/>
          <p:cNvGrpSpPr/>
          <p:nvPr/>
        </p:nvGrpSpPr>
        <p:grpSpPr>
          <a:xfrm>
            <a:off x="3417450" y="2388829"/>
            <a:ext cx="301194" cy="718080"/>
            <a:chOff x="3417449" y="2654254"/>
            <a:chExt cx="301194" cy="797867"/>
          </a:xfrm>
        </p:grpSpPr>
        <p:sp>
          <p:nvSpPr>
            <p:cNvPr id="42" name="矩形 41"/>
            <p:cNvSpPr/>
            <p:nvPr/>
          </p:nvSpPr>
          <p:spPr>
            <a:xfrm>
              <a:off x="3418561" y="2654254"/>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0000FF"/>
                  </a:solidFill>
                  <a:latin typeface="Times New Roman" pitchFamily="18" charset="0"/>
                  <a:cs typeface="Times New Roman" pitchFamily="18" charset="0"/>
                </a:rPr>
                <a:t>1</a:t>
              </a:r>
              <a:endParaRPr lang="zh-CN" altLang="zh-CN" b="1" kern="100" dirty="0">
                <a:solidFill>
                  <a:srgbClr val="0000FF"/>
                </a:solidFill>
                <a:latin typeface="Times New Roman" pitchFamily="18" charset="0"/>
                <a:cs typeface="Times New Roman" pitchFamily="18" charset="0"/>
              </a:endParaRPr>
            </a:p>
          </p:txBody>
        </p:sp>
        <p:sp>
          <p:nvSpPr>
            <p:cNvPr id="43" name="矩形 42"/>
            <p:cNvSpPr/>
            <p:nvPr/>
          </p:nvSpPr>
          <p:spPr>
            <a:xfrm>
              <a:off x="3417449" y="3020236"/>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FF00FF"/>
                  </a:solidFill>
                  <a:latin typeface="Times New Roman" pitchFamily="18" charset="0"/>
                  <a:cs typeface="Times New Roman" pitchFamily="18" charset="0"/>
                </a:rPr>
                <a:t>1</a:t>
              </a:r>
              <a:endParaRPr lang="zh-CN" altLang="zh-CN" b="1" kern="100" dirty="0">
                <a:solidFill>
                  <a:srgbClr val="FF00FF"/>
                </a:solidFill>
                <a:latin typeface="Times New Roman" pitchFamily="18" charset="0"/>
                <a:cs typeface="Times New Roman" pitchFamily="18" charset="0"/>
              </a:endParaRPr>
            </a:p>
          </p:txBody>
        </p:sp>
      </p:grpSp>
      <p:grpSp>
        <p:nvGrpSpPr>
          <p:cNvPr id="56" name="组合 55"/>
          <p:cNvGrpSpPr/>
          <p:nvPr/>
        </p:nvGrpSpPr>
        <p:grpSpPr>
          <a:xfrm>
            <a:off x="3918034" y="2388829"/>
            <a:ext cx="301194" cy="718080"/>
            <a:chOff x="3918033" y="2654254"/>
            <a:chExt cx="301194" cy="797867"/>
          </a:xfrm>
        </p:grpSpPr>
        <p:sp>
          <p:nvSpPr>
            <p:cNvPr id="45" name="矩形 44"/>
            <p:cNvSpPr/>
            <p:nvPr/>
          </p:nvSpPr>
          <p:spPr>
            <a:xfrm>
              <a:off x="3919145" y="2654254"/>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0000FF"/>
                  </a:solidFill>
                  <a:latin typeface="Times New Roman" pitchFamily="18" charset="0"/>
                  <a:cs typeface="Times New Roman" pitchFamily="18" charset="0"/>
                </a:rPr>
                <a:t>0</a:t>
              </a:r>
              <a:endParaRPr lang="zh-CN" altLang="zh-CN" b="1" kern="100" dirty="0">
                <a:solidFill>
                  <a:srgbClr val="0000FF"/>
                </a:solidFill>
                <a:latin typeface="Times New Roman" pitchFamily="18" charset="0"/>
                <a:cs typeface="Times New Roman" pitchFamily="18" charset="0"/>
              </a:endParaRPr>
            </a:p>
          </p:txBody>
        </p:sp>
        <p:sp>
          <p:nvSpPr>
            <p:cNvPr id="46" name="矩形 45"/>
            <p:cNvSpPr/>
            <p:nvPr/>
          </p:nvSpPr>
          <p:spPr>
            <a:xfrm>
              <a:off x="3918033" y="3020236"/>
              <a:ext cx="300082" cy="431885"/>
            </a:xfrm>
            <a:prstGeom prst="rect">
              <a:avLst/>
            </a:prstGeom>
          </p:spPr>
          <p:txBody>
            <a:bodyPr wrap="none">
              <a:spAutoFit/>
            </a:bodyPr>
            <a:lstStyle/>
            <a:p>
              <a:pPr algn="ctr">
                <a:lnSpc>
                  <a:spcPct val="107000"/>
                </a:lnSpc>
                <a:spcAft>
                  <a:spcPts val="0"/>
                </a:spcAft>
                <a:tabLst>
                  <a:tab pos="457200" algn="l"/>
                </a:tabLst>
              </a:pPr>
              <a:r>
                <a:rPr lang="en-US" altLang="zh-CN" b="1" kern="100" dirty="0">
                  <a:solidFill>
                    <a:srgbClr val="FF00FF"/>
                  </a:solidFill>
                  <a:latin typeface="Times New Roman" pitchFamily="18" charset="0"/>
                  <a:cs typeface="Times New Roman" pitchFamily="18" charset="0"/>
                </a:rPr>
                <a:t>1</a:t>
              </a:r>
              <a:endParaRPr lang="zh-CN" altLang="zh-CN" b="1" kern="100" dirty="0">
                <a:solidFill>
                  <a:srgbClr val="FF00FF"/>
                </a:solidFill>
                <a:latin typeface="Times New Roman" pitchFamily="18" charset="0"/>
                <a:cs typeface="Times New Roman" pitchFamily="18" charset="0"/>
              </a:endParaRPr>
            </a:p>
          </p:txBody>
        </p:sp>
      </p:grpSp>
      <p:sp>
        <p:nvSpPr>
          <p:cNvPr id="57" name="矩形 56"/>
          <p:cNvSpPr/>
          <p:nvPr/>
        </p:nvSpPr>
        <p:spPr>
          <a:xfrm>
            <a:off x="747522" y="2345482"/>
            <a:ext cx="387137" cy="1200329"/>
          </a:xfrm>
          <a:prstGeom prst="rect">
            <a:avLst/>
          </a:prstGeom>
        </p:spPr>
        <p:txBody>
          <a:bodyPr wrap="square">
            <a:spAutoFit/>
          </a:bodyPr>
          <a:lstStyle/>
          <a:p>
            <a:r>
              <a:rPr lang="zh-CN" altLang="en-US" dirty="0">
                <a:solidFill>
                  <a:srgbClr val="6600FF"/>
                </a:solidFill>
                <a:latin typeface="方正粗黑宋简体" pitchFamily="2" charset="-122"/>
                <a:ea typeface="方正粗黑宋简体" pitchFamily="2" charset="-122"/>
              </a:rPr>
              <a:t>整数部分</a:t>
            </a:r>
            <a:endParaRPr lang="zh-CN" altLang="en-US" dirty="0"/>
          </a:p>
        </p:txBody>
      </p:sp>
      <p:sp>
        <p:nvSpPr>
          <p:cNvPr id="58" name="矩形 57"/>
          <p:cNvSpPr/>
          <p:nvPr/>
        </p:nvSpPr>
        <p:spPr>
          <a:xfrm>
            <a:off x="729792" y="3593121"/>
            <a:ext cx="387137" cy="1200329"/>
          </a:xfrm>
          <a:prstGeom prst="rect">
            <a:avLst/>
          </a:prstGeom>
        </p:spPr>
        <p:txBody>
          <a:bodyPr wrap="square">
            <a:spAutoFit/>
          </a:bodyPr>
          <a:lstStyle/>
          <a:p>
            <a:r>
              <a:rPr lang="zh-CN" altLang="en-US" dirty="0">
                <a:solidFill>
                  <a:srgbClr val="6600FF"/>
                </a:solidFill>
                <a:latin typeface="方正粗黑宋简体" pitchFamily="2" charset="-122"/>
                <a:ea typeface="方正粗黑宋简体" pitchFamily="2" charset="-122"/>
              </a:rPr>
              <a:t>小数部分</a:t>
            </a:r>
            <a:endParaRPr lang="zh-CN" altLang="en-US" dirty="0"/>
          </a:p>
        </p:txBody>
      </p:sp>
      <p:graphicFrame>
        <p:nvGraphicFramePr>
          <p:cNvPr id="63" name="表格 62"/>
          <p:cNvGraphicFramePr>
            <a:graphicFrameLocks noGrp="1"/>
          </p:cNvGraphicFramePr>
          <p:nvPr/>
        </p:nvGraphicFramePr>
        <p:xfrm>
          <a:off x="1213419" y="3505659"/>
          <a:ext cx="4833009" cy="1234565"/>
        </p:xfrm>
        <a:graphic>
          <a:graphicData uri="http://schemas.openxmlformats.org/drawingml/2006/table">
            <a:tbl>
              <a:tblPr/>
              <a:tblGrid>
                <a:gridCol w="515930">
                  <a:extLst>
                    <a:ext uri="{9D8B030D-6E8A-4147-A177-3AD203B41FA5}">
                      <a16:colId xmlns:a16="http://schemas.microsoft.com/office/drawing/2014/main" xmlns="" val="20000"/>
                    </a:ext>
                  </a:extLst>
                </a:gridCol>
                <a:gridCol w="570768">
                  <a:extLst>
                    <a:ext uri="{9D8B030D-6E8A-4147-A177-3AD203B41FA5}">
                      <a16:colId xmlns:a16="http://schemas.microsoft.com/office/drawing/2014/main" xmlns="" val="20001"/>
                    </a:ext>
                  </a:extLst>
                </a:gridCol>
                <a:gridCol w="580030">
                  <a:extLst>
                    <a:ext uri="{9D8B030D-6E8A-4147-A177-3AD203B41FA5}">
                      <a16:colId xmlns:a16="http://schemas.microsoft.com/office/drawing/2014/main" xmlns="" val="20002"/>
                    </a:ext>
                  </a:extLst>
                </a:gridCol>
                <a:gridCol w="586854">
                  <a:extLst>
                    <a:ext uri="{9D8B030D-6E8A-4147-A177-3AD203B41FA5}">
                      <a16:colId xmlns:a16="http://schemas.microsoft.com/office/drawing/2014/main" xmlns="" val="20003"/>
                    </a:ext>
                  </a:extLst>
                </a:gridCol>
                <a:gridCol w="675564">
                  <a:extLst>
                    <a:ext uri="{9D8B030D-6E8A-4147-A177-3AD203B41FA5}">
                      <a16:colId xmlns:a16="http://schemas.microsoft.com/office/drawing/2014/main" xmlns="" val="20004"/>
                    </a:ext>
                  </a:extLst>
                </a:gridCol>
                <a:gridCol w="789021">
                  <a:extLst>
                    <a:ext uri="{9D8B030D-6E8A-4147-A177-3AD203B41FA5}">
                      <a16:colId xmlns:a16="http://schemas.microsoft.com/office/drawing/2014/main" xmlns="" val="20005"/>
                    </a:ext>
                  </a:extLst>
                </a:gridCol>
                <a:gridCol w="1114842">
                  <a:extLst>
                    <a:ext uri="{9D8B030D-6E8A-4147-A177-3AD203B41FA5}">
                      <a16:colId xmlns:a16="http://schemas.microsoft.com/office/drawing/2014/main" xmlns="" val="20006"/>
                    </a:ext>
                  </a:extLst>
                </a:gridCol>
              </a:tblGrid>
              <a:tr h="343923">
                <a:tc rowSpan="2">
                  <a:txBody>
                    <a:bodyPr/>
                    <a:lstStyle/>
                    <a:p>
                      <a:pPr algn="ctr">
                        <a:lnSpc>
                          <a:spcPct val="107000"/>
                        </a:lnSpc>
                        <a:spcAft>
                          <a:spcPts val="0"/>
                        </a:spcAft>
                        <a:tabLst>
                          <a:tab pos="457200" algn="l"/>
                        </a:tabLst>
                      </a:pPr>
                      <a:r>
                        <a:rPr lang="en-US" sz="1600" b="1" kern="100" dirty="0">
                          <a:solidFill>
                            <a:srgbClr val="0000FF"/>
                          </a:solidFill>
                          <a:latin typeface="Times New Roman"/>
                          <a:ea typeface="宋体"/>
                          <a:cs typeface="Times New Roman"/>
                        </a:rPr>
                        <a:t>×2</a:t>
                      </a:r>
                      <a:endParaRPr lang="zh-CN" sz="1600" b="1" kern="100" dirty="0">
                        <a:solidFill>
                          <a:srgbClr val="0000FF"/>
                        </a:solidFill>
                        <a:latin typeface="等线"/>
                        <a:ea typeface="宋体"/>
                        <a:cs typeface="Times New Roman"/>
                      </a:endParaRPr>
                    </a:p>
                    <a:p>
                      <a:pPr algn="ctr">
                        <a:lnSpc>
                          <a:spcPct val="107000"/>
                        </a:lnSpc>
                        <a:spcAft>
                          <a:spcPts val="0"/>
                        </a:spcAft>
                        <a:tabLst>
                          <a:tab pos="457200" algn="l"/>
                        </a:tabLst>
                      </a:pPr>
                      <a:r>
                        <a:rPr lang="en-US" sz="1600" b="1" kern="100" dirty="0">
                          <a:solidFill>
                            <a:srgbClr val="0000FF"/>
                          </a:solidFill>
                          <a:latin typeface="Times New Roman"/>
                          <a:ea typeface="宋体"/>
                          <a:cs typeface="Times New Roman"/>
                        </a:rPr>
                        <a:t>0.74</a:t>
                      </a:r>
                      <a:endParaRPr lang="zh-CN" sz="1600" b="1" kern="100" dirty="0">
                        <a:solidFill>
                          <a:srgbClr val="0000FF"/>
                        </a:solidFill>
                        <a:latin typeface="等线"/>
                        <a:ea typeface="宋体"/>
                        <a:cs typeface="Times New Roman"/>
                      </a:endParaRPr>
                    </a:p>
                  </a:txBody>
                  <a:tcPr marL="0" marR="0" marT="0" marB="0" anchor="b">
                    <a:lnL>
                      <a:noFill/>
                    </a:lnL>
                    <a:lnR w="19050" cap="flat" cmpd="dbl"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endParaRPr lang="zh-CN" altLang="en-US" sz="1600"/>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endParaRPr lang="zh-CN" altLang="en-US" sz="1600"/>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r>
                        <a:rPr lang="zh-CN" sz="1600" kern="100" dirty="0">
                          <a:latin typeface="黑体" pitchFamily="49" charset="-122"/>
                          <a:ea typeface="黑体" pitchFamily="49" charset="-122"/>
                          <a:cs typeface="Times New Roman"/>
                        </a:rPr>
                        <a:t>积</a:t>
                      </a:r>
                    </a:p>
                  </a:txBody>
                  <a:tcPr marL="0" marR="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62348">
                <a:tc vMerge="1">
                  <a:txBody>
                    <a:bodyPr/>
                    <a:lstStyle/>
                    <a:p>
                      <a:endParaRPr lang="zh-CN" altLang="en-US"/>
                    </a:p>
                  </a:txBody>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altLang="en-US" sz="1600"/>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altLang="en-US" sz="1600"/>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457200" algn="l"/>
                        </a:tabLst>
                      </a:pPr>
                      <a:r>
                        <a:rPr lang="zh-CN" sz="1600" kern="100" dirty="0">
                          <a:latin typeface="黑体" pitchFamily="49" charset="-122"/>
                          <a:ea typeface="黑体" pitchFamily="49" charset="-122"/>
                          <a:cs typeface="Times New Roman"/>
                        </a:rPr>
                        <a:t>剩余小数</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64147">
                <a:tc>
                  <a:txBody>
                    <a:bodyPr/>
                    <a:lstStyle/>
                    <a:p>
                      <a:pPr algn="ctr">
                        <a:lnSpc>
                          <a:spcPct val="107000"/>
                        </a:lnSpc>
                        <a:spcAft>
                          <a:spcPts val="0"/>
                        </a:spcAft>
                        <a:tabLst>
                          <a:tab pos="457200" algn="l"/>
                        </a:tabLst>
                      </a:pPr>
                      <a:endParaRPr lang="en-US" sz="1600" kern="100">
                        <a:latin typeface="Times New Roman"/>
                        <a:ea typeface="宋体"/>
                        <a:cs typeface="Times New Roman"/>
                      </a:endParaRPr>
                    </a:p>
                  </a:txBody>
                  <a:tcPr marL="0" marR="0" marT="0" marB="0" anchor="ctr">
                    <a:lnL>
                      <a:noFill/>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endParaRPr lang="zh-CN" altLang="en-US" sz="1600" dirty="0"/>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endParaRPr lang="zh-CN" altLang="en-US" sz="1600" dirty="0"/>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07000"/>
                        </a:lnSpc>
                        <a:spcAft>
                          <a:spcPts val="0"/>
                        </a:spcAft>
                        <a:tabLst>
                          <a:tab pos="457200" algn="l"/>
                        </a:tabLst>
                      </a:pPr>
                      <a:r>
                        <a:rPr lang="zh-CN" sz="1600" kern="100" dirty="0">
                          <a:latin typeface="黑体" pitchFamily="49" charset="-122"/>
                          <a:ea typeface="黑体" pitchFamily="49" charset="-122"/>
                          <a:cs typeface="Times New Roman"/>
                        </a:rPr>
                        <a:t>整数</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2"/>
                  </a:ext>
                </a:extLst>
              </a:tr>
              <a:tr h="264147">
                <a:tc>
                  <a:txBody>
                    <a:bodyPr/>
                    <a:lstStyle/>
                    <a:p>
                      <a:pPr algn="r">
                        <a:lnSpc>
                          <a:spcPct val="107000"/>
                        </a:lnSpc>
                        <a:spcAft>
                          <a:spcPts val="0"/>
                        </a:spcAft>
                        <a:tabLst>
                          <a:tab pos="457200" algn="l"/>
                        </a:tabLst>
                      </a:pPr>
                      <a:endParaRPr lang="en-US" sz="1600" kern="100" dirty="0">
                        <a:latin typeface="Times New Roman"/>
                        <a:ea typeface="宋体"/>
                        <a:cs typeface="Times New Roman"/>
                      </a:endParaRPr>
                    </a:p>
                  </a:txBody>
                  <a:tcPr marL="0" marR="0" marT="0" marB="0" anchor="ctr">
                    <a:lnL>
                      <a:noFill/>
                    </a:lnL>
                    <a:lnR w="19050" cap="flat" cmpd="dbl" algn="ctr">
                      <a:solidFill>
                        <a:srgbClr val="000000"/>
                      </a:solidFill>
                      <a:prstDash val="solid"/>
                      <a:round/>
                      <a:headEnd type="none" w="med" len="med"/>
                      <a:tailEnd type="none" w="med" len="med"/>
                    </a:lnR>
                    <a:lnT>
                      <a:noFill/>
                    </a:lnT>
                    <a:lnB>
                      <a:noFill/>
                    </a:lnB>
                  </a:tcPr>
                </a:tc>
                <a:tc>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w="19050" cap="flat" cmpd="dbl" algn="ctr">
                      <a:solidFill>
                        <a:srgbClr val="000000"/>
                      </a:solidFill>
                      <a:prstDash val="solid"/>
                      <a:round/>
                      <a:headEnd type="none" w="med" len="med"/>
                      <a:tailEnd type="none" w="med" len="med"/>
                    </a:lnL>
                    <a:lnR>
                      <a:noFill/>
                    </a:lnR>
                    <a:lnT>
                      <a:noFill/>
                    </a:lnT>
                    <a:lnB>
                      <a:noFill/>
                    </a:lnB>
                  </a:tcPr>
                </a:tc>
                <a:tc gridSpan="3">
                  <a:txBody>
                    <a:bodyPr/>
                    <a:lstStyle/>
                    <a:p>
                      <a:pPr algn="ctr">
                        <a:lnSpc>
                          <a:spcPct val="107000"/>
                        </a:lnSpc>
                        <a:spcAft>
                          <a:spcPts val="0"/>
                        </a:spcAft>
                        <a:tabLst>
                          <a:tab pos="457200" algn="l"/>
                        </a:tabLst>
                      </a:pPr>
                      <a:endParaRPr lang="zh-CN" sz="1600" kern="100" dirty="0">
                        <a:latin typeface="等线"/>
                        <a:ea typeface="宋体"/>
                        <a:cs typeface="Times New Roman"/>
                      </a:endParaRPr>
                    </a:p>
                  </a:txBody>
                  <a:tcPr marL="0" marR="0" marT="0" marB="0" anchor="ctr">
                    <a:lnL>
                      <a:noFill/>
                    </a:lnL>
                    <a:lnR>
                      <a:noFill/>
                    </a:lnR>
                    <a:lnT>
                      <a:noFill/>
                    </a:lnT>
                    <a:lnB>
                      <a:noFill/>
                    </a:lnB>
                  </a:tcPr>
                </a:tc>
                <a:tc hMerge="1">
                  <a:txBody>
                    <a:bodyPr/>
                    <a:lstStyle/>
                    <a:p>
                      <a:endParaRPr lang="zh-CN" altLang="en-US"/>
                    </a:p>
                  </a:txBody>
                  <a:tcPr/>
                </a:tc>
                <a:tc hMerge="1">
                  <a:txBody>
                    <a:bodyPr/>
                    <a:lstStyle/>
                    <a:p>
                      <a:endParaRPr lang="zh-CN" altLang="en-US"/>
                    </a:p>
                  </a:txBody>
                  <a:tcPr/>
                </a:tc>
                <a:tc>
                  <a:txBody>
                    <a:bodyPr/>
                    <a:lstStyle/>
                    <a:p>
                      <a:pPr algn="ctr">
                        <a:lnSpc>
                          <a:spcPct val="107000"/>
                        </a:lnSpc>
                        <a:spcAft>
                          <a:spcPts val="0"/>
                        </a:spcAft>
                        <a:tabLst>
                          <a:tab pos="400050" algn="l"/>
                        </a:tabLst>
                      </a:pPr>
                      <a:endParaRPr lang="zh-CN" sz="1600" kern="100" dirty="0">
                        <a:latin typeface="等线"/>
                        <a:ea typeface="宋体"/>
                        <a:cs typeface="Times New Roman"/>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07000"/>
                        </a:lnSpc>
                        <a:spcAft>
                          <a:spcPts val="0"/>
                        </a:spcAft>
                        <a:tabLst>
                          <a:tab pos="457200" algn="l"/>
                        </a:tabLst>
                      </a:pPr>
                      <a:endParaRPr lang="en-US" sz="1600" kern="100" dirty="0">
                        <a:latin typeface="Times New Roman"/>
                        <a:ea typeface="宋体"/>
                        <a:cs typeface="Times New Roman"/>
                      </a:endParaRPr>
                    </a:p>
                  </a:txBody>
                  <a:tcPr marL="0" marR="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xmlns="" val="10003"/>
                  </a:ext>
                </a:extLst>
              </a:tr>
            </a:tbl>
          </a:graphicData>
        </a:graphic>
      </p:graphicFrame>
      <p:graphicFrame>
        <p:nvGraphicFramePr>
          <p:cNvPr id="64" name="表格 63"/>
          <p:cNvGraphicFramePr>
            <a:graphicFrameLocks noGrp="1"/>
          </p:cNvGraphicFramePr>
          <p:nvPr/>
        </p:nvGraphicFramePr>
        <p:xfrm>
          <a:off x="1776952" y="3523914"/>
          <a:ext cx="570768" cy="970418"/>
        </p:xfrm>
        <a:graphic>
          <a:graphicData uri="http://schemas.openxmlformats.org/drawingml/2006/table">
            <a:tbl>
              <a:tblPr/>
              <a:tblGrid>
                <a:gridCol w="570768">
                  <a:extLst>
                    <a:ext uri="{9D8B030D-6E8A-4147-A177-3AD203B41FA5}">
                      <a16:colId xmlns:a16="http://schemas.microsoft.com/office/drawing/2014/main" xmlns="" val="20000"/>
                    </a:ext>
                  </a:extLst>
                </a:gridCol>
              </a:tblGrid>
              <a:tr h="343923">
                <a:tc>
                  <a:txBody>
                    <a:bodyPr/>
                    <a:lstStyle/>
                    <a:p>
                      <a:pPr algn="ctr">
                        <a:lnSpc>
                          <a:spcPct val="107000"/>
                        </a:lnSpc>
                        <a:spcAft>
                          <a:spcPts val="0"/>
                        </a:spcAft>
                        <a:tabLst>
                          <a:tab pos="457200" algn="l"/>
                        </a:tabLst>
                      </a:pPr>
                      <a:r>
                        <a:rPr lang="en-US" sz="1600" b="0" kern="100" dirty="0">
                          <a:solidFill>
                            <a:srgbClr val="0000FF"/>
                          </a:solidFill>
                          <a:latin typeface="Times New Roman"/>
                          <a:ea typeface="宋体"/>
                          <a:cs typeface="Times New Roman"/>
                        </a:rPr>
                        <a:t>1.48</a:t>
                      </a:r>
                      <a:endParaRPr lang="zh-CN" sz="1600" b="0" kern="100" dirty="0">
                        <a:solidFill>
                          <a:srgbClr val="0000FF"/>
                        </a:solidFill>
                        <a:latin typeface="等线"/>
                        <a:ea typeface="宋体"/>
                        <a:cs typeface="Times New Roman"/>
                      </a:endParaRPr>
                    </a:p>
                  </a:txBody>
                  <a:tcPr marL="0" marR="0" marT="0" marB="0" anchor="ctr">
                    <a:lnL w="19050" cap="flat" cmpd="dbl"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62348">
                <a:tc>
                  <a:txBody>
                    <a:bodyPr/>
                    <a:lstStyle/>
                    <a:p>
                      <a:pPr algn="ctr">
                        <a:lnSpc>
                          <a:spcPct val="107000"/>
                        </a:lnSpc>
                        <a:spcAft>
                          <a:spcPts val="0"/>
                        </a:spcAft>
                        <a:tabLst>
                          <a:tab pos="457200" algn="l"/>
                        </a:tabLst>
                      </a:pPr>
                      <a:r>
                        <a:rPr lang="en-US" sz="1600" b="0" kern="100" dirty="0">
                          <a:solidFill>
                            <a:srgbClr val="6600FF"/>
                          </a:solidFill>
                          <a:latin typeface="Times New Roman"/>
                          <a:ea typeface="宋体"/>
                          <a:cs typeface="Times New Roman"/>
                        </a:rPr>
                        <a:t>0.48</a:t>
                      </a:r>
                      <a:endParaRPr lang="zh-CN" sz="1600" b="0" kern="100" dirty="0">
                        <a:solidFill>
                          <a:srgbClr val="6600FF"/>
                        </a:solidFill>
                        <a:latin typeface="等线"/>
                        <a:ea typeface="宋体"/>
                        <a:cs typeface="Times New Roman"/>
                      </a:endParaRPr>
                    </a:p>
                  </a:txBody>
                  <a:tcPr marL="0" marR="0"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64147">
                <a:tc>
                  <a:txBody>
                    <a:bodyPr/>
                    <a:lstStyle/>
                    <a:p>
                      <a:pPr algn="ctr">
                        <a:lnSpc>
                          <a:spcPct val="107000"/>
                        </a:lnSpc>
                        <a:spcAft>
                          <a:spcPts val="0"/>
                        </a:spcAft>
                        <a:tabLst>
                          <a:tab pos="457200" algn="l"/>
                        </a:tabLst>
                      </a:pPr>
                      <a:r>
                        <a:rPr lang="en-US" sz="1600" b="1" kern="100" dirty="0">
                          <a:solidFill>
                            <a:srgbClr val="FF00FF"/>
                          </a:solidFill>
                          <a:latin typeface="Times New Roman"/>
                          <a:ea typeface="宋体"/>
                          <a:cs typeface="Times New Roman"/>
                        </a:rPr>
                        <a:t>1</a:t>
                      </a:r>
                      <a:endParaRPr lang="zh-CN" sz="1600" b="1" kern="100" dirty="0">
                        <a:solidFill>
                          <a:srgbClr val="FF00FF"/>
                        </a:solidFill>
                        <a:latin typeface="等线"/>
                        <a:ea typeface="宋体"/>
                        <a:cs typeface="Times New Roman"/>
                      </a:endParaRPr>
                    </a:p>
                  </a:txBody>
                  <a:tcPr marL="0" marR="0"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graphicFrame>
        <p:nvGraphicFramePr>
          <p:cNvPr id="66" name="表格 65"/>
          <p:cNvGraphicFramePr>
            <a:graphicFrameLocks noGrp="1"/>
          </p:cNvGraphicFramePr>
          <p:nvPr/>
        </p:nvGraphicFramePr>
        <p:xfrm>
          <a:off x="2382449" y="3523914"/>
          <a:ext cx="580030" cy="970418"/>
        </p:xfrm>
        <a:graphic>
          <a:graphicData uri="http://schemas.openxmlformats.org/drawingml/2006/table">
            <a:tbl>
              <a:tblPr/>
              <a:tblGrid>
                <a:gridCol w="580030">
                  <a:extLst>
                    <a:ext uri="{9D8B030D-6E8A-4147-A177-3AD203B41FA5}">
                      <a16:colId xmlns:a16="http://schemas.microsoft.com/office/drawing/2014/main" xmlns="" val="20000"/>
                    </a:ext>
                  </a:extLst>
                </a:gridCol>
              </a:tblGrid>
              <a:tr h="343923">
                <a:tc>
                  <a:txBody>
                    <a:bodyPr/>
                    <a:lstStyle/>
                    <a:p>
                      <a:pPr algn="ctr">
                        <a:lnSpc>
                          <a:spcPct val="107000"/>
                        </a:lnSpc>
                        <a:spcAft>
                          <a:spcPts val="0"/>
                        </a:spcAft>
                        <a:tabLst>
                          <a:tab pos="457200" algn="l"/>
                        </a:tabLst>
                      </a:pPr>
                      <a:r>
                        <a:rPr lang="en-US" sz="1600" kern="100" dirty="0">
                          <a:solidFill>
                            <a:srgbClr val="0000FF"/>
                          </a:solidFill>
                          <a:latin typeface="Times New Roman"/>
                          <a:ea typeface="宋体"/>
                          <a:cs typeface="Times New Roman"/>
                        </a:rPr>
                        <a:t>0.96</a:t>
                      </a:r>
                      <a:endParaRPr lang="zh-CN" sz="1600" kern="100" dirty="0">
                        <a:solidFill>
                          <a:srgbClr val="0000FF"/>
                        </a:solidFill>
                        <a:latin typeface="等线"/>
                        <a:ea typeface="宋体"/>
                        <a:cs typeface="Times New Roman"/>
                      </a:endParaRP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62348">
                <a:tc>
                  <a:txBody>
                    <a:bodyPr/>
                    <a:lstStyle/>
                    <a:p>
                      <a:pPr algn="ctr">
                        <a:lnSpc>
                          <a:spcPct val="107000"/>
                        </a:lnSpc>
                        <a:spcAft>
                          <a:spcPts val="0"/>
                        </a:spcAft>
                        <a:tabLst>
                          <a:tab pos="457200" algn="l"/>
                        </a:tabLst>
                      </a:pPr>
                      <a:r>
                        <a:rPr lang="en-US" sz="1600" kern="100" dirty="0">
                          <a:solidFill>
                            <a:srgbClr val="6600FF"/>
                          </a:solidFill>
                          <a:latin typeface="Times New Roman"/>
                          <a:ea typeface="宋体"/>
                          <a:cs typeface="Times New Roman"/>
                        </a:rPr>
                        <a:t>0.96</a:t>
                      </a:r>
                      <a:endParaRPr lang="zh-CN" sz="1600" kern="100" dirty="0">
                        <a:solidFill>
                          <a:srgbClr val="6600FF"/>
                        </a:solidFill>
                        <a:latin typeface="等线"/>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64147">
                <a:tc>
                  <a:txBody>
                    <a:bodyPr/>
                    <a:lstStyle/>
                    <a:p>
                      <a:pPr marL="0" algn="ctr" defTabSz="914400" rtl="0" eaLnBrk="1" latinLnBrk="0" hangingPunct="1">
                        <a:lnSpc>
                          <a:spcPct val="107000"/>
                        </a:lnSpc>
                        <a:spcAft>
                          <a:spcPts val="0"/>
                        </a:spcAft>
                        <a:tabLst>
                          <a:tab pos="457200" algn="l"/>
                        </a:tabLst>
                      </a:pPr>
                      <a:r>
                        <a:rPr lang="en-US" sz="1600" b="1" kern="100" dirty="0">
                          <a:solidFill>
                            <a:srgbClr val="FF00FF"/>
                          </a:solidFill>
                          <a:latin typeface="Times New Roman"/>
                          <a:ea typeface="宋体"/>
                          <a:cs typeface="Times New Roman"/>
                        </a:rPr>
                        <a:t>0</a:t>
                      </a:r>
                      <a:endParaRPr lang="zh-CN" sz="1600" b="1" kern="100" dirty="0">
                        <a:solidFill>
                          <a:srgbClr val="FF00FF"/>
                        </a:solidFill>
                        <a:latin typeface="Times New Roman"/>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graphicFrame>
        <p:nvGraphicFramePr>
          <p:cNvPr id="67" name="表格 66"/>
          <p:cNvGraphicFramePr>
            <a:graphicFrameLocks noGrp="1"/>
          </p:cNvGraphicFramePr>
          <p:nvPr/>
        </p:nvGraphicFramePr>
        <p:xfrm>
          <a:off x="2997208" y="3523914"/>
          <a:ext cx="586854" cy="970418"/>
        </p:xfrm>
        <a:graphic>
          <a:graphicData uri="http://schemas.openxmlformats.org/drawingml/2006/table">
            <a:tbl>
              <a:tblPr/>
              <a:tblGrid>
                <a:gridCol w="586854">
                  <a:extLst>
                    <a:ext uri="{9D8B030D-6E8A-4147-A177-3AD203B41FA5}">
                      <a16:colId xmlns:a16="http://schemas.microsoft.com/office/drawing/2014/main" xmlns="" val="20000"/>
                    </a:ext>
                  </a:extLst>
                </a:gridCol>
              </a:tblGrid>
              <a:tr h="343923">
                <a:tc>
                  <a:txBody>
                    <a:bodyPr/>
                    <a:lstStyle/>
                    <a:p>
                      <a:pPr algn="ctr">
                        <a:lnSpc>
                          <a:spcPct val="107000"/>
                        </a:lnSpc>
                        <a:spcAft>
                          <a:spcPts val="0"/>
                        </a:spcAft>
                        <a:tabLst>
                          <a:tab pos="457200" algn="l"/>
                        </a:tabLst>
                      </a:pPr>
                      <a:r>
                        <a:rPr lang="en-US" sz="1600" kern="100" dirty="0">
                          <a:solidFill>
                            <a:srgbClr val="0000FF"/>
                          </a:solidFill>
                          <a:latin typeface="Times New Roman"/>
                          <a:ea typeface="宋体"/>
                          <a:cs typeface="Times New Roman"/>
                        </a:rPr>
                        <a:t>1.92</a:t>
                      </a:r>
                      <a:endParaRPr lang="zh-CN" sz="1600" kern="100" dirty="0">
                        <a:solidFill>
                          <a:srgbClr val="0000FF"/>
                        </a:solidFill>
                        <a:latin typeface="等线"/>
                        <a:ea typeface="宋体"/>
                        <a:cs typeface="Times New Roman"/>
                      </a:endParaRP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62348">
                <a:tc>
                  <a:txBody>
                    <a:bodyPr/>
                    <a:lstStyle/>
                    <a:p>
                      <a:pPr algn="ctr">
                        <a:lnSpc>
                          <a:spcPct val="107000"/>
                        </a:lnSpc>
                        <a:spcAft>
                          <a:spcPts val="0"/>
                        </a:spcAft>
                        <a:tabLst>
                          <a:tab pos="457200" algn="l"/>
                        </a:tabLst>
                      </a:pPr>
                      <a:r>
                        <a:rPr lang="en-US" sz="1600" kern="100" dirty="0">
                          <a:solidFill>
                            <a:srgbClr val="6600FF"/>
                          </a:solidFill>
                          <a:latin typeface="Times New Roman"/>
                          <a:ea typeface="宋体"/>
                          <a:cs typeface="Times New Roman"/>
                        </a:rPr>
                        <a:t>0.92</a:t>
                      </a:r>
                      <a:endParaRPr lang="zh-CN" sz="1600" kern="100" dirty="0">
                        <a:solidFill>
                          <a:srgbClr val="6600FF"/>
                        </a:solidFill>
                        <a:latin typeface="等线"/>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64147">
                <a:tc>
                  <a:txBody>
                    <a:bodyPr/>
                    <a:lstStyle/>
                    <a:p>
                      <a:pPr marL="0" algn="ctr" defTabSz="914400" rtl="0" eaLnBrk="1" latinLnBrk="0" hangingPunct="1">
                        <a:lnSpc>
                          <a:spcPct val="107000"/>
                        </a:lnSpc>
                        <a:spcAft>
                          <a:spcPts val="0"/>
                        </a:spcAft>
                        <a:tabLst>
                          <a:tab pos="457200" algn="l"/>
                        </a:tabLst>
                      </a:pPr>
                      <a:r>
                        <a:rPr lang="en-US" sz="1600" b="1" kern="100" dirty="0">
                          <a:solidFill>
                            <a:srgbClr val="FF00FF"/>
                          </a:solidFill>
                          <a:latin typeface="Times New Roman"/>
                          <a:ea typeface="宋体"/>
                          <a:cs typeface="Times New Roman"/>
                        </a:rPr>
                        <a:t>1</a:t>
                      </a:r>
                      <a:endParaRPr lang="zh-CN" sz="1600" b="1" kern="100" dirty="0">
                        <a:solidFill>
                          <a:srgbClr val="FF00FF"/>
                        </a:solidFill>
                        <a:latin typeface="Times New Roman"/>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graphicFrame>
        <p:nvGraphicFramePr>
          <p:cNvPr id="74" name="表格 73"/>
          <p:cNvGraphicFramePr>
            <a:graphicFrameLocks noGrp="1"/>
          </p:cNvGraphicFramePr>
          <p:nvPr/>
        </p:nvGraphicFramePr>
        <p:xfrm>
          <a:off x="3618791" y="3523914"/>
          <a:ext cx="675564" cy="970418"/>
        </p:xfrm>
        <a:graphic>
          <a:graphicData uri="http://schemas.openxmlformats.org/drawingml/2006/table">
            <a:tbl>
              <a:tblPr/>
              <a:tblGrid>
                <a:gridCol w="675564">
                  <a:extLst>
                    <a:ext uri="{9D8B030D-6E8A-4147-A177-3AD203B41FA5}">
                      <a16:colId xmlns:a16="http://schemas.microsoft.com/office/drawing/2014/main" xmlns="" val="20000"/>
                    </a:ext>
                  </a:extLst>
                </a:gridCol>
              </a:tblGrid>
              <a:tr h="343923">
                <a:tc>
                  <a:txBody>
                    <a:bodyPr/>
                    <a:lstStyle/>
                    <a:p>
                      <a:pPr algn="ctr">
                        <a:lnSpc>
                          <a:spcPct val="107000"/>
                        </a:lnSpc>
                        <a:spcAft>
                          <a:spcPts val="0"/>
                        </a:spcAft>
                        <a:tabLst>
                          <a:tab pos="457200" algn="l"/>
                        </a:tabLst>
                      </a:pPr>
                      <a:r>
                        <a:rPr lang="en-US" sz="1600" kern="100" dirty="0">
                          <a:solidFill>
                            <a:srgbClr val="0000FF"/>
                          </a:solidFill>
                          <a:latin typeface="Times New Roman"/>
                          <a:ea typeface="宋体"/>
                          <a:cs typeface="Times New Roman"/>
                        </a:rPr>
                        <a:t>1.84</a:t>
                      </a:r>
                      <a:endParaRPr lang="zh-CN" sz="1600" kern="100" dirty="0">
                        <a:solidFill>
                          <a:srgbClr val="0000FF"/>
                        </a:solidFill>
                        <a:latin typeface="等线"/>
                        <a:ea typeface="宋体"/>
                        <a:cs typeface="Times New Roman"/>
                      </a:endParaRP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62348">
                <a:tc>
                  <a:txBody>
                    <a:bodyPr/>
                    <a:lstStyle/>
                    <a:p>
                      <a:pPr algn="ctr">
                        <a:lnSpc>
                          <a:spcPct val="107000"/>
                        </a:lnSpc>
                        <a:spcAft>
                          <a:spcPts val="0"/>
                        </a:spcAft>
                        <a:tabLst>
                          <a:tab pos="457200" algn="l"/>
                        </a:tabLst>
                      </a:pPr>
                      <a:r>
                        <a:rPr lang="en-US" sz="1600" kern="100" dirty="0">
                          <a:solidFill>
                            <a:srgbClr val="6600FF"/>
                          </a:solidFill>
                          <a:latin typeface="Times New Roman"/>
                          <a:ea typeface="宋体"/>
                          <a:cs typeface="Times New Roman"/>
                        </a:rPr>
                        <a:t>0.84</a:t>
                      </a:r>
                      <a:endParaRPr lang="zh-CN" sz="1600" kern="100" dirty="0">
                        <a:solidFill>
                          <a:srgbClr val="6600FF"/>
                        </a:solidFill>
                        <a:latin typeface="等线"/>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64147">
                <a:tc>
                  <a:txBody>
                    <a:bodyPr/>
                    <a:lstStyle/>
                    <a:p>
                      <a:pPr marL="0" algn="ctr" defTabSz="914400" rtl="0" eaLnBrk="1" latinLnBrk="0" hangingPunct="1">
                        <a:lnSpc>
                          <a:spcPct val="107000"/>
                        </a:lnSpc>
                        <a:spcAft>
                          <a:spcPts val="0"/>
                        </a:spcAft>
                        <a:tabLst>
                          <a:tab pos="457200" algn="l"/>
                        </a:tabLst>
                      </a:pPr>
                      <a:r>
                        <a:rPr lang="en-US" sz="1600" b="1" kern="100" dirty="0">
                          <a:solidFill>
                            <a:srgbClr val="FF00FF"/>
                          </a:solidFill>
                          <a:latin typeface="Times New Roman"/>
                          <a:ea typeface="宋体"/>
                          <a:cs typeface="Times New Roman"/>
                        </a:rPr>
                        <a:t>1</a:t>
                      </a:r>
                      <a:endParaRPr lang="zh-CN" sz="1600" b="1" kern="100" dirty="0">
                        <a:solidFill>
                          <a:srgbClr val="FF00FF"/>
                        </a:solidFill>
                        <a:latin typeface="Times New Roman"/>
                        <a:ea typeface="宋体"/>
                        <a:cs typeface="Times New Roman"/>
                      </a:endParaRPr>
                    </a:p>
                  </a:txBody>
                  <a:tcPr marL="0" marR="0" marT="0"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graphicFrame>
        <p:nvGraphicFramePr>
          <p:cNvPr id="76" name="表格 75"/>
          <p:cNvGraphicFramePr>
            <a:graphicFrameLocks noGrp="1"/>
          </p:cNvGraphicFramePr>
          <p:nvPr/>
        </p:nvGraphicFramePr>
        <p:xfrm>
          <a:off x="4329084" y="3523914"/>
          <a:ext cx="618699" cy="970418"/>
        </p:xfrm>
        <a:graphic>
          <a:graphicData uri="http://schemas.openxmlformats.org/drawingml/2006/table">
            <a:tbl>
              <a:tblPr/>
              <a:tblGrid>
                <a:gridCol w="618699">
                  <a:extLst>
                    <a:ext uri="{9D8B030D-6E8A-4147-A177-3AD203B41FA5}">
                      <a16:colId xmlns:a16="http://schemas.microsoft.com/office/drawing/2014/main" xmlns="" val="20000"/>
                    </a:ext>
                  </a:extLst>
                </a:gridCol>
              </a:tblGrid>
              <a:tr h="343923">
                <a:tc>
                  <a:txBody>
                    <a:bodyPr/>
                    <a:lstStyle/>
                    <a:p>
                      <a:pPr algn="ctr">
                        <a:lnSpc>
                          <a:spcPct val="107000"/>
                        </a:lnSpc>
                        <a:spcAft>
                          <a:spcPts val="0"/>
                        </a:spcAft>
                        <a:tabLst>
                          <a:tab pos="457200" algn="l"/>
                        </a:tabLst>
                      </a:pPr>
                      <a:r>
                        <a:rPr lang="en-US" sz="1600" kern="100" dirty="0">
                          <a:solidFill>
                            <a:srgbClr val="0000FF"/>
                          </a:solidFill>
                          <a:latin typeface="Times New Roman"/>
                          <a:ea typeface="宋体"/>
                          <a:cs typeface="Times New Roman"/>
                        </a:rPr>
                        <a:t>1.68</a:t>
                      </a:r>
                      <a:endParaRPr lang="zh-CN" sz="1600" kern="100" dirty="0">
                        <a:solidFill>
                          <a:srgbClr val="0000FF"/>
                        </a:solidFill>
                        <a:latin typeface="等线"/>
                        <a:ea typeface="宋体"/>
                        <a:cs typeface="Times New Roman"/>
                      </a:endParaRP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62348">
                <a:tc>
                  <a:txBody>
                    <a:bodyPr/>
                    <a:lstStyle/>
                    <a:p>
                      <a:pPr algn="ctr">
                        <a:lnSpc>
                          <a:spcPct val="107000"/>
                        </a:lnSpc>
                        <a:spcAft>
                          <a:spcPts val="0"/>
                        </a:spcAft>
                        <a:tabLst>
                          <a:tab pos="457200" algn="l"/>
                        </a:tabLst>
                      </a:pPr>
                      <a:r>
                        <a:rPr lang="en-US" sz="1600" kern="100" dirty="0">
                          <a:solidFill>
                            <a:srgbClr val="6600FF"/>
                          </a:solidFill>
                          <a:latin typeface="Times New Roman"/>
                          <a:ea typeface="宋体"/>
                          <a:cs typeface="Times New Roman"/>
                        </a:rPr>
                        <a:t>0.68</a:t>
                      </a:r>
                      <a:endParaRPr lang="zh-CN" sz="1600" kern="100" dirty="0">
                        <a:solidFill>
                          <a:srgbClr val="6600FF"/>
                        </a:solidFill>
                        <a:latin typeface="等线"/>
                        <a:ea typeface="宋体"/>
                        <a:cs typeface="Times New Roman"/>
                      </a:endParaRP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64147">
                <a:tc>
                  <a:txBody>
                    <a:bodyPr/>
                    <a:lstStyle/>
                    <a:p>
                      <a:pPr marL="0" algn="ctr" defTabSz="914400" rtl="0" eaLnBrk="1" latinLnBrk="0" hangingPunct="1">
                        <a:lnSpc>
                          <a:spcPct val="107000"/>
                        </a:lnSpc>
                        <a:spcAft>
                          <a:spcPts val="0"/>
                        </a:spcAft>
                        <a:tabLst>
                          <a:tab pos="457200" algn="l"/>
                        </a:tabLst>
                      </a:pPr>
                      <a:r>
                        <a:rPr lang="en-US" sz="1600" b="1" kern="100" dirty="0">
                          <a:solidFill>
                            <a:srgbClr val="FF00FF"/>
                          </a:solidFill>
                          <a:latin typeface="Times New Roman"/>
                          <a:ea typeface="宋体"/>
                          <a:cs typeface="Times New Roman"/>
                        </a:rPr>
                        <a:t>1</a:t>
                      </a:r>
                      <a:endParaRPr lang="zh-CN" sz="1600" b="1" kern="100" dirty="0">
                        <a:solidFill>
                          <a:srgbClr val="FF00FF"/>
                        </a:solidFill>
                        <a:latin typeface="Times New Roman"/>
                        <a:ea typeface="宋体"/>
                        <a:cs typeface="Times New Roman"/>
                      </a:endParaRP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graphicFrame>
        <p:nvGraphicFramePr>
          <p:cNvPr id="77" name="表格 76"/>
          <p:cNvGraphicFramePr>
            <a:graphicFrameLocks noGrp="1"/>
          </p:cNvGraphicFramePr>
          <p:nvPr/>
        </p:nvGraphicFramePr>
        <p:xfrm>
          <a:off x="1865664" y="4445138"/>
          <a:ext cx="2925170" cy="264147"/>
        </p:xfrm>
        <a:graphic>
          <a:graphicData uri="http://schemas.openxmlformats.org/drawingml/2006/table">
            <a:tbl>
              <a:tblPr/>
              <a:tblGrid>
                <a:gridCol w="521383">
                  <a:extLst>
                    <a:ext uri="{9D8B030D-6E8A-4147-A177-3AD203B41FA5}">
                      <a16:colId xmlns:a16="http://schemas.microsoft.com/office/drawing/2014/main" xmlns="" val="20000"/>
                    </a:ext>
                  </a:extLst>
                </a:gridCol>
                <a:gridCol w="529844">
                  <a:extLst>
                    <a:ext uri="{9D8B030D-6E8A-4147-A177-3AD203B41FA5}">
                      <a16:colId xmlns:a16="http://schemas.microsoft.com/office/drawing/2014/main" xmlns="" val="20001"/>
                    </a:ext>
                  </a:extLst>
                </a:gridCol>
                <a:gridCol w="536078">
                  <a:extLst>
                    <a:ext uri="{9D8B030D-6E8A-4147-A177-3AD203B41FA5}">
                      <a16:colId xmlns:a16="http://schemas.microsoft.com/office/drawing/2014/main" xmlns="" val="20002"/>
                    </a:ext>
                  </a:extLst>
                </a:gridCol>
                <a:gridCol w="617112">
                  <a:extLst>
                    <a:ext uri="{9D8B030D-6E8A-4147-A177-3AD203B41FA5}">
                      <a16:colId xmlns:a16="http://schemas.microsoft.com/office/drawing/2014/main" xmlns="" val="20003"/>
                    </a:ext>
                  </a:extLst>
                </a:gridCol>
                <a:gridCol w="720753">
                  <a:extLst>
                    <a:ext uri="{9D8B030D-6E8A-4147-A177-3AD203B41FA5}">
                      <a16:colId xmlns:a16="http://schemas.microsoft.com/office/drawing/2014/main" xmlns="" val="20004"/>
                    </a:ext>
                  </a:extLst>
                </a:gridCol>
              </a:tblGrid>
              <a:tr h="264147">
                <a:tc>
                  <a:txBody>
                    <a:bodyPr/>
                    <a:lstStyle/>
                    <a:p>
                      <a:pPr algn="ctr">
                        <a:lnSpc>
                          <a:spcPct val="107000"/>
                        </a:lnSpc>
                        <a:spcAft>
                          <a:spcPts val="0"/>
                        </a:spcAft>
                        <a:tabLst>
                          <a:tab pos="457200" algn="l"/>
                        </a:tabLst>
                      </a:pPr>
                      <a:r>
                        <a:rPr lang="en-US" sz="1600" b="1" kern="100" dirty="0">
                          <a:solidFill>
                            <a:srgbClr val="0000FF"/>
                          </a:solidFill>
                          <a:latin typeface="Times New Roman"/>
                          <a:ea typeface="宋体"/>
                          <a:cs typeface="Times New Roman"/>
                        </a:rPr>
                        <a:t>MSB </a:t>
                      </a:r>
                      <a:endParaRPr lang="zh-CN" sz="1600" b="1" kern="100" dirty="0">
                        <a:solidFill>
                          <a:srgbClr val="0000FF"/>
                        </a:solidFill>
                        <a:latin typeface="等线"/>
                        <a:ea typeface="宋体"/>
                        <a:cs typeface="Times New Roman"/>
                      </a:endParaRPr>
                    </a:p>
                  </a:txBody>
                  <a:tcPr marL="0" marR="0" marT="0" marB="0" anchor="ctr">
                    <a:lnL w="19050" cap="flat" cmpd="dbl"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gridSpan="3">
                  <a:txBody>
                    <a:bodyPr/>
                    <a:lstStyle/>
                    <a:p>
                      <a:pPr algn="ctr">
                        <a:lnSpc>
                          <a:spcPct val="107000"/>
                        </a:lnSpc>
                        <a:spcAft>
                          <a:spcPts val="0"/>
                        </a:spcAft>
                        <a:tabLst>
                          <a:tab pos="457200" algn="l"/>
                        </a:tabLst>
                      </a:pPr>
                      <a:r>
                        <a:rPr lang="zh-CN" sz="1600" b="1" kern="100" dirty="0">
                          <a:solidFill>
                            <a:srgbClr val="0000FF"/>
                          </a:solidFill>
                          <a:latin typeface="黑体" pitchFamily="49" charset="-122"/>
                          <a:ea typeface="黑体" pitchFamily="49" charset="-122"/>
                          <a:cs typeface="Times New Roman"/>
                        </a:rPr>
                        <a:t>→</a:t>
                      </a: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a:txBody>
                    <a:bodyPr/>
                    <a:lstStyle/>
                    <a:p>
                      <a:pPr algn="ctr">
                        <a:lnSpc>
                          <a:spcPct val="107000"/>
                        </a:lnSpc>
                        <a:spcAft>
                          <a:spcPts val="0"/>
                        </a:spcAft>
                        <a:tabLst>
                          <a:tab pos="400050" algn="l"/>
                        </a:tabLst>
                      </a:pPr>
                      <a:r>
                        <a:rPr lang="en-US" sz="1600" b="1" kern="100" dirty="0">
                          <a:solidFill>
                            <a:srgbClr val="0000FF"/>
                          </a:solidFill>
                          <a:latin typeface="Times New Roman"/>
                          <a:ea typeface="宋体"/>
                          <a:cs typeface="Times New Roman"/>
                        </a:rPr>
                        <a:t>LSB</a:t>
                      </a:r>
                      <a:endParaRPr lang="zh-CN" sz="1600" b="1" kern="100" dirty="0">
                        <a:solidFill>
                          <a:srgbClr val="0000FF"/>
                        </a:solidFill>
                        <a:latin typeface="等线"/>
                        <a:ea typeface="宋体"/>
                        <a:cs typeface="Times New Roman"/>
                      </a:endParaRP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sp>
        <p:nvSpPr>
          <p:cNvPr id="52" name="剪去对角的矩形 79">
            <a:extLst>
              <a:ext uri="{FF2B5EF4-FFF2-40B4-BE49-F238E27FC236}">
                <a16:creationId xmlns:a16="http://schemas.microsoft.com/office/drawing/2014/main" xmlns="" id="{85CB21EC-1286-422D-9527-A1E5B22A42B9}"/>
              </a:ext>
            </a:extLst>
          </p:cNvPr>
          <p:cNvSpPr/>
          <p:nvPr/>
        </p:nvSpPr>
        <p:spPr>
          <a:xfrm>
            <a:off x="6001435" y="3240957"/>
            <a:ext cx="2925170" cy="1413034"/>
          </a:xfrm>
          <a:prstGeom prst="snip2DiagRect">
            <a:avLst>
              <a:gd name="adj1" fmla="val 0"/>
              <a:gd name="adj2" fmla="val 6501"/>
            </a:avLst>
          </a:prstGeom>
          <a:solidFill>
            <a:schemeClr val="accent4">
              <a:lumMod val="40000"/>
              <a:lumOff val="60000"/>
            </a:schemeClr>
          </a:solidFill>
          <a:ln w="19050">
            <a:solidFill>
              <a:schemeClr val="accent1">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0" rIns="0">
            <a:spAutoFit/>
          </a:bodyPr>
          <a:lstStyle/>
          <a:p>
            <a:pPr>
              <a:defRPr/>
            </a:pPr>
            <a:r>
              <a:rPr lang="zh-CN" altLang="en-US" sz="1400" dirty="0">
                <a:solidFill>
                  <a:srgbClr val="CC00CC"/>
                </a:solidFill>
                <a:latin typeface="黑体" panose="02010609060101010101" pitchFamily="49" charset="-122"/>
                <a:ea typeface="黑体" panose="02010609060101010101" pitchFamily="49" charset="-122"/>
              </a:rPr>
              <a:t>十进制转十六进制</a:t>
            </a:r>
            <a:r>
              <a:rPr lang="zh-CN" altLang="en-US" sz="1400" dirty="0">
                <a:latin typeface="黑体" panose="02010609060101010101" pitchFamily="49" charset="-122"/>
                <a:ea typeface="黑体" panose="02010609060101010101" pitchFamily="49" charset="-122"/>
              </a:rPr>
              <a:t>：</a:t>
            </a:r>
            <a:r>
              <a:rPr lang="zh-CN" altLang="zh-CN" sz="1400" dirty="0"/>
              <a:t>整数部分除</a:t>
            </a:r>
            <a:r>
              <a:rPr lang="en-US" altLang="zh-CN" sz="1400" dirty="0"/>
              <a:t>16</a:t>
            </a:r>
            <a:r>
              <a:rPr lang="zh-CN" altLang="zh-CN" sz="1400" dirty="0"/>
              <a:t>取余，小数部分乘</a:t>
            </a:r>
            <a:r>
              <a:rPr lang="en-US" altLang="zh-CN" sz="1400" dirty="0"/>
              <a:t>16</a:t>
            </a:r>
            <a:r>
              <a:rPr lang="zh-CN" altLang="zh-CN" sz="1400" dirty="0"/>
              <a:t>取整</a:t>
            </a:r>
            <a:r>
              <a:rPr lang="zh-CN" altLang="en-US" sz="1400" dirty="0"/>
              <a:t>。</a:t>
            </a:r>
            <a:endParaRPr lang="en-US" altLang="zh-CN" sz="1400" dirty="0"/>
          </a:p>
          <a:p>
            <a:pPr>
              <a:spcBef>
                <a:spcPts val="600"/>
              </a:spcBef>
              <a:defRPr/>
            </a:pPr>
            <a:r>
              <a:rPr lang="zh-CN" altLang="en-US" sz="1400" dirty="0">
                <a:solidFill>
                  <a:srgbClr val="CC00CC"/>
                </a:solidFill>
                <a:latin typeface="黑体" panose="02010609060101010101" pitchFamily="49" charset="-122"/>
                <a:ea typeface="黑体" panose="02010609060101010101" pitchFamily="49" charset="-122"/>
              </a:rPr>
              <a:t>十进制转八进制</a:t>
            </a:r>
            <a:r>
              <a:rPr lang="zh-CN" altLang="en-US" sz="1400" dirty="0"/>
              <a:t>：</a:t>
            </a:r>
            <a:r>
              <a:rPr lang="zh-CN" altLang="zh-CN" sz="1400" dirty="0"/>
              <a:t>整数部分除</a:t>
            </a:r>
            <a:r>
              <a:rPr lang="en-US" altLang="zh-CN" sz="1400" dirty="0"/>
              <a:t>8</a:t>
            </a:r>
            <a:r>
              <a:rPr lang="zh-CN" altLang="zh-CN" sz="1400" dirty="0"/>
              <a:t>取余，小数部分乘</a:t>
            </a:r>
            <a:r>
              <a:rPr lang="en-US" altLang="zh-CN" sz="1400" dirty="0"/>
              <a:t>8</a:t>
            </a:r>
            <a:r>
              <a:rPr lang="zh-CN" altLang="zh-CN" sz="1400" dirty="0"/>
              <a:t>取整</a:t>
            </a:r>
            <a:r>
              <a:rPr lang="zh-CN" altLang="en-US" sz="1400" dirty="0"/>
              <a:t>。 </a:t>
            </a:r>
            <a:endParaRPr lang="en-US" altLang="zh-CN" sz="1400" dirty="0"/>
          </a:p>
          <a:p>
            <a:pPr>
              <a:spcBef>
                <a:spcPts val="600"/>
              </a:spcBef>
              <a:defRPr/>
            </a:pPr>
            <a:r>
              <a:rPr lang="zh-CN" altLang="en-US" sz="1400" dirty="0">
                <a:solidFill>
                  <a:srgbClr val="CC00CC"/>
                </a:solidFill>
                <a:latin typeface="黑体" panose="02010609060101010101" pitchFamily="49" charset="-122"/>
                <a:ea typeface="黑体" panose="02010609060101010101" pitchFamily="49" charset="-122"/>
              </a:rPr>
              <a:t>十进制→</a:t>
            </a:r>
            <a:r>
              <a:rPr lang="zh-CN" altLang="en-US" sz="1400" dirty="0">
                <a:solidFill>
                  <a:srgbClr val="0000FF"/>
                </a:solidFill>
                <a:latin typeface="黑体" panose="02010609060101010101" pitchFamily="49" charset="-122"/>
                <a:ea typeface="黑体" panose="02010609060101010101" pitchFamily="49" charset="-122"/>
              </a:rPr>
              <a:t>二进制</a:t>
            </a:r>
            <a:r>
              <a:rPr lang="zh-CN" altLang="en-US" sz="1400" dirty="0">
                <a:solidFill>
                  <a:srgbClr val="CC00CC"/>
                </a:solidFill>
                <a:latin typeface="黑体" panose="02010609060101010101" pitchFamily="49" charset="-122"/>
                <a:ea typeface="黑体" panose="02010609060101010101" pitchFamily="49" charset="-122"/>
              </a:rPr>
              <a:t>→</a:t>
            </a:r>
            <a:r>
              <a:rPr lang="zh-CN" altLang="en-US" sz="1400" dirty="0">
                <a:solidFill>
                  <a:srgbClr val="6600FF"/>
                </a:solidFill>
                <a:latin typeface="黑体" panose="02010609060101010101" pitchFamily="49" charset="-122"/>
                <a:ea typeface="黑体" panose="02010609060101010101" pitchFamily="49" charset="-122"/>
              </a:rPr>
              <a:t>十六进制</a:t>
            </a:r>
            <a:r>
              <a:rPr lang="en-US" altLang="zh-CN" sz="1400" dirty="0">
                <a:solidFill>
                  <a:srgbClr val="6600FF"/>
                </a:solidFill>
                <a:latin typeface="黑体" panose="02010609060101010101" pitchFamily="49" charset="-122"/>
                <a:ea typeface="黑体" panose="02010609060101010101" pitchFamily="49" charset="-122"/>
              </a:rPr>
              <a:t>/</a:t>
            </a:r>
            <a:r>
              <a:rPr lang="zh-CN" altLang="en-US" sz="1400" dirty="0">
                <a:solidFill>
                  <a:srgbClr val="6600FF"/>
                </a:solidFill>
                <a:latin typeface="黑体" panose="02010609060101010101" pitchFamily="49" charset="-122"/>
                <a:ea typeface="黑体" panose="02010609060101010101" pitchFamily="49" charset="-122"/>
              </a:rPr>
              <a:t>八进制</a:t>
            </a:r>
          </a:p>
        </p:txBody>
      </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slide(fromBottom)">
                                      <p:cBhvr>
                                        <p:cTn id="7" dur="10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1000"/>
                                        <p:tgtEl>
                                          <p:spTgt spid="57"/>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p:cTn id="21" dur="1000" fill="hold"/>
                                        <p:tgtEl>
                                          <p:spTgt spid="47"/>
                                        </p:tgtEl>
                                        <p:attrNameLst>
                                          <p:attrName>ppt_x</p:attrName>
                                        </p:attrNameLst>
                                      </p:cBhvr>
                                      <p:tavLst>
                                        <p:tav tm="0">
                                          <p:val>
                                            <p:strVal val="#ppt_x"/>
                                          </p:val>
                                        </p:tav>
                                        <p:tav tm="100000">
                                          <p:val>
                                            <p:strVal val="#ppt_x"/>
                                          </p:val>
                                        </p:tav>
                                      </p:tavLst>
                                    </p:anim>
                                    <p:anim calcmode="lin" valueType="num">
                                      <p:cBhvr>
                                        <p:cTn id="22" dur="1000" fill="hold"/>
                                        <p:tgtEl>
                                          <p:spTgt spid="47"/>
                                        </p:tgtEl>
                                        <p:attrNameLst>
                                          <p:attrName>ppt_y</p:attrName>
                                        </p:attrNameLst>
                                      </p:cBhvr>
                                      <p:tavLst>
                                        <p:tav tm="0">
                                          <p:val>
                                            <p:strVal val="#ppt_y-#ppt_h/2"/>
                                          </p:val>
                                        </p:tav>
                                        <p:tav tm="100000">
                                          <p:val>
                                            <p:strVal val="#ppt_y"/>
                                          </p:val>
                                        </p:tav>
                                      </p:tavLst>
                                    </p:anim>
                                    <p:anim calcmode="lin" valueType="num">
                                      <p:cBhvr>
                                        <p:cTn id="23" dur="1000" fill="hold"/>
                                        <p:tgtEl>
                                          <p:spTgt spid="47"/>
                                        </p:tgtEl>
                                        <p:attrNameLst>
                                          <p:attrName>ppt_w</p:attrName>
                                        </p:attrNameLst>
                                      </p:cBhvr>
                                      <p:tavLst>
                                        <p:tav tm="0">
                                          <p:val>
                                            <p:strVal val="#ppt_w"/>
                                          </p:val>
                                        </p:tav>
                                        <p:tav tm="100000">
                                          <p:val>
                                            <p:strVal val="#ppt_w"/>
                                          </p:val>
                                        </p:tav>
                                      </p:tavLst>
                                    </p:anim>
                                    <p:anim calcmode="lin" valueType="num">
                                      <p:cBhvr>
                                        <p:cTn id="24" dur="1000" fill="hold"/>
                                        <p:tgtEl>
                                          <p:spTgt spid="47"/>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1000" fill="hold"/>
                                        <p:tgtEl>
                                          <p:spTgt spid="48"/>
                                        </p:tgtEl>
                                        <p:attrNameLst>
                                          <p:attrName>ppt_x</p:attrName>
                                        </p:attrNameLst>
                                      </p:cBhvr>
                                      <p:tavLst>
                                        <p:tav tm="0">
                                          <p:val>
                                            <p:strVal val="#ppt_x"/>
                                          </p:val>
                                        </p:tav>
                                        <p:tav tm="100000">
                                          <p:val>
                                            <p:strVal val="#ppt_x"/>
                                          </p:val>
                                        </p:tav>
                                      </p:tavLst>
                                    </p:anim>
                                    <p:anim calcmode="lin" valueType="num">
                                      <p:cBhvr>
                                        <p:cTn id="30" dur="1000" fill="hold"/>
                                        <p:tgtEl>
                                          <p:spTgt spid="48"/>
                                        </p:tgtEl>
                                        <p:attrNameLst>
                                          <p:attrName>ppt_y</p:attrName>
                                        </p:attrNameLst>
                                      </p:cBhvr>
                                      <p:tavLst>
                                        <p:tav tm="0">
                                          <p:val>
                                            <p:strVal val="#ppt_y-#ppt_h/2"/>
                                          </p:val>
                                        </p:tav>
                                        <p:tav tm="100000">
                                          <p:val>
                                            <p:strVal val="#ppt_y"/>
                                          </p:val>
                                        </p:tav>
                                      </p:tavLst>
                                    </p:anim>
                                    <p:anim calcmode="lin" valueType="num">
                                      <p:cBhvr>
                                        <p:cTn id="31" dur="1000" fill="hold"/>
                                        <p:tgtEl>
                                          <p:spTgt spid="48"/>
                                        </p:tgtEl>
                                        <p:attrNameLst>
                                          <p:attrName>ppt_w</p:attrName>
                                        </p:attrNameLst>
                                      </p:cBhvr>
                                      <p:tavLst>
                                        <p:tav tm="0">
                                          <p:val>
                                            <p:strVal val="#ppt_w"/>
                                          </p:val>
                                        </p:tav>
                                        <p:tav tm="100000">
                                          <p:val>
                                            <p:strVal val="#ppt_w"/>
                                          </p:val>
                                        </p:tav>
                                      </p:tavLst>
                                    </p:anim>
                                    <p:anim calcmode="lin" valueType="num">
                                      <p:cBhvr>
                                        <p:cTn id="32" dur="10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nodeType="click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p:cTn id="37" dur="1000" fill="hold"/>
                                        <p:tgtEl>
                                          <p:spTgt spid="51"/>
                                        </p:tgtEl>
                                        <p:attrNameLst>
                                          <p:attrName>ppt_x</p:attrName>
                                        </p:attrNameLst>
                                      </p:cBhvr>
                                      <p:tavLst>
                                        <p:tav tm="0">
                                          <p:val>
                                            <p:strVal val="#ppt_x"/>
                                          </p:val>
                                        </p:tav>
                                        <p:tav tm="100000">
                                          <p:val>
                                            <p:strVal val="#ppt_x"/>
                                          </p:val>
                                        </p:tav>
                                      </p:tavLst>
                                    </p:anim>
                                    <p:anim calcmode="lin" valueType="num">
                                      <p:cBhvr>
                                        <p:cTn id="38" dur="1000" fill="hold"/>
                                        <p:tgtEl>
                                          <p:spTgt spid="51"/>
                                        </p:tgtEl>
                                        <p:attrNameLst>
                                          <p:attrName>ppt_y</p:attrName>
                                        </p:attrNameLst>
                                      </p:cBhvr>
                                      <p:tavLst>
                                        <p:tav tm="0">
                                          <p:val>
                                            <p:strVal val="#ppt_y-#ppt_h/2"/>
                                          </p:val>
                                        </p:tav>
                                        <p:tav tm="100000">
                                          <p:val>
                                            <p:strVal val="#ppt_y"/>
                                          </p:val>
                                        </p:tav>
                                      </p:tavLst>
                                    </p:anim>
                                    <p:anim calcmode="lin" valueType="num">
                                      <p:cBhvr>
                                        <p:cTn id="39" dur="1000" fill="hold"/>
                                        <p:tgtEl>
                                          <p:spTgt spid="51"/>
                                        </p:tgtEl>
                                        <p:attrNameLst>
                                          <p:attrName>ppt_w</p:attrName>
                                        </p:attrNameLst>
                                      </p:cBhvr>
                                      <p:tavLst>
                                        <p:tav tm="0">
                                          <p:val>
                                            <p:strVal val="#ppt_w"/>
                                          </p:val>
                                        </p:tav>
                                        <p:tav tm="100000">
                                          <p:val>
                                            <p:strVal val="#ppt_w"/>
                                          </p:val>
                                        </p:tav>
                                      </p:tavLst>
                                    </p:anim>
                                    <p:anim calcmode="lin" valueType="num">
                                      <p:cBhvr>
                                        <p:cTn id="40" dur="1000" fill="hold"/>
                                        <p:tgtEl>
                                          <p:spTgt spid="51"/>
                                        </p:tgtEl>
                                        <p:attrNameLst>
                                          <p:attrName>ppt_h</p:attrName>
                                        </p:attrNameLst>
                                      </p:cBhvr>
                                      <p:tavLst>
                                        <p:tav tm="0">
                                          <p:val>
                                            <p:fltVal val="0"/>
                                          </p:val>
                                        </p:tav>
                                        <p:tav tm="100000">
                                          <p:val>
                                            <p:strVal val="#ppt_h"/>
                                          </p:val>
                                        </p:tav>
                                      </p:tavLst>
                                    </p:anim>
                                  </p:childTnLst>
                                </p:cTn>
                              </p:par>
                            </p:childTnLst>
                          </p:cTn>
                        </p:par>
                        <p:par>
                          <p:cTn id="41" fill="hold">
                            <p:stCondLst>
                              <p:cond delay="1000"/>
                            </p:stCondLst>
                            <p:childTnLst>
                              <p:par>
                                <p:cTn id="42" presetID="17" presetClass="entr" presetSubtype="1" fill="hold" nodeType="afterEffect">
                                  <p:stCondLst>
                                    <p:cond delay="0"/>
                                  </p:stCondLst>
                                  <p:childTnLst>
                                    <p:set>
                                      <p:cBhvr>
                                        <p:cTn id="43" dur="1" fill="hold">
                                          <p:stCondLst>
                                            <p:cond delay="0"/>
                                          </p:stCondLst>
                                        </p:cTn>
                                        <p:tgtEl>
                                          <p:spTgt spid="55"/>
                                        </p:tgtEl>
                                        <p:attrNameLst>
                                          <p:attrName>style.visibility</p:attrName>
                                        </p:attrNameLst>
                                      </p:cBhvr>
                                      <p:to>
                                        <p:strVal val="visible"/>
                                      </p:to>
                                    </p:set>
                                    <p:anim calcmode="lin" valueType="num">
                                      <p:cBhvr>
                                        <p:cTn id="44" dur="1000" fill="hold"/>
                                        <p:tgtEl>
                                          <p:spTgt spid="55"/>
                                        </p:tgtEl>
                                        <p:attrNameLst>
                                          <p:attrName>ppt_x</p:attrName>
                                        </p:attrNameLst>
                                      </p:cBhvr>
                                      <p:tavLst>
                                        <p:tav tm="0">
                                          <p:val>
                                            <p:strVal val="#ppt_x"/>
                                          </p:val>
                                        </p:tav>
                                        <p:tav tm="100000">
                                          <p:val>
                                            <p:strVal val="#ppt_x"/>
                                          </p:val>
                                        </p:tav>
                                      </p:tavLst>
                                    </p:anim>
                                    <p:anim calcmode="lin" valueType="num">
                                      <p:cBhvr>
                                        <p:cTn id="45" dur="1000" fill="hold"/>
                                        <p:tgtEl>
                                          <p:spTgt spid="55"/>
                                        </p:tgtEl>
                                        <p:attrNameLst>
                                          <p:attrName>ppt_y</p:attrName>
                                        </p:attrNameLst>
                                      </p:cBhvr>
                                      <p:tavLst>
                                        <p:tav tm="0">
                                          <p:val>
                                            <p:strVal val="#ppt_y-#ppt_h/2"/>
                                          </p:val>
                                        </p:tav>
                                        <p:tav tm="100000">
                                          <p:val>
                                            <p:strVal val="#ppt_y"/>
                                          </p:val>
                                        </p:tav>
                                      </p:tavLst>
                                    </p:anim>
                                    <p:anim calcmode="lin" valueType="num">
                                      <p:cBhvr>
                                        <p:cTn id="46" dur="1000" fill="hold"/>
                                        <p:tgtEl>
                                          <p:spTgt spid="55"/>
                                        </p:tgtEl>
                                        <p:attrNameLst>
                                          <p:attrName>ppt_w</p:attrName>
                                        </p:attrNameLst>
                                      </p:cBhvr>
                                      <p:tavLst>
                                        <p:tav tm="0">
                                          <p:val>
                                            <p:strVal val="#ppt_w"/>
                                          </p:val>
                                        </p:tav>
                                        <p:tav tm="100000">
                                          <p:val>
                                            <p:strVal val="#ppt_w"/>
                                          </p:val>
                                        </p:tav>
                                      </p:tavLst>
                                    </p:anim>
                                    <p:anim calcmode="lin" valueType="num">
                                      <p:cBhvr>
                                        <p:cTn id="47" dur="1000" fill="hold"/>
                                        <p:tgtEl>
                                          <p:spTgt spid="55"/>
                                        </p:tgtEl>
                                        <p:attrNameLst>
                                          <p:attrName>ppt_h</p:attrName>
                                        </p:attrNameLst>
                                      </p:cBhvr>
                                      <p:tavLst>
                                        <p:tav tm="0">
                                          <p:val>
                                            <p:fltVal val="0"/>
                                          </p:val>
                                        </p:tav>
                                        <p:tav tm="100000">
                                          <p:val>
                                            <p:strVal val="#ppt_h"/>
                                          </p:val>
                                        </p:tav>
                                      </p:tavLst>
                                    </p:anim>
                                  </p:childTnLst>
                                </p:cTn>
                              </p:par>
                            </p:childTnLst>
                          </p:cTn>
                        </p:par>
                        <p:par>
                          <p:cTn id="48" fill="hold">
                            <p:stCondLst>
                              <p:cond delay="2000"/>
                            </p:stCondLst>
                            <p:childTnLst>
                              <p:par>
                                <p:cTn id="49" presetID="17" presetClass="entr" presetSubtype="1" fill="hold" nodeType="after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p:cTn id="51" dur="1000" fill="hold"/>
                                        <p:tgtEl>
                                          <p:spTgt spid="56"/>
                                        </p:tgtEl>
                                        <p:attrNameLst>
                                          <p:attrName>ppt_x</p:attrName>
                                        </p:attrNameLst>
                                      </p:cBhvr>
                                      <p:tavLst>
                                        <p:tav tm="0">
                                          <p:val>
                                            <p:strVal val="#ppt_x"/>
                                          </p:val>
                                        </p:tav>
                                        <p:tav tm="100000">
                                          <p:val>
                                            <p:strVal val="#ppt_x"/>
                                          </p:val>
                                        </p:tav>
                                      </p:tavLst>
                                    </p:anim>
                                    <p:anim calcmode="lin" valueType="num">
                                      <p:cBhvr>
                                        <p:cTn id="52" dur="1000" fill="hold"/>
                                        <p:tgtEl>
                                          <p:spTgt spid="56"/>
                                        </p:tgtEl>
                                        <p:attrNameLst>
                                          <p:attrName>ppt_y</p:attrName>
                                        </p:attrNameLst>
                                      </p:cBhvr>
                                      <p:tavLst>
                                        <p:tav tm="0">
                                          <p:val>
                                            <p:strVal val="#ppt_y-#ppt_h/2"/>
                                          </p:val>
                                        </p:tav>
                                        <p:tav tm="100000">
                                          <p:val>
                                            <p:strVal val="#ppt_y"/>
                                          </p:val>
                                        </p:tav>
                                      </p:tavLst>
                                    </p:anim>
                                    <p:anim calcmode="lin" valueType="num">
                                      <p:cBhvr>
                                        <p:cTn id="53" dur="1000" fill="hold"/>
                                        <p:tgtEl>
                                          <p:spTgt spid="56"/>
                                        </p:tgtEl>
                                        <p:attrNameLst>
                                          <p:attrName>ppt_w</p:attrName>
                                        </p:attrNameLst>
                                      </p:cBhvr>
                                      <p:tavLst>
                                        <p:tav tm="0">
                                          <p:val>
                                            <p:strVal val="#ppt_w"/>
                                          </p:val>
                                        </p:tav>
                                        <p:tav tm="100000">
                                          <p:val>
                                            <p:strVal val="#ppt_w"/>
                                          </p:val>
                                        </p:tav>
                                      </p:tavLst>
                                    </p:anim>
                                    <p:anim calcmode="lin" valueType="num">
                                      <p:cBhvr>
                                        <p:cTn id="54" dur="10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2"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 calcmode="lin" valueType="num">
                                      <p:cBhvr>
                                        <p:cTn id="59" dur="1000" fill="hold"/>
                                        <p:tgtEl>
                                          <p:spTgt spid="35"/>
                                        </p:tgtEl>
                                        <p:attrNameLst>
                                          <p:attrName>ppt_x</p:attrName>
                                        </p:attrNameLst>
                                      </p:cBhvr>
                                      <p:tavLst>
                                        <p:tav tm="0">
                                          <p:val>
                                            <p:strVal val="#ppt_x+#ppt_w/2"/>
                                          </p:val>
                                        </p:tav>
                                        <p:tav tm="100000">
                                          <p:val>
                                            <p:strVal val="#ppt_x"/>
                                          </p:val>
                                        </p:tav>
                                      </p:tavLst>
                                    </p:anim>
                                    <p:anim calcmode="lin" valueType="num">
                                      <p:cBhvr>
                                        <p:cTn id="60" dur="1000" fill="hold"/>
                                        <p:tgtEl>
                                          <p:spTgt spid="35"/>
                                        </p:tgtEl>
                                        <p:attrNameLst>
                                          <p:attrName>ppt_y</p:attrName>
                                        </p:attrNameLst>
                                      </p:cBhvr>
                                      <p:tavLst>
                                        <p:tav tm="0">
                                          <p:val>
                                            <p:strVal val="#ppt_y"/>
                                          </p:val>
                                        </p:tav>
                                        <p:tav tm="100000">
                                          <p:val>
                                            <p:strVal val="#ppt_y"/>
                                          </p:val>
                                        </p:tav>
                                      </p:tavLst>
                                    </p:anim>
                                    <p:anim calcmode="lin" valueType="num">
                                      <p:cBhvr>
                                        <p:cTn id="61" dur="1000" fill="hold"/>
                                        <p:tgtEl>
                                          <p:spTgt spid="35"/>
                                        </p:tgtEl>
                                        <p:attrNameLst>
                                          <p:attrName>ppt_w</p:attrName>
                                        </p:attrNameLst>
                                      </p:cBhvr>
                                      <p:tavLst>
                                        <p:tav tm="0">
                                          <p:val>
                                            <p:fltVal val="0"/>
                                          </p:val>
                                        </p:tav>
                                        <p:tav tm="100000">
                                          <p:val>
                                            <p:strVal val="#ppt_w"/>
                                          </p:val>
                                        </p:tav>
                                      </p:tavLst>
                                    </p:anim>
                                    <p:anim calcmode="lin" valueType="num">
                                      <p:cBhvr>
                                        <p:cTn id="62" dur="10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wipe(left)">
                                      <p:cBhvr>
                                        <p:cTn id="67" dur="1000"/>
                                        <p:tgtEl>
                                          <p:spTgt spid="58"/>
                                        </p:tgtEl>
                                      </p:cBhvr>
                                    </p:animEffec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63"/>
                                        </p:tgtEl>
                                        <p:attrNameLst>
                                          <p:attrName>style.visibility</p:attrName>
                                        </p:attrNameLst>
                                      </p:cBhvr>
                                      <p:to>
                                        <p:strVal val="visible"/>
                                      </p:to>
                                    </p:set>
                                    <p:animEffect transition="in" filter="wipe(left)">
                                      <p:cBhvr>
                                        <p:cTn id="71" dur="1000"/>
                                        <p:tgtEl>
                                          <p:spTgt spid="63"/>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1" fill="hold" nodeType="clickEffect">
                                  <p:stCondLst>
                                    <p:cond delay="0"/>
                                  </p:stCondLst>
                                  <p:childTnLst>
                                    <p:set>
                                      <p:cBhvr>
                                        <p:cTn id="75" dur="1" fill="hold">
                                          <p:stCondLst>
                                            <p:cond delay="0"/>
                                          </p:stCondLst>
                                        </p:cTn>
                                        <p:tgtEl>
                                          <p:spTgt spid="64"/>
                                        </p:tgtEl>
                                        <p:attrNameLst>
                                          <p:attrName>style.visibility</p:attrName>
                                        </p:attrNameLst>
                                      </p:cBhvr>
                                      <p:to>
                                        <p:strVal val="visible"/>
                                      </p:to>
                                    </p:set>
                                    <p:anim calcmode="lin" valueType="num">
                                      <p:cBhvr>
                                        <p:cTn id="76" dur="1000" fill="hold"/>
                                        <p:tgtEl>
                                          <p:spTgt spid="64"/>
                                        </p:tgtEl>
                                        <p:attrNameLst>
                                          <p:attrName>ppt_x</p:attrName>
                                        </p:attrNameLst>
                                      </p:cBhvr>
                                      <p:tavLst>
                                        <p:tav tm="0">
                                          <p:val>
                                            <p:strVal val="#ppt_x"/>
                                          </p:val>
                                        </p:tav>
                                        <p:tav tm="100000">
                                          <p:val>
                                            <p:strVal val="#ppt_x"/>
                                          </p:val>
                                        </p:tav>
                                      </p:tavLst>
                                    </p:anim>
                                    <p:anim calcmode="lin" valueType="num">
                                      <p:cBhvr>
                                        <p:cTn id="77" dur="1000" fill="hold"/>
                                        <p:tgtEl>
                                          <p:spTgt spid="64"/>
                                        </p:tgtEl>
                                        <p:attrNameLst>
                                          <p:attrName>ppt_y</p:attrName>
                                        </p:attrNameLst>
                                      </p:cBhvr>
                                      <p:tavLst>
                                        <p:tav tm="0">
                                          <p:val>
                                            <p:strVal val="#ppt_y-#ppt_h/2"/>
                                          </p:val>
                                        </p:tav>
                                        <p:tav tm="100000">
                                          <p:val>
                                            <p:strVal val="#ppt_y"/>
                                          </p:val>
                                        </p:tav>
                                      </p:tavLst>
                                    </p:anim>
                                    <p:anim calcmode="lin" valueType="num">
                                      <p:cBhvr>
                                        <p:cTn id="78" dur="1000" fill="hold"/>
                                        <p:tgtEl>
                                          <p:spTgt spid="64"/>
                                        </p:tgtEl>
                                        <p:attrNameLst>
                                          <p:attrName>ppt_w</p:attrName>
                                        </p:attrNameLst>
                                      </p:cBhvr>
                                      <p:tavLst>
                                        <p:tav tm="0">
                                          <p:val>
                                            <p:strVal val="#ppt_w"/>
                                          </p:val>
                                        </p:tav>
                                        <p:tav tm="100000">
                                          <p:val>
                                            <p:strVal val="#ppt_w"/>
                                          </p:val>
                                        </p:tav>
                                      </p:tavLst>
                                    </p:anim>
                                    <p:anim calcmode="lin" valueType="num">
                                      <p:cBhvr>
                                        <p:cTn id="79" dur="10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7" presetClass="entr" presetSubtype="1" fill="hold" nodeType="clickEffect">
                                  <p:stCondLst>
                                    <p:cond delay="0"/>
                                  </p:stCondLst>
                                  <p:childTnLst>
                                    <p:set>
                                      <p:cBhvr>
                                        <p:cTn id="83" dur="1" fill="hold">
                                          <p:stCondLst>
                                            <p:cond delay="0"/>
                                          </p:stCondLst>
                                        </p:cTn>
                                        <p:tgtEl>
                                          <p:spTgt spid="66"/>
                                        </p:tgtEl>
                                        <p:attrNameLst>
                                          <p:attrName>style.visibility</p:attrName>
                                        </p:attrNameLst>
                                      </p:cBhvr>
                                      <p:to>
                                        <p:strVal val="visible"/>
                                      </p:to>
                                    </p:set>
                                    <p:anim calcmode="lin" valueType="num">
                                      <p:cBhvr>
                                        <p:cTn id="84" dur="1000" fill="hold"/>
                                        <p:tgtEl>
                                          <p:spTgt spid="66"/>
                                        </p:tgtEl>
                                        <p:attrNameLst>
                                          <p:attrName>ppt_x</p:attrName>
                                        </p:attrNameLst>
                                      </p:cBhvr>
                                      <p:tavLst>
                                        <p:tav tm="0">
                                          <p:val>
                                            <p:strVal val="#ppt_x"/>
                                          </p:val>
                                        </p:tav>
                                        <p:tav tm="100000">
                                          <p:val>
                                            <p:strVal val="#ppt_x"/>
                                          </p:val>
                                        </p:tav>
                                      </p:tavLst>
                                    </p:anim>
                                    <p:anim calcmode="lin" valueType="num">
                                      <p:cBhvr>
                                        <p:cTn id="85" dur="1000" fill="hold"/>
                                        <p:tgtEl>
                                          <p:spTgt spid="66"/>
                                        </p:tgtEl>
                                        <p:attrNameLst>
                                          <p:attrName>ppt_y</p:attrName>
                                        </p:attrNameLst>
                                      </p:cBhvr>
                                      <p:tavLst>
                                        <p:tav tm="0">
                                          <p:val>
                                            <p:strVal val="#ppt_y-#ppt_h/2"/>
                                          </p:val>
                                        </p:tav>
                                        <p:tav tm="100000">
                                          <p:val>
                                            <p:strVal val="#ppt_y"/>
                                          </p:val>
                                        </p:tav>
                                      </p:tavLst>
                                    </p:anim>
                                    <p:anim calcmode="lin" valueType="num">
                                      <p:cBhvr>
                                        <p:cTn id="86" dur="1000" fill="hold"/>
                                        <p:tgtEl>
                                          <p:spTgt spid="66"/>
                                        </p:tgtEl>
                                        <p:attrNameLst>
                                          <p:attrName>ppt_w</p:attrName>
                                        </p:attrNameLst>
                                      </p:cBhvr>
                                      <p:tavLst>
                                        <p:tav tm="0">
                                          <p:val>
                                            <p:strVal val="#ppt_w"/>
                                          </p:val>
                                        </p:tav>
                                        <p:tav tm="100000">
                                          <p:val>
                                            <p:strVal val="#ppt_w"/>
                                          </p:val>
                                        </p:tav>
                                      </p:tavLst>
                                    </p:anim>
                                    <p:anim calcmode="lin" valueType="num">
                                      <p:cBhvr>
                                        <p:cTn id="87" dur="10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7" presetClass="entr" presetSubtype="1" fill="hold" nodeType="clickEffect">
                                  <p:stCondLst>
                                    <p:cond delay="0"/>
                                  </p:stCondLst>
                                  <p:childTnLst>
                                    <p:set>
                                      <p:cBhvr>
                                        <p:cTn id="91" dur="1" fill="hold">
                                          <p:stCondLst>
                                            <p:cond delay="0"/>
                                          </p:stCondLst>
                                        </p:cTn>
                                        <p:tgtEl>
                                          <p:spTgt spid="67"/>
                                        </p:tgtEl>
                                        <p:attrNameLst>
                                          <p:attrName>style.visibility</p:attrName>
                                        </p:attrNameLst>
                                      </p:cBhvr>
                                      <p:to>
                                        <p:strVal val="visible"/>
                                      </p:to>
                                    </p:set>
                                    <p:anim calcmode="lin" valueType="num">
                                      <p:cBhvr>
                                        <p:cTn id="92" dur="1000" fill="hold"/>
                                        <p:tgtEl>
                                          <p:spTgt spid="67"/>
                                        </p:tgtEl>
                                        <p:attrNameLst>
                                          <p:attrName>ppt_x</p:attrName>
                                        </p:attrNameLst>
                                      </p:cBhvr>
                                      <p:tavLst>
                                        <p:tav tm="0">
                                          <p:val>
                                            <p:strVal val="#ppt_x"/>
                                          </p:val>
                                        </p:tav>
                                        <p:tav tm="100000">
                                          <p:val>
                                            <p:strVal val="#ppt_x"/>
                                          </p:val>
                                        </p:tav>
                                      </p:tavLst>
                                    </p:anim>
                                    <p:anim calcmode="lin" valueType="num">
                                      <p:cBhvr>
                                        <p:cTn id="93" dur="1000" fill="hold"/>
                                        <p:tgtEl>
                                          <p:spTgt spid="67"/>
                                        </p:tgtEl>
                                        <p:attrNameLst>
                                          <p:attrName>ppt_y</p:attrName>
                                        </p:attrNameLst>
                                      </p:cBhvr>
                                      <p:tavLst>
                                        <p:tav tm="0">
                                          <p:val>
                                            <p:strVal val="#ppt_y-#ppt_h/2"/>
                                          </p:val>
                                        </p:tav>
                                        <p:tav tm="100000">
                                          <p:val>
                                            <p:strVal val="#ppt_y"/>
                                          </p:val>
                                        </p:tav>
                                      </p:tavLst>
                                    </p:anim>
                                    <p:anim calcmode="lin" valueType="num">
                                      <p:cBhvr>
                                        <p:cTn id="94" dur="1000" fill="hold"/>
                                        <p:tgtEl>
                                          <p:spTgt spid="67"/>
                                        </p:tgtEl>
                                        <p:attrNameLst>
                                          <p:attrName>ppt_w</p:attrName>
                                        </p:attrNameLst>
                                      </p:cBhvr>
                                      <p:tavLst>
                                        <p:tav tm="0">
                                          <p:val>
                                            <p:strVal val="#ppt_w"/>
                                          </p:val>
                                        </p:tav>
                                        <p:tav tm="100000">
                                          <p:val>
                                            <p:strVal val="#ppt_w"/>
                                          </p:val>
                                        </p:tav>
                                      </p:tavLst>
                                    </p:anim>
                                    <p:anim calcmode="lin" valueType="num">
                                      <p:cBhvr>
                                        <p:cTn id="95" dur="1000" fill="hold"/>
                                        <p:tgtEl>
                                          <p:spTgt spid="67"/>
                                        </p:tgtEl>
                                        <p:attrNameLst>
                                          <p:attrName>ppt_h</p:attrName>
                                        </p:attrNameLst>
                                      </p:cBhvr>
                                      <p:tavLst>
                                        <p:tav tm="0">
                                          <p:val>
                                            <p:fltVal val="0"/>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17" presetClass="entr" presetSubtype="1" fill="hold" nodeType="clickEffect">
                                  <p:stCondLst>
                                    <p:cond delay="0"/>
                                  </p:stCondLst>
                                  <p:childTnLst>
                                    <p:set>
                                      <p:cBhvr>
                                        <p:cTn id="99" dur="1" fill="hold">
                                          <p:stCondLst>
                                            <p:cond delay="0"/>
                                          </p:stCondLst>
                                        </p:cTn>
                                        <p:tgtEl>
                                          <p:spTgt spid="74"/>
                                        </p:tgtEl>
                                        <p:attrNameLst>
                                          <p:attrName>style.visibility</p:attrName>
                                        </p:attrNameLst>
                                      </p:cBhvr>
                                      <p:to>
                                        <p:strVal val="visible"/>
                                      </p:to>
                                    </p:set>
                                    <p:anim calcmode="lin" valueType="num">
                                      <p:cBhvr>
                                        <p:cTn id="100" dur="1000" fill="hold"/>
                                        <p:tgtEl>
                                          <p:spTgt spid="74"/>
                                        </p:tgtEl>
                                        <p:attrNameLst>
                                          <p:attrName>ppt_x</p:attrName>
                                        </p:attrNameLst>
                                      </p:cBhvr>
                                      <p:tavLst>
                                        <p:tav tm="0">
                                          <p:val>
                                            <p:strVal val="#ppt_x"/>
                                          </p:val>
                                        </p:tav>
                                        <p:tav tm="100000">
                                          <p:val>
                                            <p:strVal val="#ppt_x"/>
                                          </p:val>
                                        </p:tav>
                                      </p:tavLst>
                                    </p:anim>
                                    <p:anim calcmode="lin" valueType="num">
                                      <p:cBhvr>
                                        <p:cTn id="101" dur="1000" fill="hold"/>
                                        <p:tgtEl>
                                          <p:spTgt spid="74"/>
                                        </p:tgtEl>
                                        <p:attrNameLst>
                                          <p:attrName>ppt_y</p:attrName>
                                        </p:attrNameLst>
                                      </p:cBhvr>
                                      <p:tavLst>
                                        <p:tav tm="0">
                                          <p:val>
                                            <p:strVal val="#ppt_y-#ppt_h/2"/>
                                          </p:val>
                                        </p:tav>
                                        <p:tav tm="100000">
                                          <p:val>
                                            <p:strVal val="#ppt_y"/>
                                          </p:val>
                                        </p:tav>
                                      </p:tavLst>
                                    </p:anim>
                                    <p:anim calcmode="lin" valueType="num">
                                      <p:cBhvr>
                                        <p:cTn id="102" dur="1000" fill="hold"/>
                                        <p:tgtEl>
                                          <p:spTgt spid="74"/>
                                        </p:tgtEl>
                                        <p:attrNameLst>
                                          <p:attrName>ppt_w</p:attrName>
                                        </p:attrNameLst>
                                      </p:cBhvr>
                                      <p:tavLst>
                                        <p:tav tm="0">
                                          <p:val>
                                            <p:strVal val="#ppt_w"/>
                                          </p:val>
                                        </p:tav>
                                        <p:tav tm="100000">
                                          <p:val>
                                            <p:strVal val="#ppt_w"/>
                                          </p:val>
                                        </p:tav>
                                      </p:tavLst>
                                    </p:anim>
                                    <p:anim calcmode="lin" valueType="num">
                                      <p:cBhvr>
                                        <p:cTn id="103" dur="1000" fill="hold"/>
                                        <p:tgtEl>
                                          <p:spTgt spid="74"/>
                                        </p:tgtEl>
                                        <p:attrNameLst>
                                          <p:attrName>ppt_h</p:attrName>
                                        </p:attrNameLst>
                                      </p:cBhvr>
                                      <p:tavLst>
                                        <p:tav tm="0">
                                          <p:val>
                                            <p:fltVal val="0"/>
                                          </p:val>
                                        </p:tav>
                                        <p:tav tm="100000">
                                          <p:val>
                                            <p:strVal val="#ppt_h"/>
                                          </p:val>
                                        </p:tav>
                                      </p:tavLst>
                                    </p:anim>
                                  </p:childTnLst>
                                </p:cTn>
                              </p:par>
                            </p:childTnLst>
                          </p:cTn>
                        </p:par>
                        <p:par>
                          <p:cTn id="104" fill="hold">
                            <p:stCondLst>
                              <p:cond delay="1000"/>
                            </p:stCondLst>
                            <p:childTnLst>
                              <p:par>
                                <p:cTn id="105" presetID="17" presetClass="entr" presetSubtype="1" fill="hold" nodeType="afterEffect">
                                  <p:stCondLst>
                                    <p:cond delay="0"/>
                                  </p:stCondLst>
                                  <p:childTnLst>
                                    <p:set>
                                      <p:cBhvr>
                                        <p:cTn id="106" dur="1" fill="hold">
                                          <p:stCondLst>
                                            <p:cond delay="0"/>
                                          </p:stCondLst>
                                        </p:cTn>
                                        <p:tgtEl>
                                          <p:spTgt spid="76"/>
                                        </p:tgtEl>
                                        <p:attrNameLst>
                                          <p:attrName>style.visibility</p:attrName>
                                        </p:attrNameLst>
                                      </p:cBhvr>
                                      <p:to>
                                        <p:strVal val="visible"/>
                                      </p:to>
                                    </p:set>
                                    <p:anim calcmode="lin" valueType="num">
                                      <p:cBhvr>
                                        <p:cTn id="107" dur="1000" fill="hold"/>
                                        <p:tgtEl>
                                          <p:spTgt spid="76"/>
                                        </p:tgtEl>
                                        <p:attrNameLst>
                                          <p:attrName>ppt_x</p:attrName>
                                        </p:attrNameLst>
                                      </p:cBhvr>
                                      <p:tavLst>
                                        <p:tav tm="0">
                                          <p:val>
                                            <p:strVal val="#ppt_x"/>
                                          </p:val>
                                        </p:tav>
                                        <p:tav tm="100000">
                                          <p:val>
                                            <p:strVal val="#ppt_x"/>
                                          </p:val>
                                        </p:tav>
                                      </p:tavLst>
                                    </p:anim>
                                    <p:anim calcmode="lin" valueType="num">
                                      <p:cBhvr>
                                        <p:cTn id="108" dur="1000" fill="hold"/>
                                        <p:tgtEl>
                                          <p:spTgt spid="76"/>
                                        </p:tgtEl>
                                        <p:attrNameLst>
                                          <p:attrName>ppt_y</p:attrName>
                                        </p:attrNameLst>
                                      </p:cBhvr>
                                      <p:tavLst>
                                        <p:tav tm="0">
                                          <p:val>
                                            <p:strVal val="#ppt_y-#ppt_h/2"/>
                                          </p:val>
                                        </p:tav>
                                        <p:tav tm="100000">
                                          <p:val>
                                            <p:strVal val="#ppt_y"/>
                                          </p:val>
                                        </p:tav>
                                      </p:tavLst>
                                    </p:anim>
                                    <p:anim calcmode="lin" valueType="num">
                                      <p:cBhvr>
                                        <p:cTn id="109" dur="1000" fill="hold"/>
                                        <p:tgtEl>
                                          <p:spTgt spid="76"/>
                                        </p:tgtEl>
                                        <p:attrNameLst>
                                          <p:attrName>ppt_w</p:attrName>
                                        </p:attrNameLst>
                                      </p:cBhvr>
                                      <p:tavLst>
                                        <p:tav tm="0">
                                          <p:val>
                                            <p:strVal val="#ppt_w"/>
                                          </p:val>
                                        </p:tav>
                                        <p:tav tm="100000">
                                          <p:val>
                                            <p:strVal val="#ppt_w"/>
                                          </p:val>
                                        </p:tav>
                                      </p:tavLst>
                                    </p:anim>
                                    <p:anim calcmode="lin" valueType="num">
                                      <p:cBhvr>
                                        <p:cTn id="110" dur="1000" fill="hold"/>
                                        <p:tgtEl>
                                          <p:spTgt spid="76"/>
                                        </p:tgtEl>
                                        <p:attrNameLst>
                                          <p:attrName>ppt_h</p:attrName>
                                        </p:attrNameLst>
                                      </p:cBhvr>
                                      <p:tavLst>
                                        <p:tav tm="0">
                                          <p:val>
                                            <p:fltVal val="0"/>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17" presetClass="entr" presetSubtype="8" fill="hold" nodeType="clickEffect">
                                  <p:stCondLst>
                                    <p:cond delay="0"/>
                                  </p:stCondLst>
                                  <p:childTnLst>
                                    <p:set>
                                      <p:cBhvr>
                                        <p:cTn id="114" dur="1" fill="hold">
                                          <p:stCondLst>
                                            <p:cond delay="0"/>
                                          </p:stCondLst>
                                        </p:cTn>
                                        <p:tgtEl>
                                          <p:spTgt spid="77"/>
                                        </p:tgtEl>
                                        <p:attrNameLst>
                                          <p:attrName>style.visibility</p:attrName>
                                        </p:attrNameLst>
                                      </p:cBhvr>
                                      <p:to>
                                        <p:strVal val="visible"/>
                                      </p:to>
                                    </p:set>
                                    <p:anim calcmode="lin" valueType="num">
                                      <p:cBhvr>
                                        <p:cTn id="115" dur="1000" fill="hold"/>
                                        <p:tgtEl>
                                          <p:spTgt spid="77"/>
                                        </p:tgtEl>
                                        <p:attrNameLst>
                                          <p:attrName>ppt_x</p:attrName>
                                        </p:attrNameLst>
                                      </p:cBhvr>
                                      <p:tavLst>
                                        <p:tav tm="0">
                                          <p:val>
                                            <p:strVal val="#ppt_x-#ppt_w/2"/>
                                          </p:val>
                                        </p:tav>
                                        <p:tav tm="100000">
                                          <p:val>
                                            <p:strVal val="#ppt_x"/>
                                          </p:val>
                                        </p:tav>
                                      </p:tavLst>
                                    </p:anim>
                                    <p:anim calcmode="lin" valueType="num">
                                      <p:cBhvr>
                                        <p:cTn id="116" dur="1000" fill="hold"/>
                                        <p:tgtEl>
                                          <p:spTgt spid="77"/>
                                        </p:tgtEl>
                                        <p:attrNameLst>
                                          <p:attrName>ppt_y</p:attrName>
                                        </p:attrNameLst>
                                      </p:cBhvr>
                                      <p:tavLst>
                                        <p:tav tm="0">
                                          <p:val>
                                            <p:strVal val="#ppt_y"/>
                                          </p:val>
                                        </p:tav>
                                        <p:tav tm="100000">
                                          <p:val>
                                            <p:strVal val="#ppt_y"/>
                                          </p:val>
                                        </p:tav>
                                      </p:tavLst>
                                    </p:anim>
                                    <p:anim calcmode="lin" valueType="num">
                                      <p:cBhvr>
                                        <p:cTn id="117" dur="1000" fill="hold"/>
                                        <p:tgtEl>
                                          <p:spTgt spid="77"/>
                                        </p:tgtEl>
                                        <p:attrNameLst>
                                          <p:attrName>ppt_w</p:attrName>
                                        </p:attrNameLst>
                                      </p:cBhvr>
                                      <p:tavLst>
                                        <p:tav tm="0">
                                          <p:val>
                                            <p:fltVal val="0"/>
                                          </p:val>
                                        </p:tav>
                                        <p:tav tm="100000">
                                          <p:val>
                                            <p:strVal val="#ppt_w"/>
                                          </p:val>
                                        </p:tav>
                                      </p:tavLst>
                                    </p:anim>
                                    <p:anim calcmode="lin" valueType="num">
                                      <p:cBhvr>
                                        <p:cTn id="118" dur="1000" fill="hold"/>
                                        <p:tgtEl>
                                          <p:spTgt spid="77"/>
                                        </p:tgtEl>
                                        <p:attrNameLst>
                                          <p:attrName>ppt_h</p:attrName>
                                        </p:attrNameLst>
                                      </p:cBhvr>
                                      <p:tavLst>
                                        <p:tav tm="0">
                                          <p:val>
                                            <p:strVal val="#ppt_h"/>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12" presetClass="entr" presetSubtype="4" fill="hold" grpId="0" nodeType="clickEffect">
                                  <p:stCondLst>
                                    <p:cond delay="0"/>
                                  </p:stCondLst>
                                  <p:childTnLst>
                                    <p:set>
                                      <p:cBhvr>
                                        <p:cTn id="122" dur="1" fill="hold">
                                          <p:stCondLst>
                                            <p:cond delay="0"/>
                                          </p:stCondLst>
                                        </p:cTn>
                                        <p:tgtEl>
                                          <p:spTgt spid="80"/>
                                        </p:tgtEl>
                                        <p:attrNameLst>
                                          <p:attrName>style.visibility</p:attrName>
                                        </p:attrNameLst>
                                      </p:cBhvr>
                                      <p:to>
                                        <p:strVal val="visible"/>
                                      </p:to>
                                    </p:set>
                                    <p:animEffect transition="in" filter="slide(fromBottom)">
                                      <p:cBhvr>
                                        <p:cTn id="123" dur="1000"/>
                                        <p:tgtEl>
                                          <p:spTgt spid="80"/>
                                        </p:tgtEl>
                                      </p:cBhvr>
                                    </p:animEffect>
                                  </p:childTnLst>
                                </p:cTn>
                              </p:par>
                            </p:childTnLst>
                          </p:cTn>
                        </p:par>
                      </p:childTnLst>
                    </p:cTn>
                  </p:par>
                  <p:par>
                    <p:cTn id="124" fill="hold">
                      <p:stCondLst>
                        <p:cond delay="indefinite"/>
                      </p:stCondLst>
                      <p:childTnLst>
                        <p:par>
                          <p:cTn id="125" fill="hold">
                            <p:stCondLst>
                              <p:cond delay="0"/>
                            </p:stCondLst>
                            <p:childTnLst>
                              <p:par>
                                <p:cTn id="126" presetID="12" presetClass="entr" presetSubtype="4" fill="hold" grpId="0" nodeType="clickEffect">
                                  <p:stCondLst>
                                    <p:cond delay="0"/>
                                  </p:stCondLst>
                                  <p:childTnLst>
                                    <p:set>
                                      <p:cBhvr>
                                        <p:cTn id="127" dur="1" fill="hold">
                                          <p:stCondLst>
                                            <p:cond delay="0"/>
                                          </p:stCondLst>
                                        </p:cTn>
                                        <p:tgtEl>
                                          <p:spTgt spid="52"/>
                                        </p:tgtEl>
                                        <p:attrNameLst>
                                          <p:attrName>style.visibility</p:attrName>
                                        </p:attrNameLst>
                                      </p:cBhvr>
                                      <p:to>
                                        <p:strVal val="visible"/>
                                      </p:to>
                                    </p:set>
                                    <p:animEffect transition="in" filter="slide(fromBottom)">
                                      <p:cBhvr>
                                        <p:cTn id="12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80" grpId="0" animBg="1"/>
      <p:bldP spid="57" grpId="0"/>
      <p:bldP spid="58" grpId="0"/>
      <p:bldP spid="5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xmlns="" id="{E77F1FBB-1659-4095-B5CF-B43563896FBA}"/>
              </a:ext>
            </a:extLst>
          </p:cNvPr>
          <p:cNvGrpSpPr/>
          <p:nvPr/>
        </p:nvGrpSpPr>
        <p:grpSpPr>
          <a:xfrm>
            <a:off x="3143250" y="2650126"/>
            <a:ext cx="2331905" cy="231775"/>
            <a:chOff x="3143250" y="2650126"/>
            <a:chExt cx="2331905" cy="231775"/>
          </a:xfrm>
        </p:grpSpPr>
        <p:grpSp>
          <p:nvGrpSpPr>
            <p:cNvPr id="11" name="组合 10">
              <a:extLst>
                <a:ext uri="{FF2B5EF4-FFF2-40B4-BE49-F238E27FC236}">
                  <a16:creationId xmlns:a16="http://schemas.microsoft.com/office/drawing/2014/main" xmlns="" id="{7D0BE19A-2C70-49B4-BFA2-FE1B30F220B6}"/>
                </a:ext>
              </a:extLst>
            </p:cNvPr>
            <p:cNvGrpSpPr/>
            <p:nvPr/>
          </p:nvGrpSpPr>
          <p:grpSpPr>
            <a:xfrm>
              <a:off x="3143250" y="2650127"/>
              <a:ext cx="2205039" cy="219660"/>
              <a:chOff x="3143250" y="2650127"/>
              <a:chExt cx="2205039" cy="219660"/>
            </a:xfrm>
          </p:grpSpPr>
          <p:sp>
            <p:nvSpPr>
              <p:cNvPr id="10" name="任意多边形: 形状 9">
                <a:extLst>
                  <a:ext uri="{FF2B5EF4-FFF2-40B4-BE49-F238E27FC236}">
                    <a16:creationId xmlns:a16="http://schemas.microsoft.com/office/drawing/2014/main" xmlns="" id="{EF700A1E-99B4-4477-8B5F-1AB8B1B6A404}"/>
                  </a:ext>
                </a:extLst>
              </p:cNvPr>
              <p:cNvSpPr/>
              <p:nvPr/>
            </p:nvSpPr>
            <p:spPr>
              <a:xfrm>
                <a:off x="3143250" y="2662238"/>
                <a:ext cx="1909763" cy="134841"/>
              </a:xfrm>
              <a:custGeom>
                <a:avLst/>
                <a:gdLst>
                  <a:gd name="connsiteX0" fmla="*/ 0 w 1909763"/>
                  <a:gd name="connsiteY0" fmla="*/ 14287 h 134841"/>
                  <a:gd name="connsiteX1" fmla="*/ 257175 w 1909763"/>
                  <a:gd name="connsiteY1" fmla="*/ 114300 h 134841"/>
                  <a:gd name="connsiteX2" fmla="*/ 842963 w 1909763"/>
                  <a:gd name="connsiteY2" fmla="*/ 133350 h 134841"/>
                  <a:gd name="connsiteX3" fmla="*/ 1666875 w 1909763"/>
                  <a:gd name="connsiteY3" fmla="*/ 90487 h 134841"/>
                  <a:gd name="connsiteX4" fmla="*/ 1909763 w 1909763"/>
                  <a:gd name="connsiteY4" fmla="*/ 0 h 134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763" h="134841">
                    <a:moveTo>
                      <a:pt x="0" y="14287"/>
                    </a:moveTo>
                    <a:cubicBezTo>
                      <a:pt x="58340" y="54371"/>
                      <a:pt x="116681" y="94456"/>
                      <a:pt x="257175" y="114300"/>
                    </a:cubicBezTo>
                    <a:cubicBezTo>
                      <a:pt x="397669" y="134144"/>
                      <a:pt x="608013" y="137319"/>
                      <a:pt x="842963" y="133350"/>
                    </a:cubicBezTo>
                    <a:cubicBezTo>
                      <a:pt x="1077913" y="129381"/>
                      <a:pt x="1489075" y="112712"/>
                      <a:pt x="1666875" y="90487"/>
                    </a:cubicBezTo>
                    <a:cubicBezTo>
                      <a:pt x="1844675" y="68262"/>
                      <a:pt x="1877219" y="34131"/>
                      <a:pt x="1909763" y="0"/>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形状 30">
                <a:extLst>
                  <a:ext uri="{FF2B5EF4-FFF2-40B4-BE49-F238E27FC236}">
                    <a16:creationId xmlns:a16="http://schemas.microsoft.com/office/drawing/2014/main" xmlns="" id="{5B1DF06D-A158-4F45-8385-9CF9DD60D873}"/>
                  </a:ext>
                </a:extLst>
              </p:cNvPr>
              <p:cNvSpPr/>
              <p:nvPr/>
            </p:nvSpPr>
            <p:spPr>
              <a:xfrm>
                <a:off x="3510388" y="2661156"/>
                <a:ext cx="1661687" cy="186033"/>
              </a:xfrm>
              <a:custGeom>
                <a:avLst/>
                <a:gdLst>
                  <a:gd name="connsiteX0" fmla="*/ 0 w 1909763"/>
                  <a:gd name="connsiteY0" fmla="*/ 14287 h 134841"/>
                  <a:gd name="connsiteX1" fmla="*/ 257175 w 1909763"/>
                  <a:gd name="connsiteY1" fmla="*/ 114300 h 134841"/>
                  <a:gd name="connsiteX2" fmla="*/ 842963 w 1909763"/>
                  <a:gd name="connsiteY2" fmla="*/ 133350 h 134841"/>
                  <a:gd name="connsiteX3" fmla="*/ 1666875 w 1909763"/>
                  <a:gd name="connsiteY3" fmla="*/ 90487 h 134841"/>
                  <a:gd name="connsiteX4" fmla="*/ 1909763 w 1909763"/>
                  <a:gd name="connsiteY4" fmla="*/ 0 h 134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763" h="134841">
                    <a:moveTo>
                      <a:pt x="0" y="14287"/>
                    </a:moveTo>
                    <a:cubicBezTo>
                      <a:pt x="58340" y="54371"/>
                      <a:pt x="116681" y="94456"/>
                      <a:pt x="257175" y="114300"/>
                    </a:cubicBezTo>
                    <a:cubicBezTo>
                      <a:pt x="397669" y="134144"/>
                      <a:pt x="608013" y="137319"/>
                      <a:pt x="842963" y="133350"/>
                    </a:cubicBezTo>
                    <a:cubicBezTo>
                      <a:pt x="1077913" y="129381"/>
                      <a:pt x="1489075" y="112712"/>
                      <a:pt x="1666875" y="90487"/>
                    </a:cubicBezTo>
                    <a:cubicBezTo>
                      <a:pt x="1844675" y="68262"/>
                      <a:pt x="1877219" y="34131"/>
                      <a:pt x="1909763" y="0"/>
                    </a:cubicBezTo>
                  </a:path>
                </a:pathLst>
              </a:custGeom>
              <a:noFill/>
              <a:ln>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a:extLst>
                  <a:ext uri="{FF2B5EF4-FFF2-40B4-BE49-F238E27FC236}">
                    <a16:creationId xmlns:a16="http://schemas.microsoft.com/office/drawing/2014/main" xmlns="" id="{A43C6B85-F7CC-4B7F-B50A-454EF22AC95A}"/>
                  </a:ext>
                </a:extLst>
              </p:cNvPr>
              <p:cNvSpPr/>
              <p:nvPr/>
            </p:nvSpPr>
            <p:spPr>
              <a:xfrm>
                <a:off x="3890513" y="2650127"/>
                <a:ext cx="1457776" cy="219660"/>
              </a:xfrm>
              <a:custGeom>
                <a:avLst/>
                <a:gdLst>
                  <a:gd name="connsiteX0" fmla="*/ 0 w 1909763"/>
                  <a:gd name="connsiteY0" fmla="*/ 14287 h 134841"/>
                  <a:gd name="connsiteX1" fmla="*/ 257175 w 1909763"/>
                  <a:gd name="connsiteY1" fmla="*/ 114300 h 134841"/>
                  <a:gd name="connsiteX2" fmla="*/ 842963 w 1909763"/>
                  <a:gd name="connsiteY2" fmla="*/ 133350 h 134841"/>
                  <a:gd name="connsiteX3" fmla="*/ 1666875 w 1909763"/>
                  <a:gd name="connsiteY3" fmla="*/ 90487 h 134841"/>
                  <a:gd name="connsiteX4" fmla="*/ 1909763 w 1909763"/>
                  <a:gd name="connsiteY4" fmla="*/ 0 h 134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763" h="134841">
                    <a:moveTo>
                      <a:pt x="0" y="14287"/>
                    </a:moveTo>
                    <a:cubicBezTo>
                      <a:pt x="58340" y="54371"/>
                      <a:pt x="116681" y="94456"/>
                      <a:pt x="257175" y="114300"/>
                    </a:cubicBezTo>
                    <a:cubicBezTo>
                      <a:pt x="397669" y="134144"/>
                      <a:pt x="608013" y="137319"/>
                      <a:pt x="842963" y="133350"/>
                    </a:cubicBezTo>
                    <a:cubicBezTo>
                      <a:pt x="1077913" y="129381"/>
                      <a:pt x="1489075" y="112712"/>
                      <a:pt x="1666875" y="90487"/>
                    </a:cubicBezTo>
                    <a:cubicBezTo>
                      <a:pt x="1844675" y="68262"/>
                      <a:pt x="1877219" y="34131"/>
                      <a:pt x="1909763" y="0"/>
                    </a:cubicBezTo>
                  </a:path>
                </a:pathLst>
              </a:custGeom>
              <a:noFill/>
              <a:ln>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任意多边形: 形状 41">
              <a:extLst>
                <a:ext uri="{FF2B5EF4-FFF2-40B4-BE49-F238E27FC236}">
                  <a16:creationId xmlns:a16="http://schemas.microsoft.com/office/drawing/2014/main" xmlns="" id="{1B43D9BB-776D-4C34-BBC1-6381239E1CD3}"/>
                </a:ext>
              </a:extLst>
            </p:cNvPr>
            <p:cNvSpPr/>
            <p:nvPr/>
          </p:nvSpPr>
          <p:spPr>
            <a:xfrm>
              <a:off x="4337092" y="2650126"/>
              <a:ext cx="1138063" cy="231775"/>
            </a:xfrm>
            <a:custGeom>
              <a:avLst/>
              <a:gdLst>
                <a:gd name="connsiteX0" fmla="*/ 0 w 1909763"/>
                <a:gd name="connsiteY0" fmla="*/ 14287 h 134841"/>
                <a:gd name="connsiteX1" fmla="*/ 257175 w 1909763"/>
                <a:gd name="connsiteY1" fmla="*/ 114300 h 134841"/>
                <a:gd name="connsiteX2" fmla="*/ 842963 w 1909763"/>
                <a:gd name="connsiteY2" fmla="*/ 133350 h 134841"/>
                <a:gd name="connsiteX3" fmla="*/ 1666875 w 1909763"/>
                <a:gd name="connsiteY3" fmla="*/ 90487 h 134841"/>
                <a:gd name="connsiteX4" fmla="*/ 1909763 w 1909763"/>
                <a:gd name="connsiteY4" fmla="*/ 0 h 134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763" h="134841">
                  <a:moveTo>
                    <a:pt x="0" y="14287"/>
                  </a:moveTo>
                  <a:cubicBezTo>
                    <a:pt x="58340" y="54371"/>
                    <a:pt x="116681" y="94456"/>
                    <a:pt x="257175" y="114300"/>
                  </a:cubicBezTo>
                  <a:cubicBezTo>
                    <a:pt x="397669" y="134144"/>
                    <a:pt x="608013" y="137319"/>
                    <a:pt x="842963" y="133350"/>
                  </a:cubicBezTo>
                  <a:cubicBezTo>
                    <a:pt x="1077913" y="129381"/>
                    <a:pt x="1489075" y="112712"/>
                    <a:pt x="1666875" y="90487"/>
                  </a:cubicBezTo>
                  <a:cubicBezTo>
                    <a:pt x="1844675" y="68262"/>
                    <a:pt x="1877219" y="34131"/>
                    <a:pt x="1909763" y="0"/>
                  </a:cubicBezTo>
                </a:path>
              </a:pathLst>
            </a:custGeom>
            <a:noFill/>
            <a:ln>
              <a:solidFill>
                <a:srgbClr val="CC00CC"/>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7"/>
          <p:cNvGrpSpPr/>
          <p:nvPr/>
        </p:nvGrpSpPr>
        <p:grpSpPr>
          <a:xfrm>
            <a:off x="392432" y="702128"/>
            <a:ext cx="1477478" cy="418885"/>
            <a:chOff x="670560" y="892917"/>
            <a:chExt cx="1477478" cy="465428"/>
          </a:xfrm>
        </p:grpSpPr>
        <p:sp>
          <p:nvSpPr>
            <p:cNvPr id="29" name="矩形 28"/>
            <p:cNvSpPr/>
            <p:nvPr/>
          </p:nvSpPr>
          <p:spPr>
            <a:xfrm>
              <a:off x="1035233" y="913778"/>
              <a:ext cx="1112805"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、数制</a:t>
              </a:r>
            </a:p>
          </p:txBody>
        </p:sp>
        <p:pic>
          <p:nvPicPr>
            <p:cNvPr id="3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3" name="Rectangle 17"/>
          <p:cNvSpPr>
            <a:spLocks noChangeArrowheads="1"/>
          </p:cNvSpPr>
          <p:nvPr/>
        </p:nvSpPr>
        <p:spPr bwMode="auto">
          <a:xfrm>
            <a:off x="566738" y="1128712"/>
            <a:ext cx="2290762" cy="369332"/>
          </a:xfrm>
          <a:prstGeom prst="rect">
            <a:avLst/>
          </a:prstGeom>
          <a:noFill/>
          <a:ln w="9525" algn="ctr">
            <a:noFill/>
            <a:miter lim="800000"/>
            <a:headEnd/>
            <a:tailEnd/>
          </a:ln>
        </p:spPr>
        <p:txBody>
          <a:bodyPr wrap="square">
            <a:spAutoFit/>
          </a:bodyPr>
          <a:lstStyle/>
          <a:p>
            <a:pPr marL="457200" indent="-457200" algn="l"/>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）数制的转换</a:t>
            </a:r>
            <a:endParaRPr lang="zh-CN" altLang="en-US" dirty="0">
              <a:solidFill>
                <a:srgbClr val="336699"/>
              </a:solidFill>
              <a:latin typeface="黑体" pitchFamily="49" charset="-122"/>
              <a:ea typeface="黑体" pitchFamily="49" charset="-122"/>
            </a:endParaRPr>
          </a:p>
        </p:txBody>
      </p:sp>
      <p:grpSp>
        <p:nvGrpSpPr>
          <p:cNvPr id="3" name="组合 24"/>
          <p:cNvGrpSpPr/>
          <p:nvPr/>
        </p:nvGrpSpPr>
        <p:grpSpPr>
          <a:xfrm>
            <a:off x="786473" y="3196205"/>
            <a:ext cx="3921449" cy="461665"/>
            <a:chOff x="766448" y="1657435"/>
            <a:chExt cx="3921449" cy="512960"/>
          </a:xfrm>
        </p:grpSpPr>
        <p:grpSp>
          <p:nvGrpSpPr>
            <p:cNvPr id="4" name="组合 34">
              <a:extLst>
                <a:ext uri="{FF2B5EF4-FFF2-40B4-BE49-F238E27FC236}">
                  <a16:creationId xmlns:a16="http://schemas.microsoft.com/office/drawing/2014/main" xmlns="" id="{E010191F-7F37-4AFE-B961-7090CF5FA91D}"/>
                </a:ext>
              </a:extLst>
            </p:cNvPr>
            <p:cNvGrpSpPr/>
            <p:nvPr/>
          </p:nvGrpSpPr>
          <p:grpSpPr>
            <a:xfrm>
              <a:off x="766448" y="1706591"/>
              <a:ext cx="2541902" cy="401378"/>
              <a:chOff x="358461" y="2491451"/>
              <a:chExt cx="2541902" cy="401378"/>
            </a:xfrm>
          </p:grpSpPr>
          <p:sp>
            <p:nvSpPr>
              <p:cNvPr id="36" name="矩形 35">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299014"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二进制转十六进制</a:t>
                </a:r>
              </a:p>
            </p:txBody>
          </p:sp>
          <p:sp>
            <p:nvSpPr>
              <p:cNvPr id="37" name="矩形 36">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43"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sp>
          <p:nvSpPr>
            <p:cNvPr id="50" name="矩形 49"/>
            <p:cNvSpPr/>
            <p:nvPr/>
          </p:nvSpPr>
          <p:spPr>
            <a:xfrm>
              <a:off x="3272125" y="1657435"/>
              <a:ext cx="1415772" cy="512960"/>
            </a:xfrm>
            <a:prstGeom prst="rect">
              <a:avLst/>
            </a:prstGeom>
          </p:spPr>
          <p:txBody>
            <a:bodyPr wrap="none">
              <a:spAutoFit/>
            </a:bodyPr>
            <a:lstStyle/>
            <a:p>
              <a:pPr>
                <a:lnSpc>
                  <a:spcPct val="150000"/>
                </a:lnSpc>
              </a:pPr>
              <a:r>
                <a:rPr lang="en-US" altLang="zh-CN"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rPr>
                <a:t>四位分组法</a:t>
              </a:r>
              <a:r>
                <a:rPr lang="en-US" altLang="zh-CN" sz="1600" dirty="0">
                  <a:solidFill>
                    <a:srgbClr val="6600FF"/>
                  </a:solidFill>
                  <a:latin typeface="方正粗黑宋简体" pitchFamily="2" charset="-122"/>
                  <a:ea typeface="方正粗黑宋简体" pitchFamily="2" charset="-122"/>
                </a:rPr>
                <a:t>)</a:t>
              </a:r>
              <a:endParaRPr lang="zh-CN" altLang="en-US" sz="1600" dirty="0">
                <a:solidFill>
                  <a:srgbClr val="6600FF"/>
                </a:solidFill>
                <a:latin typeface="方正粗黑宋简体" pitchFamily="2" charset="-122"/>
                <a:ea typeface="方正粗黑宋简体" pitchFamily="2" charset="-122"/>
              </a:endParaRPr>
            </a:p>
          </p:txBody>
        </p:sp>
      </p:grpSp>
      <p:sp>
        <p:nvSpPr>
          <p:cNvPr id="51" name="Rectangle 14"/>
          <p:cNvSpPr>
            <a:spLocks noChangeArrowheads="1"/>
          </p:cNvSpPr>
          <p:nvPr/>
        </p:nvSpPr>
        <p:spPr bwMode="auto">
          <a:xfrm>
            <a:off x="997314" y="3668057"/>
            <a:ext cx="7783756" cy="338554"/>
          </a:xfrm>
          <a:prstGeom prst="rect">
            <a:avLst/>
          </a:prstGeom>
          <a:noFill/>
          <a:ln w="9525" algn="ctr">
            <a:noFill/>
            <a:miter lim="800000"/>
            <a:headEnd/>
            <a:tailEnd/>
          </a:ln>
        </p:spPr>
        <p:txBody>
          <a:bodyPr wrap="square" lIns="0" rIns="0">
            <a:spAutoFit/>
          </a:bodyPr>
          <a:lstStyle/>
          <a:p>
            <a:pPr algn="l"/>
            <a:r>
              <a:rPr lang="zh-CN" altLang="en-US" sz="1600" dirty="0">
                <a:solidFill>
                  <a:srgbClr val="336699"/>
                </a:solidFill>
                <a:latin typeface="黑体" panose="02010609060101010101" pitchFamily="49" charset="-122"/>
                <a:ea typeface="黑体" panose="02010609060101010101" pitchFamily="49" charset="-122"/>
              </a:rPr>
              <a:t>二进制与十六进制的相互转换，按照每</a:t>
            </a:r>
            <a:r>
              <a:rPr lang="en-US" altLang="zh-CN" sz="1600" dirty="0">
                <a:solidFill>
                  <a:srgbClr val="336699"/>
                </a:solidFill>
                <a:latin typeface="黑体" panose="02010609060101010101" pitchFamily="49" charset="-122"/>
                <a:ea typeface="黑体" panose="02010609060101010101" pitchFamily="49" charset="-122"/>
              </a:rPr>
              <a:t>4</a:t>
            </a:r>
            <a:r>
              <a:rPr lang="zh-CN" altLang="en-US" sz="1600" dirty="0">
                <a:solidFill>
                  <a:srgbClr val="336699"/>
                </a:solidFill>
                <a:latin typeface="黑体" panose="02010609060101010101" pitchFamily="49" charset="-122"/>
                <a:ea typeface="黑体" panose="02010609060101010101" pitchFamily="49" charset="-122"/>
              </a:rPr>
              <a:t>位二进制数对应于一位十六进制数进行转换。</a:t>
            </a:r>
          </a:p>
        </p:txBody>
      </p:sp>
      <p:sp>
        <p:nvSpPr>
          <p:cNvPr id="52" name="Rectangle 16"/>
          <p:cNvSpPr>
            <a:spLocks noChangeArrowheads="1"/>
          </p:cNvSpPr>
          <p:nvPr/>
        </p:nvSpPr>
        <p:spPr bwMode="auto">
          <a:xfrm>
            <a:off x="1268776" y="4072990"/>
            <a:ext cx="6699495" cy="338554"/>
          </a:xfrm>
          <a:prstGeom prst="rect">
            <a:avLst/>
          </a:prstGeom>
          <a:noFill/>
          <a:ln w="9525" algn="ctr">
            <a:noFill/>
            <a:miter lim="800000"/>
            <a:headEnd/>
            <a:tailEnd/>
          </a:ln>
        </p:spPr>
        <p:txBody>
          <a:bodyPr wrap="square" lIns="0" rIns="0">
            <a:spAutoFit/>
          </a:bodyPr>
          <a:lstStyle/>
          <a:p>
            <a:pPr algn="l"/>
            <a:r>
              <a:rPr lang="en-US" altLang="zh-CN" sz="1600" dirty="0">
                <a:solidFill>
                  <a:srgbClr val="000000"/>
                </a:solidFill>
                <a:latin typeface="方正粗黑宋简体" pitchFamily="2" charset="-122"/>
                <a:ea typeface="方正粗黑宋简体" pitchFamily="2" charset="-122"/>
              </a:rPr>
              <a:t>(1001101.100111)</a:t>
            </a:r>
            <a:r>
              <a:rPr lang="en-US" altLang="zh-CN" sz="1600" baseline="-25000" dirty="0">
                <a:solidFill>
                  <a:srgbClr val="000000"/>
                </a:solidFill>
                <a:latin typeface="方正粗黑宋简体" pitchFamily="2" charset="-122"/>
                <a:ea typeface="方正粗黑宋简体" pitchFamily="2" charset="-122"/>
              </a:rPr>
              <a:t>B</a:t>
            </a:r>
            <a:r>
              <a:rPr lang="zh-CN" altLang="en-US" sz="1600" dirty="0">
                <a:solidFill>
                  <a:srgbClr val="000000"/>
                </a:solidFill>
                <a:latin typeface="方正粗黑宋简体" pitchFamily="2" charset="-122"/>
                <a:ea typeface="方正粗黑宋简体" pitchFamily="2" charset="-122"/>
              </a:rPr>
              <a:t>＝（</a:t>
            </a:r>
            <a:r>
              <a:rPr lang="en-US" altLang="zh-CN" sz="1600" u="sng" dirty="0">
                <a:solidFill>
                  <a:srgbClr val="000000"/>
                </a:solidFill>
                <a:latin typeface="方正粗黑宋简体" pitchFamily="2" charset="-122"/>
                <a:ea typeface="方正粗黑宋简体" pitchFamily="2" charset="-122"/>
              </a:rPr>
              <a:t>0100</a:t>
            </a:r>
            <a:r>
              <a:rPr lang="en-US" altLang="zh-CN" sz="1600" dirty="0">
                <a:solidFill>
                  <a:srgbClr val="000000"/>
                </a:solidFill>
                <a:latin typeface="方正粗黑宋简体" pitchFamily="2" charset="-122"/>
                <a:ea typeface="方正粗黑宋简体" pitchFamily="2" charset="-122"/>
              </a:rPr>
              <a:t> </a:t>
            </a:r>
            <a:r>
              <a:rPr lang="en-US" altLang="zh-CN" sz="1600" u="sng" dirty="0">
                <a:solidFill>
                  <a:srgbClr val="000000"/>
                </a:solidFill>
                <a:latin typeface="方正粗黑宋简体" pitchFamily="2" charset="-122"/>
                <a:ea typeface="方正粗黑宋简体" pitchFamily="2" charset="-122"/>
              </a:rPr>
              <a:t>1101</a:t>
            </a:r>
            <a:r>
              <a:rPr lang="en-US" altLang="zh-CN" sz="1600" dirty="0">
                <a:solidFill>
                  <a:srgbClr val="000000"/>
                </a:solidFill>
                <a:latin typeface="方正粗黑宋简体" pitchFamily="2" charset="-122"/>
                <a:ea typeface="方正粗黑宋简体" pitchFamily="2" charset="-122"/>
              </a:rPr>
              <a:t>.</a:t>
            </a:r>
            <a:r>
              <a:rPr lang="en-US" altLang="zh-CN" sz="1600" u="sng" dirty="0">
                <a:solidFill>
                  <a:srgbClr val="000000"/>
                </a:solidFill>
                <a:latin typeface="方正粗黑宋简体" pitchFamily="2" charset="-122"/>
                <a:ea typeface="方正粗黑宋简体" pitchFamily="2" charset="-122"/>
              </a:rPr>
              <a:t>1001</a:t>
            </a:r>
            <a:r>
              <a:rPr lang="en-US" altLang="zh-CN" sz="1600" dirty="0">
                <a:solidFill>
                  <a:srgbClr val="000000"/>
                </a:solidFill>
                <a:latin typeface="方正粗黑宋简体" pitchFamily="2" charset="-122"/>
                <a:ea typeface="方正粗黑宋简体" pitchFamily="2" charset="-122"/>
              </a:rPr>
              <a:t> </a:t>
            </a:r>
            <a:r>
              <a:rPr lang="en-US" altLang="zh-CN" sz="1600" u="sng" dirty="0">
                <a:solidFill>
                  <a:srgbClr val="000000"/>
                </a:solidFill>
                <a:latin typeface="方正粗黑宋简体" pitchFamily="2" charset="-122"/>
                <a:ea typeface="方正粗黑宋简体" pitchFamily="2" charset="-122"/>
              </a:rPr>
              <a:t>1100</a:t>
            </a:r>
            <a:r>
              <a:rPr lang="en-US" altLang="zh-CN" sz="1600" dirty="0">
                <a:solidFill>
                  <a:srgbClr val="000000"/>
                </a:solidFill>
                <a:latin typeface="方正粗黑宋简体" pitchFamily="2" charset="-122"/>
                <a:ea typeface="方正粗黑宋简体" pitchFamily="2" charset="-122"/>
              </a:rPr>
              <a:t>)</a:t>
            </a:r>
            <a:r>
              <a:rPr lang="en-US" altLang="zh-CN" sz="1600" baseline="-25000" dirty="0">
                <a:solidFill>
                  <a:srgbClr val="000000"/>
                </a:solidFill>
                <a:latin typeface="方正粗黑宋简体" pitchFamily="2" charset="-122"/>
                <a:ea typeface="方正粗黑宋简体" pitchFamily="2" charset="-122"/>
              </a:rPr>
              <a:t>B</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(4D.9C)</a:t>
            </a:r>
            <a:r>
              <a:rPr lang="en-US" altLang="zh-CN" sz="1600" baseline="-25000" dirty="0">
                <a:solidFill>
                  <a:srgbClr val="000000"/>
                </a:solidFill>
                <a:latin typeface="方正粗黑宋简体" pitchFamily="2" charset="-122"/>
                <a:ea typeface="方正粗黑宋简体" pitchFamily="2" charset="-122"/>
              </a:rPr>
              <a:t>H</a:t>
            </a:r>
            <a:endParaRPr lang="zh-CN" altLang="en-US" sz="1600" baseline="-25000" dirty="0">
              <a:solidFill>
                <a:srgbClr val="000000"/>
              </a:solidFill>
              <a:latin typeface="方正粗黑宋简体" pitchFamily="2" charset="-122"/>
              <a:ea typeface="方正粗黑宋简体" pitchFamily="2" charset="-122"/>
            </a:endParaRPr>
          </a:p>
        </p:txBody>
      </p:sp>
      <p:sp>
        <p:nvSpPr>
          <p:cNvPr id="53" name="Rectangle 18"/>
          <p:cNvSpPr>
            <a:spLocks noChangeArrowheads="1"/>
          </p:cNvSpPr>
          <p:nvPr/>
        </p:nvSpPr>
        <p:spPr bwMode="auto">
          <a:xfrm>
            <a:off x="1268776" y="4429411"/>
            <a:ext cx="5894509" cy="338554"/>
          </a:xfrm>
          <a:prstGeom prst="rect">
            <a:avLst/>
          </a:prstGeom>
          <a:noFill/>
          <a:ln w="9525" algn="ctr">
            <a:noFill/>
            <a:miter lim="800000"/>
            <a:headEnd/>
            <a:tailEnd/>
          </a:ln>
        </p:spPr>
        <p:txBody>
          <a:bodyPr wrap="square" lIns="0" rIns="0">
            <a:spAutoFit/>
          </a:bodyPr>
          <a:lstStyle/>
          <a:p>
            <a:pPr algn="l"/>
            <a:r>
              <a:rPr lang="en-US" altLang="zh-CN" sz="1600" dirty="0">
                <a:solidFill>
                  <a:srgbClr val="000000"/>
                </a:solidFill>
                <a:latin typeface="方正粗黑宋简体" pitchFamily="2" charset="-122"/>
                <a:ea typeface="方正粗黑宋简体" pitchFamily="2" charset="-122"/>
              </a:rPr>
              <a:t>(6E.3A5)</a:t>
            </a:r>
            <a:r>
              <a:rPr lang="en-US" altLang="zh-CN" sz="1600" baseline="-25000" dirty="0">
                <a:solidFill>
                  <a:srgbClr val="000000"/>
                </a:solidFill>
                <a:latin typeface="方正粗黑宋简体" pitchFamily="2" charset="-122"/>
                <a:ea typeface="方正粗黑宋简体" pitchFamily="2" charset="-122"/>
              </a:rPr>
              <a:t>H</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a:t>
            </a:r>
            <a:r>
              <a:rPr lang="en-US" altLang="zh-CN" sz="1600" dirty="0">
                <a:latin typeface="方正粗黑宋简体" pitchFamily="2" charset="-122"/>
                <a:ea typeface="方正粗黑宋简体" pitchFamily="2" charset="-122"/>
              </a:rPr>
              <a:t>0</a:t>
            </a:r>
            <a:r>
              <a:rPr lang="en-US" altLang="zh-CN" sz="1600" dirty="0">
                <a:solidFill>
                  <a:srgbClr val="000000"/>
                </a:solidFill>
                <a:latin typeface="方正粗黑宋简体" pitchFamily="2" charset="-122"/>
                <a:ea typeface="方正粗黑宋简体" pitchFamily="2" charset="-122"/>
              </a:rPr>
              <a:t>110  1110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0011  1010  0101)</a:t>
            </a:r>
            <a:r>
              <a:rPr lang="en-US" altLang="zh-CN" sz="1600" baseline="-25000" dirty="0">
                <a:solidFill>
                  <a:srgbClr val="000000"/>
                </a:solidFill>
                <a:latin typeface="方正粗黑宋简体" pitchFamily="2" charset="-122"/>
                <a:ea typeface="方正粗黑宋简体" pitchFamily="2" charset="-122"/>
              </a:rPr>
              <a:t>B</a:t>
            </a:r>
            <a:endParaRPr lang="zh-CN" altLang="en-US" sz="1600" baseline="-25000" dirty="0">
              <a:solidFill>
                <a:srgbClr val="000000"/>
              </a:solidFill>
              <a:latin typeface="方正粗黑宋简体" pitchFamily="2" charset="-122"/>
              <a:ea typeface="方正粗黑宋简体" pitchFamily="2" charset="-122"/>
            </a:endParaRPr>
          </a:p>
        </p:txBody>
      </p:sp>
      <p:grpSp>
        <p:nvGrpSpPr>
          <p:cNvPr id="5" name="组合 25"/>
          <p:cNvGrpSpPr/>
          <p:nvPr/>
        </p:nvGrpSpPr>
        <p:grpSpPr>
          <a:xfrm>
            <a:off x="762546" y="1508107"/>
            <a:ext cx="3929264" cy="461665"/>
            <a:chOff x="762546" y="3451076"/>
            <a:chExt cx="3929264" cy="512960"/>
          </a:xfrm>
        </p:grpSpPr>
        <p:grpSp>
          <p:nvGrpSpPr>
            <p:cNvPr id="6" name="组合 53">
              <a:extLst>
                <a:ext uri="{FF2B5EF4-FFF2-40B4-BE49-F238E27FC236}">
                  <a16:creationId xmlns:a16="http://schemas.microsoft.com/office/drawing/2014/main" xmlns="" id="{E010191F-7F37-4AFE-B961-7090CF5FA91D}"/>
                </a:ext>
              </a:extLst>
            </p:cNvPr>
            <p:cNvGrpSpPr/>
            <p:nvPr/>
          </p:nvGrpSpPr>
          <p:grpSpPr>
            <a:xfrm>
              <a:off x="762546" y="3500232"/>
              <a:ext cx="2541902" cy="401378"/>
              <a:chOff x="358461" y="2491451"/>
              <a:chExt cx="2541902" cy="401378"/>
            </a:xfrm>
          </p:grpSpPr>
          <p:sp>
            <p:nvSpPr>
              <p:cNvPr id="55" name="矩形 54">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299014"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r>
                  <a:rPr lang="zh-CN" altLang="en-US" dirty="0">
                    <a:solidFill>
                      <a:schemeClr val="bg1"/>
                    </a:solidFill>
                    <a:latin typeface="黑体" panose="02010609060101010101" pitchFamily="49" charset="-122"/>
                    <a:ea typeface="黑体" panose="02010609060101010101" pitchFamily="49" charset="-122"/>
                  </a:rPr>
                  <a:t>二进制转八进制</a:t>
                </a:r>
              </a:p>
            </p:txBody>
          </p:sp>
          <p:sp>
            <p:nvSpPr>
              <p:cNvPr id="56" name="矩形 55">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57"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sp>
          <p:nvSpPr>
            <p:cNvPr id="58" name="矩形 57"/>
            <p:cNvSpPr/>
            <p:nvPr/>
          </p:nvSpPr>
          <p:spPr>
            <a:xfrm>
              <a:off x="3276038" y="3451076"/>
              <a:ext cx="1415772" cy="512960"/>
            </a:xfrm>
            <a:prstGeom prst="rect">
              <a:avLst/>
            </a:prstGeom>
          </p:spPr>
          <p:txBody>
            <a:bodyPr wrap="none">
              <a:spAutoFit/>
            </a:bodyPr>
            <a:lstStyle/>
            <a:p>
              <a:pPr>
                <a:lnSpc>
                  <a:spcPct val="150000"/>
                </a:lnSpc>
              </a:pPr>
              <a:r>
                <a:rPr lang="en-US" altLang="zh-CN" sz="1600" dirty="0">
                  <a:solidFill>
                    <a:srgbClr val="6600FF"/>
                  </a:solidFill>
                  <a:latin typeface="方正粗黑宋简体" pitchFamily="2" charset="-122"/>
                  <a:ea typeface="方正粗黑宋简体" pitchFamily="2" charset="-122"/>
                </a:rPr>
                <a:t>(</a:t>
              </a:r>
              <a:r>
                <a:rPr lang="zh-CN" altLang="en-US" sz="1600" dirty="0">
                  <a:solidFill>
                    <a:srgbClr val="6600FF"/>
                  </a:solidFill>
                  <a:latin typeface="方正粗黑宋简体" pitchFamily="2" charset="-122"/>
                  <a:ea typeface="方正粗黑宋简体" pitchFamily="2" charset="-122"/>
                </a:rPr>
                <a:t>三位分组法</a:t>
              </a:r>
              <a:r>
                <a:rPr lang="en-US" altLang="zh-CN" sz="1600" dirty="0">
                  <a:solidFill>
                    <a:srgbClr val="6600FF"/>
                  </a:solidFill>
                  <a:latin typeface="方正粗黑宋简体" pitchFamily="2" charset="-122"/>
                  <a:ea typeface="方正粗黑宋简体" pitchFamily="2" charset="-122"/>
                </a:rPr>
                <a:t>)</a:t>
              </a:r>
              <a:endParaRPr lang="zh-CN" altLang="en-US" sz="1600" dirty="0">
                <a:solidFill>
                  <a:srgbClr val="6600FF"/>
                </a:solidFill>
                <a:latin typeface="方正粗黑宋简体" pitchFamily="2" charset="-122"/>
                <a:ea typeface="方正粗黑宋简体" pitchFamily="2" charset="-122"/>
              </a:endParaRPr>
            </a:p>
          </p:txBody>
        </p:sp>
      </p:grpSp>
      <p:sp>
        <p:nvSpPr>
          <p:cNvPr id="59" name="Rectangle 14"/>
          <p:cNvSpPr>
            <a:spLocks noChangeArrowheads="1"/>
          </p:cNvSpPr>
          <p:nvPr/>
        </p:nvSpPr>
        <p:spPr bwMode="auto">
          <a:xfrm>
            <a:off x="981197" y="2013695"/>
            <a:ext cx="7783756" cy="338554"/>
          </a:xfrm>
          <a:prstGeom prst="rect">
            <a:avLst/>
          </a:prstGeom>
          <a:noFill/>
          <a:ln w="9525" algn="ctr">
            <a:noFill/>
            <a:miter lim="800000"/>
            <a:headEnd/>
            <a:tailEnd/>
          </a:ln>
        </p:spPr>
        <p:txBody>
          <a:bodyPr wrap="square" lIns="0" rIns="0">
            <a:spAutoFit/>
          </a:bodyPr>
          <a:lstStyle/>
          <a:p>
            <a:pPr algn="l"/>
            <a:r>
              <a:rPr lang="zh-CN" altLang="en-US" sz="1600" dirty="0">
                <a:solidFill>
                  <a:srgbClr val="336699"/>
                </a:solidFill>
                <a:latin typeface="黑体" panose="02010609060101010101" pitchFamily="49" charset="-122"/>
                <a:ea typeface="黑体" panose="02010609060101010101" pitchFamily="49" charset="-122"/>
              </a:rPr>
              <a:t>二进制与八进制的相互转换，按照每</a:t>
            </a:r>
            <a:r>
              <a:rPr lang="en-US" altLang="zh-CN" sz="1600" dirty="0">
                <a:solidFill>
                  <a:srgbClr val="336699"/>
                </a:solidFill>
                <a:latin typeface="黑体" panose="02010609060101010101" pitchFamily="49" charset="-122"/>
                <a:ea typeface="黑体" panose="02010609060101010101" pitchFamily="49" charset="-122"/>
              </a:rPr>
              <a:t>3</a:t>
            </a:r>
            <a:r>
              <a:rPr lang="zh-CN" altLang="en-US" sz="1600" dirty="0">
                <a:solidFill>
                  <a:srgbClr val="336699"/>
                </a:solidFill>
                <a:latin typeface="黑体" panose="02010609060101010101" pitchFamily="49" charset="-122"/>
                <a:ea typeface="黑体" panose="02010609060101010101" pitchFamily="49" charset="-122"/>
              </a:rPr>
              <a:t>位二进制数对应于一位八进制数进行转换。</a:t>
            </a:r>
          </a:p>
        </p:txBody>
      </p:sp>
      <p:sp>
        <p:nvSpPr>
          <p:cNvPr id="60" name="Rectangle 15"/>
          <p:cNvSpPr>
            <a:spLocks noChangeArrowheads="1"/>
          </p:cNvSpPr>
          <p:nvPr/>
        </p:nvSpPr>
        <p:spPr bwMode="auto">
          <a:xfrm>
            <a:off x="1248751" y="2393404"/>
            <a:ext cx="4546116" cy="338554"/>
          </a:xfrm>
          <a:prstGeom prst="rect">
            <a:avLst/>
          </a:prstGeom>
          <a:noFill/>
          <a:ln w="9525" algn="ctr">
            <a:noFill/>
            <a:miter lim="800000"/>
            <a:headEnd/>
            <a:tailEnd/>
          </a:ln>
        </p:spPr>
        <p:txBody>
          <a:bodyPr wrap="none" lIns="0" rIns="0">
            <a:spAutoFit/>
          </a:bodyPr>
          <a:lstStyle/>
          <a:p>
            <a:pPr algn="l"/>
            <a:r>
              <a:rPr lang="en-US" altLang="zh-CN" sz="1600" dirty="0">
                <a:solidFill>
                  <a:srgbClr val="000000"/>
                </a:solidFill>
                <a:latin typeface="方正粗黑宋简体" pitchFamily="2" charset="-122"/>
                <a:ea typeface="方正粗黑宋简体" pitchFamily="2" charset="-122"/>
              </a:rPr>
              <a:t>(10101.1001)</a:t>
            </a:r>
            <a:r>
              <a:rPr lang="en-US" altLang="zh-CN" sz="1600" baseline="-25000" dirty="0">
                <a:solidFill>
                  <a:srgbClr val="000000"/>
                </a:solidFill>
                <a:latin typeface="方正粗黑宋简体" pitchFamily="2" charset="-122"/>
                <a:ea typeface="方正粗黑宋简体" pitchFamily="2" charset="-122"/>
              </a:rPr>
              <a:t>B</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a:t>
            </a:r>
            <a:r>
              <a:rPr lang="en-US" altLang="zh-CN" sz="1600" u="sng" dirty="0">
                <a:solidFill>
                  <a:srgbClr val="000000"/>
                </a:solidFill>
                <a:latin typeface="方正粗黑宋简体" pitchFamily="2" charset="-122"/>
                <a:ea typeface="方正粗黑宋简体" pitchFamily="2" charset="-122"/>
              </a:rPr>
              <a:t>010</a:t>
            </a:r>
            <a:r>
              <a:rPr lang="en-US" altLang="zh-CN" sz="1600" dirty="0">
                <a:solidFill>
                  <a:srgbClr val="000000"/>
                </a:solidFill>
                <a:latin typeface="方正粗黑宋简体" pitchFamily="2" charset="-122"/>
                <a:ea typeface="方正粗黑宋简体" pitchFamily="2" charset="-122"/>
              </a:rPr>
              <a:t> </a:t>
            </a:r>
            <a:r>
              <a:rPr lang="en-US" altLang="zh-CN" sz="1600" u="sng" dirty="0">
                <a:solidFill>
                  <a:srgbClr val="000000"/>
                </a:solidFill>
                <a:latin typeface="方正粗黑宋简体" pitchFamily="2" charset="-122"/>
                <a:ea typeface="方正粗黑宋简体" pitchFamily="2" charset="-122"/>
              </a:rPr>
              <a:t>101</a:t>
            </a:r>
            <a:r>
              <a:rPr lang="en-US" altLang="zh-CN" sz="1600" dirty="0">
                <a:solidFill>
                  <a:srgbClr val="000000"/>
                </a:solidFill>
                <a:latin typeface="方正粗黑宋简体" pitchFamily="2" charset="-122"/>
                <a:ea typeface="方正粗黑宋简体" pitchFamily="2" charset="-122"/>
              </a:rPr>
              <a:t>.</a:t>
            </a:r>
            <a:r>
              <a:rPr lang="en-US" altLang="zh-CN" sz="1600" u="sng" dirty="0">
                <a:solidFill>
                  <a:srgbClr val="000000"/>
                </a:solidFill>
                <a:latin typeface="方正粗黑宋简体" pitchFamily="2" charset="-122"/>
                <a:ea typeface="方正粗黑宋简体" pitchFamily="2" charset="-122"/>
              </a:rPr>
              <a:t>100</a:t>
            </a:r>
            <a:r>
              <a:rPr lang="en-US" altLang="zh-CN" sz="1600" dirty="0">
                <a:solidFill>
                  <a:srgbClr val="000000"/>
                </a:solidFill>
                <a:latin typeface="方正粗黑宋简体" pitchFamily="2" charset="-122"/>
                <a:ea typeface="方正粗黑宋简体" pitchFamily="2" charset="-122"/>
              </a:rPr>
              <a:t> </a:t>
            </a:r>
            <a:r>
              <a:rPr lang="en-US" altLang="zh-CN" sz="1600" u="sng" dirty="0">
                <a:solidFill>
                  <a:srgbClr val="000000"/>
                </a:solidFill>
                <a:latin typeface="方正粗黑宋简体" pitchFamily="2" charset="-122"/>
                <a:ea typeface="方正粗黑宋简体" pitchFamily="2" charset="-122"/>
              </a:rPr>
              <a:t>100)</a:t>
            </a:r>
            <a:r>
              <a:rPr lang="en-US" altLang="zh-CN" sz="1600" baseline="-25000" dirty="0">
                <a:solidFill>
                  <a:srgbClr val="000000"/>
                </a:solidFill>
                <a:latin typeface="方正粗黑宋简体" pitchFamily="2" charset="-122"/>
                <a:ea typeface="方正粗黑宋简体" pitchFamily="2" charset="-122"/>
              </a:rPr>
              <a:t>B</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(25.44)</a:t>
            </a:r>
            <a:r>
              <a:rPr lang="en-US" altLang="zh-CN" sz="1600" baseline="-25000" dirty="0">
                <a:solidFill>
                  <a:srgbClr val="000000"/>
                </a:solidFill>
                <a:latin typeface="方正粗黑宋简体" pitchFamily="2" charset="-122"/>
                <a:ea typeface="方正粗黑宋简体" pitchFamily="2" charset="-122"/>
              </a:rPr>
              <a:t>O</a:t>
            </a:r>
            <a:endParaRPr lang="zh-CN" altLang="en-US" sz="1600" baseline="-25000" dirty="0">
              <a:solidFill>
                <a:srgbClr val="000000"/>
              </a:solidFill>
              <a:latin typeface="方正粗黑宋简体" pitchFamily="2" charset="-122"/>
              <a:ea typeface="方正粗黑宋简体" pitchFamily="2" charset="-122"/>
            </a:endParaRPr>
          </a:p>
        </p:txBody>
      </p:sp>
      <p:sp>
        <p:nvSpPr>
          <p:cNvPr id="61" name="Rectangle 17"/>
          <p:cNvSpPr>
            <a:spLocks noChangeArrowheads="1"/>
          </p:cNvSpPr>
          <p:nvPr/>
        </p:nvSpPr>
        <p:spPr bwMode="auto">
          <a:xfrm>
            <a:off x="1248752" y="2719822"/>
            <a:ext cx="6283771" cy="338554"/>
          </a:xfrm>
          <a:prstGeom prst="rect">
            <a:avLst/>
          </a:prstGeom>
          <a:noFill/>
          <a:ln w="9525" algn="ctr">
            <a:noFill/>
            <a:miter lim="800000"/>
            <a:headEnd/>
            <a:tailEnd/>
          </a:ln>
        </p:spPr>
        <p:txBody>
          <a:bodyPr wrap="none" lIns="0" rIns="0">
            <a:spAutoFit/>
          </a:bodyPr>
          <a:lstStyle/>
          <a:p>
            <a:r>
              <a:rPr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000000"/>
                </a:solidFill>
                <a:latin typeface="方正粗黑宋简体" pitchFamily="2" charset="-122"/>
                <a:ea typeface="方正粗黑宋简体" pitchFamily="2" charset="-122"/>
              </a:rPr>
              <a:t>374.26)</a:t>
            </a:r>
            <a:r>
              <a:rPr lang="en-US" altLang="zh-CN" sz="1600" baseline="-25000" dirty="0">
                <a:solidFill>
                  <a:srgbClr val="000000"/>
                </a:solidFill>
                <a:latin typeface="方正粗黑宋简体" pitchFamily="2" charset="-122"/>
                <a:ea typeface="方正粗黑宋简体" pitchFamily="2" charset="-122"/>
              </a:rPr>
              <a:t>O</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(011  111 100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010  110)</a:t>
            </a:r>
            <a:r>
              <a:rPr lang="en-US" altLang="zh-CN" sz="1600" baseline="-25000" dirty="0">
                <a:solidFill>
                  <a:srgbClr val="000000"/>
                </a:solidFill>
                <a:latin typeface="方正粗黑宋简体" pitchFamily="2" charset="-122"/>
                <a:ea typeface="方正粗黑宋简体" pitchFamily="2" charset="-122"/>
              </a:rPr>
              <a:t>B</a:t>
            </a:r>
            <a:r>
              <a:rPr lang="en-US" altLang="zh-CN" sz="1600" dirty="0">
                <a:solidFill>
                  <a:srgbClr val="000000"/>
                </a:solidFill>
                <a:latin typeface="方正粗黑宋简体" pitchFamily="2" charset="-122"/>
                <a:ea typeface="方正粗黑宋简体" pitchFamily="2" charset="-122"/>
              </a:rPr>
              <a:t>= (11 111 100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010 11)</a:t>
            </a:r>
            <a:r>
              <a:rPr lang="en-US" altLang="zh-CN" sz="1600" baseline="-25000" dirty="0">
                <a:solidFill>
                  <a:srgbClr val="000000"/>
                </a:solidFill>
                <a:latin typeface="方正粗黑宋简体" pitchFamily="2" charset="-122"/>
                <a:ea typeface="方正粗黑宋简体" pitchFamily="2" charset="-122"/>
              </a:rPr>
              <a:t>B</a:t>
            </a:r>
            <a:endParaRPr lang="zh-CN" altLang="en-US" sz="1600" baseline="-25000" dirty="0">
              <a:solidFill>
                <a:srgbClr val="000000"/>
              </a:solidFill>
              <a:latin typeface="方正粗黑宋简体" pitchFamily="2" charset="-122"/>
              <a:ea typeface="方正粗黑宋简体" pitchFamily="2" charset="-122"/>
            </a:endParaRPr>
          </a:p>
        </p:txBody>
      </p:sp>
      <p:sp>
        <p:nvSpPr>
          <p:cNvPr id="7" name="椭圆 6">
            <a:extLst>
              <a:ext uri="{FF2B5EF4-FFF2-40B4-BE49-F238E27FC236}">
                <a16:creationId xmlns:a16="http://schemas.microsoft.com/office/drawing/2014/main" xmlns="" id="{1A31B332-2D6E-44A7-AF65-6C1A88A4B2E0}"/>
              </a:ext>
            </a:extLst>
          </p:cNvPr>
          <p:cNvSpPr/>
          <p:nvPr/>
        </p:nvSpPr>
        <p:spPr>
          <a:xfrm>
            <a:off x="2929393" y="2414803"/>
            <a:ext cx="158853" cy="263864"/>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xmlns="" id="{56EFFF02-152F-42C9-A571-1A2513A260C1}"/>
              </a:ext>
            </a:extLst>
          </p:cNvPr>
          <p:cNvSpPr/>
          <p:nvPr/>
        </p:nvSpPr>
        <p:spPr>
          <a:xfrm>
            <a:off x="4264597" y="2404590"/>
            <a:ext cx="280244" cy="263864"/>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xmlns="" id="{56745D56-8592-4F2A-9F88-03648D3D0703}"/>
              </a:ext>
            </a:extLst>
          </p:cNvPr>
          <p:cNvSpPr/>
          <p:nvPr/>
        </p:nvSpPr>
        <p:spPr>
          <a:xfrm>
            <a:off x="2475210" y="2745767"/>
            <a:ext cx="158853" cy="263864"/>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xmlns="" id="{B95083E7-EF29-4F63-B06B-B31C5B8D1750}"/>
              </a:ext>
            </a:extLst>
          </p:cNvPr>
          <p:cNvSpPr/>
          <p:nvPr/>
        </p:nvSpPr>
        <p:spPr>
          <a:xfrm>
            <a:off x="4612383" y="2744073"/>
            <a:ext cx="158853" cy="263864"/>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slide(fromBottom)">
                                      <p:cBhvr>
                                        <p:cTn id="11" dur="1000"/>
                                        <p:tgtEl>
                                          <p:spTgt spid="59"/>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slide(fromBottom)">
                                      <p:cBhvr>
                                        <p:cTn id="16" dur="1000"/>
                                        <p:tgtEl>
                                          <p:spTgt spid="6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fltVal val="0"/>
                                          </p:val>
                                        </p:tav>
                                        <p:tav tm="100000">
                                          <p:val>
                                            <p:strVal val="#ppt_w"/>
                                          </p:val>
                                        </p:tav>
                                      </p:tavLst>
                                    </p:anim>
                                    <p:anim calcmode="lin" valueType="num">
                                      <p:cBhvr>
                                        <p:cTn id="22" dur="1000" fill="hold"/>
                                        <p:tgtEl>
                                          <p:spTgt spid="7"/>
                                        </p:tgtEl>
                                        <p:attrNameLst>
                                          <p:attrName>ppt_h</p:attrName>
                                        </p:attrNameLst>
                                      </p:cBhvr>
                                      <p:tavLst>
                                        <p:tav tm="0">
                                          <p:val>
                                            <p:fltVal val="0"/>
                                          </p:val>
                                        </p:tav>
                                        <p:tav tm="100000">
                                          <p:val>
                                            <p:strVal val="#ppt_h"/>
                                          </p:val>
                                        </p:tav>
                                      </p:tavLst>
                                    </p:anim>
                                    <p:animEffect transition="in" filter="fade">
                                      <p:cBhvr>
                                        <p:cTn id="23" dur="10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1000" fill="hold"/>
                                        <p:tgtEl>
                                          <p:spTgt spid="25"/>
                                        </p:tgtEl>
                                        <p:attrNameLst>
                                          <p:attrName>ppt_w</p:attrName>
                                        </p:attrNameLst>
                                      </p:cBhvr>
                                      <p:tavLst>
                                        <p:tav tm="0">
                                          <p:val>
                                            <p:fltVal val="0"/>
                                          </p:val>
                                        </p:tav>
                                        <p:tav tm="100000">
                                          <p:val>
                                            <p:strVal val="#ppt_w"/>
                                          </p:val>
                                        </p:tav>
                                      </p:tavLst>
                                    </p:anim>
                                    <p:anim calcmode="lin" valueType="num">
                                      <p:cBhvr>
                                        <p:cTn id="27" dur="1000" fill="hold"/>
                                        <p:tgtEl>
                                          <p:spTgt spid="25"/>
                                        </p:tgtEl>
                                        <p:attrNameLst>
                                          <p:attrName>ppt_h</p:attrName>
                                        </p:attrNameLst>
                                      </p:cBhvr>
                                      <p:tavLst>
                                        <p:tav tm="0">
                                          <p:val>
                                            <p:fltVal val="0"/>
                                          </p:val>
                                        </p:tav>
                                        <p:tav tm="100000">
                                          <p:val>
                                            <p:strVal val="#ppt_h"/>
                                          </p:val>
                                        </p:tav>
                                      </p:tavLst>
                                    </p:anim>
                                    <p:animEffect transition="in" filter="fade">
                                      <p:cBhvr>
                                        <p:cTn id="28" dur="10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1000"/>
                                        <p:tgtEl>
                                          <p:spTgt spid="7"/>
                                        </p:tgtEl>
                                      </p:cBhvr>
                                    </p:animEffect>
                                    <p:set>
                                      <p:cBhvr>
                                        <p:cTn id="33" dur="1" fill="hold">
                                          <p:stCondLst>
                                            <p:cond delay="999"/>
                                          </p:stCondLst>
                                        </p:cTn>
                                        <p:tgtEl>
                                          <p:spTgt spid="7"/>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1000"/>
                                        <p:tgtEl>
                                          <p:spTgt spid="25"/>
                                        </p:tgtEl>
                                      </p:cBhvr>
                                    </p:animEffect>
                                    <p:set>
                                      <p:cBhvr>
                                        <p:cTn id="36" dur="1" fill="hold">
                                          <p:stCondLst>
                                            <p:cond delay="999"/>
                                          </p:stCondLst>
                                        </p:cTn>
                                        <p:tgtEl>
                                          <p:spTgt spid="25"/>
                                        </p:tgtEl>
                                        <p:attrNameLst>
                                          <p:attrName>style.visibility</p:attrName>
                                        </p:attrNameLst>
                                      </p:cBhvr>
                                      <p:to>
                                        <p:strVal val="hidden"/>
                                      </p:to>
                                    </p:set>
                                  </p:childTnLst>
                                </p:cTn>
                              </p:par>
                              <p:par>
                                <p:cTn id="37" presetID="22" presetClass="entr" presetSubtype="8"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1000"/>
                                        <p:tgtEl>
                                          <p:spTgt spid="12"/>
                                        </p:tgtEl>
                                      </p:cBhvr>
                                    </p:animEffect>
                                    <p:set>
                                      <p:cBhvr>
                                        <p:cTn id="44" dur="1" fill="hold">
                                          <p:stCondLst>
                                            <p:cond delay="999"/>
                                          </p:stCondLst>
                                        </p:cTn>
                                        <p:tgtEl>
                                          <p:spTgt spid="12"/>
                                        </p:tgtEl>
                                        <p:attrNameLst>
                                          <p:attrName>style.visibility</p:attrName>
                                        </p:attrNameLst>
                                      </p:cBhvr>
                                      <p:to>
                                        <p:strVal val="hidden"/>
                                      </p:to>
                                    </p:set>
                                  </p:childTnLst>
                                </p:cTn>
                              </p:par>
                              <p:par>
                                <p:cTn id="45" presetID="12" presetClass="entr" presetSubtype="4"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slide(fromBottom)">
                                      <p:cBhvr>
                                        <p:cTn id="47" dur="1000"/>
                                        <p:tgtEl>
                                          <p:spTgt spid="61"/>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1000" fill="hold"/>
                                        <p:tgtEl>
                                          <p:spTgt spid="26"/>
                                        </p:tgtEl>
                                        <p:attrNameLst>
                                          <p:attrName>ppt_w</p:attrName>
                                        </p:attrNameLst>
                                      </p:cBhvr>
                                      <p:tavLst>
                                        <p:tav tm="0">
                                          <p:val>
                                            <p:fltVal val="0"/>
                                          </p:val>
                                        </p:tav>
                                        <p:tav tm="100000">
                                          <p:val>
                                            <p:strVal val="#ppt_w"/>
                                          </p:val>
                                        </p:tav>
                                      </p:tavLst>
                                    </p:anim>
                                    <p:anim calcmode="lin" valueType="num">
                                      <p:cBhvr>
                                        <p:cTn id="53" dur="1000" fill="hold"/>
                                        <p:tgtEl>
                                          <p:spTgt spid="26"/>
                                        </p:tgtEl>
                                        <p:attrNameLst>
                                          <p:attrName>ppt_h</p:attrName>
                                        </p:attrNameLst>
                                      </p:cBhvr>
                                      <p:tavLst>
                                        <p:tav tm="0">
                                          <p:val>
                                            <p:fltVal val="0"/>
                                          </p:val>
                                        </p:tav>
                                        <p:tav tm="100000">
                                          <p:val>
                                            <p:strVal val="#ppt_h"/>
                                          </p:val>
                                        </p:tav>
                                      </p:tavLst>
                                    </p:anim>
                                    <p:animEffect transition="in" filter="fade">
                                      <p:cBhvr>
                                        <p:cTn id="54" dur="1000"/>
                                        <p:tgtEl>
                                          <p:spTgt spid="2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p:cTn id="57" dur="1000" fill="hold"/>
                                        <p:tgtEl>
                                          <p:spTgt spid="27"/>
                                        </p:tgtEl>
                                        <p:attrNameLst>
                                          <p:attrName>ppt_w</p:attrName>
                                        </p:attrNameLst>
                                      </p:cBhvr>
                                      <p:tavLst>
                                        <p:tav tm="0">
                                          <p:val>
                                            <p:fltVal val="0"/>
                                          </p:val>
                                        </p:tav>
                                        <p:tav tm="100000">
                                          <p:val>
                                            <p:strVal val="#ppt_w"/>
                                          </p:val>
                                        </p:tav>
                                      </p:tavLst>
                                    </p:anim>
                                    <p:anim calcmode="lin" valueType="num">
                                      <p:cBhvr>
                                        <p:cTn id="58" dur="1000" fill="hold"/>
                                        <p:tgtEl>
                                          <p:spTgt spid="27"/>
                                        </p:tgtEl>
                                        <p:attrNameLst>
                                          <p:attrName>ppt_h</p:attrName>
                                        </p:attrNameLst>
                                      </p:cBhvr>
                                      <p:tavLst>
                                        <p:tav tm="0">
                                          <p:val>
                                            <p:fltVal val="0"/>
                                          </p:val>
                                        </p:tav>
                                        <p:tav tm="100000">
                                          <p:val>
                                            <p:strVal val="#ppt_h"/>
                                          </p:val>
                                        </p:tav>
                                      </p:tavLst>
                                    </p:anim>
                                    <p:animEffect transition="in" filter="fade">
                                      <p:cBhvr>
                                        <p:cTn id="59" dur="1000"/>
                                        <p:tgtEl>
                                          <p:spTgt spid="27"/>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4" fill="hold" nodeType="click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slide(fromBottom)">
                                      <p:cBhvr>
                                        <p:cTn id="64" dur="1000"/>
                                        <p:tgtEl>
                                          <p:spTgt spid="3"/>
                                        </p:tgtEl>
                                      </p:cBhvr>
                                    </p:animEffect>
                                  </p:childTnLst>
                                </p:cTn>
                              </p:par>
                            </p:childTnLst>
                          </p:cTn>
                        </p:par>
                        <p:par>
                          <p:cTn id="65" fill="hold">
                            <p:stCondLst>
                              <p:cond delay="1000"/>
                            </p:stCondLst>
                            <p:childTnLst>
                              <p:par>
                                <p:cTn id="66" presetID="12" presetClass="entr" presetSubtype="4" fill="hold" grpId="0" nodeType="after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slide(fromBottom)">
                                      <p:cBhvr>
                                        <p:cTn id="68" dur="1000"/>
                                        <p:tgtEl>
                                          <p:spTgt spid="51"/>
                                        </p:tgtEl>
                                      </p:cBhvr>
                                    </p:animEffect>
                                  </p:childTnLst>
                                </p:cTn>
                              </p:par>
                            </p:childTnLst>
                          </p:cTn>
                        </p:par>
                        <p:par>
                          <p:cTn id="69" fill="hold">
                            <p:stCondLst>
                              <p:cond delay="2000"/>
                            </p:stCondLst>
                            <p:childTnLst>
                              <p:par>
                                <p:cTn id="70" presetID="12" presetClass="entr" presetSubtype="4" fill="hold" grpId="0" nodeType="after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slide(fromBottom)">
                                      <p:cBhvr>
                                        <p:cTn id="72" dur="1000"/>
                                        <p:tgtEl>
                                          <p:spTgt spid="52"/>
                                        </p:tgtEl>
                                      </p:cBhvr>
                                    </p:animEffect>
                                  </p:childTnLst>
                                </p:cTn>
                              </p:par>
                            </p:childTnLst>
                          </p:cTn>
                        </p:par>
                        <p:par>
                          <p:cTn id="73" fill="hold">
                            <p:stCondLst>
                              <p:cond delay="3000"/>
                            </p:stCondLst>
                            <p:childTnLst>
                              <p:par>
                                <p:cTn id="74" presetID="12" presetClass="entr" presetSubtype="4" fill="hold" grpId="0" nodeType="after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slide(fromBottom)">
                                      <p:cBhvr>
                                        <p:cTn id="76"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9" grpId="0"/>
      <p:bldP spid="60" grpId="0"/>
      <p:bldP spid="61" grpId="0"/>
      <p:bldP spid="7" grpId="0" animBg="1"/>
      <p:bldP spid="7" grpId="1" animBg="1"/>
      <p:bldP spid="25" grpId="0" animBg="1"/>
      <p:bldP spid="25" grpId="1" animBg="1"/>
      <p:bldP spid="26" grpId="0" animBg="1"/>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37" name="矩形 36"/>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38"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9" name="矩形 38"/>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）无符号二进制数的算术运算</a:t>
            </a:r>
          </a:p>
        </p:txBody>
      </p:sp>
      <p:sp>
        <p:nvSpPr>
          <p:cNvPr id="28" name="矩形 27"/>
          <p:cNvSpPr/>
          <p:nvPr/>
        </p:nvSpPr>
        <p:spPr>
          <a:xfrm>
            <a:off x="660398" y="1533092"/>
            <a:ext cx="8225693" cy="830997"/>
          </a:xfrm>
          <a:prstGeom prst="rect">
            <a:avLst/>
          </a:prstGeom>
        </p:spPr>
        <p:txBody>
          <a:bodyPr wrap="square">
            <a:spAutoFit/>
          </a:bodyPr>
          <a:lstStyle/>
          <a:p>
            <a:pPr indent="457200">
              <a:lnSpc>
                <a:spcPct val="150000"/>
              </a:lnSpc>
            </a:pPr>
            <a:r>
              <a:rPr lang="zh-CN" altLang="en-US" sz="1600" dirty="0">
                <a:solidFill>
                  <a:srgbClr val="336699"/>
                </a:solidFill>
                <a:latin typeface="黑体" panose="02010609060101010101" pitchFamily="49" charset="-122"/>
                <a:ea typeface="黑体" panose="02010609060101010101" pitchFamily="49" charset="-122"/>
              </a:rPr>
              <a:t>当两个二进制数码表示数量大小时，可以进行数值运算。运算法则与十进制数的运算法则基本相同，但进位、借位规则不同</a:t>
            </a:r>
            <a:r>
              <a:rPr lang="en-US" altLang="zh-CN" sz="1600" dirty="0">
                <a:solidFill>
                  <a:srgbClr val="336699"/>
                </a:solidFill>
                <a:latin typeface="黑体" panose="02010609060101010101" pitchFamily="49" charset="-122"/>
                <a:ea typeface="黑体" panose="02010609060101010101" pitchFamily="49" charset="-122"/>
              </a:rPr>
              <a:t>,</a:t>
            </a:r>
            <a:r>
              <a:rPr lang="zh-CN" altLang="en-US" sz="1600" dirty="0">
                <a:solidFill>
                  <a:srgbClr val="336699"/>
                </a:solidFill>
                <a:latin typeface="黑体" panose="02010609060101010101" pitchFamily="49" charset="-122"/>
                <a:ea typeface="黑体" panose="02010609060101010101" pitchFamily="49" charset="-122"/>
              </a:rPr>
              <a:t>加法运算是“逢二进一”减法则是“借一当二”。</a:t>
            </a:r>
          </a:p>
        </p:txBody>
      </p:sp>
      <p:sp>
        <p:nvSpPr>
          <p:cNvPr id="30" name="Text Box 10"/>
          <p:cNvSpPr txBox="1">
            <a:spLocks noChangeArrowheads="1"/>
          </p:cNvSpPr>
          <p:nvPr/>
        </p:nvSpPr>
        <p:spPr bwMode="auto">
          <a:xfrm>
            <a:off x="1259691" y="2971290"/>
            <a:ext cx="4417279" cy="1569660"/>
          </a:xfrm>
          <a:prstGeom prst="rect">
            <a:avLst/>
          </a:prstGeom>
          <a:noFill/>
          <a:ln w="9525">
            <a:noFill/>
            <a:miter lim="800000"/>
            <a:headEnd/>
            <a:tailEnd/>
          </a:ln>
        </p:spPr>
        <p:txBody>
          <a:bodyPr wrap="square" lIns="0" rIns="0">
            <a:spAutoFit/>
          </a:bodyPr>
          <a:lstStyle/>
          <a:p>
            <a:pPr algn="l">
              <a:lnSpc>
                <a:spcPct val="150000"/>
              </a:lnSpc>
            </a:pPr>
            <a:r>
              <a:rPr lang="zh-CN" altLang="en-US" sz="1600" dirty="0">
                <a:solidFill>
                  <a:srgbClr val="000000"/>
                </a:solidFill>
                <a:latin typeface="方正粗黑宋简体" pitchFamily="2" charset="-122"/>
                <a:ea typeface="方正粗黑宋简体" pitchFamily="2" charset="-122"/>
              </a:rPr>
              <a:t>加法规则：</a:t>
            </a:r>
            <a:r>
              <a:rPr lang="en-US" altLang="zh-CN" sz="1600" dirty="0">
                <a:solidFill>
                  <a:srgbClr val="000000"/>
                </a:solidFill>
                <a:latin typeface="方正粗黑宋简体" pitchFamily="2" charset="-122"/>
                <a:ea typeface="方正粗黑宋简体" pitchFamily="2" charset="-122"/>
              </a:rPr>
              <a:t>0+0=0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0+1=1</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1+0=1</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1+1=</a:t>
            </a:r>
            <a:r>
              <a:rPr lang="en-US" altLang="zh-CN" sz="1600" dirty="0">
                <a:solidFill>
                  <a:srgbClr val="FF0000"/>
                </a:solidFill>
                <a:latin typeface="方正粗黑宋简体" pitchFamily="2" charset="-122"/>
                <a:ea typeface="方正粗黑宋简体" pitchFamily="2" charset="-122"/>
              </a:rPr>
              <a:t>1</a:t>
            </a:r>
            <a:r>
              <a:rPr lang="en-US" altLang="zh-CN" sz="1600" dirty="0">
                <a:solidFill>
                  <a:srgbClr val="000000"/>
                </a:solidFill>
                <a:latin typeface="方正粗黑宋简体" pitchFamily="2" charset="-122"/>
                <a:ea typeface="方正粗黑宋简体" pitchFamily="2" charset="-122"/>
              </a:rPr>
              <a:t>0</a:t>
            </a:r>
          </a:p>
          <a:p>
            <a:pPr algn="l">
              <a:lnSpc>
                <a:spcPct val="150000"/>
              </a:lnSpc>
            </a:pPr>
            <a:r>
              <a:rPr lang="zh-CN" altLang="en-US" sz="1600" dirty="0">
                <a:solidFill>
                  <a:srgbClr val="000000"/>
                </a:solidFill>
                <a:latin typeface="方正粗黑宋简体" pitchFamily="2" charset="-122"/>
                <a:ea typeface="方正粗黑宋简体" pitchFamily="2" charset="-122"/>
              </a:rPr>
              <a:t>减法规则：</a:t>
            </a:r>
            <a:r>
              <a:rPr lang="en-US" altLang="zh-CN" sz="1600" dirty="0">
                <a:solidFill>
                  <a:srgbClr val="000000"/>
                </a:solidFill>
                <a:latin typeface="方正粗黑宋简体" pitchFamily="2" charset="-122"/>
                <a:ea typeface="方正粗黑宋简体" pitchFamily="2" charset="-122"/>
              </a:rPr>
              <a:t>0-0=0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0-1=</a:t>
            </a:r>
            <a:r>
              <a:rPr lang="en-US" altLang="zh-CN" sz="1600" dirty="0">
                <a:solidFill>
                  <a:srgbClr val="FF0000"/>
                </a:solidFill>
                <a:latin typeface="方正粗黑宋简体" pitchFamily="2" charset="-122"/>
                <a:ea typeface="方正粗黑宋简体" pitchFamily="2" charset="-122"/>
              </a:rPr>
              <a:t>1</a:t>
            </a:r>
            <a:r>
              <a:rPr lang="en-US" altLang="zh-CN" sz="1600" dirty="0">
                <a:solidFill>
                  <a:srgbClr val="0000FF"/>
                </a:solidFill>
                <a:latin typeface="方正粗黑宋简体" pitchFamily="2" charset="-122"/>
                <a:ea typeface="方正粗黑宋简体" pitchFamily="2" charset="-122"/>
              </a:rPr>
              <a:t>1</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1-0=1</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1-1=0</a:t>
            </a:r>
            <a:endParaRPr lang="zh-CN" altLang="en-US" sz="1600" dirty="0">
              <a:solidFill>
                <a:srgbClr val="000000"/>
              </a:solidFill>
              <a:latin typeface="方正粗黑宋简体" pitchFamily="2" charset="-122"/>
              <a:ea typeface="方正粗黑宋简体" pitchFamily="2" charset="-122"/>
            </a:endParaRPr>
          </a:p>
          <a:p>
            <a:pPr algn="l">
              <a:lnSpc>
                <a:spcPct val="150000"/>
              </a:lnSpc>
            </a:pPr>
            <a:r>
              <a:rPr lang="zh-CN" altLang="en-US" sz="1600" dirty="0">
                <a:solidFill>
                  <a:srgbClr val="000000"/>
                </a:solidFill>
                <a:latin typeface="方正粗黑宋简体" pitchFamily="2" charset="-122"/>
                <a:ea typeface="方正粗黑宋简体" pitchFamily="2" charset="-122"/>
              </a:rPr>
              <a:t>乘法规则：</a:t>
            </a:r>
            <a:r>
              <a:rPr lang="en-US" altLang="zh-CN" sz="1600" dirty="0">
                <a:solidFill>
                  <a:srgbClr val="000000"/>
                </a:solidFill>
                <a:latin typeface="方正粗黑宋简体" pitchFamily="2" charset="-122"/>
                <a:ea typeface="方正粗黑宋简体" pitchFamily="2" charset="-122"/>
              </a:rPr>
              <a:t>0</a:t>
            </a:r>
            <a:r>
              <a:rPr lang="en-US" altLang="zh-CN" sz="1600" dirty="0">
                <a:solidFill>
                  <a:srgbClr val="000000"/>
                </a:solidFill>
                <a:latin typeface="方正粗黑宋简体" pitchFamily="2" charset="-122"/>
                <a:ea typeface="方正粗黑宋简体" pitchFamily="2" charset="-122"/>
                <a:sym typeface="Symbol" pitchFamily="18" charset="2"/>
              </a:rPr>
              <a:t></a:t>
            </a:r>
            <a:r>
              <a:rPr lang="en-US" altLang="zh-CN" sz="1600" dirty="0">
                <a:solidFill>
                  <a:srgbClr val="000000"/>
                </a:solidFill>
                <a:latin typeface="方正粗黑宋简体" pitchFamily="2" charset="-122"/>
                <a:ea typeface="方正粗黑宋简体" pitchFamily="2" charset="-122"/>
              </a:rPr>
              <a:t>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0</a:t>
            </a:r>
            <a:r>
              <a:rPr lang="en-US" altLang="zh-CN" sz="1600" dirty="0">
                <a:solidFill>
                  <a:srgbClr val="000000"/>
                </a:solidFill>
                <a:latin typeface="方正粗黑宋简体" pitchFamily="2" charset="-122"/>
                <a:ea typeface="方正粗黑宋简体" pitchFamily="2" charset="-122"/>
                <a:sym typeface="Symbol" pitchFamily="18" charset="2"/>
              </a:rPr>
              <a:t></a:t>
            </a:r>
            <a:r>
              <a:rPr lang="en-US" altLang="zh-CN" sz="1600" dirty="0">
                <a:solidFill>
                  <a:srgbClr val="000000"/>
                </a:solidFill>
                <a:latin typeface="方正粗黑宋简体" pitchFamily="2" charset="-122"/>
                <a:ea typeface="方正粗黑宋简体" pitchFamily="2" charset="-122"/>
              </a:rPr>
              <a:t>1=0 </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a:t>
            </a:r>
            <a:r>
              <a:rPr lang="en-US" altLang="zh-CN" sz="1600" dirty="0">
                <a:solidFill>
                  <a:srgbClr val="000000"/>
                </a:solidFill>
                <a:latin typeface="方正粗黑宋简体" pitchFamily="2" charset="-122"/>
                <a:ea typeface="方正粗黑宋简体" pitchFamily="2" charset="-122"/>
                <a:sym typeface="Symbol" pitchFamily="18" charset="2"/>
              </a:rPr>
              <a:t></a:t>
            </a:r>
            <a:r>
              <a:rPr lang="en-US" altLang="zh-CN" sz="1600" dirty="0">
                <a:solidFill>
                  <a:srgbClr val="000000"/>
                </a:solidFill>
                <a:latin typeface="方正粗黑宋简体" pitchFamily="2" charset="-122"/>
                <a:ea typeface="方正粗黑宋简体" pitchFamily="2" charset="-122"/>
              </a:rPr>
              <a:t>0=0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a:t>
            </a:r>
            <a:r>
              <a:rPr lang="en-US" altLang="zh-CN" sz="1600" dirty="0">
                <a:solidFill>
                  <a:srgbClr val="000000"/>
                </a:solidFill>
                <a:latin typeface="方正粗黑宋简体" pitchFamily="2" charset="-122"/>
                <a:ea typeface="方正粗黑宋简体" pitchFamily="2" charset="-122"/>
                <a:sym typeface="Symbol" pitchFamily="18" charset="2"/>
              </a:rPr>
              <a:t></a:t>
            </a:r>
            <a:r>
              <a:rPr lang="en-US" altLang="zh-CN" sz="1600" dirty="0">
                <a:solidFill>
                  <a:srgbClr val="000000"/>
                </a:solidFill>
                <a:latin typeface="方正粗黑宋简体" pitchFamily="2" charset="-122"/>
                <a:ea typeface="方正粗黑宋简体" pitchFamily="2" charset="-122"/>
              </a:rPr>
              <a:t>1=1</a:t>
            </a:r>
          </a:p>
          <a:p>
            <a:pPr algn="l">
              <a:lnSpc>
                <a:spcPct val="150000"/>
              </a:lnSpc>
            </a:pPr>
            <a:r>
              <a:rPr lang="zh-CN" altLang="en-US" sz="1600" dirty="0">
                <a:solidFill>
                  <a:srgbClr val="000000"/>
                </a:solidFill>
                <a:latin typeface="方正粗黑宋简体" pitchFamily="2" charset="-122"/>
                <a:ea typeface="方正粗黑宋简体" pitchFamily="2" charset="-122"/>
              </a:rPr>
              <a:t>除法规则：</a:t>
            </a:r>
            <a:r>
              <a:rPr lang="en-US" altLang="zh-CN" sz="1600" dirty="0">
                <a:solidFill>
                  <a:srgbClr val="000000"/>
                </a:solidFill>
                <a:latin typeface="方正粗黑宋简体" pitchFamily="2" charset="-122"/>
                <a:ea typeface="方正粗黑宋简体" pitchFamily="2" charset="-122"/>
              </a:rPr>
              <a:t>0÷1=0</a:t>
            </a:r>
            <a:r>
              <a:rPr lang="zh-CN" altLang="en-US" sz="1600" dirty="0">
                <a:solidFill>
                  <a:srgbClr val="000000"/>
                </a:solidFill>
                <a:latin typeface="方正粗黑宋简体" pitchFamily="2" charset="-122"/>
                <a:ea typeface="方正粗黑宋简体" pitchFamily="2" charset="-122"/>
              </a:rPr>
              <a:t>，</a:t>
            </a:r>
            <a:r>
              <a:rPr lang="en-US" altLang="zh-CN" sz="1600" dirty="0">
                <a:solidFill>
                  <a:srgbClr val="000000"/>
                </a:solidFill>
                <a:latin typeface="方正粗黑宋简体" pitchFamily="2" charset="-122"/>
                <a:ea typeface="方正粗黑宋简体" pitchFamily="2" charset="-122"/>
              </a:rPr>
              <a:t>1÷1=1</a:t>
            </a:r>
            <a:endParaRPr lang="zh-CN" altLang="en-US" sz="1600" dirty="0">
              <a:solidFill>
                <a:srgbClr val="000000"/>
              </a:solidFill>
              <a:latin typeface="方正粗黑宋简体" pitchFamily="2" charset="-122"/>
              <a:ea typeface="方正粗黑宋简体" pitchFamily="2" charset="-122"/>
            </a:endParaRPr>
          </a:p>
        </p:txBody>
      </p:sp>
      <p:grpSp>
        <p:nvGrpSpPr>
          <p:cNvPr id="3" name="组合 30">
            <a:extLst>
              <a:ext uri="{FF2B5EF4-FFF2-40B4-BE49-F238E27FC236}">
                <a16:creationId xmlns:a16="http://schemas.microsoft.com/office/drawing/2014/main" xmlns="" id="{E010191F-7F37-4AFE-B961-7090CF5FA91D}"/>
              </a:ext>
            </a:extLst>
          </p:cNvPr>
          <p:cNvGrpSpPr/>
          <p:nvPr/>
        </p:nvGrpSpPr>
        <p:grpSpPr>
          <a:xfrm>
            <a:off x="750818" y="2457980"/>
            <a:ext cx="1757921" cy="361240"/>
            <a:chOff x="358461" y="2491451"/>
            <a:chExt cx="1757921" cy="401378"/>
          </a:xfrm>
        </p:grpSpPr>
        <p:sp>
          <p:nvSpPr>
            <p:cNvPr id="32" name="矩形 31">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1515033"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dirty="0">
                  <a:solidFill>
                    <a:schemeClr val="bg1"/>
                  </a:solidFill>
                  <a:latin typeface="黑体" panose="02010609060101010101" pitchFamily="49" charset="-122"/>
                  <a:ea typeface="黑体" panose="02010609060101010101" pitchFamily="49" charset="-122"/>
                </a:rPr>
                <a:t>  运算规则</a:t>
              </a:r>
            </a:p>
          </p:txBody>
        </p:sp>
        <p:sp>
          <p:nvSpPr>
            <p:cNvPr id="33" name="矩形 32">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a:solidFill>
                  <a:srgbClr val="FFFFFF"/>
                </a:solidFill>
                <a:latin typeface="宋体" panose="02010600030101010101" pitchFamily="2" charset="-122"/>
                <a:sym typeface="宋体" panose="02010600030101010101" pitchFamily="2" charset="-122"/>
              </a:endParaRPr>
            </a:p>
          </p:txBody>
        </p:sp>
        <p:sp>
          <p:nvSpPr>
            <p:cNvPr id="34"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3200">
                <a:solidFill>
                  <a:prstClr val="black"/>
                </a:solidFill>
                <a:latin typeface="Arial"/>
                <a:ea typeface="微软雅黑"/>
              </a:endParaRPr>
            </a:p>
          </p:txBody>
        </p:sp>
      </p:grpSp>
      <p:sp>
        <p:nvSpPr>
          <p:cNvPr id="51202"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直接连接符 4">
            <a:extLst>
              <a:ext uri="{FF2B5EF4-FFF2-40B4-BE49-F238E27FC236}">
                <a16:creationId xmlns:a16="http://schemas.microsoft.com/office/drawing/2014/main" xmlns="" id="{C3FFA357-18E4-4895-AD53-B93E64342F27}"/>
              </a:ext>
            </a:extLst>
          </p:cNvPr>
          <p:cNvCxnSpPr/>
          <p:nvPr/>
        </p:nvCxnSpPr>
        <p:spPr>
          <a:xfrm>
            <a:off x="4648782" y="3357453"/>
            <a:ext cx="684055"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xmlns="" id="{48197122-A17D-47F8-93B7-97C444A0572B}"/>
              </a:ext>
            </a:extLst>
          </p:cNvPr>
          <p:cNvCxnSpPr/>
          <p:nvPr/>
        </p:nvCxnSpPr>
        <p:spPr>
          <a:xfrm>
            <a:off x="3077084" y="3705297"/>
            <a:ext cx="684055"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16" name="剪去对角的矩形 79">
            <a:extLst>
              <a:ext uri="{FF2B5EF4-FFF2-40B4-BE49-F238E27FC236}">
                <a16:creationId xmlns:a16="http://schemas.microsoft.com/office/drawing/2014/main" xmlns="" id="{5F57BEC1-4674-46E3-8ED5-9AEDE6A846BC}"/>
              </a:ext>
            </a:extLst>
          </p:cNvPr>
          <p:cNvSpPr/>
          <p:nvPr/>
        </p:nvSpPr>
        <p:spPr>
          <a:xfrm>
            <a:off x="4507227" y="895675"/>
            <a:ext cx="4244340" cy="558641"/>
          </a:xfrm>
          <a:prstGeom prst="snip2DiagRect">
            <a:avLst>
              <a:gd name="adj1" fmla="val 0"/>
              <a:gd name="adj2" fmla="val 6501"/>
            </a:avLst>
          </a:prstGeom>
          <a:solidFill>
            <a:schemeClr val="accent4">
              <a:lumMod val="40000"/>
              <a:lumOff val="60000"/>
            </a:schemeClr>
          </a:solidFill>
          <a:ln w="19050">
            <a:solidFill>
              <a:schemeClr val="accent1">
                <a:lumMod val="75000"/>
              </a:schemeClr>
            </a:solidFill>
            <a:headEnd/>
            <a:tailEnd/>
          </a:ln>
        </p:spPr>
        <p:style>
          <a:lnRef idx="1">
            <a:schemeClr val="accent6"/>
          </a:lnRef>
          <a:fillRef idx="2">
            <a:schemeClr val="accent6"/>
          </a:fillRef>
          <a:effectRef idx="1">
            <a:schemeClr val="accent6"/>
          </a:effectRef>
          <a:fontRef idx="minor">
            <a:schemeClr val="dk1"/>
          </a:fontRef>
        </p:style>
        <p:txBody>
          <a:bodyPr wrap="square" lIns="0" rIns="0">
            <a:spAutoFit/>
          </a:bodyPr>
          <a:lstStyle/>
          <a:p>
            <a:pPr>
              <a:defRPr/>
            </a:pPr>
            <a:r>
              <a:rPr lang="zh-CN" altLang="en-US" sz="1400" dirty="0">
                <a:solidFill>
                  <a:srgbClr val="CC00CC"/>
                </a:solidFill>
                <a:latin typeface="黑体" panose="02010609060101010101" pitchFamily="49" charset="-122"/>
                <a:ea typeface="黑体" panose="02010609060101010101" pitchFamily="49" charset="-122"/>
              </a:rPr>
              <a:t>无符号二进制数</a:t>
            </a:r>
            <a:r>
              <a:rPr lang="zh-CN" altLang="en-US" sz="1400" dirty="0">
                <a:latin typeface="黑体" panose="02010609060101010101" pitchFamily="49" charset="-122"/>
                <a:ea typeface="黑体" panose="02010609060101010101" pitchFamily="49" charset="-122"/>
              </a:rPr>
              <a:t>：</a:t>
            </a:r>
            <a:r>
              <a:rPr lang="zh-CN" altLang="zh-CN" sz="1400" dirty="0"/>
              <a:t>用指定位长的二进制码来表示的二进制正数，</a:t>
            </a:r>
            <a:r>
              <a:rPr lang="zh-CN" altLang="zh-CN" sz="1400" b="1" u="sng" dirty="0">
                <a:solidFill>
                  <a:srgbClr val="6600FF"/>
                </a:solidFill>
              </a:rPr>
              <a:t>不能表示负数</a:t>
            </a:r>
            <a:r>
              <a:rPr lang="zh-CN" altLang="zh-CN" sz="1400" dirty="0"/>
              <a:t>。</a:t>
            </a:r>
            <a:endParaRPr lang="zh-CN" altLang="en-US" sz="1400" dirty="0">
              <a:solidFill>
                <a:srgbClr val="6600FF"/>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145006967"/>
      </p:ext>
    </p:extLst>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10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slide(fromBottom)">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slide(fromBottom)">
                                      <p:cBhvr>
                                        <p:cTn id="21" dur="10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ppt_x</p:attrName>
                                        </p:attrNameLst>
                                      </p:cBhvr>
                                      <p:tavLst>
                                        <p:tav tm="0">
                                          <p:val>
                                            <p:strVal val="#ppt_x-#ppt_w/2"/>
                                          </p:val>
                                        </p:tav>
                                        <p:tav tm="100000">
                                          <p:val>
                                            <p:strVal val="#ppt_x"/>
                                          </p:val>
                                        </p:tav>
                                      </p:tavLst>
                                    </p:anim>
                                    <p:anim calcmode="lin" valueType="num">
                                      <p:cBhvr>
                                        <p:cTn id="27" dur="1000" fill="hold"/>
                                        <p:tgtEl>
                                          <p:spTgt spid="3"/>
                                        </p:tgtEl>
                                        <p:attrNameLst>
                                          <p:attrName>ppt_y</p:attrName>
                                        </p:attrNameLst>
                                      </p:cBhvr>
                                      <p:tavLst>
                                        <p:tav tm="0">
                                          <p:val>
                                            <p:strVal val="#ppt_y"/>
                                          </p:val>
                                        </p:tav>
                                        <p:tav tm="100000">
                                          <p:val>
                                            <p:strVal val="#ppt_y"/>
                                          </p:val>
                                        </p:tav>
                                      </p:tavLst>
                                    </p:anim>
                                    <p:anim calcmode="lin" valueType="num">
                                      <p:cBhvr>
                                        <p:cTn id="28" dur="1000" fill="hold"/>
                                        <p:tgtEl>
                                          <p:spTgt spid="3"/>
                                        </p:tgtEl>
                                        <p:attrNameLst>
                                          <p:attrName>ppt_w</p:attrName>
                                        </p:attrNameLst>
                                      </p:cBhvr>
                                      <p:tavLst>
                                        <p:tav tm="0">
                                          <p:val>
                                            <p:fltVal val="0"/>
                                          </p:val>
                                        </p:tav>
                                        <p:tav tm="100000">
                                          <p:val>
                                            <p:strVal val="#ppt_w"/>
                                          </p:val>
                                        </p:tav>
                                      </p:tavLst>
                                    </p:anim>
                                    <p:anim calcmode="lin" valueType="num">
                                      <p:cBhvr>
                                        <p:cTn id="29" dur="1000" fill="hold"/>
                                        <p:tgtEl>
                                          <p:spTgt spid="3"/>
                                        </p:tgtEl>
                                        <p:attrNameLst>
                                          <p:attrName>ppt_h</p:attrName>
                                        </p:attrNameLst>
                                      </p:cBhvr>
                                      <p:tavLst>
                                        <p:tav tm="0">
                                          <p:val>
                                            <p:strVal val="#ppt_h"/>
                                          </p:val>
                                        </p:tav>
                                        <p:tav tm="100000">
                                          <p:val>
                                            <p:strVal val="#ppt_h"/>
                                          </p:val>
                                        </p:tav>
                                      </p:tavLst>
                                    </p:anim>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0">
                                            <p:txEl>
                                              <p:pRg st="0" end="0"/>
                                            </p:txEl>
                                          </p:spTgt>
                                        </p:tgtEl>
                                        <p:attrNameLst>
                                          <p:attrName>style.visibility</p:attrName>
                                        </p:attrNameLst>
                                      </p:cBhvr>
                                      <p:to>
                                        <p:strVal val="visible"/>
                                      </p:to>
                                    </p:set>
                                    <p:animEffect transition="in" filter="wipe(left)">
                                      <p:cBhvr>
                                        <p:cTn id="33" dur="1000"/>
                                        <p:tgtEl>
                                          <p:spTgt spid="30">
                                            <p:txEl>
                                              <p:pRg st="0" end="0"/>
                                            </p:txEl>
                                          </p:spTgt>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30">
                                            <p:txEl>
                                              <p:pRg st="1" end="1"/>
                                            </p:txEl>
                                          </p:spTgt>
                                        </p:tgtEl>
                                        <p:attrNameLst>
                                          <p:attrName>style.visibility</p:attrName>
                                        </p:attrNameLst>
                                      </p:cBhvr>
                                      <p:to>
                                        <p:strVal val="visible"/>
                                      </p:to>
                                    </p:set>
                                    <p:animEffect transition="in" filter="wipe(left)">
                                      <p:cBhvr>
                                        <p:cTn id="37" dur="1000"/>
                                        <p:tgtEl>
                                          <p:spTgt spid="30">
                                            <p:txEl>
                                              <p:pRg st="1" end="1"/>
                                            </p:txEl>
                                          </p:spTgt>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30">
                                            <p:txEl>
                                              <p:pRg st="2" end="2"/>
                                            </p:txEl>
                                          </p:spTgt>
                                        </p:tgtEl>
                                        <p:attrNameLst>
                                          <p:attrName>style.visibility</p:attrName>
                                        </p:attrNameLst>
                                      </p:cBhvr>
                                      <p:to>
                                        <p:strVal val="visible"/>
                                      </p:to>
                                    </p:set>
                                    <p:animEffect transition="in" filter="wipe(left)">
                                      <p:cBhvr>
                                        <p:cTn id="41" dur="1000"/>
                                        <p:tgtEl>
                                          <p:spTgt spid="30">
                                            <p:txEl>
                                              <p:pRg st="2" end="2"/>
                                            </p:txEl>
                                          </p:spTgt>
                                        </p:tgtEl>
                                      </p:cBhvr>
                                    </p:animEffec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30">
                                            <p:txEl>
                                              <p:pRg st="3" end="3"/>
                                            </p:txEl>
                                          </p:spTgt>
                                        </p:tgtEl>
                                        <p:attrNameLst>
                                          <p:attrName>style.visibility</p:attrName>
                                        </p:attrNameLst>
                                      </p:cBhvr>
                                      <p:to>
                                        <p:strVal val="visible"/>
                                      </p:to>
                                    </p:set>
                                    <p:animEffect transition="in" filter="wipe(left)">
                                      <p:cBhvr>
                                        <p:cTn id="45" dur="1000"/>
                                        <p:tgtEl>
                                          <p:spTgt spid="30">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37"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barn(outVertical)">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37"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arn(outVertical)">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28" grpId="0"/>
      <p:bldP spid="30" grpId="0" uiExpand="1" build="p" autoUpdateAnimBg="0"/>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37" name="矩形 36"/>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38"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9" name="矩形 38"/>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1</a:t>
            </a:r>
            <a:r>
              <a:rPr lang="zh-CN" altLang="en-US" b="1" dirty="0">
                <a:solidFill>
                  <a:srgbClr val="FF0000"/>
                </a:solidFill>
                <a:latin typeface="微软雅黑" pitchFamily="34" charset="-122"/>
                <a:ea typeface="微软雅黑" pitchFamily="34" charset="-122"/>
              </a:rPr>
              <a:t>）无符号二进制数的算术运算</a:t>
            </a:r>
          </a:p>
        </p:txBody>
      </p:sp>
      <p:grpSp>
        <p:nvGrpSpPr>
          <p:cNvPr id="4" name="组合 40"/>
          <p:cNvGrpSpPr/>
          <p:nvPr/>
        </p:nvGrpSpPr>
        <p:grpSpPr>
          <a:xfrm>
            <a:off x="1303656" y="3999357"/>
            <a:ext cx="6621145" cy="540640"/>
            <a:chOff x="5603875" y="3086099"/>
            <a:chExt cx="6621145" cy="600711"/>
          </a:xfrm>
        </p:grpSpPr>
        <p:sp>
          <p:nvSpPr>
            <p:cNvPr id="40" name="剪去对角的矩形 39"/>
            <p:cNvSpPr/>
            <p:nvPr/>
          </p:nvSpPr>
          <p:spPr>
            <a:xfrm>
              <a:off x="5765800" y="3219450"/>
              <a:ext cx="6459220" cy="467360"/>
            </a:xfrm>
            <a:prstGeom prst="snip2Diag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nSpc>
                  <a:spcPct val="125000"/>
                </a:lnSpc>
              </a:pPr>
              <a:r>
                <a:rPr lang="zh-CN" altLang="en-US" sz="1600" dirty="0">
                  <a:solidFill>
                    <a:srgbClr val="6600FF"/>
                  </a:solidFill>
                  <a:latin typeface="方正粗黑宋简体" pitchFamily="2" charset="-122"/>
                  <a:ea typeface="方正粗黑宋简体" pitchFamily="2" charset="-122"/>
                </a:rPr>
                <a:t>在无符号减法运算中无法表示负数，故要求被减数必须大于减数。</a:t>
              </a:r>
            </a:p>
          </p:txBody>
        </p:sp>
        <p:pic>
          <p:nvPicPr>
            <p:cNvPr id="53251" name="Picture 3"/>
            <p:cNvPicPr>
              <a:picLocks noChangeAspect="1" noChangeArrowheads="1"/>
            </p:cNvPicPr>
            <p:nvPr/>
          </p:nvPicPr>
          <p:blipFill>
            <a:blip r:embed="rId5" cstate="print"/>
            <a:srcRect/>
            <a:stretch>
              <a:fillRect/>
            </a:stretch>
          </p:blipFill>
          <p:spPr bwMode="auto">
            <a:xfrm>
              <a:off x="5603875" y="3086099"/>
              <a:ext cx="320675" cy="320675"/>
            </a:xfrm>
            <a:prstGeom prst="rect">
              <a:avLst/>
            </a:prstGeom>
            <a:noFill/>
            <a:ln w="9525">
              <a:noFill/>
              <a:miter lim="800000"/>
              <a:headEnd/>
              <a:tailEnd/>
            </a:ln>
            <a:effectLst/>
          </p:spPr>
        </p:pic>
      </p:grpSp>
      <p:sp>
        <p:nvSpPr>
          <p:cNvPr id="42" name="Text Box 11"/>
          <p:cNvSpPr txBox="1">
            <a:spLocks noChangeArrowheads="1"/>
          </p:cNvSpPr>
          <p:nvPr/>
        </p:nvSpPr>
        <p:spPr bwMode="auto">
          <a:xfrm>
            <a:off x="653099" y="1607629"/>
            <a:ext cx="5027017" cy="369332"/>
          </a:xfrm>
          <a:prstGeom prst="rect">
            <a:avLst/>
          </a:prstGeom>
          <a:noFill/>
          <a:ln w="9525" algn="ctr">
            <a:noFill/>
            <a:miter lim="800000"/>
            <a:headEnd/>
            <a:tailEnd/>
          </a:ln>
        </p:spPr>
        <p:txBody>
          <a:bodyPr wrap="none" lIns="0" rIns="0">
            <a:spAutoFit/>
          </a:bodyPr>
          <a:lstStyle/>
          <a:p>
            <a:pPr algn="l"/>
            <a:r>
              <a:rPr lang="zh-CN" altLang="en-US" sz="1600" dirty="0">
                <a:solidFill>
                  <a:srgbClr val="6600FF"/>
                </a:solidFill>
                <a:latin typeface="Times New Roman" pitchFamily="18" charset="0"/>
                <a:ea typeface="方正粗黑宋简体" pitchFamily="2" charset="-122"/>
                <a:cs typeface="Times New Roman" pitchFamily="18" charset="0"/>
              </a:rPr>
              <a:t>例：</a:t>
            </a:r>
            <a:r>
              <a:rPr lang="zh-CN" altLang="en-US" dirty="0">
                <a:solidFill>
                  <a:srgbClr val="262626"/>
                </a:solidFill>
                <a:latin typeface="Times New Roman" pitchFamily="18" charset="0"/>
                <a:ea typeface="黑体" panose="02010609060101010101" pitchFamily="49" charset="-122"/>
                <a:cs typeface="Times New Roman" pitchFamily="18" charset="0"/>
              </a:rPr>
              <a:t>计算二进制数</a:t>
            </a:r>
            <a:r>
              <a:rPr lang="en-US" altLang="zh-CN" dirty="0">
                <a:solidFill>
                  <a:srgbClr val="262626"/>
                </a:solidFill>
                <a:latin typeface="Times New Roman" pitchFamily="18" charset="0"/>
                <a:ea typeface="黑体" panose="02010609060101010101" pitchFamily="49" charset="-122"/>
                <a:cs typeface="Times New Roman" pitchFamily="18" charset="0"/>
              </a:rPr>
              <a:t>1001</a:t>
            </a:r>
            <a:r>
              <a:rPr lang="zh-CN" altLang="en-US" dirty="0">
                <a:solidFill>
                  <a:srgbClr val="262626"/>
                </a:solidFill>
                <a:latin typeface="Times New Roman" pitchFamily="18" charset="0"/>
                <a:ea typeface="黑体" panose="02010609060101010101" pitchFamily="49" charset="-122"/>
                <a:cs typeface="Times New Roman" pitchFamily="18" charset="0"/>
              </a:rPr>
              <a:t>和</a:t>
            </a:r>
            <a:r>
              <a:rPr lang="en-US" altLang="zh-CN" dirty="0">
                <a:solidFill>
                  <a:srgbClr val="262626"/>
                </a:solidFill>
                <a:latin typeface="Times New Roman" pitchFamily="18" charset="0"/>
                <a:ea typeface="黑体" panose="02010609060101010101" pitchFamily="49" charset="-122"/>
                <a:cs typeface="Times New Roman" pitchFamily="18" charset="0"/>
              </a:rPr>
              <a:t>0101</a:t>
            </a:r>
            <a:r>
              <a:rPr lang="zh-CN" altLang="en-US" dirty="0">
                <a:solidFill>
                  <a:srgbClr val="262626"/>
                </a:solidFill>
                <a:latin typeface="Times New Roman" pitchFamily="18" charset="0"/>
                <a:ea typeface="黑体" panose="02010609060101010101" pitchFamily="49" charset="-122"/>
                <a:cs typeface="Times New Roman" pitchFamily="18" charset="0"/>
              </a:rPr>
              <a:t>的和、差、积、商。</a:t>
            </a:r>
          </a:p>
        </p:txBody>
      </p:sp>
      <p:sp>
        <p:nvSpPr>
          <p:cNvPr id="51202"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4515" name="Object 3"/>
          <p:cNvGraphicFramePr>
            <a:graphicFrameLocks noChangeAspect="1"/>
          </p:cNvGraphicFramePr>
          <p:nvPr/>
        </p:nvGraphicFramePr>
        <p:xfrm>
          <a:off x="1474152" y="2067973"/>
          <a:ext cx="6107748" cy="1729411"/>
        </p:xfrm>
        <a:graphic>
          <a:graphicData uri="http://schemas.openxmlformats.org/presentationml/2006/ole">
            <mc:AlternateContent xmlns:mc="http://schemas.openxmlformats.org/markup-compatibility/2006">
              <mc:Choice xmlns:v="urn:schemas-microsoft-com:vml" Requires="v">
                <p:oleObj spid="_x0000_s26632" name="Visio" r:id="rId6" imgW="3448947" imgH="1086556" progId="Visio.Drawing.11">
                  <p:embed/>
                </p:oleObj>
              </mc:Choice>
              <mc:Fallback>
                <p:oleObj name="Visio" r:id="rId6" imgW="3448947" imgH="1086556" progId="Visio.Drawing.11">
                  <p:embed/>
                  <p:pic>
                    <p:nvPicPr>
                      <p:cNvPr id="64515"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152" y="2067973"/>
                        <a:ext cx="6107748" cy="17294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6802740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1000"/>
                                        <p:tgtEl>
                                          <p:spTgt spid="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15"/>
                                        </p:tgtEl>
                                        <p:attrNameLst>
                                          <p:attrName>style.visibility</p:attrName>
                                        </p:attrNameLst>
                                      </p:cBhvr>
                                      <p:to>
                                        <p:strVal val="visible"/>
                                      </p:to>
                                    </p:set>
                                    <p:animEffect transition="in" filter="wipe(left)">
                                      <p:cBhvr>
                                        <p:cTn id="11" dur="1000"/>
                                        <p:tgtEl>
                                          <p:spTgt spid="64515"/>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1000" fill="hold"/>
                                        <p:tgtEl>
                                          <p:spTgt spid="4"/>
                                        </p:tgtEl>
                                        <p:attrNameLst>
                                          <p:attrName>ppt_x</p:attrName>
                                        </p:attrNameLst>
                                      </p:cBhvr>
                                      <p:tavLst>
                                        <p:tav tm="0">
                                          <p:val>
                                            <p:strVal val="#ppt_x-#ppt_w/2"/>
                                          </p:val>
                                        </p:tav>
                                        <p:tav tm="100000">
                                          <p:val>
                                            <p:strVal val="#ppt_x"/>
                                          </p:val>
                                        </p:tav>
                                      </p:tavLst>
                                    </p:anim>
                                    <p:anim calcmode="lin" valueType="num">
                                      <p:cBhvr>
                                        <p:cTn id="17" dur="1000" fill="hold"/>
                                        <p:tgtEl>
                                          <p:spTgt spid="4"/>
                                        </p:tgtEl>
                                        <p:attrNameLst>
                                          <p:attrName>ppt_y</p:attrName>
                                        </p:attrNameLst>
                                      </p:cBhvr>
                                      <p:tavLst>
                                        <p:tav tm="0">
                                          <p:val>
                                            <p:strVal val="#ppt_y"/>
                                          </p:val>
                                        </p:tav>
                                        <p:tav tm="100000">
                                          <p:val>
                                            <p:strVal val="#ppt_y"/>
                                          </p:val>
                                        </p:tav>
                                      </p:tavLst>
                                    </p:anim>
                                    <p:anim calcmode="lin" valueType="num">
                                      <p:cBhvr>
                                        <p:cTn id="18" dur="1000" fill="hold"/>
                                        <p:tgtEl>
                                          <p:spTgt spid="4"/>
                                        </p:tgtEl>
                                        <p:attrNameLst>
                                          <p:attrName>ppt_w</p:attrName>
                                        </p:attrNameLst>
                                      </p:cBhvr>
                                      <p:tavLst>
                                        <p:tav tm="0">
                                          <p:val>
                                            <p:fltVal val="0"/>
                                          </p:val>
                                        </p:tav>
                                        <p:tav tm="100000">
                                          <p:val>
                                            <p:strVal val="#ppt_w"/>
                                          </p:val>
                                        </p:tav>
                                      </p:tavLst>
                                    </p:anim>
                                    <p:anim calcmode="lin" valueType="num">
                                      <p:cBhvr>
                                        <p:cTn id="19" dur="1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34" name="矩形 33"/>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35"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8" name="矩形 37"/>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）有符号二进制数的算术运算</a:t>
            </a:r>
          </a:p>
        </p:txBody>
      </p:sp>
      <p:sp>
        <p:nvSpPr>
          <p:cNvPr id="46" name="Rectangle 7"/>
          <p:cNvSpPr>
            <a:spLocks noChangeArrowheads="1"/>
          </p:cNvSpPr>
          <p:nvPr/>
        </p:nvSpPr>
        <p:spPr bwMode="auto">
          <a:xfrm>
            <a:off x="830010" y="2028142"/>
            <a:ext cx="4310609" cy="382349"/>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en-US" altLang="zh-CN" sz="1600" baseline="-25000" dirty="0">
                <a:solidFill>
                  <a:srgbClr val="000000"/>
                </a:solidFill>
                <a:latin typeface="方正粗黑宋简体" pitchFamily="2" charset="-122"/>
                <a:ea typeface="方正粗黑宋简体" pitchFamily="2" charset="-122"/>
              </a:rPr>
              <a:t>D</a:t>
            </a:r>
            <a:r>
              <a:rPr kumimoji="1" lang="en-US" altLang="zh-CN" sz="1600" dirty="0">
                <a:solidFill>
                  <a:srgbClr val="000000"/>
                </a:solidFill>
                <a:latin typeface="方正粗黑宋简体" pitchFamily="2" charset="-122"/>
                <a:ea typeface="方正粗黑宋简体" pitchFamily="2" charset="-122"/>
              </a:rPr>
              <a:t> = (</a:t>
            </a:r>
            <a:r>
              <a:rPr kumimoji="1" lang="en-US" altLang="zh-CN" sz="1600" dirty="0">
                <a:solidFill>
                  <a:srgbClr val="CC00CC"/>
                </a:solidFill>
                <a:latin typeface="方正粗黑宋简体" pitchFamily="2" charset="-122"/>
                <a:ea typeface="方正粗黑宋简体" pitchFamily="2" charset="-122"/>
              </a:rPr>
              <a:t>0</a:t>
            </a:r>
            <a:r>
              <a:rPr kumimoji="1" lang="en-US" altLang="zh-CN" sz="1600" dirty="0">
                <a:solidFill>
                  <a:srgbClr val="FF0000"/>
                </a:solidFill>
                <a:latin typeface="方正粗黑宋简体" pitchFamily="2" charset="-122"/>
                <a:ea typeface="方正粗黑宋简体" pitchFamily="2" charset="-122"/>
              </a:rPr>
              <a:t> </a:t>
            </a:r>
            <a:r>
              <a:rPr kumimoji="1" lang="en-US" altLang="zh-CN" sz="1600" dirty="0">
                <a:solidFill>
                  <a:srgbClr val="000000"/>
                </a:solidFill>
                <a:latin typeface="方正粗黑宋简体" pitchFamily="2" charset="-122"/>
                <a:ea typeface="方正粗黑宋简体" pitchFamily="2" charset="-122"/>
              </a:rPr>
              <a:t>101)</a:t>
            </a:r>
            <a:r>
              <a:rPr kumimoji="1" lang="en-US" altLang="zh-CN" sz="1600" baseline="-25000" dirty="0">
                <a:solidFill>
                  <a:srgbClr val="000000"/>
                </a:solidFill>
                <a:latin typeface="方正粗黑宋简体" pitchFamily="2" charset="-122"/>
                <a:ea typeface="方正粗黑宋简体" pitchFamily="2" charset="-122"/>
              </a:rPr>
              <a:t>B           </a:t>
            </a:r>
            <a:r>
              <a:rPr kumimoji="1" lang="en-US" altLang="zh-CN" sz="1600" dirty="0">
                <a:solidFill>
                  <a:srgbClr val="000000"/>
                </a:solidFill>
                <a:latin typeface="方正粗黑宋简体" pitchFamily="2" charset="-122"/>
                <a:ea typeface="方正粗黑宋简体" pitchFamily="2" charset="-122"/>
              </a:rPr>
              <a:t>(-5)</a:t>
            </a:r>
            <a:r>
              <a:rPr kumimoji="1" lang="en-US" altLang="zh-CN" sz="1600" baseline="-25000" dirty="0">
                <a:solidFill>
                  <a:srgbClr val="000000"/>
                </a:solidFill>
                <a:latin typeface="方正粗黑宋简体" pitchFamily="2" charset="-122"/>
                <a:ea typeface="方正粗黑宋简体" pitchFamily="2" charset="-122"/>
              </a:rPr>
              <a:t>D</a:t>
            </a:r>
            <a:r>
              <a:rPr kumimoji="1" lang="en-US" altLang="zh-CN" sz="1600" dirty="0">
                <a:solidFill>
                  <a:srgbClr val="000000"/>
                </a:solidFill>
                <a:latin typeface="方正粗黑宋简体" pitchFamily="2" charset="-122"/>
                <a:ea typeface="方正粗黑宋简体" pitchFamily="2" charset="-122"/>
              </a:rPr>
              <a:t> = (</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FF0000"/>
                </a:solidFill>
                <a:latin typeface="方正粗黑宋简体" pitchFamily="2" charset="-122"/>
                <a:ea typeface="方正粗黑宋简体" pitchFamily="2" charset="-122"/>
              </a:rPr>
              <a:t> </a:t>
            </a:r>
            <a:r>
              <a:rPr kumimoji="1" lang="en-US" altLang="zh-CN" sz="1600" dirty="0">
                <a:solidFill>
                  <a:srgbClr val="000000"/>
                </a:solidFill>
                <a:latin typeface="方正粗黑宋简体" pitchFamily="2" charset="-122"/>
                <a:ea typeface="方正粗黑宋简体" pitchFamily="2" charset="-122"/>
              </a:rPr>
              <a:t>101)</a:t>
            </a:r>
            <a:r>
              <a:rPr kumimoji="1" lang="en-US" altLang="zh-CN" sz="1600" baseline="-25000" dirty="0">
                <a:solidFill>
                  <a:srgbClr val="000000"/>
                </a:solidFill>
                <a:latin typeface="方正粗黑宋简体" pitchFamily="2" charset="-122"/>
                <a:ea typeface="方正粗黑宋简体" pitchFamily="2" charset="-122"/>
              </a:rPr>
              <a:t>B</a:t>
            </a:r>
          </a:p>
        </p:txBody>
      </p:sp>
      <p:grpSp>
        <p:nvGrpSpPr>
          <p:cNvPr id="3" name="组合 50">
            <a:extLst>
              <a:ext uri="{FF2B5EF4-FFF2-40B4-BE49-F238E27FC236}">
                <a16:creationId xmlns:a16="http://schemas.microsoft.com/office/drawing/2014/main" xmlns="" id="{E010191F-7F37-4AFE-B961-7090CF5FA91D}"/>
              </a:ext>
            </a:extLst>
          </p:cNvPr>
          <p:cNvGrpSpPr/>
          <p:nvPr/>
        </p:nvGrpSpPr>
        <p:grpSpPr>
          <a:xfrm>
            <a:off x="763518" y="1618973"/>
            <a:ext cx="2995683" cy="291600"/>
            <a:chOff x="358461" y="2491451"/>
            <a:chExt cx="2995683" cy="401378"/>
          </a:xfrm>
        </p:grpSpPr>
        <p:sp>
          <p:nvSpPr>
            <p:cNvPr id="52" name="矩形 51">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2752795"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有符号二进制数的表示</a:t>
              </a:r>
            </a:p>
          </p:txBody>
        </p:sp>
        <p:sp>
          <p:nvSpPr>
            <p:cNvPr id="53" name="矩形 52">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54"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grpSp>
        <p:nvGrpSpPr>
          <p:cNvPr id="4" name="组合 54">
            <a:extLst>
              <a:ext uri="{FF2B5EF4-FFF2-40B4-BE49-F238E27FC236}">
                <a16:creationId xmlns:a16="http://schemas.microsoft.com/office/drawing/2014/main" xmlns="" id="{E010191F-7F37-4AFE-B961-7090CF5FA91D}"/>
              </a:ext>
            </a:extLst>
          </p:cNvPr>
          <p:cNvGrpSpPr/>
          <p:nvPr/>
        </p:nvGrpSpPr>
        <p:grpSpPr>
          <a:xfrm>
            <a:off x="757168" y="2539133"/>
            <a:ext cx="4303783" cy="291600"/>
            <a:chOff x="358461" y="2491451"/>
            <a:chExt cx="4303783" cy="401378"/>
          </a:xfrm>
        </p:grpSpPr>
        <p:sp>
          <p:nvSpPr>
            <p:cNvPr id="56" name="矩形 55">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52"/>
              <a:ext cx="4060895"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有符号二进制数的原码、反码和补码表示</a:t>
              </a:r>
            </a:p>
          </p:txBody>
        </p:sp>
        <p:sp>
          <p:nvSpPr>
            <p:cNvPr id="57" name="矩形 56">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58"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sp>
        <p:nvSpPr>
          <p:cNvPr id="59" name="圆角矩形标注 58"/>
          <p:cNvSpPr/>
          <p:nvPr/>
        </p:nvSpPr>
        <p:spPr>
          <a:xfrm>
            <a:off x="4038600" y="1576471"/>
            <a:ext cx="4543624" cy="400111"/>
          </a:xfrm>
          <a:prstGeom prst="wedgeRoundRectCallout">
            <a:avLst>
              <a:gd name="adj1" fmla="val -54909"/>
              <a:gd name="adj2" fmla="val -254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600" dirty="0">
                <a:solidFill>
                  <a:srgbClr val="6600FF"/>
                </a:solidFill>
                <a:latin typeface="方正粗黑宋简体" pitchFamily="2" charset="-122"/>
                <a:ea typeface="方正粗黑宋简体" pitchFamily="2" charset="-122"/>
              </a:rPr>
              <a:t>符号 </a:t>
            </a:r>
            <a:r>
              <a:rPr lang="en-US" altLang="zh-CN" sz="1600" dirty="0">
                <a:solidFill>
                  <a:srgbClr val="6600FF"/>
                </a:solidFill>
                <a:latin typeface="方正粗黑宋简体" pitchFamily="2" charset="-122"/>
                <a:ea typeface="方正粗黑宋简体" pitchFamily="2" charset="-122"/>
              </a:rPr>
              <a:t>+ </a:t>
            </a:r>
            <a:r>
              <a:rPr lang="zh-CN" altLang="en-US" sz="1600" dirty="0">
                <a:solidFill>
                  <a:srgbClr val="6600FF"/>
                </a:solidFill>
                <a:latin typeface="方正粗黑宋简体" pitchFamily="2" charset="-122"/>
                <a:ea typeface="方正粗黑宋简体" pitchFamily="2" charset="-122"/>
              </a:rPr>
              <a:t>数值 </a:t>
            </a:r>
            <a:r>
              <a:rPr lang="zh-CN" altLang="en-US" sz="1600" dirty="0">
                <a:solidFill>
                  <a:schemeClr val="tx1"/>
                </a:solidFill>
                <a:latin typeface="黑体" panose="02010609060101010101" pitchFamily="49" charset="-122"/>
                <a:ea typeface="黑体" panose="02010609060101010101" pitchFamily="49" charset="-122"/>
              </a:rPr>
              <a:t>（最高位为符号位，其余为数值位）</a:t>
            </a:r>
            <a:endParaRPr lang="zh-CN" altLang="en-US" sz="1600" dirty="0"/>
          </a:p>
        </p:txBody>
      </p:sp>
      <p:sp>
        <p:nvSpPr>
          <p:cNvPr id="60" name="圆角矩形标注 59"/>
          <p:cNvSpPr/>
          <p:nvPr/>
        </p:nvSpPr>
        <p:spPr>
          <a:xfrm>
            <a:off x="4464459" y="987630"/>
            <a:ext cx="2829802" cy="351174"/>
          </a:xfrm>
          <a:prstGeom prst="wedgeRoundRectCallout">
            <a:avLst>
              <a:gd name="adj1" fmla="val -49782"/>
              <a:gd name="adj2" fmla="val 123415"/>
              <a:gd name="adj3" fmla="val 16667"/>
            </a:avLst>
          </a:prstGeom>
          <a:solidFill>
            <a:srgbClr val="FFFF00"/>
          </a:solidFill>
          <a:ln>
            <a:solidFill>
              <a:srgbClr val="262626"/>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rgbClr val="0070C0"/>
                </a:solidFill>
                <a:latin typeface="方正粗黑宋简体" pitchFamily="2" charset="-122"/>
                <a:ea typeface="方正粗黑宋简体" pitchFamily="2" charset="-122"/>
              </a:rPr>
              <a:t>“</a:t>
            </a:r>
            <a:r>
              <a:rPr lang="en-US" altLang="zh-CN" sz="1400" dirty="0">
                <a:solidFill>
                  <a:srgbClr val="0070C0"/>
                </a:solidFill>
                <a:latin typeface="方正粗黑宋简体" pitchFamily="2" charset="-122"/>
                <a:ea typeface="方正粗黑宋简体" pitchFamily="2" charset="-122"/>
              </a:rPr>
              <a:t>0”</a:t>
            </a:r>
            <a:r>
              <a:rPr lang="zh-CN" altLang="en-US" sz="1400" dirty="0">
                <a:solidFill>
                  <a:srgbClr val="0070C0"/>
                </a:solidFill>
                <a:latin typeface="方正粗黑宋简体" pitchFamily="2" charset="-122"/>
                <a:ea typeface="方正粗黑宋简体" pitchFamily="2" charset="-122"/>
              </a:rPr>
              <a:t>表示正数；“</a:t>
            </a:r>
            <a:r>
              <a:rPr lang="en-US" altLang="zh-CN" sz="1400" dirty="0">
                <a:solidFill>
                  <a:srgbClr val="0070C0"/>
                </a:solidFill>
                <a:latin typeface="方正粗黑宋简体" pitchFamily="2" charset="-122"/>
                <a:ea typeface="方正粗黑宋简体" pitchFamily="2" charset="-122"/>
              </a:rPr>
              <a:t>1”</a:t>
            </a:r>
            <a:r>
              <a:rPr lang="zh-CN" altLang="en-US" sz="1400" dirty="0">
                <a:solidFill>
                  <a:srgbClr val="0070C0"/>
                </a:solidFill>
                <a:latin typeface="方正粗黑宋简体" pitchFamily="2" charset="-122"/>
                <a:ea typeface="方正粗黑宋简体" pitchFamily="2" charset="-122"/>
              </a:rPr>
              <a:t>表示负数</a:t>
            </a:r>
            <a:endParaRPr lang="zh-CN" altLang="en-US" sz="1400" dirty="0"/>
          </a:p>
        </p:txBody>
      </p:sp>
      <p:grpSp>
        <p:nvGrpSpPr>
          <p:cNvPr id="5" name="组合 61"/>
          <p:cNvGrpSpPr/>
          <p:nvPr/>
        </p:nvGrpSpPr>
        <p:grpSpPr>
          <a:xfrm>
            <a:off x="752186" y="3010056"/>
            <a:ext cx="4604440" cy="338554"/>
            <a:chOff x="999836" y="2254492"/>
            <a:chExt cx="4604440" cy="376171"/>
          </a:xfrm>
        </p:grpSpPr>
        <p:sp>
          <p:nvSpPr>
            <p:cNvPr id="63" name="Rectangle 14"/>
            <p:cNvSpPr>
              <a:spLocks noChangeArrowheads="1"/>
            </p:cNvSpPr>
            <p:nvPr/>
          </p:nvSpPr>
          <p:spPr bwMode="auto">
            <a:xfrm>
              <a:off x="1019176" y="2254492"/>
              <a:ext cx="4585100" cy="376171"/>
            </a:xfrm>
            <a:prstGeom prst="rect">
              <a:avLst/>
            </a:prstGeom>
            <a:noFill/>
            <a:ln w="9525">
              <a:noFill/>
              <a:miter lim="800000"/>
              <a:headEnd/>
              <a:tailEnd/>
            </a:ln>
          </p:spPr>
          <p:txBody>
            <a:bodyPr wrap="square" anchor="ctr">
              <a:spAutoFit/>
            </a:bodyPr>
            <a:lstStyle/>
            <a:p>
              <a:pPr>
                <a:spcBef>
                  <a:spcPct val="50000"/>
                </a:spcBef>
              </a:pPr>
              <a:r>
                <a:rPr lang="zh-CN" altLang="en-US" sz="1600" dirty="0">
                  <a:solidFill>
                    <a:srgbClr val="336699"/>
                  </a:solidFill>
                  <a:latin typeface="黑体" panose="02010609060101010101" pitchFamily="49" charset="-122"/>
                  <a:ea typeface="黑体" panose="02010609060101010101" pitchFamily="49" charset="-122"/>
                </a:rPr>
                <a:t>   </a:t>
              </a:r>
              <a:r>
                <a:rPr lang="zh-CN" altLang="en-US" sz="1600" dirty="0">
                  <a:solidFill>
                    <a:srgbClr val="6600FF"/>
                  </a:solidFill>
                  <a:latin typeface="方正粗黑宋简体" pitchFamily="2" charset="-122"/>
                  <a:ea typeface="方正粗黑宋简体" pitchFamily="2" charset="-122"/>
                </a:rPr>
                <a:t>正数</a:t>
              </a:r>
              <a:r>
                <a:rPr lang="zh-CN" altLang="en-US" sz="1600" dirty="0">
                  <a:solidFill>
                    <a:srgbClr val="336699"/>
                  </a:solidFill>
                  <a:latin typeface="黑体" panose="02010609060101010101" pitchFamily="49" charset="-122"/>
                  <a:ea typeface="黑体" panose="02010609060101010101" pitchFamily="49" charset="-122"/>
                </a:rPr>
                <a:t>的</a:t>
              </a:r>
              <a:r>
                <a:rPr lang="zh-CN" altLang="en-US" sz="1600" dirty="0">
                  <a:solidFill>
                    <a:srgbClr val="6600FF"/>
                  </a:solidFill>
                  <a:latin typeface="方正粗黑宋简体" pitchFamily="2" charset="-122"/>
                  <a:ea typeface="方正粗黑宋简体" pitchFamily="2" charset="-122"/>
                </a:rPr>
                <a:t>原码、反码、补码</a:t>
              </a:r>
              <a:r>
                <a:rPr lang="zh-CN" altLang="en-US" sz="1600" dirty="0">
                  <a:latin typeface="黑体" panose="02010609060101010101" pitchFamily="49" charset="-122"/>
                  <a:ea typeface="黑体" panose="02010609060101010101" pitchFamily="49" charset="-122"/>
                </a:rPr>
                <a:t>三种形式完全相同。</a:t>
              </a:r>
            </a:p>
          </p:txBody>
        </p:sp>
        <p:pic>
          <p:nvPicPr>
            <p:cNvPr id="64"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999836" y="2286013"/>
              <a:ext cx="321323" cy="277564"/>
            </a:xfrm>
            <a:prstGeom prst="rect">
              <a:avLst/>
            </a:prstGeom>
            <a:noFill/>
            <a:ln w="9525">
              <a:noFill/>
              <a:miter lim="800000"/>
              <a:headEnd/>
              <a:tailEnd/>
            </a:ln>
          </p:spPr>
        </p:pic>
      </p:grpSp>
      <p:grpSp>
        <p:nvGrpSpPr>
          <p:cNvPr id="6" name="组合 66"/>
          <p:cNvGrpSpPr/>
          <p:nvPr/>
        </p:nvGrpSpPr>
        <p:grpSpPr>
          <a:xfrm>
            <a:off x="752186" y="3360771"/>
            <a:ext cx="6918614" cy="338554"/>
            <a:chOff x="999836" y="2254492"/>
            <a:chExt cx="6918614" cy="376171"/>
          </a:xfrm>
        </p:grpSpPr>
        <p:sp>
          <p:nvSpPr>
            <p:cNvPr id="68" name="Rectangle 14"/>
            <p:cNvSpPr>
              <a:spLocks noChangeArrowheads="1"/>
            </p:cNvSpPr>
            <p:nvPr/>
          </p:nvSpPr>
          <p:spPr bwMode="auto">
            <a:xfrm>
              <a:off x="1019175" y="2254492"/>
              <a:ext cx="6899275" cy="376171"/>
            </a:xfrm>
            <a:prstGeom prst="rect">
              <a:avLst/>
            </a:prstGeom>
            <a:noFill/>
            <a:ln w="9525">
              <a:noFill/>
              <a:miter lim="800000"/>
              <a:headEnd/>
              <a:tailEnd/>
            </a:ln>
          </p:spPr>
          <p:txBody>
            <a:bodyPr wrap="square" anchor="ctr">
              <a:spAutoFit/>
            </a:bodyPr>
            <a:lstStyle/>
            <a:p>
              <a:pPr>
                <a:spcBef>
                  <a:spcPct val="50000"/>
                </a:spcBef>
              </a:pPr>
              <a:r>
                <a:rPr lang="zh-CN" altLang="en-US" sz="1600" dirty="0">
                  <a:solidFill>
                    <a:srgbClr val="336699"/>
                  </a:solidFill>
                  <a:latin typeface="黑体" panose="02010609060101010101" pitchFamily="49" charset="-122"/>
                  <a:ea typeface="黑体" panose="02010609060101010101" pitchFamily="49" charset="-122"/>
                </a:rPr>
                <a:t>   </a:t>
              </a:r>
              <a:r>
                <a:rPr lang="zh-CN" altLang="en-US" sz="1600" dirty="0">
                  <a:solidFill>
                    <a:srgbClr val="6600FF"/>
                  </a:solidFill>
                  <a:latin typeface="方正粗黑宋简体" pitchFamily="2" charset="-122"/>
                  <a:ea typeface="方正粗黑宋简体" pitchFamily="2" charset="-122"/>
                </a:rPr>
                <a:t>负数</a:t>
              </a:r>
              <a:r>
                <a:rPr lang="zh-CN" altLang="en-US" sz="1600" dirty="0">
                  <a:solidFill>
                    <a:srgbClr val="336699"/>
                  </a:solidFill>
                  <a:latin typeface="黑体" panose="02010609060101010101" pitchFamily="49" charset="-122"/>
                  <a:ea typeface="黑体" panose="02010609060101010101" pitchFamily="49" charset="-122"/>
                </a:rPr>
                <a:t>的</a:t>
              </a:r>
              <a:r>
                <a:rPr lang="zh-CN" altLang="en-US" sz="1600" dirty="0">
                  <a:solidFill>
                    <a:srgbClr val="6600FF"/>
                  </a:solidFill>
                  <a:latin typeface="方正粗黑宋简体" pitchFamily="2" charset="-122"/>
                  <a:ea typeface="方正粗黑宋简体" pitchFamily="2" charset="-122"/>
                </a:rPr>
                <a:t>反码</a:t>
              </a:r>
              <a:r>
                <a:rPr lang="zh-CN" altLang="en-US" sz="1600" dirty="0">
                  <a:solidFill>
                    <a:srgbClr val="336699"/>
                  </a:solidFill>
                  <a:latin typeface="黑体" panose="02010609060101010101" pitchFamily="49" charset="-122"/>
                  <a:ea typeface="黑体" panose="02010609060101010101" pitchFamily="49" charset="-122"/>
                </a:rPr>
                <a:t>是保留</a:t>
              </a:r>
              <a:r>
                <a:rPr lang="zh-CN" altLang="en-US" sz="1600" dirty="0">
                  <a:solidFill>
                    <a:srgbClr val="CC00CC"/>
                  </a:solidFill>
                  <a:latin typeface="黑体" panose="02010609060101010101" pitchFamily="49" charset="-122"/>
                  <a:ea typeface="黑体" panose="02010609060101010101" pitchFamily="49" charset="-122"/>
                </a:rPr>
                <a:t>原码最高的符号位“</a:t>
              </a:r>
              <a:r>
                <a:rPr lang="en-US" altLang="zh-CN" sz="1600" dirty="0">
                  <a:solidFill>
                    <a:srgbClr val="CC00CC"/>
                  </a:solidFill>
                  <a:latin typeface="黑体" panose="02010609060101010101" pitchFamily="49" charset="-122"/>
                  <a:ea typeface="黑体" panose="02010609060101010101" pitchFamily="49" charset="-122"/>
                </a:rPr>
                <a:t>1”</a:t>
              </a:r>
              <a:r>
                <a:rPr lang="zh-CN" altLang="en-US" sz="1600" dirty="0">
                  <a:solidFill>
                    <a:srgbClr val="336699"/>
                  </a:solidFill>
                  <a:latin typeface="黑体" panose="02010609060101010101" pitchFamily="49" charset="-122"/>
                  <a:ea typeface="黑体" panose="02010609060101010101" pitchFamily="49" charset="-122"/>
                </a:rPr>
                <a:t>，将</a:t>
              </a:r>
              <a:r>
                <a:rPr lang="zh-CN" altLang="en-US" sz="1600" dirty="0">
                  <a:solidFill>
                    <a:srgbClr val="CC00CC"/>
                  </a:solidFill>
                  <a:latin typeface="黑体" panose="02010609060101010101" pitchFamily="49" charset="-122"/>
                  <a:ea typeface="黑体" panose="02010609060101010101" pitchFamily="49" charset="-122"/>
                </a:rPr>
                <a:t>其余数值位逐位取反</a:t>
              </a:r>
              <a:r>
                <a:rPr lang="zh-CN" altLang="en-US" sz="1600" dirty="0">
                  <a:solidFill>
                    <a:srgbClr val="336699"/>
                  </a:solidFill>
                  <a:latin typeface="黑体" panose="02010609060101010101" pitchFamily="49" charset="-122"/>
                  <a:ea typeface="黑体" panose="02010609060101010101" pitchFamily="49" charset="-122"/>
                </a:rPr>
                <a:t>。</a:t>
              </a:r>
            </a:p>
          </p:txBody>
        </p:sp>
        <p:pic>
          <p:nvPicPr>
            <p:cNvPr id="69"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999836" y="2286013"/>
              <a:ext cx="321323" cy="277564"/>
            </a:xfrm>
            <a:prstGeom prst="rect">
              <a:avLst/>
            </a:prstGeom>
            <a:noFill/>
            <a:ln w="9525">
              <a:noFill/>
              <a:miter lim="800000"/>
              <a:headEnd/>
              <a:tailEnd/>
            </a:ln>
          </p:spPr>
        </p:pic>
      </p:grpSp>
      <p:grpSp>
        <p:nvGrpSpPr>
          <p:cNvPr id="7" name="组合 70"/>
          <p:cNvGrpSpPr/>
          <p:nvPr/>
        </p:nvGrpSpPr>
        <p:grpSpPr>
          <a:xfrm>
            <a:off x="739486" y="3735386"/>
            <a:ext cx="6918614" cy="338554"/>
            <a:chOff x="999836" y="2254492"/>
            <a:chExt cx="6918614" cy="376171"/>
          </a:xfrm>
        </p:grpSpPr>
        <p:sp>
          <p:nvSpPr>
            <p:cNvPr id="72" name="Rectangle 14"/>
            <p:cNvSpPr>
              <a:spLocks noChangeArrowheads="1"/>
            </p:cNvSpPr>
            <p:nvPr/>
          </p:nvSpPr>
          <p:spPr bwMode="auto">
            <a:xfrm>
              <a:off x="1019175" y="2254492"/>
              <a:ext cx="6899275" cy="376171"/>
            </a:xfrm>
            <a:prstGeom prst="rect">
              <a:avLst/>
            </a:prstGeom>
            <a:noFill/>
            <a:ln w="9525">
              <a:noFill/>
              <a:miter lim="800000"/>
              <a:headEnd/>
              <a:tailEnd/>
            </a:ln>
          </p:spPr>
          <p:txBody>
            <a:bodyPr wrap="square" anchor="ctr">
              <a:spAutoFit/>
            </a:bodyPr>
            <a:lstStyle/>
            <a:p>
              <a:pPr>
                <a:spcBef>
                  <a:spcPct val="50000"/>
                </a:spcBef>
              </a:pPr>
              <a:r>
                <a:rPr lang="zh-CN" altLang="en-US" sz="1600" dirty="0">
                  <a:solidFill>
                    <a:srgbClr val="336699"/>
                  </a:solidFill>
                  <a:latin typeface="黑体" panose="02010609060101010101" pitchFamily="49" charset="-122"/>
                  <a:ea typeface="黑体" panose="02010609060101010101" pitchFamily="49" charset="-122"/>
                </a:rPr>
                <a:t>   </a:t>
              </a:r>
              <a:r>
                <a:rPr lang="zh-CN" altLang="en-US" sz="1600" dirty="0">
                  <a:solidFill>
                    <a:srgbClr val="6600FF"/>
                  </a:solidFill>
                  <a:latin typeface="方正粗黑宋简体" pitchFamily="2" charset="-122"/>
                  <a:ea typeface="方正粗黑宋简体" pitchFamily="2" charset="-122"/>
                </a:rPr>
                <a:t>负数</a:t>
              </a:r>
              <a:r>
                <a:rPr lang="zh-CN" altLang="en-US" sz="1600" dirty="0">
                  <a:solidFill>
                    <a:srgbClr val="336699"/>
                  </a:solidFill>
                  <a:latin typeface="黑体" panose="02010609060101010101" pitchFamily="49" charset="-122"/>
                  <a:ea typeface="黑体" panose="02010609060101010101" pitchFamily="49" charset="-122"/>
                </a:rPr>
                <a:t>的</a:t>
              </a:r>
              <a:r>
                <a:rPr lang="zh-CN" altLang="en-US" sz="1600" dirty="0">
                  <a:solidFill>
                    <a:srgbClr val="6600FF"/>
                  </a:solidFill>
                  <a:latin typeface="方正粗黑宋简体" pitchFamily="2" charset="-122"/>
                  <a:ea typeface="方正粗黑宋简体" pitchFamily="2" charset="-122"/>
                </a:rPr>
                <a:t>补码</a:t>
              </a:r>
              <a:r>
                <a:rPr lang="zh-CN" altLang="en-US" sz="1600" dirty="0">
                  <a:solidFill>
                    <a:srgbClr val="336699"/>
                  </a:solidFill>
                  <a:latin typeface="黑体" panose="02010609060101010101" pitchFamily="49" charset="-122"/>
                  <a:ea typeface="黑体" panose="02010609060101010101" pitchFamily="49" charset="-122"/>
                </a:rPr>
                <a:t>为该负数</a:t>
              </a:r>
              <a:r>
                <a:rPr lang="zh-CN" altLang="en-US" sz="1600" dirty="0">
                  <a:solidFill>
                    <a:srgbClr val="CC00CC"/>
                  </a:solidFill>
                  <a:latin typeface="黑体" panose="02010609060101010101" pitchFamily="49" charset="-122"/>
                  <a:ea typeface="黑体" panose="02010609060101010101" pitchFamily="49" charset="-122"/>
                </a:rPr>
                <a:t>反码加“</a:t>
              </a:r>
              <a:r>
                <a:rPr lang="en-US" altLang="zh-CN" sz="1600" dirty="0">
                  <a:solidFill>
                    <a:srgbClr val="CC00CC"/>
                  </a:solidFill>
                  <a:latin typeface="黑体" panose="02010609060101010101" pitchFamily="49" charset="-122"/>
                  <a:ea typeface="黑体" panose="02010609060101010101" pitchFamily="49" charset="-122"/>
                </a:rPr>
                <a:t>1</a:t>
              </a:r>
              <a:r>
                <a:rPr lang="zh-CN" altLang="en-US" sz="1600" dirty="0">
                  <a:solidFill>
                    <a:srgbClr val="CC00CC"/>
                  </a:solidFill>
                  <a:latin typeface="黑体" panose="02010609060101010101" pitchFamily="49" charset="-122"/>
                  <a:ea typeface="黑体" panose="02010609060101010101" pitchFamily="49" charset="-122"/>
                </a:rPr>
                <a:t>”</a:t>
              </a:r>
              <a:r>
                <a:rPr lang="zh-CN" altLang="en-US" sz="1600" dirty="0">
                  <a:solidFill>
                    <a:srgbClr val="336699"/>
                  </a:solidFill>
                  <a:latin typeface="黑体" panose="02010609060101010101" pitchFamily="49" charset="-122"/>
                  <a:ea typeface="黑体" panose="02010609060101010101" pitchFamily="49" charset="-122"/>
                </a:rPr>
                <a:t>。</a:t>
              </a:r>
            </a:p>
          </p:txBody>
        </p:sp>
        <p:pic>
          <p:nvPicPr>
            <p:cNvPr id="73"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999836" y="2286013"/>
              <a:ext cx="321323" cy="277564"/>
            </a:xfrm>
            <a:prstGeom prst="rect">
              <a:avLst/>
            </a:prstGeom>
            <a:noFill/>
            <a:ln w="9525">
              <a:noFill/>
              <a:miter lim="800000"/>
              <a:headEnd/>
              <a:tailEnd/>
            </a:ln>
          </p:spPr>
        </p:pic>
      </p:grpSp>
      <p:grpSp>
        <p:nvGrpSpPr>
          <p:cNvPr id="9" name="组合 8">
            <a:extLst>
              <a:ext uri="{FF2B5EF4-FFF2-40B4-BE49-F238E27FC236}">
                <a16:creationId xmlns:a16="http://schemas.microsoft.com/office/drawing/2014/main" xmlns="" id="{56FF79A5-4765-4F48-A050-2BBAFE862F16}"/>
              </a:ext>
            </a:extLst>
          </p:cNvPr>
          <p:cNvGrpSpPr/>
          <p:nvPr/>
        </p:nvGrpSpPr>
        <p:grpSpPr>
          <a:xfrm>
            <a:off x="4208462" y="4046020"/>
            <a:ext cx="4805362" cy="634523"/>
            <a:chOff x="4208462" y="4220520"/>
            <a:chExt cx="4805362" cy="634523"/>
          </a:xfrm>
        </p:grpSpPr>
        <p:sp>
          <p:nvSpPr>
            <p:cNvPr id="74" name="Rectangle 8"/>
            <p:cNvSpPr>
              <a:spLocks noChangeArrowheads="1"/>
            </p:cNvSpPr>
            <p:nvPr/>
          </p:nvSpPr>
          <p:spPr bwMode="auto">
            <a:xfrm>
              <a:off x="4208462" y="4220520"/>
              <a:ext cx="4805362" cy="400110"/>
            </a:xfrm>
            <a:prstGeom prst="rect">
              <a:avLst/>
            </a:prstGeom>
            <a:noFill/>
            <a:ln w="9525" algn="ctr">
              <a:noFill/>
              <a:miter lim="800000"/>
              <a:headEnd/>
              <a:tailEnd/>
            </a:ln>
          </p:spPr>
          <p:txBody>
            <a:bodyPr wrap="square" lIns="0" rIns="0">
              <a:spAutoFit/>
            </a:bodyPr>
            <a:lstStyle/>
            <a:p>
              <a:pPr>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zh-CN" altLang="en-US" sz="1600" baseline="-250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FF0000"/>
                  </a:solidFill>
                  <a:latin typeface="方正粗黑宋简体" pitchFamily="2" charset="-122"/>
                  <a:ea typeface="方正粗黑宋简体" pitchFamily="2" charset="-122"/>
                </a:rPr>
                <a:t> </a:t>
              </a:r>
              <a:r>
                <a:rPr kumimoji="1" lang="en-US" altLang="zh-CN" sz="1600" dirty="0">
                  <a:solidFill>
                    <a:srgbClr val="000000"/>
                  </a:solidFill>
                  <a:latin typeface="方正粗黑宋简体" pitchFamily="2" charset="-122"/>
                  <a:ea typeface="方正粗黑宋简体" pitchFamily="2" charset="-122"/>
                </a:rPr>
                <a:t>101)</a:t>
              </a:r>
              <a:r>
                <a:rPr kumimoji="1" lang="zh-CN" altLang="en-US" sz="1600" baseline="-250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FF0000"/>
                  </a:solidFill>
                  <a:latin typeface="方正粗黑宋简体" pitchFamily="2" charset="-122"/>
                  <a:ea typeface="方正粗黑宋简体" pitchFamily="2" charset="-122"/>
                </a:rPr>
                <a:t> </a:t>
              </a:r>
              <a:r>
                <a:rPr kumimoji="1" lang="en-US" altLang="zh-CN" sz="1600" dirty="0">
                  <a:solidFill>
                    <a:srgbClr val="0000FF"/>
                  </a:solidFill>
                  <a:latin typeface="方正粗黑宋简体" pitchFamily="2" charset="-122"/>
                  <a:ea typeface="方正粗黑宋简体" pitchFamily="2" charset="-122"/>
                </a:rPr>
                <a:t>010</a:t>
              </a:r>
              <a:r>
                <a:rPr kumimoji="1" lang="en-US" altLang="zh-CN" sz="1600" dirty="0">
                  <a:solidFill>
                    <a:srgbClr val="000000"/>
                  </a:solidFill>
                  <a:latin typeface="方正粗黑宋简体" pitchFamily="2" charset="-122"/>
                  <a:ea typeface="方正粗黑宋简体" pitchFamily="2" charset="-122"/>
                </a:rPr>
                <a:t> + </a:t>
              </a:r>
              <a:r>
                <a:rPr kumimoji="1" lang="en-US" altLang="zh-CN" sz="1600" dirty="0">
                  <a:solidFill>
                    <a:srgbClr val="00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C00000"/>
                  </a:solidFill>
                  <a:latin typeface="方正粗黑宋简体" pitchFamily="2" charset="-122"/>
                  <a:ea typeface="方正粗黑宋简体" pitchFamily="2" charset="-122"/>
                </a:rPr>
                <a:t>011</a:t>
              </a:r>
              <a:r>
                <a:rPr kumimoji="1" lang="en-US" altLang="zh-CN" sz="1600" dirty="0">
                  <a:solidFill>
                    <a:srgbClr val="000000"/>
                  </a:solidFill>
                  <a:latin typeface="方正粗黑宋简体" pitchFamily="2" charset="-122"/>
                  <a:ea typeface="方正粗黑宋简体" pitchFamily="2" charset="-122"/>
                </a:rPr>
                <a:t>)</a:t>
              </a:r>
            </a:p>
          </p:txBody>
        </p:sp>
        <p:grpSp>
          <p:nvGrpSpPr>
            <p:cNvPr id="41" name="组合 40">
              <a:extLst>
                <a:ext uri="{FF2B5EF4-FFF2-40B4-BE49-F238E27FC236}">
                  <a16:creationId xmlns:a16="http://schemas.microsoft.com/office/drawing/2014/main" xmlns="" id="{F8FE7CF8-CF3B-4697-BE5E-462714A562A8}"/>
                </a:ext>
              </a:extLst>
            </p:cNvPr>
            <p:cNvGrpSpPr/>
            <p:nvPr/>
          </p:nvGrpSpPr>
          <p:grpSpPr>
            <a:xfrm>
              <a:off x="4436069" y="4564691"/>
              <a:ext cx="1100473" cy="290352"/>
              <a:chOff x="1719509" y="4585267"/>
              <a:chExt cx="1100473" cy="290352"/>
            </a:xfrm>
          </p:grpSpPr>
          <p:cxnSp>
            <p:nvCxnSpPr>
              <p:cNvPr id="42" name="直接连接符 41">
                <a:extLst>
                  <a:ext uri="{FF2B5EF4-FFF2-40B4-BE49-F238E27FC236}">
                    <a16:creationId xmlns:a16="http://schemas.microsoft.com/office/drawing/2014/main" xmlns="" id="{5FD75CF4-3EB4-48DB-B895-EECEA25EC8A0}"/>
                  </a:ext>
                </a:extLst>
              </p:cNvPr>
              <p:cNvCxnSpPr/>
              <p:nvPr/>
            </p:nvCxnSpPr>
            <p:spPr>
              <a:xfrm>
                <a:off x="2297229" y="4585267"/>
                <a:ext cx="52275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xmlns="" id="{85279B76-5F80-4812-88F0-FC4418C752A8}"/>
                  </a:ext>
                </a:extLst>
              </p:cNvPr>
              <p:cNvSpPr txBox="1"/>
              <p:nvPr/>
            </p:nvSpPr>
            <p:spPr>
              <a:xfrm>
                <a:off x="1719509" y="4660175"/>
                <a:ext cx="576782" cy="215444"/>
              </a:xfrm>
              <a:prstGeom prst="rect">
                <a:avLst/>
              </a:prstGeom>
              <a:noFill/>
            </p:spPr>
            <p:txBody>
              <a:bodyPr wrap="square" lIns="0" tIns="0" rIns="0" bIns="0">
                <a:spAutoFit/>
              </a:bodyPr>
              <a:lstStyle/>
              <a:p>
                <a:pPr algn="ctr"/>
                <a:r>
                  <a:rPr lang="zh-CN" altLang="en-US" sz="1400" b="1" dirty="0">
                    <a:solidFill>
                      <a:srgbClr val="002060"/>
                    </a:solidFill>
                    <a:latin typeface="黑体" panose="02010609060101010101" pitchFamily="49" charset="-122"/>
                    <a:ea typeface="黑体" panose="02010609060101010101" pitchFamily="49" charset="-122"/>
                  </a:rPr>
                  <a:t>原码</a:t>
                </a:r>
              </a:p>
            </p:txBody>
          </p:sp>
          <p:cxnSp>
            <p:nvCxnSpPr>
              <p:cNvPr id="44" name="直接连接符 43">
                <a:extLst>
                  <a:ext uri="{FF2B5EF4-FFF2-40B4-BE49-F238E27FC236}">
                    <a16:creationId xmlns:a16="http://schemas.microsoft.com/office/drawing/2014/main" xmlns="" id="{A9052F80-4F3D-4864-A9DC-7AD6C3543AE5}"/>
                  </a:ext>
                </a:extLst>
              </p:cNvPr>
              <p:cNvCxnSpPr>
                <a:cxnSpLocks/>
              </p:cNvCxnSpPr>
              <p:nvPr/>
            </p:nvCxnSpPr>
            <p:spPr>
              <a:xfrm flipH="1">
                <a:off x="2204851" y="4585730"/>
                <a:ext cx="353755" cy="23558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5" name="组合 44">
              <a:extLst>
                <a:ext uri="{FF2B5EF4-FFF2-40B4-BE49-F238E27FC236}">
                  <a16:creationId xmlns:a16="http://schemas.microsoft.com/office/drawing/2014/main" xmlns="" id="{8D4C500B-34D6-4C81-B4FE-7A2994FF4A6A}"/>
                </a:ext>
              </a:extLst>
            </p:cNvPr>
            <p:cNvGrpSpPr/>
            <p:nvPr/>
          </p:nvGrpSpPr>
          <p:grpSpPr>
            <a:xfrm>
              <a:off x="5455685" y="4564691"/>
              <a:ext cx="1092853" cy="290352"/>
              <a:chOff x="1727129" y="4585267"/>
              <a:chExt cx="1092853" cy="290352"/>
            </a:xfrm>
          </p:grpSpPr>
          <p:cxnSp>
            <p:nvCxnSpPr>
              <p:cNvPr id="47" name="直接连接符 46">
                <a:extLst>
                  <a:ext uri="{FF2B5EF4-FFF2-40B4-BE49-F238E27FC236}">
                    <a16:creationId xmlns:a16="http://schemas.microsoft.com/office/drawing/2014/main" xmlns="" id="{C907380D-318C-48C2-AEDC-9C0AC2679B45}"/>
                  </a:ext>
                </a:extLst>
              </p:cNvPr>
              <p:cNvCxnSpPr/>
              <p:nvPr/>
            </p:nvCxnSpPr>
            <p:spPr>
              <a:xfrm>
                <a:off x="2297229" y="4585267"/>
                <a:ext cx="52275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xmlns="" id="{BB214EDE-03B7-4626-9EB4-8B4E373E5D13}"/>
                  </a:ext>
                </a:extLst>
              </p:cNvPr>
              <p:cNvSpPr txBox="1"/>
              <p:nvPr/>
            </p:nvSpPr>
            <p:spPr>
              <a:xfrm>
                <a:off x="1727129" y="4660175"/>
                <a:ext cx="576782" cy="215444"/>
              </a:xfrm>
              <a:prstGeom prst="rect">
                <a:avLst/>
              </a:prstGeom>
              <a:noFill/>
            </p:spPr>
            <p:txBody>
              <a:bodyPr wrap="square" lIns="0" tIns="0" rIns="0" bIns="0">
                <a:spAutoFit/>
              </a:bodyPr>
              <a:lstStyle/>
              <a:p>
                <a:pPr algn="ctr"/>
                <a:r>
                  <a:rPr lang="zh-CN" altLang="en-US" sz="1400" b="1" dirty="0">
                    <a:solidFill>
                      <a:srgbClr val="002060"/>
                    </a:solidFill>
                    <a:latin typeface="黑体" panose="02010609060101010101" pitchFamily="49" charset="-122"/>
                    <a:ea typeface="黑体" panose="02010609060101010101" pitchFamily="49" charset="-122"/>
                  </a:rPr>
                  <a:t>反码</a:t>
                </a:r>
              </a:p>
            </p:txBody>
          </p:sp>
          <p:cxnSp>
            <p:nvCxnSpPr>
              <p:cNvPr id="49" name="直接连接符 48">
                <a:extLst>
                  <a:ext uri="{FF2B5EF4-FFF2-40B4-BE49-F238E27FC236}">
                    <a16:creationId xmlns:a16="http://schemas.microsoft.com/office/drawing/2014/main" xmlns="" id="{9145214B-1332-40EC-B058-E7053DC1E05A}"/>
                  </a:ext>
                </a:extLst>
              </p:cNvPr>
              <p:cNvCxnSpPr>
                <a:cxnSpLocks/>
              </p:cNvCxnSpPr>
              <p:nvPr/>
            </p:nvCxnSpPr>
            <p:spPr>
              <a:xfrm flipH="1">
                <a:off x="2204851" y="4585730"/>
                <a:ext cx="353755" cy="23558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xmlns="" id="{05E5E85D-654D-450E-92EB-EB27A1654FB1}"/>
                </a:ext>
              </a:extLst>
            </p:cNvPr>
            <p:cNvGrpSpPr/>
            <p:nvPr/>
          </p:nvGrpSpPr>
          <p:grpSpPr>
            <a:xfrm>
              <a:off x="6653913" y="4564691"/>
              <a:ext cx="1108093" cy="290352"/>
              <a:chOff x="1711889" y="4585267"/>
              <a:chExt cx="1108093" cy="290352"/>
            </a:xfrm>
          </p:grpSpPr>
          <p:cxnSp>
            <p:nvCxnSpPr>
              <p:cNvPr id="55" name="直接连接符 54">
                <a:extLst>
                  <a:ext uri="{FF2B5EF4-FFF2-40B4-BE49-F238E27FC236}">
                    <a16:creationId xmlns:a16="http://schemas.microsoft.com/office/drawing/2014/main" xmlns="" id="{718A880C-32BE-4BF1-9FF3-2FAE1A7B3EB4}"/>
                  </a:ext>
                </a:extLst>
              </p:cNvPr>
              <p:cNvCxnSpPr/>
              <p:nvPr/>
            </p:nvCxnSpPr>
            <p:spPr>
              <a:xfrm>
                <a:off x="2297229" y="4585267"/>
                <a:ext cx="52275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xmlns="" id="{050CBCF4-A71E-43A4-AB0E-A34073A16610}"/>
                  </a:ext>
                </a:extLst>
              </p:cNvPr>
              <p:cNvSpPr txBox="1"/>
              <p:nvPr/>
            </p:nvSpPr>
            <p:spPr>
              <a:xfrm>
                <a:off x="1711889" y="4660175"/>
                <a:ext cx="576782" cy="215444"/>
              </a:xfrm>
              <a:prstGeom prst="rect">
                <a:avLst/>
              </a:prstGeom>
              <a:noFill/>
            </p:spPr>
            <p:txBody>
              <a:bodyPr wrap="square" lIns="0" tIns="0" rIns="0" bIns="0">
                <a:spAutoFit/>
              </a:bodyPr>
              <a:lstStyle/>
              <a:p>
                <a:pPr algn="ctr"/>
                <a:r>
                  <a:rPr lang="zh-CN" altLang="en-US" sz="1400" b="1" dirty="0">
                    <a:solidFill>
                      <a:srgbClr val="002060"/>
                    </a:solidFill>
                    <a:latin typeface="黑体" panose="02010609060101010101" pitchFamily="49" charset="-122"/>
                    <a:ea typeface="黑体" panose="02010609060101010101" pitchFamily="49" charset="-122"/>
                  </a:rPr>
                  <a:t>补码</a:t>
                </a:r>
              </a:p>
            </p:txBody>
          </p:sp>
          <p:cxnSp>
            <p:nvCxnSpPr>
              <p:cNvPr id="62" name="直接连接符 61">
                <a:extLst>
                  <a:ext uri="{FF2B5EF4-FFF2-40B4-BE49-F238E27FC236}">
                    <a16:creationId xmlns:a16="http://schemas.microsoft.com/office/drawing/2014/main" xmlns="" id="{75807188-AD6B-421B-BD8B-6523A032ACE8}"/>
                  </a:ext>
                </a:extLst>
              </p:cNvPr>
              <p:cNvCxnSpPr>
                <a:cxnSpLocks/>
              </p:cNvCxnSpPr>
              <p:nvPr/>
            </p:nvCxnSpPr>
            <p:spPr>
              <a:xfrm flipH="1">
                <a:off x="2204851" y="4585730"/>
                <a:ext cx="353755" cy="235582"/>
              </a:xfrm>
              <a:prstGeom prst="line">
                <a:avLst/>
              </a:prstGeom>
              <a:ln w="28575"/>
            </p:spPr>
            <p:style>
              <a:lnRef idx="1">
                <a:schemeClr val="accent1"/>
              </a:lnRef>
              <a:fillRef idx="0">
                <a:schemeClr val="accent1"/>
              </a:fillRef>
              <a:effectRef idx="0">
                <a:schemeClr val="accent1"/>
              </a:effectRef>
              <a:fontRef idx="minor">
                <a:schemeClr val="tx1"/>
              </a:fontRef>
            </p:style>
          </p:cxnSp>
        </p:grpSp>
      </p:grpSp>
      <p:grpSp>
        <p:nvGrpSpPr>
          <p:cNvPr id="11" name="组合 10">
            <a:extLst>
              <a:ext uri="{FF2B5EF4-FFF2-40B4-BE49-F238E27FC236}">
                <a16:creationId xmlns:a16="http://schemas.microsoft.com/office/drawing/2014/main" xmlns="" id="{112C93A1-FC5D-419A-AFCA-24CBB4835DEC}"/>
              </a:ext>
            </a:extLst>
          </p:cNvPr>
          <p:cNvGrpSpPr/>
          <p:nvPr/>
        </p:nvGrpSpPr>
        <p:grpSpPr>
          <a:xfrm>
            <a:off x="1460968" y="4092123"/>
            <a:ext cx="2454898" cy="623320"/>
            <a:chOff x="1460968" y="4231723"/>
            <a:chExt cx="2454898" cy="623320"/>
          </a:xfrm>
        </p:grpSpPr>
        <p:sp>
          <p:nvSpPr>
            <p:cNvPr id="70" name="Rectangle 6"/>
            <p:cNvSpPr>
              <a:spLocks noChangeArrowheads="1"/>
            </p:cNvSpPr>
            <p:nvPr/>
          </p:nvSpPr>
          <p:spPr bwMode="auto">
            <a:xfrm>
              <a:off x="1460968" y="4231723"/>
              <a:ext cx="2454898" cy="382349"/>
            </a:xfrm>
            <a:prstGeom prst="rect">
              <a:avLst/>
            </a:prstGeom>
            <a:noFill/>
            <a:ln w="9525" algn="ctr">
              <a:noFill/>
              <a:miter lim="800000"/>
              <a:headEnd/>
              <a:tailEnd/>
            </a:ln>
          </p:spPr>
          <p:txBody>
            <a:bodyPr wrap="square" lIns="0" rIns="0">
              <a:spAutoFit/>
            </a:bodyPr>
            <a:lstStyle/>
            <a:p>
              <a:pPr>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zh-CN" altLang="en-US" sz="1600" baseline="-25000" dirty="0">
                  <a:solidFill>
                    <a:srgbClr val="000000"/>
                  </a:solidFill>
                  <a:latin typeface="方正粗黑宋简体" pitchFamily="2" charset="-122"/>
                  <a:ea typeface="方正粗黑宋简体" pitchFamily="2" charset="-122"/>
                </a:rPr>
                <a:t>反</a:t>
              </a: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101)</a:t>
              </a:r>
              <a:r>
                <a:rPr kumimoji="1" lang="zh-CN" altLang="en-US" sz="1600" baseline="-25000" dirty="0">
                  <a:solidFill>
                    <a:srgbClr val="000000"/>
                  </a:solidFill>
                  <a:latin typeface="方正粗黑宋简体" pitchFamily="2" charset="-122"/>
                  <a:ea typeface="方正粗黑宋简体" pitchFamily="2" charset="-122"/>
                </a:rPr>
                <a:t>反</a:t>
              </a: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CC00CC"/>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0000FF"/>
                  </a:solidFill>
                  <a:latin typeface="方正粗黑宋简体" pitchFamily="2" charset="-122"/>
                  <a:ea typeface="方正粗黑宋简体" pitchFamily="2" charset="-122"/>
                </a:rPr>
                <a:t>010</a:t>
              </a:r>
              <a:r>
                <a:rPr kumimoji="1" lang="en-US" altLang="zh-CN" sz="1600" dirty="0">
                  <a:solidFill>
                    <a:srgbClr val="000000"/>
                  </a:solidFill>
                  <a:latin typeface="方正粗黑宋简体" pitchFamily="2" charset="-122"/>
                  <a:ea typeface="方正粗黑宋简体" pitchFamily="2" charset="-122"/>
                </a:rPr>
                <a:t>)</a:t>
              </a:r>
              <a:endParaRPr kumimoji="1" lang="zh-CN" altLang="en-US" sz="1600" dirty="0">
                <a:solidFill>
                  <a:srgbClr val="000000"/>
                </a:solidFill>
                <a:latin typeface="方正粗黑宋简体" pitchFamily="2" charset="-122"/>
                <a:ea typeface="方正粗黑宋简体" pitchFamily="2" charset="-122"/>
              </a:endParaRPr>
            </a:p>
          </p:txBody>
        </p:sp>
        <p:grpSp>
          <p:nvGrpSpPr>
            <p:cNvPr id="8" name="组合 7">
              <a:extLst>
                <a:ext uri="{FF2B5EF4-FFF2-40B4-BE49-F238E27FC236}">
                  <a16:creationId xmlns:a16="http://schemas.microsoft.com/office/drawing/2014/main" xmlns="" id="{658686FE-2177-441B-9A0E-1CEE2D7A2D4A}"/>
                </a:ext>
              </a:extLst>
            </p:cNvPr>
            <p:cNvGrpSpPr/>
            <p:nvPr/>
          </p:nvGrpSpPr>
          <p:grpSpPr>
            <a:xfrm>
              <a:off x="1711889" y="4564691"/>
              <a:ext cx="2033170" cy="290352"/>
              <a:chOff x="1711889" y="4564691"/>
              <a:chExt cx="2033170" cy="290352"/>
            </a:xfrm>
          </p:grpSpPr>
          <p:grpSp>
            <p:nvGrpSpPr>
              <p:cNvPr id="15" name="组合 14">
                <a:extLst>
                  <a:ext uri="{FF2B5EF4-FFF2-40B4-BE49-F238E27FC236}">
                    <a16:creationId xmlns:a16="http://schemas.microsoft.com/office/drawing/2014/main" xmlns="" id="{71A0F8AA-184C-4C96-9390-1F683041C230}"/>
                  </a:ext>
                </a:extLst>
              </p:cNvPr>
              <p:cNvGrpSpPr/>
              <p:nvPr/>
            </p:nvGrpSpPr>
            <p:grpSpPr>
              <a:xfrm>
                <a:off x="1711889" y="4564691"/>
                <a:ext cx="1108093" cy="290352"/>
                <a:chOff x="1711889" y="4585267"/>
                <a:chExt cx="1108093" cy="290352"/>
              </a:xfrm>
            </p:grpSpPr>
            <p:cxnSp>
              <p:nvCxnSpPr>
                <p:cNvPr id="10" name="直接连接符 9">
                  <a:extLst>
                    <a:ext uri="{FF2B5EF4-FFF2-40B4-BE49-F238E27FC236}">
                      <a16:creationId xmlns:a16="http://schemas.microsoft.com/office/drawing/2014/main" xmlns="" id="{A198A105-5DAC-4A03-A8AF-E337D72479C1}"/>
                    </a:ext>
                  </a:extLst>
                </p:cNvPr>
                <p:cNvCxnSpPr/>
                <p:nvPr/>
              </p:nvCxnSpPr>
              <p:spPr>
                <a:xfrm>
                  <a:off x="2297229" y="4585267"/>
                  <a:ext cx="52275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xmlns="" id="{91137B96-EC2B-4A59-AADB-FC0F43CB24D6}"/>
                    </a:ext>
                  </a:extLst>
                </p:cNvPr>
                <p:cNvSpPr txBox="1"/>
                <p:nvPr/>
              </p:nvSpPr>
              <p:spPr>
                <a:xfrm>
                  <a:off x="1711889" y="4660175"/>
                  <a:ext cx="576782" cy="215444"/>
                </a:xfrm>
                <a:prstGeom prst="rect">
                  <a:avLst/>
                </a:prstGeom>
                <a:noFill/>
              </p:spPr>
              <p:txBody>
                <a:bodyPr wrap="square" lIns="0" tIns="0" rIns="0" bIns="0">
                  <a:spAutoFit/>
                </a:bodyPr>
                <a:lstStyle/>
                <a:p>
                  <a:pPr algn="ctr"/>
                  <a:r>
                    <a:rPr lang="zh-CN" altLang="en-US" sz="1400" b="1" dirty="0">
                      <a:solidFill>
                        <a:srgbClr val="002060"/>
                      </a:solidFill>
                      <a:latin typeface="黑体" panose="02010609060101010101" pitchFamily="49" charset="-122"/>
                      <a:ea typeface="黑体" panose="02010609060101010101" pitchFamily="49" charset="-122"/>
                    </a:rPr>
                    <a:t>原码</a:t>
                  </a:r>
                </a:p>
              </p:txBody>
            </p:sp>
            <p:cxnSp>
              <p:nvCxnSpPr>
                <p:cNvPr id="13" name="直接连接符 12">
                  <a:extLst>
                    <a:ext uri="{FF2B5EF4-FFF2-40B4-BE49-F238E27FC236}">
                      <a16:creationId xmlns:a16="http://schemas.microsoft.com/office/drawing/2014/main" xmlns="" id="{7C81A075-F22A-4212-A29A-C4E6BAAA8155}"/>
                    </a:ext>
                  </a:extLst>
                </p:cNvPr>
                <p:cNvCxnSpPr>
                  <a:cxnSpLocks/>
                </p:cNvCxnSpPr>
                <p:nvPr/>
              </p:nvCxnSpPr>
              <p:spPr>
                <a:xfrm flipH="1">
                  <a:off x="2204851" y="4585730"/>
                  <a:ext cx="353755" cy="235582"/>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xmlns="" id="{2B7477D6-DC87-46D6-8269-8060723DBD2F}"/>
                  </a:ext>
                </a:extLst>
              </p:cNvPr>
              <p:cNvGrpSpPr/>
              <p:nvPr/>
            </p:nvGrpSpPr>
            <p:grpSpPr>
              <a:xfrm>
                <a:off x="2652206" y="4564691"/>
                <a:ext cx="1092853" cy="290352"/>
                <a:chOff x="1727129" y="4585267"/>
                <a:chExt cx="1092853" cy="290352"/>
              </a:xfrm>
            </p:grpSpPr>
            <p:cxnSp>
              <p:nvCxnSpPr>
                <p:cNvPr id="67" name="直接连接符 66">
                  <a:extLst>
                    <a:ext uri="{FF2B5EF4-FFF2-40B4-BE49-F238E27FC236}">
                      <a16:creationId xmlns:a16="http://schemas.microsoft.com/office/drawing/2014/main" xmlns="" id="{5C4ADA83-DE78-470D-9EC4-4C842C480414}"/>
                    </a:ext>
                  </a:extLst>
                </p:cNvPr>
                <p:cNvCxnSpPr/>
                <p:nvPr/>
              </p:nvCxnSpPr>
              <p:spPr>
                <a:xfrm>
                  <a:off x="2297229" y="4585267"/>
                  <a:ext cx="52275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xmlns="" id="{ADF11562-17C5-4E3B-8FF8-F8EB3EDC1A29}"/>
                    </a:ext>
                  </a:extLst>
                </p:cNvPr>
                <p:cNvSpPr txBox="1"/>
                <p:nvPr/>
              </p:nvSpPr>
              <p:spPr>
                <a:xfrm>
                  <a:off x="1727129" y="4660175"/>
                  <a:ext cx="576782" cy="215444"/>
                </a:xfrm>
                <a:prstGeom prst="rect">
                  <a:avLst/>
                </a:prstGeom>
                <a:noFill/>
              </p:spPr>
              <p:txBody>
                <a:bodyPr wrap="square" lIns="0" tIns="0" rIns="0" bIns="0">
                  <a:spAutoFit/>
                </a:bodyPr>
                <a:lstStyle/>
                <a:p>
                  <a:pPr algn="ctr"/>
                  <a:r>
                    <a:rPr lang="zh-CN" altLang="en-US" sz="1400" b="1" dirty="0">
                      <a:solidFill>
                        <a:srgbClr val="002060"/>
                      </a:solidFill>
                      <a:latin typeface="黑体" panose="02010609060101010101" pitchFamily="49" charset="-122"/>
                      <a:ea typeface="黑体" panose="02010609060101010101" pitchFamily="49" charset="-122"/>
                    </a:rPr>
                    <a:t>反码</a:t>
                  </a:r>
                </a:p>
              </p:txBody>
            </p:sp>
            <p:cxnSp>
              <p:nvCxnSpPr>
                <p:cNvPr id="75" name="直接连接符 74">
                  <a:extLst>
                    <a:ext uri="{FF2B5EF4-FFF2-40B4-BE49-F238E27FC236}">
                      <a16:creationId xmlns:a16="http://schemas.microsoft.com/office/drawing/2014/main" xmlns="" id="{C8BE3088-1D6D-48C2-BE0C-EE1B72DDA2DF}"/>
                    </a:ext>
                  </a:extLst>
                </p:cNvPr>
                <p:cNvCxnSpPr>
                  <a:cxnSpLocks/>
                </p:cNvCxnSpPr>
                <p:nvPr/>
              </p:nvCxnSpPr>
              <p:spPr>
                <a:xfrm flipH="1">
                  <a:off x="2204851" y="4585730"/>
                  <a:ext cx="353755" cy="235582"/>
                </a:xfrm>
                <a:prstGeom prst="line">
                  <a:avLst/>
                </a:prstGeom>
                <a:ln w="28575"/>
              </p:spPr>
              <p:style>
                <a:lnRef idx="1">
                  <a:schemeClr val="accent1"/>
                </a:lnRef>
                <a:fillRef idx="0">
                  <a:schemeClr val="accent1"/>
                </a:fillRef>
                <a:effectRef idx="0">
                  <a:schemeClr val="accent1"/>
                </a:effectRef>
                <a:fontRef idx="minor">
                  <a:schemeClr val="tx1"/>
                </a:fontRef>
              </p:style>
            </p:cxnSp>
          </p:grpSp>
        </p:grpSp>
      </p:grpSp>
      <p:grpSp>
        <p:nvGrpSpPr>
          <p:cNvPr id="17" name="组合 16">
            <a:extLst>
              <a:ext uri="{FF2B5EF4-FFF2-40B4-BE49-F238E27FC236}">
                <a16:creationId xmlns:a16="http://schemas.microsoft.com/office/drawing/2014/main" xmlns="" id="{B75A0740-6F72-406E-B177-2C20938F4287}"/>
              </a:ext>
            </a:extLst>
          </p:cNvPr>
          <p:cNvGrpSpPr/>
          <p:nvPr/>
        </p:nvGrpSpPr>
        <p:grpSpPr>
          <a:xfrm>
            <a:off x="6025785" y="2162906"/>
            <a:ext cx="1863879" cy="997902"/>
            <a:chOff x="6025785" y="2354344"/>
            <a:chExt cx="1863879" cy="997902"/>
          </a:xfrm>
        </p:grpSpPr>
        <p:sp>
          <p:nvSpPr>
            <p:cNvPr id="50" name="Rectangle 12"/>
            <p:cNvSpPr>
              <a:spLocks noChangeArrowheads="1"/>
            </p:cNvSpPr>
            <p:nvPr/>
          </p:nvSpPr>
          <p:spPr bwMode="auto">
            <a:xfrm>
              <a:off x="6025785" y="2354344"/>
              <a:ext cx="1863879" cy="997902"/>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zh-CN" altLang="en-US" sz="1600" baseline="-25000" dirty="0">
                  <a:solidFill>
                    <a:srgbClr val="000000"/>
                  </a:solidFill>
                  <a:latin typeface="方正粗黑宋简体" pitchFamily="2" charset="-122"/>
                  <a:ea typeface="方正粗黑宋简体" pitchFamily="2" charset="-122"/>
                </a:rPr>
                <a:t>原</a:t>
              </a:r>
              <a:endParaRPr kumimoji="1" lang="en-US" altLang="zh-CN" sz="1600" dirty="0">
                <a:solidFill>
                  <a:srgbClr val="000000"/>
                </a:solidFill>
                <a:latin typeface="方正粗黑宋简体" pitchFamily="2" charset="-122"/>
                <a:ea typeface="方正粗黑宋简体" pitchFamily="2" charset="-122"/>
              </a:endParaRPr>
            </a:p>
            <a:p>
              <a:pPr>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zh-CN" altLang="en-US" sz="1600" baseline="-25000" dirty="0">
                  <a:solidFill>
                    <a:srgbClr val="000000"/>
                  </a:solidFill>
                  <a:latin typeface="方正粗黑宋简体" pitchFamily="2" charset="-122"/>
                  <a:ea typeface="方正粗黑宋简体" pitchFamily="2" charset="-122"/>
                </a:rPr>
                <a:t>反          </a:t>
              </a:r>
              <a:r>
                <a:rPr kumimoji="1" lang="en-US" altLang="zh-CN" sz="1600" dirty="0">
                  <a:solidFill>
                    <a:srgbClr val="000000"/>
                  </a:solidFill>
                  <a:latin typeface="方正粗黑宋简体" pitchFamily="2" charset="-122"/>
                  <a:ea typeface="方正粗黑宋简体" pitchFamily="2" charset="-122"/>
                </a:rPr>
                <a:t> = </a:t>
              </a:r>
              <a:r>
                <a:rPr kumimoji="1" lang="en-US" altLang="zh-CN" sz="1600" dirty="0">
                  <a:solidFill>
                    <a:srgbClr val="CC00CC"/>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101</a:t>
              </a:r>
            </a:p>
            <a:p>
              <a:pPr>
                <a:lnSpc>
                  <a:spcPct val="125000"/>
                </a:lnSpc>
              </a:pPr>
              <a:r>
                <a:rPr kumimoji="1" lang="en-US" altLang="zh-CN" sz="1600" dirty="0">
                  <a:solidFill>
                    <a:srgbClr val="000000"/>
                  </a:solidFill>
                  <a:latin typeface="方正粗黑宋简体" pitchFamily="2" charset="-122"/>
                  <a:ea typeface="方正粗黑宋简体" pitchFamily="2" charset="-122"/>
                </a:rPr>
                <a:t>(+5)</a:t>
              </a:r>
              <a:r>
                <a:rPr kumimoji="1" lang="zh-CN" altLang="en-US" sz="1600" baseline="-25000" dirty="0">
                  <a:solidFill>
                    <a:srgbClr val="000000"/>
                  </a:solidFill>
                  <a:latin typeface="方正粗黑宋简体" pitchFamily="2" charset="-122"/>
                  <a:ea typeface="方正粗黑宋简体" pitchFamily="2" charset="-122"/>
                </a:rPr>
                <a:t>补</a:t>
              </a:r>
              <a:endParaRPr kumimoji="1" lang="en-US" altLang="zh-CN" sz="1600" dirty="0">
                <a:solidFill>
                  <a:srgbClr val="000000"/>
                </a:solidFill>
                <a:latin typeface="方正粗黑宋简体" pitchFamily="2" charset="-122"/>
                <a:ea typeface="方正粗黑宋简体" pitchFamily="2" charset="-122"/>
              </a:endParaRPr>
            </a:p>
          </p:txBody>
        </p:sp>
        <p:sp>
          <p:nvSpPr>
            <p:cNvPr id="16" name="右大括号 15">
              <a:extLst>
                <a:ext uri="{FF2B5EF4-FFF2-40B4-BE49-F238E27FC236}">
                  <a16:creationId xmlns:a16="http://schemas.microsoft.com/office/drawing/2014/main" xmlns="" id="{FCC21E6A-2943-4B1F-87B4-D143F93DA0FE}"/>
                </a:ext>
              </a:extLst>
            </p:cNvPr>
            <p:cNvSpPr/>
            <p:nvPr/>
          </p:nvSpPr>
          <p:spPr>
            <a:xfrm>
              <a:off x="6653053" y="2450034"/>
              <a:ext cx="247311" cy="874292"/>
            </a:xfrm>
            <a:prstGeom prst="rightBrace">
              <a:avLst>
                <a:gd name="adj1" fmla="val 3655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lide(fromBottom)">
                                      <p:cBhvr>
                                        <p:cTn id="7" dur="10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1000"/>
                                        <p:tgtEl>
                                          <p:spTgt spid="3"/>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wipe(left)">
                                      <p:cBhvr>
                                        <p:cTn id="16" dur="1000"/>
                                        <p:tgtEl>
                                          <p:spTgt spid="59"/>
                                        </p:tgtEl>
                                      </p:cBhvr>
                                    </p:animEffect>
                                  </p:childTnLst>
                                </p:cTn>
                              </p:par>
                            </p:childTnLst>
                          </p:cTn>
                        </p:par>
                        <p:par>
                          <p:cTn id="17" fill="hold">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left)">
                                      <p:cBhvr>
                                        <p:cTn id="20" dur="1000"/>
                                        <p:tgtEl>
                                          <p:spTgt spid="6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slide(fromBottom)">
                                      <p:cBhvr>
                                        <p:cTn id="25" dur="10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10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slide(fromBottom)">
                                      <p:cBhvr>
                                        <p:cTn id="35" dur="1000"/>
                                        <p:tgtEl>
                                          <p:spTgt spid="5"/>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10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slide(fromBottom)">
                                      <p:cBhvr>
                                        <p:cTn id="44" dur="10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slide(fromBottom)">
                                      <p:cBhvr>
                                        <p:cTn id="56" dur="10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1000"/>
                                        <p:tgtEl>
                                          <p:spTgt spid="9"/>
                                        </p:tgtEl>
                                      </p:cBhvr>
                                    </p:animEffect>
                                    <p:anim calcmode="lin" valueType="num">
                                      <p:cBhvr>
                                        <p:cTn id="62" dur="1000" fill="hold"/>
                                        <p:tgtEl>
                                          <p:spTgt spid="9"/>
                                        </p:tgtEl>
                                        <p:attrNameLst>
                                          <p:attrName>ppt_x</p:attrName>
                                        </p:attrNameLst>
                                      </p:cBhvr>
                                      <p:tavLst>
                                        <p:tav tm="0">
                                          <p:val>
                                            <p:strVal val="#ppt_x"/>
                                          </p:val>
                                        </p:tav>
                                        <p:tav tm="100000">
                                          <p:val>
                                            <p:strVal val="#ppt_x"/>
                                          </p:val>
                                        </p:tav>
                                      </p:tavLst>
                                    </p:anim>
                                    <p:anim calcmode="lin" valueType="num">
                                      <p:cBhvr>
                                        <p:cTn id="6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6" grpId="0"/>
      <p:bldP spid="59" grpId="0" animBg="1"/>
      <p:bldP spid="6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圆角矩形 86">
            <a:extLst>
              <a:ext uri="{FF2B5EF4-FFF2-40B4-BE49-F238E27FC236}">
                <a16:creationId xmlns:a16="http://schemas.microsoft.com/office/drawing/2014/main" xmlns="" id="{09D6A6F4-2DA4-4CA7-A674-EA8D49921D6E}"/>
              </a:ext>
            </a:extLst>
          </p:cNvPr>
          <p:cNvSpPr/>
          <p:nvPr/>
        </p:nvSpPr>
        <p:spPr>
          <a:xfrm>
            <a:off x="1669996" y="1808228"/>
            <a:ext cx="6244376" cy="679762"/>
          </a:xfrm>
          <a:prstGeom prst="roundRect">
            <a:avLst>
              <a:gd name="adj" fmla="val 6817"/>
            </a:avLst>
          </a:prstGeom>
          <a:solidFill>
            <a:srgbClr val="FF66FF">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7"/>
          <p:cNvGrpSpPr/>
          <p:nvPr/>
        </p:nvGrpSpPr>
        <p:grpSpPr>
          <a:xfrm>
            <a:off x="392433" y="702128"/>
            <a:ext cx="3444921" cy="418885"/>
            <a:chOff x="670560" y="892917"/>
            <a:chExt cx="3444921" cy="465428"/>
          </a:xfrm>
        </p:grpSpPr>
        <p:sp>
          <p:nvSpPr>
            <p:cNvPr id="3" name="矩形 2"/>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 name="组合 54">
            <a:extLst>
              <a:ext uri="{FF2B5EF4-FFF2-40B4-BE49-F238E27FC236}">
                <a16:creationId xmlns:a16="http://schemas.microsoft.com/office/drawing/2014/main" xmlns="" id="{F061889E-C31E-45C4-B9B6-425754E078B3}"/>
              </a:ext>
            </a:extLst>
          </p:cNvPr>
          <p:cNvGrpSpPr/>
          <p:nvPr/>
        </p:nvGrpSpPr>
        <p:grpSpPr>
          <a:xfrm>
            <a:off x="757168" y="1191967"/>
            <a:ext cx="4680371" cy="291600"/>
            <a:chOff x="358461" y="2491451"/>
            <a:chExt cx="4303783" cy="401378"/>
          </a:xfrm>
        </p:grpSpPr>
        <p:sp>
          <p:nvSpPr>
            <p:cNvPr id="8" name="矩形 7">
              <a:extLst>
                <a:ext uri="{FF2B5EF4-FFF2-40B4-BE49-F238E27FC236}">
                  <a16:creationId xmlns:a16="http://schemas.microsoft.com/office/drawing/2014/main" xmlns="" id="{3CFC42E6-1CDE-4D19-823E-A44B79C413D3}"/>
                </a:ext>
              </a:extLst>
            </p:cNvPr>
            <p:cNvSpPr>
              <a:spLocks noChangeArrowheads="1"/>
            </p:cNvSpPr>
            <p:nvPr/>
          </p:nvSpPr>
          <p:spPr bwMode="auto">
            <a:xfrm>
              <a:off x="601349" y="2491452"/>
              <a:ext cx="4060895" cy="395286"/>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有符号二进制数的原码、补码表示数的范围</a:t>
              </a:r>
            </a:p>
          </p:txBody>
        </p:sp>
        <p:sp>
          <p:nvSpPr>
            <p:cNvPr id="9" name="矩形 8">
              <a:extLst>
                <a:ext uri="{FF2B5EF4-FFF2-40B4-BE49-F238E27FC236}">
                  <a16:creationId xmlns:a16="http://schemas.microsoft.com/office/drawing/2014/main" xmlns="" id="{81307AF5-49F8-483F-80C9-AF538E127A6B}"/>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10" name="Freeform 10">
              <a:extLst>
                <a:ext uri="{FF2B5EF4-FFF2-40B4-BE49-F238E27FC236}">
                  <a16:creationId xmlns:a16="http://schemas.microsoft.com/office/drawing/2014/main" xmlns="" id="{B724F3FF-74A3-4062-9087-C8F9783A3F56}"/>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sp>
        <p:nvSpPr>
          <p:cNvPr id="64" name="矩形: 圆角 63">
            <a:extLst>
              <a:ext uri="{FF2B5EF4-FFF2-40B4-BE49-F238E27FC236}">
                <a16:creationId xmlns:a16="http://schemas.microsoft.com/office/drawing/2014/main" xmlns="" id="{CBF4B19C-263A-4C52-8768-DEC76C2B6D6F}"/>
              </a:ext>
            </a:extLst>
          </p:cNvPr>
          <p:cNvSpPr/>
          <p:nvPr/>
        </p:nvSpPr>
        <p:spPr>
          <a:xfrm>
            <a:off x="4064123" y="1816645"/>
            <a:ext cx="1282163" cy="671345"/>
          </a:xfrm>
          <a:prstGeom prst="roundRect">
            <a:avLst>
              <a:gd name="adj" fmla="val 7052"/>
            </a:avLst>
          </a:prstGeom>
          <a:solidFill>
            <a:srgbClr val="CC00CC">
              <a:alpha val="30000"/>
            </a:srgb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5" name="矩形: 圆角 64">
            <a:extLst>
              <a:ext uri="{FF2B5EF4-FFF2-40B4-BE49-F238E27FC236}">
                <a16:creationId xmlns:a16="http://schemas.microsoft.com/office/drawing/2014/main" xmlns="" id="{7482B42E-B9F2-48A8-AE8F-0D45AF1A0705}"/>
              </a:ext>
            </a:extLst>
          </p:cNvPr>
          <p:cNvSpPr/>
          <p:nvPr/>
        </p:nvSpPr>
        <p:spPr>
          <a:xfrm>
            <a:off x="4815532" y="2844818"/>
            <a:ext cx="502783" cy="618150"/>
          </a:xfrm>
          <a:prstGeom prst="roundRect">
            <a:avLst>
              <a:gd name="adj" fmla="val 7052"/>
            </a:avLst>
          </a:prstGeom>
          <a:solidFill>
            <a:srgbClr val="CC00CC">
              <a:alpha val="30000"/>
            </a:srgb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6" name="矩形: 圆角 65">
            <a:extLst>
              <a:ext uri="{FF2B5EF4-FFF2-40B4-BE49-F238E27FC236}">
                <a16:creationId xmlns:a16="http://schemas.microsoft.com/office/drawing/2014/main" xmlns="" id="{869943DD-D787-42DD-AF74-6B1F768D996F}"/>
              </a:ext>
            </a:extLst>
          </p:cNvPr>
          <p:cNvSpPr/>
          <p:nvPr/>
        </p:nvSpPr>
        <p:spPr>
          <a:xfrm>
            <a:off x="2268550" y="2850472"/>
            <a:ext cx="480470" cy="613267"/>
          </a:xfrm>
          <a:prstGeom prst="roundRect">
            <a:avLst>
              <a:gd name="adj" fmla="val 7052"/>
            </a:avLst>
          </a:prstGeom>
          <a:solidFill>
            <a:srgbClr val="CC00CC">
              <a:alpha val="30000"/>
            </a:srgb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73" name="组合 72">
            <a:extLst>
              <a:ext uri="{FF2B5EF4-FFF2-40B4-BE49-F238E27FC236}">
                <a16:creationId xmlns:a16="http://schemas.microsoft.com/office/drawing/2014/main" xmlns="" id="{5CC44106-39B4-477F-9D1B-E774F0D983D4}"/>
              </a:ext>
            </a:extLst>
          </p:cNvPr>
          <p:cNvGrpSpPr/>
          <p:nvPr/>
        </p:nvGrpSpPr>
        <p:grpSpPr>
          <a:xfrm>
            <a:off x="2699594" y="1529471"/>
            <a:ext cx="5258544" cy="314977"/>
            <a:chOff x="2699594" y="1613231"/>
            <a:chExt cx="5258544" cy="314977"/>
          </a:xfrm>
        </p:grpSpPr>
        <p:sp>
          <p:nvSpPr>
            <p:cNvPr id="71" name="圆角矩形标注 59">
              <a:extLst>
                <a:ext uri="{FF2B5EF4-FFF2-40B4-BE49-F238E27FC236}">
                  <a16:creationId xmlns:a16="http://schemas.microsoft.com/office/drawing/2014/main" xmlns="" id="{FD58DD4A-54B0-4779-88FE-56E93762F585}"/>
                </a:ext>
              </a:extLst>
            </p:cNvPr>
            <p:cNvSpPr/>
            <p:nvPr/>
          </p:nvSpPr>
          <p:spPr>
            <a:xfrm>
              <a:off x="7275412" y="1613231"/>
              <a:ext cx="682726" cy="287174"/>
            </a:xfrm>
            <a:prstGeom prst="wedgeRoundRectCallout">
              <a:avLst>
                <a:gd name="adj1" fmla="val -49782"/>
                <a:gd name="adj2" fmla="val 79686"/>
                <a:gd name="adj3" fmla="val 16667"/>
              </a:avLst>
            </a:prstGeom>
            <a:solidFill>
              <a:srgbClr val="FFFF00"/>
            </a:solidFill>
            <a:ln>
              <a:solidFill>
                <a:srgbClr val="262626"/>
              </a:solid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panose="02020603050405020304" pitchFamily="18" charset="0"/>
                  <a:cs typeface="Times" panose="02020603050405020304" pitchFamily="18" charset="0"/>
                </a:rPr>
                <a:t>2</a:t>
              </a:r>
              <a:r>
                <a:rPr lang="en-US" altLang="zh-CN" sz="1400" baseline="30000" dirty="0">
                  <a:solidFill>
                    <a:schemeClr val="tx1"/>
                  </a:solidFill>
                  <a:latin typeface="Times" panose="02020603050405020304" pitchFamily="18" charset="0"/>
                  <a:cs typeface="Times" panose="02020603050405020304" pitchFamily="18" charset="0"/>
                </a:rPr>
                <a:t>n-1</a:t>
              </a:r>
              <a:r>
                <a:rPr lang="en-US" altLang="zh-CN" sz="1400" dirty="0">
                  <a:solidFill>
                    <a:schemeClr val="tx1"/>
                  </a:solidFill>
                  <a:latin typeface="Times" panose="02020603050405020304" pitchFamily="18" charset="0"/>
                  <a:cs typeface="Times" panose="02020603050405020304" pitchFamily="18" charset="0"/>
                </a:rPr>
                <a:t>-1</a:t>
              </a:r>
              <a:endParaRPr lang="zh-CN" altLang="en-US" sz="1400" dirty="0">
                <a:solidFill>
                  <a:schemeClr val="tx1"/>
                </a:solidFill>
                <a:latin typeface="Times" panose="02020603050405020304" pitchFamily="18" charset="0"/>
                <a:cs typeface="Times" panose="02020603050405020304" pitchFamily="18" charset="0"/>
              </a:endParaRPr>
            </a:p>
          </p:txBody>
        </p:sp>
        <p:sp>
          <p:nvSpPr>
            <p:cNvPr id="72" name="圆角矩形标注 59">
              <a:extLst>
                <a:ext uri="{FF2B5EF4-FFF2-40B4-BE49-F238E27FC236}">
                  <a16:creationId xmlns:a16="http://schemas.microsoft.com/office/drawing/2014/main" xmlns="" id="{FBF27FFB-B970-4B57-B8FB-DCFE1C8E7212}"/>
                </a:ext>
              </a:extLst>
            </p:cNvPr>
            <p:cNvSpPr/>
            <p:nvPr/>
          </p:nvSpPr>
          <p:spPr>
            <a:xfrm>
              <a:off x="2699594" y="1641034"/>
              <a:ext cx="772269" cy="287174"/>
            </a:xfrm>
            <a:prstGeom prst="wedgeRoundRectCallout">
              <a:avLst>
                <a:gd name="adj1" fmla="val -49782"/>
                <a:gd name="adj2" fmla="val 79686"/>
                <a:gd name="adj3" fmla="val 16667"/>
              </a:avLst>
            </a:prstGeom>
            <a:solidFill>
              <a:srgbClr val="FFFF00"/>
            </a:solidFill>
            <a:ln>
              <a:solidFill>
                <a:srgbClr val="262626"/>
              </a:solid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panose="02020603050405020304" pitchFamily="18" charset="0"/>
                  <a:cs typeface="Times" panose="02020603050405020304" pitchFamily="18" charset="0"/>
                </a:rPr>
                <a:t>-(2</a:t>
              </a:r>
              <a:r>
                <a:rPr lang="en-US" altLang="zh-CN" sz="1400" baseline="30000" dirty="0">
                  <a:solidFill>
                    <a:schemeClr val="tx1"/>
                  </a:solidFill>
                  <a:latin typeface="Times" panose="02020603050405020304" pitchFamily="18" charset="0"/>
                  <a:cs typeface="Times" panose="02020603050405020304" pitchFamily="18" charset="0"/>
                </a:rPr>
                <a:t>n-1</a:t>
              </a:r>
              <a:r>
                <a:rPr lang="en-US" altLang="zh-CN" sz="1400" dirty="0">
                  <a:solidFill>
                    <a:schemeClr val="tx1"/>
                  </a:solidFill>
                  <a:latin typeface="Times" panose="02020603050405020304" pitchFamily="18" charset="0"/>
                  <a:cs typeface="Times" panose="02020603050405020304" pitchFamily="18" charset="0"/>
                </a:rPr>
                <a:t>-1)</a:t>
              </a:r>
              <a:endParaRPr lang="zh-CN" altLang="en-US" sz="1400" dirty="0">
                <a:solidFill>
                  <a:schemeClr val="tx1"/>
                </a:solidFill>
                <a:latin typeface="Times" panose="02020603050405020304" pitchFamily="18" charset="0"/>
                <a:cs typeface="Times" panose="02020603050405020304" pitchFamily="18" charset="0"/>
              </a:endParaRPr>
            </a:p>
          </p:txBody>
        </p:sp>
      </p:grpSp>
      <p:grpSp>
        <p:nvGrpSpPr>
          <p:cNvPr id="74" name="组合 73">
            <a:extLst>
              <a:ext uri="{FF2B5EF4-FFF2-40B4-BE49-F238E27FC236}">
                <a16:creationId xmlns:a16="http://schemas.microsoft.com/office/drawing/2014/main" xmlns="" id="{485E8371-EC36-48FA-A273-B9DBA1138A64}"/>
              </a:ext>
            </a:extLst>
          </p:cNvPr>
          <p:cNvGrpSpPr/>
          <p:nvPr/>
        </p:nvGrpSpPr>
        <p:grpSpPr>
          <a:xfrm>
            <a:off x="2699595" y="2523959"/>
            <a:ext cx="5214777" cy="314977"/>
            <a:chOff x="2699595" y="1613231"/>
            <a:chExt cx="5214777" cy="314977"/>
          </a:xfrm>
        </p:grpSpPr>
        <p:sp>
          <p:nvSpPr>
            <p:cNvPr id="75" name="圆角矩形标注 59">
              <a:extLst>
                <a:ext uri="{FF2B5EF4-FFF2-40B4-BE49-F238E27FC236}">
                  <a16:creationId xmlns:a16="http://schemas.microsoft.com/office/drawing/2014/main" xmlns="" id="{FEB9FBD0-60D9-4ABB-B655-3D4BC77F2F24}"/>
                </a:ext>
              </a:extLst>
            </p:cNvPr>
            <p:cNvSpPr/>
            <p:nvPr/>
          </p:nvSpPr>
          <p:spPr>
            <a:xfrm>
              <a:off x="7275412" y="1613231"/>
              <a:ext cx="638960" cy="287174"/>
            </a:xfrm>
            <a:prstGeom prst="wedgeRoundRectCallout">
              <a:avLst>
                <a:gd name="adj1" fmla="val -49782"/>
                <a:gd name="adj2" fmla="val 79686"/>
                <a:gd name="adj3" fmla="val 16667"/>
              </a:avLst>
            </a:prstGeom>
            <a:solidFill>
              <a:srgbClr val="FFFF00"/>
            </a:solidFill>
            <a:ln>
              <a:solidFill>
                <a:srgbClr val="262626"/>
              </a:solid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panose="02020603050405020304" pitchFamily="18" charset="0"/>
                  <a:cs typeface="Times" panose="02020603050405020304" pitchFamily="18" charset="0"/>
                </a:rPr>
                <a:t>2</a:t>
              </a:r>
              <a:r>
                <a:rPr lang="en-US" altLang="zh-CN" sz="1400" baseline="30000" dirty="0">
                  <a:solidFill>
                    <a:schemeClr val="tx1"/>
                  </a:solidFill>
                  <a:latin typeface="Times" panose="02020603050405020304" pitchFamily="18" charset="0"/>
                  <a:cs typeface="Times" panose="02020603050405020304" pitchFamily="18" charset="0"/>
                </a:rPr>
                <a:t>n-1</a:t>
              </a:r>
              <a:r>
                <a:rPr lang="en-US" altLang="zh-CN" sz="1400" dirty="0">
                  <a:solidFill>
                    <a:schemeClr val="tx1"/>
                  </a:solidFill>
                  <a:latin typeface="Times" panose="02020603050405020304" pitchFamily="18" charset="0"/>
                  <a:cs typeface="Times" panose="02020603050405020304" pitchFamily="18" charset="0"/>
                </a:rPr>
                <a:t>-1</a:t>
              </a:r>
              <a:endParaRPr lang="zh-CN" altLang="en-US" sz="1400" dirty="0">
                <a:solidFill>
                  <a:schemeClr val="tx1"/>
                </a:solidFill>
                <a:latin typeface="Times" panose="02020603050405020304" pitchFamily="18" charset="0"/>
                <a:cs typeface="Times" panose="02020603050405020304" pitchFamily="18" charset="0"/>
              </a:endParaRPr>
            </a:p>
          </p:txBody>
        </p:sp>
        <p:sp>
          <p:nvSpPr>
            <p:cNvPr id="76" name="圆角矩形标注 59">
              <a:extLst>
                <a:ext uri="{FF2B5EF4-FFF2-40B4-BE49-F238E27FC236}">
                  <a16:creationId xmlns:a16="http://schemas.microsoft.com/office/drawing/2014/main" xmlns="" id="{DCCF003E-B19D-44FE-8761-A585B2C88898}"/>
                </a:ext>
              </a:extLst>
            </p:cNvPr>
            <p:cNvSpPr/>
            <p:nvPr/>
          </p:nvSpPr>
          <p:spPr>
            <a:xfrm>
              <a:off x="2699595" y="1641034"/>
              <a:ext cx="559680" cy="287174"/>
            </a:xfrm>
            <a:prstGeom prst="wedgeRoundRectCallout">
              <a:avLst>
                <a:gd name="adj1" fmla="val -49782"/>
                <a:gd name="adj2" fmla="val 79686"/>
                <a:gd name="adj3" fmla="val 16667"/>
              </a:avLst>
            </a:prstGeom>
            <a:solidFill>
              <a:srgbClr val="FFFF00"/>
            </a:solidFill>
            <a:ln>
              <a:solidFill>
                <a:srgbClr val="262626"/>
              </a:solid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panose="02020603050405020304" pitchFamily="18" charset="0"/>
                  <a:cs typeface="Times" panose="02020603050405020304" pitchFamily="18" charset="0"/>
                </a:rPr>
                <a:t>-2</a:t>
              </a:r>
              <a:r>
                <a:rPr lang="en-US" altLang="zh-CN" sz="1400" baseline="30000" dirty="0">
                  <a:solidFill>
                    <a:schemeClr val="tx1"/>
                  </a:solidFill>
                  <a:latin typeface="Times" panose="02020603050405020304" pitchFamily="18" charset="0"/>
                  <a:cs typeface="Times" panose="02020603050405020304" pitchFamily="18" charset="0"/>
                </a:rPr>
                <a:t>n-1</a:t>
              </a:r>
              <a:endParaRPr lang="zh-CN" altLang="en-US" sz="1400" dirty="0">
                <a:solidFill>
                  <a:schemeClr val="tx1"/>
                </a:solidFill>
                <a:latin typeface="Times" panose="02020603050405020304" pitchFamily="18" charset="0"/>
                <a:cs typeface="Times" panose="02020603050405020304" pitchFamily="18" charset="0"/>
              </a:endParaRPr>
            </a:p>
          </p:txBody>
        </p:sp>
      </p:grpSp>
      <p:grpSp>
        <p:nvGrpSpPr>
          <p:cNvPr id="77" name="组合 40">
            <a:extLst>
              <a:ext uri="{FF2B5EF4-FFF2-40B4-BE49-F238E27FC236}">
                <a16:creationId xmlns:a16="http://schemas.microsoft.com/office/drawing/2014/main" xmlns="" id="{71B0C921-4BC6-4584-BFE6-0791B57857B2}"/>
              </a:ext>
            </a:extLst>
          </p:cNvPr>
          <p:cNvGrpSpPr/>
          <p:nvPr/>
        </p:nvGrpSpPr>
        <p:grpSpPr>
          <a:xfrm>
            <a:off x="1168262" y="3512008"/>
            <a:ext cx="6621145" cy="540640"/>
            <a:chOff x="5603875" y="3086099"/>
            <a:chExt cx="6621145" cy="600711"/>
          </a:xfrm>
        </p:grpSpPr>
        <p:sp>
          <p:nvSpPr>
            <p:cNvPr id="78" name="剪去对角的矩形 39">
              <a:extLst>
                <a:ext uri="{FF2B5EF4-FFF2-40B4-BE49-F238E27FC236}">
                  <a16:creationId xmlns:a16="http://schemas.microsoft.com/office/drawing/2014/main" xmlns="" id="{7ACF1AE6-92C4-4742-8C1B-977A6A0C3F4A}"/>
                </a:ext>
              </a:extLst>
            </p:cNvPr>
            <p:cNvSpPr/>
            <p:nvPr/>
          </p:nvSpPr>
          <p:spPr>
            <a:xfrm>
              <a:off x="5765800" y="3219450"/>
              <a:ext cx="6459220" cy="467360"/>
            </a:xfrm>
            <a:prstGeom prst="snip2Diag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nSpc>
                  <a:spcPct val="125000"/>
                </a:lnSpc>
              </a:pPr>
              <a:r>
                <a:rPr lang="en-US" altLang="zh-CN" sz="1600" dirty="0">
                  <a:solidFill>
                    <a:srgbClr val="333333"/>
                  </a:solidFill>
                  <a:latin typeface="黑体" panose="02010609060101010101" pitchFamily="49" charset="-122"/>
                  <a:ea typeface="黑体" panose="02010609060101010101" pitchFamily="49" charset="-122"/>
                </a:rPr>
                <a:t>   </a:t>
              </a:r>
              <a:r>
                <a:rPr lang="zh-CN" altLang="zh-CN" sz="1600" dirty="0">
                  <a:solidFill>
                    <a:srgbClr val="333333"/>
                  </a:solidFill>
                  <a:latin typeface="黑体" panose="02010609060101010101" pitchFamily="49" charset="-122"/>
                  <a:ea typeface="黑体" panose="02010609060101010101" pitchFamily="49" charset="-122"/>
                </a:rPr>
                <a:t>同一个负数用不同位数的补码表示其形式是不同的</a:t>
              </a:r>
              <a:r>
                <a:rPr lang="zh-CN" altLang="en-US" sz="1600" dirty="0">
                  <a:solidFill>
                    <a:srgbClr val="333333"/>
                  </a:solidFill>
                  <a:latin typeface="黑体" panose="02010609060101010101" pitchFamily="49" charset="-122"/>
                  <a:ea typeface="黑体" panose="02010609060101010101" pitchFamily="49" charset="-122"/>
                </a:rPr>
                <a:t>！</a:t>
              </a:r>
            </a:p>
          </p:txBody>
        </p:sp>
        <p:pic>
          <p:nvPicPr>
            <p:cNvPr id="79" name="Picture 3">
              <a:extLst>
                <a:ext uri="{FF2B5EF4-FFF2-40B4-BE49-F238E27FC236}">
                  <a16:creationId xmlns:a16="http://schemas.microsoft.com/office/drawing/2014/main" xmlns="" id="{D31ABE2A-4A73-4C12-87B5-342625E6D310}"/>
                </a:ext>
              </a:extLst>
            </p:cNvPr>
            <p:cNvPicPr>
              <a:picLocks noChangeAspect="1" noChangeArrowheads="1"/>
            </p:cNvPicPr>
            <p:nvPr/>
          </p:nvPicPr>
          <p:blipFill>
            <a:blip r:embed="rId4" cstate="print"/>
            <a:srcRect/>
            <a:stretch>
              <a:fillRect/>
            </a:stretch>
          </p:blipFill>
          <p:spPr bwMode="auto">
            <a:xfrm>
              <a:off x="5603875" y="3086099"/>
              <a:ext cx="320675" cy="320675"/>
            </a:xfrm>
            <a:prstGeom prst="rect">
              <a:avLst/>
            </a:prstGeom>
            <a:noFill/>
            <a:ln w="9525">
              <a:noFill/>
              <a:miter lim="800000"/>
              <a:headEnd/>
              <a:tailEnd/>
            </a:ln>
            <a:effectLst/>
          </p:spPr>
        </p:pic>
      </p:grpSp>
      <p:sp>
        <p:nvSpPr>
          <p:cNvPr id="82" name="Rectangle 8">
            <a:extLst>
              <a:ext uri="{FF2B5EF4-FFF2-40B4-BE49-F238E27FC236}">
                <a16:creationId xmlns:a16="http://schemas.microsoft.com/office/drawing/2014/main" xmlns="" id="{9572FA7D-E404-4F0C-8A9F-206016C09AB0}"/>
              </a:ext>
            </a:extLst>
          </p:cNvPr>
          <p:cNvSpPr>
            <a:spLocks noChangeArrowheads="1"/>
          </p:cNvSpPr>
          <p:nvPr/>
        </p:nvSpPr>
        <p:spPr bwMode="auto">
          <a:xfrm>
            <a:off x="2725751" y="4095124"/>
            <a:ext cx="4805362" cy="606192"/>
          </a:xfrm>
          <a:prstGeom prst="rect">
            <a:avLst/>
          </a:prstGeom>
          <a:noFill/>
          <a:ln w="9525" algn="ctr">
            <a:noFill/>
            <a:miter lim="800000"/>
            <a:headEnd/>
            <a:tailEnd/>
          </a:ln>
        </p:spPr>
        <p:txBody>
          <a:bodyPr wrap="square" lIns="0" rIns="0">
            <a:spAutoFit/>
          </a:bodyPr>
          <a:lstStyle/>
          <a:p>
            <a:pPr>
              <a:lnSpc>
                <a:spcPct val="125000"/>
              </a:lnSpc>
            </a:pPr>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四位：</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4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补</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101)</a:t>
            </a:r>
            <a:r>
              <a:rPr kumimoji="1" lang="zh-CN" altLang="en-US" sz="14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补 </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010</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011  </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5000"/>
              </a:lnSpc>
            </a:pPr>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五位：</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4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补</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0101)</a:t>
            </a:r>
            <a:r>
              <a:rPr kumimoji="1" lang="zh-CN" altLang="en-US" sz="14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补 </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1010</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1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1011</a:t>
            </a: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nvGrpSpPr>
          <p:cNvPr id="94" name="组合 93">
            <a:extLst>
              <a:ext uri="{FF2B5EF4-FFF2-40B4-BE49-F238E27FC236}">
                <a16:creationId xmlns:a16="http://schemas.microsoft.com/office/drawing/2014/main" xmlns="" id="{4CC0778D-6E1C-412F-A187-DC6C93E023F0}"/>
              </a:ext>
            </a:extLst>
          </p:cNvPr>
          <p:cNvGrpSpPr/>
          <p:nvPr/>
        </p:nvGrpSpPr>
        <p:grpSpPr>
          <a:xfrm>
            <a:off x="261780" y="1856540"/>
            <a:ext cx="7652592" cy="1536362"/>
            <a:chOff x="261780" y="1940300"/>
            <a:chExt cx="7652592" cy="1536362"/>
          </a:xfrm>
        </p:grpSpPr>
        <p:grpSp>
          <p:nvGrpSpPr>
            <p:cNvPr id="70" name="组合 69">
              <a:extLst>
                <a:ext uri="{FF2B5EF4-FFF2-40B4-BE49-F238E27FC236}">
                  <a16:creationId xmlns:a16="http://schemas.microsoft.com/office/drawing/2014/main" xmlns="" id="{FECB50A1-96A1-433C-958F-594F27DAF5D8}"/>
                </a:ext>
              </a:extLst>
            </p:cNvPr>
            <p:cNvGrpSpPr/>
            <p:nvPr/>
          </p:nvGrpSpPr>
          <p:grpSpPr>
            <a:xfrm>
              <a:off x="261780" y="1940300"/>
              <a:ext cx="7652592" cy="1536362"/>
              <a:chOff x="261780" y="1940300"/>
              <a:chExt cx="7652592" cy="1536362"/>
            </a:xfrm>
          </p:grpSpPr>
          <p:grpSp>
            <p:nvGrpSpPr>
              <p:cNvPr id="68" name="组合 67">
                <a:extLst>
                  <a:ext uri="{FF2B5EF4-FFF2-40B4-BE49-F238E27FC236}">
                    <a16:creationId xmlns:a16="http://schemas.microsoft.com/office/drawing/2014/main" xmlns="" id="{F323D88D-F63B-4BDF-8E75-3A36FAE78B83}"/>
                  </a:ext>
                </a:extLst>
              </p:cNvPr>
              <p:cNvGrpSpPr/>
              <p:nvPr/>
            </p:nvGrpSpPr>
            <p:grpSpPr>
              <a:xfrm>
                <a:off x="1745037" y="1940300"/>
                <a:ext cx="6169335" cy="583118"/>
                <a:chOff x="1745037" y="1940300"/>
                <a:chExt cx="6169335" cy="583118"/>
              </a:xfrm>
            </p:grpSpPr>
            <p:cxnSp>
              <p:nvCxnSpPr>
                <p:cNvPr id="14" name="直接连接符 13">
                  <a:extLst>
                    <a:ext uri="{FF2B5EF4-FFF2-40B4-BE49-F238E27FC236}">
                      <a16:creationId xmlns:a16="http://schemas.microsoft.com/office/drawing/2014/main" xmlns="" id="{A69FBAEF-D7F2-4472-9440-DC358C59BAF8}"/>
                    </a:ext>
                  </a:extLst>
                </p:cNvPr>
                <p:cNvCxnSpPr>
                  <a:cxnSpLocks/>
                </p:cNvCxnSpPr>
                <p:nvPr/>
              </p:nvCxnSpPr>
              <p:spPr>
                <a:xfrm>
                  <a:off x="1745037" y="2268548"/>
                  <a:ext cx="5961052"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A06C8489-9F5B-4BD2-895E-DDF90347F4C8}"/>
                    </a:ext>
                  </a:extLst>
                </p:cNvPr>
                <p:cNvCxnSpPr>
                  <a:cxnSpLocks/>
                </p:cNvCxnSpPr>
                <p:nvPr/>
              </p:nvCxnSpPr>
              <p:spPr>
                <a:xfrm>
                  <a:off x="4352513" y="2176639"/>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xmlns="" id="{483D2ED3-F2D2-4ACB-926A-ADB6DD0E5CA8}"/>
                    </a:ext>
                  </a:extLst>
                </p:cNvPr>
                <p:cNvCxnSpPr>
                  <a:cxnSpLocks/>
                </p:cNvCxnSpPr>
                <p:nvPr/>
              </p:nvCxnSpPr>
              <p:spPr>
                <a:xfrm>
                  <a:off x="5057896" y="2176639"/>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xmlns="" id="{ACCE8955-4C5B-4679-9ED9-3D87DF2815D7}"/>
                    </a:ext>
                  </a:extLst>
                </p:cNvPr>
                <p:cNvCxnSpPr>
                  <a:cxnSpLocks/>
                </p:cNvCxnSpPr>
                <p:nvPr/>
              </p:nvCxnSpPr>
              <p:spPr>
                <a:xfrm>
                  <a:off x="5763278" y="2176639"/>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xmlns="" id="{4F1BA81F-B378-4C6C-8141-1D26F6FE0DE7}"/>
                    </a:ext>
                  </a:extLst>
                </p:cNvPr>
                <p:cNvCxnSpPr>
                  <a:cxnSpLocks/>
                </p:cNvCxnSpPr>
                <p:nvPr/>
              </p:nvCxnSpPr>
              <p:spPr>
                <a:xfrm>
                  <a:off x="7096489" y="2176639"/>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xmlns="" id="{B9422A22-EDCF-4D8D-A076-700A5A81A696}"/>
                    </a:ext>
                  </a:extLst>
                </p:cNvPr>
                <p:cNvCxnSpPr>
                  <a:cxnSpLocks/>
                </p:cNvCxnSpPr>
                <p:nvPr/>
              </p:nvCxnSpPr>
              <p:spPr>
                <a:xfrm>
                  <a:off x="3647130" y="2176639"/>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xmlns="" id="{492701C4-2E2C-4B71-A3B5-15D0356E43AA}"/>
                    </a:ext>
                  </a:extLst>
                </p:cNvPr>
                <p:cNvSpPr txBox="1"/>
                <p:nvPr/>
              </p:nvSpPr>
              <p:spPr>
                <a:xfrm>
                  <a:off x="5474887" y="1940303"/>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001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26" name="文本框 25">
                  <a:extLst>
                    <a:ext uri="{FF2B5EF4-FFF2-40B4-BE49-F238E27FC236}">
                      <a16:creationId xmlns:a16="http://schemas.microsoft.com/office/drawing/2014/main" xmlns="" id="{EBB0D3D1-E48B-46B4-862E-8A125DAF335E}"/>
                    </a:ext>
                  </a:extLst>
                </p:cNvPr>
                <p:cNvSpPr txBox="1"/>
                <p:nvPr/>
              </p:nvSpPr>
              <p:spPr>
                <a:xfrm>
                  <a:off x="4769505" y="1940302"/>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000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27" name="文本框 26">
                  <a:extLst>
                    <a:ext uri="{FF2B5EF4-FFF2-40B4-BE49-F238E27FC236}">
                      <a16:creationId xmlns:a16="http://schemas.microsoft.com/office/drawing/2014/main" xmlns="" id="{D9365DF3-F0F3-4372-9C1A-2CFCF4E4A40F}"/>
                    </a:ext>
                  </a:extLst>
                </p:cNvPr>
                <p:cNvSpPr txBox="1"/>
                <p:nvPr/>
              </p:nvSpPr>
              <p:spPr>
                <a:xfrm>
                  <a:off x="4064123" y="1940302"/>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000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28" name="文本框 27">
                  <a:extLst>
                    <a:ext uri="{FF2B5EF4-FFF2-40B4-BE49-F238E27FC236}">
                      <a16:creationId xmlns:a16="http://schemas.microsoft.com/office/drawing/2014/main" xmlns="" id="{DE9F5925-E246-40CD-8A52-48209B414EEE}"/>
                    </a:ext>
                  </a:extLst>
                </p:cNvPr>
                <p:cNvSpPr txBox="1"/>
                <p:nvPr/>
              </p:nvSpPr>
              <p:spPr>
                <a:xfrm>
                  <a:off x="3358741" y="1940301"/>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001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29" name="文本框 28">
                  <a:extLst>
                    <a:ext uri="{FF2B5EF4-FFF2-40B4-BE49-F238E27FC236}">
                      <a16:creationId xmlns:a16="http://schemas.microsoft.com/office/drawing/2014/main" xmlns="" id="{C3127780-5D2D-4875-970B-5220BB4CF408}"/>
                    </a:ext>
                  </a:extLst>
                </p:cNvPr>
                <p:cNvSpPr txBox="1"/>
                <p:nvPr/>
              </p:nvSpPr>
              <p:spPr>
                <a:xfrm>
                  <a:off x="5474887" y="2329754"/>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0" name="文本框 29">
                  <a:extLst>
                    <a:ext uri="{FF2B5EF4-FFF2-40B4-BE49-F238E27FC236}">
                      <a16:creationId xmlns:a16="http://schemas.microsoft.com/office/drawing/2014/main" xmlns="" id="{ADB8DBFD-767E-4B89-A7CF-C4981F940505}"/>
                    </a:ext>
                  </a:extLst>
                </p:cNvPr>
                <p:cNvSpPr txBox="1"/>
                <p:nvPr/>
              </p:nvSpPr>
              <p:spPr>
                <a:xfrm>
                  <a:off x="4769505" y="2329753"/>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1" name="文本框 30">
                  <a:extLst>
                    <a:ext uri="{FF2B5EF4-FFF2-40B4-BE49-F238E27FC236}">
                      <a16:creationId xmlns:a16="http://schemas.microsoft.com/office/drawing/2014/main" xmlns="" id="{B844B02E-B9E2-4F84-9B83-2BE8AF208AD5}"/>
                    </a:ext>
                  </a:extLst>
                </p:cNvPr>
                <p:cNvSpPr txBox="1"/>
                <p:nvPr/>
              </p:nvSpPr>
              <p:spPr>
                <a:xfrm>
                  <a:off x="4064123" y="2329753"/>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2" name="文本框 31">
                  <a:extLst>
                    <a:ext uri="{FF2B5EF4-FFF2-40B4-BE49-F238E27FC236}">
                      <a16:creationId xmlns:a16="http://schemas.microsoft.com/office/drawing/2014/main" xmlns="" id="{341538FC-C199-49A4-95F8-027A2CE25BBE}"/>
                    </a:ext>
                  </a:extLst>
                </p:cNvPr>
                <p:cNvSpPr txBox="1"/>
                <p:nvPr/>
              </p:nvSpPr>
              <p:spPr>
                <a:xfrm>
                  <a:off x="3358741" y="2329752"/>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3" name="文本框 32">
                  <a:extLst>
                    <a:ext uri="{FF2B5EF4-FFF2-40B4-BE49-F238E27FC236}">
                      <a16:creationId xmlns:a16="http://schemas.microsoft.com/office/drawing/2014/main" xmlns="" id="{378E38FD-2801-4D00-9A84-8AF479D86AFC}"/>
                    </a:ext>
                  </a:extLst>
                </p:cNvPr>
                <p:cNvSpPr txBox="1"/>
                <p:nvPr/>
              </p:nvSpPr>
              <p:spPr>
                <a:xfrm>
                  <a:off x="6808098" y="1940300"/>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111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4" name="文本框 33">
                  <a:extLst>
                    <a:ext uri="{FF2B5EF4-FFF2-40B4-BE49-F238E27FC236}">
                      <a16:creationId xmlns:a16="http://schemas.microsoft.com/office/drawing/2014/main" xmlns="" id="{B411848A-3392-4ACD-B774-36FD71A0B9D4}"/>
                    </a:ext>
                  </a:extLst>
                </p:cNvPr>
                <p:cNvSpPr txBox="1"/>
                <p:nvPr/>
              </p:nvSpPr>
              <p:spPr>
                <a:xfrm>
                  <a:off x="6808098" y="2329752"/>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+7</a:t>
                  </a:r>
                  <a:endParaRPr lang="zh-CN" altLang="en-US" sz="1200" b="1" dirty="0">
                    <a:solidFill>
                      <a:srgbClr val="002060"/>
                    </a:solidFill>
                    <a:latin typeface="黑体" panose="02010609060101010101" pitchFamily="49" charset="-122"/>
                    <a:ea typeface="黑体" panose="02010609060101010101" pitchFamily="49" charset="-122"/>
                  </a:endParaRPr>
                </a:p>
              </p:txBody>
            </p:sp>
            <p:cxnSp>
              <p:nvCxnSpPr>
                <p:cNvPr id="35" name="直接连接符 34">
                  <a:extLst>
                    <a:ext uri="{FF2B5EF4-FFF2-40B4-BE49-F238E27FC236}">
                      <a16:creationId xmlns:a16="http://schemas.microsoft.com/office/drawing/2014/main" xmlns="" id="{FB1AC601-FB1C-4CE3-A357-C87EF9C3485D}"/>
                    </a:ext>
                  </a:extLst>
                </p:cNvPr>
                <p:cNvCxnSpPr>
                  <a:cxnSpLocks/>
                </p:cNvCxnSpPr>
                <p:nvPr/>
              </p:nvCxnSpPr>
              <p:spPr>
                <a:xfrm>
                  <a:off x="2522161" y="2176638"/>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xmlns="" id="{A294F77C-7BB2-4EBD-90CD-7F8C8FB4ACF8}"/>
                    </a:ext>
                  </a:extLst>
                </p:cNvPr>
                <p:cNvSpPr txBox="1"/>
                <p:nvPr/>
              </p:nvSpPr>
              <p:spPr>
                <a:xfrm>
                  <a:off x="2219475" y="1940300"/>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111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38" name="文本框 37">
                  <a:extLst>
                    <a:ext uri="{FF2B5EF4-FFF2-40B4-BE49-F238E27FC236}">
                      <a16:creationId xmlns:a16="http://schemas.microsoft.com/office/drawing/2014/main" xmlns="" id="{C6BECDF4-7B5E-4B65-945C-66BEF2C448CE}"/>
                    </a:ext>
                  </a:extLst>
                </p:cNvPr>
                <p:cNvSpPr txBox="1"/>
                <p:nvPr/>
              </p:nvSpPr>
              <p:spPr>
                <a:xfrm>
                  <a:off x="2219475" y="2329751"/>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-7</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60" name="文本框 59">
                  <a:extLst>
                    <a:ext uri="{FF2B5EF4-FFF2-40B4-BE49-F238E27FC236}">
                      <a16:creationId xmlns:a16="http://schemas.microsoft.com/office/drawing/2014/main" xmlns="" id="{0294BE9A-2EFE-42F1-9EC0-005E35D81FEA}"/>
                    </a:ext>
                  </a:extLst>
                </p:cNvPr>
                <p:cNvSpPr txBox="1"/>
                <p:nvPr/>
              </p:nvSpPr>
              <p:spPr>
                <a:xfrm>
                  <a:off x="7337590" y="1953536"/>
                  <a:ext cx="576782" cy="184666"/>
                </a:xfrm>
                <a:prstGeom prst="rect">
                  <a:avLst/>
                </a:prstGeom>
                <a:noFill/>
              </p:spPr>
              <p:txBody>
                <a:bodyPr wrap="square" lIns="0" tIns="0" rIns="0" bIns="0">
                  <a:spAutoFit/>
                </a:bodyPr>
                <a:lstStyle/>
                <a:p>
                  <a:pPr algn="ctr"/>
                  <a:r>
                    <a:rPr lang="zh-CN" altLang="en-US" sz="1200" b="1" dirty="0">
                      <a:latin typeface="黑体" panose="02010609060101010101" pitchFamily="49" charset="-122"/>
                      <a:ea typeface="黑体" panose="02010609060101010101" pitchFamily="49" charset="-122"/>
                    </a:rPr>
                    <a:t>原码</a:t>
                  </a:r>
                </a:p>
              </p:txBody>
            </p:sp>
            <p:sp>
              <p:nvSpPr>
                <p:cNvPr id="61" name="文本框 60">
                  <a:extLst>
                    <a:ext uri="{FF2B5EF4-FFF2-40B4-BE49-F238E27FC236}">
                      <a16:creationId xmlns:a16="http://schemas.microsoft.com/office/drawing/2014/main" xmlns="" id="{DC341231-E956-4E3E-89FE-E6B3E60BE06F}"/>
                    </a:ext>
                  </a:extLst>
                </p:cNvPr>
                <p:cNvSpPr txBox="1"/>
                <p:nvPr/>
              </p:nvSpPr>
              <p:spPr>
                <a:xfrm>
                  <a:off x="7337590" y="2338752"/>
                  <a:ext cx="576782" cy="184666"/>
                </a:xfrm>
                <a:prstGeom prst="rect">
                  <a:avLst/>
                </a:prstGeom>
                <a:noFill/>
              </p:spPr>
              <p:txBody>
                <a:bodyPr wrap="square" lIns="0" tIns="0" rIns="0" bIns="0">
                  <a:spAutoFit/>
                </a:bodyPr>
                <a:lstStyle/>
                <a:p>
                  <a:pPr algn="ctr"/>
                  <a:r>
                    <a:rPr lang="zh-CN" altLang="en-US" sz="1200" b="1" dirty="0">
                      <a:latin typeface="黑体" panose="02010609060101010101" pitchFamily="49" charset="-122"/>
                      <a:ea typeface="黑体" panose="02010609060101010101" pitchFamily="49" charset="-122"/>
                    </a:rPr>
                    <a:t>真值</a:t>
                  </a:r>
                </a:p>
              </p:txBody>
            </p:sp>
          </p:grpSp>
          <p:grpSp>
            <p:nvGrpSpPr>
              <p:cNvPr id="69" name="组合 68">
                <a:extLst>
                  <a:ext uri="{FF2B5EF4-FFF2-40B4-BE49-F238E27FC236}">
                    <a16:creationId xmlns:a16="http://schemas.microsoft.com/office/drawing/2014/main" xmlns="" id="{56CE1B30-883D-4D1C-995F-6FE00A460C66}"/>
                  </a:ext>
                </a:extLst>
              </p:cNvPr>
              <p:cNvGrpSpPr/>
              <p:nvPr/>
            </p:nvGrpSpPr>
            <p:grpSpPr>
              <a:xfrm>
                <a:off x="1745037" y="2924518"/>
                <a:ext cx="6169335" cy="552144"/>
                <a:chOff x="1745037" y="2924518"/>
                <a:chExt cx="6169335" cy="552144"/>
              </a:xfrm>
            </p:grpSpPr>
            <p:cxnSp>
              <p:nvCxnSpPr>
                <p:cNvPr id="41" name="直接连接符 40">
                  <a:extLst>
                    <a:ext uri="{FF2B5EF4-FFF2-40B4-BE49-F238E27FC236}">
                      <a16:creationId xmlns:a16="http://schemas.microsoft.com/office/drawing/2014/main" xmlns="" id="{96057FA3-C76A-4CA7-AE40-3FF6AA9D943A}"/>
                    </a:ext>
                  </a:extLst>
                </p:cNvPr>
                <p:cNvCxnSpPr>
                  <a:cxnSpLocks/>
                </p:cNvCxnSpPr>
                <p:nvPr/>
              </p:nvCxnSpPr>
              <p:spPr>
                <a:xfrm>
                  <a:off x="1745037" y="3203906"/>
                  <a:ext cx="5961052"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xmlns="" id="{899832AD-5BE8-4552-A3F4-F2D84BDAFD92}"/>
                    </a:ext>
                  </a:extLst>
                </p:cNvPr>
                <p:cNvCxnSpPr>
                  <a:cxnSpLocks/>
                </p:cNvCxnSpPr>
                <p:nvPr/>
              </p:nvCxnSpPr>
              <p:spPr>
                <a:xfrm>
                  <a:off x="4352513" y="3111997"/>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xmlns="" id="{25B68420-4914-4FC2-948C-6400993D3FC4}"/>
                    </a:ext>
                  </a:extLst>
                </p:cNvPr>
                <p:cNvCxnSpPr>
                  <a:cxnSpLocks/>
                </p:cNvCxnSpPr>
                <p:nvPr/>
              </p:nvCxnSpPr>
              <p:spPr>
                <a:xfrm>
                  <a:off x="5057896" y="3111997"/>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xmlns="" id="{499BA218-C076-4336-9810-0B382B2FD2C5}"/>
                    </a:ext>
                  </a:extLst>
                </p:cNvPr>
                <p:cNvCxnSpPr>
                  <a:cxnSpLocks/>
                </p:cNvCxnSpPr>
                <p:nvPr/>
              </p:nvCxnSpPr>
              <p:spPr>
                <a:xfrm>
                  <a:off x="5763278" y="3111997"/>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xmlns="" id="{8707BEBD-CE3F-4F71-8234-B29E9BCA3108}"/>
                    </a:ext>
                  </a:extLst>
                </p:cNvPr>
                <p:cNvCxnSpPr>
                  <a:cxnSpLocks/>
                </p:cNvCxnSpPr>
                <p:nvPr/>
              </p:nvCxnSpPr>
              <p:spPr>
                <a:xfrm>
                  <a:off x="7096489" y="3111997"/>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xmlns="" id="{2BD198DE-C7BF-4D8B-AC76-44B9938F1397}"/>
                    </a:ext>
                  </a:extLst>
                </p:cNvPr>
                <p:cNvCxnSpPr>
                  <a:cxnSpLocks/>
                </p:cNvCxnSpPr>
                <p:nvPr/>
              </p:nvCxnSpPr>
              <p:spPr>
                <a:xfrm>
                  <a:off x="3074758" y="3111997"/>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xmlns="" id="{04B58F88-5E9C-46A4-AE51-F20CF6BAEF5E}"/>
                    </a:ext>
                  </a:extLst>
                </p:cNvPr>
                <p:cNvSpPr txBox="1"/>
                <p:nvPr/>
              </p:nvSpPr>
              <p:spPr>
                <a:xfrm>
                  <a:off x="5474887" y="2924521"/>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48" name="文本框 47">
                  <a:extLst>
                    <a:ext uri="{FF2B5EF4-FFF2-40B4-BE49-F238E27FC236}">
                      <a16:creationId xmlns:a16="http://schemas.microsoft.com/office/drawing/2014/main" xmlns="" id="{3FFE7C6E-FF2C-42C9-8366-52C30485346B}"/>
                    </a:ext>
                  </a:extLst>
                </p:cNvPr>
                <p:cNvSpPr txBox="1"/>
                <p:nvPr/>
              </p:nvSpPr>
              <p:spPr>
                <a:xfrm>
                  <a:off x="4769505" y="2924520"/>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49" name="文本框 48">
                  <a:extLst>
                    <a:ext uri="{FF2B5EF4-FFF2-40B4-BE49-F238E27FC236}">
                      <a16:creationId xmlns:a16="http://schemas.microsoft.com/office/drawing/2014/main" xmlns="" id="{1FE2BEF2-B657-47A4-8764-CFA3616D404B}"/>
                    </a:ext>
                  </a:extLst>
                </p:cNvPr>
                <p:cNvSpPr txBox="1"/>
                <p:nvPr/>
              </p:nvSpPr>
              <p:spPr>
                <a:xfrm>
                  <a:off x="4064123" y="2924520"/>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0" name="文本框 49">
                  <a:extLst>
                    <a:ext uri="{FF2B5EF4-FFF2-40B4-BE49-F238E27FC236}">
                      <a16:creationId xmlns:a16="http://schemas.microsoft.com/office/drawing/2014/main" xmlns="" id="{48F95ADC-CD8E-4E57-AFCF-5837D6447A11}"/>
                    </a:ext>
                  </a:extLst>
                </p:cNvPr>
                <p:cNvSpPr txBox="1"/>
                <p:nvPr/>
              </p:nvSpPr>
              <p:spPr>
                <a:xfrm>
                  <a:off x="2786369" y="2924519"/>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-7</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1" name="文本框 50">
                  <a:extLst>
                    <a:ext uri="{FF2B5EF4-FFF2-40B4-BE49-F238E27FC236}">
                      <a16:creationId xmlns:a16="http://schemas.microsoft.com/office/drawing/2014/main" xmlns="" id="{FFC4662D-285B-4AC7-857A-3893DD561963}"/>
                    </a:ext>
                  </a:extLst>
                </p:cNvPr>
                <p:cNvSpPr txBox="1"/>
                <p:nvPr/>
              </p:nvSpPr>
              <p:spPr>
                <a:xfrm>
                  <a:off x="5474887" y="3272092"/>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001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2" name="文本框 51">
                  <a:extLst>
                    <a:ext uri="{FF2B5EF4-FFF2-40B4-BE49-F238E27FC236}">
                      <a16:creationId xmlns:a16="http://schemas.microsoft.com/office/drawing/2014/main" xmlns="" id="{B337F89A-982C-4E69-B4D4-DC4871154B7A}"/>
                    </a:ext>
                  </a:extLst>
                </p:cNvPr>
                <p:cNvSpPr txBox="1"/>
                <p:nvPr/>
              </p:nvSpPr>
              <p:spPr>
                <a:xfrm>
                  <a:off x="4769505" y="3272091"/>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000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3" name="文本框 52">
                  <a:extLst>
                    <a:ext uri="{FF2B5EF4-FFF2-40B4-BE49-F238E27FC236}">
                      <a16:creationId xmlns:a16="http://schemas.microsoft.com/office/drawing/2014/main" xmlns="" id="{EFCC201F-4D22-47EA-A7B6-F6C13D442FE2}"/>
                    </a:ext>
                  </a:extLst>
                </p:cNvPr>
                <p:cNvSpPr txBox="1"/>
                <p:nvPr/>
              </p:nvSpPr>
              <p:spPr>
                <a:xfrm>
                  <a:off x="4064123" y="3272091"/>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111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4" name="文本框 53">
                  <a:extLst>
                    <a:ext uri="{FF2B5EF4-FFF2-40B4-BE49-F238E27FC236}">
                      <a16:creationId xmlns:a16="http://schemas.microsoft.com/office/drawing/2014/main" xmlns="" id="{851F94B8-0B6A-4B2E-8626-7F94BFF9703C}"/>
                    </a:ext>
                  </a:extLst>
                </p:cNvPr>
                <p:cNvSpPr txBox="1"/>
                <p:nvPr/>
              </p:nvSpPr>
              <p:spPr>
                <a:xfrm>
                  <a:off x="2786369" y="3272090"/>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001</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5" name="文本框 54">
                  <a:extLst>
                    <a:ext uri="{FF2B5EF4-FFF2-40B4-BE49-F238E27FC236}">
                      <a16:creationId xmlns:a16="http://schemas.microsoft.com/office/drawing/2014/main" xmlns="" id="{85784745-632D-428A-A622-F5E811125E0B}"/>
                    </a:ext>
                  </a:extLst>
                </p:cNvPr>
                <p:cNvSpPr txBox="1"/>
                <p:nvPr/>
              </p:nvSpPr>
              <p:spPr>
                <a:xfrm>
                  <a:off x="6808098" y="2924518"/>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+7</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6" name="文本框 55">
                  <a:extLst>
                    <a:ext uri="{FF2B5EF4-FFF2-40B4-BE49-F238E27FC236}">
                      <a16:creationId xmlns:a16="http://schemas.microsoft.com/office/drawing/2014/main" xmlns="" id="{5E003661-8A38-4A84-9D95-2EBFD6D6ACB7}"/>
                    </a:ext>
                  </a:extLst>
                </p:cNvPr>
                <p:cNvSpPr txBox="1"/>
                <p:nvPr/>
              </p:nvSpPr>
              <p:spPr>
                <a:xfrm>
                  <a:off x="6808098" y="3272090"/>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0</a:t>
                  </a:r>
                  <a:r>
                    <a:rPr lang="en-US" altLang="zh-CN" sz="1200" b="1" dirty="0">
                      <a:solidFill>
                        <a:srgbClr val="002060"/>
                      </a:solidFill>
                      <a:latin typeface="黑体" panose="02010609060101010101" pitchFamily="49" charset="-122"/>
                      <a:ea typeface="黑体" panose="02010609060101010101" pitchFamily="49" charset="-122"/>
                    </a:rPr>
                    <a:t>111</a:t>
                  </a:r>
                  <a:endParaRPr lang="zh-CN" altLang="en-US" sz="1200" b="1" dirty="0">
                    <a:solidFill>
                      <a:srgbClr val="002060"/>
                    </a:solidFill>
                    <a:latin typeface="黑体" panose="02010609060101010101" pitchFamily="49" charset="-122"/>
                    <a:ea typeface="黑体" panose="02010609060101010101" pitchFamily="49" charset="-122"/>
                  </a:endParaRPr>
                </a:p>
              </p:txBody>
            </p:sp>
            <p:cxnSp>
              <p:nvCxnSpPr>
                <p:cNvPr id="57" name="直接连接符 56">
                  <a:extLst>
                    <a:ext uri="{FF2B5EF4-FFF2-40B4-BE49-F238E27FC236}">
                      <a16:creationId xmlns:a16="http://schemas.microsoft.com/office/drawing/2014/main" xmlns="" id="{DB27F7E0-8027-4378-8CBA-1C5DAB70AB3B}"/>
                    </a:ext>
                  </a:extLst>
                </p:cNvPr>
                <p:cNvCxnSpPr>
                  <a:cxnSpLocks/>
                </p:cNvCxnSpPr>
                <p:nvPr/>
              </p:nvCxnSpPr>
              <p:spPr>
                <a:xfrm>
                  <a:off x="2522161" y="3111996"/>
                  <a:ext cx="0" cy="180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xmlns="" id="{EE4B29C5-33F7-43EB-8994-635F027DF542}"/>
                    </a:ext>
                  </a:extLst>
                </p:cNvPr>
                <p:cNvSpPr txBox="1"/>
                <p:nvPr/>
              </p:nvSpPr>
              <p:spPr>
                <a:xfrm>
                  <a:off x="2219475" y="2924518"/>
                  <a:ext cx="576782" cy="184666"/>
                </a:xfrm>
                <a:prstGeom prst="rect">
                  <a:avLst/>
                </a:prstGeom>
                <a:noFill/>
              </p:spPr>
              <p:txBody>
                <a:bodyPr wrap="square" lIns="0" tIns="0" rIns="0" bIns="0">
                  <a:spAutoFit/>
                </a:bodyPr>
                <a:lstStyle/>
                <a:p>
                  <a:pPr algn="ctr"/>
                  <a:r>
                    <a:rPr lang="en-US" altLang="zh-CN" sz="1200" b="1" dirty="0">
                      <a:solidFill>
                        <a:srgbClr val="002060"/>
                      </a:solidFill>
                      <a:latin typeface="黑体" panose="02010609060101010101" pitchFamily="49" charset="-122"/>
                      <a:ea typeface="黑体" panose="02010609060101010101" pitchFamily="49" charset="-122"/>
                    </a:rPr>
                    <a:t>-8</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59" name="文本框 58">
                  <a:extLst>
                    <a:ext uri="{FF2B5EF4-FFF2-40B4-BE49-F238E27FC236}">
                      <a16:creationId xmlns:a16="http://schemas.microsoft.com/office/drawing/2014/main" xmlns="" id="{BEBAEAD6-58AE-425E-B2D4-850478E550A5}"/>
                    </a:ext>
                  </a:extLst>
                </p:cNvPr>
                <p:cNvSpPr txBox="1"/>
                <p:nvPr/>
              </p:nvSpPr>
              <p:spPr>
                <a:xfrm>
                  <a:off x="2219475" y="3272089"/>
                  <a:ext cx="576782" cy="184666"/>
                </a:xfrm>
                <a:prstGeom prst="rect">
                  <a:avLst/>
                </a:prstGeom>
                <a:noFill/>
              </p:spPr>
              <p:txBody>
                <a:bodyPr wrap="square" lIns="0" tIns="0" rIns="0" bIns="0">
                  <a:spAutoFit/>
                </a:bodyPr>
                <a:lstStyle/>
                <a:p>
                  <a:pPr algn="ctr"/>
                  <a:r>
                    <a:rPr lang="en-US" altLang="zh-CN" sz="1200" b="1" dirty="0">
                      <a:solidFill>
                        <a:srgbClr val="CC00CC"/>
                      </a:solidFill>
                      <a:latin typeface="黑体" panose="02010609060101010101" pitchFamily="49" charset="-122"/>
                      <a:ea typeface="黑体" panose="02010609060101010101" pitchFamily="49" charset="-122"/>
                    </a:rPr>
                    <a:t>1</a:t>
                  </a:r>
                  <a:r>
                    <a:rPr lang="en-US" altLang="zh-CN" sz="1200" b="1" dirty="0">
                      <a:solidFill>
                        <a:srgbClr val="002060"/>
                      </a:solidFill>
                      <a:latin typeface="黑体" panose="02010609060101010101" pitchFamily="49" charset="-122"/>
                      <a:ea typeface="黑体" panose="02010609060101010101" pitchFamily="49" charset="-122"/>
                    </a:rPr>
                    <a:t>000</a:t>
                  </a:r>
                  <a:endParaRPr lang="zh-CN" altLang="en-US" sz="1200" b="1" dirty="0">
                    <a:solidFill>
                      <a:srgbClr val="002060"/>
                    </a:solidFill>
                    <a:latin typeface="黑体" panose="02010609060101010101" pitchFamily="49" charset="-122"/>
                    <a:ea typeface="黑体" panose="02010609060101010101" pitchFamily="49" charset="-122"/>
                  </a:endParaRPr>
                </a:p>
              </p:txBody>
            </p:sp>
            <p:sp>
              <p:nvSpPr>
                <p:cNvPr id="62" name="文本框 61">
                  <a:extLst>
                    <a:ext uri="{FF2B5EF4-FFF2-40B4-BE49-F238E27FC236}">
                      <a16:creationId xmlns:a16="http://schemas.microsoft.com/office/drawing/2014/main" xmlns="" id="{AACCDE5B-07E7-4840-9D78-3E1DB149AB23}"/>
                    </a:ext>
                  </a:extLst>
                </p:cNvPr>
                <p:cNvSpPr txBox="1"/>
                <p:nvPr/>
              </p:nvSpPr>
              <p:spPr>
                <a:xfrm>
                  <a:off x="7337590" y="2939588"/>
                  <a:ext cx="576782" cy="184666"/>
                </a:xfrm>
                <a:prstGeom prst="rect">
                  <a:avLst/>
                </a:prstGeom>
                <a:noFill/>
              </p:spPr>
              <p:txBody>
                <a:bodyPr wrap="square" lIns="0" tIns="0" rIns="0" bIns="0">
                  <a:spAutoFit/>
                </a:bodyPr>
                <a:lstStyle/>
                <a:p>
                  <a:pPr algn="ctr"/>
                  <a:r>
                    <a:rPr lang="zh-CN" altLang="en-US" sz="1200" b="1" dirty="0">
                      <a:latin typeface="黑体" panose="02010609060101010101" pitchFamily="49" charset="-122"/>
                      <a:ea typeface="黑体" panose="02010609060101010101" pitchFamily="49" charset="-122"/>
                    </a:rPr>
                    <a:t>真值</a:t>
                  </a:r>
                </a:p>
              </p:txBody>
            </p:sp>
            <p:sp>
              <p:nvSpPr>
                <p:cNvPr id="63" name="文本框 62">
                  <a:extLst>
                    <a:ext uri="{FF2B5EF4-FFF2-40B4-BE49-F238E27FC236}">
                      <a16:creationId xmlns:a16="http://schemas.microsoft.com/office/drawing/2014/main" xmlns="" id="{36EFDCA6-3533-4034-8350-10130D47B054}"/>
                    </a:ext>
                  </a:extLst>
                </p:cNvPr>
                <p:cNvSpPr txBox="1"/>
                <p:nvPr/>
              </p:nvSpPr>
              <p:spPr>
                <a:xfrm>
                  <a:off x="7337590" y="3291996"/>
                  <a:ext cx="576782" cy="184666"/>
                </a:xfrm>
                <a:prstGeom prst="rect">
                  <a:avLst/>
                </a:prstGeom>
                <a:noFill/>
              </p:spPr>
              <p:txBody>
                <a:bodyPr wrap="square" lIns="0" tIns="0" rIns="0" bIns="0">
                  <a:spAutoFit/>
                </a:bodyPr>
                <a:lstStyle/>
                <a:p>
                  <a:pPr algn="ctr"/>
                  <a:r>
                    <a:rPr lang="zh-CN" altLang="en-US" sz="1200" b="1" dirty="0">
                      <a:latin typeface="黑体" panose="02010609060101010101" pitchFamily="49" charset="-122"/>
                      <a:ea typeface="黑体" panose="02010609060101010101" pitchFamily="49" charset="-122"/>
                    </a:rPr>
                    <a:t>补码</a:t>
                  </a:r>
                </a:p>
              </p:txBody>
            </p:sp>
          </p:grpSp>
          <p:sp>
            <p:nvSpPr>
              <p:cNvPr id="67" name="五边形 11">
                <a:extLst>
                  <a:ext uri="{FF2B5EF4-FFF2-40B4-BE49-F238E27FC236}">
                    <a16:creationId xmlns:a16="http://schemas.microsoft.com/office/drawing/2014/main" xmlns="" id="{E4991FDB-4512-43D2-844B-14EF67AD13D0}"/>
                  </a:ext>
                </a:extLst>
              </p:cNvPr>
              <p:cNvSpPr/>
              <p:nvPr/>
            </p:nvSpPr>
            <p:spPr>
              <a:xfrm>
                <a:off x="261780" y="2333877"/>
                <a:ext cx="1616000" cy="86518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方正大黑简体" pitchFamily="2" charset="-122"/>
                    <a:ea typeface="方正大黑简体" pitchFamily="2" charset="-122"/>
                  </a:rPr>
                  <a:t>有符号四位二进制数</a:t>
                </a:r>
              </a:p>
            </p:txBody>
          </p:sp>
        </p:grpSp>
        <p:sp>
          <p:nvSpPr>
            <p:cNvPr id="85" name="文本框 84">
              <a:extLst>
                <a:ext uri="{FF2B5EF4-FFF2-40B4-BE49-F238E27FC236}">
                  <a16:creationId xmlns:a16="http://schemas.microsoft.com/office/drawing/2014/main" xmlns="" id="{84E1519E-3A66-42EB-971E-2C961A190168}"/>
                </a:ext>
              </a:extLst>
            </p:cNvPr>
            <p:cNvSpPr txBox="1"/>
            <p:nvPr/>
          </p:nvSpPr>
          <p:spPr>
            <a:xfrm>
              <a:off x="2786367" y="1948592"/>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86" name="文本框 85">
              <a:extLst>
                <a:ext uri="{FF2B5EF4-FFF2-40B4-BE49-F238E27FC236}">
                  <a16:creationId xmlns:a16="http://schemas.microsoft.com/office/drawing/2014/main" xmlns="" id="{F3D0C51D-6816-4CEC-A15A-1D84D3980C5F}"/>
                </a:ext>
              </a:extLst>
            </p:cNvPr>
            <p:cNvSpPr txBox="1"/>
            <p:nvPr/>
          </p:nvSpPr>
          <p:spPr>
            <a:xfrm>
              <a:off x="2778201" y="2338752"/>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88" name="文本框 87">
              <a:extLst>
                <a:ext uri="{FF2B5EF4-FFF2-40B4-BE49-F238E27FC236}">
                  <a16:creationId xmlns:a16="http://schemas.microsoft.com/office/drawing/2014/main" xmlns="" id="{A1249BB6-BA4D-4754-9CE1-1C22CFA30E1C}"/>
                </a:ext>
              </a:extLst>
            </p:cNvPr>
            <p:cNvSpPr txBox="1"/>
            <p:nvPr/>
          </p:nvSpPr>
          <p:spPr>
            <a:xfrm>
              <a:off x="6161055" y="1953749"/>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89" name="文本框 88">
              <a:extLst>
                <a:ext uri="{FF2B5EF4-FFF2-40B4-BE49-F238E27FC236}">
                  <a16:creationId xmlns:a16="http://schemas.microsoft.com/office/drawing/2014/main" xmlns="" id="{8C1D160A-315F-4FAA-B290-65CC30870A9B}"/>
                </a:ext>
              </a:extLst>
            </p:cNvPr>
            <p:cNvSpPr txBox="1"/>
            <p:nvPr/>
          </p:nvSpPr>
          <p:spPr>
            <a:xfrm>
              <a:off x="6152889" y="2343909"/>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90" name="文本框 89">
              <a:extLst>
                <a:ext uri="{FF2B5EF4-FFF2-40B4-BE49-F238E27FC236}">
                  <a16:creationId xmlns:a16="http://schemas.microsoft.com/office/drawing/2014/main" xmlns="" id="{0182BE23-3A56-4961-87F4-CD4A3064A261}"/>
                </a:ext>
              </a:extLst>
            </p:cNvPr>
            <p:cNvSpPr txBox="1"/>
            <p:nvPr/>
          </p:nvSpPr>
          <p:spPr>
            <a:xfrm>
              <a:off x="6160428" y="2934232"/>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91" name="文本框 90">
              <a:extLst>
                <a:ext uri="{FF2B5EF4-FFF2-40B4-BE49-F238E27FC236}">
                  <a16:creationId xmlns:a16="http://schemas.microsoft.com/office/drawing/2014/main" xmlns="" id="{4957C5A9-6073-4A36-9A0B-132D9DBB6079}"/>
                </a:ext>
              </a:extLst>
            </p:cNvPr>
            <p:cNvSpPr txBox="1"/>
            <p:nvPr/>
          </p:nvSpPr>
          <p:spPr>
            <a:xfrm>
              <a:off x="6152262" y="3256024"/>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92" name="文本框 91">
              <a:extLst>
                <a:ext uri="{FF2B5EF4-FFF2-40B4-BE49-F238E27FC236}">
                  <a16:creationId xmlns:a16="http://schemas.microsoft.com/office/drawing/2014/main" xmlns="" id="{635EFE60-7406-496F-AA76-0785F52EA4D6}"/>
                </a:ext>
              </a:extLst>
            </p:cNvPr>
            <p:cNvSpPr txBox="1"/>
            <p:nvPr/>
          </p:nvSpPr>
          <p:spPr>
            <a:xfrm>
              <a:off x="3392485" y="2934232"/>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sp>
          <p:nvSpPr>
            <p:cNvPr id="93" name="文本框 92">
              <a:extLst>
                <a:ext uri="{FF2B5EF4-FFF2-40B4-BE49-F238E27FC236}">
                  <a16:creationId xmlns:a16="http://schemas.microsoft.com/office/drawing/2014/main" xmlns="" id="{C69FBEB6-43CE-4944-B5E0-E112F9237CFB}"/>
                </a:ext>
              </a:extLst>
            </p:cNvPr>
            <p:cNvSpPr txBox="1"/>
            <p:nvPr/>
          </p:nvSpPr>
          <p:spPr>
            <a:xfrm>
              <a:off x="3384319" y="3256024"/>
              <a:ext cx="576782" cy="184666"/>
            </a:xfrm>
            <a:prstGeom prst="rect">
              <a:avLst/>
            </a:prstGeom>
            <a:noFill/>
          </p:spPr>
          <p:txBody>
            <a:bodyPr wrap="square" lIns="0" tIns="0" rIns="0" bIns="0">
              <a:spAutoFit/>
            </a:bodyPr>
            <a:lstStyle/>
            <a:p>
              <a:pPr algn="ctr"/>
              <a:r>
                <a:rPr lang="en-US" altLang="zh-CN" sz="1200" b="1" dirty="0">
                  <a:latin typeface="黑体" panose="02010609060101010101" pitchFamily="49" charset="-122"/>
                  <a:ea typeface="黑体" panose="02010609060101010101" pitchFamily="49" charset="-122"/>
                </a:rPr>
                <a:t>……</a:t>
              </a:r>
              <a:endParaRPr lang="zh-CN" altLang="en-US" sz="1200" b="1" dirty="0">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600">
        <p14:prism dir="d"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8" fill="hold" nodeType="clickEffect">
                                  <p:stCondLst>
                                    <p:cond delay="0"/>
                                  </p:stCondLst>
                                  <p:childTnLst>
                                    <p:set>
                                      <p:cBhvr>
                                        <p:cTn id="13" dur="1" fill="hold">
                                          <p:stCondLst>
                                            <p:cond delay="0"/>
                                          </p:stCondLst>
                                        </p:cTn>
                                        <p:tgtEl>
                                          <p:spTgt spid="94"/>
                                        </p:tgtEl>
                                        <p:attrNameLst>
                                          <p:attrName>style.visibility</p:attrName>
                                        </p:attrNameLst>
                                      </p:cBhvr>
                                      <p:to>
                                        <p:strVal val="visible"/>
                                      </p:to>
                                    </p:set>
                                    <p:anim calcmode="lin" valueType="num">
                                      <p:cBhvr>
                                        <p:cTn id="14" dur="1000" fill="hold"/>
                                        <p:tgtEl>
                                          <p:spTgt spid="94"/>
                                        </p:tgtEl>
                                        <p:attrNameLst>
                                          <p:attrName>ppt_x</p:attrName>
                                        </p:attrNameLst>
                                      </p:cBhvr>
                                      <p:tavLst>
                                        <p:tav tm="0">
                                          <p:val>
                                            <p:strVal val="#ppt_x-#ppt_w/2"/>
                                          </p:val>
                                        </p:tav>
                                        <p:tav tm="100000">
                                          <p:val>
                                            <p:strVal val="#ppt_x"/>
                                          </p:val>
                                        </p:tav>
                                      </p:tavLst>
                                    </p:anim>
                                    <p:anim calcmode="lin" valueType="num">
                                      <p:cBhvr>
                                        <p:cTn id="15" dur="1000" fill="hold"/>
                                        <p:tgtEl>
                                          <p:spTgt spid="94"/>
                                        </p:tgtEl>
                                        <p:attrNameLst>
                                          <p:attrName>ppt_y</p:attrName>
                                        </p:attrNameLst>
                                      </p:cBhvr>
                                      <p:tavLst>
                                        <p:tav tm="0">
                                          <p:val>
                                            <p:strVal val="#ppt_y"/>
                                          </p:val>
                                        </p:tav>
                                        <p:tav tm="100000">
                                          <p:val>
                                            <p:strVal val="#ppt_y"/>
                                          </p:val>
                                        </p:tav>
                                      </p:tavLst>
                                    </p:anim>
                                    <p:anim calcmode="lin" valueType="num">
                                      <p:cBhvr>
                                        <p:cTn id="16" dur="1000" fill="hold"/>
                                        <p:tgtEl>
                                          <p:spTgt spid="94"/>
                                        </p:tgtEl>
                                        <p:attrNameLst>
                                          <p:attrName>ppt_w</p:attrName>
                                        </p:attrNameLst>
                                      </p:cBhvr>
                                      <p:tavLst>
                                        <p:tav tm="0">
                                          <p:val>
                                            <p:fltVal val="0"/>
                                          </p:val>
                                        </p:tav>
                                        <p:tav tm="100000">
                                          <p:val>
                                            <p:strVal val="#ppt_w"/>
                                          </p:val>
                                        </p:tav>
                                      </p:tavLst>
                                    </p:anim>
                                    <p:anim calcmode="lin" valueType="num">
                                      <p:cBhvr>
                                        <p:cTn id="17" dur="10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250"/>
                                  </p:stCondLst>
                                  <p:childTnLst>
                                    <p:set>
                                      <p:cBhvr>
                                        <p:cTn id="21" dur="1" fill="hold">
                                          <p:stCondLst>
                                            <p:cond delay="0"/>
                                          </p:stCondLst>
                                        </p:cTn>
                                        <p:tgtEl>
                                          <p:spTgt spid="80"/>
                                        </p:tgtEl>
                                        <p:attrNameLst>
                                          <p:attrName>style.visibility</p:attrName>
                                        </p:attrNameLst>
                                      </p:cBhvr>
                                      <p:to>
                                        <p:strVal val="visible"/>
                                      </p:to>
                                    </p:set>
                                    <p:animEffect transition="in" filter="barn(outVertical)">
                                      <p:cBhvr>
                                        <p:cTn id="22" dur="1000"/>
                                        <p:tgtEl>
                                          <p:spTgt spid="8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p:cTn id="27" dur="1000" fill="hold"/>
                                        <p:tgtEl>
                                          <p:spTgt spid="64"/>
                                        </p:tgtEl>
                                        <p:attrNameLst>
                                          <p:attrName>ppt_w</p:attrName>
                                        </p:attrNameLst>
                                      </p:cBhvr>
                                      <p:tavLst>
                                        <p:tav tm="0">
                                          <p:val>
                                            <p:fltVal val="0"/>
                                          </p:val>
                                        </p:tav>
                                        <p:tav tm="100000">
                                          <p:val>
                                            <p:strVal val="#ppt_w"/>
                                          </p:val>
                                        </p:tav>
                                      </p:tavLst>
                                    </p:anim>
                                    <p:anim calcmode="lin" valueType="num">
                                      <p:cBhvr>
                                        <p:cTn id="28" dur="1000" fill="hold"/>
                                        <p:tgtEl>
                                          <p:spTgt spid="64"/>
                                        </p:tgtEl>
                                        <p:attrNameLst>
                                          <p:attrName>ppt_h</p:attrName>
                                        </p:attrNameLst>
                                      </p:cBhvr>
                                      <p:tavLst>
                                        <p:tav tm="0">
                                          <p:val>
                                            <p:fltVal val="0"/>
                                          </p:val>
                                        </p:tav>
                                        <p:tav tm="100000">
                                          <p:val>
                                            <p:strVal val="#ppt_h"/>
                                          </p:val>
                                        </p:tav>
                                      </p:tavLst>
                                    </p:anim>
                                    <p:animEffect transition="in" filter="fade">
                                      <p:cBhvr>
                                        <p:cTn id="29" dur="10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grpId="1" nodeType="clickEffect">
                                  <p:stCondLst>
                                    <p:cond delay="0"/>
                                  </p:stCondLst>
                                  <p:childTnLst>
                                    <p:animMotion origin="layout" path="M 1.66667E-6 -2.59259E-6 L 1.66667E-6 0.18889 " pathEditMode="relative" rAng="0" ptsTypes="AA">
                                      <p:cBhvr>
                                        <p:cTn id="33" dur="2000" fill="hold"/>
                                        <p:tgtEl>
                                          <p:spTgt spid="80"/>
                                        </p:tgtEl>
                                        <p:attrNameLst>
                                          <p:attrName>ppt_x</p:attrName>
                                          <p:attrName>ppt_y</p:attrName>
                                        </p:attrNameLst>
                                      </p:cBhvr>
                                      <p:rCtr x="0" y="9444"/>
                                    </p:animMotion>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cBhvr>
                                        <p:cTn id="38" dur="1000" fill="hold"/>
                                        <p:tgtEl>
                                          <p:spTgt spid="65"/>
                                        </p:tgtEl>
                                        <p:attrNameLst>
                                          <p:attrName>ppt_w</p:attrName>
                                        </p:attrNameLst>
                                      </p:cBhvr>
                                      <p:tavLst>
                                        <p:tav tm="0">
                                          <p:val>
                                            <p:fltVal val="0"/>
                                          </p:val>
                                        </p:tav>
                                        <p:tav tm="100000">
                                          <p:val>
                                            <p:strVal val="#ppt_w"/>
                                          </p:val>
                                        </p:tav>
                                      </p:tavLst>
                                    </p:anim>
                                    <p:anim calcmode="lin" valueType="num">
                                      <p:cBhvr>
                                        <p:cTn id="39" dur="1000" fill="hold"/>
                                        <p:tgtEl>
                                          <p:spTgt spid="65"/>
                                        </p:tgtEl>
                                        <p:attrNameLst>
                                          <p:attrName>ppt_h</p:attrName>
                                        </p:attrNameLst>
                                      </p:cBhvr>
                                      <p:tavLst>
                                        <p:tav tm="0">
                                          <p:val>
                                            <p:fltVal val="0"/>
                                          </p:val>
                                        </p:tav>
                                        <p:tav tm="100000">
                                          <p:val>
                                            <p:strVal val="#ppt_h"/>
                                          </p:val>
                                        </p:tav>
                                      </p:tavLst>
                                    </p:anim>
                                    <p:animEffect transition="in" filter="fade">
                                      <p:cBhvr>
                                        <p:cTn id="40" dur="10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66"/>
                                        </p:tgtEl>
                                        <p:attrNameLst>
                                          <p:attrName>style.visibility</p:attrName>
                                        </p:attrNameLst>
                                      </p:cBhvr>
                                      <p:to>
                                        <p:strVal val="visible"/>
                                      </p:to>
                                    </p:set>
                                    <p:anim calcmode="lin" valueType="num">
                                      <p:cBhvr>
                                        <p:cTn id="45" dur="1000" fill="hold"/>
                                        <p:tgtEl>
                                          <p:spTgt spid="66"/>
                                        </p:tgtEl>
                                        <p:attrNameLst>
                                          <p:attrName>ppt_w</p:attrName>
                                        </p:attrNameLst>
                                      </p:cBhvr>
                                      <p:tavLst>
                                        <p:tav tm="0">
                                          <p:val>
                                            <p:fltVal val="0"/>
                                          </p:val>
                                        </p:tav>
                                        <p:tav tm="100000">
                                          <p:val>
                                            <p:strVal val="#ppt_w"/>
                                          </p:val>
                                        </p:tav>
                                      </p:tavLst>
                                    </p:anim>
                                    <p:anim calcmode="lin" valueType="num">
                                      <p:cBhvr>
                                        <p:cTn id="46" dur="1000" fill="hold"/>
                                        <p:tgtEl>
                                          <p:spTgt spid="66"/>
                                        </p:tgtEl>
                                        <p:attrNameLst>
                                          <p:attrName>ppt_h</p:attrName>
                                        </p:attrNameLst>
                                      </p:cBhvr>
                                      <p:tavLst>
                                        <p:tav tm="0">
                                          <p:val>
                                            <p:fltVal val="0"/>
                                          </p:val>
                                        </p:tav>
                                        <p:tav tm="100000">
                                          <p:val>
                                            <p:strVal val="#ppt_h"/>
                                          </p:val>
                                        </p:tav>
                                      </p:tavLst>
                                    </p:anim>
                                    <p:animEffect transition="in" filter="fade">
                                      <p:cBhvr>
                                        <p:cTn id="47" dur="1000"/>
                                        <p:tgtEl>
                                          <p:spTgt spid="6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2" nodeType="clickEffect">
                                  <p:stCondLst>
                                    <p:cond delay="0"/>
                                  </p:stCondLst>
                                  <p:childTnLst>
                                    <p:animEffect transition="out" filter="fade">
                                      <p:cBhvr>
                                        <p:cTn id="51" dur="1000"/>
                                        <p:tgtEl>
                                          <p:spTgt spid="80"/>
                                        </p:tgtEl>
                                      </p:cBhvr>
                                    </p:animEffect>
                                    <p:set>
                                      <p:cBhvr>
                                        <p:cTn id="52" dur="1" fill="hold">
                                          <p:stCondLst>
                                            <p:cond delay="999"/>
                                          </p:stCondLst>
                                        </p:cTn>
                                        <p:tgtEl>
                                          <p:spTgt spid="80"/>
                                        </p:tgtEl>
                                        <p:attrNameLst>
                                          <p:attrName>style.visibility</p:attrName>
                                        </p:attrNameLst>
                                      </p:cBhvr>
                                      <p:to>
                                        <p:strVal val="hidden"/>
                                      </p:to>
                                    </p:set>
                                  </p:childTnLst>
                                </p:cTn>
                              </p:par>
                              <p:par>
                                <p:cTn id="53" presetID="22" presetClass="entr" presetSubtype="4" fill="hold" nodeType="with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wipe(down)">
                                      <p:cBhvr>
                                        <p:cTn id="55" dur="750"/>
                                        <p:tgtEl>
                                          <p:spTgt spid="73"/>
                                        </p:tgtEl>
                                      </p:cBhvr>
                                    </p:animEffect>
                                  </p:childTnLst>
                                </p:cTn>
                              </p:par>
                            </p:childTnLst>
                          </p:cTn>
                        </p:par>
                        <p:par>
                          <p:cTn id="56" fill="hold">
                            <p:stCondLst>
                              <p:cond delay="1000"/>
                            </p:stCondLst>
                            <p:childTnLst>
                              <p:par>
                                <p:cTn id="57" presetID="22" presetClass="entr" presetSubtype="4" fill="hold" nodeType="after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wipe(down)">
                                      <p:cBhvr>
                                        <p:cTn id="59" dur="750"/>
                                        <p:tgtEl>
                                          <p:spTgt spid="74"/>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8" fill="hold" nodeType="clickEffect">
                                  <p:stCondLst>
                                    <p:cond delay="0"/>
                                  </p:stCondLst>
                                  <p:childTnLst>
                                    <p:set>
                                      <p:cBhvr>
                                        <p:cTn id="63" dur="1" fill="hold">
                                          <p:stCondLst>
                                            <p:cond delay="0"/>
                                          </p:stCondLst>
                                        </p:cTn>
                                        <p:tgtEl>
                                          <p:spTgt spid="77"/>
                                        </p:tgtEl>
                                        <p:attrNameLst>
                                          <p:attrName>style.visibility</p:attrName>
                                        </p:attrNameLst>
                                      </p:cBhvr>
                                      <p:to>
                                        <p:strVal val="visible"/>
                                      </p:to>
                                    </p:set>
                                    <p:anim calcmode="lin" valueType="num">
                                      <p:cBhvr>
                                        <p:cTn id="64" dur="1000" fill="hold"/>
                                        <p:tgtEl>
                                          <p:spTgt spid="77"/>
                                        </p:tgtEl>
                                        <p:attrNameLst>
                                          <p:attrName>ppt_x</p:attrName>
                                        </p:attrNameLst>
                                      </p:cBhvr>
                                      <p:tavLst>
                                        <p:tav tm="0">
                                          <p:val>
                                            <p:strVal val="#ppt_x-#ppt_w/2"/>
                                          </p:val>
                                        </p:tav>
                                        <p:tav tm="100000">
                                          <p:val>
                                            <p:strVal val="#ppt_x"/>
                                          </p:val>
                                        </p:tav>
                                      </p:tavLst>
                                    </p:anim>
                                    <p:anim calcmode="lin" valueType="num">
                                      <p:cBhvr>
                                        <p:cTn id="65" dur="1000" fill="hold"/>
                                        <p:tgtEl>
                                          <p:spTgt spid="77"/>
                                        </p:tgtEl>
                                        <p:attrNameLst>
                                          <p:attrName>ppt_y</p:attrName>
                                        </p:attrNameLst>
                                      </p:cBhvr>
                                      <p:tavLst>
                                        <p:tav tm="0">
                                          <p:val>
                                            <p:strVal val="#ppt_y"/>
                                          </p:val>
                                        </p:tav>
                                        <p:tav tm="100000">
                                          <p:val>
                                            <p:strVal val="#ppt_y"/>
                                          </p:val>
                                        </p:tav>
                                      </p:tavLst>
                                    </p:anim>
                                    <p:anim calcmode="lin" valueType="num">
                                      <p:cBhvr>
                                        <p:cTn id="66" dur="1000" fill="hold"/>
                                        <p:tgtEl>
                                          <p:spTgt spid="77"/>
                                        </p:tgtEl>
                                        <p:attrNameLst>
                                          <p:attrName>ppt_w</p:attrName>
                                        </p:attrNameLst>
                                      </p:cBhvr>
                                      <p:tavLst>
                                        <p:tav tm="0">
                                          <p:val>
                                            <p:fltVal val="0"/>
                                          </p:val>
                                        </p:tav>
                                        <p:tav tm="100000">
                                          <p:val>
                                            <p:strVal val="#ppt_w"/>
                                          </p:val>
                                        </p:tav>
                                      </p:tavLst>
                                    </p:anim>
                                    <p:anim calcmode="lin" valueType="num">
                                      <p:cBhvr>
                                        <p:cTn id="67" dur="1000" fill="hold"/>
                                        <p:tgtEl>
                                          <p:spTgt spid="77"/>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82"/>
                                        </p:tgtEl>
                                        <p:attrNameLst>
                                          <p:attrName>style.visibility</p:attrName>
                                        </p:attrNameLst>
                                      </p:cBhvr>
                                      <p:to>
                                        <p:strVal val="visible"/>
                                      </p:to>
                                    </p:set>
                                    <p:anim calcmode="lin" valueType="num">
                                      <p:cBhvr additive="base">
                                        <p:cTn id="72" dur="1000"/>
                                        <p:tgtEl>
                                          <p:spTgt spid="82"/>
                                        </p:tgtEl>
                                        <p:attrNameLst>
                                          <p:attrName>ppt_y</p:attrName>
                                        </p:attrNameLst>
                                      </p:cBhvr>
                                      <p:tavLst>
                                        <p:tav tm="0">
                                          <p:val>
                                            <p:strVal val="#ppt_y+#ppt_h*1.125000"/>
                                          </p:val>
                                        </p:tav>
                                        <p:tav tm="100000">
                                          <p:val>
                                            <p:strVal val="#ppt_y"/>
                                          </p:val>
                                        </p:tav>
                                      </p:tavLst>
                                    </p:anim>
                                    <p:animEffect transition="in" filter="wipe(up)">
                                      <p:cBhvr>
                                        <p:cTn id="73"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0" grpId="1" animBg="1"/>
      <p:bldP spid="80" grpId="2" animBg="1"/>
      <p:bldP spid="64" grpId="0" animBg="1"/>
      <p:bldP spid="65" grpId="0" animBg="1"/>
      <p:bldP spid="66" grpId="0" animBg="1"/>
      <p:bldP spid="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34" name="矩形 33"/>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35"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6" name="矩形 35"/>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）有符号二进制数的算术运算</a:t>
            </a:r>
          </a:p>
        </p:txBody>
      </p:sp>
      <p:grpSp>
        <p:nvGrpSpPr>
          <p:cNvPr id="3" name="组合 36">
            <a:extLst>
              <a:ext uri="{FF2B5EF4-FFF2-40B4-BE49-F238E27FC236}">
                <a16:creationId xmlns:a16="http://schemas.microsoft.com/office/drawing/2014/main" xmlns="" id="{E010191F-7F37-4AFE-B961-7090CF5FA91D}"/>
              </a:ext>
            </a:extLst>
          </p:cNvPr>
          <p:cNvGrpSpPr/>
          <p:nvPr/>
        </p:nvGrpSpPr>
        <p:grpSpPr>
          <a:xfrm>
            <a:off x="734308" y="1645695"/>
            <a:ext cx="2481333" cy="291604"/>
            <a:chOff x="358461" y="2491447"/>
            <a:chExt cx="2481333" cy="401382"/>
          </a:xfrm>
        </p:grpSpPr>
        <p:sp>
          <p:nvSpPr>
            <p:cNvPr id="38" name="矩形 37">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2238445" cy="401377"/>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二进制数补码的运算</a:t>
              </a:r>
            </a:p>
          </p:txBody>
        </p:sp>
        <p:sp>
          <p:nvSpPr>
            <p:cNvPr id="39" name="矩形 38">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41"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sp>
        <p:nvSpPr>
          <p:cNvPr id="10" name="Rectangle 10"/>
          <p:cNvSpPr>
            <a:spLocks noChangeArrowheads="1"/>
          </p:cNvSpPr>
          <p:nvPr/>
        </p:nvSpPr>
        <p:spPr bwMode="auto">
          <a:xfrm>
            <a:off x="332740" y="1936106"/>
            <a:ext cx="8502650" cy="792461"/>
          </a:xfrm>
          <a:prstGeom prst="rect">
            <a:avLst/>
          </a:prstGeom>
          <a:noFill/>
          <a:ln w="9525" algn="ctr">
            <a:noFill/>
            <a:miter lim="800000"/>
            <a:headEnd/>
            <a:tailEnd/>
          </a:ln>
        </p:spPr>
        <p:txBody>
          <a:bodyPr lIns="0" rIns="0">
            <a:spAutoFit/>
          </a:bodyPr>
          <a:lstStyle/>
          <a:p>
            <a:pPr indent="449263" algn="l">
              <a:lnSpc>
                <a:spcPct val="150000"/>
              </a:lnSpc>
            </a:pPr>
            <a:r>
              <a:rPr lang="zh-CN" altLang="en-US" sz="1600" dirty="0">
                <a:latin typeface="黑体" panose="02010609060101010101" pitchFamily="49" charset="-122"/>
                <a:ea typeface="黑体" panose="02010609060101010101" pitchFamily="49" charset="-122"/>
              </a:rPr>
              <a:t>在数字系统中，有符号的二进制数一律用补码进行存储和计算，通过引入补码，</a:t>
            </a:r>
            <a:r>
              <a:rPr lang="zh-CN" altLang="en-US" sz="1600" dirty="0">
                <a:solidFill>
                  <a:srgbClr val="0000FF"/>
                </a:solidFill>
                <a:latin typeface="方正粗黑宋简体" pitchFamily="2" charset="-122"/>
                <a:ea typeface="方正粗黑宋简体" pitchFamily="2" charset="-122"/>
              </a:rPr>
              <a:t>减法运算可以变为加法运算</a:t>
            </a:r>
            <a:r>
              <a:rPr lang="zh-CN" altLang="en-US" sz="1600" dirty="0">
                <a:latin typeface="黑体" panose="02010609060101010101" pitchFamily="49" charset="-122"/>
                <a:ea typeface="黑体" panose="02010609060101010101" pitchFamily="49" charset="-122"/>
              </a:rPr>
              <a:t>（</a:t>
            </a:r>
            <a:r>
              <a:rPr lang="zh-CN" altLang="en-US" sz="1600" dirty="0">
                <a:solidFill>
                  <a:srgbClr val="6600FF"/>
                </a:solidFill>
                <a:latin typeface="方正粗黑宋简体" pitchFamily="2" charset="-122"/>
                <a:ea typeface="方正粗黑宋简体" pitchFamily="2" charset="-122"/>
              </a:rPr>
              <a:t>减去一个正数相当加上一个负数</a:t>
            </a:r>
            <a:r>
              <a:rPr lang="zh-CN" altLang="en-US" sz="1600" dirty="0">
                <a:latin typeface="黑体" panose="02010609060101010101" pitchFamily="49" charset="-122"/>
                <a:ea typeface="黑体" panose="02010609060101010101" pitchFamily="49" charset="-122"/>
              </a:rPr>
              <a:t>）。</a:t>
            </a:r>
          </a:p>
        </p:txBody>
      </p:sp>
      <p:sp>
        <p:nvSpPr>
          <p:cNvPr id="11" name="Rectangle 11"/>
          <p:cNvSpPr>
            <a:spLocks noChangeArrowheads="1"/>
          </p:cNvSpPr>
          <p:nvPr/>
        </p:nvSpPr>
        <p:spPr bwMode="auto">
          <a:xfrm>
            <a:off x="803910" y="2727362"/>
            <a:ext cx="3600450" cy="442814"/>
          </a:xfrm>
          <a:prstGeom prst="rect">
            <a:avLst/>
          </a:prstGeom>
          <a:noFill/>
          <a:ln w="9525" algn="ctr">
            <a:noFill/>
            <a:miter lim="800000"/>
            <a:headEnd/>
            <a:tailEnd/>
          </a:ln>
        </p:spPr>
        <p:txBody>
          <a:bodyPr lIns="0" rIns="0">
            <a:spAutoFit/>
          </a:bodyPr>
          <a:lstStyle/>
          <a:p>
            <a:pPr algn="l">
              <a:lnSpc>
                <a:spcPct val="125000"/>
              </a:lnSpc>
            </a:pPr>
            <a:r>
              <a:rPr lang="zh-CN" altLang="en-US" dirty="0">
                <a:solidFill>
                  <a:srgbClr val="6600FF"/>
                </a:solidFill>
                <a:latin typeface="方正粗黑宋简体" pitchFamily="2" charset="-122"/>
                <a:ea typeface="方正粗黑宋简体" pitchFamily="2" charset="-122"/>
              </a:rPr>
              <a:t>例</a:t>
            </a:r>
            <a:r>
              <a:rPr kumimoji="1" lang="zh-CN" altLang="en-US" sz="2000" dirty="0">
                <a:solidFill>
                  <a:srgbClr val="000000"/>
                </a:solidFill>
                <a:latin typeface="楷体" pitchFamily="49" charset="-122"/>
                <a:ea typeface="楷体" pitchFamily="49" charset="-122"/>
              </a:rPr>
              <a:t>：</a:t>
            </a:r>
            <a:r>
              <a:rPr kumimoji="1" lang="en-US" altLang="zh-CN" sz="1600" dirty="0">
                <a:solidFill>
                  <a:srgbClr val="000000"/>
                </a:solidFill>
                <a:latin typeface="方正粗黑宋简体" pitchFamily="2" charset="-122"/>
                <a:ea typeface="方正粗黑宋简体" pitchFamily="2" charset="-122"/>
              </a:rPr>
              <a:t>(6-3)</a:t>
            </a:r>
            <a:r>
              <a:rPr kumimoji="1" lang="zh-CN" altLang="en-US" sz="1600" baseline="-250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 (6)</a:t>
            </a:r>
            <a:r>
              <a:rPr kumimoji="1" lang="zh-CN" altLang="en-US" sz="1600" baseline="-25000" dirty="0">
                <a:solidFill>
                  <a:srgbClr val="000000"/>
                </a:solidFill>
                <a:latin typeface="方正粗黑宋简体" pitchFamily="2" charset="-122"/>
                <a:ea typeface="方正粗黑宋简体" pitchFamily="2" charset="-122"/>
              </a:rPr>
              <a:t>补  </a:t>
            </a:r>
            <a:r>
              <a:rPr kumimoji="1" lang="en-US" altLang="zh-CN" sz="1600" dirty="0">
                <a:solidFill>
                  <a:srgbClr val="000000"/>
                </a:solidFill>
                <a:latin typeface="方正粗黑宋简体" pitchFamily="2" charset="-122"/>
                <a:ea typeface="方正粗黑宋简体" pitchFamily="2" charset="-122"/>
              </a:rPr>
              <a:t>+ (-3)</a:t>
            </a:r>
            <a:r>
              <a:rPr kumimoji="1" lang="zh-CN" altLang="en-US" sz="1600" baseline="-250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                  </a:t>
            </a:r>
          </a:p>
        </p:txBody>
      </p:sp>
      <p:grpSp>
        <p:nvGrpSpPr>
          <p:cNvPr id="14" name="组合 13">
            <a:extLst>
              <a:ext uri="{FF2B5EF4-FFF2-40B4-BE49-F238E27FC236}">
                <a16:creationId xmlns:a16="http://schemas.microsoft.com/office/drawing/2014/main" xmlns="" id="{3DA64AEF-242C-4813-B3A0-9A0F43296DA5}"/>
              </a:ext>
            </a:extLst>
          </p:cNvPr>
          <p:cNvGrpSpPr/>
          <p:nvPr/>
        </p:nvGrpSpPr>
        <p:grpSpPr>
          <a:xfrm>
            <a:off x="5012055" y="2656116"/>
            <a:ext cx="1554163" cy="1092998"/>
            <a:chOff x="5012055" y="2767796"/>
            <a:chExt cx="1554163" cy="1092998"/>
          </a:xfrm>
        </p:grpSpPr>
        <p:sp>
          <p:nvSpPr>
            <p:cNvPr id="13" name="Rectangle 13"/>
            <p:cNvSpPr>
              <a:spLocks noChangeArrowheads="1"/>
            </p:cNvSpPr>
            <p:nvPr/>
          </p:nvSpPr>
          <p:spPr bwMode="auto">
            <a:xfrm>
              <a:off x="5173980" y="2767796"/>
              <a:ext cx="1392238" cy="1092998"/>
            </a:xfrm>
            <a:prstGeom prst="rect">
              <a:avLst/>
            </a:prstGeom>
            <a:noFill/>
            <a:ln w="9525" algn="ctr">
              <a:noFill/>
              <a:miter lim="800000"/>
              <a:headEnd/>
              <a:tailEnd/>
            </a:ln>
          </p:spPr>
          <p:txBody>
            <a:bodyPr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110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101</a:t>
              </a:r>
            </a:p>
            <a:p>
              <a:pPr algn="l">
                <a:lnSpc>
                  <a:spcPct val="125000"/>
                </a:lnSpc>
              </a:pPr>
              <a:r>
                <a:rPr kumimoji="1" lang="en-US" altLang="zh-CN" sz="1600" dirty="0">
                  <a:solidFill>
                    <a:srgbClr val="FF0000"/>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011</a:t>
              </a:r>
            </a:p>
          </p:txBody>
        </p:sp>
        <p:sp>
          <p:nvSpPr>
            <p:cNvPr id="15" name="Line 15"/>
            <p:cNvSpPr>
              <a:spLocks noChangeShapeType="1"/>
            </p:cNvSpPr>
            <p:nvPr/>
          </p:nvSpPr>
          <p:spPr bwMode="auto">
            <a:xfrm>
              <a:off x="5012055" y="3504558"/>
              <a:ext cx="1143000"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19" name="组合 18">
            <a:extLst>
              <a:ext uri="{FF2B5EF4-FFF2-40B4-BE49-F238E27FC236}">
                <a16:creationId xmlns:a16="http://schemas.microsoft.com/office/drawing/2014/main" xmlns="" id="{61E24500-E831-44D1-ADD6-1AAB21FD42C4}"/>
              </a:ext>
            </a:extLst>
          </p:cNvPr>
          <p:cNvGrpSpPr/>
          <p:nvPr/>
        </p:nvGrpSpPr>
        <p:grpSpPr>
          <a:xfrm>
            <a:off x="3938905" y="3391449"/>
            <a:ext cx="1402715" cy="338615"/>
            <a:chOff x="3938905" y="3503129"/>
            <a:chExt cx="1402715" cy="338615"/>
          </a:xfrm>
        </p:grpSpPr>
        <p:sp>
          <p:nvSpPr>
            <p:cNvPr id="16" name="Text Box 16"/>
            <p:cNvSpPr txBox="1">
              <a:spLocks noChangeArrowheads="1"/>
            </p:cNvSpPr>
            <p:nvPr/>
          </p:nvSpPr>
          <p:spPr bwMode="auto">
            <a:xfrm>
              <a:off x="3938905" y="3503129"/>
              <a:ext cx="885825" cy="338615"/>
            </a:xfrm>
            <a:prstGeom prst="rect">
              <a:avLst/>
            </a:prstGeom>
            <a:noFill/>
            <a:ln w="9525" algn="ctr">
              <a:noFill/>
              <a:miter lim="800000"/>
              <a:headEnd/>
              <a:tailEnd/>
            </a:ln>
            <a:effectLst/>
          </p:spPr>
          <p:txBody>
            <a:bodyPr wrap="square" lIns="0" rIns="0">
              <a:spAutoFit/>
            </a:bodyPr>
            <a:lstStyle/>
            <a:p>
              <a:pPr>
                <a:defRPr/>
              </a:pPr>
              <a:r>
                <a:rPr lang="zh-CN" altLang="en-US" sz="1600" dirty="0">
                  <a:solidFill>
                    <a:srgbClr val="6600FF"/>
                  </a:solidFill>
                  <a:latin typeface="方正粗黑宋简体" pitchFamily="2" charset="-122"/>
                  <a:ea typeface="方正粗黑宋简体" pitchFamily="2" charset="-122"/>
                </a:rPr>
                <a:t>自动丢弃</a:t>
              </a:r>
            </a:p>
          </p:txBody>
        </p:sp>
        <p:sp>
          <p:nvSpPr>
            <p:cNvPr id="17" name="Line 17"/>
            <p:cNvSpPr>
              <a:spLocks noChangeShapeType="1"/>
            </p:cNvSpPr>
            <p:nvPr/>
          </p:nvSpPr>
          <p:spPr bwMode="auto">
            <a:xfrm flipH="1">
              <a:off x="4818380" y="3641718"/>
              <a:ext cx="252413" cy="0"/>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18" name="圆角矩形 17"/>
            <p:cNvSpPr/>
            <p:nvPr/>
          </p:nvSpPr>
          <p:spPr>
            <a:xfrm>
              <a:off x="5113020" y="3550561"/>
              <a:ext cx="228600" cy="185167"/>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xmlns="" id="{8A2C37E0-1272-4B59-A898-EE6891341A18}"/>
              </a:ext>
            </a:extLst>
          </p:cNvPr>
          <p:cNvGrpSpPr/>
          <p:nvPr/>
        </p:nvGrpSpPr>
        <p:grpSpPr>
          <a:xfrm>
            <a:off x="5379720" y="3377731"/>
            <a:ext cx="1272538" cy="338555"/>
            <a:chOff x="5379720" y="3489411"/>
            <a:chExt cx="1272538" cy="338555"/>
          </a:xfrm>
        </p:grpSpPr>
        <p:sp>
          <p:nvSpPr>
            <p:cNvPr id="20" name="圆角矩形 19"/>
            <p:cNvSpPr/>
            <p:nvPr/>
          </p:nvSpPr>
          <p:spPr>
            <a:xfrm>
              <a:off x="5379720" y="3550561"/>
              <a:ext cx="586740" cy="185167"/>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 Box 16"/>
            <p:cNvSpPr txBox="1">
              <a:spLocks noChangeArrowheads="1"/>
            </p:cNvSpPr>
            <p:nvPr/>
          </p:nvSpPr>
          <p:spPr bwMode="auto">
            <a:xfrm flipH="1">
              <a:off x="6270623" y="3489411"/>
              <a:ext cx="381635" cy="338555"/>
            </a:xfrm>
            <a:prstGeom prst="rect">
              <a:avLst/>
            </a:prstGeom>
            <a:noFill/>
            <a:ln w="9525" algn="ctr">
              <a:noFill/>
              <a:miter lim="800000"/>
              <a:headEnd/>
              <a:tailEnd/>
            </a:ln>
            <a:effectLst/>
          </p:spPr>
          <p:txBody>
            <a:bodyPr wrap="square" lIns="0" rIns="0">
              <a:spAutoFit/>
            </a:bodyPr>
            <a:lstStyle/>
            <a:p>
              <a:pPr>
                <a:defRPr/>
              </a:pPr>
              <a:r>
                <a:rPr lang="en-US" altLang="zh-CN" sz="1600" dirty="0">
                  <a:solidFill>
                    <a:srgbClr val="6600FF"/>
                  </a:solidFill>
                  <a:latin typeface="方正粗黑宋简体" pitchFamily="2" charset="-122"/>
                  <a:ea typeface="方正粗黑宋简体" pitchFamily="2" charset="-122"/>
                </a:rPr>
                <a:t>+3</a:t>
              </a:r>
              <a:endParaRPr lang="zh-CN" altLang="en-US" sz="1600" dirty="0">
                <a:solidFill>
                  <a:srgbClr val="6600FF"/>
                </a:solidFill>
                <a:latin typeface="方正粗黑宋简体" pitchFamily="2" charset="-122"/>
                <a:ea typeface="方正粗黑宋简体" pitchFamily="2" charset="-122"/>
              </a:endParaRPr>
            </a:p>
          </p:txBody>
        </p:sp>
        <p:sp>
          <p:nvSpPr>
            <p:cNvPr id="22" name="Line 17"/>
            <p:cNvSpPr>
              <a:spLocks noChangeShapeType="1"/>
            </p:cNvSpPr>
            <p:nvPr/>
          </p:nvSpPr>
          <p:spPr bwMode="auto">
            <a:xfrm>
              <a:off x="5984240" y="3648574"/>
              <a:ext cx="252413" cy="0"/>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8" name="组合 24"/>
          <p:cNvGrpSpPr/>
          <p:nvPr/>
        </p:nvGrpSpPr>
        <p:grpSpPr>
          <a:xfrm>
            <a:off x="568324" y="3769882"/>
            <a:ext cx="7626985" cy="842392"/>
            <a:chOff x="5603875" y="3086099"/>
            <a:chExt cx="7626985" cy="935991"/>
          </a:xfrm>
        </p:grpSpPr>
        <p:sp>
          <p:nvSpPr>
            <p:cNvPr id="26" name="剪去对角的矩形 25"/>
            <p:cNvSpPr/>
            <p:nvPr/>
          </p:nvSpPr>
          <p:spPr>
            <a:xfrm>
              <a:off x="5765800" y="3219450"/>
              <a:ext cx="7465060" cy="802640"/>
            </a:xfrm>
            <a:prstGeom prst="snip2Diag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5475" indent="-625475">
                <a:lnSpc>
                  <a:spcPct val="125000"/>
                </a:lnSpc>
              </a:pPr>
              <a:r>
                <a:rPr lang="zh-CN" altLang="en-US" sz="1600" dirty="0">
                  <a:solidFill>
                    <a:srgbClr val="0000FF"/>
                  </a:solidFill>
                  <a:latin typeface="方正粗黑宋简体" pitchFamily="2" charset="-122"/>
                  <a:ea typeface="方正粗黑宋简体" pitchFamily="2" charset="-122"/>
                </a:rPr>
                <a:t>注意：进行二进制补码加法运算时，被加数的补码和加数的补码的位数要相等（不等可以扩位补齐），运算结果多出的高位要舍掉！</a:t>
              </a:r>
            </a:p>
          </p:txBody>
        </p:sp>
        <p:pic>
          <p:nvPicPr>
            <p:cNvPr id="27" name="Picture 3"/>
            <p:cNvPicPr>
              <a:picLocks noChangeAspect="1" noChangeArrowheads="1"/>
            </p:cNvPicPr>
            <p:nvPr/>
          </p:nvPicPr>
          <p:blipFill>
            <a:blip r:embed="rId4" cstate="print"/>
            <a:srcRect/>
            <a:stretch>
              <a:fillRect/>
            </a:stretch>
          </p:blipFill>
          <p:spPr bwMode="auto">
            <a:xfrm>
              <a:off x="5603875" y="3086099"/>
              <a:ext cx="320675" cy="320675"/>
            </a:xfrm>
            <a:prstGeom prst="rect">
              <a:avLst/>
            </a:prstGeom>
            <a:noFill/>
            <a:ln w="9525">
              <a:noFill/>
              <a:miter lim="800000"/>
              <a:headEnd/>
              <a:tailEnd/>
            </a:ln>
            <a:effectLst/>
          </p:spPr>
        </p:pic>
      </p:grpSp>
      <p:sp>
        <p:nvSpPr>
          <p:cNvPr id="28" name="文本框 27">
            <a:extLst>
              <a:ext uri="{FF2B5EF4-FFF2-40B4-BE49-F238E27FC236}">
                <a16:creationId xmlns:a16="http://schemas.microsoft.com/office/drawing/2014/main" xmlns="" id="{94ACA969-222F-484D-845E-911775A46FEA}"/>
              </a:ext>
            </a:extLst>
          </p:cNvPr>
          <p:cNvSpPr txBox="1"/>
          <p:nvPr/>
        </p:nvSpPr>
        <p:spPr>
          <a:xfrm>
            <a:off x="1889440" y="3137378"/>
            <a:ext cx="1761175" cy="382349"/>
          </a:xfrm>
          <a:prstGeom prst="rect">
            <a:avLst/>
          </a:prstGeom>
          <a:noFill/>
        </p:spPr>
        <p:txBody>
          <a:bodyPr wrap="square">
            <a:spAutoFit/>
          </a:bodyPr>
          <a:lstStyle/>
          <a:p>
            <a:pPr algn="l">
              <a:lnSpc>
                <a:spcPct val="125000"/>
              </a:lnSpc>
            </a:pP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6600FF"/>
                </a:solidFill>
                <a:latin typeface="方正粗黑宋简体" pitchFamily="2" charset="-122"/>
                <a:ea typeface="方正粗黑宋简体" pitchFamily="2" charset="-122"/>
              </a:rPr>
              <a:t>0 </a:t>
            </a:r>
            <a:r>
              <a:rPr kumimoji="1" lang="en-US" altLang="zh-CN" sz="1600" dirty="0">
                <a:solidFill>
                  <a:srgbClr val="000000"/>
                </a:solidFill>
                <a:latin typeface="方正粗黑宋简体" pitchFamily="2" charset="-122"/>
                <a:ea typeface="方正粗黑宋简体" pitchFamily="2" charset="-122"/>
              </a:rPr>
              <a:t>110  + </a:t>
            </a:r>
            <a:r>
              <a:rPr kumimoji="1" lang="en-US" altLang="zh-CN" sz="1600" dirty="0">
                <a:solidFill>
                  <a:srgbClr val="6600FF"/>
                </a:solidFill>
                <a:latin typeface="方正粗黑宋简体" pitchFamily="2" charset="-122"/>
                <a:ea typeface="方正粗黑宋简体" pitchFamily="2" charset="-122"/>
              </a:rPr>
              <a:t>1 </a:t>
            </a:r>
            <a:r>
              <a:rPr kumimoji="1" lang="en-US" altLang="zh-CN" sz="1600" dirty="0">
                <a:solidFill>
                  <a:srgbClr val="000000"/>
                </a:solidFill>
                <a:latin typeface="方正粗黑宋简体" pitchFamily="2" charset="-122"/>
                <a:ea typeface="方正粗黑宋简体" pitchFamily="2" charset="-122"/>
              </a:rPr>
              <a:t>101</a:t>
            </a:r>
          </a:p>
        </p:txBody>
      </p:sp>
      <p:sp>
        <p:nvSpPr>
          <p:cNvPr id="30" name="文本框 29">
            <a:extLst>
              <a:ext uri="{FF2B5EF4-FFF2-40B4-BE49-F238E27FC236}">
                <a16:creationId xmlns:a16="http://schemas.microsoft.com/office/drawing/2014/main" xmlns="" id="{F6C9E0CA-B4A0-4764-8181-DC7323848431}"/>
              </a:ext>
            </a:extLst>
          </p:cNvPr>
          <p:cNvSpPr txBox="1"/>
          <p:nvPr/>
        </p:nvSpPr>
        <p:spPr>
          <a:xfrm>
            <a:off x="1889440" y="3431439"/>
            <a:ext cx="1279845" cy="382349"/>
          </a:xfrm>
          <a:prstGeom prst="rect">
            <a:avLst/>
          </a:prstGeom>
          <a:noFill/>
        </p:spPr>
        <p:txBody>
          <a:bodyPr wrap="square">
            <a:spAutoFit/>
          </a:bodyPr>
          <a:lstStyle/>
          <a:p>
            <a:pPr algn="l">
              <a:lnSpc>
                <a:spcPct val="125000"/>
              </a:lnSpc>
            </a:pPr>
            <a:r>
              <a:rPr kumimoji="1" lang="en-US" altLang="zh-CN" sz="1600" dirty="0">
                <a:solidFill>
                  <a:srgbClr val="000000"/>
                </a:solidFill>
                <a:latin typeface="方正粗黑宋简体" pitchFamily="2" charset="-122"/>
                <a:ea typeface="方正粗黑宋简体" pitchFamily="2" charset="-122"/>
              </a:rPr>
              <a:t>=</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011</a:t>
            </a:r>
            <a:r>
              <a:rPr kumimoji="1" lang="zh-CN" altLang="en-US" sz="1600" dirty="0">
                <a:solidFill>
                  <a:srgbClr val="000000"/>
                </a:solidFill>
                <a:latin typeface="方正粗黑宋简体" pitchFamily="2" charset="-122"/>
                <a:ea typeface="方正粗黑宋简体" pitchFamily="2" charset="-122"/>
              </a:rPr>
              <a:t>（</a:t>
            </a:r>
            <a:r>
              <a:rPr kumimoji="1" lang="en-US" altLang="zh-CN" sz="1600" dirty="0">
                <a:solidFill>
                  <a:srgbClr val="6600FF"/>
                </a:solidFill>
                <a:latin typeface="方正粗黑宋简体" pitchFamily="2" charset="-122"/>
                <a:ea typeface="方正粗黑宋简体" pitchFamily="2" charset="-122"/>
              </a:rPr>
              <a:t>+3</a:t>
            </a:r>
            <a:r>
              <a:rPr kumimoji="1" lang="zh-CN" altLang="en-US" sz="1600" dirty="0">
                <a:solidFill>
                  <a:srgbClr val="000000"/>
                </a:solidFill>
                <a:latin typeface="方正粗黑宋简体" pitchFamily="2" charset="-122"/>
                <a:ea typeface="方正粗黑宋简体" pitchFamily="2" charset="-122"/>
              </a:rPr>
              <a:t>）</a:t>
            </a:r>
            <a:endParaRPr kumimoji="1" lang="en-US" altLang="zh-CN" sz="1600" dirty="0">
              <a:solidFill>
                <a:srgbClr val="000000"/>
              </a:solidFill>
              <a:latin typeface="方正粗黑宋简体" pitchFamily="2" charset="-122"/>
              <a:ea typeface="方正粗黑宋简体" pitchFamily="2" charset="-122"/>
            </a:endParaRPr>
          </a:p>
        </p:txBody>
      </p:sp>
    </p:spTree>
    <p:extLst>
      <p:ext uri="{BB962C8B-B14F-4D97-AF65-F5344CB8AC3E}">
        <p14:creationId xmlns:p14="http://schemas.microsoft.com/office/powerpoint/2010/main" val="3447885111"/>
      </p:ext>
    </p:extLst>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lide(fromBottom)">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slide(fromBottom)">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right)">
                                      <p:cBhvr>
                                        <p:cTn id="43" dur="10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1000"/>
                                        <p:tgtEl>
                                          <p:spTgt spid="23"/>
                                        </p:tgtEl>
                                      </p:cBhvr>
                                    </p:animEffect>
                                  </p:childTnLst>
                                </p:cTn>
                              </p:par>
                              <p:par>
                                <p:cTn id="49" presetID="42"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1000"/>
                                        <p:tgtEl>
                                          <p:spTgt spid="30"/>
                                        </p:tgtEl>
                                      </p:cBhvr>
                                    </p:animEffect>
                                    <p:anim calcmode="lin" valueType="num">
                                      <p:cBhvr>
                                        <p:cTn id="52" dur="1000" fill="hold"/>
                                        <p:tgtEl>
                                          <p:spTgt spid="30"/>
                                        </p:tgtEl>
                                        <p:attrNameLst>
                                          <p:attrName>ppt_x</p:attrName>
                                        </p:attrNameLst>
                                      </p:cBhvr>
                                      <p:tavLst>
                                        <p:tav tm="0">
                                          <p:val>
                                            <p:strVal val="#ppt_x"/>
                                          </p:val>
                                        </p:tav>
                                        <p:tav tm="100000">
                                          <p:val>
                                            <p:strVal val="#ppt_x"/>
                                          </p:val>
                                        </p:tav>
                                      </p:tavLst>
                                    </p:anim>
                                    <p:anim calcmode="lin" valueType="num">
                                      <p:cBhvr>
                                        <p:cTn id="5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8" grpId="0"/>
      <p:bldP spid="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12" name="矩形 11"/>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13"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2" name="矩形 21"/>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）有符号二进制数的算术运算</a:t>
            </a:r>
          </a:p>
        </p:txBody>
      </p:sp>
      <p:grpSp>
        <p:nvGrpSpPr>
          <p:cNvPr id="3" name="组合 22">
            <a:extLst>
              <a:ext uri="{FF2B5EF4-FFF2-40B4-BE49-F238E27FC236}">
                <a16:creationId xmlns:a16="http://schemas.microsoft.com/office/drawing/2014/main" xmlns="" id="{E010191F-7F37-4AFE-B961-7090CF5FA91D}"/>
              </a:ext>
            </a:extLst>
          </p:cNvPr>
          <p:cNvGrpSpPr/>
          <p:nvPr/>
        </p:nvGrpSpPr>
        <p:grpSpPr>
          <a:xfrm>
            <a:off x="734308" y="1696971"/>
            <a:ext cx="2237493" cy="291604"/>
            <a:chOff x="358461" y="2491447"/>
            <a:chExt cx="2237493" cy="401382"/>
          </a:xfrm>
        </p:grpSpPr>
        <p:sp>
          <p:nvSpPr>
            <p:cNvPr id="24" name="矩形 23">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1994605" cy="401377"/>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运算的溢出问题</a:t>
              </a:r>
            </a:p>
          </p:txBody>
        </p:sp>
        <p:sp>
          <p:nvSpPr>
            <p:cNvPr id="25" name="矩形 24">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26"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grpSp>
        <p:nvGrpSpPr>
          <p:cNvPr id="5" name="Group 19"/>
          <p:cNvGrpSpPr>
            <a:grpSpLocks/>
          </p:cNvGrpSpPr>
          <p:nvPr/>
        </p:nvGrpSpPr>
        <p:grpSpPr bwMode="auto">
          <a:xfrm>
            <a:off x="732791" y="2124780"/>
            <a:ext cx="5295900" cy="1400176"/>
            <a:chOff x="572" y="958"/>
            <a:chExt cx="3336" cy="980"/>
          </a:xfrm>
        </p:grpSpPr>
        <p:sp>
          <p:nvSpPr>
            <p:cNvPr id="28" name="Rectangle 5"/>
            <p:cNvSpPr>
              <a:spLocks noChangeArrowheads="1"/>
            </p:cNvSpPr>
            <p:nvPr/>
          </p:nvSpPr>
          <p:spPr bwMode="auto">
            <a:xfrm>
              <a:off x="572" y="958"/>
              <a:ext cx="3336" cy="980"/>
            </a:xfrm>
            <a:prstGeom prst="rect">
              <a:avLst/>
            </a:prstGeom>
            <a:noFill/>
            <a:ln w="9525" algn="ctr">
              <a:noFill/>
              <a:miter lim="800000"/>
              <a:headEnd/>
              <a:tailEnd/>
            </a:ln>
          </p:spPr>
          <p:txBody>
            <a:bodyPr lIns="0" rIns="0">
              <a:spAutoFit/>
            </a:bodyPr>
            <a:lstStyle/>
            <a:p>
              <a:pPr algn="l">
                <a:lnSpc>
                  <a:spcPct val="125000"/>
                </a:lnSpc>
              </a:pPr>
              <a:r>
                <a:rPr kumimoji="1" lang="zh-CN" altLang="en-US" sz="1600" dirty="0">
                  <a:solidFill>
                    <a:srgbClr val="6600FF"/>
                  </a:solidFill>
                  <a:latin typeface="方正粗黑宋简体" pitchFamily="2" charset="-122"/>
                  <a:ea typeface="方正粗黑宋简体" pitchFamily="2" charset="-122"/>
                </a:rPr>
                <a:t>例</a:t>
              </a:r>
              <a:r>
                <a:rPr kumimoji="1" lang="zh-CN" altLang="en-US" sz="1600" dirty="0">
                  <a:solidFill>
                    <a:srgbClr val="000000"/>
                  </a:solidFill>
                  <a:latin typeface="方正粗黑宋简体" pitchFamily="2" charset="-122"/>
                  <a:ea typeface="方正粗黑宋简体" pitchFamily="2" charset="-122"/>
                </a:rPr>
                <a:t>：试用</a:t>
              </a:r>
              <a:r>
                <a:rPr kumimoji="1" lang="en-US" altLang="zh-CN" sz="1600" dirty="0">
                  <a:solidFill>
                    <a:srgbClr val="000000"/>
                  </a:solidFill>
                  <a:latin typeface="方正粗黑宋简体" pitchFamily="2" charset="-122"/>
                  <a:ea typeface="方正粗黑宋简体" pitchFamily="2" charset="-122"/>
                </a:rPr>
                <a:t>4</a:t>
              </a:r>
              <a:r>
                <a:rPr kumimoji="1" lang="zh-CN" altLang="en-US" sz="1600" dirty="0">
                  <a:solidFill>
                    <a:srgbClr val="000000"/>
                  </a:solidFill>
                  <a:latin typeface="方正粗黑宋简体" pitchFamily="2" charset="-122"/>
                  <a:ea typeface="方正粗黑宋简体" pitchFamily="2" charset="-122"/>
                </a:rPr>
                <a:t>位二进制补码计算</a:t>
              </a:r>
              <a:r>
                <a:rPr kumimoji="1" lang="en-US" altLang="zh-CN" sz="1600" dirty="0">
                  <a:solidFill>
                    <a:srgbClr val="000000"/>
                  </a:solidFill>
                  <a:latin typeface="方正粗黑宋简体" pitchFamily="2" charset="-122"/>
                  <a:ea typeface="方正粗黑宋简体" pitchFamily="2" charset="-122"/>
                </a:rPr>
                <a:t>6+3</a:t>
              </a:r>
              <a:r>
                <a:rPr kumimoji="1" lang="zh-CN" altLang="en-US" sz="1600" dirty="0">
                  <a:solidFill>
                    <a:srgbClr val="000000"/>
                  </a:solidFill>
                  <a:latin typeface="方正粗黑宋简体" pitchFamily="2" charset="-122"/>
                  <a:ea typeface="方正粗黑宋简体" pitchFamily="2" charset="-122"/>
                </a:rPr>
                <a:t>。</a:t>
              </a:r>
              <a:endParaRPr kumimoji="1" lang="en-US" altLang="zh-CN" sz="1600" dirty="0">
                <a:solidFill>
                  <a:srgbClr val="000000"/>
                </a:solidFill>
                <a:latin typeface="方正粗黑宋简体" pitchFamily="2" charset="-122"/>
                <a:ea typeface="方正粗黑宋简体" pitchFamily="2" charset="-122"/>
              </a:endParaRPr>
            </a:p>
            <a:p>
              <a:pPr algn="l">
                <a:lnSpc>
                  <a:spcPct val="125000"/>
                </a:lnSpc>
              </a:pPr>
              <a:r>
                <a:rPr kumimoji="1" lang="en-US" altLang="zh-CN" sz="2000" dirty="0">
                  <a:solidFill>
                    <a:srgbClr val="000000"/>
                  </a:solidFill>
                  <a:latin typeface="楷体" pitchFamily="49" charset="-122"/>
                  <a:ea typeface="楷体" pitchFamily="49" charset="-122"/>
                </a:rPr>
                <a:t>    </a:t>
              </a:r>
              <a:r>
                <a:rPr kumimoji="1" lang="en-US" altLang="zh-CN" sz="1600" dirty="0">
                  <a:solidFill>
                    <a:srgbClr val="000000"/>
                  </a:solidFill>
                  <a:latin typeface="方正粗黑宋简体" pitchFamily="2" charset="-122"/>
                  <a:ea typeface="方正粗黑宋简体" pitchFamily="2" charset="-122"/>
                </a:rPr>
                <a:t>(6+3)</a:t>
              </a:r>
              <a:r>
                <a:rPr kumimoji="1" lang="zh-CN" altLang="en-US" sz="1600" dirty="0">
                  <a:solidFill>
                    <a:srgbClr val="000000"/>
                  </a:solidFill>
                  <a:latin typeface="方正粗黑宋简体" pitchFamily="2" charset="-122"/>
                  <a:ea typeface="方正粗黑宋简体" pitchFamily="2" charset="-122"/>
                </a:rPr>
                <a:t>补 </a:t>
              </a:r>
              <a:r>
                <a:rPr kumimoji="1" lang="en-US" altLang="zh-CN" sz="1600" dirty="0">
                  <a:solidFill>
                    <a:srgbClr val="000000"/>
                  </a:solidFill>
                  <a:latin typeface="方正粗黑宋简体" pitchFamily="2" charset="-122"/>
                  <a:ea typeface="方正粗黑宋简体" pitchFamily="2" charset="-122"/>
                </a:rPr>
                <a:t>= (6)</a:t>
              </a:r>
              <a:r>
                <a:rPr kumimoji="1" lang="zh-CN" altLang="en-US" sz="16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 (3)</a:t>
              </a:r>
              <a:r>
                <a:rPr kumimoji="1" lang="zh-CN" altLang="en-US" sz="1600" dirty="0">
                  <a:solidFill>
                    <a:srgbClr val="000000"/>
                  </a:solidFill>
                  <a:latin typeface="方正粗黑宋简体" pitchFamily="2" charset="-122"/>
                  <a:ea typeface="方正粗黑宋简体" pitchFamily="2" charset="-122"/>
                </a:rPr>
                <a:t>补</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 </a:t>
              </a:r>
              <a:r>
                <a:rPr kumimoji="1" lang="en-US" altLang="zh-CN" sz="1600" dirty="0">
                  <a:solidFill>
                    <a:srgbClr val="000000"/>
                  </a:solidFill>
                  <a:latin typeface="方正粗黑宋简体" pitchFamily="2" charset="-122"/>
                  <a:ea typeface="方正粗黑宋简体" pitchFamily="2" charset="-122"/>
                </a:rPr>
                <a:t>110  +</a:t>
              </a:r>
              <a:r>
                <a:rPr kumimoji="1" lang="en-US" altLang="zh-CN" sz="1600" dirty="0">
                  <a:solidFill>
                    <a:srgbClr val="6600FF"/>
                  </a:solidFill>
                  <a:latin typeface="方正粗黑宋简体" pitchFamily="2" charset="-122"/>
                  <a:ea typeface="方正粗黑宋简体" pitchFamily="2" charset="-122"/>
                </a:rPr>
                <a:t> 0 </a:t>
              </a:r>
              <a:r>
                <a:rPr kumimoji="1" lang="en-US" altLang="zh-CN" sz="1600" dirty="0">
                  <a:solidFill>
                    <a:srgbClr val="000000"/>
                  </a:solidFill>
                  <a:latin typeface="方正粗黑宋简体" pitchFamily="2" charset="-122"/>
                  <a:ea typeface="方正粗黑宋简体" pitchFamily="2" charset="-122"/>
                </a:rPr>
                <a:t>011</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1 </a:t>
              </a:r>
              <a:r>
                <a:rPr kumimoji="1" lang="en-US" altLang="zh-CN" sz="1600" dirty="0">
                  <a:solidFill>
                    <a:srgbClr val="000000"/>
                  </a:solidFill>
                  <a:latin typeface="方正粗黑宋简体" pitchFamily="2" charset="-122"/>
                  <a:ea typeface="方正粗黑宋简体" pitchFamily="2" charset="-122"/>
                </a:rPr>
                <a:t>001</a:t>
              </a:r>
              <a:endParaRPr kumimoji="1" lang="zh-CN" altLang="en-US" sz="1600" dirty="0">
                <a:solidFill>
                  <a:srgbClr val="000000"/>
                </a:solidFill>
                <a:latin typeface="方正粗黑宋简体" pitchFamily="2" charset="-122"/>
                <a:ea typeface="方正粗黑宋简体" pitchFamily="2" charset="-122"/>
              </a:endParaRPr>
            </a:p>
          </p:txBody>
        </p:sp>
        <p:grpSp>
          <p:nvGrpSpPr>
            <p:cNvPr id="6" name="Group 12"/>
            <p:cNvGrpSpPr>
              <a:grpSpLocks/>
            </p:cNvGrpSpPr>
            <p:nvPr/>
          </p:nvGrpSpPr>
          <p:grpSpPr bwMode="auto">
            <a:xfrm>
              <a:off x="2691" y="1121"/>
              <a:ext cx="931" cy="765"/>
              <a:chOff x="3179" y="1069"/>
              <a:chExt cx="931" cy="765"/>
            </a:xfrm>
          </p:grpSpPr>
          <p:sp>
            <p:nvSpPr>
              <p:cNvPr id="30" name="Rectangle 7"/>
              <p:cNvSpPr>
                <a:spLocks noChangeArrowheads="1"/>
              </p:cNvSpPr>
              <p:nvPr/>
            </p:nvSpPr>
            <p:spPr bwMode="auto">
              <a:xfrm>
                <a:off x="3233" y="1069"/>
                <a:ext cx="877" cy="765"/>
              </a:xfrm>
              <a:prstGeom prst="rect">
                <a:avLst/>
              </a:prstGeom>
              <a:noFill/>
              <a:ln w="9525" algn="ctr">
                <a:noFill/>
                <a:miter lim="800000"/>
                <a:headEnd/>
                <a:tailEnd/>
              </a:ln>
            </p:spPr>
            <p:txBody>
              <a:bodyPr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110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011</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001</a:t>
                </a:r>
              </a:p>
            </p:txBody>
          </p:sp>
          <p:sp>
            <p:nvSpPr>
              <p:cNvPr id="31" name="Line 9"/>
              <p:cNvSpPr>
                <a:spLocks noChangeShapeType="1"/>
              </p:cNvSpPr>
              <p:nvPr/>
            </p:nvSpPr>
            <p:spPr bwMode="auto">
              <a:xfrm>
                <a:off x="3179" y="1575"/>
                <a:ext cx="720" cy="0"/>
              </a:xfrm>
              <a:prstGeom prst="line">
                <a:avLst/>
              </a:prstGeom>
              <a:noFill/>
              <a:ln w="19050">
                <a:solidFill>
                  <a:srgbClr val="000000"/>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grpSp>
        <p:nvGrpSpPr>
          <p:cNvPr id="7" name="组合 46"/>
          <p:cNvGrpSpPr/>
          <p:nvPr/>
        </p:nvGrpSpPr>
        <p:grpSpPr>
          <a:xfrm>
            <a:off x="595630" y="3419391"/>
            <a:ext cx="5866128" cy="1397318"/>
            <a:chOff x="595630" y="3683637"/>
            <a:chExt cx="5866128" cy="1552576"/>
          </a:xfrm>
        </p:grpSpPr>
        <p:sp>
          <p:nvSpPr>
            <p:cNvPr id="44" name="圆角矩形 43"/>
            <p:cNvSpPr/>
            <p:nvPr/>
          </p:nvSpPr>
          <p:spPr>
            <a:xfrm>
              <a:off x="4450080" y="4878291"/>
              <a:ext cx="701040" cy="20574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42"/>
            <p:cNvGrpSpPr/>
            <p:nvPr/>
          </p:nvGrpSpPr>
          <p:grpSpPr>
            <a:xfrm>
              <a:off x="595630" y="3683637"/>
              <a:ext cx="5435600" cy="1552576"/>
              <a:chOff x="595630" y="3683637"/>
              <a:chExt cx="5435600" cy="1552576"/>
            </a:xfrm>
          </p:grpSpPr>
          <p:grpSp>
            <p:nvGrpSpPr>
              <p:cNvPr id="9" name="Group 18"/>
              <p:cNvGrpSpPr>
                <a:grpSpLocks/>
              </p:cNvGrpSpPr>
              <p:nvPr/>
            </p:nvGrpSpPr>
            <p:grpSpPr bwMode="auto">
              <a:xfrm>
                <a:off x="595630" y="3683637"/>
                <a:ext cx="5435600" cy="1552576"/>
                <a:chOff x="236" y="2181"/>
                <a:chExt cx="3424" cy="978"/>
              </a:xfrm>
            </p:grpSpPr>
            <p:sp>
              <p:nvSpPr>
                <p:cNvPr id="33" name="Rectangle 13"/>
                <p:cNvSpPr>
                  <a:spLocks noChangeArrowheads="1"/>
                </p:cNvSpPr>
                <p:nvPr/>
              </p:nvSpPr>
              <p:spPr bwMode="auto">
                <a:xfrm>
                  <a:off x="236" y="2181"/>
                  <a:ext cx="2524" cy="268"/>
                </a:xfrm>
                <a:prstGeom prst="rect">
                  <a:avLst/>
                </a:prstGeom>
                <a:noFill/>
                <a:ln w="9525" algn="ctr">
                  <a:noFill/>
                  <a:miter lim="800000"/>
                  <a:headEnd/>
                  <a:tailEnd/>
                </a:ln>
              </p:spPr>
              <p:txBody>
                <a:bodyPr wrap="square" lIns="0" rIns="0">
                  <a:spAutoFit/>
                </a:bodyPr>
                <a:lstStyle/>
                <a:p>
                  <a:pPr indent="533400" algn="l">
                    <a:lnSpc>
                      <a:spcPct val="125000"/>
                    </a:lnSpc>
                  </a:pPr>
                  <a:r>
                    <a:rPr kumimoji="1" lang="zh-CN" altLang="en-US" sz="1600" dirty="0">
                      <a:solidFill>
                        <a:srgbClr val="000000"/>
                      </a:solidFill>
                      <a:latin typeface="方正粗黑宋简体" pitchFamily="2" charset="-122"/>
                      <a:ea typeface="方正粗黑宋简体" pitchFamily="2" charset="-122"/>
                    </a:rPr>
                    <a:t>解决溢出的办法：</a:t>
                  </a:r>
                  <a:r>
                    <a:rPr kumimoji="1" lang="zh-CN" altLang="en-US" sz="1600" dirty="0">
                      <a:solidFill>
                        <a:srgbClr val="CC00CC"/>
                      </a:solidFill>
                      <a:latin typeface="方正粗黑宋简体" pitchFamily="2" charset="-122"/>
                      <a:ea typeface="方正粗黑宋简体" pitchFamily="2" charset="-122"/>
                    </a:rPr>
                    <a:t>进行位扩展</a:t>
                  </a:r>
                  <a:r>
                    <a:rPr kumimoji="1" lang="zh-CN" altLang="en-US" sz="1600" dirty="0">
                      <a:solidFill>
                        <a:srgbClr val="000000"/>
                      </a:solidFill>
                      <a:latin typeface="方正粗黑宋简体" pitchFamily="2" charset="-122"/>
                      <a:ea typeface="方正粗黑宋简体" pitchFamily="2" charset="-122"/>
                    </a:rPr>
                    <a:t>。</a:t>
                  </a:r>
                </a:p>
              </p:txBody>
            </p:sp>
            <p:sp>
              <p:nvSpPr>
                <p:cNvPr id="34" name="Rectangle 14"/>
                <p:cNvSpPr>
                  <a:spLocks noChangeArrowheads="1"/>
                </p:cNvSpPr>
                <p:nvPr/>
              </p:nvSpPr>
              <p:spPr bwMode="auto">
                <a:xfrm>
                  <a:off x="324" y="2394"/>
                  <a:ext cx="3336" cy="765"/>
                </a:xfrm>
                <a:prstGeom prst="rect">
                  <a:avLst/>
                </a:prstGeom>
                <a:noFill/>
                <a:ln w="9525" algn="ctr">
                  <a:noFill/>
                  <a:miter lim="800000"/>
                  <a:headEnd/>
                  <a:tailEnd/>
                </a:ln>
              </p:spPr>
              <p:txBody>
                <a:bodyPr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kumimoji="1" lang="en-US" altLang="zh-CN" sz="1600" dirty="0">
                      <a:solidFill>
                        <a:srgbClr val="000000"/>
                      </a:solidFill>
                      <a:latin typeface="方正粗黑宋简体" pitchFamily="2" charset="-122"/>
                      <a:ea typeface="方正粗黑宋简体" pitchFamily="2" charset="-122"/>
                    </a:rPr>
                    <a:t>(6+3)</a:t>
                  </a:r>
                  <a:r>
                    <a:rPr kumimoji="1" lang="zh-CN" altLang="en-US" sz="1600" baseline="-25000" dirty="0">
                      <a:solidFill>
                        <a:srgbClr val="000000"/>
                      </a:solidFill>
                      <a:latin typeface="方正粗黑宋简体" pitchFamily="2" charset="-122"/>
                      <a:ea typeface="方正粗黑宋简体" pitchFamily="2" charset="-122"/>
                    </a:rPr>
                    <a:t>补</a:t>
                  </a:r>
                  <a:r>
                    <a:rPr kumimoji="1" lang="zh-CN" altLang="en-US" sz="1600" dirty="0">
                      <a:solidFill>
                        <a:srgbClr val="000000"/>
                      </a:solidFill>
                      <a:latin typeface="方正粗黑宋简体" pitchFamily="2" charset="-122"/>
                      <a:ea typeface="方正粗黑宋简体" pitchFamily="2" charset="-122"/>
                    </a:rPr>
                    <a:t> </a:t>
                  </a:r>
                  <a:r>
                    <a:rPr kumimoji="1" lang="en-US" altLang="zh-CN" sz="1600" dirty="0">
                      <a:solidFill>
                        <a:srgbClr val="000000"/>
                      </a:solidFill>
                      <a:latin typeface="方正粗黑宋简体" pitchFamily="2" charset="-122"/>
                      <a:ea typeface="方正粗黑宋简体" pitchFamily="2" charset="-122"/>
                    </a:rPr>
                    <a:t>= (6)</a:t>
                  </a:r>
                  <a:r>
                    <a:rPr kumimoji="1" lang="zh-CN" altLang="en-US" sz="1600" baseline="-25000" dirty="0">
                      <a:solidFill>
                        <a:srgbClr val="000000"/>
                      </a:solidFill>
                      <a:latin typeface="方正粗黑宋简体" pitchFamily="2" charset="-122"/>
                      <a:ea typeface="方正粗黑宋简体" pitchFamily="2" charset="-122"/>
                    </a:rPr>
                    <a:t>补</a:t>
                  </a:r>
                  <a:r>
                    <a:rPr kumimoji="1" lang="en-US" altLang="zh-CN" sz="1600" dirty="0">
                      <a:solidFill>
                        <a:srgbClr val="000000"/>
                      </a:solidFill>
                      <a:latin typeface="方正粗黑宋简体" pitchFamily="2" charset="-122"/>
                      <a:ea typeface="方正粗黑宋简体" pitchFamily="2" charset="-122"/>
                    </a:rPr>
                    <a:t>+(3)</a:t>
                  </a:r>
                  <a:r>
                    <a:rPr kumimoji="1" lang="zh-CN" altLang="en-US" sz="1600" baseline="-25000" dirty="0">
                      <a:solidFill>
                        <a:srgbClr val="000000"/>
                      </a:solidFill>
                      <a:latin typeface="方正粗黑宋简体" pitchFamily="2" charset="-122"/>
                      <a:ea typeface="方正粗黑宋简体" pitchFamily="2" charset="-122"/>
                    </a:rPr>
                    <a:t>补</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0110 +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0011</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1001</a:t>
                  </a:r>
                  <a:endParaRPr kumimoji="1" lang="zh-CN" altLang="en-US" sz="1600" dirty="0">
                    <a:solidFill>
                      <a:srgbClr val="000000"/>
                    </a:solidFill>
                    <a:latin typeface="方正粗黑宋简体" pitchFamily="2" charset="-122"/>
                    <a:ea typeface="方正粗黑宋简体" pitchFamily="2" charset="-122"/>
                  </a:endParaRPr>
                </a:p>
              </p:txBody>
            </p:sp>
            <p:grpSp>
              <p:nvGrpSpPr>
                <p:cNvPr id="10" name="Group 15"/>
                <p:cNvGrpSpPr>
                  <a:grpSpLocks/>
                </p:cNvGrpSpPr>
                <p:nvPr/>
              </p:nvGrpSpPr>
              <p:grpSpPr bwMode="auto">
                <a:xfrm>
                  <a:off x="2449" y="2380"/>
                  <a:ext cx="960" cy="765"/>
                  <a:chOff x="2924" y="983"/>
                  <a:chExt cx="960" cy="765"/>
                </a:xfrm>
              </p:grpSpPr>
              <p:sp>
                <p:nvSpPr>
                  <p:cNvPr id="36" name="Rectangle 16"/>
                  <p:cNvSpPr>
                    <a:spLocks noChangeArrowheads="1"/>
                  </p:cNvSpPr>
                  <p:nvPr/>
                </p:nvSpPr>
                <p:spPr bwMode="auto">
                  <a:xfrm>
                    <a:off x="3007" y="983"/>
                    <a:ext cx="877" cy="765"/>
                  </a:xfrm>
                  <a:prstGeom prst="rect">
                    <a:avLst/>
                  </a:prstGeom>
                  <a:noFill/>
                  <a:ln w="9525" algn="ctr">
                    <a:noFill/>
                    <a:miter lim="800000"/>
                    <a:headEnd/>
                    <a:tailEnd/>
                  </a:ln>
                </p:spPr>
                <p:txBody>
                  <a:bodyPr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0110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0011</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kumimoji="1"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1001</a:t>
                    </a:r>
                  </a:p>
                </p:txBody>
              </p:sp>
              <p:sp>
                <p:nvSpPr>
                  <p:cNvPr id="37" name="Line 17"/>
                  <p:cNvSpPr>
                    <a:spLocks noChangeShapeType="1"/>
                  </p:cNvSpPr>
                  <p:nvPr/>
                </p:nvSpPr>
                <p:spPr bwMode="auto">
                  <a:xfrm>
                    <a:off x="2924" y="1479"/>
                    <a:ext cx="720" cy="0"/>
                  </a:xfrm>
                  <a:prstGeom prst="line">
                    <a:avLst/>
                  </a:prstGeom>
                  <a:noFill/>
                  <a:ln w="19050">
                    <a:solidFill>
                      <a:srgbClr val="000000"/>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pic>
            <p:nvPicPr>
              <p:cNvPr id="42" name="Picture 5">
                <a:extLst>
                  <a:ext uri="{FF2B5EF4-FFF2-40B4-BE49-F238E27FC236}">
                    <a16:creationId xmlns:a16="http://schemas.microsoft.com/office/drawing/2014/main" xmlns="" id="{9564C16E-E622-4B74-BADC-883B469A6939}"/>
                  </a:ext>
                </a:extLst>
              </p:cNvPr>
              <p:cNvPicPr>
                <a:picLocks noChangeAspect="1" noChangeArrowheads="1"/>
              </p:cNvPicPr>
              <p:nvPr/>
            </p:nvPicPr>
            <p:blipFill>
              <a:blip r:embed="rId4" cstate="print"/>
              <a:srcRect/>
              <a:stretch>
                <a:fillRect/>
              </a:stretch>
            </p:blipFill>
            <p:spPr bwMode="auto">
              <a:xfrm>
                <a:off x="766392" y="3716374"/>
                <a:ext cx="321323" cy="277564"/>
              </a:xfrm>
              <a:prstGeom prst="rect">
                <a:avLst/>
              </a:prstGeom>
              <a:noFill/>
              <a:ln w="9525">
                <a:noFill/>
                <a:miter lim="800000"/>
                <a:headEnd/>
                <a:tailEnd/>
              </a:ln>
            </p:spPr>
          </p:pic>
        </p:grpSp>
        <p:sp>
          <p:nvSpPr>
            <p:cNvPr id="45" name="Text Box 16"/>
            <p:cNvSpPr txBox="1">
              <a:spLocks noChangeArrowheads="1"/>
            </p:cNvSpPr>
            <p:nvPr/>
          </p:nvSpPr>
          <p:spPr bwMode="auto">
            <a:xfrm flipH="1">
              <a:off x="5409561" y="4794835"/>
              <a:ext cx="1052197" cy="376171"/>
            </a:xfrm>
            <a:prstGeom prst="rect">
              <a:avLst/>
            </a:prstGeom>
            <a:noFill/>
            <a:ln w="9525" algn="ctr">
              <a:noFill/>
              <a:miter lim="800000"/>
              <a:headEnd/>
              <a:tailEnd/>
            </a:ln>
            <a:effectLst/>
          </p:spPr>
          <p:txBody>
            <a:bodyPr wrap="square" lIns="0" rIns="0">
              <a:spAutoFit/>
            </a:bodyPr>
            <a:lstStyle/>
            <a:p>
              <a:pPr>
                <a:defRPr/>
              </a:pPr>
              <a:r>
                <a:rPr lang="en-US" altLang="zh-CN" sz="1600" dirty="0">
                  <a:solidFill>
                    <a:srgbClr val="6600FF"/>
                  </a:solidFill>
                  <a:latin typeface="方正粗黑宋简体" pitchFamily="2" charset="-122"/>
                  <a:ea typeface="方正粗黑宋简体" pitchFamily="2" charset="-122"/>
                </a:rPr>
                <a:t>+9</a:t>
              </a:r>
              <a:endParaRPr lang="zh-CN" altLang="en-US" sz="1600" dirty="0">
                <a:solidFill>
                  <a:srgbClr val="6600FF"/>
                </a:solidFill>
                <a:latin typeface="方正粗黑宋简体" pitchFamily="2" charset="-122"/>
                <a:ea typeface="方正粗黑宋简体" pitchFamily="2" charset="-122"/>
              </a:endParaRPr>
            </a:p>
          </p:txBody>
        </p:sp>
        <p:sp>
          <p:nvSpPr>
            <p:cNvPr id="46" name="Line 17"/>
            <p:cNvSpPr>
              <a:spLocks noChangeShapeType="1"/>
            </p:cNvSpPr>
            <p:nvPr/>
          </p:nvSpPr>
          <p:spPr bwMode="auto">
            <a:xfrm>
              <a:off x="5146040" y="4971683"/>
              <a:ext cx="252413" cy="0"/>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sp>
        <p:nvSpPr>
          <p:cNvPr id="35" name="圆角矩形标注 59">
            <a:extLst>
              <a:ext uri="{FF2B5EF4-FFF2-40B4-BE49-F238E27FC236}">
                <a16:creationId xmlns:a16="http://schemas.microsoft.com/office/drawing/2014/main" xmlns="" id="{6415B0E4-A6AD-4B23-9BD5-744E31BD91E3}"/>
              </a:ext>
            </a:extLst>
          </p:cNvPr>
          <p:cNvSpPr/>
          <p:nvPr/>
        </p:nvSpPr>
        <p:spPr>
          <a:xfrm>
            <a:off x="5935659" y="1952803"/>
            <a:ext cx="2154125" cy="1004041"/>
          </a:xfrm>
          <a:prstGeom prst="wedgeRoundRectCallout">
            <a:avLst>
              <a:gd name="adj1" fmla="val -27065"/>
              <a:gd name="adj2" fmla="val 61846"/>
              <a:gd name="adj3" fmla="val 16667"/>
            </a:avLst>
          </a:prstGeom>
          <a:solidFill>
            <a:srgbClr val="FFFF00"/>
          </a:solidFill>
          <a:ln>
            <a:solidFill>
              <a:srgbClr val="262626"/>
            </a:solid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latin typeface="方正粗黑宋简体" pitchFamily="2" charset="-122"/>
                <a:ea typeface="方正粗黑宋简体" pitchFamily="2" charset="-122"/>
              </a:rPr>
              <a:t>计算结果超出了四位有符号二进制数补码的表示范围，</a:t>
            </a:r>
            <a:r>
              <a:rPr kumimoji="1" lang="zh-CN" altLang="en-US" sz="1400" dirty="0">
                <a:solidFill>
                  <a:srgbClr val="6600FF"/>
                </a:solidFill>
                <a:latin typeface="方正粗黑宋简体" pitchFamily="2" charset="-122"/>
                <a:ea typeface="方正粗黑宋简体" pitchFamily="2" charset="-122"/>
              </a:rPr>
              <a:t>产生了溢出。</a:t>
            </a:r>
            <a:endParaRPr lang="zh-CN" altLang="en-US" sz="1400" dirty="0">
              <a:solidFill>
                <a:schemeClr val="tx1"/>
              </a:solidFill>
              <a:latin typeface="Times" panose="02020603050405020304" pitchFamily="18" charset="0"/>
              <a:cs typeface="Times" panose="02020603050405020304" pitchFamily="18" charset="0"/>
            </a:endParaRPr>
          </a:p>
        </p:txBody>
      </p:sp>
      <p:grpSp>
        <p:nvGrpSpPr>
          <p:cNvPr id="11" name="组合 10">
            <a:extLst>
              <a:ext uri="{FF2B5EF4-FFF2-40B4-BE49-F238E27FC236}">
                <a16:creationId xmlns:a16="http://schemas.microsoft.com/office/drawing/2014/main" xmlns="" id="{14509E8B-4297-4B2F-BF3F-25593A48BD86}"/>
              </a:ext>
            </a:extLst>
          </p:cNvPr>
          <p:cNvGrpSpPr/>
          <p:nvPr/>
        </p:nvGrpSpPr>
        <p:grpSpPr>
          <a:xfrm>
            <a:off x="4389121" y="3089507"/>
            <a:ext cx="3323312" cy="338554"/>
            <a:chOff x="4389121" y="3089507"/>
            <a:chExt cx="3323312" cy="338554"/>
          </a:xfrm>
        </p:grpSpPr>
        <p:sp>
          <p:nvSpPr>
            <p:cNvPr id="32" name="圆角矩形 37">
              <a:extLst>
                <a:ext uri="{FF2B5EF4-FFF2-40B4-BE49-F238E27FC236}">
                  <a16:creationId xmlns:a16="http://schemas.microsoft.com/office/drawing/2014/main" xmlns="" id="{E6F6D1C0-0A79-4D97-94BA-F547D0A05838}"/>
                </a:ext>
              </a:extLst>
            </p:cNvPr>
            <p:cNvSpPr/>
            <p:nvPr/>
          </p:nvSpPr>
          <p:spPr>
            <a:xfrm>
              <a:off x="4389121" y="3150658"/>
              <a:ext cx="647700" cy="185166"/>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 Box 16">
              <a:extLst>
                <a:ext uri="{FF2B5EF4-FFF2-40B4-BE49-F238E27FC236}">
                  <a16:creationId xmlns:a16="http://schemas.microsoft.com/office/drawing/2014/main" xmlns="" id="{A1F3BB36-A8BA-47DF-AB04-13EAAF1235E5}"/>
                </a:ext>
              </a:extLst>
            </p:cNvPr>
            <p:cNvSpPr txBox="1">
              <a:spLocks noChangeArrowheads="1"/>
            </p:cNvSpPr>
            <p:nvPr/>
          </p:nvSpPr>
          <p:spPr bwMode="auto">
            <a:xfrm flipH="1">
              <a:off x="5348600" y="3089507"/>
              <a:ext cx="2363833" cy="338554"/>
            </a:xfrm>
            <a:prstGeom prst="rect">
              <a:avLst/>
            </a:prstGeom>
            <a:noFill/>
            <a:ln w="9525" algn="ctr">
              <a:noFill/>
              <a:miter lim="800000"/>
              <a:headEnd/>
              <a:tailEnd/>
            </a:ln>
            <a:effectLst/>
          </p:spPr>
          <p:txBody>
            <a:bodyPr wrap="square" lIns="0" rIns="0">
              <a:spAutoFit/>
            </a:bodyPr>
            <a:lstStyle/>
            <a:p>
              <a:pPr>
                <a:defRPr/>
              </a:pPr>
              <a:r>
                <a:rPr lang="en-US" altLang="zh-CN" sz="1600" dirty="0">
                  <a:solidFill>
                    <a:srgbClr val="6600FF"/>
                  </a:solidFill>
                  <a:latin typeface="方正粗黑宋简体" pitchFamily="2" charset="-122"/>
                  <a:ea typeface="方正粗黑宋简体" pitchFamily="2" charset="-122"/>
                </a:rPr>
                <a:t>(-7)</a:t>
              </a:r>
              <a:r>
                <a:rPr lang="zh-CN" altLang="en-US" sz="1600" baseline="-25000" dirty="0">
                  <a:solidFill>
                    <a:srgbClr val="6600FF"/>
                  </a:solidFill>
                  <a:latin typeface="方正粗黑宋简体" pitchFamily="2" charset="-122"/>
                  <a:ea typeface="方正粗黑宋简体" pitchFamily="2" charset="-122"/>
                </a:rPr>
                <a:t>补  </a:t>
              </a:r>
              <a:r>
                <a:rPr lang="zh-CN" altLang="en-US" sz="1600" dirty="0">
                  <a:solidFill>
                    <a:srgbClr val="6600FF"/>
                  </a:solidFill>
                  <a:latin typeface="方正粗黑宋简体" pitchFamily="2" charset="-122"/>
                  <a:ea typeface="方正粗黑宋简体" pitchFamily="2" charset="-122"/>
                </a:rPr>
                <a:t>结果与</a:t>
              </a:r>
              <a:r>
                <a:rPr lang="en-US" altLang="zh-CN" sz="1600" dirty="0">
                  <a:solidFill>
                    <a:srgbClr val="6600FF"/>
                  </a:solidFill>
                  <a:latin typeface="方正粗黑宋简体" pitchFamily="2" charset="-122"/>
                  <a:ea typeface="方正粗黑宋简体" pitchFamily="2" charset="-122"/>
                </a:rPr>
                <a:t>6+3=9</a:t>
              </a:r>
              <a:r>
                <a:rPr lang="zh-CN" altLang="en-US" sz="1600" dirty="0">
                  <a:solidFill>
                    <a:srgbClr val="6600FF"/>
                  </a:solidFill>
                  <a:latin typeface="方正粗黑宋简体" pitchFamily="2" charset="-122"/>
                  <a:ea typeface="方正粗黑宋简体" pitchFamily="2" charset="-122"/>
                </a:rPr>
                <a:t>不符</a:t>
              </a:r>
            </a:p>
          </p:txBody>
        </p:sp>
        <p:sp>
          <p:nvSpPr>
            <p:cNvPr id="43" name="Line 17">
              <a:extLst>
                <a:ext uri="{FF2B5EF4-FFF2-40B4-BE49-F238E27FC236}">
                  <a16:creationId xmlns:a16="http://schemas.microsoft.com/office/drawing/2014/main" xmlns="" id="{71531DD2-0B9E-430F-BFFE-566C3ACCC56A}"/>
                </a:ext>
              </a:extLst>
            </p:cNvPr>
            <p:cNvSpPr>
              <a:spLocks noChangeShapeType="1"/>
            </p:cNvSpPr>
            <p:nvPr/>
          </p:nvSpPr>
          <p:spPr bwMode="auto">
            <a:xfrm>
              <a:off x="5062221" y="3248671"/>
              <a:ext cx="252413" cy="0"/>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926335001"/>
      </p:ext>
    </p:extLst>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10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10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lide(fromBottom)">
                                      <p:cBhvr>
                                        <p:cTn id="2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3" y="702128"/>
            <a:ext cx="3444921" cy="418885"/>
            <a:chOff x="670560" y="892917"/>
            <a:chExt cx="3444921" cy="465428"/>
          </a:xfrm>
        </p:grpSpPr>
        <p:sp>
          <p:nvSpPr>
            <p:cNvPr id="3" name="矩形 2"/>
            <p:cNvSpPr/>
            <p:nvPr/>
          </p:nvSpPr>
          <p:spPr>
            <a:xfrm>
              <a:off x="1035232" y="913778"/>
              <a:ext cx="3080249"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、二进制数的算术运算</a:t>
              </a: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矩形 4"/>
          <p:cNvSpPr/>
          <p:nvPr/>
        </p:nvSpPr>
        <p:spPr>
          <a:xfrm>
            <a:off x="535662" y="1164253"/>
            <a:ext cx="3558988" cy="369332"/>
          </a:xfrm>
          <a:prstGeom prst="rect">
            <a:avLst/>
          </a:prstGeom>
        </p:spPr>
        <p:txBody>
          <a:bodyPr wrap="none">
            <a:spAutoFit/>
          </a:bodyPr>
          <a:lstStyle/>
          <a:p>
            <a:r>
              <a:rPr lang="zh-CN" altLang="en-US" b="1" dirty="0">
                <a:solidFill>
                  <a:srgbClr val="FF0000"/>
                </a:solidFill>
                <a:latin typeface="微软雅黑" pitchFamily="34" charset="-122"/>
                <a:ea typeface="微软雅黑" pitchFamily="34" charset="-122"/>
              </a:rPr>
              <a:t>（</a:t>
            </a:r>
            <a:r>
              <a:rPr lang="en-US" altLang="zh-CN" b="1" dirty="0">
                <a:solidFill>
                  <a:srgbClr val="FF0000"/>
                </a:solidFill>
                <a:latin typeface="微软雅黑" pitchFamily="34" charset="-122"/>
                <a:ea typeface="微软雅黑" pitchFamily="34" charset="-122"/>
              </a:rPr>
              <a:t>2</a:t>
            </a:r>
            <a:r>
              <a:rPr lang="zh-CN" altLang="en-US" b="1" dirty="0">
                <a:solidFill>
                  <a:srgbClr val="FF0000"/>
                </a:solidFill>
                <a:latin typeface="微软雅黑" pitchFamily="34" charset="-122"/>
                <a:ea typeface="微软雅黑" pitchFamily="34" charset="-122"/>
              </a:rPr>
              <a:t>）有符号二进制数的算术运算</a:t>
            </a:r>
          </a:p>
        </p:txBody>
      </p:sp>
      <p:grpSp>
        <p:nvGrpSpPr>
          <p:cNvPr id="6" name="组合 5">
            <a:extLst>
              <a:ext uri="{FF2B5EF4-FFF2-40B4-BE49-F238E27FC236}">
                <a16:creationId xmlns:a16="http://schemas.microsoft.com/office/drawing/2014/main" xmlns="" id="{E010191F-7F37-4AFE-B961-7090CF5FA91D}"/>
              </a:ext>
            </a:extLst>
          </p:cNvPr>
          <p:cNvGrpSpPr/>
          <p:nvPr/>
        </p:nvGrpSpPr>
        <p:grpSpPr>
          <a:xfrm>
            <a:off x="734308" y="1700347"/>
            <a:ext cx="3365253" cy="291604"/>
            <a:chOff x="358461" y="2491447"/>
            <a:chExt cx="3174753" cy="401382"/>
          </a:xfrm>
        </p:grpSpPr>
        <p:sp>
          <p:nvSpPr>
            <p:cNvPr id="7" name="矩形 6">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2931865" cy="401377"/>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运算的溢出问题</a:t>
              </a:r>
              <a:r>
                <a:rPr lang="en-US" altLang="zh-CN" sz="1600" dirty="0">
                  <a:solidFill>
                    <a:schemeClr val="bg1"/>
                  </a:solidFill>
                  <a:latin typeface="黑体" panose="02010609060101010101" pitchFamily="49" charset="-122"/>
                  <a:ea typeface="黑体" panose="02010609060101010101" pitchFamily="49" charset="-122"/>
                </a:rPr>
                <a:t>(</a:t>
              </a:r>
              <a:r>
                <a:rPr lang="zh-CN" altLang="en-US" sz="1600" dirty="0">
                  <a:solidFill>
                    <a:schemeClr val="bg1"/>
                  </a:solidFill>
                  <a:latin typeface="黑体" panose="02010609060101010101" pitchFamily="49" charset="-122"/>
                  <a:ea typeface="黑体" panose="02010609060101010101" pitchFamily="49" charset="-122"/>
                </a:rPr>
                <a:t>溢出的判定</a:t>
              </a:r>
              <a:r>
                <a:rPr lang="en-US" altLang="zh-CN" sz="1600" dirty="0">
                  <a:solidFill>
                    <a:schemeClr val="bg1"/>
                  </a:solidFill>
                  <a:latin typeface="黑体" panose="02010609060101010101" pitchFamily="49" charset="-122"/>
                  <a:ea typeface="黑体" panose="02010609060101010101" pitchFamily="49" charset="-122"/>
                </a:rPr>
                <a:t>)</a:t>
              </a:r>
              <a:endParaRPr lang="zh-CN" altLang="en-US" sz="1600" dirty="0">
                <a:solidFill>
                  <a:schemeClr val="bg1"/>
                </a:solidFill>
                <a:latin typeface="黑体" panose="02010609060101010101" pitchFamily="49" charset="-122"/>
                <a:ea typeface="黑体" panose="02010609060101010101" pitchFamily="49" charset="-122"/>
              </a:endParaRPr>
            </a:p>
          </p:txBody>
        </p:sp>
        <p:sp>
          <p:nvSpPr>
            <p:cNvPr id="8" name="矩形 7">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9"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grpSp>
        <p:nvGrpSpPr>
          <p:cNvPr id="10" name="组合 31"/>
          <p:cNvGrpSpPr/>
          <p:nvPr/>
        </p:nvGrpSpPr>
        <p:grpSpPr>
          <a:xfrm>
            <a:off x="731520" y="2257107"/>
            <a:ext cx="1912622" cy="1108427"/>
            <a:chOff x="1196340" y="2232660"/>
            <a:chExt cx="1912622" cy="1231585"/>
          </a:xfrm>
        </p:grpSpPr>
        <p:sp>
          <p:nvSpPr>
            <p:cNvPr id="31" name="圆角矩形 30"/>
            <p:cNvSpPr/>
            <p:nvPr/>
          </p:nvSpPr>
          <p:spPr>
            <a:xfrm>
              <a:off x="1196340" y="2232660"/>
              <a:ext cx="1882140" cy="1188720"/>
            </a:xfrm>
            <a:prstGeom prst="roundRect">
              <a:avLst>
                <a:gd name="adj" fmla="val 115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29"/>
            <p:cNvGrpSpPr/>
            <p:nvPr/>
          </p:nvGrpSpPr>
          <p:grpSpPr>
            <a:xfrm>
              <a:off x="1240472" y="2249807"/>
              <a:ext cx="1868490" cy="1214438"/>
              <a:chOff x="1240472" y="2249807"/>
              <a:chExt cx="1868490" cy="1214438"/>
            </a:xfrm>
          </p:grpSpPr>
          <p:grpSp>
            <p:nvGrpSpPr>
              <p:cNvPr id="12" name="Group 18"/>
              <p:cNvGrpSpPr>
                <a:grpSpLocks/>
              </p:cNvGrpSpPr>
              <p:nvPr/>
            </p:nvGrpSpPr>
            <p:grpSpPr bwMode="auto">
              <a:xfrm>
                <a:off x="1986599" y="2249807"/>
                <a:ext cx="1122363" cy="1214438"/>
                <a:chOff x="3535" y="2868"/>
                <a:chExt cx="707" cy="765"/>
              </a:xfrm>
            </p:grpSpPr>
            <p:sp>
              <p:nvSpPr>
                <p:cNvPr id="17" name="Rectangle 13"/>
                <p:cNvSpPr>
                  <a:spLocks noChangeArrowheads="1"/>
                </p:cNvSpPr>
                <p:nvPr/>
              </p:nvSpPr>
              <p:spPr bwMode="auto">
                <a:xfrm>
                  <a:off x="3618" y="2868"/>
                  <a:ext cx="624"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010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100</a:t>
                  </a:r>
                </a:p>
                <a:p>
                  <a:pPr algn="l">
                    <a:lnSpc>
                      <a:spcPct val="125000"/>
                    </a:lnSpc>
                  </a:pPr>
                  <a:r>
                    <a:rPr kumimoji="1" lang="en-US" altLang="zh-CN" sz="1600" dirty="0">
                      <a:solidFill>
                        <a:srgbClr val="FF0000"/>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110</a:t>
                  </a:r>
                </a:p>
              </p:txBody>
            </p:sp>
            <p:sp>
              <p:nvSpPr>
                <p:cNvPr id="18" name="Line 15"/>
                <p:cNvSpPr>
                  <a:spLocks noChangeShapeType="1"/>
                </p:cNvSpPr>
                <p:nvPr/>
              </p:nvSpPr>
              <p:spPr bwMode="auto">
                <a:xfrm>
                  <a:off x="3535" y="3384"/>
                  <a:ext cx="635"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13" name="Group 18"/>
              <p:cNvGrpSpPr>
                <a:grpSpLocks/>
              </p:cNvGrpSpPr>
              <p:nvPr/>
            </p:nvGrpSpPr>
            <p:grpSpPr bwMode="auto">
              <a:xfrm>
                <a:off x="1240472" y="2249807"/>
                <a:ext cx="793750" cy="1214438"/>
                <a:chOff x="3593" y="2868"/>
                <a:chExt cx="500" cy="765"/>
              </a:xfrm>
            </p:grpSpPr>
            <p:sp>
              <p:nvSpPr>
                <p:cNvPr id="22" name="Rectangle 13"/>
                <p:cNvSpPr>
                  <a:spLocks noChangeArrowheads="1"/>
                </p:cNvSpPr>
                <p:nvPr/>
              </p:nvSpPr>
              <p:spPr bwMode="auto">
                <a:xfrm>
                  <a:off x="3618" y="2868"/>
                  <a:ext cx="475"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+ 2</a:t>
                  </a:r>
                  <a:endParaRPr kumimoji="1" lang="en-US" altLang="zh-CN" sz="1600" dirty="0">
                    <a:solidFill>
                      <a:srgbClr val="000000"/>
                    </a:solidFill>
                    <a:latin typeface="方正粗黑宋简体" pitchFamily="2" charset="-122"/>
                    <a:ea typeface="方正粗黑宋简体" pitchFamily="2" charset="-122"/>
                  </a:endParaRP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+ 4</a:t>
                  </a:r>
                </a:p>
                <a:p>
                  <a:pPr algn="l">
                    <a:lnSpc>
                      <a:spcPct val="125000"/>
                    </a:lnSpc>
                  </a:pPr>
                  <a:r>
                    <a:rPr kumimoji="1" lang="en-US" altLang="zh-CN" sz="1600" dirty="0">
                      <a:solidFill>
                        <a:srgbClr val="6600FF"/>
                      </a:solidFill>
                      <a:latin typeface="方正粗黑宋简体" pitchFamily="2" charset="-122"/>
                      <a:ea typeface="方正粗黑宋简体" pitchFamily="2" charset="-122"/>
                    </a:rPr>
                    <a:t>    + 6</a:t>
                  </a:r>
                  <a:endParaRPr kumimoji="1" lang="en-US" altLang="zh-CN" sz="1600" dirty="0">
                    <a:solidFill>
                      <a:srgbClr val="000000"/>
                    </a:solidFill>
                    <a:latin typeface="方正粗黑宋简体" pitchFamily="2" charset="-122"/>
                    <a:ea typeface="方正粗黑宋简体" pitchFamily="2" charset="-122"/>
                  </a:endParaRPr>
                </a:p>
              </p:txBody>
            </p:sp>
            <p:sp>
              <p:nvSpPr>
                <p:cNvPr id="23" name="Line 15"/>
                <p:cNvSpPr>
                  <a:spLocks noChangeShapeType="1"/>
                </p:cNvSpPr>
                <p:nvPr/>
              </p:nvSpPr>
              <p:spPr bwMode="auto">
                <a:xfrm>
                  <a:off x="3593" y="3384"/>
                  <a:ext cx="386"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grpSp>
      <p:grpSp>
        <p:nvGrpSpPr>
          <p:cNvPr id="14" name="组合 51"/>
          <p:cNvGrpSpPr/>
          <p:nvPr/>
        </p:nvGrpSpPr>
        <p:grpSpPr>
          <a:xfrm>
            <a:off x="2832101" y="2271067"/>
            <a:ext cx="1882140" cy="1108427"/>
            <a:chOff x="3726180" y="2255520"/>
            <a:chExt cx="1882140" cy="1231585"/>
          </a:xfrm>
        </p:grpSpPr>
        <p:sp>
          <p:nvSpPr>
            <p:cNvPr id="51" name="圆角矩形 50"/>
            <p:cNvSpPr/>
            <p:nvPr/>
          </p:nvSpPr>
          <p:spPr>
            <a:xfrm>
              <a:off x="3726180" y="2255520"/>
              <a:ext cx="1882140" cy="1188720"/>
            </a:xfrm>
            <a:prstGeom prst="roundRect">
              <a:avLst>
                <a:gd name="adj" fmla="val 115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29"/>
            <p:cNvGrpSpPr/>
            <p:nvPr/>
          </p:nvGrpSpPr>
          <p:grpSpPr>
            <a:xfrm>
              <a:off x="3816039" y="2272667"/>
              <a:ext cx="1746246" cy="1214438"/>
              <a:chOff x="1240479" y="2249807"/>
              <a:chExt cx="1746246" cy="1214438"/>
            </a:xfrm>
          </p:grpSpPr>
          <p:grpSp>
            <p:nvGrpSpPr>
              <p:cNvPr id="16" name="Group 18"/>
              <p:cNvGrpSpPr>
                <a:grpSpLocks/>
              </p:cNvGrpSpPr>
              <p:nvPr/>
            </p:nvGrpSpPr>
            <p:grpSpPr bwMode="auto">
              <a:xfrm>
                <a:off x="1956437" y="2249807"/>
                <a:ext cx="1030288" cy="1214438"/>
                <a:chOff x="3516" y="2868"/>
                <a:chExt cx="649" cy="765"/>
              </a:xfrm>
            </p:grpSpPr>
            <p:sp>
              <p:nvSpPr>
                <p:cNvPr id="40" name="Rectangle 13"/>
                <p:cNvSpPr>
                  <a:spLocks noChangeArrowheads="1"/>
                </p:cNvSpPr>
                <p:nvPr/>
              </p:nvSpPr>
              <p:spPr bwMode="auto">
                <a:xfrm>
                  <a:off x="3618" y="2868"/>
                  <a:ext cx="547"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110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010</a:t>
                  </a:r>
                </a:p>
                <a:p>
                  <a:pPr algn="l">
                    <a:lnSpc>
                      <a:spcPct val="125000"/>
                    </a:lnSpc>
                  </a:pPr>
                  <a:r>
                    <a:rPr kumimoji="1" lang="en-US" altLang="zh-CN" sz="1600" dirty="0">
                      <a:solidFill>
                        <a:srgbClr val="FF0000"/>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000</a:t>
                  </a:r>
                </a:p>
              </p:txBody>
            </p:sp>
            <p:sp>
              <p:nvSpPr>
                <p:cNvPr id="41" name="Line 15"/>
                <p:cNvSpPr>
                  <a:spLocks noChangeShapeType="1"/>
                </p:cNvSpPr>
                <p:nvPr/>
              </p:nvSpPr>
              <p:spPr bwMode="auto">
                <a:xfrm>
                  <a:off x="3516" y="3384"/>
                  <a:ext cx="612"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19" name="Group 18"/>
              <p:cNvGrpSpPr>
                <a:grpSpLocks/>
              </p:cNvGrpSpPr>
              <p:nvPr/>
            </p:nvGrpSpPr>
            <p:grpSpPr bwMode="auto">
              <a:xfrm>
                <a:off x="1240479" y="2249807"/>
                <a:ext cx="793751" cy="1214438"/>
                <a:chOff x="3593" y="2868"/>
                <a:chExt cx="500" cy="765"/>
              </a:xfrm>
            </p:grpSpPr>
            <p:sp>
              <p:nvSpPr>
                <p:cNvPr id="38" name="Rectangle 13"/>
                <p:cNvSpPr>
                  <a:spLocks noChangeArrowheads="1"/>
                </p:cNvSpPr>
                <p:nvPr/>
              </p:nvSpPr>
              <p:spPr bwMode="auto">
                <a:xfrm>
                  <a:off x="3618" y="2868"/>
                  <a:ext cx="475"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- 2</a:t>
                  </a:r>
                  <a:endParaRPr kumimoji="1" lang="en-US" altLang="zh-CN" sz="1600" dirty="0">
                    <a:solidFill>
                      <a:srgbClr val="000000"/>
                    </a:solidFill>
                    <a:latin typeface="方正粗黑宋简体" pitchFamily="2" charset="-122"/>
                    <a:ea typeface="方正粗黑宋简体" pitchFamily="2" charset="-122"/>
                  </a:endParaRP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- 6</a:t>
                  </a:r>
                </a:p>
                <a:p>
                  <a:pPr algn="l">
                    <a:lnSpc>
                      <a:spcPct val="125000"/>
                    </a:lnSpc>
                  </a:pPr>
                  <a:r>
                    <a:rPr kumimoji="1" lang="en-US" altLang="zh-CN" sz="1600" dirty="0">
                      <a:solidFill>
                        <a:srgbClr val="6600FF"/>
                      </a:solidFill>
                      <a:latin typeface="方正粗黑宋简体" pitchFamily="2" charset="-122"/>
                      <a:ea typeface="方正粗黑宋简体" pitchFamily="2" charset="-122"/>
                    </a:rPr>
                    <a:t>    - 8</a:t>
                  </a:r>
                  <a:endParaRPr kumimoji="1" lang="en-US" altLang="zh-CN" sz="1600" dirty="0">
                    <a:solidFill>
                      <a:srgbClr val="000000"/>
                    </a:solidFill>
                    <a:latin typeface="方正粗黑宋简体" pitchFamily="2" charset="-122"/>
                    <a:ea typeface="方正粗黑宋简体" pitchFamily="2" charset="-122"/>
                  </a:endParaRPr>
                </a:p>
              </p:txBody>
            </p:sp>
            <p:sp>
              <p:nvSpPr>
                <p:cNvPr id="39" name="Line 15"/>
                <p:cNvSpPr>
                  <a:spLocks noChangeShapeType="1"/>
                </p:cNvSpPr>
                <p:nvPr/>
              </p:nvSpPr>
              <p:spPr bwMode="auto">
                <a:xfrm>
                  <a:off x="3593" y="3384"/>
                  <a:ext cx="386"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grpSp>
      <p:grpSp>
        <p:nvGrpSpPr>
          <p:cNvPr id="20" name="组合 52"/>
          <p:cNvGrpSpPr/>
          <p:nvPr/>
        </p:nvGrpSpPr>
        <p:grpSpPr>
          <a:xfrm>
            <a:off x="4902200" y="2271067"/>
            <a:ext cx="1882140" cy="1108427"/>
            <a:chOff x="3726180" y="2255520"/>
            <a:chExt cx="1882140" cy="1231585"/>
          </a:xfrm>
        </p:grpSpPr>
        <p:sp>
          <p:nvSpPr>
            <p:cNvPr id="54" name="圆角矩形 53"/>
            <p:cNvSpPr/>
            <p:nvPr/>
          </p:nvSpPr>
          <p:spPr>
            <a:xfrm>
              <a:off x="3726180" y="2255520"/>
              <a:ext cx="1882140" cy="1188720"/>
            </a:xfrm>
            <a:prstGeom prst="roundRect">
              <a:avLst>
                <a:gd name="adj" fmla="val 115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9"/>
            <p:cNvGrpSpPr/>
            <p:nvPr/>
          </p:nvGrpSpPr>
          <p:grpSpPr>
            <a:xfrm>
              <a:off x="3816039" y="2272667"/>
              <a:ext cx="1746246" cy="1214438"/>
              <a:chOff x="1240479" y="2249807"/>
              <a:chExt cx="1746246" cy="1214438"/>
            </a:xfrm>
          </p:grpSpPr>
          <p:grpSp>
            <p:nvGrpSpPr>
              <p:cNvPr id="24" name="Group 18"/>
              <p:cNvGrpSpPr>
                <a:grpSpLocks/>
              </p:cNvGrpSpPr>
              <p:nvPr/>
            </p:nvGrpSpPr>
            <p:grpSpPr bwMode="auto">
              <a:xfrm>
                <a:off x="1956437" y="2249807"/>
                <a:ext cx="1030288" cy="1214438"/>
                <a:chOff x="3516" y="2868"/>
                <a:chExt cx="649" cy="765"/>
              </a:xfrm>
            </p:grpSpPr>
            <p:sp>
              <p:nvSpPr>
                <p:cNvPr id="60" name="Rectangle 13"/>
                <p:cNvSpPr>
                  <a:spLocks noChangeArrowheads="1"/>
                </p:cNvSpPr>
                <p:nvPr/>
              </p:nvSpPr>
              <p:spPr bwMode="auto">
                <a:xfrm>
                  <a:off x="3618" y="2868"/>
                  <a:ext cx="547"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101</a:t>
                  </a:r>
                </a:p>
                <a:p>
                  <a:pPr algn="l">
                    <a:lnSpc>
                      <a:spcPct val="125000"/>
                    </a:lnSpc>
                  </a:pPr>
                  <a:r>
                    <a:rPr kumimoji="1" lang="en-US" altLang="zh-CN" sz="1600" dirty="0">
                      <a:solidFill>
                        <a:srgbClr val="FF0000"/>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001</a:t>
                  </a:r>
                </a:p>
              </p:txBody>
            </p:sp>
            <p:sp>
              <p:nvSpPr>
                <p:cNvPr id="61" name="Line 15"/>
                <p:cNvSpPr>
                  <a:spLocks noChangeShapeType="1"/>
                </p:cNvSpPr>
                <p:nvPr/>
              </p:nvSpPr>
              <p:spPr bwMode="auto">
                <a:xfrm>
                  <a:off x="3516" y="3379"/>
                  <a:ext cx="612"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25" name="Group 18"/>
              <p:cNvGrpSpPr>
                <a:grpSpLocks/>
              </p:cNvGrpSpPr>
              <p:nvPr/>
            </p:nvGrpSpPr>
            <p:grpSpPr bwMode="auto">
              <a:xfrm>
                <a:off x="1240479" y="2249807"/>
                <a:ext cx="793751" cy="1214438"/>
                <a:chOff x="3593" y="2868"/>
                <a:chExt cx="500" cy="765"/>
              </a:xfrm>
            </p:grpSpPr>
            <p:sp>
              <p:nvSpPr>
                <p:cNvPr id="58" name="Rectangle 13"/>
                <p:cNvSpPr>
                  <a:spLocks noChangeArrowheads="1"/>
                </p:cNvSpPr>
                <p:nvPr/>
              </p:nvSpPr>
              <p:spPr bwMode="auto">
                <a:xfrm>
                  <a:off x="3618" y="2868"/>
                  <a:ext cx="475"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+ 4</a:t>
                  </a:r>
                  <a:endParaRPr kumimoji="1" lang="en-US" altLang="zh-CN" sz="1600" dirty="0">
                    <a:solidFill>
                      <a:srgbClr val="000000"/>
                    </a:solidFill>
                    <a:latin typeface="方正粗黑宋简体" pitchFamily="2" charset="-122"/>
                    <a:ea typeface="方正粗黑宋简体" pitchFamily="2" charset="-122"/>
                  </a:endParaRP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+ 5</a:t>
                  </a:r>
                </a:p>
                <a:p>
                  <a:pPr algn="l">
                    <a:lnSpc>
                      <a:spcPct val="125000"/>
                    </a:lnSpc>
                  </a:pPr>
                  <a:r>
                    <a:rPr kumimoji="1" lang="en-US" altLang="zh-CN" sz="1600" dirty="0">
                      <a:solidFill>
                        <a:srgbClr val="6600FF"/>
                      </a:solidFill>
                      <a:latin typeface="方正粗黑宋简体" pitchFamily="2" charset="-122"/>
                      <a:ea typeface="方正粗黑宋简体" pitchFamily="2" charset="-122"/>
                    </a:rPr>
                    <a:t>    + 9</a:t>
                  </a:r>
                  <a:endParaRPr kumimoji="1" lang="en-US" altLang="zh-CN" sz="1600" dirty="0">
                    <a:solidFill>
                      <a:srgbClr val="000000"/>
                    </a:solidFill>
                    <a:latin typeface="方正粗黑宋简体" pitchFamily="2" charset="-122"/>
                    <a:ea typeface="方正粗黑宋简体" pitchFamily="2" charset="-122"/>
                  </a:endParaRPr>
                </a:p>
              </p:txBody>
            </p:sp>
            <p:sp>
              <p:nvSpPr>
                <p:cNvPr id="59" name="Line 15"/>
                <p:cNvSpPr>
                  <a:spLocks noChangeShapeType="1"/>
                </p:cNvSpPr>
                <p:nvPr/>
              </p:nvSpPr>
              <p:spPr bwMode="auto">
                <a:xfrm>
                  <a:off x="3593" y="3379"/>
                  <a:ext cx="386"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grpSp>
      <p:grpSp>
        <p:nvGrpSpPr>
          <p:cNvPr id="26" name="组合 61"/>
          <p:cNvGrpSpPr/>
          <p:nvPr/>
        </p:nvGrpSpPr>
        <p:grpSpPr>
          <a:xfrm>
            <a:off x="6972300" y="2271067"/>
            <a:ext cx="1882140" cy="1108427"/>
            <a:chOff x="3726180" y="2255520"/>
            <a:chExt cx="1882140" cy="1231585"/>
          </a:xfrm>
        </p:grpSpPr>
        <p:sp>
          <p:nvSpPr>
            <p:cNvPr id="63" name="圆角矩形 62"/>
            <p:cNvSpPr/>
            <p:nvPr/>
          </p:nvSpPr>
          <p:spPr>
            <a:xfrm>
              <a:off x="3726180" y="2255520"/>
              <a:ext cx="1882140" cy="1188720"/>
            </a:xfrm>
            <a:prstGeom prst="roundRect">
              <a:avLst>
                <a:gd name="adj" fmla="val 115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9"/>
            <p:cNvGrpSpPr/>
            <p:nvPr/>
          </p:nvGrpSpPr>
          <p:grpSpPr>
            <a:xfrm>
              <a:off x="3816039" y="2272667"/>
              <a:ext cx="1746246" cy="1214438"/>
              <a:chOff x="1240479" y="2249807"/>
              <a:chExt cx="1746246" cy="1214438"/>
            </a:xfrm>
          </p:grpSpPr>
          <p:grpSp>
            <p:nvGrpSpPr>
              <p:cNvPr id="28" name="Group 18"/>
              <p:cNvGrpSpPr>
                <a:grpSpLocks/>
              </p:cNvGrpSpPr>
              <p:nvPr/>
            </p:nvGrpSpPr>
            <p:grpSpPr bwMode="auto">
              <a:xfrm>
                <a:off x="1956437" y="2249807"/>
                <a:ext cx="1030288" cy="1214438"/>
                <a:chOff x="3516" y="2868"/>
                <a:chExt cx="649" cy="765"/>
              </a:xfrm>
            </p:grpSpPr>
            <p:sp>
              <p:nvSpPr>
                <p:cNvPr id="69" name="Rectangle 13"/>
                <p:cNvSpPr>
                  <a:spLocks noChangeArrowheads="1"/>
                </p:cNvSpPr>
                <p:nvPr/>
              </p:nvSpPr>
              <p:spPr bwMode="auto">
                <a:xfrm>
                  <a:off x="3618" y="2868"/>
                  <a:ext cx="547"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100</a:t>
                  </a: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011</a:t>
                  </a:r>
                </a:p>
                <a:p>
                  <a:pPr algn="l">
                    <a:lnSpc>
                      <a:spcPct val="125000"/>
                    </a:lnSpc>
                  </a:pPr>
                  <a:r>
                    <a:rPr kumimoji="1" lang="en-US" altLang="zh-CN" sz="1600" dirty="0">
                      <a:solidFill>
                        <a:srgbClr val="FF0000"/>
                      </a:solidFill>
                      <a:latin typeface="方正粗黑宋简体" pitchFamily="2" charset="-122"/>
                      <a:ea typeface="方正粗黑宋简体" pitchFamily="2" charset="-122"/>
                    </a:rPr>
                    <a:t>1</a:t>
                  </a: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0</a:t>
                  </a:r>
                  <a:r>
                    <a:rPr kumimoji="1" lang="en-US" altLang="zh-CN" sz="1600" dirty="0">
                      <a:solidFill>
                        <a:srgbClr val="000000"/>
                      </a:solidFill>
                      <a:latin typeface="方正粗黑宋简体" pitchFamily="2" charset="-122"/>
                      <a:ea typeface="方正粗黑宋简体" pitchFamily="2" charset="-122"/>
                    </a:rPr>
                    <a:t> 111</a:t>
                  </a:r>
                </a:p>
              </p:txBody>
            </p:sp>
            <p:sp>
              <p:nvSpPr>
                <p:cNvPr id="70" name="Line 15"/>
                <p:cNvSpPr>
                  <a:spLocks noChangeShapeType="1"/>
                </p:cNvSpPr>
                <p:nvPr/>
              </p:nvSpPr>
              <p:spPr bwMode="auto">
                <a:xfrm>
                  <a:off x="3516" y="3374"/>
                  <a:ext cx="612"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29" name="Group 18"/>
              <p:cNvGrpSpPr>
                <a:grpSpLocks/>
              </p:cNvGrpSpPr>
              <p:nvPr/>
            </p:nvGrpSpPr>
            <p:grpSpPr bwMode="auto">
              <a:xfrm>
                <a:off x="1240479" y="2249807"/>
                <a:ext cx="793751" cy="1214438"/>
                <a:chOff x="3593" y="2868"/>
                <a:chExt cx="500" cy="765"/>
              </a:xfrm>
            </p:grpSpPr>
            <p:sp>
              <p:nvSpPr>
                <p:cNvPr id="67" name="Rectangle 13"/>
                <p:cNvSpPr>
                  <a:spLocks noChangeArrowheads="1"/>
                </p:cNvSpPr>
                <p:nvPr/>
              </p:nvSpPr>
              <p:spPr bwMode="auto">
                <a:xfrm>
                  <a:off x="3618" y="2868"/>
                  <a:ext cx="475" cy="765"/>
                </a:xfrm>
                <a:prstGeom prst="rect">
                  <a:avLst/>
                </a:prstGeom>
                <a:noFill/>
                <a:ln w="9525" algn="ctr">
                  <a:noFill/>
                  <a:miter lim="800000"/>
                  <a:headEnd/>
                  <a:tailEnd/>
                </a:ln>
              </p:spPr>
              <p:txBody>
                <a:bodyPr wrap="square" lIns="0" rIns="0">
                  <a:spAutoFit/>
                </a:bodyPr>
                <a:lstStyle/>
                <a:p>
                  <a:pPr algn="l">
                    <a:lnSpc>
                      <a:spcPct val="125000"/>
                    </a:lnSpc>
                  </a:pPr>
                  <a:r>
                    <a:rPr kumimoji="1" lang="en-US" altLang="zh-CN" sz="2000" dirty="0">
                      <a:solidFill>
                        <a:srgbClr val="000000"/>
                      </a:solidFill>
                      <a:latin typeface="楷体" pitchFamily="49" charset="-122"/>
                      <a:ea typeface="楷体" pitchFamily="49" charset="-122"/>
                    </a:rPr>
                    <a:t>  </a:t>
                  </a:r>
                  <a:r>
                    <a:rPr lang="en-US" altLang="zh-CN" sz="1600" dirty="0">
                      <a:solidFill>
                        <a:srgbClr val="6600FF"/>
                      </a:solidFill>
                      <a:latin typeface="方正粗黑宋简体" pitchFamily="2" charset="-122"/>
                      <a:ea typeface="方正粗黑宋简体" pitchFamily="2" charset="-122"/>
                    </a:rPr>
                    <a:t>- 4</a:t>
                  </a:r>
                  <a:endParaRPr kumimoji="1" lang="en-US" altLang="zh-CN" sz="1600" dirty="0">
                    <a:solidFill>
                      <a:srgbClr val="000000"/>
                    </a:solidFill>
                    <a:latin typeface="方正粗黑宋简体" pitchFamily="2" charset="-122"/>
                    <a:ea typeface="方正粗黑宋简体" pitchFamily="2" charset="-122"/>
                  </a:endParaRPr>
                </a:p>
                <a:p>
                  <a:pPr algn="l">
                    <a:lnSpc>
                      <a:spcPct val="125000"/>
                    </a:lnSpc>
                  </a:pPr>
                  <a:r>
                    <a:rPr kumimoji="1" lang="en-US" altLang="zh-CN" sz="1600" dirty="0">
                      <a:solidFill>
                        <a:srgbClr val="000000"/>
                      </a:solidFill>
                      <a:latin typeface="方正粗黑宋简体" pitchFamily="2" charset="-122"/>
                      <a:ea typeface="方正粗黑宋简体" pitchFamily="2" charset="-122"/>
                    </a:rPr>
                    <a:t>+  </a:t>
                  </a:r>
                  <a:r>
                    <a:rPr lang="en-US" altLang="zh-CN" sz="1600" dirty="0">
                      <a:solidFill>
                        <a:srgbClr val="6600FF"/>
                      </a:solidFill>
                      <a:latin typeface="方正粗黑宋简体" pitchFamily="2" charset="-122"/>
                      <a:ea typeface="方正粗黑宋简体" pitchFamily="2" charset="-122"/>
                    </a:rPr>
                    <a:t>- 5</a:t>
                  </a:r>
                </a:p>
                <a:p>
                  <a:pPr algn="l">
                    <a:lnSpc>
                      <a:spcPct val="125000"/>
                    </a:lnSpc>
                  </a:pPr>
                  <a:r>
                    <a:rPr kumimoji="1" lang="en-US" altLang="zh-CN" sz="1600" dirty="0">
                      <a:solidFill>
                        <a:srgbClr val="6600FF"/>
                      </a:solidFill>
                      <a:latin typeface="方正粗黑宋简体" pitchFamily="2" charset="-122"/>
                      <a:ea typeface="方正粗黑宋简体" pitchFamily="2" charset="-122"/>
                    </a:rPr>
                    <a:t>    - 9</a:t>
                  </a:r>
                  <a:endParaRPr kumimoji="1" lang="en-US" altLang="zh-CN" sz="1600" dirty="0">
                    <a:solidFill>
                      <a:srgbClr val="000000"/>
                    </a:solidFill>
                    <a:latin typeface="方正粗黑宋简体" pitchFamily="2" charset="-122"/>
                    <a:ea typeface="方正粗黑宋简体" pitchFamily="2" charset="-122"/>
                  </a:endParaRPr>
                </a:p>
              </p:txBody>
            </p:sp>
            <p:sp>
              <p:nvSpPr>
                <p:cNvPr id="68" name="Line 15"/>
                <p:cNvSpPr>
                  <a:spLocks noChangeShapeType="1"/>
                </p:cNvSpPr>
                <p:nvPr/>
              </p:nvSpPr>
              <p:spPr bwMode="auto">
                <a:xfrm>
                  <a:off x="3593" y="3374"/>
                  <a:ext cx="386" cy="0"/>
                </a:xfrm>
                <a:prstGeom prst="line">
                  <a:avLst/>
                </a:prstGeom>
                <a:noFill/>
                <a:ln w="19050">
                  <a:solidFill>
                    <a:srgbClr val="262626"/>
                  </a:solidFill>
                  <a:round/>
                  <a:headEnd/>
                  <a:tailE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grpSp>
      <p:grpSp>
        <p:nvGrpSpPr>
          <p:cNvPr id="93" name="组合 92"/>
          <p:cNvGrpSpPr/>
          <p:nvPr/>
        </p:nvGrpSpPr>
        <p:grpSpPr>
          <a:xfrm>
            <a:off x="1695312" y="3086011"/>
            <a:ext cx="941098" cy="801786"/>
            <a:chOff x="4284999" y="4895112"/>
            <a:chExt cx="941098" cy="890875"/>
          </a:xfrm>
        </p:grpSpPr>
        <p:sp>
          <p:nvSpPr>
            <p:cNvPr id="84" name="圆角矩形 83"/>
            <p:cNvSpPr/>
            <p:nvPr/>
          </p:nvSpPr>
          <p:spPr>
            <a:xfrm>
              <a:off x="4438372" y="4895112"/>
              <a:ext cx="647700" cy="20574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Text Box 16"/>
            <p:cNvSpPr txBox="1">
              <a:spLocks noChangeArrowheads="1"/>
            </p:cNvSpPr>
            <p:nvPr/>
          </p:nvSpPr>
          <p:spPr bwMode="auto">
            <a:xfrm flipH="1">
              <a:off x="4284999" y="5409816"/>
              <a:ext cx="941098" cy="376171"/>
            </a:xfrm>
            <a:prstGeom prst="rect">
              <a:avLst/>
            </a:prstGeom>
            <a:noFill/>
            <a:ln w="9525" algn="ctr">
              <a:noFill/>
              <a:miter lim="800000"/>
              <a:headEnd/>
              <a:tailEnd/>
            </a:ln>
            <a:effectLst/>
          </p:spPr>
          <p:txBody>
            <a:bodyPr wrap="square" lIns="0" rIns="0">
              <a:spAutoFit/>
            </a:bodyPr>
            <a:lstStyle/>
            <a:p>
              <a:pPr algn="ctr">
                <a:defRPr/>
              </a:pPr>
              <a:r>
                <a:rPr lang="en-US" altLang="zh-CN" sz="1600" dirty="0">
                  <a:solidFill>
                    <a:srgbClr val="6600FF"/>
                  </a:solidFill>
                  <a:latin typeface="方正粗黑宋简体" pitchFamily="2" charset="-122"/>
                  <a:ea typeface="方正粗黑宋简体" pitchFamily="2" charset="-122"/>
                </a:rPr>
                <a:t>(+6)</a:t>
              </a:r>
              <a:endParaRPr lang="zh-CN" altLang="en-US" sz="1600" baseline="-25000" dirty="0">
                <a:solidFill>
                  <a:srgbClr val="6600FF"/>
                </a:solidFill>
                <a:latin typeface="方正粗黑宋简体" pitchFamily="2" charset="-122"/>
                <a:ea typeface="方正粗黑宋简体" pitchFamily="2" charset="-122"/>
              </a:endParaRPr>
            </a:p>
          </p:txBody>
        </p:sp>
        <p:sp>
          <p:nvSpPr>
            <p:cNvPr id="87" name="Line 17"/>
            <p:cNvSpPr>
              <a:spLocks noChangeShapeType="1"/>
            </p:cNvSpPr>
            <p:nvPr/>
          </p:nvSpPr>
          <p:spPr bwMode="auto">
            <a:xfrm flipH="1">
              <a:off x="4758884" y="5141829"/>
              <a:ext cx="3338" cy="297849"/>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95" name="组合 94"/>
          <p:cNvGrpSpPr/>
          <p:nvPr/>
        </p:nvGrpSpPr>
        <p:grpSpPr>
          <a:xfrm>
            <a:off x="3789978" y="3085995"/>
            <a:ext cx="941098" cy="773866"/>
            <a:chOff x="4284999" y="4926136"/>
            <a:chExt cx="941098" cy="859851"/>
          </a:xfrm>
        </p:grpSpPr>
        <p:sp>
          <p:nvSpPr>
            <p:cNvPr id="96" name="圆角矩形 95"/>
            <p:cNvSpPr/>
            <p:nvPr/>
          </p:nvSpPr>
          <p:spPr>
            <a:xfrm>
              <a:off x="4438372" y="4926136"/>
              <a:ext cx="647700" cy="20574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Text Box 16"/>
            <p:cNvSpPr txBox="1">
              <a:spLocks noChangeArrowheads="1"/>
            </p:cNvSpPr>
            <p:nvPr/>
          </p:nvSpPr>
          <p:spPr bwMode="auto">
            <a:xfrm flipH="1">
              <a:off x="4284999" y="5409816"/>
              <a:ext cx="941098" cy="376171"/>
            </a:xfrm>
            <a:prstGeom prst="rect">
              <a:avLst/>
            </a:prstGeom>
            <a:noFill/>
            <a:ln w="9525" algn="ctr">
              <a:noFill/>
              <a:miter lim="800000"/>
              <a:headEnd/>
              <a:tailEnd/>
            </a:ln>
            <a:effectLst/>
          </p:spPr>
          <p:txBody>
            <a:bodyPr wrap="square" lIns="0" rIns="0">
              <a:spAutoFit/>
            </a:bodyPr>
            <a:lstStyle/>
            <a:p>
              <a:pPr algn="ctr">
                <a:defRPr/>
              </a:pPr>
              <a:r>
                <a:rPr lang="en-US" altLang="zh-CN" sz="1600" dirty="0">
                  <a:solidFill>
                    <a:srgbClr val="6600FF"/>
                  </a:solidFill>
                  <a:latin typeface="方正粗黑宋简体" pitchFamily="2" charset="-122"/>
                  <a:ea typeface="方正粗黑宋简体" pitchFamily="2" charset="-122"/>
                </a:rPr>
                <a:t>(-8)</a:t>
              </a:r>
              <a:r>
                <a:rPr lang="zh-CN" altLang="en-US" sz="1600" baseline="-25000" dirty="0">
                  <a:solidFill>
                    <a:srgbClr val="6600FF"/>
                  </a:solidFill>
                  <a:latin typeface="方正粗黑宋简体" pitchFamily="2" charset="-122"/>
                  <a:ea typeface="方正粗黑宋简体" pitchFamily="2" charset="-122"/>
                </a:rPr>
                <a:t>补</a:t>
              </a:r>
            </a:p>
          </p:txBody>
        </p:sp>
        <p:sp>
          <p:nvSpPr>
            <p:cNvPr id="102" name="Line 17"/>
            <p:cNvSpPr>
              <a:spLocks noChangeShapeType="1"/>
            </p:cNvSpPr>
            <p:nvPr/>
          </p:nvSpPr>
          <p:spPr bwMode="auto">
            <a:xfrm flipH="1">
              <a:off x="4758884" y="5141829"/>
              <a:ext cx="3338" cy="297849"/>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103" name="组合 102"/>
          <p:cNvGrpSpPr/>
          <p:nvPr/>
        </p:nvGrpSpPr>
        <p:grpSpPr>
          <a:xfrm>
            <a:off x="5884643" y="3079959"/>
            <a:ext cx="941098" cy="773866"/>
            <a:chOff x="4284999" y="4926136"/>
            <a:chExt cx="941098" cy="859851"/>
          </a:xfrm>
        </p:grpSpPr>
        <p:sp>
          <p:nvSpPr>
            <p:cNvPr id="105" name="圆角矩形 104"/>
            <p:cNvSpPr/>
            <p:nvPr/>
          </p:nvSpPr>
          <p:spPr>
            <a:xfrm>
              <a:off x="4438372" y="4926136"/>
              <a:ext cx="647700" cy="20574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Text Box 16"/>
            <p:cNvSpPr txBox="1">
              <a:spLocks noChangeArrowheads="1"/>
            </p:cNvSpPr>
            <p:nvPr/>
          </p:nvSpPr>
          <p:spPr bwMode="auto">
            <a:xfrm flipH="1">
              <a:off x="4284999" y="5409816"/>
              <a:ext cx="941098" cy="376171"/>
            </a:xfrm>
            <a:prstGeom prst="rect">
              <a:avLst/>
            </a:prstGeom>
            <a:noFill/>
            <a:ln w="9525" algn="ctr">
              <a:noFill/>
              <a:miter lim="800000"/>
              <a:headEnd/>
              <a:tailEnd/>
            </a:ln>
            <a:effectLst/>
          </p:spPr>
          <p:txBody>
            <a:bodyPr wrap="square" lIns="0" rIns="0">
              <a:spAutoFit/>
            </a:bodyPr>
            <a:lstStyle/>
            <a:p>
              <a:pPr algn="ctr">
                <a:defRPr/>
              </a:pPr>
              <a:r>
                <a:rPr lang="en-US" altLang="zh-CN" sz="1600" dirty="0">
                  <a:solidFill>
                    <a:srgbClr val="6600FF"/>
                  </a:solidFill>
                  <a:latin typeface="方正粗黑宋简体" pitchFamily="2" charset="-122"/>
                  <a:ea typeface="方正粗黑宋简体" pitchFamily="2" charset="-122"/>
                </a:rPr>
                <a:t>(-7)</a:t>
              </a:r>
              <a:r>
                <a:rPr lang="zh-CN" altLang="en-US" sz="1600" baseline="-25000" dirty="0">
                  <a:solidFill>
                    <a:srgbClr val="6600FF"/>
                  </a:solidFill>
                  <a:latin typeface="方正粗黑宋简体" pitchFamily="2" charset="-122"/>
                  <a:ea typeface="方正粗黑宋简体" pitchFamily="2" charset="-122"/>
                </a:rPr>
                <a:t>补</a:t>
              </a:r>
            </a:p>
          </p:txBody>
        </p:sp>
        <p:sp>
          <p:nvSpPr>
            <p:cNvPr id="109" name="Line 17"/>
            <p:cNvSpPr>
              <a:spLocks noChangeShapeType="1"/>
            </p:cNvSpPr>
            <p:nvPr/>
          </p:nvSpPr>
          <p:spPr bwMode="auto">
            <a:xfrm flipH="1">
              <a:off x="4758884" y="5141829"/>
              <a:ext cx="3338" cy="297849"/>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110" name="组合 109"/>
          <p:cNvGrpSpPr/>
          <p:nvPr/>
        </p:nvGrpSpPr>
        <p:grpSpPr>
          <a:xfrm>
            <a:off x="7932588" y="3096979"/>
            <a:ext cx="941098" cy="773866"/>
            <a:chOff x="4284999" y="4926136"/>
            <a:chExt cx="941098" cy="859851"/>
          </a:xfrm>
        </p:grpSpPr>
        <p:sp>
          <p:nvSpPr>
            <p:cNvPr id="111" name="圆角矩形 110"/>
            <p:cNvSpPr/>
            <p:nvPr/>
          </p:nvSpPr>
          <p:spPr>
            <a:xfrm>
              <a:off x="4438372" y="4926136"/>
              <a:ext cx="647700" cy="20574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Text Box 16"/>
            <p:cNvSpPr txBox="1">
              <a:spLocks noChangeArrowheads="1"/>
            </p:cNvSpPr>
            <p:nvPr/>
          </p:nvSpPr>
          <p:spPr bwMode="auto">
            <a:xfrm flipH="1">
              <a:off x="4284999" y="5409816"/>
              <a:ext cx="941098" cy="376171"/>
            </a:xfrm>
            <a:prstGeom prst="rect">
              <a:avLst/>
            </a:prstGeom>
            <a:noFill/>
            <a:ln w="9525" algn="ctr">
              <a:noFill/>
              <a:miter lim="800000"/>
              <a:headEnd/>
              <a:tailEnd/>
            </a:ln>
            <a:effectLst/>
          </p:spPr>
          <p:txBody>
            <a:bodyPr wrap="square" lIns="0" rIns="0">
              <a:spAutoFit/>
            </a:bodyPr>
            <a:lstStyle/>
            <a:p>
              <a:pPr algn="ctr">
                <a:defRPr/>
              </a:pPr>
              <a:r>
                <a:rPr lang="en-US" altLang="zh-CN" sz="1600" dirty="0">
                  <a:solidFill>
                    <a:srgbClr val="6600FF"/>
                  </a:solidFill>
                  <a:latin typeface="方正粗黑宋简体" pitchFamily="2" charset="-122"/>
                  <a:ea typeface="方正粗黑宋简体" pitchFamily="2" charset="-122"/>
                </a:rPr>
                <a:t>(+7)</a:t>
              </a:r>
              <a:endParaRPr lang="zh-CN" altLang="en-US" sz="1600" baseline="-25000" dirty="0">
                <a:solidFill>
                  <a:srgbClr val="6600FF"/>
                </a:solidFill>
                <a:latin typeface="方正粗黑宋简体" pitchFamily="2" charset="-122"/>
                <a:ea typeface="方正粗黑宋简体" pitchFamily="2" charset="-122"/>
              </a:endParaRPr>
            </a:p>
          </p:txBody>
        </p:sp>
        <p:sp>
          <p:nvSpPr>
            <p:cNvPr id="113" name="Line 17"/>
            <p:cNvSpPr>
              <a:spLocks noChangeShapeType="1"/>
            </p:cNvSpPr>
            <p:nvPr/>
          </p:nvSpPr>
          <p:spPr bwMode="auto">
            <a:xfrm flipH="1">
              <a:off x="4758884" y="5141829"/>
              <a:ext cx="3338" cy="297849"/>
            </a:xfrm>
            <a:prstGeom prst="line">
              <a:avLst/>
            </a:prstGeom>
            <a:noFill/>
            <a:ln w="28575">
              <a:solidFill>
                <a:srgbClr val="262626"/>
              </a:solidFill>
              <a:round/>
              <a:headEnd/>
              <a:tailEnd type="triangle" w="med" len="me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pSp>
        <p:nvGrpSpPr>
          <p:cNvPr id="32" name="组合 79"/>
          <p:cNvGrpSpPr/>
          <p:nvPr/>
        </p:nvGrpSpPr>
        <p:grpSpPr>
          <a:xfrm>
            <a:off x="1845014" y="3267713"/>
            <a:ext cx="2160270" cy="730377"/>
            <a:chOff x="1824990" y="3326130"/>
            <a:chExt cx="2160270" cy="811530"/>
          </a:xfrm>
        </p:grpSpPr>
        <p:sp>
          <p:nvSpPr>
            <p:cNvPr id="79" name="右中括号 78"/>
            <p:cNvSpPr/>
            <p:nvPr/>
          </p:nvSpPr>
          <p:spPr>
            <a:xfrm rot="5400000">
              <a:off x="2594610" y="2556510"/>
              <a:ext cx="621030" cy="2160270"/>
            </a:xfrm>
            <a:prstGeom prst="rightBracket">
              <a:avLst>
                <a:gd name="adj" fmla="val 67156"/>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剪去对角的矩形 76"/>
            <p:cNvSpPr/>
            <p:nvPr/>
          </p:nvSpPr>
          <p:spPr>
            <a:xfrm>
              <a:off x="2167255" y="3647440"/>
              <a:ext cx="1490345" cy="490220"/>
            </a:xfrm>
            <a:prstGeom prst="snip2Diag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rgbClr val="0000FF"/>
                  </a:solidFill>
                  <a:latin typeface="方正粗黑宋简体" pitchFamily="2" charset="-122"/>
                  <a:ea typeface="方正粗黑宋简体" pitchFamily="2" charset="-122"/>
                </a:rPr>
                <a:t>进位位与符号位相同，无溢出</a:t>
              </a:r>
            </a:p>
          </p:txBody>
        </p:sp>
      </p:grpSp>
      <p:grpSp>
        <p:nvGrpSpPr>
          <p:cNvPr id="57" name="组合 56">
            <a:extLst>
              <a:ext uri="{FF2B5EF4-FFF2-40B4-BE49-F238E27FC236}">
                <a16:creationId xmlns:a16="http://schemas.microsoft.com/office/drawing/2014/main" xmlns="" id="{3529422E-5C1E-4AE1-9373-7EB9F995C8A0}"/>
              </a:ext>
            </a:extLst>
          </p:cNvPr>
          <p:cNvGrpSpPr/>
          <p:nvPr/>
        </p:nvGrpSpPr>
        <p:grpSpPr>
          <a:xfrm>
            <a:off x="1650704" y="3078909"/>
            <a:ext cx="6635072" cy="206106"/>
            <a:chOff x="1650704" y="3078909"/>
            <a:chExt cx="6635072" cy="206106"/>
          </a:xfrm>
        </p:grpSpPr>
        <p:sp>
          <p:nvSpPr>
            <p:cNvPr id="71" name="圆角矩形 70"/>
            <p:cNvSpPr/>
            <p:nvPr/>
          </p:nvSpPr>
          <p:spPr>
            <a:xfrm>
              <a:off x="1650704" y="3085976"/>
              <a:ext cx="396240" cy="185166"/>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3799544" y="3085976"/>
              <a:ext cx="396240" cy="185166"/>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5832136" y="3078909"/>
              <a:ext cx="396240" cy="185166"/>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7889536" y="3099849"/>
              <a:ext cx="396240" cy="185166"/>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80"/>
          <p:cNvGrpSpPr/>
          <p:nvPr/>
        </p:nvGrpSpPr>
        <p:grpSpPr>
          <a:xfrm>
            <a:off x="6011206" y="3253788"/>
            <a:ext cx="2091690" cy="730377"/>
            <a:chOff x="1824990" y="3326130"/>
            <a:chExt cx="2091690" cy="811530"/>
          </a:xfrm>
        </p:grpSpPr>
        <p:sp>
          <p:nvSpPr>
            <p:cNvPr id="82" name="右中括号 81"/>
            <p:cNvSpPr/>
            <p:nvPr/>
          </p:nvSpPr>
          <p:spPr>
            <a:xfrm rot="5400000">
              <a:off x="2560320" y="2590800"/>
              <a:ext cx="621030" cy="2091690"/>
            </a:xfrm>
            <a:prstGeom prst="rightBracket">
              <a:avLst>
                <a:gd name="adj" fmla="val 67156"/>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 name="剪去对角的矩形 82"/>
            <p:cNvSpPr/>
            <p:nvPr/>
          </p:nvSpPr>
          <p:spPr>
            <a:xfrm>
              <a:off x="2129155" y="3647440"/>
              <a:ext cx="1490345" cy="490220"/>
            </a:xfrm>
            <a:prstGeom prst="snip2Diag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rgbClr val="6600FF"/>
                  </a:solidFill>
                  <a:latin typeface="方正粗黑宋简体" pitchFamily="2" charset="-122"/>
                  <a:ea typeface="方正粗黑宋简体" pitchFamily="2" charset="-122"/>
                </a:rPr>
                <a:t>进位位与符号位相反，有溢出</a:t>
              </a:r>
            </a:p>
          </p:txBody>
        </p:sp>
      </p:grpSp>
      <p:grpSp>
        <p:nvGrpSpPr>
          <p:cNvPr id="53" name="组合 52">
            <a:extLst>
              <a:ext uri="{FF2B5EF4-FFF2-40B4-BE49-F238E27FC236}">
                <a16:creationId xmlns:a16="http://schemas.microsoft.com/office/drawing/2014/main" xmlns="" id="{D1622A84-9B8B-48CF-AD47-14E1CBAF1D54}"/>
              </a:ext>
            </a:extLst>
          </p:cNvPr>
          <p:cNvGrpSpPr/>
          <p:nvPr/>
        </p:nvGrpSpPr>
        <p:grpSpPr>
          <a:xfrm>
            <a:off x="1388427" y="3253450"/>
            <a:ext cx="2567657" cy="418438"/>
            <a:chOff x="1388427" y="3253450"/>
            <a:chExt cx="2567657" cy="418438"/>
          </a:xfrm>
        </p:grpSpPr>
        <p:cxnSp>
          <p:nvCxnSpPr>
            <p:cNvPr id="52" name="直接箭头连接符 51">
              <a:extLst>
                <a:ext uri="{FF2B5EF4-FFF2-40B4-BE49-F238E27FC236}">
                  <a16:creationId xmlns:a16="http://schemas.microsoft.com/office/drawing/2014/main" xmlns="" id="{EAFC3EA3-4B73-4DD0-B0A6-763A625A368A}"/>
                </a:ext>
              </a:extLst>
            </p:cNvPr>
            <p:cNvCxnSpPr/>
            <p:nvPr/>
          </p:nvCxnSpPr>
          <p:spPr>
            <a:xfrm flipH="1" flipV="1">
              <a:off x="1388427" y="3253788"/>
              <a:ext cx="456587" cy="4181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xmlns="" id="{BCD6C3C2-2EEB-4F5B-9AA8-0E24795863AC}"/>
                </a:ext>
              </a:extLst>
            </p:cNvPr>
            <p:cNvCxnSpPr/>
            <p:nvPr/>
          </p:nvCxnSpPr>
          <p:spPr>
            <a:xfrm flipH="1" flipV="1">
              <a:off x="3499497" y="3253450"/>
              <a:ext cx="456587" cy="4181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xmlns="" id="{0933A951-05F7-4C61-8E35-AC59FFB2F206}"/>
              </a:ext>
            </a:extLst>
          </p:cNvPr>
          <p:cNvGrpSpPr/>
          <p:nvPr/>
        </p:nvGrpSpPr>
        <p:grpSpPr>
          <a:xfrm>
            <a:off x="5551017" y="3291338"/>
            <a:ext cx="2567657" cy="418438"/>
            <a:chOff x="5551017" y="3291338"/>
            <a:chExt cx="2567657" cy="418438"/>
          </a:xfrm>
        </p:grpSpPr>
        <p:grpSp>
          <p:nvGrpSpPr>
            <p:cNvPr id="115" name="组合 114">
              <a:extLst>
                <a:ext uri="{FF2B5EF4-FFF2-40B4-BE49-F238E27FC236}">
                  <a16:creationId xmlns:a16="http://schemas.microsoft.com/office/drawing/2014/main" xmlns="" id="{78A1562B-97D8-4E5F-A8D4-C7F9AE3271BC}"/>
                </a:ext>
              </a:extLst>
            </p:cNvPr>
            <p:cNvGrpSpPr/>
            <p:nvPr/>
          </p:nvGrpSpPr>
          <p:grpSpPr>
            <a:xfrm>
              <a:off x="5551017" y="3291338"/>
              <a:ext cx="2567657" cy="418438"/>
              <a:chOff x="1388427" y="3253450"/>
              <a:chExt cx="2567657" cy="418438"/>
            </a:xfrm>
          </p:grpSpPr>
          <p:cxnSp>
            <p:nvCxnSpPr>
              <p:cNvPr id="116" name="直接箭头连接符 115">
                <a:extLst>
                  <a:ext uri="{FF2B5EF4-FFF2-40B4-BE49-F238E27FC236}">
                    <a16:creationId xmlns:a16="http://schemas.microsoft.com/office/drawing/2014/main" xmlns="" id="{A4D612C3-1B35-48DC-A662-C203FE65992F}"/>
                  </a:ext>
                </a:extLst>
              </p:cNvPr>
              <p:cNvCxnSpPr/>
              <p:nvPr/>
            </p:nvCxnSpPr>
            <p:spPr>
              <a:xfrm flipH="1" flipV="1">
                <a:off x="1388427" y="3253788"/>
                <a:ext cx="456587" cy="4181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xmlns="" id="{B9D713CE-8240-4BB8-AD78-50A7C01FAF55}"/>
                  </a:ext>
                </a:extLst>
              </p:cNvPr>
              <p:cNvCxnSpPr/>
              <p:nvPr/>
            </p:nvCxnSpPr>
            <p:spPr>
              <a:xfrm flipH="1" flipV="1">
                <a:off x="3499497" y="3253450"/>
                <a:ext cx="456587" cy="4181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5" name="乘号 54">
              <a:extLst>
                <a:ext uri="{FF2B5EF4-FFF2-40B4-BE49-F238E27FC236}">
                  <a16:creationId xmlns:a16="http://schemas.microsoft.com/office/drawing/2014/main" xmlns="" id="{BF3DE96C-391F-4BF2-B154-BBA9C0A6F02D}"/>
                </a:ext>
              </a:extLst>
            </p:cNvPr>
            <p:cNvSpPr/>
            <p:nvPr/>
          </p:nvSpPr>
          <p:spPr>
            <a:xfrm rot="1392231">
              <a:off x="5679688" y="3386886"/>
              <a:ext cx="198120" cy="203228"/>
            </a:xfrm>
            <a:prstGeom prst="mathMultiply">
              <a:avLst>
                <a:gd name="adj1" fmla="val 120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乘号 117">
              <a:extLst>
                <a:ext uri="{FF2B5EF4-FFF2-40B4-BE49-F238E27FC236}">
                  <a16:creationId xmlns:a16="http://schemas.microsoft.com/office/drawing/2014/main" xmlns="" id="{5BD9C352-A807-48FE-A5EC-C5598B5BE76F}"/>
                </a:ext>
              </a:extLst>
            </p:cNvPr>
            <p:cNvSpPr/>
            <p:nvPr/>
          </p:nvSpPr>
          <p:spPr>
            <a:xfrm rot="1392231">
              <a:off x="7805108" y="3404275"/>
              <a:ext cx="198120" cy="203228"/>
            </a:xfrm>
            <a:prstGeom prst="mathMultiply">
              <a:avLst>
                <a:gd name="adj1" fmla="val 1204"/>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lide(fromBottom)">
                                      <p:cBhvr>
                                        <p:cTn id="12" dur="1000"/>
                                        <p:tgtEl>
                                          <p:spTgt spid="10"/>
                                        </p:tgtEl>
                                      </p:cBhvr>
                                    </p:animEffect>
                                  </p:childTnLst>
                                </p:cTn>
                              </p:par>
                              <p:par>
                                <p:cTn id="13" presetID="1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slide(fromBottom)">
                                      <p:cBhvr>
                                        <p:cTn id="15" dur="1000"/>
                                        <p:tgtEl>
                                          <p:spTgt spid="14"/>
                                        </p:tgtEl>
                                      </p:cBhvr>
                                    </p:animEffect>
                                  </p:childTnLst>
                                </p:cTn>
                              </p:par>
                              <p:par>
                                <p:cTn id="16" presetID="12" presetClass="entr" presetSubtype="4"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slide(fromBottom)">
                                      <p:cBhvr>
                                        <p:cTn id="18" dur="1000"/>
                                        <p:tgtEl>
                                          <p:spTgt spid="20"/>
                                        </p:tgtEl>
                                      </p:cBhvr>
                                    </p:animEffect>
                                  </p:childTnLst>
                                </p:cTn>
                              </p:par>
                              <p:par>
                                <p:cTn id="19" presetID="1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slide(fromBottom)">
                                      <p:cBhvr>
                                        <p:cTn id="21" dur="10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1" fill="hold" nodeType="clickEffect">
                                  <p:stCondLst>
                                    <p:cond delay="0"/>
                                  </p:stCondLst>
                                  <p:childTnLst>
                                    <p:set>
                                      <p:cBhvr>
                                        <p:cTn id="25" dur="1" fill="hold">
                                          <p:stCondLst>
                                            <p:cond delay="0"/>
                                          </p:stCondLst>
                                        </p:cTn>
                                        <p:tgtEl>
                                          <p:spTgt spid="93"/>
                                        </p:tgtEl>
                                        <p:attrNameLst>
                                          <p:attrName>style.visibility</p:attrName>
                                        </p:attrNameLst>
                                      </p:cBhvr>
                                      <p:to>
                                        <p:strVal val="visible"/>
                                      </p:to>
                                    </p:set>
                                    <p:anim calcmode="lin" valueType="num">
                                      <p:cBhvr>
                                        <p:cTn id="26" dur="1000" fill="hold"/>
                                        <p:tgtEl>
                                          <p:spTgt spid="93"/>
                                        </p:tgtEl>
                                        <p:attrNameLst>
                                          <p:attrName>ppt_x</p:attrName>
                                        </p:attrNameLst>
                                      </p:cBhvr>
                                      <p:tavLst>
                                        <p:tav tm="0">
                                          <p:val>
                                            <p:strVal val="#ppt_x"/>
                                          </p:val>
                                        </p:tav>
                                        <p:tav tm="100000">
                                          <p:val>
                                            <p:strVal val="#ppt_x"/>
                                          </p:val>
                                        </p:tav>
                                      </p:tavLst>
                                    </p:anim>
                                    <p:anim calcmode="lin" valueType="num">
                                      <p:cBhvr>
                                        <p:cTn id="27" dur="1000" fill="hold"/>
                                        <p:tgtEl>
                                          <p:spTgt spid="93"/>
                                        </p:tgtEl>
                                        <p:attrNameLst>
                                          <p:attrName>ppt_y</p:attrName>
                                        </p:attrNameLst>
                                      </p:cBhvr>
                                      <p:tavLst>
                                        <p:tav tm="0">
                                          <p:val>
                                            <p:strVal val="#ppt_y-#ppt_h/2"/>
                                          </p:val>
                                        </p:tav>
                                        <p:tav tm="100000">
                                          <p:val>
                                            <p:strVal val="#ppt_y"/>
                                          </p:val>
                                        </p:tav>
                                      </p:tavLst>
                                    </p:anim>
                                    <p:anim calcmode="lin" valueType="num">
                                      <p:cBhvr>
                                        <p:cTn id="28" dur="1000" fill="hold"/>
                                        <p:tgtEl>
                                          <p:spTgt spid="93"/>
                                        </p:tgtEl>
                                        <p:attrNameLst>
                                          <p:attrName>ppt_w</p:attrName>
                                        </p:attrNameLst>
                                      </p:cBhvr>
                                      <p:tavLst>
                                        <p:tav tm="0">
                                          <p:val>
                                            <p:strVal val="#ppt_w"/>
                                          </p:val>
                                        </p:tav>
                                        <p:tav tm="100000">
                                          <p:val>
                                            <p:strVal val="#ppt_w"/>
                                          </p:val>
                                        </p:tav>
                                      </p:tavLst>
                                    </p:anim>
                                    <p:anim calcmode="lin" valueType="num">
                                      <p:cBhvr>
                                        <p:cTn id="29" dur="1000" fill="hold"/>
                                        <p:tgtEl>
                                          <p:spTgt spid="93"/>
                                        </p:tgtEl>
                                        <p:attrNameLst>
                                          <p:attrName>ppt_h</p:attrName>
                                        </p:attrNameLst>
                                      </p:cBhvr>
                                      <p:tavLst>
                                        <p:tav tm="0">
                                          <p:val>
                                            <p:fltVal val="0"/>
                                          </p:val>
                                        </p:tav>
                                        <p:tav tm="100000">
                                          <p:val>
                                            <p:strVal val="#ppt_h"/>
                                          </p:val>
                                        </p:tav>
                                      </p:tavLst>
                                    </p:anim>
                                  </p:childTnLst>
                                </p:cTn>
                              </p:par>
                              <p:par>
                                <p:cTn id="30" presetID="17" presetClass="entr" presetSubtype="1" fill="hold" nodeType="withEffect">
                                  <p:stCondLst>
                                    <p:cond delay="0"/>
                                  </p:stCondLst>
                                  <p:childTnLst>
                                    <p:set>
                                      <p:cBhvr>
                                        <p:cTn id="31" dur="1" fill="hold">
                                          <p:stCondLst>
                                            <p:cond delay="0"/>
                                          </p:stCondLst>
                                        </p:cTn>
                                        <p:tgtEl>
                                          <p:spTgt spid="95"/>
                                        </p:tgtEl>
                                        <p:attrNameLst>
                                          <p:attrName>style.visibility</p:attrName>
                                        </p:attrNameLst>
                                      </p:cBhvr>
                                      <p:to>
                                        <p:strVal val="visible"/>
                                      </p:to>
                                    </p:set>
                                    <p:anim calcmode="lin" valueType="num">
                                      <p:cBhvr>
                                        <p:cTn id="32" dur="1000" fill="hold"/>
                                        <p:tgtEl>
                                          <p:spTgt spid="95"/>
                                        </p:tgtEl>
                                        <p:attrNameLst>
                                          <p:attrName>ppt_x</p:attrName>
                                        </p:attrNameLst>
                                      </p:cBhvr>
                                      <p:tavLst>
                                        <p:tav tm="0">
                                          <p:val>
                                            <p:strVal val="#ppt_x"/>
                                          </p:val>
                                        </p:tav>
                                        <p:tav tm="100000">
                                          <p:val>
                                            <p:strVal val="#ppt_x"/>
                                          </p:val>
                                        </p:tav>
                                      </p:tavLst>
                                    </p:anim>
                                    <p:anim calcmode="lin" valueType="num">
                                      <p:cBhvr>
                                        <p:cTn id="33" dur="1000" fill="hold"/>
                                        <p:tgtEl>
                                          <p:spTgt spid="95"/>
                                        </p:tgtEl>
                                        <p:attrNameLst>
                                          <p:attrName>ppt_y</p:attrName>
                                        </p:attrNameLst>
                                      </p:cBhvr>
                                      <p:tavLst>
                                        <p:tav tm="0">
                                          <p:val>
                                            <p:strVal val="#ppt_y-#ppt_h/2"/>
                                          </p:val>
                                        </p:tav>
                                        <p:tav tm="100000">
                                          <p:val>
                                            <p:strVal val="#ppt_y"/>
                                          </p:val>
                                        </p:tav>
                                      </p:tavLst>
                                    </p:anim>
                                    <p:anim calcmode="lin" valueType="num">
                                      <p:cBhvr>
                                        <p:cTn id="34" dur="1000" fill="hold"/>
                                        <p:tgtEl>
                                          <p:spTgt spid="95"/>
                                        </p:tgtEl>
                                        <p:attrNameLst>
                                          <p:attrName>ppt_w</p:attrName>
                                        </p:attrNameLst>
                                      </p:cBhvr>
                                      <p:tavLst>
                                        <p:tav tm="0">
                                          <p:val>
                                            <p:strVal val="#ppt_w"/>
                                          </p:val>
                                        </p:tav>
                                        <p:tav tm="100000">
                                          <p:val>
                                            <p:strVal val="#ppt_w"/>
                                          </p:val>
                                        </p:tav>
                                      </p:tavLst>
                                    </p:anim>
                                    <p:anim calcmode="lin" valueType="num">
                                      <p:cBhvr>
                                        <p:cTn id="35" dur="1000" fill="hold"/>
                                        <p:tgtEl>
                                          <p:spTgt spid="95"/>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down)">
                                      <p:cBhvr>
                                        <p:cTn id="40" dur="1000"/>
                                        <p:tgtEl>
                                          <p:spTgt spid="53"/>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 fill="hold" nodeType="clickEffect">
                                  <p:stCondLst>
                                    <p:cond delay="0"/>
                                  </p:stCondLst>
                                  <p:childTnLst>
                                    <p:set>
                                      <p:cBhvr>
                                        <p:cTn id="44" dur="1" fill="hold">
                                          <p:stCondLst>
                                            <p:cond delay="0"/>
                                          </p:stCondLst>
                                        </p:cTn>
                                        <p:tgtEl>
                                          <p:spTgt spid="103"/>
                                        </p:tgtEl>
                                        <p:attrNameLst>
                                          <p:attrName>style.visibility</p:attrName>
                                        </p:attrNameLst>
                                      </p:cBhvr>
                                      <p:to>
                                        <p:strVal val="visible"/>
                                      </p:to>
                                    </p:set>
                                    <p:anim calcmode="lin" valueType="num">
                                      <p:cBhvr>
                                        <p:cTn id="45" dur="1000" fill="hold"/>
                                        <p:tgtEl>
                                          <p:spTgt spid="103"/>
                                        </p:tgtEl>
                                        <p:attrNameLst>
                                          <p:attrName>ppt_x</p:attrName>
                                        </p:attrNameLst>
                                      </p:cBhvr>
                                      <p:tavLst>
                                        <p:tav tm="0">
                                          <p:val>
                                            <p:strVal val="#ppt_x"/>
                                          </p:val>
                                        </p:tav>
                                        <p:tav tm="100000">
                                          <p:val>
                                            <p:strVal val="#ppt_x"/>
                                          </p:val>
                                        </p:tav>
                                      </p:tavLst>
                                    </p:anim>
                                    <p:anim calcmode="lin" valueType="num">
                                      <p:cBhvr>
                                        <p:cTn id="46" dur="1000" fill="hold"/>
                                        <p:tgtEl>
                                          <p:spTgt spid="103"/>
                                        </p:tgtEl>
                                        <p:attrNameLst>
                                          <p:attrName>ppt_y</p:attrName>
                                        </p:attrNameLst>
                                      </p:cBhvr>
                                      <p:tavLst>
                                        <p:tav tm="0">
                                          <p:val>
                                            <p:strVal val="#ppt_y-#ppt_h/2"/>
                                          </p:val>
                                        </p:tav>
                                        <p:tav tm="100000">
                                          <p:val>
                                            <p:strVal val="#ppt_y"/>
                                          </p:val>
                                        </p:tav>
                                      </p:tavLst>
                                    </p:anim>
                                    <p:anim calcmode="lin" valueType="num">
                                      <p:cBhvr>
                                        <p:cTn id="47" dur="1000" fill="hold"/>
                                        <p:tgtEl>
                                          <p:spTgt spid="103"/>
                                        </p:tgtEl>
                                        <p:attrNameLst>
                                          <p:attrName>ppt_w</p:attrName>
                                        </p:attrNameLst>
                                      </p:cBhvr>
                                      <p:tavLst>
                                        <p:tav tm="0">
                                          <p:val>
                                            <p:strVal val="#ppt_w"/>
                                          </p:val>
                                        </p:tav>
                                        <p:tav tm="100000">
                                          <p:val>
                                            <p:strVal val="#ppt_w"/>
                                          </p:val>
                                        </p:tav>
                                      </p:tavLst>
                                    </p:anim>
                                    <p:anim calcmode="lin" valueType="num">
                                      <p:cBhvr>
                                        <p:cTn id="48" dur="1000" fill="hold"/>
                                        <p:tgtEl>
                                          <p:spTgt spid="103"/>
                                        </p:tgtEl>
                                        <p:attrNameLst>
                                          <p:attrName>ppt_h</p:attrName>
                                        </p:attrNameLst>
                                      </p:cBhvr>
                                      <p:tavLst>
                                        <p:tav tm="0">
                                          <p:val>
                                            <p:fltVal val="0"/>
                                          </p:val>
                                        </p:tav>
                                        <p:tav tm="100000">
                                          <p:val>
                                            <p:strVal val="#ppt_h"/>
                                          </p:val>
                                        </p:tav>
                                      </p:tavLst>
                                    </p:anim>
                                  </p:childTnLst>
                                </p:cTn>
                              </p:par>
                              <p:par>
                                <p:cTn id="49" presetID="17" presetClass="entr" presetSubtype="1" fill="hold" nodeType="withEffect">
                                  <p:stCondLst>
                                    <p:cond delay="0"/>
                                  </p:stCondLst>
                                  <p:childTnLst>
                                    <p:set>
                                      <p:cBhvr>
                                        <p:cTn id="50" dur="1" fill="hold">
                                          <p:stCondLst>
                                            <p:cond delay="0"/>
                                          </p:stCondLst>
                                        </p:cTn>
                                        <p:tgtEl>
                                          <p:spTgt spid="110"/>
                                        </p:tgtEl>
                                        <p:attrNameLst>
                                          <p:attrName>style.visibility</p:attrName>
                                        </p:attrNameLst>
                                      </p:cBhvr>
                                      <p:to>
                                        <p:strVal val="visible"/>
                                      </p:to>
                                    </p:set>
                                    <p:anim calcmode="lin" valueType="num">
                                      <p:cBhvr>
                                        <p:cTn id="51" dur="1000" fill="hold"/>
                                        <p:tgtEl>
                                          <p:spTgt spid="110"/>
                                        </p:tgtEl>
                                        <p:attrNameLst>
                                          <p:attrName>ppt_x</p:attrName>
                                        </p:attrNameLst>
                                      </p:cBhvr>
                                      <p:tavLst>
                                        <p:tav tm="0">
                                          <p:val>
                                            <p:strVal val="#ppt_x"/>
                                          </p:val>
                                        </p:tav>
                                        <p:tav tm="100000">
                                          <p:val>
                                            <p:strVal val="#ppt_x"/>
                                          </p:val>
                                        </p:tav>
                                      </p:tavLst>
                                    </p:anim>
                                    <p:anim calcmode="lin" valueType="num">
                                      <p:cBhvr>
                                        <p:cTn id="52" dur="1000" fill="hold"/>
                                        <p:tgtEl>
                                          <p:spTgt spid="110"/>
                                        </p:tgtEl>
                                        <p:attrNameLst>
                                          <p:attrName>ppt_y</p:attrName>
                                        </p:attrNameLst>
                                      </p:cBhvr>
                                      <p:tavLst>
                                        <p:tav tm="0">
                                          <p:val>
                                            <p:strVal val="#ppt_y-#ppt_h/2"/>
                                          </p:val>
                                        </p:tav>
                                        <p:tav tm="100000">
                                          <p:val>
                                            <p:strVal val="#ppt_y"/>
                                          </p:val>
                                        </p:tav>
                                      </p:tavLst>
                                    </p:anim>
                                    <p:anim calcmode="lin" valueType="num">
                                      <p:cBhvr>
                                        <p:cTn id="53" dur="1000" fill="hold"/>
                                        <p:tgtEl>
                                          <p:spTgt spid="110"/>
                                        </p:tgtEl>
                                        <p:attrNameLst>
                                          <p:attrName>ppt_w</p:attrName>
                                        </p:attrNameLst>
                                      </p:cBhvr>
                                      <p:tavLst>
                                        <p:tav tm="0">
                                          <p:val>
                                            <p:strVal val="#ppt_w"/>
                                          </p:val>
                                        </p:tav>
                                        <p:tav tm="100000">
                                          <p:val>
                                            <p:strVal val="#ppt_w"/>
                                          </p:val>
                                        </p:tav>
                                      </p:tavLst>
                                    </p:anim>
                                    <p:anim calcmode="lin" valueType="num">
                                      <p:cBhvr>
                                        <p:cTn id="54" dur="1000" fill="hold"/>
                                        <p:tgtEl>
                                          <p:spTgt spid="110"/>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wipe(down)">
                                      <p:cBhvr>
                                        <p:cTn id="59" dur="1000"/>
                                        <p:tgtEl>
                                          <p:spTgt spid="5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xit" presetSubtype="1" fill="hold" nodeType="clickEffect">
                                  <p:stCondLst>
                                    <p:cond delay="0"/>
                                  </p:stCondLst>
                                  <p:childTnLst>
                                    <p:animEffect transition="out" filter="wipe(up)">
                                      <p:cBhvr>
                                        <p:cTn id="63" dur="500"/>
                                        <p:tgtEl>
                                          <p:spTgt spid="93"/>
                                        </p:tgtEl>
                                      </p:cBhvr>
                                    </p:animEffect>
                                    <p:set>
                                      <p:cBhvr>
                                        <p:cTn id="64" dur="1" fill="hold">
                                          <p:stCondLst>
                                            <p:cond delay="499"/>
                                          </p:stCondLst>
                                        </p:cTn>
                                        <p:tgtEl>
                                          <p:spTgt spid="93"/>
                                        </p:tgtEl>
                                        <p:attrNameLst>
                                          <p:attrName>style.visibility</p:attrName>
                                        </p:attrNameLst>
                                      </p:cBhvr>
                                      <p:to>
                                        <p:strVal val="hidden"/>
                                      </p:to>
                                    </p:set>
                                  </p:childTnLst>
                                </p:cTn>
                              </p:par>
                              <p:par>
                                <p:cTn id="65" presetID="22" presetClass="exit" presetSubtype="1" fill="hold" nodeType="withEffect">
                                  <p:stCondLst>
                                    <p:cond delay="0"/>
                                  </p:stCondLst>
                                  <p:childTnLst>
                                    <p:animEffect transition="out" filter="wipe(up)">
                                      <p:cBhvr>
                                        <p:cTn id="66" dur="500"/>
                                        <p:tgtEl>
                                          <p:spTgt spid="95"/>
                                        </p:tgtEl>
                                      </p:cBhvr>
                                    </p:animEffect>
                                    <p:set>
                                      <p:cBhvr>
                                        <p:cTn id="67" dur="1" fill="hold">
                                          <p:stCondLst>
                                            <p:cond delay="499"/>
                                          </p:stCondLst>
                                        </p:cTn>
                                        <p:tgtEl>
                                          <p:spTgt spid="95"/>
                                        </p:tgtEl>
                                        <p:attrNameLst>
                                          <p:attrName>style.visibility</p:attrName>
                                        </p:attrNameLst>
                                      </p:cBhvr>
                                      <p:to>
                                        <p:strVal val="hidden"/>
                                      </p:to>
                                    </p:set>
                                  </p:childTnLst>
                                </p:cTn>
                              </p:par>
                              <p:par>
                                <p:cTn id="68" presetID="22" presetClass="exit" presetSubtype="1" fill="hold" nodeType="withEffect">
                                  <p:stCondLst>
                                    <p:cond delay="0"/>
                                  </p:stCondLst>
                                  <p:childTnLst>
                                    <p:animEffect transition="out" filter="wipe(up)">
                                      <p:cBhvr>
                                        <p:cTn id="69" dur="500"/>
                                        <p:tgtEl>
                                          <p:spTgt spid="103"/>
                                        </p:tgtEl>
                                      </p:cBhvr>
                                    </p:animEffect>
                                    <p:set>
                                      <p:cBhvr>
                                        <p:cTn id="70" dur="1" fill="hold">
                                          <p:stCondLst>
                                            <p:cond delay="499"/>
                                          </p:stCondLst>
                                        </p:cTn>
                                        <p:tgtEl>
                                          <p:spTgt spid="103"/>
                                        </p:tgtEl>
                                        <p:attrNameLst>
                                          <p:attrName>style.visibility</p:attrName>
                                        </p:attrNameLst>
                                      </p:cBhvr>
                                      <p:to>
                                        <p:strVal val="hidden"/>
                                      </p:to>
                                    </p:set>
                                  </p:childTnLst>
                                </p:cTn>
                              </p:par>
                              <p:par>
                                <p:cTn id="71" presetID="22" presetClass="exit" presetSubtype="1" fill="hold" nodeType="withEffect">
                                  <p:stCondLst>
                                    <p:cond delay="0"/>
                                  </p:stCondLst>
                                  <p:childTnLst>
                                    <p:animEffect transition="out" filter="wipe(up)">
                                      <p:cBhvr>
                                        <p:cTn id="72" dur="500"/>
                                        <p:tgtEl>
                                          <p:spTgt spid="110"/>
                                        </p:tgtEl>
                                      </p:cBhvr>
                                    </p:animEffect>
                                    <p:set>
                                      <p:cBhvr>
                                        <p:cTn id="73" dur="1" fill="hold">
                                          <p:stCondLst>
                                            <p:cond delay="499"/>
                                          </p:stCondLst>
                                        </p:cTn>
                                        <p:tgtEl>
                                          <p:spTgt spid="110"/>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53"/>
                                        </p:tgtEl>
                                      </p:cBhvr>
                                    </p:animEffect>
                                    <p:set>
                                      <p:cBhvr>
                                        <p:cTn id="76" dur="1" fill="hold">
                                          <p:stCondLst>
                                            <p:cond delay="499"/>
                                          </p:stCondLst>
                                        </p:cTn>
                                        <p:tgtEl>
                                          <p:spTgt spid="53"/>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500"/>
                                        <p:tgtEl>
                                          <p:spTgt spid="56"/>
                                        </p:tgtEl>
                                      </p:cBhvr>
                                    </p:animEffect>
                                    <p:set>
                                      <p:cBhvr>
                                        <p:cTn id="79" dur="1" fill="hold">
                                          <p:stCondLst>
                                            <p:cond delay="499"/>
                                          </p:stCondLst>
                                        </p:cTn>
                                        <p:tgtEl>
                                          <p:spTgt spid="56"/>
                                        </p:tgtEl>
                                        <p:attrNameLst>
                                          <p:attrName>style.visibility</p:attrName>
                                        </p:attrNameLst>
                                      </p:cBhvr>
                                      <p:to>
                                        <p:strVal val="hidden"/>
                                      </p:to>
                                    </p:set>
                                  </p:childTnLst>
                                </p:cTn>
                              </p:par>
                            </p:childTnLst>
                          </p:cTn>
                        </p:par>
                        <p:par>
                          <p:cTn id="80" fill="hold">
                            <p:stCondLst>
                              <p:cond delay="500"/>
                            </p:stCondLst>
                            <p:childTnLst>
                              <p:par>
                                <p:cTn id="81" presetID="12" presetClass="entr" presetSubtype="4" fill="hold" nodeType="afterEffect">
                                  <p:stCondLst>
                                    <p:cond delay="0"/>
                                  </p:stCondLst>
                                  <p:childTnLst>
                                    <p:set>
                                      <p:cBhvr>
                                        <p:cTn id="82" dur="1" fill="hold">
                                          <p:stCondLst>
                                            <p:cond delay="0"/>
                                          </p:stCondLst>
                                        </p:cTn>
                                        <p:tgtEl>
                                          <p:spTgt spid="57"/>
                                        </p:tgtEl>
                                        <p:attrNameLst>
                                          <p:attrName>style.visibility</p:attrName>
                                        </p:attrNameLst>
                                      </p:cBhvr>
                                      <p:to>
                                        <p:strVal val="visible"/>
                                      </p:to>
                                    </p:set>
                                    <p:anim calcmode="lin" valueType="num">
                                      <p:cBhvr additive="base">
                                        <p:cTn id="83" dur="1000"/>
                                        <p:tgtEl>
                                          <p:spTgt spid="57"/>
                                        </p:tgtEl>
                                        <p:attrNameLst>
                                          <p:attrName>ppt_y</p:attrName>
                                        </p:attrNameLst>
                                      </p:cBhvr>
                                      <p:tavLst>
                                        <p:tav tm="0">
                                          <p:val>
                                            <p:strVal val="#ppt_y+#ppt_h*1.125000"/>
                                          </p:val>
                                        </p:tav>
                                        <p:tav tm="100000">
                                          <p:val>
                                            <p:strVal val="#ppt_y"/>
                                          </p:val>
                                        </p:tav>
                                      </p:tavLst>
                                    </p:anim>
                                    <p:animEffect transition="in" filter="wipe(up)">
                                      <p:cBhvr>
                                        <p:cTn id="84" dur="1000"/>
                                        <p:tgtEl>
                                          <p:spTgt spid="5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wipe(up)">
                                      <p:cBhvr>
                                        <p:cTn id="89" dur="75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wipe(up)">
                                      <p:cBhvr>
                                        <p:cTn id="94"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041354" y="1642111"/>
            <a:ext cx="6772956" cy="1865100"/>
            <a:chOff x="1041354" y="1824567"/>
            <a:chExt cx="6772956" cy="2072333"/>
          </a:xfrm>
        </p:grpSpPr>
        <p:grpSp>
          <p:nvGrpSpPr>
            <p:cNvPr id="17" name="组合 16"/>
            <p:cNvGrpSpPr/>
            <p:nvPr/>
          </p:nvGrpSpPr>
          <p:grpSpPr>
            <a:xfrm>
              <a:off x="1101090" y="1824567"/>
              <a:ext cx="1371600" cy="760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8" name="组合 17"/>
            <p:cNvGrpSpPr/>
            <p:nvPr/>
          </p:nvGrpSpPr>
          <p:grpSpPr>
            <a:xfrm>
              <a:off x="6442710" y="3136900"/>
              <a:ext cx="1371600" cy="760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2166579"/>
              <a:ext cx="6498792" cy="1427741"/>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1</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数字逻辑基础</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1.4 </a:t>
              </a:r>
              <a:r>
                <a:rPr lang="zh-CN"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码制与常用的二进制编码</a:t>
              </a:r>
              <a:endPar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endParaRPr>
            </a:p>
          </p:txBody>
        </p:sp>
      </p:grpSp>
      <p:sp>
        <p:nvSpPr>
          <p:cNvPr id="37890" name="AutoShape 2"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fltVal val="0"/>
                                          </p:val>
                                        </p:tav>
                                        <p:tav tm="100000">
                                          <p:val>
                                            <p:strVal val="#ppt_w"/>
                                          </p:val>
                                        </p:tav>
                                      </p:tavLst>
                                    </p:anim>
                                    <p:anim calcmode="lin" valueType="num">
                                      <p:cBhvr>
                                        <p:cTn id="8" dur="10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7"/>
          <p:cNvGrpSpPr/>
          <p:nvPr/>
        </p:nvGrpSpPr>
        <p:grpSpPr>
          <a:xfrm>
            <a:off x="392432" y="590448"/>
            <a:ext cx="2323864" cy="418885"/>
            <a:chOff x="670560" y="892917"/>
            <a:chExt cx="2323864" cy="465428"/>
          </a:xfrm>
        </p:grpSpPr>
        <p:sp>
          <p:nvSpPr>
            <p:cNvPr id="5" name="矩形 4"/>
            <p:cNvSpPr/>
            <p:nvPr/>
          </p:nvSpPr>
          <p:spPr>
            <a:xfrm>
              <a:off x="1035233" y="913778"/>
              <a:ext cx="1959191"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、编码的概念 </a:t>
              </a:r>
            </a:p>
          </p:txBody>
        </p:sp>
        <p:pic>
          <p:nvPicPr>
            <p:cNvPr id="6"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1" name="组合 10"/>
          <p:cNvGrpSpPr/>
          <p:nvPr/>
        </p:nvGrpSpPr>
        <p:grpSpPr>
          <a:xfrm>
            <a:off x="511262" y="1074405"/>
            <a:ext cx="8343243" cy="923330"/>
            <a:chOff x="657204" y="3799456"/>
            <a:chExt cx="8343243" cy="1078602"/>
          </a:xfrm>
        </p:grpSpPr>
        <p:sp>
          <p:nvSpPr>
            <p:cNvPr id="12" name="矩形 11"/>
            <p:cNvSpPr/>
            <p:nvPr/>
          </p:nvSpPr>
          <p:spPr>
            <a:xfrm>
              <a:off x="939047" y="3799456"/>
              <a:ext cx="8061400" cy="1078602"/>
            </a:xfrm>
            <a:prstGeom prst="rect">
              <a:avLst/>
            </a:prstGeom>
          </p:spPr>
          <p:txBody>
            <a:bodyPr wrap="square">
              <a:spAutoFit/>
            </a:bodyPr>
            <a:lstStyle/>
            <a:p>
              <a:r>
                <a:rPr lang="zh-CN" altLang="en-US" dirty="0">
                  <a:solidFill>
                    <a:srgbClr val="262626"/>
                  </a:solidFill>
                  <a:latin typeface="黑体" pitchFamily="49" charset="-122"/>
                  <a:ea typeface="黑体" pitchFamily="49" charset="-122"/>
                </a:rPr>
                <a:t>用代码来表示各种信息（数据、文字、图像、语音等）</a:t>
              </a:r>
              <a:r>
                <a:rPr lang="en-US" altLang="zh-CN" dirty="0">
                  <a:solidFill>
                    <a:srgbClr val="262626"/>
                  </a:solidFill>
                  <a:latin typeface="黑体" pitchFamily="49" charset="-122"/>
                  <a:ea typeface="黑体" pitchFamily="49" charset="-122"/>
                </a:rPr>
                <a:t>,</a:t>
              </a:r>
              <a:r>
                <a:rPr lang="zh-CN" altLang="en-US" dirty="0">
                  <a:solidFill>
                    <a:srgbClr val="262626"/>
                  </a:solidFill>
                  <a:latin typeface="黑体" pitchFamily="49" charset="-122"/>
                  <a:ea typeface="黑体" pitchFamily="49" charset="-122"/>
                </a:rPr>
                <a:t>使其成为可利用数字系统进行处理和分析的信息的过程称为</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 (Coding)</a:t>
              </a:r>
              <a:r>
                <a:rPr lang="zh-CN" altLang="en-US" dirty="0">
                  <a:solidFill>
                    <a:srgbClr val="262626"/>
                  </a:solidFill>
                  <a:latin typeface="黑体" pitchFamily="49" charset="-122"/>
                  <a:ea typeface="黑体" pitchFamily="49" charset="-122"/>
                </a:rPr>
                <a:t>。</a:t>
              </a:r>
              <a:r>
                <a:rPr lang="zh-CN" altLang="zh-CN" dirty="0">
                  <a:solidFill>
                    <a:srgbClr val="262626"/>
                  </a:solidFill>
                  <a:latin typeface="黑体" pitchFamily="49" charset="-122"/>
                  <a:ea typeface="黑体" pitchFamily="49" charset="-122"/>
                </a:rPr>
                <a:t>形成代码的规律法则，称为</a:t>
              </a:r>
              <a:r>
                <a:rPr lang="zh-CN"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码制</a:t>
              </a:r>
              <a:r>
                <a:rPr lang="zh-CN" altLang="zh-CN" dirty="0">
                  <a:solidFill>
                    <a:srgbClr val="262626"/>
                  </a:solidFill>
                  <a:latin typeface="黑体" pitchFamily="49" charset="-122"/>
                  <a:ea typeface="黑体" pitchFamily="49" charset="-122"/>
                </a:rPr>
                <a:t>。</a:t>
              </a:r>
              <a:endParaRPr lang="zh-CN" altLang="en-US" dirty="0">
                <a:solidFill>
                  <a:srgbClr val="262626"/>
                </a:solidFill>
                <a:latin typeface="黑体" pitchFamily="49" charset="-122"/>
                <a:ea typeface="黑体" pitchFamily="49" charset="-122"/>
              </a:endParaRPr>
            </a:p>
          </p:txBody>
        </p:sp>
        <p:grpSp>
          <p:nvGrpSpPr>
            <p:cNvPr id="13" name="组合 13">
              <a:extLst>
                <a:ext uri="{FF2B5EF4-FFF2-40B4-BE49-F238E27FC236}">
                  <a16:creationId xmlns:a16="http://schemas.microsoft.com/office/drawing/2014/main" xmlns="" id="{FF3B2FB4-753E-483C-B856-C25711218C46}"/>
                </a:ext>
              </a:extLst>
            </p:cNvPr>
            <p:cNvGrpSpPr/>
            <p:nvPr/>
          </p:nvGrpSpPr>
          <p:grpSpPr>
            <a:xfrm>
              <a:off x="657204" y="3855670"/>
              <a:ext cx="272583" cy="310719"/>
              <a:chOff x="5908675" y="1281113"/>
              <a:chExt cx="246063" cy="260350"/>
            </a:xfrm>
            <a:solidFill>
              <a:srgbClr val="CC6600"/>
            </a:solidFill>
            <a:effectLst/>
          </p:grpSpPr>
          <p:sp>
            <p:nvSpPr>
              <p:cNvPr id="14"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5"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6"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7"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18"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8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sp>
        <p:nvSpPr>
          <p:cNvPr id="19" name="矩形 18"/>
          <p:cNvSpPr/>
          <p:nvPr/>
        </p:nvSpPr>
        <p:spPr>
          <a:xfrm>
            <a:off x="784860" y="2110654"/>
            <a:ext cx="6377940" cy="369332"/>
          </a:xfrm>
          <a:prstGeom prst="rect">
            <a:avLst/>
          </a:prstGeom>
        </p:spPr>
        <p:txBody>
          <a:bodyPr wrap="square">
            <a:spAutoFit/>
          </a:bodyPr>
          <a:lstStyle/>
          <a:p>
            <a:r>
              <a:rPr lang="zh-CN" altLang="en-US" dirty="0">
                <a:solidFill>
                  <a:srgbClr val="262626"/>
                </a:solidFill>
                <a:latin typeface="黑体" pitchFamily="49" charset="-122"/>
                <a:ea typeface="黑体" pitchFamily="49" charset="-122"/>
              </a:rPr>
              <a:t>数字系统中常用的编码有两类：</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二进制编码</a:t>
            </a:r>
            <a:r>
              <a:rPr lang="zh-CN" altLang="en-US" dirty="0">
                <a:solidFill>
                  <a:srgbClr val="262626"/>
                </a:solidFill>
                <a:latin typeface="黑体" pitchFamily="49" charset="-122"/>
                <a:ea typeface="黑体" pitchFamily="49"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zh-CN" altLang="en-US" dirty="0">
                <a:solidFill>
                  <a:srgbClr val="262626"/>
                </a:solidFill>
                <a:latin typeface="黑体" pitchFamily="49" charset="-122"/>
                <a:ea typeface="黑体" pitchFamily="49" charset="-122"/>
              </a:rPr>
              <a:t>。</a:t>
            </a:r>
          </a:p>
        </p:txBody>
      </p:sp>
      <p:grpSp>
        <p:nvGrpSpPr>
          <p:cNvPr id="21" name="组合 20"/>
          <p:cNvGrpSpPr/>
          <p:nvPr/>
        </p:nvGrpSpPr>
        <p:grpSpPr>
          <a:xfrm>
            <a:off x="434340" y="2555440"/>
            <a:ext cx="8343900" cy="412613"/>
            <a:chOff x="739140" y="2387672"/>
            <a:chExt cx="8343900" cy="458459"/>
          </a:xfrm>
        </p:grpSpPr>
        <p:sp>
          <p:nvSpPr>
            <p:cNvPr id="2" name="矩形 1"/>
            <p:cNvSpPr/>
            <p:nvPr/>
          </p:nvSpPr>
          <p:spPr>
            <a:xfrm>
              <a:off x="739140" y="2387672"/>
              <a:ext cx="8343900" cy="458459"/>
            </a:xfrm>
            <a:prstGeom prst="rect">
              <a:avLst/>
            </a:prstGeom>
          </p:spPr>
          <p:txBody>
            <a:bodyPr wrap="square">
              <a:spAutoFit/>
            </a:bodyPr>
            <a:lstStyle/>
            <a:p>
              <a:pPr indent="358775">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二进制编码</a:t>
              </a:r>
              <a:r>
                <a:rPr lang="zh-CN" altLang="en-US" dirty="0">
                  <a:solidFill>
                    <a:srgbClr val="262626"/>
                  </a:solidFill>
                  <a:latin typeface="黑体" pitchFamily="49" charset="-122"/>
                  <a:ea typeface="黑体" pitchFamily="49" charset="-122"/>
                </a:rPr>
                <a:t>：</a:t>
              </a:r>
              <a:r>
                <a:rPr lang="zh-CN" altLang="zh-CN" dirty="0">
                  <a:solidFill>
                    <a:srgbClr val="262626"/>
                  </a:solidFill>
                  <a:latin typeface="黑体" pitchFamily="49" charset="-122"/>
                  <a:ea typeface="黑体" pitchFamily="49" charset="-122"/>
                </a:rPr>
                <a:t>用一定位数的二进制数码来表示数字、符号等信息编码方法</a:t>
              </a:r>
              <a:r>
                <a:rPr lang="zh-CN" altLang="en-US" dirty="0">
                  <a:solidFill>
                    <a:srgbClr val="262626"/>
                  </a:solidFill>
                  <a:latin typeface="黑体" pitchFamily="49" charset="-122"/>
                  <a:ea typeface="黑体" pitchFamily="49" charset="-122"/>
                </a:rPr>
                <a:t>。</a:t>
              </a:r>
              <a:endParaRPr lang="en-US" altLang="zh-CN" dirty="0">
                <a:solidFill>
                  <a:srgbClr val="262626"/>
                </a:solidFill>
                <a:latin typeface="黑体" pitchFamily="49" charset="-122"/>
                <a:ea typeface="黑体" pitchFamily="49" charset="-122"/>
              </a:endParaRPr>
            </a:p>
          </p:txBody>
        </p:sp>
        <p:pic>
          <p:nvPicPr>
            <p:cNvPr id="20"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810606" y="2429523"/>
              <a:ext cx="321323" cy="277564"/>
            </a:xfrm>
            <a:prstGeom prst="rect">
              <a:avLst/>
            </a:prstGeom>
            <a:noFill/>
            <a:ln w="9525">
              <a:noFill/>
              <a:miter lim="800000"/>
              <a:headEnd/>
              <a:tailEnd/>
            </a:ln>
          </p:spPr>
        </p:pic>
      </p:grpSp>
      <p:grpSp>
        <p:nvGrpSpPr>
          <p:cNvPr id="26" name="组合 25"/>
          <p:cNvGrpSpPr/>
          <p:nvPr/>
        </p:nvGrpSpPr>
        <p:grpSpPr>
          <a:xfrm>
            <a:off x="521046" y="3064887"/>
            <a:ext cx="7655214" cy="412613"/>
            <a:chOff x="551526" y="3341641"/>
            <a:chExt cx="7655214" cy="458459"/>
          </a:xfrm>
        </p:grpSpPr>
        <p:sp>
          <p:nvSpPr>
            <p:cNvPr id="22" name="矩形 21"/>
            <p:cNvSpPr/>
            <p:nvPr/>
          </p:nvSpPr>
          <p:spPr>
            <a:xfrm>
              <a:off x="792480" y="3341641"/>
              <a:ext cx="7414260" cy="458459"/>
            </a:xfrm>
            <a:prstGeom prst="rect">
              <a:avLst/>
            </a:prstGeom>
          </p:spPr>
          <p:txBody>
            <a:bodyPr wrap="square">
              <a:spAutoFit/>
            </a:bodyPr>
            <a:lstStyle/>
            <a:p>
              <a:pPr>
                <a:lnSpc>
                  <a:spcPct val="125000"/>
                </a:lnSpc>
                <a:spcBef>
                  <a:spcPct val="50000"/>
                </a:spcBef>
              </a:pPr>
              <a:r>
                <a:rPr lang="zh-CN" altLang="en-US" dirty="0">
                  <a:solidFill>
                    <a:srgbClr val="262626"/>
                  </a:solidFill>
                  <a:latin typeface="黑体" pitchFamily="49" charset="-122"/>
                  <a:ea typeface="黑体" pitchFamily="49" charset="-122"/>
                </a:rPr>
                <a:t>待编码信息个数</a:t>
              </a:r>
              <a:r>
                <a:rPr lang="en-US" altLang="zh-CN" dirty="0">
                  <a:solidFill>
                    <a:srgbClr val="6600FF"/>
                  </a:solidFill>
                  <a:latin typeface="方正粗黑宋简体" pitchFamily="2" charset="-122"/>
                  <a:ea typeface="方正粗黑宋简体" pitchFamily="2" charset="-122"/>
                </a:rPr>
                <a:t>M</a:t>
              </a:r>
              <a:r>
                <a:rPr lang="zh-CN" altLang="en-US" dirty="0">
                  <a:solidFill>
                    <a:srgbClr val="262626"/>
                  </a:solidFill>
                  <a:latin typeface="黑体" pitchFamily="49" charset="-122"/>
                  <a:ea typeface="黑体" pitchFamily="49" charset="-122"/>
                </a:rPr>
                <a:t>与二进制代码的位数</a:t>
              </a:r>
              <a:r>
                <a:rPr lang="en-US" altLang="zh-CN" dirty="0">
                  <a:solidFill>
                    <a:srgbClr val="6600FF"/>
                  </a:solidFill>
                  <a:latin typeface="方正粗黑宋简体" pitchFamily="2" charset="-122"/>
                  <a:ea typeface="方正粗黑宋简体" pitchFamily="2" charset="-122"/>
                </a:rPr>
                <a:t>n</a:t>
              </a:r>
              <a:r>
                <a:rPr lang="zh-CN" altLang="en-US" dirty="0">
                  <a:solidFill>
                    <a:srgbClr val="262626"/>
                  </a:solidFill>
                  <a:latin typeface="黑体" pitchFamily="49" charset="-122"/>
                  <a:ea typeface="黑体" pitchFamily="49" charset="-122"/>
                </a:rPr>
                <a:t>之间的关系：</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2</a:t>
              </a:r>
              <a:r>
                <a:rPr lang="en-US" altLang="zh-CN" baseline="300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n-1</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 ≤ M ≤ 2</a:t>
              </a:r>
              <a:r>
                <a:rPr lang="en-US" altLang="zh-CN" baseline="300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n</a:t>
              </a:r>
              <a:r>
                <a:rPr lang="zh-CN" altLang="en-US" dirty="0">
                  <a:solidFill>
                    <a:srgbClr val="000000"/>
                  </a:solidFill>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p:txBody>
        </p:sp>
        <p:pic>
          <p:nvPicPr>
            <p:cNvPr id="25" name="Picture 5">
              <a:extLst>
                <a:ext uri="{FF2B5EF4-FFF2-40B4-BE49-F238E27FC236}">
                  <a16:creationId xmlns:a16="http://schemas.microsoft.com/office/drawing/2014/main" xmlns="" id="{3D2098D3-E4E6-4589-A2F0-66FA6DB563AE}"/>
                </a:ext>
              </a:extLst>
            </p:cNvPr>
            <p:cNvPicPr>
              <a:picLocks noChangeAspect="1" noChangeArrowheads="1"/>
            </p:cNvPicPr>
            <p:nvPr/>
          </p:nvPicPr>
          <p:blipFill>
            <a:blip r:embed="rId4" cstate="print"/>
            <a:srcRect/>
            <a:stretch>
              <a:fillRect/>
            </a:stretch>
          </p:blipFill>
          <p:spPr bwMode="auto">
            <a:xfrm>
              <a:off x="551526" y="3389643"/>
              <a:ext cx="321323" cy="277564"/>
            </a:xfrm>
            <a:prstGeom prst="rect">
              <a:avLst/>
            </a:prstGeom>
            <a:noFill/>
            <a:ln w="9525">
              <a:noFill/>
              <a:miter lim="800000"/>
              <a:headEnd/>
              <a:tailEnd/>
            </a:ln>
          </p:spPr>
        </p:pic>
      </p:grpSp>
      <p:sp>
        <p:nvSpPr>
          <p:cNvPr id="27" name="圆角矩形标注 26"/>
          <p:cNvSpPr/>
          <p:nvPr/>
        </p:nvSpPr>
        <p:spPr>
          <a:xfrm>
            <a:off x="6647486" y="1834639"/>
            <a:ext cx="2284730" cy="370332"/>
          </a:xfrm>
          <a:prstGeom prst="wedgeRoundRectCallout">
            <a:avLst>
              <a:gd name="adj1" fmla="val -45662"/>
              <a:gd name="adj2" fmla="val 73818"/>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600" dirty="0">
                <a:solidFill>
                  <a:srgbClr val="6600FF"/>
                </a:solidFill>
                <a:latin typeface="方正粗黑宋简体" pitchFamily="2" charset="-122"/>
                <a:ea typeface="方正粗黑宋简体" pitchFamily="2" charset="-122"/>
              </a:rPr>
              <a:t>身份证、学号、邮编等</a:t>
            </a:r>
          </a:p>
        </p:txBody>
      </p:sp>
      <p:sp>
        <p:nvSpPr>
          <p:cNvPr id="45058" name="AutoShape 2" descr="http://img3.imgtn.bdimg.com/it/u=2682441348,586746371&amp;fm=214&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p:cNvGrpSpPr/>
          <p:nvPr/>
        </p:nvGrpSpPr>
        <p:grpSpPr>
          <a:xfrm>
            <a:off x="1857376" y="3622803"/>
            <a:ext cx="5541645" cy="1470190"/>
            <a:chOff x="1903095" y="3548078"/>
            <a:chExt cx="5541645" cy="1633544"/>
          </a:xfrm>
        </p:grpSpPr>
        <p:sp>
          <p:nvSpPr>
            <p:cNvPr id="41" name="虚尾箭头 40"/>
            <p:cNvSpPr/>
            <p:nvPr/>
          </p:nvSpPr>
          <p:spPr>
            <a:xfrm>
              <a:off x="3276600" y="4046220"/>
              <a:ext cx="2468880" cy="640080"/>
            </a:xfrm>
            <a:prstGeom prst="stripedRightArrow">
              <a:avLst>
                <a:gd name="adj1" fmla="val 61905"/>
                <a:gd name="adj2" fmla="val 50000"/>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6600FF"/>
                  </a:solidFill>
                  <a:latin typeface="方正粗黑宋简体" pitchFamily="2" charset="-122"/>
                  <a:ea typeface="方正粗黑宋简体" pitchFamily="2" charset="-122"/>
                </a:rPr>
                <a:t>M=8</a:t>
              </a:r>
              <a:r>
                <a:rPr lang="zh-CN" altLang="en-US" dirty="0">
                  <a:solidFill>
                    <a:srgbClr val="6600FF"/>
                  </a:solidFill>
                  <a:latin typeface="方正粗黑宋简体" pitchFamily="2" charset="-122"/>
                  <a:ea typeface="方正粗黑宋简体" pitchFamily="2" charset="-122"/>
                </a:rPr>
                <a:t>、</a:t>
              </a:r>
              <a:r>
                <a:rPr lang="en-US" altLang="zh-CN" dirty="0">
                  <a:solidFill>
                    <a:srgbClr val="6600FF"/>
                  </a:solidFill>
                  <a:latin typeface="方正粗黑宋简体" pitchFamily="2" charset="-122"/>
                  <a:ea typeface="方正粗黑宋简体" pitchFamily="2" charset="-122"/>
                </a:rPr>
                <a:t>n=3</a:t>
              </a:r>
              <a:endParaRPr lang="zh-CN" altLang="en-US" dirty="0">
                <a:solidFill>
                  <a:srgbClr val="6600FF"/>
                </a:solidFill>
                <a:latin typeface="方正粗黑宋简体" pitchFamily="2" charset="-122"/>
                <a:ea typeface="方正粗黑宋简体" pitchFamily="2" charset="-122"/>
              </a:endParaRPr>
            </a:p>
          </p:txBody>
        </p:sp>
        <p:grpSp>
          <p:nvGrpSpPr>
            <p:cNvPr id="38" name="组合 37"/>
            <p:cNvGrpSpPr/>
            <p:nvPr/>
          </p:nvGrpSpPr>
          <p:grpSpPr>
            <a:xfrm>
              <a:off x="1903095" y="3548078"/>
              <a:ext cx="1663065" cy="1633544"/>
              <a:chOff x="1423035" y="3570938"/>
              <a:chExt cx="1663065" cy="1633544"/>
            </a:xfrm>
          </p:grpSpPr>
          <p:pic>
            <p:nvPicPr>
              <p:cNvPr id="45059" name="Picture 3"/>
              <p:cNvPicPr>
                <a:picLocks noChangeAspect="1" noChangeArrowheads="1"/>
              </p:cNvPicPr>
              <p:nvPr/>
            </p:nvPicPr>
            <p:blipFill>
              <a:blip r:embed="rId5" cstate="print"/>
              <a:srcRect/>
              <a:stretch>
                <a:fillRect/>
              </a:stretch>
            </p:blipFill>
            <p:spPr bwMode="auto">
              <a:xfrm>
                <a:off x="1423035" y="3570938"/>
                <a:ext cx="1663065" cy="1633544"/>
              </a:xfrm>
              <a:prstGeom prst="rect">
                <a:avLst/>
              </a:prstGeom>
              <a:noFill/>
              <a:ln w="9525">
                <a:noFill/>
                <a:miter lim="800000"/>
                <a:headEnd/>
                <a:tailEnd/>
              </a:ln>
              <a:effectLst/>
            </p:spPr>
          </p:pic>
          <p:pic>
            <p:nvPicPr>
              <p:cNvPr id="45060" name="Picture 4"/>
              <p:cNvPicPr>
                <a:picLocks noChangeAspect="1" noChangeArrowheads="1"/>
              </p:cNvPicPr>
              <p:nvPr/>
            </p:nvPicPr>
            <p:blipFill>
              <a:blip r:embed="rId6" cstate="print"/>
              <a:srcRect/>
              <a:stretch>
                <a:fillRect/>
              </a:stretch>
            </p:blipFill>
            <p:spPr bwMode="auto">
              <a:xfrm>
                <a:off x="2145030" y="3613284"/>
                <a:ext cx="201930" cy="257727"/>
              </a:xfrm>
              <a:prstGeom prst="rect">
                <a:avLst/>
              </a:prstGeom>
              <a:noFill/>
              <a:ln w="9525">
                <a:noFill/>
                <a:miter lim="800000"/>
                <a:headEnd/>
                <a:tailEnd/>
              </a:ln>
              <a:effectLst/>
            </p:spPr>
          </p:pic>
          <p:pic>
            <p:nvPicPr>
              <p:cNvPr id="45061" name="Picture 5"/>
              <p:cNvPicPr>
                <a:picLocks noChangeAspect="1" noChangeArrowheads="1"/>
              </p:cNvPicPr>
              <p:nvPr/>
            </p:nvPicPr>
            <p:blipFill>
              <a:blip r:embed="rId7" cstate="print"/>
              <a:srcRect/>
              <a:stretch>
                <a:fillRect/>
              </a:stretch>
            </p:blipFill>
            <p:spPr bwMode="auto">
              <a:xfrm rot="18900000">
                <a:off x="2588331" y="3776593"/>
                <a:ext cx="204193" cy="311002"/>
              </a:xfrm>
              <a:prstGeom prst="rect">
                <a:avLst/>
              </a:prstGeom>
              <a:noFill/>
              <a:ln w="9525">
                <a:noFill/>
                <a:miter lim="800000"/>
                <a:headEnd/>
                <a:tailEnd/>
              </a:ln>
              <a:effectLst/>
            </p:spPr>
          </p:pic>
          <p:pic>
            <p:nvPicPr>
              <p:cNvPr id="45062" name="Picture 6"/>
              <p:cNvPicPr>
                <a:picLocks noChangeAspect="1" noChangeArrowheads="1"/>
              </p:cNvPicPr>
              <p:nvPr/>
            </p:nvPicPr>
            <p:blipFill>
              <a:blip r:embed="rId8" cstate="print"/>
              <a:srcRect/>
              <a:stretch>
                <a:fillRect/>
              </a:stretch>
            </p:blipFill>
            <p:spPr bwMode="auto">
              <a:xfrm>
                <a:off x="2757489" y="4259580"/>
                <a:ext cx="220028" cy="262890"/>
              </a:xfrm>
              <a:prstGeom prst="rect">
                <a:avLst/>
              </a:prstGeom>
              <a:noFill/>
              <a:ln w="9525">
                <a:noFill/>
                <a:miter lim="800000"/>
                <a:headEnd/>
                <a:tailEnd/>
              </a:ln>
              <a:effectLst/>
            </p:spPr>
          </p:pic>
          <p:pic>
            <p:nvPicPr>
              <p:cNvPr id="45063" name="Picture 7"/>
              <p:cNvPicPr>
                <a:picLocks noChangeAspect="1" noChangeArrowheads="1"/>
              </p:cNvPicPr>
              <p:nvPr/>
            </p:nvPicPr>
            <p:blipFill>
              <a:blip r:embed="rId9" cstate="print"/>
              <a:srcRect/>
              <a:stretch>
                <a:fillRect/>
              </a:stretch>
            </p:blipFill>
            <p:spPr bwMode="auto">
              <a:xfrm rot="2680527">
                <a:off x="2586039" y="4712396"/>
                <a:ext cx="218122" cy="274893"/>
              </a:xfrm>
              <a:prstGeom prst="rect">
                <a:avLst/>
              </a:prstGeom>
              <a:noFill/>
              <a:ln w="9525">
                <a:noFill/>
                <a:miter lim="800000"/>
                <a:headEnd/>
                <a:tailEnd/>
              </a:ln>
              <a:effectLst/>
            </p:spPr>
          </p:pic>
          <p:pic>
            <p:nvPicPr>
              <p:cNvPr id="45064" name="Picture 8"/>
              <p:cNvPicPr>
                <a:picLocks noChangeAspect="1" noChangeArrowheads="1"/>
              </p:cNvPicPr>
              <p:nvPr/>
            </p:nvPicPr>
            <p:blipFill>
              <a:blip r:embed="rId10" cstate="print"/>
              <a:srcRect/>
              <a:stretch>
                <a:fillRect/>
              </a:stretch>
            </p:blipFill>
            <p:spPr bwMode="auto">
              <a:xfrm>
                <a:off x="2111693" y="4909760"/>
                <a:ext cx="220027" cy="251838"/>
              </a:xfrm>
              <a:prstGeom prst="rect">
                <a:avLst/>
              </a:prstGeom>
              <a:noFill/>
              <a:ln w="9525">
                <a:noFill/>
                <a:miter lim="800000"/>
                <a:headEnd/>
                <a:tailEnd/>
              </a:ln>
              <a:effectLst/>
            </p:spPr>
          </p:pic>
          <p:pic>
            <p:nvPicPr>
              <p:cNvPr id="45065" name="Picture 9"/>
              <p:cNvPicPr>
                <a:picLocks noChangeAspect="1" noChangeArrowheads="1"/>
              </p:cNvPicPr>
              <p:nvPr/>
            </p:nvPicPr>
            <p:blipFill>
              <a:blip r:embed="rId11" cstate="print"/>
              <a:srcRect/>
              <a:stretch>
                <a:fillRect/>
              </a:stretch>
            </p:blipFill>
            <p:spPr bwMode="auto">
              <a:xfrm rot="18832487">
                <a:off x="1683035" y="4704313"/>
                <a:ext cx="189367" cy="270941"/>
              </a:xfrm>
              <a:prstGeom prst="rect">
                <a:avLst/>
              </a:prstGeom>
              <a:noFill/>
              <a:ln w="9525">
                <a:noFill/>
                <a:miter lim="800000"/>
                <a:headEnd/>
                <a:tailEnd/>
              </a:ln>
              <a:effectLst/>
            </p:spPr>
          </p:pic>
          <p:pic>
            <p:nvPicPr>
              <p:cNvPr id="45066" name="Picture 10"/>
              <p:cNvPicPr>
                <a:picLocks noChangeAspect="1" noChangeArrowheads="1"/>
              </p:cNvPicPr>
              <p:nvPr/>
            </p:nvPicPr>
            <p:blipFill>
              <a:blip r:embed="rId12" cstate="print"/>
              <a:srcRect/>
              <a:stretch>
                <a:fillRect/>
              </a:stretch>
            </p:blipFill>
            <p:spPr bwMode="auto">
              <a:xfrm>
                <a:off x="1483995" y="4240644"/>
                <a:ext cx="207645" cy="289445"/>
              </a:xfrm>
              <a:prstGeom prst="rect">
                <a:avLst/>
              </a:prstGeom>
              <a:noFill/>
              <a:ln w="9525">
                <a:noFill/>
                <a:miter lim="800000"/>
                <a:headEnd/>
                <a:tailEnd/>
              </a:ln>
              <a:effectLst/>
            </p:spPr>
          </p:pic>
          <p:pic>
            <p:nvPicPr>
              <p:cNvPr id="45067" name="Picture 11"/>
              <p:cNvPicPr>
                <a:picLocks noChangeAspect="1" noChangeArrowheads="1"/>
              </p:cNvPicPr>
              <p:nvPr/>
            </p:nvPicPr>
            <p:blipFill>
              <a:blip r:embed="rId13" cstate="print"/>
              <a:srcRect/>
              <a:stretch>
                <a:fillRect/>
              </a:stretch>
            </p:blipFill>
            <p:spPr bwMode="auto">
              <a:xfrm rot="2490683">
                <a:off x="1666447" y="3799394"/>
                <a:ext cx="197935" cy="279622"/>
              </a:xfrm>
              <a:prstGeom prst="rect">
                <a:avLst/>
              </a:prstGeom>
              <a:noFill/>
              <a:ln w="9525">
                <a:noFill/>
                <a:miter lim="800000"/>
                <a:headEnd/>
                <a:tailEnd/>
              </a:ln>
              <a:effectLst/>
            </p:spPr>
          </p:pic>
        </p:grpSp>
        <p:grpSp>
          <p:nvGrpSpPr>
            <p:cNvPr id="51" name="组合 50"/>
            <p:cNvGrpSpPr/>
            <p:nvPr/>
          </p:nvGrpSpPr>
          <p:grpSpPr>
            <a:xfrm>
              <a:off x="5781675" y="3548078"/>
              <a:ext cx="1663065" cy="1633544"/>
              <a:chOff x="5233035" y="3548078"/>
              <a:chExt cx="1663065" cy="1633544"/>
            </a:xfrm>
          </p:grpSpPr>
          <p:pic>
            <p:nvPicPr>
              <p:cNvPr id="42" name="Picture 3"/>
              <p:cNvPicPr>
                <a:picLocks noChangeAspect="1" noChangeArrowheads="1"/>
              </p:cNvPicPr>
              <p:nvPr/>
            </p:nvPicPr>
            <p:blipFill>
              <a:blip r:embed="rId5" cstate="print"/>
              <a:srcRect/>
              <a:stretch>
                <a:fillRect/>
              </a:stretch>
            </p:blipFill>
            <p:spPr bwMode="auto">
              <a:xfrm>
                <a:off x="5233035" y="3548078"/>
                <a:ext cx="1663065" cy="1633544"/>
              </a:xfrm>
              <a:prstGeom prst="rect">
                <a:avLst/>
              </a:prstGeom>
              <a:noFill/>
              <a:ln w="9525">
                <a:noFill/>
                <a:miter lim="800000"/>
                <a:headEnd/>
                <a:tailEnd/>
              </a:ln>
              <a:effectLst/>
            </p:spPr>
          </p:pic>
          <p:sp>
            <p:nvSpPr>
              <p:cNvPr id="43" name="矩形 42"/>
              <p:cNvSpPr/>
              <p:nvPr/>
            </p:nvSpPr>
            <p:spPr>
              <a:xfrm>
                <a:off x="5899844" y="3610094"/>
                <a:ext cx="307777" cy="239382"/>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000</a:t>
                </a:r>
                <a:endParaRPr lang="zh-CN" altLang="en-US" sz="1400" dirty="0"/>
              </a:p>
            </p:txBody>
          </p:sp>
          <p:sp>
            <p:nvSpPr>
              <p:cNvPr id="44" name="矩形 43"/>
              <p:cNvSpPr/>
              <p:nvPr/>
            </p:nvSpPr>
            <p:spPr>
              <a:xfrm rot="2836626">
                <a:off x="6324705" y="3808214"/>
                <a:ext cx="341975" cy="215444"/>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001</a:t>
                </a:r>
                <a:endParaRPr lang="zh-CN" altLang="en-US" sz="1400" dirty="0"/>
              </a:p>
            </p:txBody>
          </p:sp>
          <p:sp>
            <p:nvSpPr>
              <p:cNvPr id="45" name="矩形 44"/>
              <p:cNvSpPr/>
              <p:nvPr/>
            </p:nvSpPr>
            <p:spPr>
              <a:xfrm rot="5400000">
                <a:off x="6507585" y="4257794"/>
                <a:ext cx="341975" cy="215444"/>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010</a:t>
                </a:r>
                <a:endParaRPr lang="zh-CN" altLang="en-US" sz="1400" dirty="0"/>
              </a:p>
            </p:txBody>
          </p:sp>
          <p:sp>
            <p:nvSpPr>
              <p:cNvPr id="46" name="矩形 45"/>
              <p:cNvSpPr/>
              <p:nvPr/>
            </p:nvSpPr>
            <p:spPr>
              <a:xfrm rot="18928680">
                <a:off x="6349423" y="4695405"/>
                <a:ext cx="307777" cy="239382"/>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011</a:t>
                </a:r>
                <a:endParaRPr lang="zh-CN" altLang="en-US" sz="1400" dirty="0"/>
              </a:p>
            </p:txBody>
          </p:sp>
          <p:sp>
            <p:nvSpPr>
              <p:cNvPr id="47" name="矩形 46"/>
              <p:cNvSpPr/>
              <p:nvPr/>
            </p:nvSpPr>
            <p:spPr>
              <a:xfrm>
                <a:off x="5899844" y="4890254"/>
                <a:ext cx="307777" cy="239382"/>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100</a:t>
                </a:r>
                <a:endParaRPr lang="zh-CN" altLang="en-US" sz="1400" dirty="0"/>
              </a:p>
            </p:txBody>
          </p:sp>
          <p:sp>
            <p:nvSpPr>
              <p:cNvPr id="48" name="矩形 47"/>
              <p:cNvSpPr/>
              <p:nvPr/>
            </p:nvSpPr>
            <p:spPr>
              <a:xfrm rot="2670972">
                <a:off x="5450264" y="4703025"/>
                <a:ext cx="307777" cy="239382"/>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101</a:t>
                </a:r>
                <a:endParaRPr lang="zh-CN" altLang="en-US" sz="1400" dirty="0"/>
              </a:p>
            </p:txBody>
          </p:sp>
          <p:sp>
            <p:nvSpPr>
              <p:cNvPr id="49" name="矩形 48"/>
              <p:cNvSpPr/>
              <p:nvPr/>
            </p:nvSpPr>
            <p:spPr>
              <a:xfrm rot="16200000">
                <a:off x="5212185" y="4265414"/>
                <a:ext cx="341975" cy="215444"/>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110</a:t>
                </a:r>
                <a:endParaRPr lang="zh-CN" altLang="en-US" sz="1400" dirty="0"/>
              </a:p>
            </p:txBody>
          </p:sp>
          <p:sp>
            <p:nvSpPr>
              <p:cNvPr id="50" name="矩形 49"/>
              <p:cNvSpPr/>
              <p:nvPr/>
            </p:nvSpPr>
            <p:spPr>
              <a:xfrm rot="19011808">
                <a:off x="5427404" y="3781005"/>
                <a:ext cx="307777" cy="239382"/>
              </a:xfrm>
              <a:prstGeom prst="rect">
                <a:avLst/>
              </a:prstGeom>
            </p:spPr>
            <p:txBody>
              <a:bodyPr wrap="none" lIns="0" tIns="0" rIns="0" bIns="0">
                <a:spAutoFit/>
              </a:bodyPr>
              <a:lstStyle/>
              <a:p>
                <a:pPr algn="ctr"/>
                <a:r>
                  <a:rPr lang="en-US" altLang="zh-CN" sz="14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111</a:t>
                </a:r>
                <a:endParaRPr lang="zh-CN" altLang="en-US" sz="1400" dirty="0"/>
              </a:p>
            </p:txBody>
          </p:sp>
        </p:gr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1000"/>
                                        <p:tgtEl>
                                          <p:spTgt spid="19"/>
                                        </p:tgtEl>
                                      </p:cBhvr>
                                    </p:animEffect>
                                    <p:anim calcmode="lin" valueType="num">
                                      <p:cBhvr>
                                        <p:cTn id="21" dur="1000" fill="hold"/>
                                        <p:tgtEl>
                                          <p:spTgt spid="19"/>
                                        </p:tgtEl>
                                        <p:attrNameLst>
                                          <p:attrName>ppt_x</p:attrName>
                                        </p:attrNameLst>
                                      </p:cBhvr>
                                      <p:tavLst>
                                        <p:tav tm="0">
                                          <p:val>
                                            <p:strVal val="#ppt_x"/>
                                          </p:val>
                                        </p:tav>
                                        <p:tav tm="100000">
                                          <p:val>
                                            <p:strVal val="#ppt_x"/>
                                          </p:val>
                                        </p:tav>
                                      </p:tavLst>
                                    </p:anim>
                                    <p:anim calcmode="lin" valueType="num">
                                      <p:cBhvr>
                                        <p:cTn id="22" dur="1000" fill="hold"/>
                                        <p:tgtEl>
                                          <p:spTgt spid="19"/>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10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1000"/>
                                        <p:tgtEl>
                                          <p:spTgt spid="26"/>
                                        </p:tgtEl>
                                      </p:cBhvr>
                                    </p:animEffect>
                                    <p:anim calcmode="lin" valueType="num">
                                      <p:cBhvr>
                                        <p:cTn id="39" dur="1000" fill="hold"/>
                                        <p:tgtEl>
                                          <p:spTgt spid="26"/>
                                        </p:tgtEl>
                                        <p:attrNameLst>
                                          <p:attrName>ppt_x</p:attrName>
                                        </p:attrNameLst>
                                      </p:cBhvr>
                                      <p:tavLst>
                                        <p:tav tm="0">
                                          <p:val>
                                            <p:strVal val="#ppt_x"/>
                                          </p:val>
                                        </p:tav>
                                        <p:tav tm="100000">
                                          <p:val>
                                            <p:strVal val="#ppt_x"/>
                                          </p:val>
                                        </p:tav>
                                      </p:tavLst>
                                    </p:anim>
                                    <p:anim calcmode="lin" valueType="num">
                                      <p:cBhvr>
                                        <p:cTn id="4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52"/>
                                        </p:tgtEl>
                                        <p:attrNameLst>
                                          <p:attrName>style.visibility</p:attrName>
                                        </p:attrNameLst>
                                      </p:cBhvr>
                                      <p:to>
                                        <p:strVal val="visible"/>
                                      </p:to>
                                    </p:set>
                                    <p:anim calcmode="lin" valueType="num">
                                      <p:cBhvr>
                                        <p:cTn id="45" dur="1000" fill="hold"/>
                                        <p:tgtEl>
                                          <p:spTgt spid="52"/>
                                        </p:tgtEl>
                                        <p:attrNameLst>
                                          <p:attrName>ppt_w</p:attrName>
                                        </p:attrNameLst>
                                      </p:cBhvr>
                                      <p:tavLst>
                                        <p:tav tm="0">
                                          <p:val>
                                            <p:fltVal val="0"/>
                                          </p:val>
                                        </p:tav>
                                        <p:tav tm="100000">
                                          <p:val>
                                            <p:strVal val="#ppt_w"/>
                                          </p:val>
                                        </p:tav>
                                      </p:tavLst>
                                    </p:anim>
                                    <p:anim calcmode="lin" valueType="num">
                                      <p:cBhvr>
                                        <p:cTn id="46" dur="1000" fill="hold"/>
                                        <p:tgtEl>
                                          <p:spTgt spid="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12" name="Group 542">
            <a:extLst>
              <a:ext uri="{FF2B5EF4-FFF2-40B4-BE49-F238E27FC236}">
                <a16:creationId xmlns:a16="http://schemas.microsoft.com/office/drawing/2014/main" xmlns="" id="{4E4764DE-CC5D-4A1C-AE75-893D8F8D49F9}"/>
              </a:ext>
            </a:extLst>
          </p:cNvPr>
          <p:cNvGraphicFramePr>
            <a:graphicFrameLocks noGrp="1"/>
          </p:cNvGraphicFramePr>
          <p:nvPr/>
        </p:nvGraphicFramePr>
        <p:xfrm>
          <a:off x="772070" y="1781448"/>
          <a:ext cx="377357" cy="3048000"/>
        </p:xfrm>
        <a:graphic>
          <a:graphicData uri="http://schemas.openxmlformats.org/drawingml/2006/table">
            <a:tbl>
              <a:tblPr/>
              <a:tblGrid>
                <a:gridCol w="377357">
                  <a:extLst>
                    <a:ext uri="{9D8B030D-6E8A-4147-A177-3AD203B41FA5}">
                      <a16:colId xmlns:a16="http://schemas.microsoft.com/office/drawing/2014/main" xmlns="" val="20000"/>
                    </a:ext>
                  </a:extLst>
                </a:gridCol>
              </a:tblGrid>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0</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1</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2</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3</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4</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5</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6</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7</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8</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4136">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20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9</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slide(fromBottom)">
                                      <p:cBhvr>
                                        <p:cTn id="7" dur="1000"/>
                                        <p:tgtEl>
                                          <p:spTgt spid="60"/>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77"/>
                                        </p:tgtEl>
                                        <p:attrNameLst>
                                          <p:attrName>style.visibility</p:attrName>
                                        </p:attrNameLst>
                                      </p:cBhvr>
                                      <p:to>
                                        <p:strVal val="visible"/>
                                      </p:to>
                                    </p:set>
                                    <p:anim calcmode="lin" valueType="num">
                                      <p:cBhvr additive="base">
                                        <p:cTn id="11" dur="1000"/>
                                        <p:tgtEl>
                                          <p:spTgt spid="77"/>
                                        </p:tgtEl>
                                        <p:attrNameLst>
                                          <p:attrName>ppt_y</p:attrName>
                                        </p:attrNameLst>
                                      </p:cBhvr>
                                      <p:tavLst>
                                        <p:tav tm="0">
                                          <p:val>
                                            <p:strVal val="#ppt_y+#ppt_h*1.125000"/>
                                          </p:val>
                                        </p:tav>
                                        <p:tav tm="100000">
                                          <p:val>
                                            <p:strVal val="#ppt_y"/>
                                          </p:val>
                                        </p:tav>
                                      </p:tavLst>
                                    </p:anim>
                                    <p:animEffect transition="in" filter="wipe(up)">
                                      <p:cBhvr>
                                        <p:cTn id="12" dur="10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slide(fromLeft)">
                                      <p:cBhvr>
                                        <p:cTn id="17" dur="1000"/>
                                        <p:tgtEl>
                                          <p:spTgt spid="79"/>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10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slide(fromBottom)">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90" name="Group 542"/>
          <p:cNvGraphicFramePr>
            <a:graphicFrameLocks noGrp="1"/>
          </p:cNvGraphicFramePr>
          <p:nvPr/>
        </p:nvGraphicFramePr>
        <p:xfrm>
          <a:off x="1464981"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aphicFrame>
        <p:nvGraphicFramePr>
          <p:cNvPr id="12" name="Group 542">
            <a:extLst>
              <a:ext uri="{FF2B5EF4-FFF2-40B4-BE49-F238E27FC236}">
                <a16:creationId xmlns:a16="http://schemas.microsoft.com/office/drawing/2014/main" xmlns="" id="{4E4764DE-CC5D-4A1C-AE75-893D8F8D49F9}"/>
              </a:ext>
            </a:extLst>
          </p:cNvPr>
          <p:cNvGraphicFramePr>
            <a:graphicFrameLocks noGrp="1"/>
          </p:cNvGraphicFramePr>
          <p:nvPr/>
        </p:nvGraphicFramePr>
        <p:xfrm>
          <a:off x="668372"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0</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1</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2</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3</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4</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5</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6</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7</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8</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9</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sp>
        <p:nvSpPr>
          <p:cNvPr id="2" name="矩形: 圆角 1">
            <a:extLst>
              <a:ext uri="{FF2B5EF4-FFF2-40B4-BE49-F238E27FC236}">
                <a16:creationId xmlns:a16="http://schemas.microsoft.com/office/drawing/2014/main" xmlns="" id="{D812A052-BBA1-41D8-A088-FDA11AB8AB46}"/>
              </a:ext>
            </a:extLst>
          </p:cNvPr>
          <p:cNvSpPr/>
          <p:nvPr/>
        </p:nvSpPr>
        <p:spPr>
          <a:xfrm>
            <a:off x="1184373" y="1751595"/>
            <a:ext cx="1011175" cy="2020909"/>
          </a:xfrm>
          <a:prstGeom prst="roundRect">
            <a:avLst>
              <a:gd name="adj" fmla="val 0"/>
            </a:avLst>
          </a:prstGeom>
          <a:solidFill>
            <a:schemeClr val="accent2">
              <a:alpha val="26000"/>
            </a:schemeClr>
          </a:solidFill>
          <a:ln w="28575">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xmlns="" id="{D1FF582A-D3A2-42F2-90CE-B50B9D876659}"/>
              </a:ext>
            </a:extLst>
          </p:cNvPr>
          <p:cNvSpPr/>
          <p:nvPr/>
        </p:nvSpPr>
        <p:spPr>
          <a:xfrm>
            <a:off x="2526066" y="3772504"/>
            <a:ext cx="1215354" cy="220377"/>
          </a:xfrm>
          <a:prstGeom prst="roundRect">
            <a:avLst>
              <a:gd name="adj" fmla="val 0"/>
            </a:avLst>
          </a:prstGeom>
          <a:solidFill>
            <a:srgbClr val="6600FF">
              <a:alpha val="26000"/>
            </a:srgbClr>
          </a:solidFill>
          <a:ln w="28575">
            <a:solidFill>
              <a:srgbClr val="FF00F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81179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up)">
                                      <p:cBhvr>
                                        <p:cTn id="7" dur="1000"/>
                                        <p:tgtEl>
                                          <p:spTgt spid="90"/>
                                        </p:tgtEl>
                                      </p:cBhvr>
                                    </p:animEffect>
                                  </p:childTnLst>
                                </p:cTn>
                              </p:par>
                              <p:par>
                                <p:cTn id="8" presetID="22" presetClass="entr" presetSubtype="1"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wipe(up)">
                                      <p:cBhvr>
                                        <p:cTn id="10" dur="1000"/>
                                        <p:tgtEl>
                                          <p:spTgt spid="80"/>
                                        </p:tgtEl>
                                      </p:cBhvr>
                                    </p:animEffect>
                                  </p:childTnLst>
                                </p:cTn>
                              </p:par>
                              <p:par>
                                <p:cTn id="11" presetID="22" presetClass="entr" presetSubtype="1"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1000"/>
                                        <p:tgtEl>
                                          <p:spTgt spid="2"/>
                                        </p:tgtEl>
                                      </p:cBhvr>
                                    </p:animEffect>
                                  </p:childTnLst>
                                </p:cTn>
                              </p:par>
                            </p:childTnLst>
                          </p:cTn>
                        </p:par>
                        <p:par>
                          <p:cTn id="19" fill="hold">
                            <p:stCondLst>
                              <p:cond delay="1000"/>
                            </p:stCondLst>
                            <p:childTnLst>
                              <p:par>
                                <p:cTn id="20" presetID="35" presetClass="emph" presetSubtype="0" fill="hold" grpId="1" nodeType="afterEffect">
                                  <p:stCondLst>
                                    <p:cond delay="0"/>
                                  </p:stCondLst>
                                  <p:childTnLst>
                                    <p:anim calcmode="discrete" valueType="str">
                                      <p:cBhvr>
                                        <p:cTn id="21" dur="1000" fill="hold"/>
                                        <p:tgtEl>
                                          <p:spTgt spid="2"/>
                                        </p:tgtEl>
                                        <p:attrNameLst>
                                          <p:attrName>style.visibility</p:attrName>
                                        </p:attrNameLst>
                                      </p:cBhvr>
                                      <p:tavLst>
                                        <p:tav tm="0">
                                          <p:val>
                                            <p:strVal val="hidden"/>
                                          </p:val>
                                        </p:tav>
                                        <p:tav tm="50000">
                                          <p:val>
                                            <p:strVal val="visible"/>
                                          </p:val>
                                        </p:tav>
                                      </p:tavLst>
                                    </p:anim>
                                  </p:childTnLst>
                                </p:cTn>
                              </p:par>
                            </p:childTnLst>
                          </p:cTn>
                        </p:par>
                        <p:par>
                          <p:cTn id="22" fill="hold">
                            <p:stCondLst>
                              <p:cond delay="2000"/>
                            </p:stCondLst>
                            <p:childTnLst>
                              <p:par>
                                <p:cTn id="23" presetID="35" presetClass="emph" presetSubtype="0" fill="hold" grpId="2" nodeType="afterEffect">
                                  <p:stCondLst>
                                    <p:cond delay="0"/>
                                  </p:stCondLst>
                                  <p:childTnLst>
                                    <p:anim calcmode="discrete" valueType="str">
                                      <p:cBhvr>
                                        <p:cTn id="24"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1000"/>
                                        <p:tgtEl>
                                          <p:spTgt spid="13"/>
                                        </p:tgtEl>
                                      </p:cBhvr>
                                    </p:animEffect>
                                  </p:childTnLst>
                                </p:cTn>
                              </p:par>
                            </p:childTnLst>
                          </p:cTn>
                        </p:par>
                        <p:par>
                          <p:cTn id="30" fill="hold">
                            <p:stCondLst>
                              <p:cond delay="1000"/>
                            </p:stCondLst>
                            <p:childTnLst>
                              <p:par>
                                <p:cTn id="31" presetID="35" presetClass="emph" presetSubtype="0" fill="hold" grpId="1" nodeType="afterEffect">
                                  <p:stCondLst>
                                    <p:cond delay="0"/>
                                  </p:stCondLst>
                                  <p:childTnLst>
                                    <p:anim calcmode="discrete" valueType="str">
                                      <p:cBhvr>
                                        <p:cTn id="32" dur="1000" fill="hold"/>
                                        <p:tgtEl>
                                          <p:spTgt spid="13"/>
                                        </p:tgtEl>
                                        <p:attrNameLst>
                                          <p:attrName>style.visibility</p:attrName>
                                        </p:attrNameLst>
                                      </p:cBhvr>
                                      <p:tavLst>
                                        <p:tav tm="0">
                                          <p:val>
                                            <p:strVal val="hidden"/>
                                          </p:val>
                                        </p:tav>
                                        <p:tav tm="50000">
                                          <p:val>
                                            <p:strVal val="visible"/>
                                          </p:val>
                                        </p:tav>
                                      </p:tavLst>
                                    </p:anim>
                                  </p:childTnLst>
                                </p:cTn>
                              </p:par>
                            </p:childTnLst>
                          </p:cTn>
                        </p:par>
                        <p:par>
                          <p:cTn id="33" fill="hold">
                            <p:stCondLst>
                              <p:cond delay="2000"/>
                            </p:stCondLst>
                            <p:childTnLst>
                              <p:par>
                                <p:cTn id="34" presetID="35" presetClass="emph" presetSubtype="0" fill="hold" grpId="2" nodeType="afterEffect">
                                  <p:stCondLst>
                                    <p:cond delay="0"/>
                                  </p:stCondLst>
                                  <p:childTnLst>
                                    <p:anim calcmode="discrete" valueType="str">
                                      <p:cBhvr>
                                        <p:cTn id="35"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13" grpId="0" animBg="1"/>
      <p:bldP spid="13" grpId="1" animBg="1"/>
      <p:bldP spid="13" grpId="2"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90" name="Group 542"/>
          <p:cNvGraphicFramePr>
            <a:graphicFrameLocks noGrp="1"/>
          </p:cNvGraphicFramePr>
          <p:nvPr/>
        </p:nvGraphicFramePr>
        <p:xfrm>
          <a:off x="1464981"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5"/>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aphicFrame>
        <p:nvGraphicFramePr>
          <p:cNvPr id="12" name="Group 542">
            <a:extLst>
              <a:ext uri="{FF2B5EF4-FFF2-40B4-BE49-F238E27FC236}">
                <a16:creationId xmlns:a16="http://schemas.microsoft.com/office/drawing/2014/main" xmlns="" id="{4E4764DE-CC5D-4A1C-AE75-893D8F8D49F9}"/>
              </a:ext>
            </a:extLst>
          </p:cNvPr>
          <p:cNvGraphicFramePr>
            <a:graphicFrameLocks noGrp="1"/>
          </p:cNvGraphicFramePr>
          <p:nvPr/>
        </p:nvGraphicFramePr>
        <p:xfrm>
          <a:off x="668372"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0</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1</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2</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3</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4</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5</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6</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7</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8</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9</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sp>
        <p:nvSpPr>
          <p:cNvPr id="13" name="矩形: 圆角 12">
            <a:extLst>
              <a:ext uri="{FF2B5EF4-FFF2-40B4-BE49-F238E27FC236}">
                <a16:creationId xmlns:a16="http://schemas.microsoft.com/office/drawing/2014/main" xmlns="" id="{83636FDF-2B2F-4D8F-A5BA-87D8EC05D720}"/>
              </a:ext>
            </a:extLst>
          </p:cNvPr>
          <p:cNvSpPr/>
          <p:nvPr/>
        </p:nvSpPr>
        <p:spPr>
          <a:xfrm>
            <a:off x="1184373" y="1751595"/>
            <a:ext cx="1011175" cy="1006845"/>
          </a:xfrm>
          <a:prstGeom prst="roundRect">
            <a:avLst>
              <a:gd name="adj" fmla="val 0"/>
            </a:avLst>
          </a:prstGeom>
          <a:solidFill>
            <a:schemeClr val="accent2">
              <a:alpha val="26000"/>
            </a:schemeClr>
          </a:solidFill>
          <a:ln w="28575">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xmlns="" id="{F831E4AA-0968-456D-AE1E-59C334C0CE75}"/>
              </a:ext>
            </a:extLst>
          </p:cNvPr>
          <p:cNvSpPr/>
          <p:nvPr/>
        </p:nvSpPr>
        <p:spPr>
          <a:xfrm>
            <a:off x="1184372" y="3928386"/>
            <a:ext cx="1011175" cy="1006845"/>
          </a:xfrm>
          <a:prstGeom prst="roundRect">
            <a:avLst>
              <a:gd name="adj" fmla="val 0"/>
            </a:avLst>
          </a:prstGeom>
          <a:solidFill>
            <a:schemeClr val="accent2">
              <a:alpha val="26000"/>
            </a:schemeClr>
          </a:solidFill>
          <a:ln w="28575">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1851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up)">
                                      <p:cBhvr>
                                        <p:cTn id="7" dur="1000"/>
                                        <p:tgtEl>
                                          <p:spTgt spid="90"/>
                                        </p:tgtEl>
                                      </p:cBhvr>
                                    </p:animEffect>
                                  </p:childTnLst>
                                </p:cTn>
                              </p:par>
                              <p:par>
                                <p:cTn id="8" presetID="22" presetClass="entr" presetSubtype="1"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wipe(up)">
                                      <p:cBhvr>
                                        <p:cTn id="10" dur="1000"/>
                                        <p:tgtEl>
                                          <p:spTgt spid="80"/>
                                        </p:tgtEl>
                                      </p:cBhvr>
                                    </p:animEffect>
                                  </p:childTnLst>
                                </p:cTn>
                              </p:par>
                              <p:par>
                                <p:cTn id="11" presetID="22" presetClass="entr" presetSubtype="1"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1000"/>
                                        <p:tgtEl>
                                          <p:spTgt spid="13"/>
                                        </p:tgtEl>
                                      </p:cBhvr>
                                    </p:animEffect>
                                  </p:childTnLst>
                                </p:cTn>
                              </p:par>
                            </p:childTnLst>
                          </p:cTn>
                        </p:par>
                        <p:par>
                          <p:cTn id="19" fill="hold">
                            <p:stCondLst>
                              <p:cond delay="1000"/>
                            </p:stCondLst>
                            <p:childTnLst>
                              <p:par>
                                <p:cTn id="20" presetID="35" presetClass="emph" presetSubtype="0" fill="hold" grpId="1" nodeType="afterEffect">
                                  <p:stCondLst>
                                    <p:cond delay="0"/>
                                  </p:stCondLst>
                                  <p:childTnLst>
                                    <p:anim calcmode="discrete" valueType="str">
                                      <p:cBhvr>
                                        <p:cTn id="21" dur="1000" fill="hold"/>
                                        <p:tgtEl>
                                          <p:spTgt spid="13"/>
                                        </p:tgtEl>
                                        <p:attrNameLst>
                                          <p:attrName>style.visibility</p:attrName>
                                        </p:attrNameLst>
                                      </p:cBhvr>
                                      <p:tavLst>
                                        <p:tav tm="0">
                                          <p:val>
                                            <p:strVal val="hidden"/>
                                          </p:val>
                                        </p:tav>
                                        <p:tav tm="50000">
                                          <p:val>
                                            <p:strVal val="visible"/>
                                          </p:val>
                                        </p:tav>
                                      </p:tavLst>
                                    </p:anim>
                                  </p:childTnLst>
                                </p:cTn>
                              </p:par>
                            </p:childTnLst>
                          </p:cTn>
                        </p:par>
                        <p:par>
                          <p:cTn id="22" fill="hold">
                            <p:stCondLst>
                              <p:cond delay="2000"/>
                            </p:stCondLst>
                            <p:childTnLst>
                              <p:par>
                                <p:cTn id="23" presetID="35" presetClass="emph" presetSubtype="0" fill="hold" grpId="2" nodeType="afterEffect">
                                  <p:stCondLst>
                                    <p:cond delay="0"/>
                                  </p:stCondLst>
                                  <p:childTnLst>
                                    <p:anim calcmode="discrete" valueType="str">
                                      <p:cBhvr>
                                        <p:cTn id="24"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1000"/>
                                        <p:tgtEl>
                                          <p:spTgt spid="14"/>
                                        </p:tgtEl>
                                      </p:cBhvr>
                                    </p:animEffect>
                                  </p:childTnLst>
                                </p:cTn>
                              </p:par>
                            </p:childTnLst>
                          </p:cTn>
                        </p:par>
                        <p:par>
                          <p:cTn id="30" fill="hold">
                            <p:stCondLst>
                              <p:cond delay="1000"/>
                            </p:stCondLst>
                            <p:childTnLst>
                              <p:par>
                                <p:cTn id="31" presetID="35" presetClass="emph" presetSubtype="0" fill="hold" grpId="1" nodeType="afterEffect">
                                  <p:stCondLst>
                                    <p:cond delay="0"/>
                                  </p:stCondLst>
                                  <p:childTnLst>
                                    <p:anim calcmode="discrete" valueType="str">
                                      <p:cBhvr>
                                        <p:cTn id="32"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33" fill="hold">
                            <p:stCondLst>
                              <p:cond delay="2000"/>
                            </p:stCondLst>
                            <p:childTnLst>
                              <p:par>
                                <p:cTn id="34" presetID="35" presetClass="emph" presetSubtype="0" fill="hold" grpId="2" nodeType="afterEffect">
                                  <p:stCondLst>
                                    <p:cond delay="0"/>
                                  </p:stCondLst>
                                  <p:childTnLst>
                                    <p:anim calcmode="discrete" valueType="str">
                                      <p:cBhvr>
                                        <p:cTn id="35"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P spid="14" grpId="0" animBg="1"/>
      <p:bldP spid="14" grpId="1" animBg="1"/>
      <p:bldP spid="14" grpId="2"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90" name="Group 542"/>
          <p:cNvGraphicFramePr>
            <a:graphicFrameLocks noGrp="1"/>
          </p:cNvGraphicFramePr>
          <p:nvPr/>
        </p:nvGraphicFramePr>
        <p:xfrm>
          <a:off x="1464981"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aphicFrame>
        <p:nvGraphicFramePr>
          <p:cNvPr id="12" name="Group 542">
            <a:extLst>
              <a:ext uri="{FF2B5EF4-FFF2-40B4-BE49-F238E27FC236}">
                <a16:creationId xmlns:a16="http://schemas.microsoft.com/office/drawing/2014/main" xmlns="" id="{4E4764DE-CC5D-4A1C-AE75-893D8F8D49F9}"/>
              </a:ext>
            </a:extLst>
          </p:cNvPr>
          <p:cNvGraphicFramePr>
            <a:graphicFrameLocks noGrp="1"/>
          </p:cNvGraphicFramePr>
          <p:nvPr/>
        </p:nvGraphicFramePr>
        <p:xfrm>
          <a:off x="668372" y="1765311"/>
          <a:ext cx="730567" cy="3169920"/>
        </p:xfrm>
        <a:graphic>
          <a:graphicData uri="http://schemas.openxmlformats.org/drawingml/2006/table">
            <a:tbl>
              <a:tblPr/>
              <a:tblGrid>
                <a:gridCol w="730567">
                  <a:extLst>
                    <a:ext uri="{9D8B030D-6E8A-4147-A177-3AD203B41FA5}">
                      <a16:colId xmlns:a16="http://schemas.microsoft.com/office/drawing/2014/main" xmlns="" val="20000"/>
                    </a:ext>
                  </a:extLst>
                </a:gridCol>
              </a:tblGrid>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0</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1</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2</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3</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4</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5</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6</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7</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8</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rPr>
                        <a:t>9</a:t>
                      </a: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r" defTabSz="914400" rtl="0" eaLnBrk="1" fontAlgn="base" latinLnBrk="0" hangingPunct="1">
                        <a:lnSpc>
                          <a:spcPct val="100000"/>
                        </a:lnSpc>
                        <a:spcBef>
                          <a:spcPct val="0"/>
                        </a:spcBef>
                        <a:spcAft>
                          <a:spcPct val="0"/>
                        </a:spcAft>
                        <a:buClr>
                          <a:schemeClr val="tx1"/>
                        </a:buClr>
                        <a:buSzTx/>
                        <a:buFontTx/>
                        <a:buNone/>
                        <a:tabLst/>
                      </a:pPr>
                      <a:endParaRPr kumimoji="0" lang="en-US" altLang="zh-CN" sz="1300" b="0" i="0" u="none" strike="noStrike" kern="1200" cap="none" normalizeH="0" baseline="0" dirty="0">
                        <a:ln>
                          <a:noFill/>
                        </a:ln>
                        <a:solidFill>
                          <a:srgbClr val="6600FF"/>
                        </a:solidFill>
                        <a:effectLst/>
                        <a:latin typeface="方正粗黑宋简体" pitchFamily="2" charset="-122"/>
                        <a:ea typeface="方正粗黑宋简体" pitchFamily="2" charset="-122"/>
                        <a:cs typeface="+mn-cs"/>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sp>
        <p:nvSpPr>
          <p:cNvPr id="13" name="矩形: 圆角 12">
            <a:extLst>
              <a:ext uri="{FF2B5EF4-FFF2-40B4-BE49-F238E27FC236}">
                <a16:creationId xmlns:a16="http://schemas.microsoft.com/office/drawing/2014/main" xmlns="" id="{54AD3D7C-FFB7-4792-A1A2-82AC6BA3836A}"/>
              </a:ext>
            </a:extLst>
          </p:cNvPr>
          <p:cNvSpPr/>
          <p:nvPr/>
        </p:nvSpPr>
        <p:spPr>
          <a:xfrm>
            <a:off x="1184373" y="1751595"/>
            <a:ext cx="1011175" cy="1006845"/>
          </a:xfrm>
          <a:prstGeom prst="roundRect">
            <a:avLst>
              <a:gd name="adj" fmla="val 0"/>
            </a:avLst>
          </a:prstGeom>
          <a:solidFill>
            <a:schemeClr val="accent2">
              <a:alpha val="26000"/>
            </a:schemeClr>
          </a:solidFill>
          <a:ln w="28575">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xmlns="" id="{20E05991-520E-431C-8DEB-1373D06C6CEF}"/>
              </a:ext>
            </a:extLst>
          </p:cNvPr>
          <p:cNvSpPr/>
          <p:nvPr/>
        </p:nvSpPr>
        <p:spPr>
          <a:xfrm>
            <a:off x="1184372" y="3350271"/>
            <a:ext cx="1011175" cy="1006845"/>
          </a:xfrm>
          <a:prstGeom prst="roundRect">
            <a:avLst>
              <a:gd name="adj" fmla="val 0"/>
            </a:avLst>
          </a:prstGeom>
          <a:solidFill>
            <a:schemeClr val="accent2">
              <a:alpha val="26000"/>
            </a:schemeClr>
          </a:solidFill>
          <a:ln w="28575">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70629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up)">
                                      <p:cBhvr>
                                        <p:cTn id="7" dur="1000"/>
                                        <p:tgtEl>
                                          <p:spTgt spid="90"/>
                                        </p:tgtEl>
                                      </p:cBhvr>
                                    </p:animEffect>
                                  </p:childTnLst>
                                </p:cTn>
                              </p:par>
                              <p:par>
                                <p:cTn id="8" presetID="22" presetClass="entr" presetSubtype="1"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wipe(up)">
                                      <p:cBhvr>
                                        <p:cTn id="10" dur="1000"/>
                                        <p:tgtEl>
                                          <p:spTgt spid="80"/>
                                        </p:tgtEl>
                                      </p:cBhvr>
                                    </p:animEffect>
                                  </p:childTnLst>
                                </p:cTn>
                              </p:par>
                              <p:par>
                                <p:cTn id="11" presetID="22" presetClass="entr" presetSubtype="1"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1000"/>
                                        <p:tgtEl>
                                          <p:spTgt spid="13"/>
                                        </p:tgtEl>
                                      </p:cBhvr>
                                    </p:animEffect>
                                  </p:childTnLst>
                                </p:cTn>
                              </p:par>
                            </p:childTnLst>
                          </p:cTn>
                        </p:par>
                        <p:par>
                          <p:cTn id="19" fill="hold">
                            <p:stCondLst>
                              <p:cond delay="1000"/>
                            </p:stCondLst>
                            <p:childTnLst>
                              <p:par>
                                <p:cTn id="20" presetID="35" presetClass="emph" presetSubtype="0" fill="hold" grpId="1" nodeType="afterEffect">
                                  <p:stCondLst>
                                    <p:cond delay="0"/>
                                  </p:stCondLst>
                                  <p:childTnLst>
                                    <p:anim calcmode="discrete" valueType="str">
                                      <p:cBhvr>
                                        <p:cTn id="21" dur="1000" fill="hold"/>
                                        <p:tgtEl>
                                          <p:spTgt spid="13"/>
                                        </p:tgtEl>
                                        <p:attrNameLst>
                                          <p:attrName>style.visibility</p:attrName>
                                        </p:attrNameLst>
                                      </p:cBhvr>
                                      <p:tavLst>
                                        <p:tav tm="0">
                                          <p:val>
                                            <p:strVal val="hidden"/>
                                          </p:val>
                                        </p:tav>
                                        <p:tav tm="50000">
                                          <p:val>
                                            <p:strVal val="visible"/>
                                          </p:val>
                                        </p:tav>
                                      </p:tavLst>
                                    </p:anim>
                                  </p:childTnLst>
                                </p:cTn>
                              </p:par>
                            </p:childTnLst>
                          </p:cTn>
                        </p:par>
                        <p:par>
                          <p:cTn id="22" fill="hold">
                            <p:stCondLst>
                              <p:cond delay="2000"/>
                            </p:stCondLst>
                            <p:childTnLst>
                              <p:par>
                                <p:cTn id="23" presetID="35" presetClass="emph" presetSubtype="0" fill="hold" grpId="2" nodeType="afterEffect">
                                  <p:stCondLst>
                                    <p:cond delay="0"/>
                                  </p:stCondLst>
                                  <p:childTnLst>
                                    <p:anim calcmode="discrete" valueType="str">
                                      <p:cBhvr>
                                        <p:cTn id="24"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1000"/>
                                        <p:tgtEl>
                                          <p:spTgt spid="14"/>
                                        </p:tgtEl>
                                      </p:cBhvr>
                                    </p:animEffect>
                                  </p:childTnLst>
                                </p:cTn>
                              </p:par>
                            </p:childTnLst>
                          </p:cTn>
                        </p:par>
                        <p:par>
                          <p:cTn id="30" fill="hold">
                            <p:stCondLst>
                              <p:cond delay="1000"/>
                            </p:stCondLst>
                            <p:childTnLst>
                              <p:par>
                                <p:cTn id="31" presetID="35" presetClass="emph" presetSubtype="0" fill="hold" grpId="1" nodeType="afterEffect">
                                  <p:stCondLst>
                                    <p:cond delay="0"/>
                                  </p:stCondLst>
                                  <p:childTnLst>
                                    <p:anim calcmode="discrete" valueType="str">
                                      <p:cBhvr>
                                        <p:cTn id="32"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33" fill="hold">
                            <p:stCondLst>
                              <p:cond delay="2000"/>
                            </p:stCondLst>
                            <p:childTnLst>
                              <p:par>
                                <p:cTn id="34" presetID="35" presetClass="emph" presetSubtype="0" fill="hold" grpId="2" nodeType="afterEffect">
                                  <p:stCondLst>
                                    <p:cond delay="0"/>
                                  </p:stCondLst>
                                  <p:childTnLst>
                                    <p:anim calcmode="discrete" valueType="str">
                                      <p:cBhvr>
                                        <p:cTn id="35"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P spid="14" grpId="0" animBg="1"/>
      <p:bldP spid="14" grpId="1" animBg="1"/>
      <p:bldP spid="14"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Group 541">
            <a:extLst>
              <a:ext uri="{FF2B5EF4-FFF2-40B4-BE49-F238E27FC236}">
                <a16:creationId xmlns:a16="http://schemas.microsoft.com/office/drawing/2014/main" xmlns="" id="{8F02F478-CF7C-4173-BF05-973CBDF665D3}"/>
              </a:ext>
            </a:extLst>
          </p:cNvPr>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pSp>
        <p:nvGrpSpPr>
          <p:cNvPr id="5" name="组合 4">
            <a:extLst>
              <a:ext uri="{FF2B5EF4-FFF2-40B4-BE49-F238E27FC236}">
                <a16:creationId xmlns:a16="http://schemas.microsoft.com/office/drawing/2014/main" xmlns="" id="{3DC30A61-C04D-454A-8359-6C6C75913694}"/>
              </a:ext>
            </a:extLst>
          </p:cNvPr>
          <p:cNvGrpSpPr/>
          <p:nvPr/>
        </p:nvGrpSpPr>
        <p:grpSpPr>
          <a:xfrm>
            <a:off x="2987581" y="1904684"/>
            <a:ext cx="4966173" cy="2819565"/>
            <a:chOff x="2987581" y="1896275"/>
            <a:chExt cx="4966173" cy="2819565"/>
          </a:xfrm>
        </p:grpSpPr>
        <p:sp>
          <p:nvSpPr>
            <p:cNvPr id="14" name="圆角矩形 50">
              <a:extLst>
                <a:ext uri="{FF2B5EF4-FFF2-40B4-BE49-F238E27FC236}">
                  <a16:creationId xmlns:a16="http://schemas.microsoft.com/office/drawing/2014/main" xmlns="" id="{F29D04B9-B039-4FFE-ABE8-F46C11B307C7}"/>
                </a:ext>
              </a:extLst>
            </p:cNvPr>
            <p:cNvSpPr/>
            <p:nvPr/>
          </p:nvSpPr>
          <p:spPr>
            <a:xfrm>
              <a:off x="2987581" y="1896275"/>
              <a:ext cx="2316480" cy="458195"/>
            </a:xfrm>
            <a:prstGeom prst="roundRect">
              <a:avLst>
                <a:gd name="adj" fmla="val 5593"/>
              </a:avLst>
            </a:prstGeom>
            <a:solidFill>
              <a:schemeClr val="accent1">
                <a:alpha val="25000"/>
              </a:scheme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xmlns="" id="{FEC28493-D459-4408-A16A-4956696F02BC}"/>
                </a:ext>
              </a:extLst>
            </p:cNvPr>
            <p:cNvSpPr/>
            <p:nvPr/>
          </p:nvSpPr>
          <p:spPr>
            <a:xfrm>
              <a:off x="5275278" y="1898971"/>
              <a:ext cx="2678476" cy="2816869"/>
            </a:xfrm>
            <a:prstGeom prst="roundRect">
              <a:avLst>
                <a:gd name="adj" fmla="val 139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pSp>
        <p:nvGrpSpPr>
          <p:cNvPr id="6" name="组合 5">
            <a:extLst>
              <a:ext uri="{FF2B5EF4-FFF2-40B4-BE49-F238E27FC236}">
                <a16:creationId xmlns:a16="http://schemas.microsoft.com/office/drawing/2014/main" xmlns="" id="{34FD0E6F-0707-4709-A9D9-2D0335829F7C}"/>
              </a:ext>
            </a:extLst>
          </p:cNvPr>
          <p:cNvGrpSpPr/>
          <p:nvPr/>
        </p:nvGrpSpPr>
        <p:grpSpPr>
          <a:xfrm>
            <a:off x="5391124" y="3995235"/>
            <a:ext cx="2488302" cy="707886"/>
            <a:chOff x="5391124" y="3995235"/>
            <a:chExt cx="2488302" cy="707886"/>
          </a:xfrm>
        </p:grpSpPr>
        <p:sp>
          <p:nvSpPr>
            <p:cNvPr id="22" name="圆角矩形 114">
              <a:extLst>
                <a:ext uri="{FF2B5EF4-FFF2-40B4-BE49-F238E27FC236}">
                  <a16:creationId xmlns:a16="http://schemas.microsoft.com/office/drawing/2014/main" xmlns="" id="{DAEBD6E7-1706-46E8-862B-8794C1D42880}"/>
                </a:ext>
              </a:extLst>
            </p:cNvPr>
            <p:cNvSpPr/>
            <p:nvPr/>
          </p:nvSpPr>
          <p:spPr>
            <a:xfrm>
              <a:off x="5391124" y="3995235"/>
              <a:ext cx="2460382" cy="679720"/>
            </a:xfrm>
            <a:prstGeom prst="roundRect">
              <a:avLst>
                <a:gd name="adj" fmla="val 7500"/>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20" name="组合 19">
              <a:extLst>
                <a:ext uri="{FF2B5EF4-FFF2-40B4-BE49-F238E27FC236}">
                  <a16:creationId xmlns:a16="http://schemas.microsoft.com/office/drawing/2014/main" xmlns="" id="{53085EE3-D646-4815-AB88-B1DAEF880D83}"/>
                </a:ext>
              </a:extLst>
            </p:cNvPr>
            <p:cNvGrpSpPr/>
            <p:nvPr/>
          </p:nvGrpSpPr>
          <p:grpSpPr>
            <a:xfrm>
              <a:off x="5529685" y="3995235"/>
              <a:ext cx="2349741" cy="707886"/>
              <a:chOff x="5166995" y="4009809"/>
              <a:chExt cx="2349741" cy="786540"/>
            </a:xfrm>
          </p:grpSpPr>
          <p:sp>
            <p:nvSpPr>
              <p:cNvPr id="26" name="矩形 25">
                <a:extLst>
                  <a:ext uri="{FF2B5EF4-FFF2-40B4-BE49-F238E27FC236}">
                    <a16:creationId xmlns:a16="http://schemas.microsoft.com/office/drawing/2014/main" xmlns="" id="{46CAD598-8EC3-4B7D-8249-33DFD45A89AF}"/>
                  </a:ext>
                </a:extLst>
              </p:cNvPr>
              <p:cNvSpPr/>
              <p:nvPr/>
            </p:nvSpPr>
            <p:spPr>
              <a:xfrm>
                <a:off x="5311589" y="4009809"/>
                <a:ext cx="2205147" cy="786540"/>
              </a:xfrm>
              <a:prstGeom prst="rect">
                <a:avLst/>
              </a:prstGeom>
            </p:spPr>
            <p:txBody>
              <a:bodyPr wrap="square">
                <a:spAutoFit/>
              </a:bodyPr>
              <a:lstStyle/>
              <a:p>
                <a:pPr marL="72000">
                  <a:lnSpc>
                    <a:spcPct val="125000"/>
                  </a:lnSpc>
                </a:pP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5</a:t>
                </a:r>
                <a:r>
                  <a:rPr lang="zh-CN" altLang="en-US" sz="1600" dirty="0">
                    <a:solidFill>
                      <a:srgbClr val="6600FF"/>
                    </a:solidFill>
                    <a:latin typeface="方正粗黑宋简体" pitchFamily="2" charset="-122"/>
                    <a:ea typeface="方正粗黑宋简体" pitchFamily="2" charset="-122"/>
                  </a:rPr>
                  <a:t>，</a:t>
                </a:r>
                <a:r>
                  <a:rPr lang="en-US" altLang="zh-CN" sz="1600" dirty="0">
                    <a:solidFill>
                      <a:srgbClr val="6600FF"/>
                    </a:solidFill>
                    <a:latin typeface="方正粗黑宋简体" pitchFamily="2" charset="-122"/>
                    <a:ea typeface="方正粗黑宋简体" pitchFamily="2" charset="-122"/>
                  </a:rPr>
                  <a:t>5421/2421</a:t>
                </a:r>
                <a:r>
                  <a:rPr lang="zh-CN" altLang="en-US" sz="1600" dirty="0">
                    <a:solidFill>
                      <a:srgbClr val="6600FF"/>
                    </a:solidFill>
                    <a:latin typeface="方正粗黑宋简体" pitchFamily="2" charset="-122"/>
                    <a:ea typeface="方正粗黑宋简体" pitchFamily="2" charset="-122"/>
                  </a:rPr>
                  <a:t>码的高位为“</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a:t>
                </a:r>
              </a:p>
            </p:txBody>
          </p:sp>
          <p:pic>
            <p:nvPicPr>
              <p:cNvPr id="25" name="Picture 3">
                <a:extLst>
                  <a:ext uri="{FF2B5EF4-FFF2-40B4-BE49-F238E27FC236}">
                    <a16:creationId xmlns:a16="http://schemas.microsoft.com/office/drawing/2014/main" xmlns="" id="{5A77C29C-9019-4594-87F2-A6A0A26E3D7E}"/>
                  </a:ext>
                </a:extLst>
              </p:cNvPr>
              <p:cNvPicPr>
                <a:picLocks noChangeAspect="1" noChangeArrowheads="1"/>
              </p:cNvPicPr>
              <p:nvPr/>
            </p:nvPicPr>
            <p:blipFill>
              <a:blip r:embed="rId4" cstate="print"/>
              <a:srcRect/>
              <a:stretch>
                <a:fillRect/>
              </a:stretch>
            </p:blipFill>
            <p:spPr bwMode="auto">
              <a:xfrm>
                <a:off x="5166995" y="4076700"/>
                <a:ext cx="226428" cy="230886"/>
              </a:xfrm>
              <a:prstGeom prst="rect">
                <a:avLst/>
              </a:prstGeom>
              <a:noFill/>
              <a:ln w="9525">
                <a:noFill/>
                <a:miter lim="800000"/>
                <a:headEnd/>
                <a:tailEnd/>
              </a:ln>
              <a:effectLst/>
            </p:spPr>
          </p:pic>
        </p:grpSp>
      </p:grpSp>
      <p:grpSp>
        <p:nvGrpSpPr>
          <p:cNvPr id="2" name="组合 1">
            <a:extLst>
              <a:ext uri="{FF2B5EF4-FFF2-40B4-BE49-F238E27FC236}">
                <a16:creationId xmlns:a16="http://schemas.microsoft.com/office/drawing/2014/main" xmlns="" id="{DD3142A1-0E65-4F47-8A70-76315B6092EF}"/>
              </a:ext>
            </a:extLst>
          </p:cNvPr>
          <p:cNvGrpSpPr/>
          <p:nvPr/>
        </p:nvGrpSpPr>
        <p:grpSpPr>
          <a:xfrm>
            <a:off x="5728450" y="1885238"/>
            <a:ext cx="1851660" cy="537103"/>
            <a:chOff x="5728450" y="1885238"/>
            <a:chExt cx="1851660" cy="537103"/>
          </a:xfrm>
        </p:grpSpPr>
        <p:sp>
          <p:nvSpPr>
            <p:cNvPr id="31" name="矩形 30">
              <a:extLst>
                <a:ext uri="{FF2B5EF4-FFF2-40B4-BE49-F238E27FC236}">
                  <a16:creationId xmlns:a16="http://schemas.microsoft.com/office/drawing/2014/main" xmlns="" id="{96DC081B-216D-4436-9ED1-114420E6ECDA}"/>
                </a:ext>
              </a:extLst>
            </p:cNvPr>
            <p:cNvSpPr/>
            <p:nvPr/>
          </p:nvSpPr>
          <p:spPr>
            <a:xfrm>
              <a:off x="5728450" y="1960676"/>
              <a:ext cx="1851660" cy="461665"/>
            </a:xfrm>
            <a:prstGeom prst="rect">
              <a:avLst/>
            </a:prstGeom>
          </p:spPr>
          <p:txBody>
            <a:bodyPr wrap="square">
              <a:spAutoFit/>
            </a:bodyPr>
            <a:lstStyle/>
            <a:p>
              <a:pPr algn="ctr"/>
              <a:r>
                <a:rPr lang="zh-CN" altLang="en-US" sz="24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rPr>
                <a:t>码            数</a:t>
              </a:r>
              <a:endParaRPr lang="en-US" altLang="zh-CN" sz="24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sp>
          <p:nvSpPr>
            <p:cNvPr id="32" name="右箭头 95">
              <a:extLst>
                <a:ext uri="{FF2B5EF4-FFF2-40B4-BE49-F238E27FC236}">
                  <a16:creationId xmlns:a16="http://schemas.microsoft.com/office/drawing/2014/main" xmlns="" id="{24E4BB96-41DB-402D-BC20-798CC29F26CC}"/>
                </a:ext>
              </a:extLst>
            </p:cNvPr>
            <p:cNvSpPr/>
            <p:nvPr/>
          </p:nvSpPr>
          <p:spPr>
            <a:xfrm>
              <a:off x="6208510" y="2120017"/>
              <a:ext cx="906780" cy="9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xmlns="" id="{032E3659-4EAD-4B8F-B949-349F22B9A7FF}"/>
                </a:ext>
              </a:extLst>
            </p:cNvPr>
            <p:cNvSpPr/>
            <p:nvPr/>
          </p:nvSpPr>
          <p:spPr>
            <a:xfrm>
              <a:off x="6328546" y="1885238"/>
              <a:ext cx="633508" cy="307777"/>
            </a:xfrm>
            <a:prstGeom prst="rect">
              <a:avLst/>
            </a:prstGeom>
          </p:spPr>
          <p:txBody>
            <a:bodyPr wrap="none">
              <a:spAutoFit/>
            </a:bodyPr>
            <a:lstStyle/>
            <a:p>
              <a:pPr algn="ctr"/>
              <a:r>
                <a:rPr lang="zh-CN" altLang="en-US" sz="14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容 易</a:t>
              </a:r>
              <a:endParaRPr lang="en-US" altLang="zh-CN" sz="14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grpSp>
      <p:grpSp>
        <p:nvGrpSpPr>
          <p:cNvPr id="18" name="组合 17">
            <a:extLst>
              <a:ext uri="{FF2B5EF4-FFF2-40B4-BE49-F238E27FC236}">
                <a16:creationId xmlns:a16="http://schemas.microsoft.com/office/drawing/2014/main" xmlns="" id="{46D79E87-F390-41DD-8625-EEA9B40D4162}"/>
              </a:ext>
            </a:extLst>
          </p:cNvPr>
          <p:cNvGrpSpPr/>
          <p:nvPr/>
        </p:nvGrpSpPr>
        <p:grpSpPr>
          <a:xfrm>
            <a:off x="5736070" y="2337170"/>
            <a:ext cx="1851660" cy="845170"/>
            <a:chOff x="5143500" y="2527548"/>
            <a:chExt cx="1851660" cy="939075"/>
          </a:xfrm>
        </p:grpSpPr>
        <p:grpSp>
          <p:nvGrpSpPr>
            <p:cNvPr id="27" name="组合 26">
              <a:extLst>
                <a:ext uri="{FF2B5EF4-FFF2-40B4-BE49-F238E27FC236}">
                  <a16:creationId xmlns:a16="http://schemas.microsoft.com/office/drawing/2014/main" xmlns="" id="{4F8331B5-9B72-4EA0-95A4-DBD5E86C32FB}"/>
                </a:ext>
              </a:extLst>
            </p:cNvPr>
            <p:cNvGrpSpPr/>
            <p:nvPr/>
          </p:nvGrpSpPr>
          <p:grpSpPr>
            <a:xfrm>
              <a:off x="5143500" y="2543294"/>
              <a:ext cx="1851660" cy="923329"/>
              <a:chOff x="5135880" y="1941314"/>
              <a:chExt cx="1851660" cy="923329"/>
            </a:xfrm>
          </p:grpSpPr>
          <p:sp>
            <p:nvSpPr>
              <p:cNvPr id="29" name="矩形 28">
                <a:extLst>
                  <a:ext uri="{FF2B5EF4-FFF2-40B4-BE49-F238E27FC236}">
                    <a16:creationId xmlns:a16="http://schemas.microsoft.com/office/drawing/2014/main" xmlns="" id="{D2C3A5FD-A869-472B-BD80-5125224A3668}"/>
                  </a:ext>
                </a:extLst>
              </p:cNvPr>
              <p:cNvSpPr/>
              <p:nvPr/>
            </p:nvSpPr>
            <p:spPr>
              <a:xfrm>
                <a:off x="5135880" y="1941314"/>
                <a:ext cx="1851660" cy="923329"/>
              </a:xfrm>
              <a:prstGeom prst="rect">
                <a:avLst/>
              </a:prstGeom>
            </p:spPr>
            <p:txBody>
              <a:bodyPr wrap="square">
                <a:spAutoFit/>
              </a:bodyPr>
              <a:lstStyle/>
              <a:p>
                <a:pPr algn="ctr"/>
                <a:r>
                  <a:rPr lang="zh-CN" altLang="en-US" sz="24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rPr>
                  <a:t>数            码</a:t>
                </a:r>
                <a:endParaRPr lang="en-US" altLang="zh-CN" sz="24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sp>
            <p:nvSpPr>
              <p:cNvPr id="30" name="右箭头 100">
                <a:extLst>
                  <a:ext uri="{FF2B5EF4-FFF2-40B4-BE49-F238E27FC236}">
                    <a16:creationId xmlns:a16="http://schemas.microsoft.com/office/drawing/2014/main" xmlns="" id="{5FDBA3D5-17ED-4AF1-896F-10176028A11D}"/>
                  </a:ext>
                </a:extLst>
              </p:cNvPr>
              <p:cNvSpPr/>
              <p:nvPr/>
            </p:nvSpPr>
            <p:spPr>
              <a:xfrm>
                <a:off x="5615940" y="2118360"/>
                <a:ext cx="906780" cy="108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矩形 27">
              <a:extLst>
                <a:ext uri="{FF2B5EF4-FFF2-40B4-BE49-F238E27FC236}">
                  <a16:creationId xmlns:a16="http://schemas.microsoft.com/office/drawing/2014/main" xmlns="" id="{DB8D753A-F528-4A3C-A723-490440304E70}"/>
                </a:ext>
              </a:extLst>
            </p:cNvPr>
            <p:cNvSpPr/>
            <p:nvPr/>
          </p:nvSpPr>
          <p:spPr>
            <a:xfrm>
              <a:off x="5857090" y="2527548"/>
              <a:ext cx="432769" cy="478767"/>
            </a:xfrm>
            <a:prstGeom prst="rect">
              <a:avLst/>
            </a:prstGeom>
            <a:noFill/>
          </p:spPr>
          <p:txBody>
            <a:bodyPr wrap="square" lIns="0" tIns="0" rIns="0" bIns="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r"/>
              <a:r>
                <a:rPr lang="zh-CN" altLang="en-US" sz="2800" b="1" cap="none" spc="0" dirty="0">
                  <a:ln w="11430"/>
                  <a:solidFill>
                    <a:srgbClr val="FF0000"/>
                  </a:solidFill>
                  <a:effectLst>
                    <a:outerShdw blurRad="50800" dist="39000" dir="5460000" algn="tl">
                      <a:srgbClr val="000000">
                        <a:alpha val="38000"/>
                      </a:srgbClr>
                    </a:outerShdw>
                  </a:effectLst>
                </a:rPr>
                <a:t>？</a:t>
              </a:r>
            </a:p>
          </p:txBody>
        </p:sp>
      </p:grpSp>
      <p:sp>
        <p:nvSpPr>
          <p:cNvPr id="19" name="矩形 18">
            <a:extLst>
              <a:ext uri="{FF2B5EF4-FFF2-40B4-BE49-F238E27FC236}">
                <a16:creationId xmlns:a16="http://schemas.microsoft.com/office/drawing/2014/main" xmlns="" id="{6F7BA473-B033-4716-B5E7-3B931B021460}"/>
              </a:ext>
            </a:extLst>
          </p:cNvPr>
          <p:cNvSpPr/>
          <p:nvPr/>
        </p:nvSpPr>
        <p:spPr>
          <a:xfrm>
            <a:off x="5424592" y="2756525"/>
            <a:ext cx="2116285" cy="400110"/>
          </a:xfrm>
          <a:prstGeom prst="rect">
            <a:avLst/>
          </a:prstGeom>
        </p:spPr>
        <p:txBody>
          <a:bodyPr wrap="none">
            <a:spAutoFit/>
          </a:bodyPr>
          <a:lstStyle/>
          <a:p>
            <a:r>
              <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6</a:t>
            </a:r>
            <a:r>
              <a:rPr lang="en-US" altLang="zh-CN" sz="2000" baseline="-25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(8421) </a:t>
            </a:r>
            <a:r>
              <a:rPr lang="zh-CN" altLang="en-US"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a:t>
            </a:r>
            <a:r>
              <a:rPr lang="en-US" altLang="zh-CN" sz="20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0110      </a:t>
            </a:r>
            <a:endPar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grpSp>
        <p:nvGrpSpPr>
          <p:cNvPr id="7" name="组合 6">
            <a:extLst>
              <a:ext uri="{FF2B5EF4-FFF2-40B4-BE49-F238E27FC236}">
                <a16:creationId xmlns:a16="http://schemas.microsoft.com/office/drawing/2014/main" xmlns="" id="{B915781F-6F53-4EEE-82D5-5BE5A9ED24AB}"/>
              </a:ext>
            </a:extLst>
          </p:cNvPr>
          <p:cNvGrpSpPr/>
          <p:nvPr/>
        </p:nvGrpSpPr>
        <p:grpSpPr>
          <a:xfrm>
            <a:off x="5418639" y="3120223"/>
            <a:ext cx="2531319" cy="763584"/>
            <a:chOff x="5418639" y="3120223"/>
            <a:chExt cx="2531319" cy="763584"/>
          </a:xfrm>
        </p:grpSpPr>
        <p:sp>
          <p:nvSpPr>
            <p:cNvPr id="23" name="矩形 22">
              <a:extLst>
                <a:ext uri="{FF2B5EF4-FFF2-40B4-BE49-F238E27FC236}">
                  <a16:creationId xmlns:a16="http://schemas.microsoft.com/office/drawing/2014/main" xmlns="" id="{E46C4DE7-6719-4779-B021-CF98786818F9}"/>
                </a:ext>
              </a:extLst>
            </p:cNvPr>
            <p:cNvSpPr/>
            <p:nvPr/>
          </p:nvSpPr>
          <p:spPr>
            <a:xfrm>
              <a:off x="5418639" y="3120223"/>
              <a:ext cx="2518639" cy="400110"/>
            </a:xfrm>
            <a:prstGeom prst="rect">
              <a:avLst/>
            </a:prstGeom>
          </p:spPr>
          <p:txBody>
            <a:bodyPr wrap="none">
              <a:spAutoFit/>
            </a:bodyPr>
            <a:lstStyle/>
            <a:p>
              <a:pPr algn="ctr"/>
              <a:r>
                <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6</a:t>
              </a:r>
              <a:r>
                <a:rPr lang="en-US" altLang="zh-CN" sz="2000" baseline="-25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(5421) </a:t>
              </a:r>
              <a:r>
                <a:rPr lang="zh-CN" altLang="en-US"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a:t>
              </a:r>
              <a:r>
                <a:rPr lang="en-US" altLang="zh-CN" sz="20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1001 </a:t>
              </a:r>
              <a:r>
                <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 0110</a:t>
              </a:r>
              <a:endParaRPr lang="en-US" altLang="zh-CN" sz="14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sp>
          <p:nvSpPr>
            <p:cNvPr id="24" name="矩形 23">
              <a:extLst>
                <a:ext uri="{FF2B5EF4-FFF2-40B4-BE49-F238E27FC236}">
                  <a16:creationId xmlns:a16="http://schemas.microsoft.com/office/drawing/2014/main" xmlns="" id="{2331F89F-1561-4515-A713-4F4BE76A5099}"/>
                </a:ext>
              </a:extLst>
            </p:cNvPr>
            <p:cNvSpPr/>
            <p:nvPr/>
          </p:nvSpPr>
          <p:spPr>
            <a:xfrm>
              <a:off x="5431319" y="3483697"/>
              <a:ext cx="2518639" cy="400110"/>
            </a:xfrm>
            <a:prstGeom prst="rect">
              <a:avLst/>
            </a:prstGeom>
          </p:spPr>
          <p:txBody>
            <a:bodyPr wrap="none">
              <a:spAutoFit/>
            </a:bodyPr>
            <a:lstStyle/>
            <a:p>
              <a:pPr algn="ctr"/>
              <a:r>
                <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6</a:t>
              </a:r>
              <a:r>
                <a:rPr lang="en-US" altLang="zh-CN" sz="2000" baseline="-25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rPr>
                <a:t>(2421) </a:t>
              </a:r>
              <a:r>
                <a:rPr lang="zh-CN" altLang="en-US"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a:t>
              </a:r>
              <a:r>
                <a:rPr lang="en-US" altLang="zh-CN" sz="2000" dirty="0">
                  <a:solidFill>
                    <a:srgbClr val="6600FF"/>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1100 </a:t>
              </a:r>
              <a:r>
                <a:rPr lang="en-US" altLang="zh-CN" sz="20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cs typeface="Times New Roman"/>
                </a:rPr>
                <a:t>/ 0110</a:t>
              </a:r>
              <a:endParaRPr lang="en-US" altLang="zh-CN" sz="1400" dirty="0">
                <a:solidFill>
                  <a:srgbClr val="CC00CC"/>
                </a:solidFill>
                <a:effectLst>
                  <a:outerShdw blurRad="38100" dist="38100" dir="2700000" algn="tl">
                    <a:srgbClr val="000000">
                      <a:alpha val="43137"/>
                    </a:srgbClr>
                  </a:outerShdw>
                </a:effectLst>
                <a:latin typeface="方正大黑简体" pitchFamily="2" charset="-122"/>
                <a:ea typeface="方正大黑简体" pitchFamily="2" charset="-122"/>
              </a:endParaRPr>
            </a:p>
          </p:txBody>
        </p:sp>
      </p:grpSp>
      <p:grpSp>
        <p:nvGrpSpPr>
          <p:cNvPr id="8" name="组合 7">
            <a:extLst>
              <a:ext uri="{FF2B5EF4-FFF2-40B4-BE49-F238E27FC236}">
                <a16:creationId xmlns:a16="http://schemas.microsoft.com/office/drawing/2014/main" xmlns="" id="{21C15CC5-CF94-478C-8869-59DE87A68BBB}"/>
              </a:ext>
            </a:extLst>
          </p:cNvPr>
          <p:cNvGrpSpPr/>
          <p:nvPr/>
        </p:nvGrpSpPr>
        <p:grpSpPr>
          <a:xfrm>
            <a:off x="2521222" y="3520333"/>
            <a:ext cx="2749213" cy="1175022"/>
            <a:chOff x="2521222" y="3520333"/>
            <a:chExt cx="2749213" cy="1175022"/>
          </a:xfrm>
        </p:grpSpPr>
        <p:sp>
          <p:nvSpPr>
            <p:cNvPr id="34" name="圆角矩形 50">
              <a:extLst>
                <a:ext uri="{FF2B5EF4-FFF2-40B4-BE49-F238E27FC236}">
                  <a16:creationId xmlns:a16="http://schemas.microsoft.com/office/drawing/2014/main" xmlns="" id="{A33C0995-B982-4EB8-B6DA-19AD601E1FFD}"/>
                </a:ext>
              </a:extLst>
            </p:cNvPr>
            <p:cNvSpPr/>
            <p:nvPr/>
          </p:nvSpPr>
          <p:spPr>
            <a:xfrm>
              <a:off x="3741363" y="3520333"/>
              <a:ext cx="1529072" cy="1154622"/>
            </a:xfrm>
            <a:prstGeom prst="roundRect">
              <a:avLst>
                <a:gd name="adj" fmla="val 1676"/>
              </a:avLst>
            </a:prstGeom>
            <a:solidFill>
              <a:srgbClr val="FFC000">
                <a:alpha val="25000"/>
              </a:srgb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50">
              <a:extLst>
                <a:ext uri="{FF2B5EF4-FFF2-40B4-BE49-F238E27FC236}">
                  <a16:creationId xmlns:a16="http://schemas.microsoft.com/office/drawing/2014/main" xmlns="" id="{67BD6602-F1C9-4C40-BC3F-1DFB4865F311}"/>
                </a:ext>
              </a:extLst>
            </p:cNvPr>
            <p:cNvSpPr/>
            <p:nvPr/>
          </p:nvSpPr>
          <p:spPr>
            <a:xfrm>
              <a:off x="2521222" y="3540733"/>
              <a:ext cx="466359" cy="1154622"/>
            </a:xfrm>
            <a:prstGeom prst="roundRect">
              <a:avLst>
                <a:gd name="adj" fmla="val 1676"/>
              </a:avLst>
            </a:prstGeom>
            <a:solidFill>
              <a:srgbClr val="FFC000">
                <a:alpha val="25000"/>
              </a:srgbClr>
            </a:solid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圆角矩形 114">
            <a:extLst>
              <a:ext uri="{FF2B5EF4-FFF2-40B4-BE49-F238E27FC236}">
                <a16:creationId xmlns:a16="http://schemas.microsoft.com/office/drawing/2014/main" xmlns="" id="{F1B33E07-00A2-42B9-A438-E3D3556DC1D7}"/>
              </a:ext>
            </a:extLst>
          </p:cNvPr>
          <p:cNvSpPr/>
          <p:nvPr/>
        </p:nvSpPr>
        <p:spPr>
          <a:xfrm>
            <a:off x="5500942" y="3161956"/>
            <a:ext cx="1609504" cy="715095"/>
          </a:xfrm>
          <a:prstGeom prst="roundRect">
            <a:avLst>
              <a:gd name="adj" fmla="val 7500"/>
            </a:avLst>
          </a:prstGeom>
          <a:solidFill>
            <a:schemeClr val="accent4">
              <a:lumMod val="40000"/>
              <a:lumOff val="60000"/>
              <a:alpha val="24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Tree>
    <p:extLst>
      <p:ext uri="{BB962C8B-B14F-4D97-AF65-F5344CB8AC3E}">
        <p14:creationId xmlns:p14="http://schemas.microsoft.com/office/powerpoint/2010/main" val="815079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10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1000"/>
                                        <p:tgtEl>
                                          <p:spTgt spid="8"/>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10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p:cTn id="54" dur="1000" fill="hold"/>
                                        <p:tgtEl>
                                          <p:spTgt spid="38"/>
                                        </p:tgtEl>
                                        <p:attrNameLst>
                                          <p:attrName>ppt_w</p:attrName>
                                        </p:attrNameLst>
                                      </p:cBhvr>
                                      <p:tavLst>
                                        <p:tav tm="0">
                                          <p:val>
                                            <p:fltVal val="0"/>
                                          </p:val>
                                        </p:tav>
                                        <p:tav tm="100000">
                                          <p:val>
                                            <p:strVal val="#ppt_w"/>
                                          </p:val>
                                        </p:tav>
                                      </p:tavLst>
                                    </p:anim>
                                    <p:anim calcmode="lin" valueType="num">
                                      <p:cBhvr>
                                        <p:cTn id="55" dur="1000" fill="hold"/>
                                        <p:tgtEl>
                                          <p:spTgt spid="38"/>
                                        </p:tgtEl>
                                        <p:attrNameLst>
                                          <p:attrName>ppt_h</p:attrName>
                                        </p:attrNameLst>
                                      </p:cBhvr>
                                      <p:tavLst>
                                        <p:tav tm="0">
                                          <p:val>
                                            <p:fltVal val="0"/>
                                          </p:val>
                                        </p:tav>
                                        <p:tav tm="100000">
                                          <p:val>
                                            <p:strVal val="#ppt_h"/>
                                          </p:val>
                                        </p:tav>
                                      </p:tavLst>
                                    </p:anim>
                                    <p:animEffect transition="in" filter="fade">
                                      <p:cBhvr>
                                        <p:cTn id="56"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spTree>
    <p:extLst>
      <p:ext uri="{BB962C8B-B14F-4D97-AF65-F5344CB8AC3E}">
        <p14:creationId xmlns:p14="http://schemas.microsoft.com/office/powerpoint/2010/main" val="216170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1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542">
            <a:extLst>
              <a:ext uri="{FF2B5EF4-FFF2-40B4-BE49-F238E27FC236}">
                <a16:creationId xmlns:a16="http://schemas.microsoft.com/office/drawing/2014/main" xmlns="" id="{29519CAF-B69F-47A3-AD30-15CC75E9BCED}"/>
              </a:ext>
            </a:extLst>
          </p:cNvPr>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9" name="Group 541">
            <a:extLst>
              <a:ext uri="{FF2B5EF4-FFF2-40B4-BE49-F238E27FC236}">
                <a16:creationId xmlns:a16="http://schemas.microsoft.com/office/drawing/2014/main" xmlns="" id="{C6D7EB58-224F-4AE1-930D-D2367559D84C}"/>
              </a:ext>
            </a:extLst>
          </p:cNvPr>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773785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up)">
                                      <p:cBhvr>
                                        <p:cTn id="7" dur="1000"/>
                                        <p:tgtEl>
                                          <p:spTgt spid="79"/>
                                        </p:tgtEl>
                                      </p:cBhvr>
                                    </p:animEffect>
                                  </p:childTnLst>
                                </p:cTn>
                              </p:par>
                              <p:par>
                                <p:cTn id="8" presetID="22"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oup 541"/>
          <p:cNvGraphicFramePr>
            <a:graphicFrameLocks noGrp="1"/>
          </p:cNvGraphicFramePr>
          <p:nvPr/>
        </p:nvGraphicFramePr>
        <p:xfrm>
          <a:off x="2526066" y="1908967"/>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bl>
          </a:graphicData>
        </a:graphic>
      </p:graphicFrame>
      <p:graphicFrame>
        <p:nvGraphicFramePr>
          <p:cNvPr id="80" name="Group 541"/>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71558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a:p>
            <a:pPr marL="355600" indent="3175">
              <a:lnSpc>
                <a:spcPct val="125000"/>
              </a:lnSpc>
              <a:tabLst>
                <a:tab pos="4660900" algn="l"/>
              </a:tabLst>
            </a:pPr>
            <a:r>
              <a:rPr lang="zh-CN" altLang="en-US" sz="1600" dirty="0">
                <a:solidFill>
                  <a:srgbClr val="000000"/>
                </a:solidFill>
                <a:latin typeface="微软雅黑" pitchFamily="34" charset="-122"/>
                <a:ea typeface="微软雅黑" pitchFamily="34" charset="-122"/>
                <a:cs typeface="Times New Roman" pitchFamily="18" charset="0"/>
              </a:rPr>
              <a:t>    用</a:t>
            </a:r>
            <a:r>
              <a:rPr lang="en-US" altLang="zh-CN" sz="1600" dirty="0">
                <a:solidFill>
                  <a:srgbClr val="000000"/>
                </a:solidFill>
                <a:latin typeface="微软雅黑" pitchFamily="34" charset="-122"/>
                <a:ea typeface="微软雅黑" pitchFamily="34" charset="-122"/>
                <a:cs typeface="Times New Roman" pitchFamily="18" charset="0"/>
              </a:rPr>
              <a:t>4</a:t>
            </a:r>
            <a:r>
              <a:rPr lang="zh-CN" altLang="en-US" sz="1600" dirty="0">
                <a:solidFill>
                  <a:srgbClr val="000000"/>
                </a:solidFill>
                <a:latin typeface="微软雅黑" pitchFamily="34" charset="-122"/>
                <a:ea typeface="微软雅黑" pitchFamily="34" charset="-122"/>
                <a:cs typeface="Times New Roman" pitchFamily="18" charset="0"/>
              </a:rPr>
              <a:t>位二进制数来表示一位十进制数中的</a:t>
            </a:r>
            <a:r>
              <a:rPr lang="en-US" altLang="zh-CN" sz="1600" dirty="0">
                <a:solidFill>
                  <a:srgbClr val="000000"/>
                </a:solidFill>
                <a:latin typeface="微软雅黑" pitchFamily="34" charset="-122"/>
                <a:ea typeface="微软雅黑" pitchFamily="34" charset="-122"/>
                <a:cs typeface="Times New Roman" pitchFamily="18" charset="0"/>
              </a:rPr>
              <a:t>0</a:t>
            </a:r>
            <a:r>
              <a:rPr lang="zh-CN" altLang="en-US" sz="1600" dirty="0">
                <a:solidFill>
                  <a:srgbClr val="000000"/>
                </a:solidFill>
                <a:latin typeface="微软雅黑" pitchFamily="34" charset="-122"/>
                <a:ea typeface="微软雅黑" pitchFamily="34" charset="-122"/>
                <a:cs typeface="Times New Roman" pitchFamily="18" charset="0"/>
              </a:rPr>
              <a:t>～</a:t>
            </a:r>
            <a:r>
              <a:rPr lang="en-US" altLang="zh-CN" sz="1600" dirty="0">
                <a:solidFill>
                  <a:srgbClr val="000000"/>
                </a:solidFill>
                <a:latin typeface="微软雅黑" pitchFamily="34" charset="-122"/>
                <a:ea typeface="微软雅黑" pitchFamily="34" charset="-122"/>
                <a:cs typeface="Times New Roman" pitchFamily="18" charset="0"/>
              </a:rPr>
              <a:t>9</a:t>
            </a:r>
            <a:r>
              <a:rPr lang="zh-CN" altLang="en-US" sz="1600" dirty="0">
                <a:solidFill>
                  <a:srgbClr val="000000"/>
                </a:solidFill>
                <a:latin typeface="微软雅黑" pitchFamily="34" charset="-122"/>
                <a:ea typeface="微软雅黑" pitchFamily="34" charset="-122"/>
                <a:cs typeface="Times New Roman" pitchFamily="18" charset="0"/>
              </a:rPr>
              <a:t>十个数码。</a:t>
            </a:r>
            <a:endParaRPr lang="en-US" altLang="zh-CN" sz="1600" dirty="0">
              <a:solidFill>
                <a:srgbClr val="262626"/>
              </a:solidFill>
              <a:latin typeface="黑体" pitchFamily="49" charset="-122"/>
              <a:ea typeface="黑体" pitchFamily="49" charset="-122"/>
            </a:endParaRPr>
          </a:p>
        </p:txBody>
      </p:sp>
      <p:graphicFrame>
        <p:nvGraphicFramePr>
          <p:cNvPr id="79" name="Group 542"/>
          <p:cNvGraphicFramePr>
            <a:graphicFrameLocks noGrp="1"/>
          </p:cNvGraphicFramePr>
          <p:nvPr/>
        </p:nvGraphicFramePr>
        <p:xfrm>
          <a:off x="1457361" y="1758453"/>
          <a:ext cx="745807" cy="3169920"/>
        </p:xfrm>
        <a:graphic>
          <a:graphicData uri="http://schemas.openxmlformats.org/drawingml/2006/table">
            <a:tbl>
              <a:tblPr/>
              <a:tblGrid>
                <a:gridCol w="745807">
                  <a:extLst>
                    <a:ext uri="{9D8B030D-6E8A-4147-A177-3AD203B41FA5}">
                      <a16:colId xmlns:a16="http://schemas.microsoft.com/office/drawing/2014/main" xmlns="" val="20000"/>
                    </a:ext>
                  </a:extLst>
                </a:gridCol>
              </a:tblGrid>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9050" cap="flat" cmpd="sng" algn="ctr">
                      <a:solidFill>
                        <a:schemeClr val="accent1">
                          <a:lumMod val="75000"/>
                        </a:schemeClr>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6"/>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0111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7"/>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8"/>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9"/>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0"/>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1011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1"/>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2"/>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1101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3"/>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1110</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2700" cap="flat" cmpd="sng" algn="ctr">
                      <a:solidFill>
                        <a:srgbClr val="CC00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4"/>
                  </a:ext>
                </a:extLst>
              </a:tr>
              <a:tr h="192024">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kern="1200" cap="none" spc="100" normalizeH="0" baseline="0" dirty="0">
                          <a:ln>
                            <a:noFill/>
                          </a:ln>
                          <a:solidFill>
                            <a:srgbClr val="000000"/>
                          </a:solidFill>
                          <a:effectLst/>
                          <a:latin typeface="Arial" charset="0"/>
                          <a:ea typeface="宋体" pitchFamily="2" charset="-122"/>
                          <a:cs typeface="+mn-cs"/>
                        </a:rPr>
                        <a:t>1111</a:t>
                      </a:r>
                    </a:p>
                  </a:txBody>
                  <a:tcPr marL="0" marR="0" marT="0" marB="0" anchor="ctr" horzOverflow="overflow">
                    <a:lnL w="19050" cap="flat" cmpd="sng" algn="ctr">
                      <a:solidFill>
                        <a:schemeClr val="accent1">
                          <a:lumMod val="75000"/>
                        </a:schemeClr>
                      </a:solidFill>
                      <a:prstDash val="solid"/>
                      <a:round/>
                      <a:headEnd type="none" w="med" len="med"/>
                      <a:tailEnd type="none" w="med" len="med"/>
                    </a:lnL>
                    <a:lnR w="19050" cap="flat" cmpd="sng" algn="ctr">
                      <a:solidFill>
                        <a:schemeClr val="accent1">
                          <a:lumMod val="75000"/>
                        </a:schemeClr>
                      </a:solidFill>
                      <a:prstDash val="solid"/>
                      <a:round/>
                      <a:headEnd type="none" w="med" len="med"/>
                      <a:tailEnd type="none" w="med" len="med"/>
                    </a:lnR>
                    <a:lnT w="12700" cap="flat" cmpd="sng" algn="ctr">
                      <a:solidFill>
                        <a:srgbClr val="CC00CC"/>
                      </a:solidFill>
                      <a:prstDash val="solid"/>
                      <a:round/>
                      <a:headEnd type="none" w="med" len="med"/>
                      <a:tailEnd type="none" w="med" len="med"/>
                    </a:lnT>
                    <a:lnB w="19050" cap="flat" cmpd="sng" algn="ctr">
                      <a:solidFill>
                        <a:schemeClr val="accent1">
                          <a:lumMod val="7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15"/>
                  </a:ext>
                </a:extLst>
              </a:tr>
            </a:tbl>
          </a:graphicData>
        </a:graphic>
      </p:graphicFrame>
      <p:graphicFrame>
        <p:nvGraphicFramePr>
          <p:cNvPr id="9" name="Group 541">
            <a:extLst>
              <a:ext uri="{FF2B5EF4-FFF2-40B4-BE49-F238E27FC236}">
                <a16:creationId xmlns:a16="http://schemas.microsoft.com/office/drawing/2014/main" xmlns="" id="{C6D7EB58-224F-4AE1-930D-D2367559D84C}"/>
              </a:ext>
            </a:extLst>
          </p:cNvPr>
          <p:cNvGraphicFramePr>
            <a:graphicFrameLocks noGrp="1"/>
          </p:cNvGraphicFramePr>
          <p:nvPr/>
        </p:nvGraphicFramePr>
        <p:xfrm>
          <a:off x="2526066" y="1902392"/>
          <a:ext cx="4584380" cy="2792963"/>
        </p:xfrm>
        <a:graphic>
          <a:graphicData uri="http://schemas.openxmlformats.org/drawingml/2006/table">
            <a:tbl>
              <a:tblPr/>
              <a:tblGrid>
                <a:gridCol w="454330">
                  <a:extLst>
                    <a:ext uri="{9D8B030D-6E8A-4147-A177-3AD203B41FA5}">
                      <a16:colId xmlns:a16="http://schemas.microsoft.com/office/drawing/2014/main" xmlns="" val="20000"/>
                    </a:ext>
                  </a:extLst>
                </a:gridCol>
                <a:gridCol w="765433">
                  <a:extLst>
                    <a:ext uri="{9D8B030D-6E8A-4147-A177-3AD203B41FA5}">
                      <a16:colId xmlns:a16="http://schemas.microsoft.com/office/drawing/2014/main" xmlns="" val="20001"/>
                    </a:ext>
                  </a:extLst>
                </a:gridCol>
                <a:gridCol w="764259">
                  <a:extLst>
                    <a:ext uri="{9D8B030D-6E8A-4147-A177-3AD203B41FA5}">
                      <a16:colId xmlns:a16="http://schemas.microsoft.com/office/drawing/2014/main" xmlns="" val="20002"/>
                    </a:ext>
                  </a:extLst>
                </a:gridCol>
                <a:gridCol w="765433">
                  <a:extLst>
                    <a:ext uri="{9D8B030D-6E8A-4147-A177-3AD203B41FA5}">
                      <a16:colId xmlns:a16="http://schemas.microsoft.com/office/drawing/2014/main" xmlns="" val="20003"/>
                    </a:ext>
                  </a:extLst>
                </a:gridCol>
                <a:gridCol w="886374">
                  <a:extLst>
                    <a:ext uri="{9D8B030D-6E8A-4147-A177-3AD203B41FA5}">
                      <a16:colId xmlns:a16="http://schemas.microsoft.com/office/drawing/2014/main" xmlns="" val="20004"/>
                    </a:ext>
                  </a:extLst>
                </a:gridCol>
                <a:gridCol w="948551">
                  <a:extLst>
                    <a:ext uri="{9D8B030D-6E8A-4147-A177-3AD203B41FA5}">
                      <a16:colId xmlns:a16="http://schemas.microsoft.com/office/drawing/2014/main" xmlns="" val="20005"/>
                    </a:ext>
                  </a:extLst>
                </a:gridCol>
              </a:tblGrid>
              <a:tr h="192024">
                <a:tc row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十进制数</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有权码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无权码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extLst>
                  <a:ext uri="{0D108BD9-81ED-4DB2-BD59-A6C34878D82A}">
                    <a16:rowId xmlns:a16="http://schemas.microsoft.com/office/drawing/2014/main" xmlns="" val="10000"/>
                  </a:ext>
                </a:extLst>
              </a:tr>
              <a:tr h="26590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8421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2421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5421</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endPar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余</a:t>
                      </a:r>
                      <a:r>
                        <a:rPr kumimoji="0" lang="en-US" altLang="zh-CN" sz="1300" b="0" i="0" u="none" strike="noStrike" cap="none" normalizeH="0" baseline="0" dirty="0">
                          <a:ln>
                            <a:noFill/>
                          </a:ln>
                          <a:solidFill>
                            <a:srgbClr val="000000"/>
                          </a:solidFill>
                          <a:effectLst/>
                          <a:latin typeface="方正粗黑宋简体" pitchFamily="2" charset="-122"/>
                          <a:ea typeface="方正粗黑宋简体" pitchFamily="2" charset="-122"/>
                        </a:rPr>
                        <a:t>3</a:t>
                      </a: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循环码</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2"/>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3"/>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2</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4"/>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3</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5"/>
                  </a:ext>
                </a:extLst>
              </a:tr>
              <a:tr h="22922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4</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6"/>
                  </a:ext>
                </a:extLst>
              </a:tr>
              <a:tr h="22820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5</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7"/>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6</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8"/>
                  </a:ext>
                </a:extLst>
              </a:tr>
              <a:tr h="23330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7</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0111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09"/>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8</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0"/>
                  </a:ext>
                </a:extLst>
              </a:tr>
              <a:tr h="234320">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6600FF"/>
                          </a:solidFill>
                          <a:effectLst/>
                          <a:latin typeface="方正粗黑宋简体" pitchFamily="2" charset="-122"/>
                          <a:ea typeface="方正粗黑宋简体" pitchFamily="2" charset="-122"/>
                        </a:rPr>
                        <a:t>9</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1001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1111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1100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300" b="0" i="0" u="none" strike="noStrike" cap="none" normalizeH="0" baseline="0" dirty="0">
                          <a:ln>
                            <a:noFill/>
                          </a:ln>
                          <a:solidFill>
                            <a:srgbClr val="000000"/>
                          </a:solidFill>
                          <a:effectLst/>
                          <a:latin typeface="Arial" charset="0"/>
                          <a:ea typeface="宋体" pitchFamily="2" charset="-122"/>
                        </a:rPr>
                        <a:t>1010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xmlns="" val="10011"/>
                  </a:ext>
                </a:extLst>
              </a:tr>
            </a:tbl>
          </a:graphicData>
        </a:graphic>
      </p:graphicFrame>
      <p:grpSp>
        <p:nvGrpSpPr>
          <p:cNvPr id="10" name="组合 9">
            <a:extLst>
              <a:ext uri="{FF2B5EF4-FFF2-40B4-BE49-F238E27FC236}">
                <a16:creationId xmlns:a16="http://schemas.microsoft.com/office/drawing/2014/main" xmlns="" id="{066FD7FE-6970-4579-9E9B-4AFDF2ED5783}"/>
              </a:ext>
            </a:extLst>
          </p:cNvPr>
          <p:cNvGrpSpPr/>
          <p:nvPr/>
        </p:nvGrpSpPr>
        <p:grpSpPr>
          <a:xfrm>
            <a:off x="7110446" y="2397925"/>
            <a:ext cx="1503062" cy="2297430"/>
            <a:chOff x="6728460" y="2308860"/>
            <a:chExt cx="1503062" cy="2552700"/>
          </a:xfrm>
        </p:grpSpPr>
        <p:sp>
          <p:nvSpPr>
            <p:cNvPr id="12" name="剪去对角的矩形 34">
              <a:extLst>
                <a:ext uri="{FF2B5EF4-FFF2-40B4-BE49-F238E27FC236}">
                  <a16:creationId xmlns:a16="http://schemas.microsoft.com/office/drawing/2014/main" xmlns="" id="{AF612256-EDD9-4E54-BA3F-70D75389BEB8}"/>
                </a:ext>
              </a:extLst>
            </p:cNvPr>
            <p:cNvSpPr/>
            <p:nvPr/>
          </p:nvSpPr>
          <p:spPr>
            <a:xfrm>
              <a:off x="7060209" y="3144729"/>
              <a:ext cx="1171313" cy="881759"/>
            </a:xfrm>
            <a:prstGeom prst="snip2DiagRect">
              <a:avLst>
                <a:gd name="adj1" fmla="val 0"/>
                <a:gd name="adj2" fmla="val 1051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rgbClr val="0000FF"/>
                  </a:solidFill>
                  <a:latin typeface="方正粗黑宋简体" pitchFamily="2" charset="-122"/>
                  <a:ea typeface="方正粗黑宋简体" pitchFamily="2" charset="-122"/>
                </a:rPr>
                <a:t>相邻两个码字之间只有一位不同！</a:t>
              </a:r>
            </a:p>
          </p:txBody>
        </p:sp>
        <p:sp>
          <p:nvSpPr>
            <p:cNvPr id="13" name="右大括号 12">
              <a:extLst>
                <a:ext uri="{FF2B5EF4-FFF2-40B4-BE49-F238E27FC236}">
                  <a16:creationId xmlns:a16="http://schemas.microsoft.com/office/drawing/2014/main" xmlns="" id="{42D902A5-93F0-4059-8736-A030EEBCA200}"/>
                </a:ext>
              </a:extLst>
            </p:cNvPr>
            <p:cNvSpPr/>
            <p:nvPr/>
          </p:nvSpPr>
          <p:spPr>
            <a:xfrm>
              <a:off x="6728460" y="2308860"/>
              <a:ext cx="220980" cy="2552700"/>
            </a:xfrm>
            <a:prstGeom prst="rightBrace">
              <a:avLst>
                <a:gd name="adj1" fmla="val 82221"/>
                <a:gd name="adj2" fmla="val 50000"/>
              </a:avLst>
            </a:prstGeom>
            <a:ln w="28575">
              <a:solidFill>
                <a:srgbClr val="66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 name="矩形: 圆角 13">
            <a:extLst>
              <a:ext uri="{FF2B5EF4-FFF2-40B4-BE49-F238E27FC236}">
                <a16:creationId xmlns:a16="http://schemas.microsoft.com/office/drawing/2014/main" xmlns="" id="{74CF03C1-DBCC-4F53-A28D-F26BAC9BE873}"/>
              </a:ext>
            </a:extLst>
          </p:cNvPr>
          <p:cNvSpPr/>
          <p:nvPr/>
        </p:nvSpPr>
        <p:spPr>
          <a:xfrm>
            <a:off x="6153475" y="3073684"/>
            <a:ext cx="956971" cy="465253"/>
          </a:xfrm>
          <a:prstGeom prst="roundRect">
            <a:avLst>
              <a:gd name="adj" fmla="val 7500"/>
            </a:avLst>
          </a:prstGeom>
          <a:solidFill>
            <a:srgbClr val="FFFF00">
              <a:alpha val="0"/>
            </a:srgb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7" name="矩形: 圆角 16">
            <a:extLst>
              <a:ext uri="{FF2B5EF4-FFF2-40B4-BE49-F238E27FC236}">
                <a16:creationId xmlns:a16="http://schemas.microsoft.com/office/drawing/2014/main" xmlns="" id="{C9C77C3F-DD0F-4714-92D0-E72B168959AE}"/>
              </a:ext>
            </a:extLst>
          </p:cNvPr>
          <p:cNvSpPr/>
          <p:nvPr/>
        </p:nvSpPr>
        <p:spPr>
          <a:xfrm>
            <a:off x="6153474" y="4449866"/>
            <a:ext cx="956971" cy="258639"/>
          </a:xfrm>
          <a:prstGeom prst="roundRect">
            <a:avLst>
              <a:gd name="adj" fmla="val 7500"/>
            </a:avLst>
          </a:prstGeom>
          <a:solidFill>
            <a:srgbClr val="FFFF00">
              <a:alpha val="0"/>
            </a:srgb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8" name="矩形: 圆角 17">
            <a:extLst>
              <a:ext uri="{FF2B5EF4-FFF2-40B4-BE49-F238E27FC236}">
                <a16:creationId xmlns:a16="http://schemas.microsoft.com/office/drawing/2014/main" xmlns="" id="{0DABAF7F-5344-4A8B-B73D-08D070994D52}"/>
              </a:ext>
            </a:extLst>
          </p:cNvPr>
          <p:cNvSpPr/>
          <p:nvPr/>
        </p:nvSpPr>
        <p:spPr>
          <a:xfrm>
            <a:off x="6153473" y="2347846"/>
            <a:ext cx="956971" cy="258639"/>
          </a:xfrm>
          <a:prstGeom prst="roundRect">
            <a:avLst>
              <a:gd name="adj" fmla="val 7500"/>
            </a:avLst>
          </a:prstGeom>
          <a:solidFill>
            <a:srgbClr val="FFFF00">
              <a:alpha val="0"/>
            </a:srgb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07035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grpId="2"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outVertical)">
                                      <p:cBhvr>
                                        <p:cTn id="16" dur="1000"/>
                                        <p:tgtEl>
                                          <p:spTgt spid="14"/>
                                        </p:tgtEl>
                                      </p:cBhvr>
                                    </p:animEffect>
                                  </p:childTnLst>
                                </p:cTn>
                              </p:par>
                            </p:childTnLst>
                          </p:cTn>
                        </p:par>
                        <p:par>
                          <p:cTn id="17" fill="hold">
                            <p:stCondLst>
                              <p:cond delay="1000"/>
                            </p:stCondLst>
                            <p:childTnLst>
                              <p:par>
                                <p:cTn id="18" presetID="35" presetClass="emph" presetSubtype="0" fill="hold" grpId="0" nodeType="afterEffect">
                                  <p:stCondLst>
                                    <p:cond delay="0"/>
                                  </p:stCondLst>
                                  <p:childTnLst>
                                    <p:anim calcmode="discrete" valueType="str">
                                      <p:cBhvr>
                                        <p:cTn id="19"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20" fill="hold">
                            <p:stCondLst>
                              <p:cond delay="2000"/>
                            </p:stCondLst>
                            <p:childTnLst>
                              <p:par>
                                <p:cTn id="21" presetID="35" presetClass="emph" presetSubtype="0" fill="hold" grpId="1" nodeType="afterEffect">
                                  <p:stCondLst>
                                    <p:cond delay="0"/>
                                  </p:stCondLst>
                                  <p:childTnLst>
                                    <p:anim calcmode="discrete" valueType="str">
                                      <p:cBhvr>
                                        <p:cTn id="22"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2"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outVertical)">
                                      <p:cBhvr>
                                        <p:cTn id="27" dur="1000"/>
                                        <p:tgtEl>
                                          <p:spTgt spid="17"/>
                                        </p:tgtEl>
                                      </p:cBhvr>
                                    </p:animEffect>
                                  </p:childTnLst>
                                </p:cTn>
                              </p:par>
                              <p:par>
                                <p:cTn id="28" presetID="16" presetClass="entr" presetSubtype="37" fill="hold" grpId="2"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arn(outVertical)">
                                      <p:cBhvr>
                                        <p:cTn id="30" dur="1000"/>
                                        <p:tgtEl>
                                          <p:spTgt spid="18"/>
                                        </p:tgtEl>
                                      </p:cBhvr>
                                    </p:animEffect>
                                  </p:childTnLst>
                                </p:cTn>
                              </p:par>
                            </p:childTnLst>
                          </p:cTn>
                        </p:par>
                        <p:par>
                          <p:cTn id="31" fill="hold">
                            <p:stCondLst>
                              <p:cond delay="1000"/>
                            </p:stCondLst>
                            <p:childTnLst>
                              <p:par>
                                <p:cTn id="32" presetID="35" presetClass="emph" presetSubtype="0" fill="hold" grpId="0" nodeType="afterEffect">
                                  <p:stCondLst>
                                    <p:cond delay="0"/>
                                  </p:stCondLst>
                                  <p:childTnLst>
                                    <p:anim calcmode="discrete" valueType="str">
                                      <p:cBhvr>
                                        <p:cTn id="33" dur="1000" fill="hold"/>
                                        <p:tgtEl>
                                          <p:spTgt spid="17"/>
                                        </p:tgtEl>
                                        <p:attrNameLst>
                                          <p:attrName>style.visibility</p:attrName>
                                        </p:attrNameLst>
                                      </p:cBhvr>
                                      <p:tavLst>
                                        <p:tav tm="0">
                                          <p:val>
                                            <p:strVal val="hidden"/>
                                          </p:val>
                                        </p:tav>
                                        <p:tav tm="50000">
                                          <p:val>
                                            <p:strVal val="visible"/>
                                          </p:val>
                                        </p:tav>
                                      </p:tavLst>
                                    </p:anim>
                                  </p:childTnLst>
                                </p:cTn>
                              </p:par>
                              <p:par>
                                <p:cTn id="34" presetID="35" presetClass="emph" presetSubtype="0" fill="hold" grpId="0" nodeType="withEffect">
                                  <p:stCondLst>
                                    <p:cond delay="0"/>
                                  </p:stCondLst>
                                  <p:childTnLst>
                                    <p:anim calcmode="discrete" valueType="str">
                                      <p:cBhvr>
                                        <p:cTn id="35" dur="1000" fill="hold"/>
                                        <p:tgtEl>
                                          <p:spTgt spid="18"/>
                                        </p:tgtEl>
                                        <p:attrNameLst>
                                          <p:attrName>style.visibility</p:attrName>
                                        </p:attrNameLst>
                                      </p:cBhvr>
                                      <p:tavLst>
                                        <p:tav tm="0">
                                          <p:val>
                                            <p:strVal val="hidden"/>
                                          </p:val>
                                        </p:tav>
                                        <p:tav tm="50000">
                                          <p:val>
                                            <p:strVal val="visible"/>
                                          </p:val>
                                        </p:tav>
                                      </p:tavLst>
                                    </p:anim>
                                  </p:childTnLst>
                                </p:cTn>
                              </p:par>
                            </p:childTnLst>
                          </p:cTn>
                        </p:par>
                        <p:par>
                          <p:cTn id="36" fill="hold">
                            <p:stCondLst>
                              <p:cond delay="2000"/>
                            </p:stCondLst>
                            <p:childTnLst>
                              <p:par>
                                <p:cTn id="37" presetID="35" presetClass="emph" presetSubtype="0" fill="hold" grpId="1" nodeType="afterEffect">
                                  <p:stCondLst>
                                    <p:cond delay="0"/>
                                  </p:stCondLst>
                                  <p:childTnLst>
                                    <p:anim calcmode="discrete" valueType="str">
                                      <p:cBhvr>
                                        <p:cTn id="38" dur="1000" fill="hold"/>
                                        <p:tgtEl>
                                          <p:spTgt spid="17"/>
                                        </p:tgtEl>
                                        <p:attrNameLst>
                                          <p:attrName>style.visibility</p:attrName>
                                        </p:attrNameLst>
                                      </p:cBhvr>
                                      <p:tavLst>
                                        <p:tav tm="0">
                                          <p:val>
                                            <p:strVal val="hidden"/>
                                          </p:val>
                                        </p:tav>
                                        <p:tav tm="50000">
                                          <p:val>
                                            <p:strVal val="visible"/>
                                          </p:val>
                                        </p:tav>
                                      </p:tavLst>
                                    </p:anim>
                                  </p:childTnLst>
                                </p:cTn>
                              </p:par>
                              <p:par>
                                <p:cTn id="39" presetID="35" presetClass="emph" presetSubtype="0" fill="hold" grpId="1" nodeType="withEffect">
                                  <p:stCondLst>
                                    <p:cond delay="0"/>
                                  </p:stCondLst>
                                  <p:childTnLst>
                                    <p:anim calcmode="discrete" valueType="str">
                                      <p:cBhvr>
                                        <p:cTn id="40" dur="1000" fill="hold"/>
                                        <p:tgtEl>
                                          <p:spTgt spid="1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4" grpId="2" animBg="1"/>
      <p:bldP spid="17" grpId="0" animBg="1"/>
      <p:bldP spid="17" grpId="1" animBg="1"/>
      <p:bldP spid="17" grpId="2" animBg="1"/>
      <p:bldP spid="18" grpId="0" animBg="1"/>
      <p:bldP spid="18" grpId="1" animBg="1"/>
      <p:bldP spid="18" grpId="2"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17"/>
          <p:cNvGrpSpPr/>
          <p:nvPr/>
        </p:nvGrpSpPr>
        <p:grpSpPr>
          <a:xfrm>
            <a:off x="392433" y="590448"/>
            <a:ext cx="3016361" cy="418885"/>
            <a:chOff x="670560" y="892917"/>
            <a:chExt cx="3016361" cy="465428"/>
          </a:xfrm>
        </p:grpSpPr>
        <p:sp>
          <p:nvSpPr>
            <p:cNvPr id="61" name="矩形 60"/>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7" name="矩形 76"/>
          <p:cNvSpPr/>
          <p:nvPr/>
        </p:nvSpPr>
        <p:spPr>
          <a:xfrm>
            <a:off x="735332" y="967047"/>
            <a:ext cx="6517047" cy="412613"/>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）二</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十进制编码（</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BCD</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800" dirty="0">
                <a:effectLst/>
                <a:latin typeface="Times New Roman" panose="02020603050405020304" pitchFamily="18" charset="0"/>
                <a:ea typeface="宋体" panose="02010600030101010101" pitchFamily="2" charset="-122"/>
              </a:rPr>
              <a:t> </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Binary Coded Decimal </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262626"/>
              </a:solidFill>
              <a:latin typeface="黑体" pitchFamily="49" charset="-122"/>
              <a:ea typeface="黑体" pitchFamily="49" charset="-122"/>
            </a:endParaRPr>
          </a:p>
        </p:txBody>
      </p:sp>
      <p:grpSp>
        <p:nvGrpSpPr>
          <p:cNvPr id="14" name="组合 13">
            <a:extLst>
              <a:ext uri="{FF2B5EF4-FFF2-40B4-BE49-F238E27FC236}">
                <a16:creationId xmlns:a16="http://schemas.microsoft.com/office/drawing/2014/main" xmlns="" id="{4805A922-9947-4836-99B3-7A48AD0829A9}"/>
              </a:ext>
            </a:extLst>
          </p:cNvPr>
          <p:cNvGrpSpPr/>
          <p:nvPr/>
        </p:nvGrpSpPr>
        <p:grpSpPr>
          <a:xfrm>
            <a:off x="461918" y="1458288"/>
            <a:ext cx="3061723" cy="370946"/>
            <a:chOff x="358461" y="2491451"/>
            <a:chExt cx="3061723" cy="403498"/>
          </a:xfrm>
        </p:grpSpPr>
        <p:sp>
          <p:nvSpPr>
            <p:cNvPr id="15" name="矩形 14">
              <a:extLst>
                <a:ext uri="{FF2B5EF4-FFF2-40B4-BE49-F238E27FC236}">
                  <a16:creationId xmlns:a16="http://schemas.microsoft.com/office/drawing/2014/main" xmlns="" id="{343D5714-AF64-4648-AA3E-80CD77A0CD14}"/>
                </a:ext>
              </a:extLst>
            </p:cNvPr>
            <p:cNvSpPr>
              <a:spLocks noChangeArrowheads="1"/>
            </p:cNvSpPr>
            <p:nvPr/>
          </p:nvSpPr>
          <p:spPr bwMode="auto">
            <a:xfrm>
              <a:off x="601349" y="2497916"/>
              <a:ext cx="2818835" cy="397033"/>
            </a:xfrm>
            <a:prstGeom prst="rect">
              <a:avLst/>
            </a:prstGeom>
            <a:solidFill>
              <a:srgbClr val="05AFC8"/>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1600" dirty="0">
                  <a:solidFill>
                    <a:schemeClr val="bg1"/>
                  </a:solidFill>
                  <a:latin typeface="黑体" panose="02010609060101010101" pitchFamily="49" charset="-122"/>
                  <a:ea typeface="黑体" panose="02010609060101010101" pitchFamily="49" charset="-122"/>
                </a:rPr>
                <a:t>  </a:t>
              </a:r>
              <a:r>
                <a:rPr lang="zh-CN" altLang="en-US" sz="1600" dirty="0">
                  <a:solidFill>
                    <a:schemeClr val="bg1"/>
                  </a:solidFill>
                  <a:latin typeface="黑体" panose="02010609060101010101" pitchFamily="49" charset="-122"/>
                  <a:ea typeface="黑体" panose="02010609060101010101" pitchFamily="49" charset="-122"/>
                </a:rPr>
                <a:t>十进制数的</a:t>
              </a:r>
              <a:r>
                <a:rPr lang="en-US" altLang="zh-CN" sz="1600" dirty="0">
                  <a:solidFill>
                    <a:schemeClr val="bg1"/>
                  </a:solidFill>
                  <a:latin typeface="黑体" panose="02010609060101010101" pitchFamily="49" charset="-122"/>
                  <a:ea typeface="黑体" panose="02010609060101010101" pitchFamily="49" charset="-122"/>
                </a:rPr>
                <a:t>BCD</a:t>
              </a:r>
              <a:r>
                <a:rPr lang="zh-CN" altLang="en-US" sz="1600" dirty="0">
                  <a:solidFill>
                    <a:schemeClr val="bg1"/>
                  </a:solidFill>
                  <a:latin typeface="黑体" panose="02010609060101010101" pitchFamily="49" charset="-122"/>
                  <a:ea typeface="黑体" panose="02010609060101010101" pitchFamily="49" charset="-122"/>
                </a:rPr>
                <a:t>码表示</a:t>
              </a:r>
            </a:p>
          </p:txBody>
        </p:sp>
        <p:sp>
          <p:nvSpPr>
            <p:cNvPr id="16" name="矩形 15">
              <a:extLst>
                <a:ext uri="{FF2B5EF4-FFF2-40B4-BE49-F238E27FC236}">
                  <a16:creationId xmlns:a16="http://schemas.microsoft.com/office/drawing/2014/main" xmlns="" id="{D023867A-3587-4220-832C-2462DD52ECA6}"/>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rgbClr val="FFFFFF"/>
                </a:solidFill>
                <a:latin typeface="宋体" panose="02010600030101010101" pitchFamily="2" charset="-122"/>
                <a:sym typeface="宋体" panose="02010600030101010101" pitchFamily="2" charset="-122"/>
              </a:endParaRPr>
            </a:p>
          </p:txBody>
        </p:sp>
        <p:sp>
          <p:nvSpPr>
            <p:cNvPr id="17" name="Freeform 10">
              <a:extLst>
                <a:ext uri="{FF2B5EF4-FFF2-40B4-BE49-F238E27FC236}">
                  <a16:creationId xmlns:a16="http://schemas.microsoft.com/office/drawing/2014/main" xmlns="" id="{A285F6DA-E51D-406A-84B5-72CDEFCA1B40}"/>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solidFill>
                <a:latin typeface="Arial"/>
                <a:ea typeface="微软雅黑"/>
              </a:endParaRPr>
            </a:p>
          </p:txBody>
        </p:sp>
      </p:grpSp>
      <p:sp>
        <p:nvSpPr>
          <p:cNvPr id="19" name="Rectangle 6">
            <a:extLst>
              <a:ext uri="{FF2B5EF4-FFF2-40B4-BE49-F238E27FC236}">
                <a16:creationId xmlns:a16="http://schemas.microsoft.com/office/drawing/2014/main" xmlns="" id="{01A5EF1D-8C2D-43FF-BB37-CE741D38FDA7}"/>
              </a:ext>
            </a:extLst>
          </p:cNvPr>
          <p:cNvSpPr>
            <a:spLocks noChangeArrowheads="1"/>
          </p:cNvSpPr>
          <p:nvPr/>
        </p:nvSpPr>
        <p:spPr bwMode="auto">
          <a:xfrm>
            <a:off x="461918" y="1869324"/>
            <a:ext cx="4487862" cy="400110"/>
          </a:xfrm>
          <a:prstGeom prst="rect">
            <a:avLst/>
          </a:prstGeom>
          <a:noFill/>
          <a:ln w="9525" algn="ctr">
            <a:noFill/>
            <a:miter lim="800000"/>
            <a:headEnd/>
            <a:tailEnd/>
          </a:ln>
        </p:spPr>
        <p:txBody>
          <a:bodyPr wrap="square" lIns="0" rIns="0">
            <a:spAutoFit/>
          </a:bodyPr>
          <a:lstStyle/>
          <a:p>
            <a:pPr algn="l">
              <a:lnSpc>
                <a:spcPct val="125000"/>
              </a:lnSpc>
            </a:pPr>
            <a:r>
              <a:rPr lang="zh-CN" altLang="en-US" sz="1600" dirty="0">
                <a:latin typeface="黑体" panose="02010609060101010101" pitchFamily="49" charset="-122"/>
                <a:ea typeface="黑体" panose="02010609060101010101" pitchFamily="49" charset="-122"/>
              </a:rPr>
              <a:t>一个多位的十进制数每一位用</a:t>
            </a:r>
            <a:r>
              <a:rPr lang="en-US" altLang="zh-CN" sz="1600" dirty="0">
                <a:latin typeface="黑体" panose="02010609060101010101" pitchFamily="49" charset="-122"/>
                <a:ea typeface="黑体" panose="02010609060101010101" pitchFamily="49" charset="-122"/>
              </a:rPr>
              <a:t>4</a:t>
            </a:r>
            <a:r>
              <a:rPr lang="zh-CN" altLang="en-US" sz="1600" dirty="0">
                <a:latin typeface="黑体" panose="02010609060101010101" pitchFamily="49" charset="-122"/>
                <a:ea typeface="黑体" panose="02010609060101010101" pitchFamily="49" charset="-122"/>
              </a:rPr>
              <a:t>位</a:t>
            </a:r>
            <a:r>
              <a:rPr lang="en-US" altLang="zh-CN" sz="1600" dirty="0">
                <a:latin typeface="黑体" panose="02010609060101010101" pitchFamily="49" charset="-122"/>
                <a:ea typeface="黑体" panose="02010609060101010101" pitchFamily="49" charset="-122"/>
              </a:rPr>
              <a:t>BCD</a:t>
            </a:r>
            <a:r>
              <a:rPr lang="zh-CN" altLang="en-US" sz="1600" dirty="0">
                <a:latin typeface="黑体" panose="02010609060101010101" pitchFamily="49" charset="-122"/>
                <a:ea typeface="黑体" panose="02010609060101010101" pitchFamily="49" charset="-122"/>
              </a:rPr>
              <a:t>代码来表示。</a:t>
            </a:r>
          </a:p>
        </p:txBody>
      </p:sp>
      <p:sp>
        <p:nvSpPr>
          <p:cNvPr id="24" name="Rectangle 6">
            <a:extLst>
              <a:ext uri="{FF2B5EF4-FFF2-40B4-BE49-F238E27FC236}">
                <a16:creationId xmlns:a16="http://schemas.microsoft.com/office/drawing/2014/main" xmlns="" id="{39AF03B7-5ACE-41A3-9B48-B04F5334A172}"/>
              </a:ext>
            </a:extLst>
          </p:cNvPr>
          <p:cNvSpPr>
            <a:spLocks noChangeArrowheads="1"/>
          </p:cNvSpPr>
          <p:nvPr/>
        </p:nvSpPr>
        <p:spPr bwMode="auto">
          <a:xfrm>
            <a:off x="461918" y="3632741"/>
            <a:ext cx="7581582" cy="368755"/>
          </a:xfrm>
          <a:prstGeom prst="rect">
            <a:avLst/>
          </a:prstGeom>
          <a:noFill/>
          <a:ln w="9525" algn="ctr">
            <a:noFill/>
            <a:miter lim="800000"/>
            <a:headEnd/>
            <a:tailEnd/>
          </a:ln>
        </p:spPr>
        <p:txBody>
          <a:bodyPr wrap="square" lIns="0" rIns="0">
            <a:spAutoFit/>
          </a:bodyPr>
          <a:lstStyle/>
          <a:p>
            <a:pPr algn="l">
              <a:lnSpc>
                <a:spcPct val="125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将</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BCD</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码四位分组，每组</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BCD</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码按编码规则对应一位十进制数，最后组合成十进制数。</a:t>
            </a:r>
          </a:p>
        </p:txBody>
      </p:sp>
      <p:sp>
        <p:nvSpPr>
          <p:cNvPr id="25" name="Text Box 16">
            <a:extLst>
              <a:ext uri="{FF2B5EF4-FFF2-40B4-BE49-F238E27FC236}">
                <a16:creationId xmlns:a16="http://schemas.microsoft.com/office/drawing/2014/main" xmlns="" id="{53DB0B99-D0B2-4EA3-B0AD-2B7B5381981A}"/>
              </a:ext>
            </a:extLst>
          </p:cNvPr>
          <p:cNvSpPr txBox="1">
            <a:spLocks noChangeArrowheads="1"/>
          </p:cNvSpPr>
          <p:nvPr/>
        </p:nvSpPr>
        <p:spPr bwMode="auto">
          <a:xfrm>
            <a:off x="2250123" y="4176453"/>
            <a:ext cx="3431196" cy="338554"/>
          </a:xfrm>
          <a:prstGeom prst="rect">
            <a:avLst/>
          </a:prstGeom>
          <a:noFill/>
          <a:ln w="9525" algn="ctr">
            <a:noFill/>
            <a:miter lim="800000"/>
            <a:headEnd/>
            <a:tailEnd/>
          </a:ln>
          <a:effectLst/>
        </p:spPr>
        <p:txBody>
          <a:bodyPr wrap="none" lIns="0" rIns="0">
            <a:spAutoFit/>
          </a:bodyPr>
          <a:lstStyle/>
          <a:p>
            <a:pPr algn="l">
              <a:defRPr/>
            </a:pPr>
            <a:r>
              <a:rPr lang="en-US" altLang="zh-CN" sz="1600" dirty="0">
                <a:solidFill>
                  <a:srgbClr val="000000"/>
                </a:solidFill>
                <a:latin typeface="Times New Roman" panose="02020603050405020304" pitchFamily="18" charset="0"/>
                <a:ea typeface="方正大黑简体" pitchFamily="2" charset="-122"/>
                <a:cs typeface="Times New Roman" panose="02020603050405020304" pitchFamily="18" charset="0"/>
              </a:rPr>
              <a:t>[ 0101 0000 1001 0111 ]</a:t>
            </a:r>
            <a:r>
              <a:rPr lang="en-US" altLang="zh-CN" sz="1600" baseline="-25000" dirty="0">
                <a:solidFill>
                  <a:srgbClr val="000000"/>
                </a:solidFill>
                <a:latin typeface="Times New Roman" panose="02020603050405020304" pitchFamily="18" charset="0"/>
                <a:ea typeface="方正大黑简体" pitchFamily="2" charset="-122"/>
                <a:cs typeface="Times New Roman" panose="02020603050405020304" pitchFamily="18" charset="0"/>
              </a:rPr>
              <a:t>8421BCD</a:t>
            </a:r>
            <a:r>
              <a:rPr lang="zh-CN" altLang="en-US" sz="1600" dirty="0">
                <a:solidFill>
                  <a:srgbClr val="000000"/>
                </a:solidFill>
                <a:latin typeface="Times New Roman" panose="02020603050405020304" pitchFamily="18" charset="0"/>
                <a:ea typeface="方正大黑简体"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方正大黑简体" pitchFamily="2" charset="-122"/>
                <a:cs typeface="Times New Roman" panose="02020603050405020304" pitchFamily="18" charset="0"/>
              </a:rPr>
              <a:t>(5097)</a:t>
            </a:r>
            <a:r>
              <a:rPr lang="en-US" altLang="zh-CN" sz="1600" baseline="-25000" dirty="0">
                <a:solidFill>
                  <a:srgbClr val="000000"/>
                </a:solidFill>
                <a:latin typeface="Times New Roman" panose="02020603050405020304" pitchFamily="18" charset="0"/>
                <a:ea typeface="方正大黑简体" pitchFamily="2" charset="-122"/>
                <a:cs typeface="Times New Roman" panose="02020603050405020304" pitchFamily="18" charset="0"/>
              </a:rPr>
              <a:t>D</a:t>
            </a:r>
          </a:p>
        </p:txBody>
      </p:sp>
      <p:sp>
        <p:nvSpPr>
          <p:cNvPr id="26" name="Text Box 17">
            <a:extLst>
              <a:ext uri="{FF2B5EF4-FFF2-40B4-BE49-F238E27FC236}">
                <a16:creationId xmlns:a16="http://schemas.microsoft.com/office/drawing/2014/main" xmlns="" id="{EFE7C141-8C6B-442E-AC26-379F51F671AB}"/>
              </a:ext>
            </a:extLst>
          </p:cNvPr>
          <p:cNvSpPr txBox="1">
            <a:spLocks noChangeArrowheads="1"/>
          </p:cNvSpPr>
          <p:nvPr/>
        </p:nvSpPr>
        <p:spPr bwMode="auto">
          <a:xfrm>
            <a:off x="2250123" y="4548299"/>
            <a:ext cx="3423566" cy="338554"/>
          </a:xfrm>
          <a:prstGeom prst="rect">
            <a:avLst/>
          </a:prstGeom>
          <a:noFill/>
          <a:ln w="9525" algn="ctr">
            <a:noFill/>
            <a:miter lim="800000"/>
            <a:headEnd/>
            <a:tailEnd/>
          </a:ln>
          <a:effectLst/>
        </p:spPr>
        <p:txBody>
          <a:bodyPr wrap="none" lIns="0" rIns="0">
            <a:spAutoFit/>
          </a:bodyPr>
          <a:lstStyle/>
          <a:p>
            <a:pPr algn="l">
              <a:defRPr/>
            </a:pPr>
            <a:r>
              <a:rPr lang="en-US" altLang="zh-CN" sz="1600" dirty="0">
                <a:solidFill>
                  <a:srgbClr val="000000"/>
                </a:solidFill>
                <a:latin typeface="Times New Roman" panose="02020603050405020304" pitchFamily="18" charset="0"/>
                <a:ea typeface="方正大黑简体" pitchFamily="2" charset="-122"/>
                <a:cs typeface="Times New Roman" panose="02020603050405020304" pitchFamily="18" charset="0"/>
              </a:rPr>
              <a:t>[ 1101 0100 1011 0011 ]</a:t>
            </a:r>
            <a:r>
              <a:rPr lang="en-US" altLang="zh-CN" sz="1600" baseline="-25000" dirty="0">
                <a:solidFill>
                  <a:srgbClr val="000000"/>
                </a:solidFill>
                <a:latin typeface="Times New Roman" panose="02020603050405020304" pitchFamily="18" charset="0"/>
                <a:ea typeface="方正大黑简体" pitchFamily="2" charset="-122"/>
                <a:cs typeface="Times New Roman" panose="02020603050405020304" pitchFamily="18" charset="0"/>
              </a:rPr>
              <a:t>2421BCD</a:t>
            </a:r>
            <a:r>
              <a:rPr lang="zh-CN" altLang="en-US" sz="1600" dirty="0">
                <a:solidFill>
                  <a:srgbClr val="000000"/>
                </a:solidFill>
                <a:latin typeface="Times New Roman" panose="02020603050405020304" pitchFamily="18" charset="0"/>
                <a:ea typeface="方正大黑简体"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方正大黑简体" pitchFamily="2" charset="-122"/>
                <a:cs typeface="Times New Roman" panose="02020603050405020304" pitchFamily="18" charset="0"/>
              </a:rPr>
              <a:t>(7453)</a:t>
            </a:r>
            <a:r>
              <a:rPr lang="en-US" altLang="zh-CN" sz="1600" baseline="-25000" dirty="0">
                <a:solidFill>
                  <a:srgbClr val="000000"/>
                </a:solidFill>
                <a:latin typeface="Times New Roman" panose="02020603050405020304" pitchFamily="18" charset="0"/>
                <a:ea typeface="方正大黑简体" pitchFamily="2" charset="-122"/>
                <a:cs typeface="Times New Roman" panose="02020603050405020304" pitchFamily="18" charset="0"/>
              </a:rPr>
              <a:t>D</a:t>
            </a:r>
          </a:p>
        </p:txBody>
      </p:sp>
      <p:grpSp>
        <p:nvGrpSpPr>
          <p:cNvPr id="2" name="组合 1">
            <a:extLst>
              <a:ext uri="{FF2B5EF4-FFF2-40B4-BE49-F238E27FC236}">
                <a16:creationId xmlns:a16="http://schemas.microsoft.com/office/drawing/2014/main" xmlns="" id="{CF643BE5-EA00-4D35-B1F8-DD404CFC71DF}"/>
              </a:ext>
            </a:extLst>
          </p:cNvPr>
          <p:cNvGrpSpPr/>
          <p:nvPr/>
        </p:nvGrpSpPr>
        <p:grpSpPr>
          <a:xfrm>
            <a:off x="1997414" y="2406923"/>
            <a:ext cx="4745337" cy="1084306"/>
            <a:chOff x="1997415" y="2406923"/>
            <a:chExt cx="4160520" cy="1084306"/>
          </a:xfrm>
        </p:grpSpPr>
        <p:sp>
          <p:nvSpPr>
            <p:cNvPr id="6" name="矩形: 圆角 5">
              <a:extLst>
                <a:ext uri="{FF2B5EF4-FFF2-40B4-BE49-F238E27FC236}">
                  <a16:creationId xmlns:a16="http://schemas.microsoft.com/office/drawing/2014/main" xmlns="" id="{3919035F-24DF-4975-89DF-CE4A8613FFD3}"/>
                </a:ext>
              </a:extLst>
            </p:cNvPr>
            <p:cNvSpPr/>
            <p:nvPr/>
          </p:nvSpPr>
          <p:spPr>
            <a:xfrm>
              <a:off x="1997415" y="2406923"/>
              <a:ext cx="3934776" cy="1084306"/>
            </a:xfrm>
            <a:prstGeom prst="roundRect">
              <a:avLst>
                <a:gd name="adj" fmla="val 7531"/>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xmlns="" id="{19439684-B4F9-44F4-A3A7-BABF470264F8}"/>
                </a:ext>
              </a:extLst>
            </p:cNvPr>
            <p:cNvSpPr txBox="1"/>
            <p:nvPr/>
          </p:nvSpPr>
          <p:spPr>
            <a:xfrm>
              <a:off x="2052003" y="2482869"/>
              <a:ext cx="4105932" cy="873572"/>
            </a:xfrm>
            <a:prstGeom prst="rect">
              <a:avLst/>
            </a:prstGeom>
            <a:noFill/>
          </p:spPr>
          <p:txBody>
            <a:bodyPr wrap="square">
              <a:spAutoFit/>
            </a:bodyPr>
            <a:lstStyle/>
            <a:p>
              <a:pPr>
                <a:lnSpc>
                  <a:spcPct val="150000"/>
                </a:lnSpc>
              </a:pPr>
              <a:r>
                <a:rPr lang="en-US" altLang="zh-CN" sz="1800" kern="100" dirty="0">
                  <a:solidFill>
                    <a:schemeClr val="bg1"/>
                  </a:solidFill>
                  <a:effectLst/>
                  <a:latin typeface="Times New Roman" panose="02020603050405020304" pitchFamily="18" charset="0"/>
                  <a:ea typeface="宋体" panose="02010600030101010101" pitchFamily="2" charset="-122"/>
                </a:rPr>
                <a:t>(</a:t>
              </a:r>
              <a:r>
                <a:rPr lang="en-US" altLang="zh-CN" kern="100" dirty="0">
                  <a:solidFill>
                    <a:schemeClr val="bg1"/>
                  </a:solidFill>
                  <a:latin typeface="Times New Roman" panose="02020603050405020304" pitchFamily="18" charset="0"/>
                </a:rPr>
                <a:t>463.5)</a:t>
              </a:r>
              <a:r>
                <a:rPr lang="en-US" altLang="zh-CN" sz="1800" kern="100" baseline="-25000" dirty="0">
                  <a:solidFill>
                    <a:schemeClr val="bg1"/>
                  </a:solidFill>
                  <a:effectLst/>
                  <a:latin typeface="Times New Roman" panose="02020603050405020304" pitchFamily="18" charset="0"/>
                  <a:ea typeface="宋体" panose="02010600030101010101" pitchFamily="2" charset="-122"/>
                </a:rPr>
                <a:t>D </a:t>
              </a:r>
              <a:r>
                <a:rPr lang="en-US" altLang="zh-CN" sz="18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kern="100" dirty="0">
                  <a:solidFill>
                    <a:schemeClr val="bg1"/>
                  </a:solidFill>
                  <a:effectLst/>
                  <a:latin typeface="Times New Roman" panose="02020603050405020304" pitchFamily="18" charset="0"/>
                  <a:ea typeface="宋体" panose="02010600030101010101" pitchFamily="2" charset="-122"/>
                </a:rPr>
                <a:t>0100  0110  0011 . </a:t>
              </a:r>
              <a:r>
                <a:rPr lang="en-US" altLang="zh-CN" kern="100" dirty="0">
                  <a:solidFill>
                    <a:schemeClr val="bg1"/>
                  </a:solidFill>
                  <a:latin typeface="Times New Roman" panose="02020603050405020304" pitchFamily="18" charset="0"/>
                </a:rPr>
                <a:t>0101 ]</a:t>
              </a:r>
              <a:r>
                <a:rPr lang="en-US" altLang="zh-CN" kern="100" baseline="-25000" dirty="0">
                  <a:solidFill>
                    <a:schemeClr val="bg1"/>
                  </a:solidFill>
                  <a:latin typeface="Times New Roman" panose="02020603050405020304" pitchFamily="18" charset="0"/>
                </a:rPr>
                <a:t>8421BCD</a:t>
              </a:r>
            </a:p>
            <a:p>
              <a:pPr>
                <a:lnSpc>
                  <a:spcPct val="150000"/>
                </a:lnSpc>
              </a:pPr>
              <a:r>
                <a:rPr lang="en-US" altLang="zh-CN" sz="1800" kern="100" dirty="0">
                  <a:solidFill>
                    <a:schemeClr val="bg1"/>
                  </a:solidFill>
                  <a:effectLst/>
                  <a:latin typeface="Times New Roman" panose="02020603050405020304" pitchFamily="18" charset="0"/>
                  <a:ea typeface="宋体" panose="02010600030101010101" pitchFamily="2" charset="-122"/>
                </a:rPr>
                <a:t>(</a:t>
              </a:r>
              <a:r>
                <a:rPr lang="en-US" altLang="zh-CN" kern="100" dirty="0">
                  <a:solidFill>
                    <a:schemeClr val="bg1"/>
                  </a:solidFill>
                  <a:latin typeface="Times New Roman" panose="02020603050405020304" pitchFamily="18" charset="0"/>
                </a:rPr>
                <a:t>863.2)</a:t>
              </a:r>
              <a:r>
                <a:rPr lang="en-US" altLang="zh-CN" sz="1800" kern="100" baseline="-25000" dirty="0">
                  <a:solidFill>
                    <a:schemeClr val="bg1"/>
                  </a:solidFill>
                  <a:effectLst/>
                  <a:latin typeface="Times New Roman" panose="02020603050405020304" pitchFamily="18" charset="0"/>
                  <a:ea typeface="宋体" panose="02010600030101010101" pitchFamily="2" charset="-122"/>
                </a:rPr>
                <a:t>D</a:t>
              </a:r>
              <a:r>
                <a:rPr lang="en-US" altLang="zh-CN" sz="18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 [ </a:t>
              </a:r>
              <a:r>
                <a:rPr lang="en-US" altLang="zh-CN" sz="1800" kern="100" dirty="0">
                  <a:solidFill>
                    <a:schemeClr val="bg1"/>
                  </a:solidFill>
                  <a:effectLst/>
                  <a:latin typeface="Times New Roman" panose="02020603050405020304" pitchFamily="18" charset="0"/>
                  <a:ea typeface="宋体" panose="02010600030101010101" pitchFamily="2" charset="-122"/>
                </a:rPr>
                <a:t>1110  1100  0011 . 0010 </a:t>
              </a:r>
              <a:r>
                <a:rPr lang="en-US" altLang="zh-CN" kern="100" dirty="0">
                  <a:solidFill>
                    <a:schemeClr val="bg1"/>
                  </a:solidFill>
                  <a:latin typeface="Times New Roman" panose="02020603050405020304" pitchFamily="18" charset="0"/>
                </a:rPr>
                <a:t>]</a:t>
              </a:r>
              <a:r>
                <a:rPr lang="en-US" altLang="zh-CN" kern="100" baseline="-25000" dirty="0">
                  <a:solidFill>
                    <a:schemeClr val="bg1"/>
                  </a:solidFill>
                  <a:latin typeface="Times New Roman" panose="02020603050405020304" pitchFamily="18" charset="0"/>
                </a:rPr>
                <a:t>2421BCD</a:t>
              </a:r>
              <a:endParaRPr lang="zh-CN" altLang="en-US" baseline="-25000" dirty="0">
                <a:solidFill>
                  <a:schemeClr val="bg1"/>
                </a:solidFill>
              </a:endParaRPr>
            </a:p>
          </p:txBody>
        </p:sp>
      </p:grpSp>
      <p:grpSp>
        <p:nvGrpSpPr>
          <p:cNvPr id="34" name="组合 33">
            <a:extLst>
              <a:ext uri="{FF2B5EF4-FFF2-40B4-BE49-F238E27FC236}">
                <a16:creationId xmlns:a16="http://schemas.microsoft.com/office/drawing/2014/main" xmlns="" id="{C7C37EB2-CF1F-48FF-81AC-A47BBE5E1C42}"/>
              </a:ext>
            </a:extLst>
          </p:cNvPr>
          <p:cNvGrpSpPr/>
          <p:nvPr/>
        </p:nvGrpSpPr>
        <p:grpSpPr>
          <a:xfrm>
            <a:off x="3257706" y="2331359"/>
            <a:ext cx="2277272" cy="971846"/>
            <a:chOff x="3189126" y="2331359"/>
            <a:chExt cx="2277272" cy="971846"/>
          </a:xfrm>
        </p:grpSpPr>
        <p:sp>
          <p:nvSpPr>
            <p:cNvPr id="27" name="矩形: 圆角 26">
              <a:extLst>
                <a:ext uri="{FF2B5EF4-FFF2-40B4-BE49-F238E27FC236}">
                  <a16:creationId xmlns:a16="http://schemas.microsoft.com/office/drawing/2014/main" xmlns="" id="{FA547296-0F6D-4083-ACEC-CE6CF348560D}"/>
                </a:ext>
              </a:extLst>
            </p:cNvPr>
            <p:cNvSpPr/>
            <p:nvPr/>
          </p:nvSpPr>
          <p:spPr>
            <a:xfrm>
              <a:off x="3189126" y="2625871"/>
              <a:ext cx="168437" cy="269729"/>
            </a:xfrm>
            <a:prstGeom prst="roundRect">
              <a:avLst>
                <a:gd name="adj" fmla="val 7500"/>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a16="http://schemas.microsoft.com/office/drawing/2014/main" xmlns="" id="{77D1CE38-B9B2-4B88-A78E-3186F47B7D54}"/>
                </a:ext>
              </a:extLst>
            </p:cNvPr>
            <p:cNvSpPr/>
            <p:nvPr/>
          </p:nvSpPr>
          <p:spPr>
            <a:xfrm>
              <a:off x="5297961" y="3033476"/>
              <a:ext cx="168437" cy="269729"/>
            </a:xfrm>
            <a:prstGeom prst="roundRect">
              <a:avLst>
                <a:gd name="adj" fmla="val 7500"/>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xmlns="" id="{CD8C59FD-CD3E-4333-AC64-C304DA388FA2}"/>
                </a:ext>
              </a:extLst>
            </p:cNvPr>
            <p:cNvCxnSpPr>
              <a:cxnSpLocks/>
              <a:stCxn id="27" idx="0"/>
            </p:cNvCxnSpPr>
            <p:nvPr/>
          </p:nvCxnSpPr>
          <p:spPr>
            <a:xfrm flipV="1">
              <a:off x="3273345" y="2482869"/>
              <a:ext cx="498555" cy="14300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矩形: 圆角 37">
              <a:extLst>
                <a:ext uri="{FF2B5EF4-FFF2-40B4-BE49-F238E27FC236}">
                  <a16:creationId xmlns:a16="http://schemas.microsoft.com/office/drawing/2014/main" xmlns="" id="{86514176-ED7C-4DFD-A2CA-2684D7CEC667}"/>
                </a:ext>
              </a:extLst>
            </p:cNvPr>
            <p:cNvSpPr/>
            <p:nvPr/>
          </p:nvSpPr>
          <p:spPr>
            <a:xfrm>
              <a:off x="3766263" y="2331359"/>
              <a:ext cx="1356438" cy="269729"/>
            </a:xfrm>
            <a:prstGeom prst="roundRect">
              <a:avLst>
                <a:gd name="adj" fmla="val 7500"/>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黑体" panose="02010609060101010101" pitchFamily="49" charset="-122"/>
                  <a:ea typeface="黑体" panose="02010609060101010101" pitchFamily="49" charset="-122"/>
                </a:rPr>
                <a:t>不能省略</a:t>
              </a:r>
            </a:p>
          </p:txBody>
        </p:sp>
        <p:cxnSp>
          <p:nvCxnSpPr>
            <p:cNvPr id="39" name="直接连接符 38">
              <a:extLst>
                <a:ext uri="{FF2B5EF4-FFF2-40B4-BE49-F238E27FC236}">
                  <a16:creationId xmlns:a16="http://schemas.microsoft.com/office/drawing/2014/main" xmlns="" id="{239504D0-4C50-49B7-BEFF-4EBAEDE38FDF}"/>
                </a:ext>
              </a:extLst>
            </p:cNvPr>
            <p:cNvCxnSpPr>
              <a:cxnSpLocks/>
              <a:stCxn id="35" idx="0"/>
            </p:cNvCxnSpPr>
            <p:nvPr/>
          </p:nvCxnSpPr>
          <p:spPr>
            <a:xfrm flipH="1" flipV="1">
              <a:off x="5132731" y="2601088"/>
              <a:ext cx="249449" cy="4323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0681050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slide(fromBottom)">
                                      <p:cBhvr>
                                        <p:cTn id="14" dur="10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down)">
                                      <p:cBhvr>
                                        <p:cTn id="26" dur="10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slide(fromBottom)">
                                      <p:cBhvr>
                                        <p:cTn id="31" dur="1000"/>
                                        <p:tgtEl>
                                          <p:spTgt spid="24"/>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1000"/>
                                        <p:tgtEl>
                                          <p:spTgt spid="25"/>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left)">
                                      <p:cBhvr>
                                        <p:cTn id="39"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P spid="25" grpId="0"/>
      <p:bldP spid="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5"/>
          <p:cNvSpPr>
            <a:spLocks noChangeArrowheads="1"/>
          </p:cNvSpPr>
          <p:nvPr/>
        </p:nvSpPr>
        <p:spPr bwMode="auto">
          <a:xfrm>
            <a:off x="757106" y="3696462"/>
            <a:ext cx="8191450" cy="1281120"/>
          </a:xfrm>
          <a:prstGeom prst="rect">
            <a:avLst/>
          </a:prstGeom>
          <a:noFill/>
          <a:ln w="9525" algn="ctr">
            <a:noFill/>
            <a:miter lim="800000"/>
            <a:headEnd/>
            <a:tailEnd/>
          </a:ln>
        </p:spPr>
        <p:txBody>
          <a:bodyPr wrap="square" lIns="0" rIns="0">
            <a:spAutoFit/>
          </a:bodyPr>
          <a:lstStyle/>
          <a:p>
            <a:pPr marL="363538" indent="-363538" algn="l">
              <a:lnSpc>
                <a:spcPct val="125000"/>
              </a:lnSpc>
              <a:buSzPct val="80000"/>
              <a:buFont typeface="Wingdings" pitchFamily="2" charset="2"/>
              <a:buChar char="u"/>
            </a:pPr>
            <a:r>
              <a:rPr lang="zh-CN" altLang="en-US" sz="1600" dirty="0">
                <a:latin typeface="黑体" panose="02010609060101010101" pitchFamily="49" charset="-122"/>
                <a:ea typeface="黑体" panose="02010609060101010101" pitchFamily="49" charset="-122"/>
              </a:rPr>
              <a:t>格雷码是一种</a:t>
            </a:r>
            <a:r>
              <a:rPr lang="zh-CN" altLang="en-US" sz="1600" dirty="0">
                <a:solidFill>
                  <a:srgbClr val="6600FF"/>
                </a:solidFill>
                <a:latin typeface="方正粗黑宋简体" pitchFamily="2" charset="-122"/>
                <a:ea typeface="方正粗黑宋简体" pitchFamily="2" charset="-122"/>
              </a:rPr>
              <a:t>无权码</a:t>
            </a:r>
            <a:r>
              <a:rPr lang="zh-CN" altLang="en-US" sz="1600" dirty="0">
                <a:latin typeface="黑体" panose="02010609060101010101" pitchFamily="49" charset="-122"/>
                <a:ea typeface="黑体" panose="02010609060101010101" pitchFamily="49" charset="-122"/>
              </a:rPr>
              <a:t>。</a:t>
            </a:r>
          </a:p>
          <a:p>
            <a:pPr marL="363538" indent="-363538" algn="l">
              <a:lnSpc>
                <a:spcPct val="125000"/>
              </a:lnSpc>
              <a:buSzPct val="80000"/>
              <a:buFont typeface="Wingdings" pitchFamily="2" charset="2"/>
              <a:buChar char="u"/>
            </a:pPr>
            <a:r>
              <a:rPr lang="zh-CN" altLang="en-US" sz="1600" dirty="0">
                <a:latin typeface="黑体" panose="02010609060101010101" pitchFamily="49" charset="-122"/>
                <a:ea typeface="黑体" panose="02010609060101010101" pitchFamily="49" charset="-122"/>
              </a:rPr>
              <a:t>编码特点是：任何</a:t>
            </a:r>
            <a:r>
              <a:rPr lang="zh-CN" altLang="en-US" sz="1600" dirty="0">
                <a:solidFill>
                  <a:srgbClr val="6600FF"/>
                </a:solidFill>
                <a:latin typeface="方正粗黑宋简体" pitchFamily="2" charset="-122"/>
                <a:ea typeface="方正粗黑宋简体" pitchFamily="2" charset="-122"/>
              </a:rPr>
              <a:t>两个相邻代码之间仅有一位不同</a:t>
            </a:r>
            <a:r>
              <a:rPr lang="zh-CN" altLang="en-US" sz="1600" dirty="0">
                <a:latin typeface="黑体" panose="02010609060101010101" pitchFamily="49" charset="-122"/>
                <a:ea typeface="黑体" panose="02010609060101010101" pitchFamily="49" charset="-122"/>
              </a:rPr>
              <a:t>。</a:t>
            </a:r>
          </a:p>
          <a:p>
            <a:pPr marL="363538" indent="-363538" algn="l">
              <a:lnSpc>
                <a:spcPct val="125000"/>
              </a:lnSpc>
              <a:buSzPct val="80000"/>
              <a:buFont typeface="Wingdings" pitchFamily="2" charset="2"/>
              <a:buChar char="u"/>
            </a:pPr>
            <a:r>
              <a:rPr lang="zh-CN" altLang="en-US" sz="1600" dirty="0">
                <a:latin typeface="黑体" panose="02010609060101010101" pitchFamily="49" charset="-122"/>
                <a:ea typeface="黑体" panose="02010609060101010101" pitchFamily="49" charset="-122"/>
              </a:rPr>
              <a:t>常用于</a:t>
            </a:r>
            <a:r>
              <a:rPr lang="zh-CN" altLang="en-US" sz="1600" dirty="0">
                <a:solidFill>
                  <a:srgbClr val="6600FF"/>
                </a:solidFill>
                <a:latin typeface="方正粗黑宋简体" pitchFamily="2" charset="-122"/>
                <a:ea typeface="方正粗黑宋简体" pitchFamily="2" charset="-122"/>
              </a:rPr>
              <a:t>模拟量的转换</a:t>
            </a:r>
            <a:r>
              <a:rPr lang="zh-CN" altLang="en-US" sz="1600" dirty="0">
                <a:latin typeface="黑体" panose="02010609060101010101" pitchFamily="49" charset="-122"/>
                <a:ea typeface="黑体" panose="02010609060101010101" pitchFamily="49" charset="-122"/>
              </a:rPr>
              <a:t>。当模拟量发生微小变化，而可能引起数字量发生变化时，格雷码仅仅改变一位，这与其它码同时改变</a:t>
            </a:r>
            <a:r>
              <a:rPr lang="en-US" altLang="zh-CN" sz="1600" dirty="0">
                <a:latin typeface="黑体" panose="02010609060101010101" pitchFamily="49" charset="-122"/>
                <a:ea typeface="黑体" panose="02010609060101010101" pitchFamily="49" charset="-122"/>
              </a:rPr>
              <a:t>2</a:t>
            </a:r>
            <a:r>
              <a:rPr lang="zh-CN" altLang="en-US" sz="1600" dirty="0">
                <a:latin typeface="黑体" panose="02010609060101010101" pitchFamily="49" charset="-122"/>
                <a:ea typeface="黑体" panose="02010609060101010101" pitchFamily="49" charset="-122"/>
              </a:rPr>
              <a:t>位或更多的情况相比，更加可靠。</a:t>
            </a:r>
          </a:p>
        </p:txBody>
      </p:sp>
      <p:graphicFrame>
        <p:nvGraphicFramePr>
          <p:cNvPr id="37" name="Group 334"/>
          <p:cNvGraphicFramePr>
            <a:graphicFrameLocks noGrp="1"/>
          </p:cNvGraphicFramePr>
          <p:nvPr/>
        </p:nvGraphicFramePr>
        <p:xfrm>
          <a:off x="1419685" y="1474470"/>
          <a:ext cx="6211898" cy="2194560"/>
        </p:xfrm>
        <a:graphic>
          <a:graphicData uri="http://schemas.openxmlformats.org/drawingml/2006/table">
            <a:tbl>
              <a:tblPr/>
              <a:tblGrid>
                <a:gridCol w="1443400">
                  <a:extLst>
                    <a:ext uri="{9D8B030D-6E8A-4147-A177-3AD203B41FA5}">
                      <a16:colId xmlns:a16="http://schemas.microsoft.com/office/drawing/2014/main" xmlns="" val="20000"/>
                    </a:ext>
                  </a:extLst>
                </a:gridCol>
                <a:gridCol w="1533933">
                  <a:extLst>
                    <a:ext uri="{9D8B030D-6E8A-4147-A177-3AD203B41FA5}">
                      <a16:colId xmlns:a16="http://schemas.microsoft.com/office/drawing/2014/main" xmlns="" val="20001"/>
                    </a:ext>
                  </a:extLst>
                </a:gridCol>
                <a:gridCol w="112944">
                  <a:extLst>
                    <a:ext uri="{9D8B030D-6E8A-4147-A177-3AD203B41FA5}">
                      <a16:colId xmlns:a16="http://schemas.microsoft.com/office/drawing/2014/main" xmlns="" val="20002"/>
                    </a:ext>
                  </a:extLst>
                </a:gridCol>
                <a:gridCol w="1549099">
                  <a:extLst>
                    <a:ext uri="{9D8B030D-6E8A-4147-A177-3AD203B41FA5}">
                      <a16:colId xmlns:a16="http://schemas.microsoft.com/office/drawing/2014/main" xmlns="" val="20003"/>
                    </a:ext>
                  </a:extLst>
                </a:gridCol>
                <a:gridCol w="1572522">
                  <a:extLst>
                    <a:ext uri="{9D8B030D-6E8A-4147-A177-3AD203B41FA5}">
                      <a16:colId xmlns:a16="http://schemas.microsoft.com/office/drawing/2014/main" xmlns="" val="20004"/>
                    </a:ext>
                  </a:extLst>
                </a:gridCol>
              </a:tblGrid>
              <a:tr h="438912">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 二进制码</a:t>
                      </a:r>
                      <a:endPar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3</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2</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格雷码</a:t>
                      </a:r>
                      <a:endPar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3</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2</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C000"/>
                    </a:solidFill>
                  </a:tcPr>
                </a:tc>
                <a:tc rowSpan="9">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 二进制码</a:t>
                      </a:r>
                      <a:endPar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3</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2</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b</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格雷码</a:t>
                      </a:r>
                      <a:endPar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3</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2</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a:t>
                      </a: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G</a:t>
                      </a:r>
                      <a:r>
                        <a:rPr kumimoji="0" lang="en-US" altLang="zh-CN" sz="1400" b="0" i="0" u="none" strike="noStrike" cap="none" normalizeH="0" baseline="-2500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a:t>
                      </a:r>
                      <a:endParaRPr kumimoji="0" lang="zh-CN" altLang="en-US"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xmlns="" val="10000"/>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1"/>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2"/>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3"/>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0 0 1 0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4"/>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0" lang="en-US" altLang="zh-CN" sz="1600" b="1" i="0" u="none" strike="noStrike" cap="none" normalizeH="0" baseline="0" dirty="0">
                        <a:ln>
                          <a:noFill/>
                        </a:ln>
                        <a:solidFill>
                          <a:srgbClr val="000000"/>
                        </a:solidFill>
                        <a:effectLst/>
                        <a:latin typeface="Arial" charset="0"/>
                        <a:ea typeface="宋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5"/>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0" lang="en-US" altLang="zh-CN" sz="1600" b="1" i="0" u="none" strike="noStrike" cap="none" normalizeH="0" baseline="0" dirty="0">
                        <a:ln>
                          <a:noFill/>
                        </a:ln>
                        <a:solidFill>
                          <a:srgbClr val="000000"/>
                        </a:solidFill>
                        <a:effectLst/>
                        <a:latin typeface="Arial" charset="0"/>
                        <a:ea typeface="宋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6"/>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0" lang="en-US" altLang="zh-CN" sz="1600" b="1" i="0" u="none" strike="noStrike" cap="none" normalizeH="0" baseline="0" dirty="0">
                        <a:ln>
                          <a:noFill/>
                        </a:ln>
                        <a:solidFill>
                          <a:srgbClr val="000000"/>
                        </a:solidFill>
                        <a:effectLst/>
                        <a:latin typeface="Arial" charset="0"/>
                        <a:ea typeface="宋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1 1 1 0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1 0 0 1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7"/>
                  </a:ext>
                </a:extLst>
              </a:tr>
              <a:tr h="219456">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0 1 0 0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vMerge="1">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endParaRPr kumimoji="0" lang="en-US" altLang="zh-CN" sz="1600" b="1" i="0" u="none" strike="noStrike" cap="none" normalizeH="0" baseline="0" dirty="0">
                        <a:ln>
                          <a:noFill/>
                        </a:ln>
                        <a:solidFill>
                          <a:srgbClr val="000000"/>
                        </a:solidFill>
                        <a:effectLst/>
                        <a:latin typeface="Arial" charset="0"/>
                        <a:ea typeface="宋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1 1 1 1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anose="02020603050405020304" pitchFamily="18" charset="0"/>
                          <a:ea typeface="黑体" pitchFamily="49" charset="-122"/>
                          <a:cs typeface="Times New Roman" panose="02020603050405020304" pitchFamily="18" charset="0"/>
                        </a:rPr>
                        <a:t>1 0 0 0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xmlns="" val="10008"/>
                  </a:ext>
                </a:extLst>
              </a:tr>
            </a:tbl>
          </a:graphicData>
        </a:graphic>
      </p:graphicFrame>
      <p:grpSp>
        <p:nvGrpSpPr>
          <p:cNvPr id="10" name="组合 17">
            <a:extLst>
              <a:ext uri="{FF2B5EF4-FFF2-40B4-BE49-F238E27FC236}">
                <a16:creationId xmlns:a16="http://schemas.microsoft.com/office/drawing/2014/main" xmlns="" id="{BC52F725-B178-46C0-A461-3831F99EB9A3}"/>
              </a:ext>
            </a:extLst>
          </p:cNvPr>
          <p:cNvGrpSpPr/>
          <p:nvPr/>
        </p:nvGrpSpPr>
        <p:grpSpPr>
          <a:xfrm>
            <a:off x="392433" y="590448"/>
            <a:ext cx="3016361" cy="418885"/>
            <a:chOff x="670560" y="892917"/>
            <a:chExt cx="3016361" cy="465428"/>
          </a:xfrm>
        </p:grpSpPr>
        <p:sp>
          <p:nvSpPr>
            <p:cNvPr id="11" name="矩形 10">
              <a:extLst>
                <a:ext uri="{FF2B5EF4-FFF2-40B4-BE49-F238E27FC236}">
                  <a16:creationId xmlns:a16="http://schemas.microsoft.com/office/drawing/2014/main" xmlns="" id="{BF8EFF96-7653-47F4-AF55-DDF02DE06708}"/>
                </a:ext>
              </a:extLst>
            </p:cNvPr>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12" name="Picture 3">
              <a:extLst>
                <a:ext uri="{FF2B5EF4-FFF2-40B4-BE49-F238E27FC236}">
                  <a16:creationId xmlns:a16="http://schemas.microsoft.com/office/drawing/2014/main" xmlns="" id="{05DA1D92-C451-48C1-A319-791E2DA181B0}"/>
                </a:ext>
              </a:extLst>
            </p:cNvPr>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3" name="矩形 12">
            <a:extLst>
              <a:ext uri="{FF2B5EF4-FFF2-40B4-BE49-F238E27FC236}">
                <a16:creationId xmlns:a16="http://schemas.microsoft.com/office/drawing/2014/main" xmlns="" id="{483A3CCB-D5C5-417E-90B9-3222BDB3CFD0}"/>
              </a:ext>
            </a:extLst>
          </p:cNvPr>
          <p:cNvSpPr/>
          <p:nvPr/>
        </p:nvSpPr>
        <p:spPr>
          <a:xfrm>
            <a:off x="735332" y="967047"/>
            <a:ext cx="6517047" cy="412613"/>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2</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）格雷码</a:t>
            </a:r>
            <a:endParaRPr lang="en-US" altLang="zh-CN" dirty="0">
              <a:solidFill>
                <a:srgbClr val="262626"/>
              </a:solidFill>
              <a:latin typeface="黑体" pitchFamily="49" charset="-122"/>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slide(fromBottom)">
                                      <p:cBhvr>
                                        <p:cTn id="13" dur="1000"/>
                                        <p:tgtEl>
                                          <p:spTgt spid="37"/>
                                        </p:tgtEl>
                                      </p:cBhvr>
                                    </p:animEffect>
                                  </p:childTnLst>
                                </p:cTn>
                              </p:par>
                            </p:childTnLst>
                          </p:cTn>
                        </p:par>
                        <p:par>
                          <p:cTn id="14" fill="hold">
                            <p:stCondLst>
                              <p:cond delay="2000"/>
                            </p:stCondLst>
                            <p:childTnLst>
                              <p:par>
                                <p:cTn id="15" presetID="12" presetClass="entr" presetSubtype="4"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lide(fromBottom)">
                                      <p:cBhvr>
                                        <p:cTn id="17"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17">
            <a:extLst>
              <a:ext uri="{FF2B5EF4-FFF2-40B4-BE49-F238E27FC236}">
                <a16:creationId xmlns:a16="http://schemas.microsoft.com/office/drawing/2014/main" xmlns="" id="{BC52F725-B178-46C0-A461-3831F99EB9A3}"/>
              </a:ext>
            </a:extLst>
          </p:cNvPr>
          <p:cNvGrpSpPr/>
          <p:nvPr/>
        </p:nvGrpSpPr>
        <p:grpSpPr>
          <a:xfrm>
            <a:off x="392433" y="590448"/>
            <a:ext cx="3016361" cy="418885"/>
            <a:chOff x="670560" y="892917"/>
            <a:chExt cx="3016361" cy="465428"/>
          </a:xfrm>
        </p:grpSpPr>
        <p:sp>
          <p:nvSpPr>
            <p:cNvPr id="11" name="矩形 10">
              <a:extLst>
                <a:ext uri="{FF2B5EF4-FFF2-40B4-BE49-F238E27FC236}">
                  <a16:creationId xmlns:a16="http://schemas.microsoft.com/office/drawing/2014/main" xmlns="" id="{BF8EFF96-7653-47F4-AF55-DDF02DE06708}"/>
                </a:ext>
              </a:extLst>
            </p:cNvPr>
            <p:cNvSpPr/>
            <p:nvPr/>
          </p:nvSpPr>
          <p:spPr>
            <a:xfrm>
              <a:off x="1035233" y="913778"/>
              <a:ext cx="265168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、常用的二进制编码</a:t>
              </a:r>
            </a:p>
          </p:txBody>
        </p:sp>
        <p:pic>
          <p:nvPicPr>
            <p:cNvPr id="12" name="Picture 3">
              <a:extLst>
                <a:ext uri="{FF2B5EF4-FFF2-40B4-BE49-F238E27FC236}">
                  <a16:creationId xmlns:a16="http://schemas.microsoft.com/office/drawing/2014/main" xmlns="" id="{05DA1D92-C451-48C1-A319-791E2DA181B0}"/>
                </a:ext>
              </a:extLst>
            </p:cNvPr>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3" name="矩形 12">
            <a:extLst>
              <a:ext uri="{FF2B5EF4-FFF2-40B4-BE49-F238E27FC236}">
                <a16:creationId xmlns:a16="http://schemas.microsoft.com/office/drawing/2014/main" xmlns="" id="{483A3CCB-D5C5-417E-90B9-3222BDB3CFD0}"/>
              </a:ext>
            </a:extLst>
          </p:cNvPr>
          <p:cNvSpPr/>
          <p:nvPr/>
        </p:nvSpPr>
        <p:spPr>
          <a:xfrm>
            <a:off x="735331" y="967047"/>
            <a:ext cx="8178323" cy="418641"/>
          </a:xfrm>
          <a:prstGeom prst="rect">
            <a:avLst/>
          </a:prstGeom>
        </p:spPr>
        <p:txBody>
          <a:bodyPr wrap="square">
            <a:spAutoFit/>
          </a:bodyPr>
          <a:lstStyle/>
          <a:p>
            <a:pPr marL="355600" indent="-355600">
              <a:lnSpc>
                <a:spcPct val="125000"/>
              </a:lnSpc>
              <a:spcBef>
                <a:spcPct val="50000"/>
              </a:spcBef>
              <a:tabLst>
                <a:tab pos="4660900" algn="l"/>
              </a:tabLst>
            </a:pP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3</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ASCII</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码（</a:t>
            </a:r>
            <a:r>
              <a:rPr lang="en-US"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American Standard Code for Information Interchange</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endParaRPr lang="en-US" altLang="zh-CN"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endParaRPr>
          </a:p>
        </p:txBody>
      </p:sp>
      <p:sp>
        <p:nvSpPr>
          <p:cNvPr id="8" name="Rectangle 5">
            <a:extLst>
              <a:ext uri="{FF2B5EF4-FFF2-40B4-BE49-F238E27FC236}">
                <a16:creationId xmlns:a16="http://schemas.microsoft.com/office/drawing/2014/main" xmlns="" id="{3D37853B-D570-451C-8136-921DDBEF818D}"/>
              </a:ext>
            </a:extLst>
          </p:cNvPr>
          <p:cNvSpPr>
            <a:spLocks noChangeArrowheads="1"/>
          </p:cNvSpPr>
          <p:nvPr/>
        </p:nvSpPr>
        <p:spPr bwMode="auto">
          <a:xfrm>
            <a:off x="601346" y="1479360"/>
            <a:ext cx="3650615" cy="3108543"/>
          </a:xfrm>
          <a:prstGeom prst="rect">
            <a:avLst/>
          </a:prstGeom>
          <a:noFill/>
          <a:ln w="9525" algn="ctr">
            <a:noFill/>
            <a:miter lim="800000"/>
            <a:headEnd/>
            <a:tailEnd/>
          </a:ln>
        </p:spPr>
        <p:txBody>
          <a:bodyPr wrap="square" lIns="0" rIns="0">
            <a:spAutoFit/>
          </a:bodyPr>
          <a:lstStyle/>
          <a:p>
            <a:pPr marL="266700" indent="-266700">
              <a:lnSpc>
                <a:spcPct val="125000"/>
              </a:lnSpc>
              <a:spcBef>
                <a:spcPct val="50000"/>
              </a:spcBef>
              <a:buSzPct val="80000"/>
              <a:buFont typeface="Wingdings" pitchFamily="2" charset="2"/>
              <a:buChar char="u"/>
            </a:pPr>
            <a:r>
              <a:rPr lang="en-US" altLang="zh-CN" sz="1600" dirty="0">
                <a:latin typeface="Times New Roman" pitchFamily="18" charset="0"/>
                <a:ea typeface="黑体" panose="02010609060101010101" pitchFamily="49" charset="-122"/>
                <a:cs typeface="Times New Roman" pitchFamily="18" charset="0"/>
              </a:rPr>
              <a:t>ASCII</a:t>
            </a:r>
            <a:r>
              <a:rPr lang="zh-CN" altLang="en-US" sz="1600" dirty="0">
                <a:latin typeface="Times New Roman" pitchFamily="18" charset="0"/>
                <a:ea typeface="黑体" panose="02010609060101010101" pitchFamily="49" charset="-122"/>
                <a:cs typeface="Times New Roman" pitchFamily="18" charset="0"/>
              </a:rPr>
              <a:t>码即</a:t>
            </a:r>
            <a:r>
              <a:rPr lang="zh-CN" altLang="en-US" sz="1600" dirty="0">
                <a:solidFill>
                  <a:srgbClr val="6600FF"/>
                </a:solidFill>
                <a:latin typeface="Times New Roman" pitchFamily="18" charset="0"/>
                <a:ea typeface="黑体" panose="02010609060101010101" pitchFamily="49" charset="-122"/>
                <a:cs typeface="Times New Roman" pitchFamily="18" charset="0"/>
              </a:rPr>
              <a:t>美国标准信息交换码</a:t>
            </a:r>
            <a:r>
              <a:rPr lang="zh-CN" altLang="en-US" sz="1600" dirty="0">
                <a:latin typeface="Times New Roman" pitchFamily="18" charset="0"/>
                <a:ea typeface="黑体" panose="02010609060101010101" pitchFamily="49" charset="-122"/>
                <a:cs typeface="Times New Roman" pitchFamily="18" charset="0"/>
              </a:rPr>
              <a:t>。</a:t>
            </a:r>
            <a:endParaRPr lang="en-US" altLang="zh-CN" sz="1600" dirty="0">
              <a:latin typeface="Times New Roman" pitchFamily="18" charset="0"/>
              <a:ea typeface="黑体" panose="02010609060101010101" pitchFamily="49" charset="-122"/>
              <a:cs typeface="Times New Roman" pitchFamily="18" charset="0"/>
            </a:endParaRPr>
          </a:p>
          <a:p>
            <a:pPr marL="266700" indent="-266700">
              <a:lnSpc>
                <a:spcPct val="125000"/>
              </a:lnSpc>
              <a:spcBef>
                <a:spcPct val="50000"/>
              </a:spcBef>
              <a:buSzPct val="80000"/>
              <a:buFont typeface="Wingdings" pitchFamily="2" charset="2"/>
              <a:buChar char="u"/>
            </a:pPr>
            <a:r>
              <a:rPr lang="en-US" altLang="zh-CN" sz="1600" dirty="0">
                <a:latin typeface="Times New Roman" pitchFamily="18" charset="0"/>
                <a:ea typeface="黑体" panose="02010609060101010101" pitchFamily="49" charset="-122"/>
                <a:cs typeface="Times New Roman" pitchFamily="18" charset="0"/>
              </a:rPr>
              <a:t>ASCII </a:t>
            </a:r>
            <a:r>
              <a:rPr lang="zh-CN" altLang="en-US" sz="1600" dirty="0">
                <a:latin typeface="Times New Roman" pitchFamily="18" charset="0"/>
                <a:ea typeface="黑体" panose="02010609060101010101" pitchFamily="49" charset="-122"/>
                <a:cs typeface="Times New Roman" pitchFamily="18" charset="0"/>
              </a:rPr>
              <a:t>码使用指定的</a:t>
            </a:r>
            <a:r>
              <a:rPr lang="en-US" altLang="zh-CN" sz="1600" dirty="0">
                <a:latin typeface="Times New Roman" pitchFamily="18" charset="0"/>
                <a:ea typeface="黑体" panose="02010609060101010101" pitchFamily="49" charset="-122"/>
                <a:cs typeface="Times New Roman" pitchFamily="18" charset="0"/>
              </a:rPr>
              <a:t>7 </a:t>
            </a:r>
            <a:r>
              <a:rPr lang="zh-CN" altLang="en-US" sz="1600" dirty="0">
                <a:latin typeface="Times New Roman" pitchFamily="18" charset="0"/>
                <a:ea typeface="黑体" panose="02010609060101010101" pitchFamily="49" charset="-122"/>
                <a:cs typeface="Times New Roman" pitchFamily="18" charset="0"/>
              </a:rPr>
              <a:t>位或</a:t>
            </a:r>
            <a:r>
              <a:rPr lang="en-US" altLang="zh-CN" sz="1600" dirty="0">
                <a:latin typeface="Times New Roman" pitchFamily="18" charset="0"/>
                <a:ea typeface="黑体" panose="02010609060101010101" pitchFamily="49" charset="-122"/>
                <a:cs typeface="Times New Roman" pitchFamily="18" charset="0"/>
              </a:rPr>
              <a:t>8 </a:t>
            </a:r>
            <a:r>
              <a:rPr lang="zh-CN" altLang="en-US" sz="1600" dirty="0">
                <a:latin typeface="Times New Roman" pitchFamily="18" charset="0"/>
                <a:ea typeface="黑体" panose="02010609060101010101" pitchFamily="49" charset="-122"/>
                <a:cs typeface="Times New Roman" pitchFamily="18" charset="0"/>
              </a:rPr>
              <a:t>位二进制数组合来表示</a:t>
            </a:r>
            <a:r>
              <a:rPr lang="en-US" altLang="zh-CN" sz="1600" dirty="0">
                <a:latin typeface="Times New Roman" pitchFamily="18" charset="0"/>
                <a:ea typeface="黑体" panose="02010609060101010101" pitchFamily="49" charset="-122"/>
                <a:cs typeface="Times New Roman" pitchFamily="18" charset="0"/>
              </a:rPr>
              <a:t>128 </a:t>
            </a:r>
            <a:r>
              <a:rPr lang="zh-CN" altLang="en-US" sz="1600" dirty="0">
                <a:latin typeface="Times New Roman" pitchFamily="18" charset="0"/>
                <a:ea typeface="黑体" panose="02010609060101010101" pitchFamily="49" charset="-122"/>
                <a:cs typeface="Times New Roman" pitchFamily="18" charset="0"/>
              </a:rPr>
              <a:t>或</a:t>
            </a:r>
            <a:r>
              <a:rPr lang="en-US" altLang="zh-CN" sz="1600" dirty="0">
                <a:latin typeface="Times New Roman" pitchFamily="18" charset="0"/>
                <a:ea typeface="黑体" panose="02010609060101010101" pitchFamily="49" charset="-122"/>
                <a:cs typeface="Times New Roman" pitchFamily="18" charset="0"/>
              </a:rPr>
              <a:t>256 </a:t>
            </a:r>
            <a:r>
              <a:rPr lang="zh-CN" altLang="en-US" sz="1600" dirty="0">
                <a:latin typeface="Times New Roman" pitchFamily="18" charset="0"/>
                <a:ea typeface="黑体" panose="02010609060101010101" pitchFamily="49" charset="-122"/>
                <a:cs typeface="Times New Roman" pitchFamily="18" charset="0"/>
              </a:rPr>
              <a:t>种可能的字符。</a:t>
            </a:r>
            <a:endParaRPr lang="en-US" altLang="zh-CN" sz="1600" dirty="0">
              <a:latin typeface="Times New Roman" pitchFamily="18" charset="0"/>
              <a:ea typeface="黑体" panose="02010609060101010101" pitchFamily="49" charset="-122"/>
              <a:cs typeface="Times New Roman" pitchFamily="18" charset="0"/>
            </a:endParaRPr>
          </a:p>
          <a:p>
            <a:pPr marL="266700" indent="-266700">
              <a:lnSpc>
                <a:spcPct val="125000"/>
              </a:lnSpc>
              <a:spcBef>
                <a:spcPct val="50000"/>
              </a:spcBef>
              <a:buSzPct val="80000"/>
              <a:buFont typeface="Wingdings" pitchFamily="2" charset="2"/>
              <a:buChar char="u"/>
            </a:pPr>
            <a:r>
              <a:rPr lang="zh-CN" altLang="en-US" sz="1600" dirty="0">
                <a:solidFill>
                  <a:srgbClr val="6600FF"/>
                </a:solidFill>
                <a:latin typeface="Times New Roman" pitchFamily="18" charset="0"/>
                <a:ea typeface="黑体" panose="02010609060101010101" pitchFamily="49" charset="-122"/>
                <a:cs typeface="Times New Roman" pitchFamily="18" charset="0"/>
              </a:rPr>
              <a:t>标准</a:t>
            </a:r>
            <a:r>
              <a:rPr lang="en-US" altLang="zh-CN" sz="1600" dirty="0">
                <a:solidFill>
                  <a:srgbClr val="6600FF"/>
                </a:solidFill>
                <a:latin typeface="Times New Roman" pitchFamily="18" charset="0"/>
                <a:ea typeface="黑体" panose="02010609060101010101" pitchFamily="49" charset="-122"/>
                <a:cs typeface="Times New Roman" pitchFamily="18" charset="0"/>
              </a:rPr>
              <a:t>ASCII </a:t>
            </a:r>
            <a:r>
              <a:rPr lang="zh-CN" altLang="en-US" sz="1600" dirty="0">
                <a:solidFill>
                  <a:srgbClr val="6600FF"/>
                </a:solidFill>
                <a:latin typeface="Times New Roman" pitchFamily="18" charset="0"/>
                <a:ea typeface="黑体" panose="02010609060101010101" pitchFamily="49" charset="-122"/>
                <a:cs typeface="Times New Roman" pitchFamily="18" charset="0"/>
              </a:rPr>
              <a:t>码</a:t>
            </a:r>
            <a:r>
              <a:rPr lang="zh-CN" altLang="en-US" sz="1600" dirty="0">
                <a:latin typeface="Times New Roman" pitchFamily="18" charset="0"/>
                <a:ea typeface="黑体" panose="02010609060101010101" pitchFamily="49" charset="-122"/>
                <a:cs typeface="Times New Roman" pitchFamily="18" charset="0"/>
              </a:rPr>
              <a:t>也叫基础</a:t>
            </a:r>
            <a:r>
              <a:rPr lang="en-US" altLang="zh-CN" sz="1600" dirty="0">
                <a:latin typeface="Times New Roman" pitchFamily="18" charset="0"/>
                <a:ea typeface="黑体" panose="02010609060101010101" pitchFamily="49" charset="-122"/>
                <a:cs typeface="Times New Roman" pitchFamily="18" charset="0"/>
              </a:rPr>
              <a:t>ASCII</a:t>
            </a:r>
            <a:r>
              <a:rPr lang="zh-CN" altLang="en-US" sz="1600" dirty="0">
                <a:latin typeface="Times New Roman" pitchFamily="18" charset="0"/>
                <a:ea typeface="黑体" panose="02010609060101010101" pitchFamily="49" charset="-122"/>
                <a:cs typeface="Times New Roman" pitchFamily="18" charset="0"/>
              </a:rPr>
              <a:t>码，使用</a:t>
            </a:r>
            <a:r>
              <a:rPr lang="en-US" altLang="zh-CN" sz="1600" dirty="0">
                <a:latin typeface="Times New Roman" pitchFamily="18" charset="0"/>
                <a:ea typeface="黑体" panose="02010609060101010101" pitchFamily="49" charset="-122"/>
                <a:cs typeface="Times New Roman" pitchFamily="18" charset="0"/>
              </a:rPr>
              <a:t>7 </a:t>
            </a:r>
            <a:r>
              <a:rPr lang="zh-CN" altLang="en-US" sz="1600" dirty="0">
                <a:latin typeface="Times New Roman" pitchFamily="18" charset="0"/>
                <a:ea typeface="黑体" panose="02010609060101010101" pitchFamily="49" charset="-122"/>
                <a:cs typeface="Times New Roman" pitchFamily="18" charset="0"/>
              </a:rPr>
              <a:t>位二进制数（剩下的</a:t>
            </a:r>
            <a:r>
              <a:rPr lang="en-US" altLang="zh-CN" sz="1600" dirty="0">
                <a:latin typeface="Times New Roman" pitchFamily="18" charset="0"/>
                <a:ea typeface="黑体" panose="02010609060101010101" pitchFamily="49" charset="-122"/>
                <a:cs typeface="Times New Roman" pitchFamily="18" charset="0"/>
              </a:rPr>
              <a:t>1</a:t>
            </a:r>
            <a:r>
              <a:rPr lang="zh-CN" altLang="en-US" sz="1600" dirty="0">
                <a:latin typeface="Times New Roman" pitchFamily="18" charset="0"/>
                <a:ea typeface="黑体" panose="02010609060101010101" pitchFamily="49" charset="-122"/>
                <a:cs typeface="Times New Roman" pitchFamily="18" charset="0"/>
              </a:rPr>
              <a:t>位二进制为</a:t>
            </a:r>
            <a:r>
              <a:rPr lang="en-US" altLang="zh-CN" sz="1600" dirty="0">
                <a:latin typeface="Times New Roman" pitchFamily="18" charset="0"/>
                <a:ea typeface="黑体" panose="02010609060101010101" pitchFamily="49" charset="-122"/>
                <a:cs typeface="Times New Roman" pitchFamily="18" charset="0"/>
              </a:rPr>
              <a:t>0</a:t>
            </a:r>
            <a:r>
              <a:rPr lang="zh-CN" altLang="en-US" sz="1600" dirty="0">
                <a:latin typeface="Times New Roman" pitchFamily="18" charset="0"/>
                <a:ea typeface="黑体" panose="02010609060101010101" pitchFamily="49" charset="-122"/>
                <a:cs typeface="Times New Roman" pitchFamily="18" charset="0"/>
              </a:rPr>
              <a:t>）来表示所有的大写和小写字母，数字</a:t>
            </a:r>
            <a:r>
              <a:rPr lang="en-US" altLang="zh-CN" sz="1600" dirty="0">
                <a:latin typeface="Times New Roman" pitchFamily="18" charset="0"/>
                <a:ea typeface="黑体" panose="02010609060101010101" pitchFamily="49" charset="-122"/>
                <a:cs typeface="Times New Roman" pitchFamily="18" charset="0"/>
              </a:rPr>
              <a:t>0 </a:t>
            </a:r>
            <a:r>
              <a:rPr lang="zh-CN" altLang="en-US" sz="1600" dirty="0">
                <a:latin typeface="Times New Roman" pitchFamily="18" charset="0"/>
                <a:ea typeface="黑体" panose="02010609060101010101" pitchFamily="49" charset="-122"/>
                <a:cs typeface="Times New Roman" pitchFamily="18" charset="0"/>
              </a:rPr>
              <a:t>到</a:t>
            </a:r>
            <a:r>
              <a:rPr lang="en-US" altLang="zh-CN" sz="1600" dirty="0">
                <a:latin typeface="Times New Roman" pitchFamily="18" charset="0"/>
                <a:ea typeface="黑体" panose="02010609060101010101" pitchFamily="49" charset="-122"/>
                <a:cs typeface="Times New Roman" pitchFamily="18" charset="0"/>
              </a:rPr>
              <a:t>9</a:t>
            </a:r>
            <a:r>
              <a:rPr lang="zh-CN" altLang="en-US" sz="1600" dirty="0">
                <a:latin typeface="Times New Roman" pitchFamily="18" charset="0"/>
                <a:ea typeface="黑体" panose="02010609060101010101" pitchFamily="49" charset="-122"/>
                <a:cs typeface="Times New Roman" pitchFamily="18" charset="0"/>
              </a:rPr>
              <a:t>、标点符号，以及在美式英语中使用的特殊控制字符，普遍用于</a:t>
            </a:r>
            <a:r>
              <a:rPr lang="zh-CN" altLang="en-US" sz="1600" dirty="0">
                <a:solidFill>
                  <a:srgbClr val="6600FF"/>
                </a:solidFill>
                <a:latin typeface="Times New Roman" pitchFamily="18" charset="0"/>
                <a:ea typeface="黑体" panose="02010609060101010101" pitchFamily="49" charset="-122"/>
                <a:cs typeface="Times New Roman" pitchFamily="18" charset="0"/>
              </a:rPr>
              <a:t>计算机的键盘指令输入和数据</a:t>
            </a:r>
            <a:r>
              <a:rPr lang="zh-CN" altLang="en-US" sz="1600" dirty="0">
                <a:latin typeface="Times New Roman" pitchFamily="18" charset="0"/>
                <a:ea typeface="黑体" panose="02010609060101010101" pitchFamily="49" charset="-122"/>
                <a:cs typeface="Times New Roman" pitchFamily="18" charset="0"/>
              </a:rPr>
              <a:t>等。</a:t>
            </a:r>
            <a:r>
              <a:rPr lang="en-US" altLang="zh-CN" sz="1600" dirty="0">
                <a:latin typeface="Times New Roman" pitchFamily="18" charset="0"/>
                <a:ea typeface="黑体" panose="02010609060101010101" pitchFamily="49" charset="-122"/>
                <a:cs typeface="Times New Roman" pitchFamily="18" charset="0"/>
              </a:rPr>
              <a:t> </a:t>
            </a:r>
            <a:endParaRPr lang="zh-CN" altLang="en-US" sz="1600" dirty="0">
              <a:latin typeface="Times New Roman" pitchFamily="18" charset="0"/>
              <a:ea typeface="黑体" panose="02010609060101010101" pitchFamily="49" charset="-122"/>
              <a:cs typeface="Times New Roman" pitchFamily="18" charset="0"/>
            </a:endParaRPr>
          </a:p>
        </p:txBody>
      </p:sp>
      <p:pic>
        <p:nvPicPr>
          <p:cNvPr id="9" name="Picture 2" descr="https://bkimg.cdn.bcebos.com/pic/e850352ac65c103880a07b53bc119313b17e8941?x-bce-process=image/watermark,g_7,image_d2F0ZXIvYmFpa2UxMTY=,xp_5,yp_5">
            <a:extLst>
              <a:ext uri="{FF2B5EF4-FFF2-40B4-BE49-F238E27FC236}">
                <a16:creationId xmlns:a16="http://schemas.microsoft.com/office/drawing/2014/main" xmlns="" id="{9A520112-4121-489A-8353-03146BBB1F62}"/>
              </a:ext>
            </a:extLst>
          </p:cNvPr>
          <p:cNvPicPr>
            <a:picLocks noChangeAspect="1" noChangeArrowheads="1"/>
          </p:cNvPicPr>
          <p:nvPr/>
        </p:nvPicPr>
        <p:blipFill>
          <a:blip r:embed="rId4" cstate="print"/>
          <a:srcRect/>
          <a:stretch>
            <a:fillRect/>
          </a:stretch>
        </p:blipFill>
        <p:spPr bwMode="auto">
          <a:xfrm>
            <a:off x="4378849" y="1611614"/>
            <a:ext cx="4699323" cy="2932466"/>
          </a:xfrm>
          <a:prstGeom prst="rect">
            <a:avLst/>
          </a:prstGeom>
          <a:noFill/>
        </p:spPr>
      </p:pic>
    </p:spTree>
    <p:extLst>
      <p:ext uri="{BB962C8B-B14F-4D97-AF65-F5344CB8AC3E}">
        <p14:creationId xmlns:p14="http://schemas.microsoft.com/office/powerpoint/2010/main" val="38058903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slide(fromBottom)">
                                      <p:cBhvr>
                                        <p:cTn id="13" dur="1000"/>
                                        <p:tgtEl>
                                          <p:spTgt spid="8"/>
                                        </p:tgtEl>
                                      </p:cBhvr>
                                    </p:animEffect>
                                  </p:childTnLst>
                                </p:cTn>
                              </p:par>
                            </p:childTnLst>
                          </p:cTn>
                        </p:par>
                        <p:par>
                          <p:cTn id="14" fill="hold">
                            <p:stCondLst>
                              <p:cond delay="2000"/>
                            </p:stCondLst>
                            <p:childTnLst>
                              <p:par>
                                <p:cTn id="15" presetID="12" presetClass="entr" presetSubtype="4"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Bottom)">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041354" y="1642111"/>
            <a:ext cx="6772956" cy="1865100"/>
            <a:chOff x="1041354" y="1824567"/>
            <a:chExt cx="6772956" cy="2072333"/>
          </a:xfrm>
        </p:grpSpPr>
        <p:grpSp>
          <p:nvGrpSpPr>
            <p:cNvPr id="17" name="组合 16"/>
            <p:cNvGrpSpPr/>
            <p:nvPr/>
          </p:nvGrpSpPr>
          <p:grpSpPr>
            <a:xfrm>
              <a:off x="1101090" y="1824567"/>
              <a:ext cx="1371600" cy="760000"/>
              <a:chOff x="1101090" y="1824567"/>
              <a:chExt cx="1371600" cy="760000"/>
            </a:xfrm>
          </p:grpSpPr>
          <p:grpSp>
            <p:nvGrpSpPr>
              <p:cNvPr id="3" name="组合 35"/>
              <p:cNvGrpSpPr/>
              <p:nvPr/>
            </p:nvGrpSpPr>
            <p:grpSpPr>
              <a:xfrm>
                <a:off x="1101090" y="1972734"/>
                <a:ext cx="1371600" cy="110067"/>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 name="组合 36"/>
              <p:cNvGrpSpPr/>
              <p:nvPr/>
            </p:nvGrpSpPr>
            <p:grpSpPr>
              <a:xfrm rot="5400000">
                <a:off x="986715" y="2155037"/>
                <a:ext cx="760000" cy="9906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8" name="组合 17"/>
            <p:cNvGrpSpPr/>
            <p:nvPr/>
          </p:nvGrpSpPr>
          <p:grpSpPr>
            <a:xfrm>
              <a:off x="6442710" y="3136900"/>
              <a:ext cx="1371600" cy="760000"/>
              <a:chOff x="6442710" y="3136900"/>
              <a:chExt cx="1371600" cy="760000"/>
            </a:xfrm>
          </p:grpSpPr>
          <p:grpSp>
            <p:nvGrpSpPr>
              <p:cNvPr id="6" name="组合 35"/>
              <p:cNvGrpSpPr/>
              <p:nvPr/>
            </p:nvGrpSpPr>
            <p:grpSpPr>
              <a:xfrm rot="10800000">
                <a:off x="6442710" y="3638667"/>
                <a:ext cx="1371600" cy="110067"/>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7" name="组合 36"/>
              <p:cNvGrpSpPr/>
              <p:nvPr/>
            </p:nvGrpSpPr>
            <p:grpSpPr>
              <a:xfrm rot="16200000">
                <a:off x="7092485" y="3467370"/>
                <a:ext cx="760000" cy="9906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041354" y="2166579"/>
              <a:ext cx="6746286" cy="1427741"/>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1</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章 数字逻辑基础</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1.5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itchFamily="2" charset="-122"/>
                  <a:ea typeface="方正粗黑宋简体" pitchFamily="2" charset="-122"/>
                </a:rPr>
                <a:t>基本逻辑运算及逻辑函数表达方法</a:t>
              </a:r>
            </a:p>
          </p:txBody>
        </p:sp>
      </p:grpSp>
      <p:sp>
        <p:nvSpPr>
          <p:cNvPr id="37890" name="AutoShape 2" descr="http://img1.imgtn.bdimg.com/it/u=2942258362,1117296489&amp;fm=26&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fltVal val="0"/>
                                          </p:val>
                                        </p:tav>
                                        <p:tav tm="100000">
                                          <p:val>
                                            <p:strVal val="#ppt_w"/>
                                          </p:val>
                                        </p:tav>
                                      </p:tavLst>
                                    </p:anim>
                                    <p:anim calcmode="lin" valueType="num">
                                      <p:cBhvr>
                                        <p:cTn id="8" dur="10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7"/>
          <p:cNvGrpSpPr/>
          <p:nvPr/>
        </p:nvGrpSpPr>
        <p:grpSpPr>
          <a:xfrm>
            <a:off x="392433" y="702128"/>
            <a:ext cx="3272841" cy="418885"/>
            <a:chOff x="670560" y="892917"/>
            <a:chExt cx="3272841" cy="465428"/>
          </a:xfrm>
        </p:grpSpPr>
        <p:sp>
          <p:nvSpPr>
            <p:cNvPr id="5" name="矩形 4"/>
            <p:cNvSpPr/>
            <p:nvPr/>
          </p:nvSpPr>
          <p:spPr>
            <a:xfrm>
              <a:off x="1035233" y="913778"/>
              <a:ext cx="2908168"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1</a:t>
              </a:r>
              <a:r>
                <a:rPr lang="zh-CN" altLang="en-US" sz="2000" b="1" dirty="0">
                  <a:solidFill>
                    <a:srgbClr val="002060"/>
                  </a:solidFill>
                  <a:latin typeface="微软雅黑" pitchFamily="34" charset="-122"/>
                  <a:ea typeface="微软雅黑" pitchFamily="34" charset="-122"/>
                </a:rPr>
                <a:t>、逻辑运算的基本概念</a:t>
              </a:r>
            </a:p>
          </p:txBody>
        </p:sp>
        <p:pic>
          <p:nvPicPr>
            <p:cNvPr id="6"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3" name="Rectangle 5"/>
          <p:cNvSpPr>
            <a:spLocks noChangeArrowheads="1"/>
          </p:cNvSpPr>
          <p:nvPr/>
        </p:nvSpPr>
        <p:spPr bwMode="auto">
          <a:xfrm>
            <a:off x="867093" y="1138143"/>
            <a:ext cx="7949361" cy="684739"/>
          </a:xfrm>
          <a:prstGeom prst="rect">
            <a:avLst/>
          </a:prstGeom>
          <a:noFill/>
          <a:ln w="9525" algn="ctr">
            <a:noFill/>
            <a:miter lim="800000"/>
            <a:headEnd/>
            <a:tailEnd/>
          </a:ln>
        </p:spPr>
        <p:txBody>
          <a:bodyPr wrap="square" lIns="0" rIns="0">
            <a:spAutoFit/>
          </a:bodyPr>
          <a:lstStyle/>
          <a:p>
            <a:pPr marL="363538" indent="-363538">
              <a:lnSpc>
                <a:spcPct val="125000"/>
              </a:lnSpc>
              <a:spcBef>
                <a:spcPts val="1200"/>
              </a:spcBef>
              <a:buSzPct val="90000"/>
              <a:buFont typeface="Wingdings" pitchFamily="2" charset="2"/>
              <a:buChar char="Ø"/>
            </a:pPr>
            <a:r>
              <a:rPr lang="zh-CN" altLang="en-US" sz="1600" dirty="0">
                <a:solidFill>
                  <a:srgbClr val="262626"/>
                </a:solidFill>
                <a:latin typeface="黑体" pitchFamily="49" charset="-122"/>
                <a:ea typeface="黑体" pitchFamily="49" charset="-122"/>
              </a:rPr>
              <a:t>当</a:t>
            </a:r>
            <a:r>
              <a:rPr lang="en-US" altLang="zh-CN" sz="1600" dirty="0">
                <a:solidFill>
                  <a:srgbClr val="262626"/>
                </a:solidFill>
                <a:latin typeface="黑体" pitchFamily="49" charset="-122"/>
                <a:ea typeface="黑体" pitchFamily="49" charset="-122"/>
              </a:rPr>
              <a:t>0</a:t>
            </a:r>
            <a:r>
              <a:rPr lang="zh-CN" altLang="en-US" sz="1600" dirty="0">
                <a:solidFill>
                  <a:srgbClr val="262626"/>
                </a:solidFill>
                <a:latin typeface="黑体" pitchFamily="49" charset="-122"/>
                <a:ea typeface="黑体" pitchFamily="49" charset="-122"/>
              </a:rPr>
              <a:t>和</a:t>
            </a:r>
            <a:r>
              <a:rPr lang="en-US" altLang="zh-CN" sz="1600" dirty="0">
                <a:solidFill>
                  <a:srgbClr val="262626"/>
                </a:solidFill>
                <a:latin typeface="黑体" pitchFamily="49" charset="-122"/>
                <a:ea typeface="黑体" pitchFamily="49" charset="-122"/>
              </a:rPr>
              <a:t>1</a:t>
            </a:r>
            <a:r>
              <a:rPr lang="zh-CN" altLang="en-US" sz="1600" dirty="0">
                <a:solidFill>
                  <a:srgbClr val="262626"/>
                </a:solidFill>
                <a:latin typeface="黑体" pitchFamily="49" charset="-122"/>
                <a:ea typeface="黑体" pitchFamily="49" charset="-122"/>
              </a:rPr>
              <a:t>表示逻辑状态时，两个二进制数码按照某种特定的因果关系进行的运算称</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逻辑运算</a:t>
            </a:r>
            <a:r>
              <a:rPr lang="zh-CN" altLang="en-US" sz="1600" dirty="0">
                <a:solidFill>
                  <a:srgbClr val="262626"/>
                </a:solidFill>
                <a:latin typeface="黑体" pitchFamily="49" charset="-122"/>
                <a:ea typeface="黑体" pitchFamily="49" charset="-122"/>
              </a:rPr>
              <a:t>。逻辑运算的数学工具是</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布尔代数</a:t>
            </a:r>
            <a:r>
              <a:rPr lang="zh-CN" altLang="en-US" sz="1600" dirty="0">
                <a:solidFill>
                  <a:srgbClr val="262626"/>
                </a:solidFill>
                <a:latin typeface="黑体" pitchFamily="49" charset="-122"/>
                <a:ea typeface="黑体" pitchFamily="49" charset="-122"/>
              </a:rPr>
              <a:t>。</a:t>
            </a:r>
            <a:endParaRPr lang="en-US" altLang="zh-CN" sz="1600" dirty="0">
              <a:solidFill>
                <a:srgbClr val="262626"/>
              </a:solidFill>
              <a:latin typeface="黑体" pitchFamily="49" charset="-122"/>
              <a:ea typeface="黑体" pitchFamily="49" charset="-122"/>
            </a:endParaRPr>
          </a:p>
        </p:txBody>
      </p:sp>
      <p:sp>
        <p:nvSpPr>
          <p:cNvPr id="10" name="矩形 9"/>
          <p:cNvSpPr/>
          <p:nvPr/>
        </p:nvSpPr>
        <p:spPr>
          <a:xfrm>
            <a:off x="735333" y="4279371"/>
            <a:ext cx="7942997" cy="464551"/>
          </a:xfrm>
          <a:prstGeom prst="rect">
            <a:avLst/>
          </a:prstGeom>
        </p:spPr>
        <p:txBody>
          <a:bodyPr wrap="square">
            <a:spAutoFit/>
          </a:bodyPr>
          <a:lstStyle/>
          <a:p>
            <a:pPr marL="363538" indent="-363538" algn="ctr">
              <a:lnSpc>
                <a:spcPct val="150000"/>
              </a:lnSpc>
              <a:spcBef>
                <a:spcPts val="600"/>
              </a:spcBef>
              <a:buSzPct val="90000"/>
            </a:pPr>
            <a:r>
              <a:rPr lang="zh-CN" altLang="en-US" dirty="0">
                <a:solidFill>
                  <a:srgbClr val="262626"/>
                </a:solidFill>
                <a:latin typeface="黑体" pitchFamily="49" charset="-122"/>
                <a:ea typeface="黑体" pitchFamily="49" charset="-122"/>
              </a:rPr>
              <a:t>三种基本的逻辑运算：</a:t>
            </a:r>
            <a:r>
              <a:rPr lang="zh-CN" altLang="en-US"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与、或、非</a:t>
            </a:r>
            <a:endParaRPr lang="zh-CN" altLang="en-US" dirty="0">
              <a:solidFill>
                <a:srgbClr val="000000"/>
              </a:solidFill>
              <a:latin typeface="微软雅黑" pitchFamily="34" charset="-122"/>
              <a:ea typeface="微软雅黑" pitchFamily="34" charset="-122"/>
            </a:endParaRPr>
          </a:p>
        </p:txBody>
      </p:sp>
      <p:sp>
        <p:nvSpPr>
          <p:cNvPr id="11" name="矩形 10"/>
          <p:cNvSpPr/>
          <p:nvPr/>
        </p:nvSpPr>
        <p:spPr>
          <a:xfrm>
            <a:off x="1153380" y="3186411"/>
            <a:ext cx="7826991" cy="1054135"/>
          </a:xfrm>
          <a:prstGeom prst="rect">
            <a:avLst/>
          </a:prstGeom>
        </p:spPr>
        <p:txBody>
          <a:bodyPr wrap="square">
            <a:spAutoFit/>
          </a:bodyPr>
          <a:lstStyle/>
          <a:p>
            <a:pPr marL="365125" indent="-365125">
              <a:lnSpc>
                <a:spcPct val="125000"/>
              </a:lnSpc>
              <a:spcBef>
                <a:spcPts val="600"/>
              </a:spcBef>
              <a:buSzPct val="90000"/>
            </a:pPr>
            <a:r>
              <a:rPr lang="zh-CN" altLang="en-US" sz="1400" dirty="0">
                <a:solidFill>
                  <a:srgbClr val="0000FF"/>
                </a:solidFill>
                <a:latin typeface="黑体" pitchFamily="49" charset="-122"/>
                <a:ea typeface="黑体" pitchFamily="49" charset="-122"/>
              </a:rPr>
              <a:t>逻辑表达式</a:t>
            </a:r>
            <a:r>
              <a:rPr lang="zh-CN" altLang="en-US" sz="1400" dirty="0">
                <a:solidFill>
                  <a:srgbClr val="262626"/>
                </a:solidFill>
                <a:latin typeface="黑体" pitchFamily="49" charset="-122"/>
                <a:ea typeface="黑体" pitchFamily="49" charset="-122"/>
              </a:rPr>
              <a:t>：</a:t>
            </a:r>
            <a:r>
              <a:rPr lang="zh-CN" altLang="zh-CN" sz="1400" dirty="0">
                <a:solidFill>
                  <a:srgbClr val="262626"/>
                </a:solidFill>
                <a:latin typeface="黑体" pitchFamily="49" charset="-122"/>
                <a:ea typeface="黑体" pitchFamily="49" charset="-122"/>
              </a:rPr>
              <a:t>用逻辑代数式描述输出变量与输入变量之间的逻辑关系</a:t>
            </a:r>
            <a:endParaRPr lang="en-US" altLang="zh-CN" sz="1400" dirty="0">
              <a:solidFill>
                <a:srgbClr val="262626"/>
              </a:solidFill>
              <a:latin typeface="黑体" pitchFamily="49" charset="-122"/>
              <a:ea typeface="黑体" pitchFamily="49" charset="-122"/>
            </a:endParaRPr>
          </a:p>
          <a:p>
            <a:pPr marL="365125" indent="-365125">
              <a:lnSpc>
                <a:spcPct val="125000"/>
              </a:lnSpc>
              <a:spcBef>
                <a:spcPts val="600"/>
              </a:spcBef>
              <a:buSzPct val="90000"/>
            </a:pPr>
            <a:r>
              <a:rPr lang="zh-CN" altLang="en-US" sz="1400" dirty="0">
                <a:solidFill>
                  <a:srgbClr val="0000FF"/>
                </a:solidFill>
                <a:latin typeface="黑体" pitchFamily="49" charset="-122"/>
                <a:ea typeface="黑体" pitchFamily="49" charset="-122"/>
              </a:rPr>
              <a:t>逻辑真值表</a:t>
            </a:r>
            <a:r>
              <a:rPr lang="zh-CN" altLang="en-US" sz="1400" dirty="0">
                <a:solidFill>
                  <a:srgbClr val="262626"/>
                </a:solidFill>
                <a:latin typeface="黑体" pitchFamily="49" charset="-122"/>
                <a:ea typeface="黑体" pitchFamily="49" charset="-122"/>
              </a:rPr>
              <a:t>：</a:t>
            </a:r>
            <a:r>
              <a:rPr lang="zh-CN" altLang="zh-CN" sz="1400" dirty="0">
                <a:solidFill>
                  <a:srgbClr val="262626"/>
                </a:solidFill>
                <a:latin typeface="黑体" pitchFamily="49" charset="-122"/>
                <a:ea typeface="黑体" pitchFamily="49" charset="-122"/>
              </a:rPr>
              <a:t>输入逻辑变量所有取值组合与输出变量对应取值关系的表格</a:t>
            </a:r>
            <a:endParaRPr lang="en-US" altLang="zh-CN" sz="1400" dirty="0">
              <a:solidFill>
                <a:srgbClr val="262626"/>
              </a:solidFill>
              <a:latin typeface="黑体" pitchFamily="49" charset="-122"/>
              <a:ea typeface="黑体" pitchFamily="49" charset="-122"/>
            </a:endParaRPr>
          </a:p>
          <a:p>
            <a:pPr marL="365125" indent="-365125">
              <a:lnSpc>
                <a:spcPct val="125000"/>
              </a:lnSpc>
              <a:spcBef>
                <a:spcPts val="600"/>
              </a:spcBef>
              <a:buSzPct val="90000"/>
            </a:pPr>
            <a:r>
              <a:rPr lang="zh-CN" altLang="en-US" sz="1400" dirty="0">
                <a:solidFill>
                  <a:srgbClr val="0000FF"/>
                </a:solidFill>
                <a:latin typeface="黑体" pitchFamily="49" charset="-122"/>
                <a:ea typeface="黑体" pitchFamily="49" charset="-122"/>
              </a:rPr>
              <a:t>逻辑符号</a:t>
            </a:r>
            <a:r>
              <a:rPr lang="zh-CN" altLang="en-US" sz="1400" dirty="0">
                <a:solidFill>
                  <a:srgbClr val="262626"/>
                </a:solidFill>
                <a:latin typeface="黑体" pitchFamily="49" charset="-122"/>
                <a:ea typeface="黑体" pitchFamily="49" charset="-122"/>
              </a:rPr>
              <a:t>：</a:t>
            </a:r>
            <a:r>
              <a:rPr lang="zh-CN" altLang="zh-CN" sz="1400" dirty="0">
                <a:solidFill>
                  <a:srgbClr val="262626"/>
                </a:solidFill>
                <a:latin typeface="黑体" pitchFamily="49" charset="-122"/>
                <a:ea typeface="黑体" pitchFamily="49" charset="-122"/>
              </a:rPr>
              <a:t>用规定的逻辑符号来描述输入与输出之间的关系的图形表示</a:t>
            </a:r>
            <a:r>
              <a:rPr lang="zh-CN" altLang="en-US" sz="1400" dirty="0">
                <a:solidFill>
                  <a:srgbClr val="262626"/>
                </a:solidFill>
                <a:latin typeface="黑体" pitchFamily="49" charset="-122"/>
                <a:ea typeface="黑体" pitchFamily="49" charset="-122"/>
              </a:rPr>
              <a:t>（画电路时使用）</a:t>
            </a:r>
          </a:p>
        </p:txBody>
      </p:sp>
      <p:sp>
        <p:nvSpPr>
          <p:cNvPr id="8" name="Rectangle 5">
            <a:extLst>
              <a:ext uri="{FF2B5EF4-FFF2-40B4-BE49-F238E27FC236}">
                <a16:creationId xmlns:a16="http://schemas.microsoft.com/office/drawing/2014/main" xmlns="" id="{8D52519D-4F2D-41F1-ABAE-1396F228B98F}"/>
              </a:ext>
            </a:extLst>
          </p:cNvPr>
          <p:cNvSpPr>
            <a:spLocks noChangeArrowheads="1"/>
          </p:cNvSpPr>
          <p:nvPr/>
        </p:nvSpPr>
        <p:spPr bwMode="auto">
          <a:xfrm>
            <a:off x="867093" y="2462847"/>
            <a:ext cx="7949361" cy="684739"/>
          </a:xfrm>
          <a:prstGeom prst="rect">
            <a:avLst/>
          </a:prstGeom>
          <a:noFill/>
          <a:ln w="9525" algn="ctr">
            <a:noFill/>
            <a:miter lim="800000"/>
            <a:headEnd/>
            <a:tailEnd/>
          </a:ln>
        </p:spPr>
        <p:txBody>
          <a:bodyPr wrap="square" lIns="0" rIns="0">
            <a:spAutoFit/>
          </a:bodyPr>
          <a:lstStyle/>
          <a:p>
            <a:pPr marL="363538" indent="-363538" algn="l">
              <a:lnSpc>
                <a:spcPct val="125000"/>
              </a:lnSpc>
              <a:spcBef>
                <a:spcPts val="1200"/>
              </a:spcBef>
              <a:buSzPct val="90000"/>
              <a:buFont typeface="Wingdings" pitchFamily="2" charset="2"/>
              <a:buChar char="Ø"/>
            </a:pPr>
            <a:r>
              <a:rPr lang="zh-CN" altLang="zh-CN" sz="1600" dirty="0">
                <a:solidFill>
                  <a:srgbClr val="262626"/>
                </a:solidFill>
                <a:latin typeface="黑体" pitchFamily="49" charset="-122"/>
                <a:ea typeface="黑体" pitchFamily="49" charset="-122"/>
              </a:rPr>
              <a:t>逻辑变量有自变量（输入变量）和因变量（输出变量），</a:t>
            </a:r>
            <a:r>
              <a:rPr lang="zh-CN" altLang="en-US" sz="1600" dirty="0">
                <a:solidFill>
                  <a:srgbClr val="262626"/>
                </a:solidFill>
                <a:latin typeface="黑体" pitchFamily="49" charset="-122"/>
                <a:ea typeface="黑体" pitchFamily="49" charset="-122"/>
              </a:rPr>
              <a:t>它们</a:t>
            </a:r>
            <a:r>
              <a:rPr lang="zh-CN" altLang="zh-CN" sz="1600" dirty="0">
                <a:solidFill>
                  <a:srgbClr val="262626"/>
                </a:solidFill>
                <a:latin typeface="黑体" pitchFamily="49" charset="-122"/>
                <a:ea typeface="黑体" pitchFamily="49" charset="-122"/>
              </a:rPr>
              <a:t>之间的逻辑运算关系是一种函数关系，描述这种函数关系的常用方式有：</a:t>
            </a:r>
            <a:r>
              <a:rPr lang="zh-CN"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逻辑表达式、真值表、逻辑图</a:t>
            </a:r>
            <a:r>
              <a:rPr lang="zh-CN" altLang="zh-CN" sz="1600" dirty="0">
                <a:solidFill>
                  <a:srgbClr val="262626"/>
                </a:solidFill>
                <a:latin typeface="黑体" pitchFamily="49" charset="-122"/>
                <a:ea typeface="黑体" pitchFamily="49" charset="-122"/>
              </a:rPr>
              <a:t>。</a:t>
            </a:r>
            <a:endParaRPr lang="en-US" altLang="zh-CN" sz="1600" dirty="0">
              <a:solidFill>
                <a:srgbClr val="262626"/>
              </a:solidFill>
              <a:latin typeface="黑体" pitchFamily="49" charset="-122"/>
              <a:ea typeface="黑体" pitchFamily="49" charset="-122"/>
            </a:endParaRPr>
          </a:p>
        </p:txBody>
      </p:sp>
      <p:sp>
        <p:nvSpPr>
          <p:cNvPr id="9" name="Rectangle 5">
            <a:extLst>
              <a:ext uri="{FF2B5EF4-FFF2-40B4-BE49-F238E27FC236}">
                <a16:creationId xmlns:a16="http://schemas.microsoft.com/office/drawing/2014/main" xmlns="" id="{8BC544F7-9CAD-41E4-A9F4-8BC143D13C14}"/>
              </a:ext>
            </a:extLst>
          </p:cNvPr>
          <p:cNvSpPr>
            <a:spLocks noChangeArrowheads="1"/>
          </p:cNvSpPr>
          <p:nvPr/>
        </p:nvSpPr>
        <p:spPr bwMode="auto">
          <a:xfrm>
            <a:off x="867093" y="1800495"/>
            <a:ext cx="7949361" cy="684739"/>
          </a:xfrm>
          <a:prstGeom prst="rect">
            <a:avLst/>
          </a:prstGeom>
          <a:noFill/>
          <a:ln w="9525" algn="ctr">
            <a:noFill/>
            <a:miter lim="800000"/>
            <a:headEnd/>
            <a:tailEnd/>
          </a:ln>
        </p:spPr>
        <p:txBody>
          <a:bodyPr wrap="square" lIns="0" rIns="0">
            <a:spAutoFit/>
          </a:bodyPr>
          <a:lstStyle/>
          <a:p>
            <a:pPr marL="363538" indent="-363538" algn="l">
              <a:lnSpc>
                <a:spcPct val="125000"/>
              </a:lnSpc>
              <a:spcBef>
                <a:spcPts val="1200"/>
              </a:spcBef>
              <a:buSzPct val="90000"/>
              <a:buFont typeface="Wingdings" pitchFamily="2" charset="2"/>
              <a:buChar char="Ø"/>
            </a:pPr>
            <a:r>
              <a:rPr lang="zh-CN" altLang="en-US" sz="1600" dirty="0">
                <a:solidFill>
                  <a:srgbClr val="262626"/>
                </a:solidFill>
                <a:latin typeface="黑体" pitchFamily="49" charset="-122"/>
                <a:ea typeface="黑体" pitchFamily="49" charset="-122"/>
              </a:rPr>
              <a:t>逻辑代数中的逻辑变量通常用字母</a:t>
            </a:r>
            <a:r>
              <a:rPr lang="en-US" altLang="zh-CN" sz="1600" dirty="0">
                <a:solidFill>
                  <a:srgbClr val="262626"/>
                </a:solidFill>
                <a:latin typeface="Times New Roman" panose="02020603050405020304" pitchFamily="18" charset="0"/>
                <a:ea typeface="黑体" pitchFamily="49" charset="-122"/>
                <a:cs typeface="Times New Roman" panose="02020603050405020304" pitchFamily="18" charset="0"/>
              </a:rPr>
              <a:t>A</a:t>
            </a:r>
            <a:r>
              <a:rPr lang="zh-CN" altLang="en-US" sz="1600" dirty="0">
                <a:solidFill>
                  <a:srgbClr val="262626"/>
                </a:solidFill>
                <a:latin typeface="Times New Roman" panose="02020603050405020304" pitchFamily="18" charset="0"/>
                <a:ea typeface="黑体" pitchFamily="49" charset="-122"/>
                <a:cs typeface="Times New Roman" panose="02020603050405020304" pitchFamily="18" charset="0"/>
              </a:rPr>
              <a:t>、</a:t>
            </a:r>
            <a:r>
              <a:rPr lang="en-US" altLang="zh-CN" sz="1600" dirty="0">
                <a:solidFill>
                  <a:srgbClr val="262626"/>
                </a:solidFill>
                <a:latin typeface="Times New Roman" panose="02020603050405020304" pitchFamily="18" charset="0"/>
                <a:ea typeface="黑体" pitchFamily="49" charset="-122"/>
                <a:cs typeface="Times New Roman" panose="02020603050405020304" pitchFamily="18" charset="0"/>
              </a:rPr>
              <a:t>B</a:t>
            </a:r>
            <a:r>
              <a:rPr lang="zh-CN" altLang="en-US" sz="1600" dirty="0">
                <a:solidFill>
                  <a:srgbClr val="262626"/>
                </a:solidFill>
                <a:latin typeface="Times New Roman" panose="02020603050405020304" pitchFamily="18" charset="0"/>
                <a:ea typeface="黑体" pitchFamily="49" charset="-122"/>
                <a:cs typeface="Times New Roman" panose="02020603050405020304" pitchFamily="18" charset="0"/>
              </a:rPr>
              <a:t>、</a:t>
            </a:r>
            <a:r>
              <a:rPr lang="en-US" altLang="zh-CN" sz="1600" dirty="0">
                <a:solidFill>
                  <a:srgbClr val="262626"/>
                </a:solidFill>
                <a:latin typeface="Times New Roman" panose="02020603050405020304" pitchFamily="18" charset="0"/>
                <a:ea typeface="黑体" pitchFamily="49" charset="-122"/>
                <a:cs typeface="Times New Roman" panose="02020603050405020304" pitchFamily="18" charset="0"/>
              </a:rPr>
              <a:t>C</a:t>
            </a:r>
            <a:r>
              <a:rPr lang="zh-CN" altLang="en-US" sz="1600" dirty="0">
                <a:solidFill>
                  <a:srgbClr val="262626"/>
                </a:solidFill>
                <a:latin typeface="Times New Roman" panose="02020603050405020304" pitchFamily="18" charset="0"/>
                <a:ea typeface="黑体" pitchFamily="49" charset="-122"/>
                <a:cs typeface="Times New Roman" panose="02020603050405020304" pitchFamily="18" charset="0"/>
              </a:rPr>
              <a:t>、</a:t>
            </a:r>
            <a:r>
              <a:rPr lang="en-US" altLang="zh-CN" sz="1600" dirty="0">
                <a:solidFill>
                  <a:srgbClr val="262626"/>
                </a:solidFill>
                <a:latin typeface="黑体" pitchFamily="49" charset="-122"/>
                <a:ea typeface="黑体" pitchFamily="49" charset="-122"/>
              </a:rPr>
              <a:t>…</a:t>
            </a:r>
            <a:r>
              <a:rPr lang="zh-CN" altLang="en-US" sz="1600" dirty="0">
                <a:solidFill>
                  <a:srgbClr val="262626"/>
                </a:solidFill>
                <a:latin typeface="黑体" pitchFamily="49" charset="-122"/>
                <a:ea typeface="黑体" pitchFamily="49" charset="-122"/>
              </a:rPr>
              <a:t>来表示，这些逻辑变量</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只有两个表示完全对立逻辑状态的可能取值（</a:t>
            </a:r>
            <a:r>
              <a:rPr lang="en-US"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0</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en-US" altLang="zh-CN"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1</a:t>
            </a:r>
            <a:r>
              <a:rPr lang="zh-CN" altLang="en-US" sz="1600" dirty="0">
                <a:solidFill>
                  <a:srgbClr val="6600FF"/>
                </a:solidFill>
                <a:effectLst>
                  <a:outerShdw blurRad="38100" dist="38100" dir="2700000" algn="tl">
                    <a:srgbClr val="000000">
                      <a:alpha val="43137"/>
                    </a:srgbClr>
                  </a:outerShdw>
                </a:effectLst>
                <a:latin typeface="方正粗黑宋简体" pitchFamily="2" charset="-122"/>
                <a:ea typeface="方正粗黑宋简体" pitchFamily="2" charset="-122"/>
              </a:rPr>
              <a:t>）</a:t>
            </a:r>
            <a:r>
              <a:rPr lang="zh-CN" altLang="en-US" sz="1600" dirty="0">
                <a:solidFill>
                  <a:srgbClr val="262626"/>
                </a:solidFill>
                <a:latin typeface="黑体" pitchFamily="49" charset="-122"/>
                <a:ea typeface="黑体" pitchFamily="49" charset="-122"/>
              </a:rPr>
              <a:t>。</a:t>
            </a:r>
            <a:endParaRPr lang="en-US" altLang="zh-CN" sz="1600" dirty="0">
              <a:solidFill>
                <a:srgbClr val="262626"/>
              </a:solidFill>
              <a:latin typeface="黑体" pitchFamily="49" charset="-122"/>
              <a:ea typeface="黑体" pitchFamily="49"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1000"/>
                                        <p:tgtEl>
                                          <p:spTgt spid="4"/>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1000"/>
                                        <p:tgtEl>
                                          <p:spTgt spid="53"/>
                                        </p:tgtEl>
                                        <p:attrNameLst>
                                          <p:attrName>ppt_y</p:attrName>
                                        </p:attrNameLst>
                                      </p:cBhvr>
                                      <p:tavLst>
                                        <p:tav tm="0">
                                          <p:val>
                                            <p:strVal val="#ppt_y+#ppt_h*1.125000"/>
                                          </p:val>
                                        </p:tav>
                                        <p:tav tm="100000">
                                          <p:val>
                                            <p:strVal val="#ppt_y"/>
                                          </p:val>
                                        </p:tav>
                                      </p:tavLst>
                                    </p:anim>
                                    <p:animEffect transition="in" filter="wipe(up)">
                                      <p:cBhvr>
                                        <p:cTn id="12" dur="10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100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1000"/>
                                        <p:tgtEl>
                                          <p:spTgt spid="9"/>
                                        </p:tgtEl>
                                        <p:attrNameLst>
                                          <p:attrName>ppt_y</p:attrName>
                                        </p:attrNameLst>
                                      </p:cBhvr>
                                      <p:tavLst>
                                        <p:tav tm="0">
                                          <p:val>
                                            <p:strVal val="#ppt_y+#ppt_h*1.125000"/>
                                          </p:val>
                                        </p:tav>
                                        <p:tav tm="100000">
                                          <p:val>
                                            <p:strVal val="#ppt_y"/>
                                          </p:val>
                                        </p:tav>
                                      </p:tavLst>
                                    </p:anim>
                                    <p:animEffect transition="in" filter="wipe(up)">
                                      <p:cBhvr>
                                        <p:cTn id="18" dur="1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p:tgtEl>
                                          <p:spTgt spid="8"/>
                                        </p:tgtEl>
                                        <p:attrNameLst>
                                          <p:attrName>ppt_y</p:attrName>
                                        </p:attrNameLst>
                                      </p:cBhvr>
                                      <p:tavLst>
                                        <p:tav tm="0">
                                          <p:val>
                                            <p:strVal val="#ppt_y+#ppt_h*1.125000"/>
                                          </p:val>
                                        </p:tav>
                                        <p:tav tm="100000">
                                          <p:val>
                                            <p:strVal val="#ppt_y"/>
                                          </p:val>
                                        </p:tav>
                                      </p:tavLst>
                                    </p:anim>
                                    <p:animEffect transition="in" filter="wipe(up)">
                                      <p:cBhvr>
                                        <p:cTn id="24" dur="1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slide(fromBottom)">
                                      <p:cBhvr>
                                        <p:cTn id="29" dur="1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slide(fromBottom)">
                                      <p:cBhvr>
                                        <p:cTn id="34"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0" grpId="0"/>
      <p:bldP spid="11" grpId="0"/>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7"/>
          <p:cNvGrpSpPr/>
          <p:nvPr/>
        </p:nvGrpSpPr>
        <p:grpSpPr>
          <a:xfrm>
            <a:off x="392432" y="702128"/>
            <a:ext cx="2580344" cy="418885"/>
            <a:chOff x="670560" y="892917"/>
            <a:chExt cx="2580344" cy="465428"/>
          </a:xfrm>
        </p:grpSpPr>
        <p:sp>
          <p:nvSpPr>
            <p:cNvPr id="5" name="矩形 4"/>
            <p:cNvSpPr/>
            <p:nvPr/>
          </p:nvSpPr>
          <p:spPr>
            <a:xfrm>
              <a:off x="1035233" y="913778"/>
              <a:ext cx="2215671"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2</a:t>
              </a:r>
              <a:r>
                <a:rPr lang="zh-CN" altLang="en-US" sz="2000" b="1" dirty="0">
                  <a:solidFill>
                    <a:srgbClr val="002060"/>
                  </a:solidFill>
                  <a:latin typeface="微软雅黑" pitchFamily="34" charset="-122"/>
                  <a:ea typeface="微软雅黑" pitchFamily="34" charset="-122"/>
                </a:rPr>
                <a:t>、基本逻辑运算 </a:t>
              </a:r>
            </a:p>
          </p:txBody>
        </p:sp>
        <p:pic>
          <p:nvPicPr>
            <p:cNvPr id="6"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5058" name="AutoShape 2" descr="http://img3.imgtn.bdimg.com/it/u=2682441348,586746371&amp;fm=214&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p:cNvGrpSpPr/>
          <p:nvPr/>
        </p:nvGrpSpPr>
        <p:grpSpPr>
          <a:xfrm>
            <a:off x="816061" y="1118590"/>
            <a:ext cx="7275216" cy="830997"/>
            <a:chOff x="657204" y="3747952"/>
            <a:chExt cx="7275216" cy="923330"/>
          </a:xfrm>
        </p:grpSpPr>
        <p:sp>
          <p:nvSpPr>
            <p:cNvPr id="52" name="矩形 51"/>
            <p:cNvSpPr/>
            <p:nvPr/>
          </p:nvSpPr>
          <p:spPr>
            <a:xfrm>
              <a:off x="931364" y="3747952"/>
              <a:ext cx="7001056" cy="923330"/>
            </a:xfrm>
            <a:prstGeom prst="rect">
              <a:avLst/>
            </a:prstGeom>
          </p:spPr>
          <p:txBody>
            <a:bodyPr wrap="square">
              <a:spAutoFit/>
            </a:bodyPr>
            <a:lstStyle/>
            <a:p>
              <a:pPr marL="808038" indent="-808038">
                <a:lnSpc>
                  <a:spcPct val="150000"/>
                </a:lnSpc>
              </a:pPr>
              <a:r>
                <a:rPr lang="zh-CN" altLang="en-US" sz="1600" dirty="0">
                  <a:solidFill>
                    <a:srgbClr val="6600FF"/>
                  </a:solidFill>
                  <a:latin typeface="方正粗黑宋简体" pitchFamily="2" charset="-122"/>
                  <a:ea typeface="方正粗黑宋简体" pitchFamily="2" charset="-122"/>
                </a:rPr>
                <a:t>与运算</a:t>
              </a:r>
              <a:r>
                <a:rPr lang="zh-CN" altLang="en-US" sz="1600" dirty="0">
                  <a:solidFill>
                    <a:srgbClr val="336699"/>
                  </a:solidFill>
                  <a:latin typeface="黑体" pitchFamily="49" charset="-122"/>
                  <a:ea typeface="黑体" pitchFamily="49" charset="-122"/>
                </a:rPr>
                <a:t>：</a:t>
              </a:r>
              <a:r>
                <a:rPr lang="zh-CN" altLang="en-US" sz="1600" dirty="0">
                  <a:solidFill>
                    <a:srgbClr val="000000"/>
                  </a:solidFill>
                  <a:latin typeface="微软雅黑" pitchFamily="34" charset="-122"/>
                  <a:ea typeface="微软雅黑" pitchFamily="34" charset="-122"/>
                </a:rPr>
                <a:t>只有当决定一件事情的条件全部具备之后，这件事情才会发生。我们把这种因果关系也称为</a:t>
              </a:r>
              <a:r>
                <a:rPr lang="zh-CN" altLang="en-US" sz="1600" dirty="0">
                  <a:solidFill>
                    <a:srgbClr val="6600FF"/>
                  </a:solidFill>
                  <a:latin typeface="方正粗黑宋简体" pitchFamily="2" charset="-122"/>
                  <a:ea typeface="方正粗黑宋简体" pitchFamily="2" charset="-122"/>
                </a:rPr>
                <a:t>与逻辑</a:t>
              </a:r>
              <a:r>
                <a:rPr lang="zh-CN" altLang="en-US" sz="1600" dirty="0">
                  <a:solidFill>
                    <a:srgbClr val="000000"/>
                  </a:solidFill>
                  <a:latin typeface="微软雅黑" pitchFamily="34" charset="-122"/>
                  <a:ea typeface="微软雅黑" pitchFamily="34" charset="-122"/>
                </a:rPr>
                <a:t>。</a:t>
              </a:r>
              <a:r>
                <a:rPr lang="zh-CN" altLang="en-US" sz="1600" dirty="0">
                  <a:solidFill>
                    <a:srgbClr val="000000"/>
                  </a:solidFill>
                  <a:effectLst>
                    <a:outerShdw blurRad="38100" dist="38100" dir="2700000" algn="tl">
                      <a:srgbClr val="C0C0C0"/>
                    </a:outerShdw>
                  </a:effectLst>
                  <a:latin typeface="微软雅黑" pitchFamily="34" charset="-122"/>
                  <a:ea typeface="微软雅黑" pitchFamily="34" charset="-122"/>
                </a:rPr>
                <a:t> </a:t>
              </a:r>
              <a:endParaRPr lang="zh-CN" altLang="en-US" sz="1600" dirty="0">
                <a:solidFill>
                  <a:srgbClr val="336699"/>
                </a:solidFill>
                <a:latin typeface="黑体" pitchFamily="49" charset="-122"/>
                <a:ea typeface="黑体" pitchFamily="49" charset="-122"/>
              </a:endParaRPr>
            </a:p>
          </p:txBody>
        </p:sp>
        <p:grpSp>
          <p:nvGrpSpPr>
            <p:cNvPr id="53" name="组合 13">
              <a:extLst>
                <a:ext uri="{FF2B5EF4-FFF2-40B4-BE49-F238E27FC236}">
                  <a16:creationId xmlns:a16="http://schemas.microsoft.com/office/drawing/2014/main" xmlns="" id="{FF3B2FB4-753E-483C-B856-C25711218C46}"/>
                </a:ext>
              </a:extLst>
            </p:cNvPr>
            <p:cNvGrpSpPr/>
            <p:nvPr/>
          </p:nvGrpSpPr>
          <p:grpSpPr>
            <a:xfrm>
              <a:off x="657204" y="3855670"/>
              <a:ext cx="272583" cy="310719"/>
              <a:chOff x="5908675" y="1281113"/>
              <a:chExt cx="246063" cy="260350"/>
            </a:xfrm>
            <a:solidFill>
              <a:srgbClr val="CC6600"/>
            </a:solidFill>
            <a:effectLst/>
          </p:grpSpPr>
          <p:sp>
            <p:nvSpPr>
              <p:cNvPr id="54"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5"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6"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7"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8"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graphicFrame>
        <p:nvGraphicFramePr>
          <p:cNvPr id="62" name="Group 43"/>
          <p:cNvGraphicFramePr>
            <a:graphicFrameLocks noGrp="1"/>
          </p:cNvGraphicFramePr>
          <p:nvPr/>
        </p:nvGraphicFramePr>
        <p:xfrm>
          <a:off x="4585380" y="2112647"/>
          <a:ext cx="1651000" cy="1726125"/>
        </p:xfrm>
        <a:graphic>
          <a:graphicData uri="http://schemas.openxmlformats.org/drawingml/2006/table">
            <a:tbl>
              <a:tblPr/>
              <a:tblGrid>
                <a:gridCol w="1098451">
                  <a:extLst>
                    <a:ext uri="{9D8B030D-6E8A-4147-A177-3AD203B41FA5}">
                      <a16:colId xmlns:a16="http://schemas.microsoft.com/office/drawing/2014/main" xmlns="" val="20000"/>
                    </a:ext>
                  </a:extLst>
                </a:gridCol>
                <a:gridCol w="552549">
                  <a:extLst>
                    <a:ext uri="{9D8B030D-6E8A-4147-A177-3AD203B41FA5}">
                      <a16:colId xmlns:a16="http://schemas.microsoft.com/office/drawing/2014/main" xmlns="" val="20001"/>
                    </a:ext>
                  </a:extLst>
                </a:gridCol>
              </a:tblGrid>
              <a:tr h="332612">
                <a:tc gridSpan="2">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逻辑真值表</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zh-CN" altLang="en-US" sz="1400" b="0" i="0" u="none" strike="noStrike" cap="none" normalizeH="0" baseline="0" dirty="0">
                        <a:ln>
                          <a:noFill/>
                        </a:ln>
                        <a:solidFill>
                          <a:srgbClr val="000000"/>
                        </a:solidFill>
                        <a:effectLst/>
                        <a:latin typeface="微软雅黑" pitchFamily="34" charset="-122"/>
                        <a:ea typeface="微软雅黑" pitchFamily="34" charset="-122"/>
                      </a:endParaRPr>
                    </a:p>
                  </a:txBody>
                  <a:tcPr marL="91422" marR="91422" marT="45711" marB="45711"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30173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A     B</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L</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1"/>
                  </a:ext>
                </a:extLst>
              </a:tr>
              <a:tr h="1091777">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0      0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0      1</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1      0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1      1</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endParaRPr kumimoji="0" lang="zh-CN" altLang="en-US"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2"/>
                  </a:ext>
                </a:extLst>
              </a:tr>
            </a:tbl>
          </a:graphicData>
        </a:graphic>
      </p:graphicFrame>
      <p:sp>
        <p:nvSpPr>
          <p:cNvPr id="65" name="Text Box 13"/>
          <p:cNvSpPr txBox="1">
            <a:spLocks noChangeArrowheads="1"/>
          </p:cNvSpPr>
          <p:nvPr/>
        </p:nvSpPr>
        <p:spPr bwMode="auto">
          <a:xfrm>
            <a:off x="5388611" y="3990406"/>
            <a:ext cx="1923999" cy="369332"/>
          </a:xfrm>
          <a:prstGeom prst="rect">
            <a:avLst/>
          </a:prstGeom>
          <a:noFill/>
          <a:ln w="9525" algn="ctr">
            <a:noFill/>
            <a:miter lim="800000"/>
            <a:headEnd/>
            <a:tailEnd/>
          </a:ln>
          <a:effectLst/>
        </p:spPr>
        <p:txBody>
          <a:bodyPr lIns="0" rIns="0">
            <a:spAutoFit/>
          </a:bodyPr>
          <a:lstStyle/>
          <a:p>
            <a:pPr>
              <a:defRPr/>
            </a:pPr>
            <a:endParaRPr lang="zh-CN" altLang="en-US" dirty="0">
              <a:solidFill>
                <a:srgbClr val="000000"/>
              </a:solidFill>
              <a:effectLst>
                <a:outerShdw blurRad="38100" dist="38100" dir="2700000" algn="tl">
                  <a:srgbClr val="C0C0C0"/>
                </a:outerShdw>
              </a:effectLst>
            </a:endParaRPr>
          </a:p>
        </p:txBody>
      </p:sp>
      <p:sp>
        <p:nvSpPr>
          <p:cNvPr id="69" name="AutoShape 10"/>
          <p:cNvSpPr>
            <a:spLocks noChangeArrowheads="1"/>
          </p:cNvSpPr>
          <p:nvPr/>
        </p:nvSpPr>
        <p:spPr bwMode="auto">
          <a:xfrm>
            <a:off x="5196720" y="787786"/>
            <a:ext cx="2932365" cy="1021271"/>
          </a:xfrm>
          <a:prstGeom prst="wedgeRoundRectCallout">
            <a:avLst>
              <a:gd name="adj1" fmla="val -36536"/>
              <a:gd name="adj2" fmla="val 78804"/>
              <a:gd name="adj3" fmla="val 16667"/>
            </a:avLst>
          </a:prstGeom>
          <a:solidFill>
            <a:srgbClr val="FFFF66"/>
          </a:solidFill>
          <a:ln w="12700" algn="ctr">
            <a:solidFill>
              <a:srgbClr val="FF0000"/>
            </a:solidFill>
            <a:miter lim="800000"/>
            <a:headEnd/>
            <a:tailEnd/>
          </a:ln>
          <a:effectLst/>
        </p:spPr>
        <p:txBody>
          <a:bodyPr lIns="0" tIns="0" rIns="0" bIns="0" anchor="ctr"/>
          <a:lstStyle/>
          <a:p>
            <a:pPr>
              <a:lnSpc>
                <a:spcPct val="125000"/>
              </a:lnSpc>
              <a:defRPr/>
            </a:pPr>
            <a:r>
              <a:rPr lang="zh-CN" altLang="en-US" sz="1600" dirty="0">
                <a:solidFill>
                  <a:srgbClr val="000000"/>
                </a:solidFill>
                <a:latin typeface="微软雅黑" pitchFamily="34" charset="-122"/>
                <a:ea typeface="微软雅黑" pitchFamily="34" charset="-122"/>
              </a:rPr>
              <a:t>把所有可能的输入组合及其对应结果一一列出来的表格叫做</a:t>
            </a:r>
            <a:r>
              <a:rPr lang="zh-CN" altLang="en-US" sz="1600" dirty="0">
                <a:solidFill>
                  <a:srgbClr val="6600FF"/>
                </a:solidFill>
                <a:latin typeface="方正粗黑宋简体" pitchFamily="2" charset="-122"/>
                <a:ea typeface="方正粗黑宋简体" pitchFamily="2" charset="-122"/>
              </a:rPr>
              <a:t>真值表，</a:t>
            </a:r>
            <a:r>
              <a:rPr lang="zh-CN" altLang="en-US" sz="1600" dirty="0">
                <a:solidFill>
                  <a:srgbClr val="000000"/>
                </a:solidFill>
                <a:latin typeface="微软雅黑" pitchFamily="34" charset="-122"/>
                <a:ea typeface="微软雅黑" pitchFamily="34" charset="-122"/>
              </a:rPr>
              <a:t>具有</a:t>
            </a:r>
            <a:r>
              <a:rPr lang="zh-CN" altLang="en-US" sz="1600" dirty="0">
                <a:solidFill>
                  <a:srgbClr val="6600FF"/>
                </a:solidFill>
                <a:latin typeface="方正粗黑宋简体" pitchFamily="2" charset="-122"/>
                <a:ea typeface="方正粗黑宋简体" pitchFamily="2" charset="-122"/>
              </a:rPr>
              <a:t>唯一性</a:t>
            </a:r>
            <a:r>
              <a:rPr lang="zh-CN" altLang="en-US" sz="1600" dirty="0">
                <a:solidFill>
                  <a:srgbClr val="000000"/>
                </a:solidFill>
                <a:latin typeface="微软雅黑" pitchFamily="34" charset="-122"/>
                <a:ea typeface="微软雅黑" pitchFamily="34" charset="-122"/>
              </a:rPr>
              <a:t>。</a:t>
            </a:r>
          </a:p>
        </p:txBody>
      </p:sp>
      <p:grpSp>
        <p:nvGrpSpPr>
          <p:cNvPr id="86" name="组合 85"/>
          <p:cNvGrpSpPr/>
          <p:nvPr/>
        </p:nvGrpSpPr>
        <p:grpSpPr>
          <a:xfrm>
            <a:off x="6520883" y="2067505"/>
            <a:ext cx="1879029" cy="829818"/>
            <a:chOff x="6813831" y="2186940"/>
            <a:chExt cx="1879029" cy="922020"/>
          </a:xfrm>
        </p:grpSpPr>
        <p:sp>
          <p:nvSpPr>
            <p:cNvPr id="87" name="圆角矩形 86"/>
            <p:cNvSpPr/>
            <p:nvPr/>
          </p:nvSpPr>
          <p:spPr>
            <a:xfrm>
              <a:off x="6813831" y="2425620"/>
              <a:ext cx="1879029" cy="6833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9" name="矩形 88"/>
            <p:cNvSpPr/>
            <p:nvPr/>
          </p:nvSpPr>
          <p:spPr>
            <a:xfrm>
              <a:off x="7212171" y="2238494"/>
              <a:ext cx="1082348" cy="341974"/>
            </a:xfrm>
            <a:prstGeom prst="rect">
              <a:avLst/>
            </a:prstGeom>
          </p:spPr>
          <p:txBody>
            <a:bodyPr wrap="non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逻辑表达式</a:t>
              </a:r>
              <a:endParaRPr lang="zh-CN" altLang="en-US" sz="1400" dirty="0">
                <a:solidFill>
                  <a:schemeClr val="bg1"/>
                </a:solidFill>
                <a:effectLst>
                  <a:outerShdw blurRad="38100" dist="38100" dir="2700000" algn="tl">
                    <a:srgbClr val="C0C0C0"/>
                  </a:outerShdw>
                </a:effectLst>
              </a:endParaRPr>
            </a:p>
          </p:txBody>
        </p:sp>
        <p:graphicFrame>
          <p:nvGraphicFramePr>
            <p:cNvPr id="90" name="Object 12"/>
            <p:cNvGraphicFramePr>
              <a:graphicFrameLocks noChangeAspect="1"/>
            </p:cNvGraphicFramePr>
            <p:nvPr/>
          </p:nvGraphicFramePr>
          <p:xfrm>
            <a:off x="7164940" y="2705221"/>
            <a:ext cx="1163638" cy="280459"/>
          </p:xfrm>
          <a:graphic>
            <a:graphicData uri="http://schemas.openxmlformats.org/presentationml/2006/ole">
              <mc:AlternateContent xmlns:mc="http://schemas.openxmlformats.org/markup-compatibility/2006">
                <mc:Choice xmlns:v="urn:schemas-microsoft-com:vml" Requires="v">
                  <p:oleObj spid="_x0000_s27665" name="公式" r:id="rId6" imgW="13716000" imgH="3962400" progId="Equation.3">
                    <p:embed/>
                  </p:oleObj>
                </mc:Choice>
                <mc:Fallback>
                  <p:oleObj name="公式" r:id="rId6" imgW="13716000" imgH="3962400" progId="Equation.3">
                    <p:embed/>
                    <p:pic>
                      <p:nvPicPr>
                        <p:cNvPr id="9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4940" y="2705221"/>
                          <a:ext cx="1163638" cy="280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2" name="组合 91"/>
          <p:cNvGrpSpPr/>
          <p:nvPr/>
        </p:nvGrpSpPr>
        <p:grpSpPr>
          <a:xfrm>
            <a:off x="6532435" y="3035384"/>
            <a:ext cx="1879029" cy="884682"/>
            <a:chOff x="6950991" y="3421380"/>
            <a:chExt cx="1879029" cy="982980"/>
          </a:xfrm>
        </p:grpSpPr>
        <p:grpSp>
          <p:nvGrpSpPr>
            <p:cNvPr id="84" name="组合 83"/>
            <p:cNvGrpSpPr/>
            <p:nvPr/>
          </p:nvGrpSpPr>
          <p:grpSpPr>
            <a:xfrm>
              <a:off x="6950991" y="3421380"/>
              <a:ext cx="1879029" cy="982980"/>
              <a:chOff x="6813831" y="2186940"/>
              <a:chExt cx="1879029" cy="982980"/>
            </a:xfrm>
          </p:grpSpPr>
          <p:sp>
            <p:nvSpPr>
              <p:cNvPr id="75" name="圆角矩形 74"/>
              <p:cNvSpPr/>
              <p:nvPr/>
            </p:nvSpPr>
            <p:spPr>
              <a:xfrm>
                <a:off x="6813831" y="2425620"/>
                <a:ext cx="1879029" cy="7443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0" name="矩形 79"/>
              <p:cNvSpPr/>
              <p:nvPr/>
            </p:nvSpPr>
            <p:spPr>
              <a:xfrm>
                <a:off x="7250271" y="2238494"/>
                <a:ext cx="1063149" cy="341974"/>
              </a:xfrm>
              <a:prstGeom prst="rect">
                <a:avLst/>
              </a:prstGeom>
            </p:spPr>
            <p:txBody>
              <a:bodyPr wrap="squar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运算规则</a:t>
                </a:r>
                <a:endParaRPr lang="zh-CN" altLang="en-US" sz="1400" dirty="0">
                  <a:solidFill>
                    <a:schemeClr val="bg1"/>
                  </a:solidFill>
                  <a:effectLst>
                    <a:outerShdw blurRad="38100" dist="38100" dir="2700000" algn="tl">
                      <a:srgbClr val="C0C0C0"/>
                    </a:outerShdw>
                  </a:effectLst>
                </a:endParaRPr>
              </a:p>
            </p:txBody>
          </p:sp>
        </p:grpSp>
        <p:sp>
          <p:nvSpPr>
            <p:cNvPr id="91" name="矩形 90"/>
            <p:cNvSpPr/>
            <p:nvPr/>
          </p:nvSpPr>
          <p:spPr>
            <a:xfrm>
              <a:off x="7059447" y="3952994"/>
              <a:ext cx="1678665" cy="376171"/>
            </a:xfrm>
            <a:prstGeom prst="rect">
              <a:avLst/>
            </a:prstGeom>
          </p:spPr>
          <p:txBody>
            <a:bodyPr wrap="none">
              <a:spAutoFit/>
            </a:bodyPr>
            <a:lstStyle/>
            <a:p>
              <a:r>
                <a:rPr lang="zh-CN" altLang="en-US" sz="1600" dirty="0">
                  <a:solidFill>
                    <a:srgbClr val="6600FF"/>
                  </a:solidFill>
                  <a:latin typeface="方正粗黑宋简体" pitchFamily="2" charset="-122"/>
                  <a:ea typeface="方正粗黑宋简体" pitchFamily="2" charset="-122"/>
                </a:rPr>
                <a:t>有</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出</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、全</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出</a:t>
              </a:r>
              <a:r>
                <a:rPr lang="en-US" altLang="zh-CN" sz="1600" dirty="0">
                  <a:solidFill>
                    <a:srgbClr val="6600FF"/>
                  </a:solidFill>
                  <a:latin typeface="方正粗黑宋简体" pitchFamily="2" charset="-122"/>
                  <a:ea typeface="方正粗黑宋简体" pitchFamily="2" charset="-122"/>
                </a:rPr>
                <a:t>1</a:t>
              </a:r>
              <a:endParaRPr lang="zh-CN" altLang="en-US" sz="1600" dirty="0">
                <a:solidFill>
                  <a:srgbClr val="6600FF"/>
                </a:solidFill>
                <a:latin typeface="方正粗黑宋简体" pitchFamily="2" charset="-122"/>
                <a:ea typeface="方正粗黑宋简体" pitchFamily="2" charset="-122"/>
              </a:endParaRPr>
            </a:p>
          </p:txBody>
        </p:sp>
      </p:grpSp>
      <p:grpSp>
        <p:nvGrpSpPr>
          <p:cNvPr id="96" name="组合 95"/>
          <p:cNvGrpSpPr/>
          <p:nvPr/>
        </p:nvGrpSpPr>
        <p:grpSpPr>
          <a:xfrm>
            <a:off x="2006459" y="4280539"/>
            <a:ext cx="4456748" cy="461665"/>
            <a:chOff x="2256472" y="4638125"/>
            <a:chExt cx="4456748" cy="512961"/>
          </a:xfrm>
        </p:grpSpPr>
        <p:sp>
          <p:nvSpPr>
            <p:cNvPr id="95" name="圆角矩形 94"/>
            <p:cNvSpPr/>
            <p:nvPr/>
          </p:nvSpPr>
          <p:spPr>
            <a:xfrm>
              <a:off x="2302791" y="4671060"/>
              <a:ext cx="4410429" cy="44196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2256472" y="4638125"/>
              <a:ext cx="2646878" cy="512961"/>
            </a:xfrm>
            <a:prstGeom prst="rect">
              <a:avLst/>
            </a:prstGeom>
          </p:spPr>
          <p:txBody>
            <a:bodyPr wrap="none">
              <a:spAutoFit/>
            </a:bodyPr>
            <a:lstStyle/>
            <a:p>
              <a:pPr>
                <a:lnSpc>
                  <a:spcPct val="150000"/>
                </a:lnSpc>
              </a:pPr>
              <a:r>
                <a:rPr lang="zh-CN" altLang="en-US" sz="1600" dirty="0">
                  <a:solidFill>
                    <a:srgbClr val="000000"/>
                  </a:solidFill>
                  <a:latin typeface="微软雅黑" pitchFamily="34" charset="-122"/>
                  <a:ea typeface="微软雅黑" pitchFamily="34" charset="-122"/>
                </a:rPr>
                <a:t>与运算可以推广到多变量：</a:t>
              </a:r>
            </a:p>
          </p:txBody>
        </p:sp>
        <p:graphicFrame>
          <p:nvGraphicFramePr>
            <p:cNvPr id="94" name="Object 18"/>
            <p:cNvGraphicFramePr>
              <a:graphicFrameLocks noChangeAspect="1"/>
            </p:cNvGraphicFramePr>
            <p:nvPr/>
          </p:nvGraphicFramePr>
          <p:xfrm>
            <a:off x="4778375" y="4745356"/>
            <a:ext cx="1866265" cy="299401"/>
          </p:xfrm>
          <a:graphic>
            <a:graphicData uri="http://schemas.openxmlformats.org/presentationml/2006/ole">
              <mc:AlternateContent xmlns:mc="http://schemas.openxmlformats.org/markup-compatibility/2006">
                <mc:Choice xmlns:v="urn:schemas-microsoft-com:vml" Requires="v">
                  <p:oleObj spid="_x0000_s27666" name="公式" r:id="rId8" imgW="19507200" imgH="3657600" progId="Equation.3">
                    <p:embed/>
                  </p:oleObj>
                </mc:Choice>
                <mc:Fallback>
                  <p:oleObj name="公式" r:id="rId8" imgW="19507200" imgH="3657600" progId="Equation.3">
                    <p:embed/>
                    <p:pic>
                      <p:nvPicPr>
                        <p:cNvPr id="94"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78375" y="4745356"/>
                          <a:ext cx="1866265" cy="299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2" name="组合 41"/>
          <p:cNvGrpSpPr/>
          <p:nvPr/>
        </p:nvGrpSpPr>
        <p:grpSpPr>
          <a:xfrm>
            <a:off x="773403" y="2231996"/>
            <a:ext cx="3578340" cy="1606776"/>
            <a:chOff x="800101" y="2312807"/>
            <a:chExt cx="3578340" cy="1785307"/>
          </a:xfrm>
        </p:grpSpPr>
        <p:sp>
          <p:nvSpPr>
            <p:cNvPr id="60" name="圆角矩形 59"/>
            <p:cNvSpPr/>
            <p:nvPr/>
          </p:nvSpPr>
          <p:spPr>
            <a:xfrm>
              <a:off x="800101" y="2312807"/>
              <a:ext cx="3578340" cy="1785307"/>
            </a:xfrm>
            <a:prstGeom prst="roundRect">
              <a:avLst>
                <a:gd name="adj" fmla="val 50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8" name="Object 6"/>
            <p:cNvGraphicFramePr>
              <a:graphicFrameLocks noChangeAspect="1"/>
            </p:cNvGraphicFramePr>
            <p:nvPr/>
          </p:nvGraphicFramePr>
          <p:xfrm>
            <a:off x="905409" y="2389335"/>
            <a:ext cx="3356122" cy="1361707"/>
          </p:xfrm>
          <a:graphic>
            <a:graphicData uri="http://schemas.openxmlformats.org/presentationml/2006/ole">
              <mc:AlternateContent xmlns:mc="http://schemas.openxmlformats.org/markup-compatibility/2006">
                <mc:Choice xmlns:v="urn:schemas-microsoft-com:vml" Requires="v">
                  <p:oleObj spid="_x0000_s27667" name="Visio" r:id="rId10" imgW="1870107" imgH="709083" progId="Visio.Drawing.11">
                    <p:embed/>
                  </p:oleObj>
                </mc:Choice>
                <mc:Fallback>
                  <p:oleObj name="Visio" r:id="rId10" imgW="1870107" imgH="709083" progId="Visio.Drawing.11">
                    <p:embed/>
                    <p:pic>
                      <p:nvPicPr>
                        <p:cNvPr id="38"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5409" y="2389335"/>
                          <a:ext cx="3356122" cy="13617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4" name="Rectangle 8"/>
            <p:cNvSpPr>
              <a:spLocks noChangeArrowheads="1"/>
            </p:cNvSpPr>
            <p:nvPr/>
          </p:nvSpPr>
          <p:spPr bwMode="auto">
            <a:xfrm>
              <a:off x="1408460" y="3657918"/>
              <a:ext cx="2249140" cy="3761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16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与逻辑运算</a:t>
              </a:r>
              <a:endParaRPr kumimoji="0" lang="zh-CN" altLang="en-GB"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sp>
        <p:nvSpPr>
          <p:cNvPr id="36" name="圆角矩形 86">
            <a:extLst>
              <a:ext uri="{FF2B5EF4-FFF2-40B4-BE49-F238E27FC236}">
                <a16:creationId xmlns:a16="http://schemas.microsoft.com/office/drawing/2014/main" xmlns="" id="{A35C16C7-C485-41CB-A6FA-E35A7F9605B0}"/>
              </a:ext>
            </a:extLst>
          </p:cNvPr>
          <p:cNvSpPr/>
          <p:nvPr/>
        </p:nvSpPr>
        <p:spPr>
          <a:xfrm>
            <a:off x="3036366" y="2300872"/>
            <a:ext cx="1198468" cy="1212966"/>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slide(fromBottom)">
                                      <p:cBhvr>
                                        <p:cTn id="11" dur="10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anim calcmode="lin" valueType="num">
                                      <p:cBhvr>
                                        <p:cTn id="16" dur="1000" fill="hold"/>
                                        <p:tgtEl>
                                          <p:spTgt spid="42"/>
                                        </p:tgtEl>
                                        <p:attrNameLst>
                                          <p:attrName>ppt_w</p:attrName>
                                        </p:attrNameLst>
                                      </p:cBhvr>
                                      <p:tavLst>
                                        <p:tav tm="0">
                                          <p:val>
                                            <p:fltVal val="0"/>
                                          </p:val>
                                        </p:tav>
                                        <p:tav tm="100000">
                                          <p:val>
                                            <p:strVal val="#ppt_w"/>
                                          </p:val>
                                        </p:tav>
                                      </p:tavLst>
                                    </p:anim>
                                    <p:anim calcmode="lin" valueType="num">
                                      <p:cBhvr>
                                        <p:cTn id="17" dur="10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slide(fromBottom)">
                                      <p:cBhvr>
                                        <p:cTn id="22" dur="10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wipe(down)">
                                      <p:cBhvr>
                                        <p:cTn id="27" dur="1000"/>
                                        <p:tgtEl>
                                          <p:spTgt spid="6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slide(fromBottom)">
                                      <p:cBhvr>
                                        <p:cTn id="32" dur="1000"/>
                                        <p:tgtEl>
                                          <p:spTgt spid="86"/>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1000" fill="hold"/>
                                        <p:tgtEl>
                                          <p:spTgt spid="36"/>
                                        </p:tgtEl>
                                        <p:attrNameLst>
                                          <p:attrName>ppt_w</p:attrName>
                                        </p:attrNameLst>
                                      </p:cBhvr>
                                      <p:tavLst>
                                        <p:tav tm="0">
                                          <p:val>
                                            <p:fltVal val="0"/>
                                          </p:val>
                                        </p:tav>
                                        <p:tav tm="100000">
                                          <p:val>
                                            <p:strVal val="#ppt_w"/>
                                          </p:val>
                                        </p:tav>
                                      </p:tavLst>
                                    </p:anim>
                                    <p:anim calcmode="lin" valueType="num">
                                      <p:cBhvr>
                                        <p:cTn id="38" dur="1000" fill="hold"/>
                                        <p:tgtEl>
                                          <p:spTgt spid="36"/>
                                        </p:tgtEl>
                                        <p:attrNameLst>
                                          <p:attrName>ppt_h</p:attrName>
                                        </p:attrNameLst>
                                      </p:cBhvr>
                                      <p:tavLst>
                                        <p:tav tm="0">
                                          <p:val>
                                            <p:fltVal val="0"/>
                                          </p:val>
                                        </p:tav>
                                        <p:tav tm="100000">
                                          <p:val>
                                            <p:strVal val="#ppt_h"/>
                                          </p:val>
                                        </p:tav>
                                      </p:tavLst>
                                    </p:anim>
                                    <p:animEffect transition="in" filter="fade">
                                      <p:cBhvr>
                                        <p:cTn id="39" dur="10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92"/>
                                        </p:tgtEl>
                                        <p:attrNameLst>
                                          <p:attrName>style.visibility</p:attrName>
                                        </p:attrNameLst>
                                      </p:cBhvr>
                                      <p:to>
                                        <p:strVal val="visible"/>
                                      </p:to>
                                    </p:set>
                                    <p:animEffect transition="in" filter="slide(fromBottom)">
                                      <p:cBhvr>
                                        <p:cTn id="44" dur="1000"/>
                                        <p:tgtEl>
                                          <p:spTgt spid="92"/>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96"/>
                                        </p:tgtEl>
                                        <p:attrNameLst>
                                          <p:attrName>style.visibility</p:attrName>
                                        </p:attrNameLst>
                                      </p:cBhvr>
                                      <p:to>
                                        <p:strVal val="visible"/>
                                      </p:to>
                                    </p:set>
                                    <p:animEffect transition="in" filter="slide(fromBottom)">
                                      <p:cBhvr>
                                        <p:cTn id="49" dur="1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3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2580344" cy="418885"/>
            <a:chOff x="670560" y="892917"/>
            <a:chExt cx="2580344" cy="465428"/>
          </a:xfrm>
        </p:grpSpPr>
        <p:sp>
          <p:nvSpPr>
            <p:cNvPr id="5" name="矩形 4"/>
            <p:cNvSpPr/>
            <p:nvPr/>
          </p:nvSpPr>
          <p:spPr>
            <a:xfrm>
              <a:off x="1035233" y="913778"/>
              <a:ext cx="2215671"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3</a:t>
              </a:r>
              <a:r>
                <a:rPr lang="zh-CN" altLang="en-US" sz="2000" b="1" dirty="0">
                  <a:solidFill>
                    <a:srgbClr val="002060"/>
                  </a:solidFill>
                  <a:latin typeface="微软雅黑" pitchFamily="34" charset="-122"/>
                  <a:ea typeface="微软雅黑" pitchFamily="34" charset="-122"/>
                </a:rPr>
                <a:t>、基本逻辑运算 </a:t>
              </a:r>
            </a:p>
          </p:txBody>
        </p:sp>
        <p:pic>
          <p:nvPicPr>
            <p:cNvPr id="6"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5058" name="AutoShape 2" descr="http://img3.imgtn.bdimg.com/it/u=2682441348,586746371&amp;fm=214&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3" name="组合 50"/>
          <p:cNvGrpSpPr/>
          <p:nvPr/>
        </p:nvGrpSpPr>
        <p:grpSpPr>
          <a:xfrm>
            <a:off x="816061" y="1118592"/>
            <a:ext cx="7996246" cy="792461"/>
            <a:chOff x="657204" y="3747952"/>
            <a:chExt cx="7996246" cy="880512"/>
          </a:xfrm>
        </p:grpSpPr>
        <p:sp>
          <p:nvSpPr>
            <p:cNvPr id="52" name="矩形 51"/>
            <p:cNvSpPr/>
            <p:nvPr/>
          </p:nvSpPr>
          <p:spPr>
            <a:xfrm>
              <a:off x="931364" y="3747952"/>
              <a:ext cx="7722086" cy="880512"/>
            </a:xfrm>
            <a:prstGeom prst="rect">
              <a:avLst/>
            </a:prstGeom>
          </p:spPr>
          <p:txBody>
            <a:bodyPr wrap="square">
              <a:spAutoFit/>
            </a:bodyPr>
            <a:lstStyle/>
            <a:p>
              <a:pPr marL="808038" indent="-808038">
                <a:lnSpc>
                  <a:spcPct val="150000"/>
                </a:lnSpc>
              </a:pPr>
              <a:r>
                <a:rPr lang="zh-CN" altLang="en-US" sz="1600" dirty="0">
                  <a:solidFill>
                    <a:srgbClr val="6600FF"/>
                  </a:solidFill>
                  <a:latin typeface="方正粗黑宋简体" pitchFamily="2" charset="-122"/>
                  <a:ea typeface="方正粗黑宋简体" pitchFamily="2" charset="-122"/>
                </a:rPr>
                <a:t>或运算</a:t>
              </a:r>
              <a:r>
                <a:rPr lang="zh-CN" altLang="en-US" sz="1600" dirty="0">
                  <a:solidFill>
                    <a:srgbClr val="336699"/>
                  </a:solidFill>
                  <a:latin typeface="黑体" pitchFamily="49" charset="-122"/>
                  <a:ea typeface="黑体" pitchFamily="49" charset="-122"/>
                </a:rPr>
                <a:t>：</a:t>
              </a:r>
              <a:r>
                <a:rPr lang="zh-CN" altLang="en-US" sz="1600" dirty="0">
                  <a:solidFill>
                    <a:srgbClr val="000000"/>
                  </a:solidFill>
                  <a:latin typeface="微软雅黑" pitchFamily="34" charset="-122"/>
                  <a:ea typeface="微软雅黑" pitchFamily="34" charset="-122"/>
                </a:rPr>
                <a:t>当决定一件事情的几个条件中，只要有一个或一个以上条件具备，事情就会发生。这种因果关系也称为</a:t>
              </a:r>
              <a:r>
                <a:rPr lang="zh-CN" altLang="en-US" sz="1600" dirty="0">
                  <a:solidFill>
                    <a:srgbClr val="6600FF"/>
                  </a:solidFill>
                  <a:latin typeface="方正粗黑宋简体" pitchFamily="2" charset="-122"/>
                  <a:ea typeface="方正粗黑宋简体" pitchFamily="2" charset="-122"/>
                </a:rPr>
                <a:t>或逻辑</a:t>
              </a:r>
              <a:r>
                <a:rPr lang="zh-CN" altLang="en-US" sz="1600" dirty="0">
                  <a:solidFill>
                    <a:srgbClr val="000000"/>
                  </a:solidFill>
                  <a:latin typeface="微软雅黑" pitchFamily="34" charset="-122"/>
                  <a:ea typeface="微软雅黑" pitchFamily="34" charset="-122"/>
                </a:rPr>
                <a:t>。</a:t>
              </a:r>
              <a:endParaRPr lang="zh-CN" altLang="en-US" sz="1600" dirty="0">
                <a:solidFill>
                  <a:srgbClr val="336699"/>
                </a:solidFill>
                <a:latin typeface="黑体" pitchFamily="49" charset="-122"/>
                <a:ea typeface="黑体" pitchFamily="49" charset="-122"/>
              </a:endParaRPr>
            </a:p>
          </p:txBody>
        </p:sp>
        <p:grpSp>
          <p:nvGrpSpPr>
            <p:cNvPr id="4" name="组合 13">
              <a:extLst>
                <a:ext uri="{FF2B5EF4-FFF2-40B4-BE49-F238E27FC236}">
                  <a16:creationId xmlns:a16="http://schemas.microsoft.com/office/drawing/2014/main" xmlns="" id="{FF3B2FB4-753E-483C-B856-C25711218C46}"/>
                </a:ext>
              </a:extLst>
            </p:cNvPr>
            <p:cNvGrpSpPr/>
            <p:nvPr/>
          </p:nvGrpSpPr>
          <p:grpSpPr>
            <a:xfrm>
              <a:off x="657204" y="3855670"/>
              <a:ext cx="272583" cy="310719"/>
              <a:chOff x="5908675" y="1281113"/>
              <a:chExt cx="246063" cy="260350"/>
            </a:xfrm>
            <a:solidFill>
              <a:srgbClr val="CC6600"/>
            </a:solidFill>
            <a:effectLst/>
          </p:grpSpPr>
          <p:sp>
            <p:nvSpPr>
              <p:cNvPr id="54"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5"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6"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7"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8"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graphicFrame>
        <p:nvGraphicFramePr>
          <p:cNvPr id="62" name="Group 43"/>
          <p:cNvGraphicFramePr>
            <a:graphicFrameLocks noGrp="1"/>
          </p:cNvGraphicFramePr>
          <p:nvPr/>
        </p:nvGraphicFramePr>
        <p:xfrm>
          <a:off x="4689452" y="2132978"/>
          <a:ext cx="1651000" cy="1726125"/>
        </p:xfrm>
        <a:graphic>
          <a:graphicData uri="http://schemas.openxmlformats.org/drawingml/2006/table">
            <a:tbl>
              <a:tblPr/>
              <a:tblGrid>
                <a:gridCol w="1098451">
                  <a:extLst>
                    <a:ext uri="{9D8B030D-6E8A-4147-A177-3AD203B41FA5}">
                      <a16:colId xmlns:a16="http://schemas.microsoft.com/office/drawing/2014/main" xmlns="" val="20000"/>
                    </a:ext>
                  </a:extLst>
                </a:gridCol>
                <a:gridCol w="552549">
                  <a:extLst>
                    <a:ext uri="{9D8B030D-6E8A-4147-A177-3AD203B41FA5}">
                      <a16:colId xmlns:a16="http://schemas.microsoft.com/office/drawing/2014/main" xmlns="" val="20001"/>
                    </a:ext>
                  </a:extLst>
                </a:gridCol>
              </a:tblGrid>
              <a:tr h="332612">
                <a:tc gridSpan="2">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逻辑真值表</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zh-CN" altLang="en-US" sz="1400" b="0" i="0" u="none" strike="noStrike" cap="none" normalizeH="0" baseline="0" dirty="0">
                        <a:ln>
                          <a:noFill/>
                        </a:ln>
                        <a:solidFill>
                          <a:srgbClr val="000000"/>
                        </a:solidFill>
                        <a:effectLst/>
                        <a:latin typeface="微软雅黑" pitchFamily="34" charset="-122"/>
                        <a:ea typeface="微软雅黑" pitchFamily="34" charset="-122"/>
                      </a:endParaRPr>
                    </a:p>
                  </a:txBody>
                  <a:tcPr marL="91422" marR="91422" marT="45711" marB="45711"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30173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A     B</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L</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1"/>
                  </a:ext>
                </a:extLst>
              </a:tr>
              <a:tr h="1091777">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0      0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0      1</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1      0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1      1</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endParaRPr kumimoji="0" lang="zh-CN" altLang="en-US"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2"/>
                  </a:ext>
                </a:extLst>
              </a:tr>
            </a:tbl>
          </a:graphicData>
        </a:graphic>
      </p:graphicFrame>
      <p:sp>
        <p:nvSpPr>
          <p:cNvPr id="65" name="Text Box 13"/>
          <p:cNvSpPr txBox="1">
            <a:spLocks noChangeArrowheads="1"/>
          </p:cNvSpPr>
          <p:nvPr/>
        </p:nvSpPr>
        <p:spPr bwMode="auto">
          <a:xfrm>
            <a:off x="5388611" y="4074171"/>
            <a:ext cx="1923999" cy="369332"/>
          </a:xfrm>
          <a:prstGeom prst="rect">
            <a:avLst/>
          </a:prstGeom>
          <a:noFill/>
          <a:ln w="9525" algn="ctr">
            <a:noFill/>
            <a:miter lim="800000"/>
            <a:headEnd/>
            <a:tailEnd/>
          </a:ln>
          <a:effectLst/>
        </p:spPr>
        <p:txBody>
          <a:bodyPr lIns="0" rIns="0">
            <a:spAutoFit/>
          </a:bodyPr>
          <a:lstStyle/>
          <a:p>
            <a:pPr>
              <a:defRPr/>
            </a:pPr>
            <a:endParaRPr lang="zh-CN" altLang="en-US" dirty="0">
              <a:solidFill>
                <a:srgbClr val="000000"/>
              </a:solidFill>
              <a:effectLst>
                <a:outerShdw blurRad="38100" dist="38100" dir="2700000" algn="tl">
                  <a:srgbClr val="C0C0C0"/>
                </a:outerShdw>
              </a:effectLst>
            </a:endParaRPr>
          </a:p>
        </p:txBody>
      </p:sp>
      <p:grpSp>
        <p:nvGrpSpPr>
          <p:cNvPr id="8" name="组合 85"/>
          <p:cNvGrpSpPr/>
          <p:nvPr/>
        </p:nvGrpSpPr>
        <p:grpSpPr>
          <a:xfrm>
            <a:off x="6843262" y="2108035"/>
            <a:ext cx="1879029" cy="829818"/>
            <a:chOff x="6813831" y="2186940"/>
            <a:chExt cx="1879029" cy="922020"/>
          </a:xfrm>
        </p:grpSpPr>
        <p:sp>
          <p:nvSpPr>
            <p:cNvPr id="87" name="圆角矩形 86"/>
            <p:cNvSpPr/>
            <p:nvPr/>
          </p:nvSpPr>
          <p:spPr>
            <a:xfrm>
              <a:off x="6813831" y="2425620"/>
              <a:ext cx="1879029" cy="6833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9" name="矩形 88"/>
            <p:cNvSpPr/>
            <p:nvPr/>
          </p:nvSpPr>
          <p:spPr>
            <a:xfrm>
              <a:off x="7212171" y="2238494"/>
              <a:ext cx="1082348" cy="341974"/>
            </a:xfrm>
            <a:prstGeom prst="rect">
              <a:avLst/>
            </a:prstGeom>
          </p:spPr>
          <p:txBody>
            <a:bodyPr wrap="non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逻辑表达式</a:t>
              </a:r>
              <a:endParaRPr lang="zh-CN" altLang="en-US" sz="1400" dirty="0">
                <a:solidFill>
                  <a:schemeClr val="bg1"/>
                </a:solidFill>
                <a:effectLst>
                  <a:outerShdw blurRad="38100" dist="38100" dir="2700000" algn="tl">
                    <a:srgbClr val="C0C0C0"/>
                  </a:outerShdw>
                </a:effectLst>
              </a:endParaRPr>
            </a:p>
          </p:txBody>
        </p:sp>
        <p:graphicFrame>
          <p:nvGraphicFramePr>
            <p:cNvPr id="90" name="Object 12"/>
            <p:cNvGraphicFramePr>
              <a:graphicFrameLocks noChangeAspect="1"/>
            </p:cNvGraphicFramePr>
            <p:nvPr/>
          </p:nvGraphicFramePr>
          <p:xfrm>
            <a:off x="7101523" y="2704783"/>
            <a:ext cx="1292225" cy="280987"/>
          </p:xfrm>
          <a:graphic>
            <a:graphicData uri="http://schemas.openxmlformats.org/presentationml/2006/ole">
              <mc:AlternateContent xmlns:mc="http://schemas.openxmlformats.org/markup-compatibility/2006">
                <mc:Choice xmlns:v="urn:schemas-microsoft-com:vml" Requires="v">
                  <p:oleObj spid="_x0000_s28689" name="公式" r:id="rId6" imgW="15240000" imgH="3962400" progId="Equation.3">
                    <p:embed/>
                  </p:oleObj>
                </mc:Choice>
                <mc:Fallback>
                  <p:oleObj name="公式" r:id="rId6" imgW="15240000" imgH="3962400" progId="Equation.3">
                    <p:embed/>
                    <p:pic>
                      <p:nvPicPr>
                        <p:cNvPr id="9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1523" y="2704783"/>
                          <a:ext cx="1292225" cy="28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组合 91"/>
          <p:cNvGrpSpPr/>
          <p:nvPr/>
        </p:nvGrpSpPr>
        <p:grpSpPr>
          <a:xfrm>
            <a:off x="6828022" y="3081871"/>
            <a:ext cx="1879029" cy="884682"/>
            <a:chOff x="6950991" y="3421380"/>
            <a:chExt cx="1879029" cy="982980"/>
          </a:xfrm>
        </p:grpSpPr>
        <p:grpSp>
          <p:nvGrpSpPr>
            <p:cNvPr id="10" name="组合 83"/>
            <p:cNvGrpSpPr/>
            <p:nvPr/>
          </p:nvGrpSpPr>
          <p:grpSpPr>
            <a:xfrm>
              <a:off x="6950991" y="3421380"/>
              <a:ext cx="1879029" cy="982980"/>
              <a:chOff x="6813831" y="2186940"/>
              <a:chExt cx="1879029" cy="982980"/>
            </a:xfrm>
          </p:grpSpPr>
          <p:sp>
            <p:nvSpPr>
              <p:cNvPr id="75" name="圆角矩形 74"/>
              <p:cNvSpPr/>
              <p:nvPr/>
            </p:nvSpPr>
            <p:spPr>
              <a:xfrm>
                <a:off x="6813831" y="2425620"/>
                <a:ext cx="1879029" cy="7443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0" name="矩形 79"/>
              <p:cNvSpPr/>
              <p:nvPr/>
            </p:nvSpPr>
            <p:spPr>
              <a:xfrm>
                <a:off x="7250271" y="2238494"/>
                <a:ext cx="1063149" cy="341974"/>
              </a:xfrm>
              <a:prstGeom prst="rect">
                <a:avLst/>
              </a:prstGeom>
            </p:spPr>
            <p:txBody>
              <a:bodyPr wrap="squar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运算规则</a:t>
                </a:r>
                <a:endParaRPr lang="zh-CN" altLang="en-US" sz="1400" dirty="0">
                  <a:solidFill>
                    <a:schemeClr val="bg1"/>
                  </a:solidFill>
                  <a:effectLst>
                    <a:outerShdw blurRad="38100" dist="38100" dir="2700000" algn="tl">
                      <a:srgbClr val="C0C0C0"/>
                    </a:outerShdw>
                  </a:effectLst>
                </a:endParaRPr>
              </a:p>
            </p:txBody>
          </p:sp>
        </p:grpSp>
        <p:sp>
          <p:nvSpPr>
            <p:cNvPr id="91" name="矩形 90"/>
            <p:cNvSpPr/>
            <p:nvPr/>
          </p:nvSpPr>
          <p:spPr>
            <a:xfrm>
              <a:off x="7059447" y="3952994"/>
              <a:ext cx="1678665" cy="376171"/>
            </a:xfrm>
            <a:prstGeom prst="rect">
              <a:avLst/>
            </a:prstGeom>
          </p:spPr>
          <p:txBody>
            <a:bodyPr wrap="none">
              <a:spAutoFit/>
            </a:bodyPr>
            <a:lstStyle/>
            <a:p>
              <a:r>
                <a:rPr lang="zh-CN" altLang="en-US" sz="1600" dirty="0">
                  <a:solidFill>
                    <a:srgbClr val="6600FF"/>
                  </a:solidFill>
                  <a:latin typeface="方正粗黑宋简体" pitchFamily="2" charset="-122"/>
                  <a:ea typeface="方正粗黑宋简体" pitchFamily="2" charset="-122"/>
                </a:rPr>
                <a:t>有</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出</a:t>
              </a:r>
              <a:r>
                <a:rPr lang="en-US" altLang="zh-CN" sz="1600" dirty="0">
                  <a:solidFill>
                    <a:srgbClr val="6600FF"/>
                  </a:solidFill>
                  <a:latin typeface="方正粗黑宋简体" pitchFamily="2" charset="-122"/>
                  <a:ea typeface="方正粗黑宋简体" pitchFamily="2" charset="-122"/>
                </a:rPr>
                <a:t>1</a:t>
              </a:r>
              <a:r>
                <a:rPr lang="zh-CN" altLang="en-US" sz="1600" dirty="0">
                  <a:solidFill>
                    <a:srgbClr val="6600FF"/>
                  </a:solidFill>
                  <a:latin typeface="方正粗黑宋简体" pitchFamily="2" charset="-122"/>
                  <a:ea typeface="方正粗黑宋简体" pitchFamily="2" charset="-122"/>
                </a:rPr>
                <a:t>、全</a:t>
              </a:r>
              <a:r>
                <a:rPr lang="en-US" altLang="zh-CN" sz="1600" dirty="0">
                  <a:solidFill>
                    <a:srgbClr val="6600FF"/>
                  </a:solidFill>
                  <a:latin typeface="方正粗黑宋简体" pitchFamily="2" charset="-122"/>
                  <a:ea typeface="方正粗黑宋简体" pitchFamily="2" charset="-122"/>
                </a:rPr>
                <a:t>0</a:t>
              </a:r>
              <a:r>
                <a:rPr lang="zh-CN" altLang="en-US" sz="1600" dirty="0">
                  <a:solidFill>
                    <a:srgbClr val="6600FF"/>
                  </a:solidFill>
                  <a:latin typeface="方正粗黑宋简体" pitchFamily="2" charset="-122"/>
                  <a:ea typeface="方正粗黑宋简体" pitchFamily="2" charset="-122"/>
                </a:rPr>
                <a:t>出</a:t>
              </a:r>
              <a:r>
                <a:rPr lang="en-US" altLang="zh-CN" sz="1600" dirty="0">
                  <a:solidFill>
                    <a:srgbClr val="6600FF"/>
                  </a:solidFill>
                  <a:latin typeface="方正粗黑宋简体" pitchFamily="2" charset="-122"/>
                  <a:ea typeface="方正粗黑宋简体" pitchFamily="2" charset="-122"/>
                </a:rPr>
                <a:t>0</a:t>
              </a:r>
              <a:endParaRPr lang="zh-CN" altLang="en-US" sz="1600" dirty="0">
                <a:solidFill>
                  <a:srgbClr val="6600FF"/>
                </a:solidFill>
                <a:latin typeface="方正粗黑宋简体" pitchFamily="2" charset="-122"/>
                <a:ea typeface="方正粗黑宋简体" pitchFamily="2" charset="-122"/>
              </a:endParaRPr>
            </a:p>
          </p:txBody>
        </p:sp>
      </p:grpSp>
      <p:grpSp>
        <p:nvGrpSpPr>
          <p:cNvPr id="11" name="组合 95"/>
          <p:cNvGrpSpPr/>
          <p:nvPr/>
        </p:nvGrpSpPr>
        <p:grpSpPr>
          <a:xfrm>
            <a:off x="2342845" y="4400473"/>
            <a:ext cx="4465320" cy="461665"/>
            <a:chOff x="2247901" y="4621530"/>
            <a:chExt cx="4465320" cy="512961"/>
          </a:xfrm>
          <a:solidFill>
            <a:srgbClr val="FFFF00"/>
          </a:solidFill>
        </p:grpSpPr>
        <p:sp>
          <p:nvSpPr>
            <p:cNvPr id="95" name="圆角矩形 94"/>
            <p:cNvSpPr/>
            <p:nvPr/>
          </p:nvSpPr>
          <p:spPr>
            <a:xfrm>
              <a:off x="2247901" y="4671060"/>
              <a:ext cx="4465320" cy="4419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2256472" y="4621530"/>
              <a:ext cx="2646878" cy="512961"/>
            </a:xfrm>
            <a:prstGeom prst="rect">
              <a:avLst/>
            </a:prstGeom>
            <a:noFill/>
          </p:spPr>
          <p:txBody>
            <a:bodyPr wrap="square">
              <a:spAutoFit/>
            </a:bodyPr>
            <a:lstStyle/>
            <a:p>
              <a:pPr>
                <a:lnSpc>
                  <a:spcPct val="150000"/>
                </a:lnSpc>
              </a:pPr>
              <a:r>
                <a:rPr lang="zh-CN" altLang="en-US" sz="1600" dirty="0">
                  <a:solidFill>
                    <a:srgbClr val="000000"/>
                  </a:solidFill>
                  <a:latin typeface="微软雅黑" pitchFamily="34" charset="-122"/>
                  <a:ea typeface="微软雅黑" pitchFamily="34" charset="-122"/>
                </a:rPr>
                <a:t>或运算可以推广到多变量：</a:t>
              </a:r>
            </a:p>
          </p:txBody>
        </p:sp>
        <p:graphicFrame>
          <p:nvGraphicFramePr>
            <p:cNvPr id="94" name="Object 18"/>
            <p:cNvGraphicFramePr>
              <a:graphicFrameLocks noChangeAspect="1"/>
            </p:cNvGraphicFramePr>
            <p:nvPr/>
          </p:nvGraphicFramePr>
          <p:xfrm>
            <a:off x="4696460" y="4739639"/>
            <a:ext cx="1917700" cy="293053"/>
          </p:xfrm>
          <a:graphic>
            <a:graphicData uri="http://schemas.openxmlformats.org/presentationml/2006/ole">
              <mc:AlternateContent xmlns:mc="http://schemas.openxmlformats.org/markup-compatibility/2006">
                <mc:Choice xmlns:v="urn:schemas-microsoft-com:vml" Requires="v">
                  <p:oleObj spid="_x0000_s28690" name="公式" r:id="rId8" imgW="27432000" imgH="4267200" progId="Equation.3">
                    <p:embed/>
                  </p:oleObj>
                </mc:Choice>
                <mc:Fallback>
                  <p:oleObj name="公式" r:id="rId8" imgW="27432000" imgH="4267200" progId="Equation.3">
                    <p:embed/>
                    <p:pic>
                      <p:nvPicPr>
                        <p:cNvPr id="94"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6460" y="4739639"/>
                          <a:ext cx="1917700" cy="2930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1" name="组合 40"/>
          <p:cNvGrpSpPr/>
          <p:nvPr/>
        </p:nvGrpSpPr>
        <p:grpSpPr>
          <a:xfrm>
            <a:off x="773403" y="2315761"/>
            <a:ext cx="3578340" cy="1606776"/>
            <a:chOff x="773403" y="2286106"/>
            <a:chExt cx="3578340" cy="1785307"/>
          </a:xfrm>
        </p:grpSpPr>
        <p:grpSp>
          <p:nvGrpSpPr>
            <p:cNvPr id="34" name="组合 33"/>
            <p:cNvGrpSpPr/>
            <p:nvPr/>
          </p:nvGrpSpPr>
          <p:grpSpPr>
            <a:xfrm>
              <a:off x="773403" y="2286106"/>
              <a:ext cx="3578340" cy="1785307"/>
              <a:chOff x="800101" y="2312807"/>
              <a:chExt cx="3578340" cy="1785307"/>
            </a:xfrm>
          </p:grpSpPr>
          <p:sp>
            <p:nvSpPr>
              <p:cNvPr id="35" name="圆角矩形 34"/>
              <p:cNvSpPr/>
              <p:nvPr/>
            </p:nvSpPr>
            <p:spPr>
              <a:xfrm>
                <a:off x="800101" y="2312807"/>
                <a:ext cx="3578340" cy="1785307"/>
              </a:xfrm>
              <a:prstGeom prst="roundRect">
                <a:avLst>
                  <a:gd name="adj" fmla="val 50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Rectangle 8"/>
              <p:cNvSpPr>
                <a:spLocks noChangeArrowheads="1"/>
              </p:cNvSpPr>
              <p:nvPr/>
            </p:nvSpPr>
            <p:spPr bwMode="auto">
              <a:xfrm>
                <a:off x="1408460" y="3657918"/>
                <a:ext cx="2249140" cy="3761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或</a:t>
                </a:r>
                <a:r>
                  <a:rPr kumimoji="0" lang="zh-CN" altLang="en-GB" sz="16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逻辑运算</a:t>
                </a:r>
                <a:endParaRPr kumimoji="0" lang="zh-CN" altLang="en-GB"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graphicFrame>
          <p:nvGraphicFramePr>
            <p:cNvPr id="66567" name="Object 7"/>
            <p:cNvGraphicFramePr>
              <a:graphicFrameLocks noChangeAspect="1"/>
            </p:cNvGraphicFramePr>
            <p:nvPr/>
          </p:nvGraphicFramePr>
          <p:xfrm>
            <a:off x="878167" y="2322918"/>
            <a:ext cx="3301840" cy="1321333"/>
          </p:xfrm>
          <a:graphic>
            <a:graphicData uri="http://schemas.openxmlformats.org/presentationml/2006/ole">
              <mc:AlternateContent xmlns:mc="http://schemas.openxmlformats.org/markup-compatibility/2006">
                <mc:Choice xmlns:v="urn:schemas-microsoft-com:vml" Requires="v">
                  <p:oleObj spid="_x0000_s28691" name="Visio" r:id="rId10" imgW="1870107" imgH="744008" progId="Visio.Drawing.11">
                    <p:embed/>
                  </p:oleObj>
                </mc:Choice>
                <mc:Fallback>
                  <p:oleObj name="Visio" r:id="rId10" imgW="1870107" imgH="744008" progId="Visio.Drawing.11">
                    <p:embed/>
                    <p:pic>
                      <p:nvPicPr>
                        <p:cNvPr id="66567"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8167" y="2322918"/>
                          <a:ext cx="3301840" cy="13213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7" name="圆角矩形 86">
            <a:extLst>
              <a:ext uri="{FF2B5EF4-FFF2-40B4-BE49-F238E27FC236}">
                <a16:creationId xmlns:a16="http://schemas.microsoft.com/office/drawing/2014/main" xmlns="" id="{FBD37EBE-242D-4723-A570-046080B34391}"/>
              </a:ext>
            </a:extLst>
          </p:cNvPr>
          <p:cNvSpPr/>
          <p:nvPr/>
        </p:nvSpPr>
        <p:spPr>
          <a:xfrm>
            <a:off x="3036366" y="2300872"/>
            <a:ext cx="1198468" cy="1212966"/>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slide(fromBottom)">
                                      <p:cBhvr>
                                        <p:cTn id="12" dur="10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slide(fromBottom)">
                                      <p:cBhvr>
                                        <p:cTn id="17" dur="10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lide(fromBottom)">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p:cTn id="27" dur="1000" fill="hold"/>
                                        <p:tgtEl>
                                          <p:spTgt spid="37"/>
                                        </p:tgtEl>
                                        <p:attrNameLst>
                                          <p:attrName>ppt_w</p:attrName>
                                        </p:attrNameLst>
                                      </p:cBhvr>
                                      <p:tavLst>
                                        <p:tav tm="0">
                                          <p:val>
                                            <p:fltVal val="0"/>
                                          </p:val>
                                        </p:tav>
                                        <p:tav tm="100000">
                                          <p:val>
                                            <p:strVal val="#ppt_w"/>
                                          </p:val>
                                        </p:tav>
                                      </p:tavLst>
                                    </p:anim>
                                    <p:anim calcmode="lin" valueType="num">
                                      <p:cBhvr>
                                        <p:cTn id="28" dur="1000" fill="hold"/>
                                        <p:tgtEl>
                                          <p:spTgt spid="37"/>
                                        </p:tgtEl>
                                        <p:attrNameLst>
                                          <p:attrName>ppt_h</p:attrName>
                                        </p:attrNameLst>
                                      </p:cBhvr>
                                      <p:tavLst>
                                        <p:tav tm="0">
                                          <p:val>
                                            <p:fltVal val="0"/>
                                          </p:val>
                                        </p:tav>
                                        <p:tav tm="100000">
                                          <p:val>
                                            <p:strVal val="#ppt_h"/>
                                          </p:val>
                                        </p:tav>
                                      </p:tavLst>
                                    </p:anim>
                                    <p:animEffect transition="in" filter="fade">
                                      <p:cBhvr>
                                        <p:cTn id="29" dur="100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slide(fromBottom)">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slide(fromBottom)">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2580344" cy="418885"/>
            <a:chOff x="670560" y="892917"/>
            <a:chExt cx="2580344" cy="465428"/>
          </a:xfrm>
        </p:grpSpPr>
        <p:sp>
          <p:nvSpPr>
            <p:cNvPr id="5" name="矩形 4"/>
            <p:cNvSpPr/>
            <p:nvPr/>
          </p:nvSpPr>
          <p:spPr>
            <a:xfrm>
              <a:off x="1035233" y="913778"/>
              <a:ext cx="2215671" cy="444567"/>
            </a:xfrm>
            <a:prstGeom prst="rect">
              <a:avLst/>
            </a:prstGeom>
          </p:spPr>
          <p:txBody>
            <a:bodyPr wrap="none">
              <a:spAutoFit/>
            </a:bodyPr>
            <a:lstStyle/>
            <a:p>
              <a:r>
                <a:rPr lang="en-US" altLang="zh-CN" sz="2000" b="1" dirty="0">
                  <a:solidFill>
                    <a:srgbClr val="002060"/>
                  </a:solidFill>
                  <a:latin typeface="微软雅黑" pitchFamily="34" charset="-122"/>
                  <a:ea typeface="微软雅黑" pitchFamily="34" charset="-122"/>
                </a:rPr>
                <a:t>3</a:t>
              </a:r>
              <a:r>
                <a:rPr lang="zh-CN" altLang="en-US" sz="2000" b="1" dirty="0">
                  <a:solidFill>
                    <a:srgbClr val="002060"/>
                  </a:solidFill>
                  <a:latin typeface="微软雅黑" pitchFamily="34" charset="-122"/>
                  <a:ea typeface="微软雅黑" pitchFamily="34" charset="-122"/>
                </a:rPr>
                <a:t>、基本逻辑运算 </a:t>
              </a:r>
            </a:p>
          </p:txBody>
        </p:sp>
        <p:pic>
          <p:nvPicPr>
            <p:cNvPr id="6"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5058" name="AutoShape 2" descr="http://img3.imgtn.bdimg.com/it/u=2682441348,586746371&amp;fm=214&amp;gp=0.jpg"/>
          <p:cNvSpPr>
            <a:spLocks noChangeAspect="1" noChangeArrowheads="1"/>
          </p:cNvSpPr>
          <p:nvPr/>
        </p:nvSpPr>
        <p:spPr bwMode="auto">
          <a:xfrm>
            <a:off x="155575" y="-130016"/>
            <a:ext cx="304800" cy="27432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3" name="组合 50"/>
          <p:cNvGrpSpPr/>
          <p:nvPr/>
        </p:nvGrpSpPr>
        <p:grpSpPr>
          <a:xfrm>
            <a:off x="816061" y="1118589"/>
            <a:ext cx="7275216" cy="830997"/>
            <a:chOff x="657204" y="3747952"/>
            <a:chExt cx="7275216" cy="923330"/>
          </a:xfrm>
        </p:grpSpPr>
        <p:sp>
          <p:nvSpPr>
            <p:cNvPr id="52" name="矩形 51"/>
            <p:cNvSpPr/>
            <p:nvPr/>
          </p:nvSpPr>
          <p:spPr>
            <a:xfrm>
              <a:off x="931364" y="3747952"/>
              <a:ext cx="7001056" cy="923330"/>
            </a:xfrm>
            <a:prstGeom prst="rect">
              <a:avLst/>
            </a:prstGeom>
          </p:spPr>
          <p:txBody>
            <a:bodyPr wrap="square">
              <a:spAutoFit/>
            </a:bodyPr>
            <a:lstStyle/>
            <a:p>
              <a:pPr marL="808038" indent="-808038">
                <a:lnSpc>
                  <a:spcPct val="150000"/>
                </a:lnSpc>
              </a:pPr>
              <a:r>
                <a:rPr lang="zh-CN" altLang="en-US" sz="1600" dirty="0">
                  <a:solidFill>
                    <a:srgbClr val="6600FF"/>
                  </a:solidFill>
                  <a:latin typeface="方正粗黑宋简体" pitchFamily="2" charset="-122"/>
                  <a:ea typeface="方正粗黑宋简体" pitchFamily="2" charset="-122"/>
                </a:rPr>
                <a:t>非运算</a:t>
              </a:r>
              <a:r>
                <a:rPr lang="zh-CN" altLang="en-US" sz="1600" dirty="0">
                  <a:solidFill>
                    <a:srgbClr val="336699"/>
                  </a:solidFill>
                  <a:latin typeface="黑体" pitchFamily="49" charset="-122"/>
                  <a:ea typeface="黑体" pitchFamily="49" charset="-122"/>
                </a:rPr>
                <a:t>：</a:t>
              </a:r>
              <a:r>
                <a:rPr lang="zh-CN" altLang="en-US" sz="1600" dirty="0">
                  <a:solidFill>
                    <a:srgbClr val="000000"/>
                  </a:solidFill>
                  <a:latin typeface="微软雅黑" pitchFamily="34" charset="-122"/>
                  <a:ea typeface="微软雅黑" pitchFamily="34" charset="-122"/>
                </a:rPr>
                <a:t>事件发生的条件具备时，事件不会发生；事件发生的条件不具备时，事件发生。这种因果关系也称为</a:t>
              </a:r>
              <a:r>
                <a:rPr lang="zh-CN" altLang="en-US" sz="1600" dirty="0">
                  <a:solidFill>
                    <a:srgbClr val="6600FF"/>
                  </a:solidFill>
                  <a:latin typeface="方正粗黑宋简体" pitchFamily="2" charset="-122"/>
                  <a:ea typeface="方正粗黑宋简体" pitchFamily="2" charset="-122"/>
                </a:rPr>
                <a:t>非逻辑</a:t>
              </a:r>
              <a:r>
                <a:rPr lang="zh-CN" altLang="en-US" sz="1600" dirty="0">
                  <a:solidFill>
                    <a:srgbClr val="000000"/>
                  </a:solidFill>
                  <a:latin typeface="微软雅黑" pitchFamily="34" charset="-122"/>
                  <a:ea typeface="微软雅黑" pitchFamily="34" charset="-122"/>
                </a:rPr>
                <a:t>。</a:t>
              </a:r>
              <a:endParaRPr lang="zh-CN" altLang="en-US" sz="1600" dirty="0">
                <a:solidFill>
                  <a:srgbClr val="336699"/>
                </a:solidFill>
                <a:latin typeface="黑体" pitchFamily="49" charset="-122"/>
                <a:ea typeface="黑体" pitchFamily="49" charset="-122"/>
              </a:endParaRPr>
            </a:p>
          </p:txBody>
        </p:sp>
        <p:grpSp>
          <p:nvGrpSpPr>
            <p:cNvPr id="4" name="组合 13">
              <a:extLst>
                <a:ext uri="{FF2B5EF4-FFF2-40B4-BE49-F238E27FC236}">
                  <a16:creationId xmlns:a16="http://schemas.microsoft.com/office/drawing/2014/main" xmlns="" id="{FF3B2FB4-753E-483C-B856-C25711218C46}"/>
                </a:ext>
              </a:extLst>
            </p:cNvPr>
            <p:cNvGrpSpPr/>
            <p:nvPr/>
          </p:nvGrpSpPr>
          <p:grpSpPr>
            <a:xfrm>
              <a:off x="657204" y="3855670"/>
              <a:ext cx="272583" cy="310719"/>
              <a:chOff x="5908675" y="1281113"/>
              <a:chExt cx="246063" cy="260350"/>
            </a:xfrm>
            <a:solidFill>
              <a:srgbClr val="CC6600"/>
            </a:solidFill>
            <a:effectLst/>
          </p:grpSpPr>
          <p:sp>
            <p:nvSpPr>
              <p:cNvPr id="54" name="Rectangle 5">
                <a:extLst>
                  <a:ext uri="{FF2B5EF4-FFF2-40B4-BE49-F238E27FC236}">
                    <a16:creationId xmlns:a16="http://schemas.microsoft.com/office/drawing/2014/main" xmlns="" id="{9B009D39-46A2-4259-9D42-738EE4066A67}"/>
                  </a:ext>
                </a:extLst>
              </p:cNvPr>
              <p:cNvSpPr>
                <a:spLocks noChangeArrowheads="1"/>
              </p:cNvSpPr>
              <p:nvPr/>
            </p:nvSpPr>
            <p:spPr bwMode="auto">
              <a:xfrm>
                <a:off x="6024563" y="1320800"/>
                <a:ext cx="15875" cy="163513"/>
              </a:xfrm>
              <a:prstGeom prst="rect">
                <a:avLst/>
              </a:prstGeom>
              <a:grpFill/>
              <a:ln w="6350" cmpd="sng">
                <a:solidFill>
                  <a:srgbClr val="CC6600"/>
                </a:solidFill>
                <a:miter lim="800000"/>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5" name="Freeform 6">
                <a:extLst>
                  <a:ext uri="{FF2B5EF4-FFF2-40B4-BE49-F238E27FC236}">
                    <a16:creationId xmlns:a16="http://schemas.microsoft.com/office/drawing/2014/main" xmlns="" id="{3FE9648E-F3AC-40CB-9DE3-883C834ACCFD}"/>
                  </a:ext>
                </a:extLst>
              </p:cNvPr>
              <p:cNvSpPr>
                <a:spLocks/>
              </p:cNvSpPr>
              <p:nvPr/>
            </p:nvSpPr>
            <p:spPr bwMode="auto">
              <a:xfrm>
                <a:off x="5908675" y="1501775"/>
                <a:ext cx="131762" cy="39688"/>
              </a:xfrm>
              <a:custGeom>
                <a:avLst/>
                <a:gdLst>
                  <a:gd name="T0" fmla="*/ 64 w 64"/>
                  <a:gd name="T1" fmla="*/ 20 h 20"/>
                  <a:gd name="T2" fmla="*/ 56 w 64"/>
                  <a:gd name="T3" fmla="*/ 20 h 20"/>
                  <a:gd name="T4" fmla="*/ 44 w 64"/>
                  <a:gd name="T5" fmla="*/ 8 h 20"/>
                  <a:gd name="T6" fmla="*/ 0 w 64"/>
                  <a:gd name="T7" fmla="*/ 8 h 20"/>
                  <a:gd name="T8" fmla="*/ 0 w 64"/>
                  <a:gd name="T9" fmla="*/ 0 h 20"/>
                  <a:gd name="T10" fmla="*/ 44 w 64"/>
                  <a:gd name="T11" fmla="*/ 0 h 20"/>
                  <a:gd name="T12" fmla="*/ 64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64" y="20"/>
                    </a:moveTo>
                    <a:cubicBezTo>
                      <a:pt x="56" y="20"/>
                      <a:pt x="56" y="20"/>
                      <a:pt x="56" y="20"/>
                    </a:cubicBezTo>
                    <a:cubicBezTo>
                      <a:pt x="56" y="13"/>
                      <a:pt x="51" y="8"/>
                      <a:pt x="44" y="8"/>
                    </a:cubicBezTo>
                    <a:cubicBezTo>
                      <a:pt x="0" y="8"/>
                      <a:pt x="0" y="8"/>
                      <a:pt x="0" y="8"/>
                    </a:cubicBezTo>
                    <a:cubicBezTo>
                      <a:pt x="0" y="0"/>
                      <a:pt x="0" y="0"/>
                      <a:pt x="0" y="0"/>
                    </a:cubicBezTo>
                    <a:cubicBezTo>
                      <a:pt x="44" y="0"/>
                      <a:pt x="44" y="0"/>
                      <a:pt x="44" y="0"/>
                    </a:cubicBezTo>
                    <a:cubicBezTo>
                      <a:pt x="55" y="0"/>
                      <a:pt x="64" y="9"/>
                      <a:pt x="64"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6" name="Freeform 7">
                <a:extLst>
                  <a:ext uri="{FF2B5EF4-FFF2-40B4-BE49-F238E27FC236}">
                    <a16:creationId xmlns:a16="http://schemas.microsoft.com/office/drawing/2014/main" xmlns="" id="{BFF701F3-D87C-49D7-8803-795564BC1FD1}"/>
                  </a:ext>
                </a:extLst>
              </p:cNvPr>
              <p:cNvSpPr>
                <a:spLocks/>
              </p:cNvSpPr>
              <p:nvPr/>
            </p:nvSpPr>
            <p:spPr bwMode="auto">
              <a:xfrm>
                <a:off x="6024563" y="1501775"/>
                <a:ext cx="130175" cy="39688"/>
              </a:xfrm>
              <a:custGeom>
                <a:avLst/>
                <a:gdLst>
                  <a:gd name="T0" fmla="*/ 8 w 64"/>
                  <a:gd name="T1" fmla="*/ 20 h 20"/>
                  <a:gd name="T2" fmla="*/ 0 w 64"/>
                  <a:gd name="T3" fmla="*/ 20 h 20"/>
                  <a:gd name="T4" fmla="*/ 20 w 64"/>
                  <a:gd name="T5" fmla="*/ 0 h 20"/>
                  <a:gd name="T6" fmla="*/ 64 w 64"/>
                  <a:gd name="T7" fmla="*/ 0 h 20"/>
                  <a:gd name="T8" fmla="*/ 64 w 64"/>
                  <a:gd name="T9" fmla="*/ 8 h 20"/>
                  <a:gd name="T10" fmla="*/ 20 w 64"/>
                  <a:gd name="T11" fmla="*/ 8 h 20"/>
                  <a:gd name="T12" fmla="*/ 8 w 6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64" h="20">
                    <a:moveTo>
                      <a:pt x="8" y="20"/>
                    </a:moveTo>
                    <a:cubicBezTo>
                      <a:pt x="0" y="20"/>
                      <a:pt x="0" y="20"/>
                      <a:pt x="0" y="20"/>
                    </a:cubicBezTo>
                    <a:cubicBezTo>
                      <a:pt x="0" y="9"/>
                      <a:pt x="9" y="0"/>
                      <a:pt x="20" y="0"/>
                    </a:cubicBezTo>
                    <a:cubicBezTo>
                      <a:pt x="64" y="0"/>
                      <a:pt x="64" y="0"/>
                      <a:pt x="64" y="0"/>
                    </a:cubicBezTo>
                    <a:cubicBezTo>
                      <a:pt x="64" y="8"/>
                      <a:pt x="64" y="8"/>
                      <a:pt x="64" y="8"/>
                    </a:cubicBezTo>
                    <a:cubicBezTo>
                      <a:pt x="20" y="8"/>
                      <a:pt x="20" y="8"/>
                      <a:pt x="20" y="8"/>
                    </a:cubicBezTo>
                    <a:cubicBezTo>
                      <a:pt x="13" y="8"/>
                      <a:pt x="8" y="13"/>
                      <a:pt x="8" y="20"/>
                    </a:cubicBezTo>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7" name="Freeform 8">
                <a:extLst>
                  <a:ext uri="{FF2B5EF4-FFF2-40B4-BE49-F238E27FC236}">
                    <a16:creationId xmlns:a16="http://schemas.microsoft.com/office/drawing/2014/main" xmlns="" id="{7005F504-0956-437D-B5A5-12AE6D765977}"/>
                  </a:ext>
                </a:extLst>
              </p:cNvPr>
              <p:cNvSpPr>
                <a:spLocks/>
              </p:cNvSpPr>
              <p:nvPr/>
            </p:nvSpPr>
            <p:spPr bwMode="auto">
              <a:xfrm>
                <a:off x="5908675" y="1281113"/>
                <a:ext cx="131762" cy="203200"/>
              </a:xfrm>
              <a:custGeom>
                <a:avLst/>
                <a:gdLst>
                  <a:gd name="T0" fmla="*/ 48 w 64"/>
                  <a:gd name="T1" fmla="*/ 100 h 100"/>
                  <a:gd name="T2" fmla="*/ 0 w 64"/>
                  <a:gd name="T3" fmla="*/ 100 h 100"/>
                  <a:gd name="T4" fmla="*/ 0 w 64"/>
                  <a:gd name="T5" fmla="*/ 0 h 100"/>
                  <a:gd name="T6" fmla="*/ 44 w 64"/>
                  <a:gd name="T7" fmla="*/ 0 h 100"/>
                  <a:gd name="T8" fmla="*/ 64 w 64"/>
                  <a:gd name="T9" fmla="*/ 20 h 100"/>
                  <a:gd name="T10" fmla="*/ 56 w 64"/>
                  <a:gd name="T11" fmla="*/ 20 h 100"/>
                  <a:gd name="T12" fmla="*/ 44 w 64"/>
                  <a:gd name="T13" fmla="*/ 8 h 100"/>
                  <a:gd name="T14" fmla="*/ 8 w 64"/>
                  <a:gd name="T15" fmla="*/ 8 h 100"/>
                  <a:gd name="T16" fmla="*/ 8 w 64"/>
                  <a:gd name="T17" fmla="*/ 92 h 100"/>
                  <a:gd name="T18" fmla="*/ 48 w 64"/>
                  <a:gd name="T19" fmla="*/ 92 h 100"/>
                  <a:gd name="T20" fmla="*/ 48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48" y="100"/>
                    </a:moveTo>
                    <a:cubicBezTo>
                      <a:pt x="0" y="100"/>
                      <a:pt x="0" y="100"/>
                      <a:pt x="0" y="100"/>
                    </a:cubicBezTo>
                    <a:cubicBezTo>
                      <a:pt x="0" y="0"/>
                      <a:pt x="0" y="0"/>
                      <a:pt x="0" y="0"/>
                    </a:cubicBezTo>
                    <a:cubicBezTo>
                      <a:pt x="44" y="0"/>
                      <a:pt x="44" y="0"/>
                      <a:pt x="44" y="0"/>
                    </a:cubicBezTo>
                    <a:cubicBezTo>
                      <a:pt x="55" y="0"/>
                      <a:pt x="64" y="9"/>
                      <a:pt x="64" y="20"/>
                    </a:cubicBezTo>
                    <a:cubicBezTo>
                      <a:pt x="56" y="20"/>
                      <a:pt x="56" y="20"/>
                      <a:pt x="56" y="20"/>
                    </a:cubicBezTo>
                    <a:cubicBezTo>
                      <a:pt x="56" y="13"/>
                      <a:pt x="51" y="8"/>
                      <a:pt x="44" y="8"/>
                    </a:cubicBezTo>
                    <a:cubicBezTo>
                      <a:pt x="8" y="8"/>
                      <a:pt x="8" y="8"/>
                      <a:pt x="8" y="8"/>
                    </a:cubicBezTo>
                    <a:cubicBezTo>
                      <a:pt x="8" y="92"/>
                      <a:pt x="8" y="92"/>
                      <a:pt x="8" y="92"/>
                    </a:cubicBezTo>
                    <a:cubicBezTo>
                      <a:pt x="48" y="92"/>
                      <a:pt x="48" y="92"/>
                      <a:pt x="48" y="92"/>
                    </a:cubicBezTo>
                    <a:lnTo>
                      <a:pt x="48"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sp>
            <p:nvSpPr>
              <p:cNvPr id="58" name="Freeform 9">
                <a:extLst>
                  <a:ext uri="{FF2B5EF4-FFF2-40B4-BE49-F238E27FC236}">
                    <a16:creationId xmlns:a16="http://schemas.microsoft.com/office/drawing/2014/main" xmlns="" id="{FDB7BDF1-0BB3-4885-A22D-31F1B4625B48}"/>
                  </a:ext>
                </a:extLst>
              </p:cNvPr>
              <p:cNvSpPr>
                <a:spLocks/>
              </p:cNvSpPr>
              <p:nvPr/>
            </p:nvSpPr>
            <p:spPr bwMode="auto">
              <a:xfrm>
                <a:off x="6024563" y="1281113"/>
                <a:ext cx="130175" cy="203200"/>
              </a:xfrm>
              <a:custGeom>
                <a:avLst/>
                <a:gdLst>
                  <a:gd name="T0" fmla="*/ 64 w 64"/>
                  <a:gd name="T1" fmla="*/ 100 h 100"/>
                  <a:gd name="T2" fmla="*/ 16 w 64"/>
                  <a:gd name="T3" fmla="*/ 100 h 100"/>
                  <a:gd name="T4" fmla="*/ 16 w 64"/>
                  <a:gd name="T5" fmla="*/ 92 h 100"/>
                  <a:gd name="T6" fmla="*/ 56 w 64"/>
                  <a:gd name="T7" fmla="*/ 92 h 100"/>
                  <a:gd name="T8" fmla="*/ 56 w 64"/>
                  <a:gd name="T9" fmla="*/ 8 h 100"/>
                  <a:gd name="T10" fmla="*/ 20 w 64"/>
                  <a:gd name="T11" fmla="*/ 8 h 100"/>
                  <a:gd name="T12" fmla="*/ 8 w 64"/>
                  <a:gd name="T13" fmla="*/ 20 h 100"/>
                  <a:gd name="T14" fmla="*/ 0 w 64"/>
                  <a:gd name="T15" fmla="*/ 20 h 100"/>
                  <a:gd name="T16" fmla="*/ 20 w 64"/>
                  <a:gd name="T17" fmla="*/ 0 h 100"/>
                  <a:gd name="T18" fmla="*/ 64 w 64"/>
                  <a:gd name="T19" fmla="*/ 0 h 100"/>
                  <a:gd name="T20" fmla="*/ 64 w 64"/>
                  <a:gd name="T21"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00">
                    <a:moveTo>
                      <a:pt x="64" y="100"/>
                    </a:moveTo>
                    <a:cubicBezTo>
                      <a:pt x="16" y="100"/>
                      <a:pt x="16" y="100"/>
                      <a:pt x="16" y="100"/>
                    </a:cubicBezTo>
                    <a:cubicBezTo>
                      <a:pt x="16" y="92"/>
                      <a:pt x="16" y="92"/>
                      <a:pt x="16" y="92"/>
                    </a:cubicBezTo>
                    <a:cubicBezTo>
                      <a:pt x="56" y="92"/>
                      <a:pt x="56" y="92"/>
                      <a:pt x="56" y="92"/>
                    </a:cubicBezTo>
                    <a:cubicBezTo>
                      <a:pt x="56" y="8"/>
                      <a:pt x="56" y="8"/>
                      <a:pt x="56" y="8"/>
                    </a:cubicBezTo>
                    <a:cubicBezTo>
                      <a:pt x="20" y="8"/>
                      <a:pt x="20" y="8"/>
                      <a:pt x="20" y="8"/>
                    </a:cubicBezTo>
                    <a:cubicBezTo>
                      <a:pt x="13" y="8"/>
                      <a:pt x="8" y="13"/>
                      <a:pt x="8" y="20"/>
                    </a:cubicBezTo>
                    <a:cubicBezTo>
                      <a:pt x="0" y="20"/>
                      <a:pt x="0" y="20"/>
                      <a:pt x="0" y="20"/>
                    </a:cubicBezTo>
                    <a:cubicBezTo>
                      <a:pt x="0" y="9"/>
                      <a:pt x="9" y="0"/>
                      <a:pt x="20" y="0"/>
                    </a:cubicBezTo>
                    <a:cubicBezTo>
                      <a:pt x="64" y="0"/>
                      <a:pt x="64" y="0"/>
                      <a:pt x="64" y="0"/>
                    </a:cubicBezTo>
                    <a:lnTo>
                      <a:pt x="64" y="100"/>
                    </a:lnTo>
                    <a:close/>
                  </a:path>
                </a:pathLst>
              </a:custGeom>
              <a:grpFill/>
              <a:ln w="6350" cmpd="sng">
                <a:solidFill>
                  <a:srgbClr val="CC6600"/>
                </a:solid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prstClr val="black">
                      <a:lumMod val="75000"/>
                      <a:lumOff val="25000"/>
                    </a:prstClr>
                  </a:solidFill>
                  <a:effectLst>
                    <a:outerShdw blurRad="38100" dist="38100" dir="2700000" algn="tl">
                      <a:srgbClr val="000000">
                        <a:alpha val="43137"/>
                      </a:srgbClr>
                    </a:outerShdw>
                  </a:effectLst>
                  <a:latin typeface="Arial"/>
                  <a:ea typeface="微软雅黑"/>
                </a:endParaRPr>
              </a:p>
            </p:txBody>
          </p:sp>
        </p:grpSp>
      </p:grpSp>
      <p:graphicFrame>
        <p:nvGraphicFramePr>
          <p:cNvPr id="62" name="Group 43"/>
          <p:cNvGraphicFramePr>
            <a:graphicFrameLocks noGrp="1"/>
          </p:cNvGraphicFramePr>
          <p:nvPr/>
        </p:nvGraphicFramePr>
        <p:xfrm>
          <a:off x="4704080" y="1999108"/>
          <a:ext cx="1651000" cy="1418887"/>
        </p:xfrm>
        <a:graphic>
          <a:graphicData uri="http://schemas.openxmlformats.org/drawingml/2006/table">
            <a:tbl>
              <a:tblPr/>
              <a:tblGrid>
                <a:gridCol w="828040">
                  <a:extLst>
                    <a:ext uri="{9D8B030D-6E8A-4147-A177-3AD203B41FA5}">
                      <a16:colId xmlns:a16="http://schemas.microsoft.com/office/drawing/2014/main" xmlns="" val="20000"/>
                    </a:ext>
                  </a:extLst>
                </a:gridCol>
                <a:gridCol w="822960">
                  <a:extLst>
                    <a:ext uri="{9D8B030D-6E8A-4147-A177-3AD203B41FA5}">
                      <a16:colId xmlns:a16="http://schemas.microsoft.com/office/drawing/2014/main" xmlns="" val="20001"/>
                    </a:ext>
                  </a:extLst>
                </a:gridCol>
              </a:tblGrid>
              <a:tr h="332612">
                <a:tc gridSpan="2">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微软雅黑" pitchFamily="34" charset="-122"/>
                          <a:ea typeface="微软雅黑" pitchFamily="34" charset="-122"/>
                        </a:rPr>
                        <a:t>逻辑真值表</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zh-CN" altLang="en-US" sz="1400" b="0" i="0" u="none" strike="noStrike" cap="none" normalizeH="0" baseline="0" dirty="0">
                        <a:ln>
                          <a:noFill/>
                        </a:ln>
                        <a:solidFill>
                          <a:srgbClr val="000000"/>
                        </a:solidFill>
                        <a:effectLst/>
                        <a:latin typeface="微软雅黑" pitchFamily="34" charset="-122"/>
                        <a:ea typeface="微软雅黑" pitchFamily="34" charset="-122"/>
                      </a:endParaRPr>
                    </a:p>
                  </a:txBody>
                  <a:tcPr marL="91422" marR="91422" marT="45711" marB="45711"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30173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A   </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方正粗黑宋简体" pitchFamily="2" charset="-122"/>
                          <a:ea typeface="方正粗黑宋简体" pitchFamily="2" charset="-122"/>
                        </a:rPr>
                        <a:t>L</a:t>
                      </a:r>
                      <a:endParaRPr kumimoji="0" lang="zh-CN" altLang="en-US" sz="1400" b="0" i="1" u="none" strike="noStrike" cap="none" normalizeH="0" baseline="0" dirty="0">
                        <a:ln>
                          <a:noFill/>
                        </a:ln>
                        <a:solidFill>
                          <a:srgbClr val="000000"/>
                        </a:solidFill>
                        <a:effectLst/>
                        <a:latin typeface="方正粗黑宋简体" pitchFamily="2" charset="-122"/>
                        <a:ea typeface="方正粗黑宋简体" pitchFamily="2" charset="-122"/>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1"/>
                  </a:ext>
                </a:extLst>
              </a:tr>
              <a:tr h="784539">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p>
                    <a:p>
                      <a:pPr marL="0" marR="0" lvl="0" indent="0" algn="ctr" defTabSz="914400" rtl="0" eaLnBrk="1" fontAlgn="base" latinLnBrk="0" hangingPunct="1">
                        <a:lnSpc>
                          <a:spcPct val="15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p>
                  </a:txBody>
                  <a:tcPr marL="91422" marR="91422" marT="41140" marB="41140" anchor="ctr" horzOverflow="overflow">
                    <a:lnL cap="flat">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1</a:t>
                      </a:r>
                    </a:p>
                    <a:p>
                      <a:pPr marL="0" marR="0" lvl="0" indent="0" algn="ctr" defTabSz="914400" rtl="0" eaLnBrk="1" fontAlgn="base" latinLnBrk="0" hangingPunct="1">
                        <a:lnSpc>
                          <a:spcPct val="150000"/>
                        </a:lnSpc>
                        <a:spcBef>
                          <a:spcPct val="20000"/>
                        </a:spcBef>
                        <a:spcAft>
                          <a:spcPct val="0"/>
                        </a:spcAft>
                        <a:buClr>
                          <a:schemeClr val="tx1"/>
                        </a:buClr>
                        <a:buSzTx/>
                        <a:buFontTx/>
                        <a:buNone/>
                        <a:tabLst/>
                      </a:pPr>
                      <a:r>
                        <a:rPr kumimoji="0" lang="en-US" altLang="zh-CN"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rPr>
                        <a:t>0</a:t>
                      </a:r>
                      <a:endParaRPr kumimoji="0" lang="zh-CN" altLang="en-US" sz="1400" b="0" i="0" u="none" strike="noStrike" kern="1200" cap="none" normalizeH="0" baseline="0" dirty="0">
                        <a:ln>
                          <a:noFill/>
                        </a:ln>
                        <a:solidFill>
                          <a:srgbClr val="000000"/>
                        </a:solidFill>
                        <a:effectLst/>
                        <a:latin typeface="方正粗黑宋简体" pitchFamily="2" charset="-122"/>
                        <a:ea typeface="方正粗黑宋简体" pitchFamily="2" charset="-122"/>
                        <a:cs typeface="Times New Roman" pitchFamily="18" charset="0"/>
                      </a:endParaRPr>
                    </a:p>
                  </a:txBody>
                  <a:tcPr marL="91422" marR="91422" marT="41140" marB="41140" anchor="ct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2"/>
                  </a:ext>
                </a:extLst>
              </a:tr>
            </a:tbl>
          </a:graphicData>
        </a:graphic>
      </p:graphicFrame>
      <p:grpSp>
        <p:nvGrpSpPr>
          <p:cNvPr id="7" name="组合 85"/>
          <p:cNvGrpSpPr/>
          <p:nvPr/>
        </p:nvGrpSpPr>
        <p:grpSpPr>
          <a:xfrm>
            <a:off x="6684292" y="1995678"/>
            <a:ext cx="1879029" cy="829818"/>
            <a:chOff x="6813831" y="2186940"/>
            <a:chExt cx="1879029" cy="922020"/>
          </a:xfrm>
        </p:grpSpPr>
        <p:sp>
          <p:nvSpPr>
            <p:cNvPr id="87" name="圆角矩形 86"/>
            <p:cNvSpPr/>
            <p:nvPr/>
          </p:nvSpPr>
          <p:spPr>
            <a:xfrm>
              <a:off x="6813831" y="2425620"/>
              <a:ext cx="1879029" cy="6833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9" name="矩形 88"/>
            <p:cNvSpPr/>
            <p:nvPr/>
          </p:nvSpPr>
          <p:spPr>
            <a:xfrm>
              <a:off x="7212171" y="2238494"/>
              <a:ext cx="1082348" cy="341974"/>
            </a:xfrm>
            <a:prstGeom prst="rect">
              <a:avLst/>
            </a:prstGeom>
          </p:spPr>
          <p:txBody>
            <a:bodyPr wrap="non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逻辑表达式</a:t>
              </a:r>
              <a:endParaRPr lang="zh-CN" altLang="en-US" sz="1400" dirty="0">
                <a:solidFill>
                  <a:schemeClr val="bg1"/>
                </a:solidFill>
                <a:effectLst>
                  <a:outerShdw blurRad="38100" dist="38100" dir="2700000" algn="tl">
                    <a:srgbClr val="C0C0C0"/>
                  </a:outerShdw>
                </a:effectLst>
              </a:endParaRPr>
            </a:p>
          </p:txBody>
        </p:sp>
        <p:graphicFrame>
          <p:nvGraphicFramePr>
            <p:cNvPr id="90" name="Object 12"/>
            <p:cNvGraphicFramePr>
              <a:graphicFrameLocks noChangeAspect="1"/>
            </p:cNvGraphicFramePr>
            <p:nvPr/>
          </p:nvGraphicFramePr>
          <p:xfrm>
            <a:off x="7322926" y="2644140"/>
            <a:ext cx="789198" cy="381734"/>
          </p:xfrm>
          <a:graphic>
            <a:graphicData uri="http://schemas.openxmlformats.org/presentationml/2006/ole">
              <mc:AlternateContent xmlns:mc="http://schemas.openxmlformats.org/markup-compatibility/2006">
                <mc:Choice xmlns:v="urn:schemas-microsoft-com:vml" Requires="v">
                  <p:oleObj spid="_x0000_s29708" name="公式" r:id="rId6" imgW="355320" imgH="177480" progId="Equation.3">
                    <p:embed/>
                  </p:oleObj>
                </mc:Choice>
                <mc:Fallback>
                  <p:oleObj name="公式" r:id="rId6" imgW="355320" imgH="177480" progId="Equation.3">
                    <p:embed/>
                    <p:pic>
                      <p:nvPicPr>
                        <p:cNvPr id="90" name="Object 12"/>
                        <p:cNvPicPr>
                          <a:picLocks noChangeAspect="1" noChangeArrowheads="1"/>
                        </p:cNvPicPr>
                        <p:nvPr/>
                      </p:nvPicPr>
                      <p:blipFill>
                        <a:blip r:embed="rId7"/>
                        <a:srcRect/>
                        <a:stretch>
                          <a:fillRect/>
                        </a:stretch>
                      </p:blipFill>
                      <p:spPr bwMode="auto">
                        <a:xfrm>
                          <a:off x="7322926" y="2644140"/>
                          <a:ext cx="789198" cy="381734"/>
                        </a:xfrm>
                        <a:prstGeom prst="rect">
                          <a:avLst/>
                        </a:prstGeom>
                        <a:noFill/>
                      </p:spPr>
                    </p:pic>
                  </p:oleObj>
                </mc:Fallback>
              </mc:AlternateContent>
            </a:graphicData>
          </a:graphic>
        </p:graphicFrame>
      </p:grpSp>
      <p:grpSp>
        <p:nvGrpSpPr>
          <p:cNvPr id="8" name="组合 91"/>
          <p:cNvGrpSpPr/>
          <p:nvPr/>
        </p:nvGrpSpPr>
        <p:grpSpPr>
          <a:xfrm>
            <a:off x="6669052" y="2969514"/>
            <a:ext cx="1879029" cy="884682"/>
            <a:chOff x="6950991" y="3421380"/>
            <a:chExt cx="1879029" cy="982980"/>
          </a:xfrm>
        </p:grpSpPr>
        <p:grpSp>
          <p:nvGrpSpPr>
            <p:cNvPr id="9" name="组合 83"/>
            <p:cNvGrpSpPr/>
            <p:nvPr/>
          </p:nvGrpSpPr>
          <p:grpSpPr>
            <a:xfrm>
              <a:off x="6950991" y="3421380"/>
              <a:ext cx="1879029" cy="982980"/>
              <a:chOff x="6813831" y="2186940"/>
              <a:chExt cx="1879029" cy="982980"/>
            </a:xfrm>
          </p:grpSpPr>
          <p:sp>
            <p:nvSpPr>
              <p:cNvPr id="75" name="圆角矩形 74"/>
              <p:cNvSpPr/>
              <p:nvPr/>
            </p:nvSpPr>
            <p:spPr>
              <a:xfrm>
                <a:off x="6813831" y="2425620"/>
                <a:ext cx="1879029" cy="7443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8" name="Picture 4"/>
              <p:cNvPicPr>
                <a:picLocks noChangeAspect="1" noChangeArrowheads="1"/>
              </p:cNvPicPr>
              <p:nvPr/>
            </p:nvPicPr>
            <p:blipFill>
              <a:blip r:embed="rId5" cstate="print"/>
              <a:srcRect/>
              <a:stretch>
                <a:fillRect/>
              </a:stretch>
            </p:blipFill>
            <p:spPr bwMode="auto">
              <a:xfrm>
                <a:off x="7015158" y="2186940"/>
                <a:ext cx="1476375" cy="457200"/>
              </a:xfrm>
              <a:prstGeom prst="rect">
                <a:avLst/>
              </a:prstGeom>
              <a:noFill/>
              <a:ln w="9525">
                <a:noFill/>
                <a:miter lim="800000"/>
                <a:headEnd/>
                <a:tailEnd/>
              </a:ln>
              <a:effectLst/>
            </p:spPr>
          </p:pic>
          <p:sp>
            <p:nvSpPr>
              <p:cNvPr id="80" name="矩形 79"/>
              <p:cNvSpPr/>
              <p:nvPr/>
            </p:nvSpPr>
            <p:spPr>
              <a:xfrm>
                <a:off x="7250271" y="2238494"/>
                <a:ext cx="1063149" cy="341974"/>
              </a:xfrm>
              <a:prstGeom prst="rect">
                <a:avLst/>
              </a:prstGeom>
            </p:spPr>
            <p:txBody>
              <a:bodyPr wrap="square">
                <a:spAutoFit/>
              </a:bodyPr>
              <a:lstStyle/>
              <a:p>
                <a:pPr algn="ctr">
                  <a:defRPr/>
                </a:pPr>
                <a:r>
                  <a:rPr lang="zh-CN" altLang="en-US" sz="1400" dirty="0">
                    <a:solidFill>
                      <a:schemeClr val="bg1"/>
                    </a:solidFill>
                    <a:effectLst>
                      <a:outerShdw blurRad="38100" dist="38100" dir="2700000" algn="tl">
                        <a:srgbClr val="C0C0C0"/>
                      </a:outerShdw>
                    </a:effectLst>
                    <a:latin typeface="微软雅黑" pitchFamily="34" charset="-122"/>
                    <a:ea typeface="微软雅黑" pitchFamily="34" charset="-122"/>
                  </a:rPr>
                  <a:t>运算规则</a:t>
                </a:r>
                <a:endParaRPr lang="zh-CN" altLang="en-US" sz="1400" dirty="0">
                  <a:solidFill>
                    <a:schemeClr val="bg1"/>
                  </a:solidFill>
                  <a:effectLst>
                    <a:outerShdw blurRad="38100" dist="38100" dir="2700000" algn="tl">
                      <a:srgbClr val="C0C0C0"/>
                    </a:outerShdw>
                  </a:effectLst>
                </a:endParaRPr>
              </a:p>
            </p:txBody>
          </p:sp>
        </p:grpSp>
        <p:sp>
          <p:nvSpPr>
            <p:cNvPr id="91" name="矩形 90"/>
            <p:cNvSpPr/>
            <p:nvPr/>
          </p:nvSpPr>
          <p:spPr>
            <a:xfrm>
              <a:off x="7059447" y="3952994"/>
              <a:ext cx="1620957" cy="376171"/>
            </a:xfrm>
            <a:prstGeom prst="rect">
              <a:avLst/>
            </a:prstGeom>
          </p:spPr>
          <p:txBody>
            <a:bodyPr wrap="none">
              <a:spAutoFit/>
            </a:bodyPr>
            <a:lstStyle/>
            <a:p>
              <a:r>
                <a:rPr lang="zh-CN" altLang="en-US" sz="1600" dirty="0">
                  <a:solidFill>
                    <a:srgbClr val="6600FF"/>
                  </a:solidFill>
                  <a:latin typeface="方正粗黑宋简体" pitchFamily="2" charset="-122"/>
                  <a:ea typeface="方正粗黑宋简体" pitchFamily="2" charset="-122"/>
                </a:rPr>
                <a:t>输出与输入相反</a:t>
              </a:r>
            </a:p>
          </p:txBody>
        </p:sp>
      </p:grpSp>
      <p:grpSp>
        <p:nvGrpSpPr>
          <p:cNvPr id="36" name="组合 35"/>
          <p:cNvGrpSpPr/>
          <p:nvPr/>
        </p:nvGrpSpPr>
        <p:grpSpPr>
          <a:xfrm>
            <a:off x="800100" y="1961388"/>
            <a:ext cx="3619500" cy="1786984"/>
            <a:chOff x="800100" y="2179320"/>
            <a:chExt cx="3619500" cy="1985538"/>
          </a:xfrm>
        </p:grpSpPr>
        <p:sp>
          <p:nvSpPr>
            <p:cNvPr id="60" name="圆角矩形 59"/>
            <p:cNvSpPr/>
            <p:nvPr/>
          </p:nvSpPr>
          <p:spPr>
            <a:xfrm>
              <a:off x="800100" y="2179320"/>
              <a:ext cx="3619500" cy="1985538"/>
            </a:xfrm>
            <a:prstGeom prst="roundRect">
              <a:avLst>
                <a:gd name="adj" fmla="val 50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3" name="Object 4"/>
            <p:cNvGraphicFramePr>
              <a:graphicFrameLocks noChangeAspect="1"/>
            </p:cNvGraphicFramePr>
            <p:nvPr/>
          </p:nvGraphicFramePr>
          <p:xfrm>
            <a:off x="958547" y="2311260"/>
            <a:ext cx="3389165" cy="1353014"/>
          </p:xfrm>
          <a:graphic>
            <a:graphicData uri="http://schemas.openxmlformats.org/presentationml/2006/ole">
              <mc:AlternateContent xmlns:mc="http://schemas.openxmlformats.org/markup-compatibility/2006">
                <mc:Choice xmlns:v="urn:schemas-microsoft-com:vml" Requires="v">
                  <p:oleObj spid="_x0000_s29709" name="Visio" r:id="rId8" imgW="1870107" imgH="744008" progId="Visio.Drawing.11">
                    <p:embed/>
                  </p:oleObj>
                </mc:Choice>
                <mc:Fallback>
                  <p:oleObj name="Visio" r:id="rId8" imgW="1870107" imgH="744008" progId="Visio.Drawing.11">
                    <p:embed/>
                    <p:pic>
                      <p:nvPicPr>
                        <p:cNvPr id="33"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8547" y="2311260"/>
                          <a:ext cx="3389165" cy="13530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Rectangle 8"/>
            <p:cNvSpPr>
              <a:spLocks noChangeArrowheads="1"/>
            </p:cNvSpPr>
            <p:nvPr/>
          </p:nvSpPr>
          <p:spPr bwMode="auto">
            <a:xfrm>
              <a:off x="1375087" y="3677938"/>
              <a:ext cx="2249140" cy="3761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非</a:t>
              </a:r>
              <a:r>
                <a:rPr kumimoji="0" lang="zh-CN" altLang="en-GB" sz="1600" b="0" i="0" u="none" strike="noStrike" cap="none" normalizeH="0" baseline="0" dirty="0">
                  <a:ln>
                    <a:noFill/>
                  </a:ln>
                  <a:solidFill>
                    <a:srgbClr val="000000"/>
                  </a:solidFill>
                  <a:effectLst/>
                  <a:latin typeface="黑体" pitchFamily="49" charset="-122"/>
                  <a:ea typeface="黑体" pitchFamily="49" charset="-122"/>
                  <a:cs typeface="Times New Roman" pitchFamily="18" charset="0"/>
                </a:rPr>
                <a:t>逻辑运算</a:t>
              </a:r>
              <a:endParaRPr kumimoji="0" lang="zh-CN" altLang="en-GB"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pSp>
      <p:sp>
        <p:nvSpPr>
          <p:cNvPr id="32" name="圆角矩形 86">
            <a:extLst>
              <a:ext uri="{FF2B5EF4-FFF2-40B4-BE49-F238E27FC236}">
                <a16:creationId xmlns:a16="http://schemas.microsoft.com/office/drawing/2014/main" xmlns="" id="{1B30790B-9347-42DD-9517-9735A65D1745}"/>
              </a:ext>
            </a:extLst>
          </p:cNvPr>
          <p:cNvSpPr/>
          <p:nvPr/>
        </p:nvSpPr>
        <p:spPr>
          <a:xfrm>
            <a:off x="3191640" y="2084880"/>
            <a:ext cx="1198468" cy="1212966"/>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lide(fromBottom)">
                                      <p:cBhvr>
                                        <p:cTn id="12" dur="10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slide(fromBottom)">
                                      <p:cBhvr>
                                        <p:cTn id="17" dur="10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Bottom)">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p:cTn id="27" dur="1000" fill="hold"/>
                                        <p:tgtEl>
                                          <p:spTgt spid="32"/>
                                        </p:tgtEl>
                                        <p:attrNameLst>
                                          <p:attrName>ppt_w</p:attrName>
                                        </p:attrNameLst>
                                      </p:cBhvr>
                                      <p:tavLst>
                                        <p:tav tm="0">
                                          <p:val>
                                            <p:fltVal val="0"/>
                                          </p:val>
                                        </p:tav>
                                        <p:tav tm="100000">
                                          <p:val>
                                            <p:strVal val="#ppt_w"/>
                                          </p:val>
                                        </p:tav>
                                      </p:tavLst>
                                    </p:anim>
                                    <p:anim calcmode="lin" valueType="num">
                                      <p:cBhvr>
                                        <p:cTn id="28" dur="1000" fill="hold"/>
                                        <p:tgtEl>
                                          <p:spTgt spid="32"/>
                                        </p:tgtEl>
                                        <p:attrNameLst>
                                          <p:attrName>ppt_h</p:attrName>
                                        </p:attrNameLst>
                                      </p:cBhvr>
                                      <p:tavLst>
                                        <p:tav tm="0">
                                          <p:val>
                                            <p:fltVal val="0"/>
                                          </p:val>
                                        </p:tav>
                                        <p:tav tm="100000">
                                          <p:val>
                                            <p:strVal val="#ppt_h"/>
                                          </p:val>
                                        </p:tav>
                                      </p:tavLst>
                                    </p:anim>
                                    <p:animEffect transition="in" filter="fade">
                                      <p:cBhvr>
                                        <p:cTn id="29" dur="10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Bottom)">
                                      <p:cBhvr>
                                        <p:cTn id="3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7"/>
          <p:cNvGrpSpPr/>
          <p:nvPr/>
        </p:nvGrpSpPr>
        <p:grpSpPr>
          <a:xfrm>
            <a:off x="392433" y="702128"/>
            <a:ext cx="3387087" cy="418885"/>
            <a:chOff x="670560" y="892917"/>
            <a:chExt cx="3387087" cy="465428"/>
          </a:xfrm>
        </p:grpSpPr>
        <p:sp>
          <p:nvSpPr>
            <p:cNvPr id="12" name="矩形 11"/>
            <p:cNvSpPr/>
            <p:nvPr/>
          </p:nvSpPr>
          <p:spPr>
            <a:xfrm>
              <a:off x="1035232" y="913778"/>
              <a:ext cx="3022415"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3</a:t>
              </a:r>
              <a:r>
                <a:rPr lang="zh-CN" altLang="en-US" sz="2000" b="1" dirty="0">
                  <a:solidFill>
                    <a:srgbClr val="002060"/>
                  </a:solidFill>
                  <a:latin typeface="微软雅黑" pitchFamily="34" charset="-122"/>
                  <a:ea typeface="微软雅黑" pitchFamily="34" charset="-122"/>
                </a:rPr>
                <a:t>、常用的符合逻辑运算</a:t>
              </a:r>
            </a:p>
          </p:txBody>
        </p:sp>
        <p:pic>
          <p:nvPicPr>
            <p:cNvPr id="13"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8625" name="Rectangle 17"/>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8624" name="Object 16"/>
          <p:cNvGraphicFramePr>
            <a:graphicFrameLocks noChangeAspect="1"/>
          </p:cNvGraphicFramePr>
          <p:nvPr/>
        </p:nvGraphicFramePr>
        <p:xfrm>
          <a:off x="1601001" y="1403823"/>
          <a:ext cx="5563186" cy="1261471"/>
        </p:xfrm>
        <a:graphic>
          <a:graphicData uri="http://schemas.openxmlformats.org/presentationml/2006/ole">
            <mc:AlternateContent xmlns:mc="http://schemas.openxmlformats.org/markup-compatibility/2006">
              <mc:Choice xmlns:v="urn:schemas-microsoft-com:vml" Requires="v">
                <p:oleObj spid="_x0000_s30747" name="Visio" r:id="rId5" imgW="2800933" imgH="708979" progId="Visio.Drawing.11">
                  <p:embed/>
                </p:oleObj>
              </mc:Choice>
              <mc:Fallback>
                <p:oleObj name="Visio" r:id="rId5" imgW="2800933" imgH="708979" progId="Visio.Drawing.11">
                  <p:embed/>
                  <p:pic>
                    <p:nvPicPr>
                      <p:cNvPr id="68624"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1001" y="1403823"/>
                        <a:ext cx="5563186" cy="12614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 name="表格 71"/>
          <p:cNvGraphicFramePr>
            <a:graphicFrameLocks noGrp="1"/>
          </p:cNvGraphicFramePr>
          <p:nvPr/>
        </p:nvGraphicFramePr>
        <p:xfrm>
          <a:off x="1627643" y="3490964"/>
          <a:ext cx="5526195" cy="1331007"/>
        </p:xfrm>
        <a:graphic>
          <a:graphicData uri="http://schemas.openxmlformats.org/drawingml/2006/table">
            <a:tbl>
              <a:tblPr/>
              <a:tblGrid>
                <a:gridCol w="1309703">
                  <a:extLst>
                    <a:ext uri="{9D8B030D-6E8A-4147-A177-3AD203B41FA5}">
                      <a16:colId xmlns:a16="http://schemas.microsoft.com/office/drawing/2014/main" xmlns="" val="20000"/>
                    </a:ext>
                  </a:extLst>
                </a:gridCol>
                <a:gridCol w="1054123">
                  <a:extLst>
                    <a:ext uri="{9D8B030D-6E8A-4147-A177-3AD203B41FA5}">
                      <a16:colId xmlns:a16="http://schemas.microsoft.com/office/drawing/2014/main" xmlns="" val="20001"/>
                    </a:ext>
                  </a:extLst>
                </a:gridCol>
                <a:gridCol w="1054123">
                  <a:extLst>
                    <a:ext uri="{9D8B030D-6E8A-4147-A177-3AD203B41FA5}">
                      <a16:colId xmlns:a16="http://schemas.microsoft.com/office/drawing/2014/main" xmlns="" val="20002"/>
                    </a:ext>
                  </a:extLst>
                </a:gridCol>
                <a:gridCol w="1054123">
                  <a:extLst>
                    <a:ext uri="{9D8B030D-6E8A-4147-A177-3AD203B41FA5}">
                      <a16:colId xmlns:a16="http://schemas.microsoft.com/office/drawing/2014/main" xmlns="" val="20003"/>
                    </a:ext>
                  </a:extLst>
                </a:gridCol>
                <a:gridCol w="1054123">
                  <a:extLst>
                    <a:ext uri="{9D8B030D-6E8A-4147-A177-3AD203B41FA5}">
                      <a16:colId xmlns:a16="http://schemas.microsoft.com/office/drawing/2014/main" xmlns="" val="20004"/>
                    </a:ext>
                  </a:extLst>
                </a:gridCol>
              </a:tblGrid>
              <a:tr h="291640">
                <a:tc>
                  <a:txBody>
                    <a:bodyPr/>
                    <a:lstStyle/>
                    <a:p>
                      <a:pPr marL="0" algn="ctr">
                        <a:spcAft>
                          <a:spcPts val="0"/>
                        </a:spcAft>
                      </a:pPr>
                      <a:r>
                        <a:rPr lang="zh-CN" sz="1300" kern="100" dirty="0">
                          <a:solidFill>
                            <a:srgbClr val="000000"/>
                          </a:solidFill>
                          <a:latin typeface="Times New Roman"/>
                          <a:ea typeface="黑体"/>
                          <a:cs typeface="Times New Roman"/>
                        </a:rPr>
                        <a:t>输入变量</a:t>
                      </a:r>
                      <a:endParaRPr lang="zh-CN" sz="1300" kern="100" dirty="0">
                        <a:solidFill>
                          <a:srgbClr val="000000"/>
                        </a:solidFill>
                        <a:latin typeface="Times"/>
                        <a:ea typeface="等线"/>
                        <a:cs typeface="Times New Roman"/>
                      </a:endParaRPr>
                    </a:p>
                  </a:txBody>
                  <a:tcPr marL="13508" marR="13508"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a:spcAft>
                          <a:spcPts val="0"/>
                        </a:spcAft>
                      </a:pPr>
                      <a:r>
                        <a:rPr lang="zh-CN" sz="1300" kern="100" dirty="0">
                          <a:solidFill>
                            <a:srgbClr val="000000"/>
                          </a:solidFill>
                          <a:latin typeface="Times New Roman"/>
                          <a:ea typeface="黑体"/>
                          <a:cs typeface="Times New Roman"/>
                        </a:rPr>
                        <a:t>与非</a:t>
                      </a:r>
                      <a:endParaRPr lang="zh-CN" sz="1300" kern="100" dirty="0">
                        <a:solidFill>
                          <a:srgbClr val="000000"/>
                        </a:solidFill>
                        <a:latin typeface="Times"/>
                        <a:ea typeface="等线"/>
                        <a:cs typeface="Times New Roman"/>
                      </a:endParaRPr>
                    </a:p>
                  </a:txBody>
                  <a:tcPr marL="13508" marR="135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zh-CN" sz="1300" kern="100" dirty="0">
                          <a:solidFill>
                            <a:srgbClr val="000000"/>
                          </a:solidFill>
                          <a:latin typeface="Times New Roman"/>
                          <a:ea typeface="黑体"/>
                          <a:cs typeface="Times New Roman"/>
                        </a:rPr>
                        <a:t>或非</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zh-CN" sz="1300" kern="100" dirty="0">
                          <a:solidFill>
                            <a:srgbClr val="000000"/>
                          </a:solidFill>
                          <a:latin typeface="Times New Roman"/>
                          <a:ea typeface="黑体"/>
                          <a:cs typeface="Times New Roman"/>
                        </a:rPr>
                        <a:t>异或</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zh-CN" sz="1300" kern="100" dirty="0">
                          <a:solidFill>
                            <a:srgbClr val="000000"/>
                          </a:solidFill>
                          <a:latin typeface="Times New Roman"/>
                          <a:ea typeface="黑体"/>
                          <a:cs typeface="Times New Roman"/>
                        </a:rPr>
                        <a:t>同或</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46887">
                <a:tc>
                  <a:txBody>
                    <a:bodyPr/>
                    <a:lstStyle/>
                    <a:p>
                      <a:pPr marL="0" algn="ctr">
                        <a:spcAft>
                          <a:spcPts val="0"/>
                        </a:spcAft>
                      </a:pPr>
                      <a:r>
                        <a:rPr lang="en-GB" sz="1300" i="1" kern="100" dirty="0">
                          <a:solidFill>
                            <a:srgbClr val="000000"/>
                          </a:solidFill>
                          <a:latin typeface="Times New Roman"/>
                          <a:ea typeface="黑体"/>
                          <a:cs typeface="Times New Roman"/>
                        </a:rPr>
                        <a:t>A     B</a:t>
                      </a:r>
                      <a:endParaRPr lang="zh-CN" sz="1300" kern="100" dirty="0">
                        <a:solidFill>
                          <a:srgbClr val="000000"/>
                        </a:solidFill>
                        <a:latin typeface="Times"/>
                        <a:ea typeface="等线"/>
                        <a:cs typeface="Times New Roman"/>
                      </a:endParaRPr>
                    </a:p>
                  </a:txBody>
                  <a:tcPr marL="13508" marR="13508"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a:spcAft>
                          <a:spcPts val="0"/>
                        </a:spcAft>
                      </a:pPr>
                      <a:r>
                        <a:rPr lang="en-GB" sz="1300" i="1" kern="100" dirty="0">
                          <a:solidFill>
                            <a:srgbClr val="000000"/>
                          </a:solidFill>
                          <a:latin typeface="Times New Roman"/>
                          <a:ea typeface="宋体"/>
                          <a:cs typeface="Times New Roman"/>
                        </a:rPr>
                        <a:t>L</a:t>
                      </a:r>
                      <a:endParaRPr lang="zh-CN" sz="1300" kern="100" dirty="0">
                        <a:solidFill>
                          <a:srgbClr val="000000"/>
                        </a:solidFill>
                        <a:latin typeface="Times"/>
                        <a:ea typeface="等线"/>
                        <a:cs typeface="Times New Roman"/>
                      </a:endParaRPr>
                    </a:p>
                  </a:txBody>
                  <a:tcPr marL="13508" marR="135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i="1" kern="100" dirty="0">
                          <a:solidFill>
                            <a:srgbClr val="000000"/>
                          </a:solidFill>
                          <a:latin typeface="Times New Roman"/>
                          <a:ea typeface="宋体"/>
                          <a:cs typeface="Times New Roman"/>
                        </a:rPr>
                        <a:t>L</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i="1" kern="100" dirty="0">
                          <a:solidFill>
                            <a:srgbClr val="000000"/>
                          </a:solidFill>
                          <a:latin typeface="Times New Roman"/>
                          <a:ea typeface="宋体"/>
                          <a:cs typeface="Times New Roman"/>
                        </a:rPr>
                        <a:t>L</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i="1" kern="100" dirty="0">
                          <a:solidFill>
                            <a:srgbClr val="000000"/>
                          </a:solidFill>
                          <a:latin typeface="Times New Roman"/>
                          <a:ea typeface="宋体"/>
                          <a:cs typeface="Times New Roman"/>
                        </a:rPr>
                        <a:t>L</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780312">
                <a:tc>
                  <a:txBody>
                    <a:bodyPr/>
                    <a:lstStyle/>
                    <a:p>
                      <a:pPr marL="0" algn="ctr">
                        <a:spcAft>
                          <a:spcPts val="0"/>
                        </a:spcAft>
                      </a:pPr>
                      <a:r>
                        <a:rPr lang="en-GB" sz="1300" kern="100" dirty="0">
                          <a:solidFill>
                            <a:srgbClr val="000000"/>
                          </a:solidFill>
                          <a:latin typeface="Times New Roman"/>
                          <a:ea typeface="宋体"/>
                          <a:cs typeface="Times New Roman"/>
                        </a:rPr>
                        <a:t>0     0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0     1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1     0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1     1</a:t>
                      </a:r>
                      <a:endParaRPr lang="zh-CN" sz="1300" kern="100" dirty="0">
                        <a:solidFill>
                          <a:srgbClr val="000000"/>
                        </a:solidFill>
                        <a:latin typeface="Times"/>
                        <a:ea typeface="等线"/>
                        <a:cs typeface="Times New Roman"/>
                      </a:endParaRPr>
                    </a:p>
                  </a:txBody>
                  <a:tcPr marL="13508" marR="13508"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txBody>
                  <a:tcPr marL="13508" marR="135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tc>
                  <a:txBody>
                    <a:bodyPr/>
                    <a:lstStyle/>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0</a:t>
                      </a:r>
                      <a:endParaRPr lang="zh-CN" sz="1300" kern="100" dirty="0">
                        <a:solidFill>
                          <a:srgbClr val="000000"/>
                        </a:solidFill>
                        <a:latin typeface="Times"/>
                        <a:ea typeface="等线"/>
                        <a:cs typeface="Times New Roman"/>
                      </a:endParaRPr>
                    </a:p>
                    <a:p>
                      <a:pPr marL="0" algn="ctr">
                        <a:spcAft>
                          <a:spcPts val="0"/>
                        </a:spcAft>
                      </a:pPr>
                      <a:r>
                        <a:rPr lang="en-GB" sz="1300" kern="100" dirty="0">
                          <a:solidFill>
                            <a:srgbClr val="000000"/>
                          </a:solidFill>
                          <a:latin typeface="Times New Roman"/>
                          <a:ea typeface="宋体"/>
                          <a:cs typeface="Times New Roman"/>
                        </a:rPr>
                        <a:t>1</a:t>
                      </a:r>
                      <a:endParaRPr lang="zh-CN" sz="1300" kern="100" dirty="0">
                        <a:solidFill>
                          <a:srgbClr val="000000"/>
                        </a:solidFill>
                        <a:latin typeface="Times"/>
                        <a:ea typeface="等线"/>
                        <a:cs typeface="Times New Roman"/>
                      </a:endParaRPr>
                    </a:p>
                  </a:txBody>
                  <a:tcPr marL="52103" marR="52103"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sp>
        <p:nvSpPr>
          <p:cNvPr id="68627" name="Rectangle 19"/>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8629" name="Rectangle 21"/>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8631" name="Rectangle 23"/>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8633" name="Rectangle 25"/>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8636" name="Rectangle 28"/>
          <p:cNvSpPr>
            <a:spLocks noChangeArrowheads="1"/>
          </p:cNvSpPr>
          <p:nvPr/>
        </p:nvSpPr>
        <p:spPr bwMode="auto">
          <a:xfrm>
            <a:off x="0" y="36255"/>
            <a:ext cx="205505" cy="18466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latin typeface="Arial" pitchFamily="34" charset="0"/>
                <a:ea typeface="宋体" pitchFamily="2" charset="-122"/>
                <a:cs typeface="宋体" pitchFamily="2" charset="-122"/>
              </a:rPr>
              <a:t> </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aphicFrame>
        <p:nvGraphicFramePr>
          <p:cNvPr id="68626" name="Object 18"/>
          <p:cNvGraphicFramePr>
            <a:graphicFrameLocks noChangeAspect="1"/>
          </p:cNvGraphicFramePr>
          <p:nvPr/>
        </p:nvGraphicFramePr>
        <p:xfrm>
          <a:off x="1580974" y="2815468"/>
          <a:ext cx="989154" cy="342399"/>
        </p:xfrm>
        <a:graphic>
          <a:graphicData uri="http://schemas.openxmlformats.org/presentationml/2006/ole">
            <mc:AlternateContent xmlns:mc="http://schemas.openxmlformats.org/markup-compatibility/2006">
              <mc:Choice xmlns:v="urn:schemas-microsoft-com:vml" Requires="v">
                <p:oleObj spid="_x0000_s30748" name="Equation" r:id="rId7" imgW="495085" imgH="190417" progId="Equation.DSMT4">
                  <p:embed/>
                </p:oleObj>
              </mc:Choice>
              <mc:Fallback>
                <p:oleObj name="Equation" r:id="rId7" imgW="495085" imgH="190417" progId="Equation.DSMT4">
                  <p:embed/>
                  <p:pic>
                    <p:nvPicPr>
                      <p:cNvPr id="68626"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0974" y="2815468"/>
                        <a:ext cx="989154" cy="3423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28" name="Object 20"/>
          <p:cNvGraphicFramePr>
            <a:graphicFrameLocks noChangeAspect="1"/>
          </p:cNvGraphicFramePr>
          <p:nvPr/>
        </p:nvGraphicFramePr>
        <p:xfrm>
          <a:off x="2975934" y="2821475"/>
          <a:ext cx="1065245" cy="336393"/>
        </p:xfrm>
        <a:graphic>
          <a:graphicData uri="http://schemas.openxmlformats.org/presentationml/2006/ole">
            <mc:AlternateContent xmlns:mc="http://schemas.openxmlformats.org/markup-compatibility/2006">
              <mc:Choice xmlns:v="urn:schemas-microsoft-com:vml" Requires="v">
                <p:oleObj spid="_x0000_s30749" name="Equation" r:id="rId9" imgW="545863" imgH="190417" progId="Equation.DSMT4">
                  <p:embed/>
                </p:oleObj>
              </mc:Choice>
              <mc:Fallback>
                <p:oleObj name="Equation" r:id="rId9" imgW="545863" imgH="190417" progId="Equation.DSMT4">
                  <p:embed/>
                  <p:pic>
                    <p:nvPicPr>
                      <p:cNvPr id="68628"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5934" y="2821475"/>
                        <a:ext cx="1065245" cy="336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30" name="Object 22"/>
          <p:cNvGraphicFramePr>
            <a:graphicFrameLocks noChangeAspect="1"/>
          </p:cNvGraphicFramePr>
          <p:nvPr/>
        </p:nvGraphicFramePr>
        <p:xfrm>
          <a:off x="4389728" y="2758777"/>
          <a:ext cx="1195618" cy="567287"/>
        </p:xfrm>
        <a:graphic>
          <a:graphicData uri="http://schemas.openxmlformats.org/presentationml/2006/ole">
            <mc:AlternateContent xmlns:mc="http://schemas.openxmlformats.org/markup-compatibility/2006">
              <mc:Choice xmlns:v="urn:schemas-microsoft-com:vml" Requires="v">
                <p:oleObj spid="_x0000_s30750" name="Equation" r:id="rId11" imgW="711000" imgH="368280" progId="Equation.DSMT4">
                  <p:embed/>
                </p:oleObj>
              </mc:Choice>
              <mc:Fallback>
                <p:oleObj name="Equation" r:id="rId11" imgW="711000" imgH="368280" progId="Equation.DSMT4">
                  <p:embed/>
                  <p:pic>
                    <p:nvPicPr>
                      <p:cNvPr id="6863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89728" y="2758777"/>
                        <a:ext cx="1195618" cy="567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4" name="组合 73"/>
          <p:cNvGrpSpPr/>
          <p:nvPr/>
        </p:nvGrpSpPr>
        <p:grpSpPr>
          <a:xfrm>
            <a:off x="5978013" y="2761408"/>
            <a:ext cx="1182803" cy="608697"/>
            <a:chOff x="5818697" y="2843317"/>
            <a:chExt cx="1182803" cy="676330"/>
          </a:xfrm>
          <a:solidFill>
            <a:schemeClr val="bg1"/>
          </a:solidFill>
        </p:grpSpPr>
        <p:graphicFrame>
          <p:nvGraphicFramePr>
            <p:cNvPr id="68632" name="Object 24"/>
            <p:cNvGraphicFramePr>
              <a:graphicFrameLocks noChangeAspect="1"/>
            </p:cNvGraphicFramePr>
            <p:nvPr/>
          </p:nvGraphicFramePr>
          <p:xfrm>
            <a:off x="5818697" y="2843317"/>
            <a:ext cx="1182803" cy="607206"/>
          </p:xfrm>
          <a:graphic>
            <a:graphicData uri="http://schemas.openxmlformats.org/presentationml/2006/ole">
              <mc:AlternateContent xmlns:mc="http://schemas.openxmlformats.org/markup-compatibility/2006">
                <mc:Choice xmlns:v="urn:schemas-microsoft-com:vml" Requires="v">
                  <p:oleObj spid="_x0000_s30751" name="Equation" r:id="rId13" imgW="711000" imgH="368280" progId="Equation.DSMT4">
                    <p:embed/>
                  </p:oleObj>
                </mc:Choice>
                <mc:Fallback>
                  <p:oleObj name="Equation" r:id="rId13" imgW="711000" imgH="368280" progId="Equation.DSMT4">
                    <p:embed/>
                    <p:pic>
                      <p:nvPicPr>
                        <p:cNvPr id="68632"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18697" y="2843317"/>
                          <a:ext cx="1182803" cy="607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 name="矩形 72"/>
            <p:cNvSpPr/>
            <p:nvPr/>
          </p:nvSpPr>
          <p:spPr>
            <a:xfrm>
              <a:off x="6300763" y="3143476"/>
              <a:ext cx="561372" cy="376171"/>
            </a:xfrm>
            <a:prstGeom prst="rect">
              <a:avLst/>
            </a:prstGeom>
            <a:noFill/>
          </p:spPr>
          <p:txBody>
            <a:bodyPr wrap="none">
              <a:spAutoFit/>
            </a:bodyPr>
            <a:lstStyle/>
            <a:p>
              <a:r>
                <a:rPr lang="zh-CN" altLang="zh-CN" sz="1600" dirty="0"/>
                <a:t>⊙</a:t>
              </a:r>
              <a:r>
                <a:rPr lang="en-US" altLang="zh-CN" sz="1600" dirty="0"/>
                <a:t> </a:t>
              </a:r>
              <a:r>
                <a:rPr lang="en-US" altLang="zh-CN" sz="1600" i="1" dirty="0">
                  <a:latin typeface="Times New Roman" pitchFamily="18" charset="0"/>
                  <a:cs typeface="Times New Roman" pitchFamily="18" charset="0"/>
                </a:rPr>
                <a:t>B</a:t>
              </a:r>
              <a:endParaRPr lang="zh-CN" altLang="en-US" sz="1600" i="1" dirty="0">
                <a:latin typeface="Times New Roman" pitchFamily="18" charset="0"/>
                <a:cs typeface="Times New Roman" pitchFamily="18" charset="0"/>
              </a:endParaRPr>
            </a:p>
          </p:txBody>
        </p:sp>
      </p:grpSp>
      <p:sp>
        <p:nvSpPr>
          <p:cNvPr id="20" name="圆角矩形 86">
            <a:extLst>
              <a:ext uri="{FF2B5EF4-FFF2-40B4-BE49-F238E27FC236}">
                <a16:creationId xmlns:a16="http://schemas.microsoft.com/office/drawing/2014/main" xmlns="" id="{81A586FF-4A0A-4704-A602-04951DF35696}"/>
              </a:ext>
            </a:extLst>
          </p:cNvPr>
          <p:cNvSpPr/>
          <p:nvPr/>
        </p:nvSpPr>
        <p:spPr>
          <a:xfrm>
            <a:off x="1507713" y="1361757"/>
            <a:ext cx="1361129" cy="1331007"/>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86">
            <a:extLst>
              <a:ext uri="{FF2B5EF4-FFF2-40B4-BE49-F238E27FC236}">
                <a16:creationId xmlns:a16="http://schemas.microsoft.com/office/drawing/2014/main" xmlns="" id="{D5D96D33-C8EF-4144-A088-00843CB0772E}"/>
              </a:ext>
            </a:extLst>
          </p:cNvPr>
          <p:cNvSpPr/>
          <p:nvPr/>
        </p:nvSpPr>
        <p:spPr>
          <a:xfrm>
            <a:off x="2927402" y="3490964"/>
            <a:ext cx="1065245" cy="1331007"/>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1000"/>
                                        <p:tgtEl>
                                          <p:spTgt spid="11"/>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68624"/>
                                        </p:tgtEl>
                                        <p:attrNameLst>
                                          <p:attrName>style.visibility</p:attrName>
                                        </p:attrNameLst>
                                      </p:cBhvr>
                                      <p:to>
                                        <p:strVal val="visible"/>
                                      </p:to>
                                    </p:set>
                                    <p:animEffect transition="in" filter="slide(fromBottom)">
                                      <p:cBhvr>
                                        <p:cTn id="11" dur="1000"/>
                                        <p:tgtEl>
                                          <p:spTgt spid="68624"/>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slide(fromBottom)">
                                      <p:cBhvr>
                                        <p:cTn id="15" dur="1000"/>
                                        <p:tgtEl>
                                          <p:spTgt spid="72"/>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1000" fill="hold"/>
                                        <p:tgtEl>
                                          <p:spTgt spid="20"/>
                                        </p:tgtEl>
                                        <p:attrNameLst>
                                          <p:attrName>ppt_w</p:attrName>
                                        </p:attrNameLst>
                                      </p:cBhvr>
                                      <p:tavLst>
                                        <p:tav tm="0">
                                          <p:val>
                                            <p:fltVal val="0"/>
                                          </p:val>
                                        </p:tav>
                                        <p:tav tm="100000">
                                          <p:val>
                                            <p:strVal val="#ppt_w"/>
                                          </p:val>
                                        </p:tav>
                                      </p:tavLst>
                                    </p:anim>
                                    <p:anim calcmode="lin" valueType="num">
                                      <p:cBhvr>
                                        <p:cTn id="21" dur="1000" fill="hold"/>
                                        <p:tgtEl>
                                          <p:spTgt spid="20"/>
                                        </p:tgtEl>
                                        <p:attrNameLst>
                                          <p:attrName>ppt_h</p:attrName>
                                        </p:attrNameLst>
                                      </p:cBhvr>
                                      <p:tavLst>
                                        <p:tav tm="0">
                                          <p:val>
                                            <p:fltVal val="0"/>
                                          </p:val>
                                        </p:tav>
                                        <p:tav tm="100000">
                                          <p:val>
                                            <p:strVal val="#ppt_h"/>
                                          </p:val>
                                        </p:tav>
                                      </p:tavLst>
                                    </p:anim>
                                    <p:animEffect transition="in" filter="fade">
                                      <p:cBhvr>
                                        <p:cTn id="22" dur="1000"/>
                                        <p:tgtEl>
                                          <p:spTgt spid="20"/>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1000" fill="hold"/>
                                        <p:tgtEl>
                                          <p:spTgt spid="21"/>
                                        </p:tgtEl>
                                        <p:attrNameLst>
                                          <p:attrName>ppt_w</p:attrName>
                                        </p:attrNameLst>
                                      </p:cBhvr>
                                      <p:tavLst>
                                        <p:tav tm="0">
                                          <p:val>
                                            <p:fltVal val="0"/>
                                          </p:val>
                                        </p:tav>
                                        <p:tav tm="100000">
                                          <p:val>
                                            <p:strVal val="#ppt_w"/>
                                          </p:val>
                                        </p:tav>
                                      </p:tavLst>
                                    </p:anim>
                                    <p:anim calcmode="lin" valueType="num">
                                      <p:cBhvr>
                                        <p:cTn id="26" dur="1000" fill="hold"/>
                                        <p:tgtEl>
                                          <p:spTgt spid="21"/>
                                        </p:tgtEl>
                                        <p:attrNameLst>
                                          <p:attrName>ppt_h</p:attrName>
                                        </p:attrNameLst>
                                      </p:cBhvr>
                                      <p:tavLst>
                                        <p:tav tm="0">
                                          <p:val>
                                            <p:fltVal val="0"/>
                                          </p:val>
                                        </p:tav>
                                        <p:tav tm="100000">
                                          <p:val>
                                            <p:strVal val="#ppt_h"/>
                                          </p:val>
                                        </p:tav>
                                      </p:tavLst>
                                    </p:anim>
                                    <p:animEffect transition="in" filter="fade">
                                      <p:cBhvr>
                                        <p:cTn id="27" dur="1000"/>
                                        <p:tgtEl>
                                          <p:spTgt spid="21"/>
                                        </p:tgtEl>
                                      </p:cBhvr>
                                    </p:animEffect>
                                  </p:childTnLst>
                                </p:cTn>
                              </p:par>
                            </p:childTnLst>
                          </p:cTn>
                        </p:par>
                        <p:par>
                          <p:cTn id="28" fill="hold">
                            <p:stCondLst>
                              <p:cond delay="1000"/>
                            </p:stCondLst>
                            <p:childTnLst>
                              <p:par>
                                <p:cTn id="29" presetID="12" presetClass="entr" presetSubtype="4" fill="hold" nodeType="afterEffect">
                                  <p:stCondLst>
                                    <p:cond delay="0"/>
                                  </p:stCondLst>
                                  <p:childTnLst>
                                    <p:set>
                                      <p:cBhvr>
                                        <p:cTn id="30" dur="1" fill="hold">
                                          <p:stCondLst>
                                            <p:cond delay="0"/>
                                          </p:stCondLst>
                                        </p:cTn>
                                        <p:tgtEl>
                                          <p:spTgt spid="68626"/>
                                        </p:tgtEl>
                                        <p:attrNameLst>
                                          <p:attrName>style.visibility</p:attrName>
                                        </p:attrNameLst>
                                      </p:cBhvr>
                                      <p:to>
                                        <p:strVal val="visible"/>
                                      </p:to>
                                    </p:set>
                                    <p:anim calcmode="lin" valueType="num">
                                      <p:cBhvr additive="base">
                                        <p:cTn id="31" dur="1000"/>
                                        <p:tgtEl>
                                          <p:spTgt spid="68626"/>
                                        </p:tgtEl>
                                        <p:attrNameLst>
                                          <p:attrName>ppt_y</p:attrName>
                                        </p:attrNameLst>
                                      </p:cBhvr>
                                      <p:tavLst>
                                        <p:tav tm="0">
                                          <p:val>
                                            <p:strVal val="#ppt_y+#ppt_h*1.125000"/>
                                          </p:val>
                                        </p:tav>
                                        <p:tav tm="100000">
                                          <p:val>
                                            <p:strVal val="#ppt_y"/>
                                          </p:val>
                                        </p:tav>
                                      </p:tavLst>
                                    </p:anim>
                                    <p:animEffect transition="in" filter="wipe(up)">
                                      <p:cBhvr>
                                        <p:cTn id="32" dur="1000"/>
                                        <p:tgtEl>
                                          <p:spTgt spid="68626"/>
                                        </p:tgtEl>
                                      </p:cBhvr>
                                    </p:animEffect>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grpId="1" nodeType="clickEffect">
                                  <p:stCondLst>
                                    <p:cond delay="0"/>
                                  </p:stCondLst>
                                  <p:childTnLst>
                                    <p:animMotion origin="layout" path="M 3.88889E-6 4.19753E-6 L 0.15382 0.00092 " pathEditMode="relative" rAng="0" ptsTypes="AA">
                                      <p:cBhvr>
                                        <p:cTn id="36" dur="1000" fill="hold"/>
                                        <p:tgtEl>
                                          <p:spTgt spid="20"/>
                                        </p:tgtEl>
                                        <p:attrNameLst>
                                          <p:attrName>ppt_x</p:attrName>
                                          <p:attrName>ppt_y</p:attrName>
                                        </p:attrNameLst>
                                      </p:cBhvr>
                                      <p:rCtr x="7691" y="31"/>
                                    </p:animMotion>
                                  </p:childTnLst>
                                </p:cTn>
                              </p:par>
                              <p:par>
                                <p:cTn id="37" presetID="63" presetClass="path" presetSubtype="0" accel="50000" decel="50000" fill="hold" grpId="1" nodeType="withEffect">
                                  <p:stCondLst>
                                    <p:cond delay="0"/>
                                  </p:stCondLst>
                                  <p:childTnLst>
                                    <p:animMotion origin="layout" path="M 1.38889E-6 -4.69136E-6 L 0.11476 -0.00092 " pathEditMode="relative" rAng="0" ptsTypes="AA">
                                      <p:cBhvr>
                                        <p:cTn id="38" dur="1000" fill="hold"/>
                                        <p:tgtEl>
                                          <p:spTgt spid="21"/>
                                        </p:tgtEl>
                                        <p:attrNameLst>
                                          <p:attrName>ppt_x</p:attrName>
                                          <p:attrName>ppt_y</p:attrName>
                                        </p:attrNameLst>
                                      </p:cBhvr>
                                      <p:rCtr x="5729" y="-62"/>
                                    </p:animMotion>
                                  </p:childTnLst>
                                </p:cTn>
                              </p:par>
                            </p:childTnLst>
                          </p:cTn>
                        </p:par>
                        <p:par>
                          <p:cTn id="39" fill="hold">
                            <p:stCondLst>
                              <p:cond delay="1000"/>
                            </p:stCondLst>
                            <p:childTnLst>
                              <p:par>
                                <p:cTn id="40" presetID="12" presetClass="entr" presetSubtype="4" fill="hold" nodeType="afterEffect">
                                  <p:stCondLst>
                                    <p:cond delay="0"/>
                                  </p:stCondLst>
                                  <p:childTnLst>
                                    <p:set>
                                      <p:cBhvr>
                                        <p:cTn id="41" dur="1" fill="hold">
                                          <p:stCondLst>
                                            <p:cond delay="0"/>
                                          </p:stCondLst>
                                        </p:cTn>
                                        <p:tgtEl>
                                          <p:spTgt spid="68628"/>
                                        </p:tgtEl>
                                        <p:attrNameLst>
                                          <p:attrName>style.visibility</p:attrName>
                                        </p:attrNameLst>
                                      </p:cBhvr>
                                      <p:to>
                                        <p:strVal val="visible"/>
                                      </p:to>
                                    </p:set>
                                    <p:anim calcmode="lin" valueType="num">
                                      <p:cBhvr additive="base">
                                        <p:cTn id="42" dur="1000"/>
                                        <p:tgtEl>
                                          <p:spTgt spid="68628"/>
                                        </p:tgtEl>
                                        <p:attrNameLst>
                                          <p:attrName>ppt_y</p:attrName>
                                        </p:attrNameLst>
                                      </p:cBhvr>
                                      <p:tavLst>
                                        <p:tav tm="0">
                                          <p:val>
                                            <p:strVal val="#ppt_y+#ppt_h*1.125000"/>
                                          </p:val>
                                        </p:tav>
                                        <p:tav tm="100000">
                                          <p:val>
                                            <p:strVal val="#ppt_y"/>
                                          </p:val>
                                        </p:tav>
                                      </p:tavLst>
                                    </p:anim>
                                    <p:animEffect transition="in" filter="wipe(up)">
                                      <p:cBhvr>
                                        <p:cTn id="43" dur="1000"/>
                                        <p:tgtEl>
                                          <p:spTgt spid="68628"/>
                                        </p:tgtEl>
                                      </p:cBhvr>
                                    </p:animEffect>
                                  </p:childTnLst>
                                </p:cTn>
                              </p:par>
                            </p:childTnLst>
                          </p:cTn>
                        </p:par>
                      </p:childTnLst>
                    </p:cTn>
                  </p:par>
                  <p:par>
                    <p:cTn id="44" fill="hold">
                      <p:stCondLst>
                        <p:cond delay="indefinite"/>
                      </p:stCondLst>
                      <p:childTnLst>
                        <p:par>
                          <p:cTn id="45" fill="hold">
                            <p:stCondLst>
                              <p:cond delay="0"/>
                            </p:stCondLst>
                            <p:childTnLst>
                              <p:par>
                                <p:cTn id="46" presetID="63" presetClass="path" presetSubtype="0" accel="50000" decel="50000" fill="hold" grpId="2" nodeType="clickEffect">
                                  <p:stCondLst>
                                    <p:cond delay="0"/>
                                  </p:stCondLst>
                                  <p:childTnLst>
                                    <p:animMotion origin="layout" path="M 0.15382 0.00092 L 0.31041 4.19753E-6 " pathEditMode="relative" rAng="0" ptsTypes="AA">
                                      <p:cBhvr>
                                        <p:cTn id="47" dur="1000" fill="hold"/>
                                        <p:tgtEl>
                                          <p:spTgt spid="20"/>
                                        </p:tgtEl>
                                        <p:attrNameLst>
                                          <p:attrName>ppt_x</p:attrName>
                                          <p:attrName>ppt_y</p:attrName>
                                        </p:attrNameLst>
                                      </p:cBhvr>
                                      <p:rCtr x="7899" y="-62"/>
                                    </p:animMotion>
                                  </p:childTnLst>
                                </p:cTn>
                              </p:par>
                              <p:par>
                                <p:cTn id="48" presetID="63" presetClass="path" presetSubtype="0" accel="50000" decel="50000" fill="hold" grpId="2" nodeType="withEffect">
                                  <p:stCondLst>
                                    <p:cond delay="0"/>
                                  </p:stCondLst>
                                  <p:childTnLst>
                                    <p:animMotion origin="layout" path="M 0.11476 -0.00092 L 0.23246 -0.00092 " pathEditMode="relative" rAng="0" ptsTypes="AA">
                                      <p:cBhvr>
                                        <p:cTn id="49" dur="1000" fill="hold"/>
                                        <p:tgtEl>
                                          <p:spTgt spid="21"/>
                                        </p:tgtEl>
                                        <p:attrNameLst>
                                          <p:attrName>ppt_x</p:attrName>
                                          <p:attrName>ppt_y</p:attrName>
                                        </p:attrNameLst>
                                      </p:cBhvr>
                                      <p:rCtr x="5816" y="0"/>
                                    </p:animMotion>
                                  </p:childTnLst>
                                </p:cTn>
                              </p:par>
                            </p:childTnLst>
                          </p:cTn>
                        </p:par>
                        <p:par>
                          <p:cTn id="50" fill="hold">
                            <p:stCondLst>
                              <p:cond delay="1000"/>
                            </p:stCondLst>
                            <p:childTnLst>
                              <p:par>
                                <p:cTn id="51" presetID="12" presetClass="entr" presetSubtype="4" fill="hold" nodeType="afterEffect">
                                  <p:stCondLst>
                                    <p:cond delay="0"/>
                                  </p:stCondLst>
                                  <p:childTnLst>
                                    <p:set>
                                      <p:cBhvr>
                                        <p:cTn id="52" dur="1" fill="hold">
                                          <p:stCondLst>
                                            <p:cond delay="0"/>
                                          </p:stCondLst>
                                        </p:cTn>
                                        <p:tgtEl>
                                          <p:spTgt spid="68630"/>
                                        </p:tgtEl>
                                        <p:attrNameLst>
                                          <p:attrName>style.visibility</p:attrName>
                                        </p:attrNameLst>
                                      </p:cBhvr>
                                      <p:to>
                                        <p:strVal val="visible"/>
                                      </p:to>
                                    </p:set>
                                    <p:anim calcmode="lin" valueType="num">
                                      <p:cBhvr additive="base">
                                        <p:cTn id="53" dur="1000"/>
                                        <p:tgtEl>
                                          <p:spTgt spid="68630"/>
                                        </p:tgtEl>
                                        <p:attrNameLst>
                                          <p:attrName>ppt_y</p:attrName>
                                        </p:attrNameLst>
                                      </p:cBhvr>
                                      <p:tavLst>
                                        <p:tav tm="0">
                                          <p:val>
                                            <p:strVal val="#ppt_y+#ppt_h*1.125000"/>
                                          </p:val>
                                        </p:tav>
                                        <p:tav tm="100000">
                                          <p:val>
                                            <p:strVal val="#ppt_y"/>
                                          </p:val>
                                        </p:tav>
                                      </p:tavLst>
                                    </p:anim>
                                    <p:animEffect transition="in" filter="wipe(up)">
                                      <p:cBhvr>
                                        <p:cTn id="54" dur="1000"/>
                                        <p:tgtEl>
                                          <p:spTgt spid="68630"/>
                                        </p:tgtEl>
                                      </p:cBhvr>
                                    </p:animEffect>
                                  </p:childTnLst>
                                </p:cTn>
                              </p:par>
                            </p:childTnLst>
                          </p:cTn>
                        </p:par>
                      </p:childTnLst>
                    </p:cTn>
                  </p:par>
                  <p:par>
                    <p:cTn id="55" fill="hold">
                      <p:stCondLst>
                        <p:cond delay="indefinite"/>
                      </p:stCondLst>
                      <p:childTnLst>
                        <p:par>
                          <p:cTn id="56" fill="hold">
                            <p:stCondLst>
                              <p:cond delay="0"/>
                            </p:stCondLst>
                            <p:childTnLst>
                              <p:par>
                                <p:cTn id="57" presetID="63" presetClass="path" presetSubtype="0" accel="50000" decel="50000" fill="hold" grpId="3" nodeType="clickEffect">
                                  <p:stCondLst>
                                    <p:cond delay="0"/>
                                  </p:stCondLst>
                                  <p:childTnLst>
                                    <p:animMotion origin="layout" path="M 0.31042 -7.40741E-7 L 0.47222 -0.0034 " pathEditMode="relative" rAng="0" ptsTypes="AA">
                                      <p:cBhvr>
                                        <p:cTn id="58" dur="1000" fill="hold"/>
                                        <p:tgtEl>
                                          <p:spTgt spid="20"/>
                                        </p:tgtEl>
                                        <p:attrNameLst>
                                          <p:attrName>ppt_x</p:attrName>
                                          <p:attrName>ppt_y</p:attrName>
                                        </p:attrNameLst>
                                      </p:cBhvr>
                                      <p:rCtr x="8160" y="0"/>
                                    </p:animMotion>
                                  </p:childTnLst>
                                </p:cTn>
                              </p:par>
                              <p:par>
                                <p:cTn id="59" presetID="63" presetClass="path" presetSubtype="0" accel="50000" decel="50000" fill="hold" grpId="3" nodeType="withEffect">
                                  <p:stCondLst>
                                    <p:cond delay="0"/>
                                  </p:stCondLst>
                                  <p:childTnLst>
                                    <p:animMotion origin="layout" path="M 0.23246 -0.00092 L 0.34618 -0.00092 " pathEditMode="relative" rAng="0" ptsTypes="AA">
                                      <p:cBhvr>
                                        <p:cTn id="60" dur="1000" fill="hold"/>
                                        <p:tgtEl>
                                          <p:spTgt spid="21"/>
                                        </p:tgtEl>
                                        <p:attrNameLst>
                                          <p:attrName>ppt_x</p:attrName>
                                          <p:attrName>ppt_y</p:attrName>
                                        </p:attrNameLst>
                                      </p:cBhvr>
                                      <p:rCtr x="5677" y="0"/>
                                    </p:animMotion>
                                  </p:childTnLst>
                                </p:cTn>
                              </p:par>
                            </p:childTnLst>
                          </p:cTn>
                        </p:par>
                        <p:par>
                          <p:cTn id="61" fill="hold">
                            <p:stCondLst>
                              <p:cond delay="1000"/>
                            </p:stCondLst>
                            <p:childTnLst>
                              <p:par>
                                <p:cTn id="62" presetID="12" presetClass="entr" presetSubtype="4" fill="hold" nodeType="afterEffect">
                                  <p:stCondLst>
                                    <p:cond delay="0"/>
                                  </p:stCondLst>
                                  <p:childTnLst>
                                    <p:set>
                                      <p:cBhvr>
                                        <p:cTn id="63" dur="1" fill="hold">
                                          <p:stCondLst>
                                            <p:cond delay="0"/>
                                          </p:stCondLst>
                                        </p:cTn>
                                        <p:tgtEl>
                                          <p:spTgt spid="74"/>
                                        </p:tgtEl>
                                        <p:attrNameLst>
                                          <p:attrName>style.visibility</p:attrName>
                                        </p:attrNameLst>
                                      </p:cBhvr>
                                      <p:to>
                                        <p:strVal val="visible"/>
                                      </p:to>
                                    </p:set>
                                    <p:anim calcmode="lin" valueType="num">
                                      <p:cBhvr additive="base">
                                        <p:cTn id="64" dur="1000"/>
                                        <p:tgtEl>
                                          <p:spTgt spid="74"/>
                                        </p:tgtEl>
                                        <p:attrNameLst>
                                          <p:attrName>ppt_y</p:attrName>
                                        </p:attrNameLst>
                                      </p:cBhvr>
                                      <p:tavLst>
                                        <p:tav tm="0">
                                          <p:val>
                                            <p:strVal val="#ppt_y+#ppt_h*1.125000"/>
                                          </p:val>
                                        </p:tav>
                                        <p:tav tm="100000">
                                          <p:val>
                                            <p:strVal val="#ppt_y"/>
                                          </p:val>
                                        </p:tav>
                                      </p:tavLst>
                                    </p:anim>
                                    <p:animEffect transition="in" filter="wipe(up)">
                                      <p:cBhvr>
                                        <p:cTn id="65"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0" grpId="2" animBg="1"/>
      <p:bldP spid="20" grpId="3" animBg="1"/>
      <p:bldP spid="21" grpId="0" animBg="1"/>
      <p:bldP spid="21" grpId="1" animBg="1"/>
      <p:bldP spid="21" grpId="2" animBg="1"/>
      <p:bldP spid="21" grpId="3"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3966208" cy="418885"/>
            <a:chOff x="670560" y="892917"/>
            <a:chExt cx="3966208" cy="465428"/>
          </a:xfrm>
        </p:grpSpPr>
        <p:sp>
          <p:nvSpPr>
            <p:cNvPr id="3" name="矩形 2"/>
            <p:cNvSpPr/>
            <p:nvPr/>
          </p:nvSpPr>
          <p:spPr>
            <a:xfrm>
              <a:off x="1035232" y="913778"/>
              <a:ext cx="360153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4</a:t>
              </a:r>
              <a:r>
                <a:rPr lang="zh-CN" altLang="en-US" sz="2000" b="1" dirty="0">
                  <a:solidFill>
                    <a:srgbClr val="002060"/>
                  </a:solidFill>
                  <a:latin typeface="微软雅黑" pitchFamily="34" charset="-122"/>
                  <a:ea typeface="微软雅黑" pitchFamily="34" charset="-122"/>
                </a:rPr>
                <a:t>、逻辑函数及其表示方法</a:t>
              </a: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 name="Rectangle 5"/>
          <p:cNvSpPr>
            <a:spLocks noChangeArrowheads="1"/>
          </p:cNvSpPr>
          <p:nvPr/>
        </p:nvSpPr>
        <p:spPr bwMode="auto">
          <a:xfrm>
            <a:off x="646532" y="1723794"/>
            <a:ext cx="5523923" cy="523220"/>
          </a:xfrm>
          <a:prstGeom prst="rect">
            <a:avLst/>
          </a:prstGeom>
          <a:noFill/>
          <a:ln w="9525" algn="ctr">
            <a:noFill/>
            <a:miter lim="800000"/>
            <a:headEnd/>
            <a:tailEnd/>
          </a:ln>
        </p:spPr>
        <p:txBody>
          <a:bodyPr wrap="square" lIns="0" rIns="0">
            <a:spAutoFit/>
          </a:bodyPr>
          <a:lstStyle/>
          <a:p>
            <a:pPr marL="360363" indent="-360363"/>
            <a:r>
              <a:rPr lang="zh-CN" altLang="en-US" sz="1400" dirty="0">
                <a:solidFill>
                  <a:srgbClr val="6600FF"/>
                </a:solidFill>
                <a:latin typeface="Times New Roman" panose="02020603050405020304" pitchFamily="18" charset="0"/>
                <a:ea typeface="方正粗黑宋简体" pitchFamily="2" charset="-122"/>
                <a:cs typeface="Times New Roman" panose="02020603050405020304" pitchFamily="18" charset="0"/>
              </a:rPr>
              <a:t>例：</a:t>
            </a:r>
            <a:r>
              <a:rPr lang="zh-CN" altLang="zh-CN" sz="1400" dirty="0">
                <a:latin typeface="Times New Roman" panose="02020603050405020304" pitchFamily="18" charset="0"/>
                <a:ea typeface="黑体" pitchFamily="49" charset="-122"/>
                <a:cs typeface="Times New Roman" panose="02020603050405020304" pitchFamily="18" charset="0"/>
              </a:rPr>
              <a:t>卧室照明灯双控电路，单刀双掷开关</a:t>
            </a:r>
            <a:r>
              <a:rPr lang="en-US" altLang="zh-CN" sz="1400" i="1" dirty="0">
                <a:latin typeface="Times New Roman" panose="02020603050405020304" pitchFamily="18" charset="0"/>
                <a:ea typeface="黑体" pitchFamily="49" charset="-122"/>
                <a:cs typeface="Times New Roman" panose="02020603050405020304" pitchFamily="18" charset="0"/>
              </a:rPr>
              <a:t>A</a:t>
            </a:r>
            <a:r>
              <a:rPr lang="zh-CN" altLang="zh-CN" sz="1400" dirty="0">
                <a:latin typeface="Times New Roman" panose="02020603050405020304" pitchFamily="18" charset="0"/>
                <a:ea typeface="黑体" pitchFamily="49" charset="-122"/>
                <a:cs typeface="Times New Roman" panose="02020603050405020304" pitchFamily="18" charset="0"/>
              </a:rPr>
              <a:t>、</a:t>
            </a:r>
            <a:r>
              <a:rPr lang="en-US" altLang="zh-CN" sz="1400" i="1" dirty="0">
                <a:latin typeface="Times New Roman" panose="02020603050405020304" pitchFamily="18" charset="0"/>
                <a:ea typeface="黑体" pitchFamily="49" charset="-122"/>
                <a:cs typeface="Times New Roman" panose="02020603050405020304" pitchFamily="18" charset="0"/>
              </a:rPr>
              <a:t>B</a:t>
            </a:r>
            <a:r>
              <a:rPr lang="zh-CN" altLang="zh-CN" sz="1400" dirty="0">
                <a:latin typeface="Times New Roman" panose="02020603050405020304" pitchFamily="18" charset="0"/>
                <a:ea typeface="黑体" pitchFamily="49" charset="-122"/>
                <a:cs typeface="Times New Roman" panose="02020603050405020304" pitchFamily="18" charset="0"/>
              </a:rPr>
              <a:t>分别装在门口和床边，这样可以在门口开灯，床边关灯，也可以在床边开灯，门口关灯。</a:t>
            </a:r>
            <a:endParaRPr lang="zh-CN" altLang="en-US" sz="1400" dirty="0">
              <a:solidFill>
                <a:srgbClr val="262626"/>
              </a:solidFill>
              <a:latin typeface="Times New Roman" panose="02020603050405020304" pitchFamily="18" charset="0"/>
              <a:ea typeface="黑体" pitchFamily="49" charset="-122"/>
              <a:cs typeface="Times New Roman" panose="02020603050405020304" pitchFamily="18" charset="0"/>
            </a:endParaRPr>
          </a:p>
        </p:txBody>
      </p:sp>
      <p:graphicFrame>
        <p:nvGraphicFramePr>
          <p:cNvPr id="13" name="Group 156"/>
          <p:cNvGraphicFramePr>
            <a:graphicFrameLocks noGrp="1"/>
          </p:cNvGraphicFramePr>
          <p:nvPr/>
        </p:nvGraphicFramePr>
        <p:xfrm>
          <a:off x="766998" y="3241905"/>
          <a:ext cx="1679891" cy="1318979"/>
        </p:xfrm>
        <a:graphic>
          <a:graphicData uri="http://schemas.openxmlformats.org/drawingml/2006/table">
            <a:tbl>
              <a:tblPr/>
              <a:tblGrid>
                <a:gridCol w="498791">
                  <a:extLst>
                    <a:ext uri="{9D8B030D-6E8A-4147-A177-3AD203B41FA5}">
                      <a16:colId xmlns:a16="http://schemas.microsoft.com/office/drawing/2014/main" xmlns="" val="20000"/>
                    </a:ext>
                  </a:extLst>
                </a:gridCol>
                <a:gridCol w="533400">
                  <a:extLst>
                    <a:ext uri="{9D8B030D-6E8A-4147-A177-3AD203B41FA5}">
                      <a16:colId xmlns:a16="http://schemas.microsoft.com/office/drawing/2014/main" xmlns="" val="20001"/>
                    </a:ext>
                  </a:extLst>
                </a:gridCol>
                <a:gridCol w="647700">
                  <a:extLst>
                    <a:ext uri="{9D8B030D-6E8A-4147-A177-3AD203B41FA5}">
                      <a16:colId xmlns:a16="http://schemas.microsoft.com/office/drawing/2014/main" xmlns="" val="20002"/>
                    </a:ext>
                  </a:extLst>
                </a:gridCol>
              </a:tblGrid>
              <a:tr h="214878">
                <a:tc gridSpan="3">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状态表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lumMod val="7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224221">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A</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B</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黑体" pitchFamily="2" charset="-122"/>
                        </a:rPr>
                        <a:t>灯</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1"/>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下</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下</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黑体" pitchFamily="2" charset="-122"/>
                        </a:rPr>
                        <a:t>亮</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xmlns="" val="10002"/>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下</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上</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黑体" pitchFamily="2" charset="-122"/>
                        </a:rPr>
                        <a:t>灭</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上</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下</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黑体" pitchFamily="2" charset="-122"/>
                        </a:rPr>
                        <a:t>灭</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上</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黑体" pitchFamily="49" charset="-122"/>
                          <a:ea typeface="黑体" pitchFamily="49" charset="-122"/>
                        </a:rPr>
                        <a:t>上</a:t>
                      </a:r>
                      <a:endParaRPr kumimoji="0" lang="en-US" altLang="zh-CN" sz="1300" b="0" i="0" u="none" strike="noStrike" cap="none" normalizeH="0" baseline="0" dirty="0">
                        <a:ln>
                          <a:noFill/>
                        </a:ln>
                        <a:solidFill>
                          <a:srgbClr val="000000"/>
                        </a:solidFill>
                        <a:effectLst/>
                        <a:latin typeface="黑体" pitchFamily="49" charset="-122"/>
                        <a:ea typeface="黑体" pitchFamily="49" charset="-122"/>
                      </a:endParaRP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黑体" pitchFamily="2" charset="-122"/>
                        </a:rPr>
                        <a:t>亮</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xmlns="" val="10005"/>
                  </a:ext>
                </a:extLst>
              </a:tr>
            </a:tbl>
          </a:graphicData>
        </a:graphic>
      </p:graphicFrame>
      <p:sp>
        <p:nvSpPr>
          <p:cNvPr id="19" name="五边形 18"/>
          <p:cNvSpPr/>
          <p:nvPr/>
        </p:nvSpPr>
        <p:spPr>
          <a:xfrm>
            <a:off x="2557872" y="3399041"/>
            <a:ext cx="1978876" cy="1078166"/>
          </a:xfrm>
          <a:prstGeom prst="homePlate">
            <a:avLst>
              <a:gd name="adj" fmla="val 34444"/>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lgn="ctr">
              <a:defRPr/>
            </a:pPr>
            <a:r>
              <a:rPr lang="zh-CN" altLang="en-US" sz="2000" dirty="0">
                <a:solidFill>
                  <a:srgbClr val="FFFF00"/>
                </a:solidFill>
                <a:latin typeface="方正粗黑宋简体" pitchFamily="2" charset="-122"/>
                <a:ea typeface="方正粗黑宋简体" pitchFamily="2" charset="-122"/>
              </a:rPr>
              <a:t>逻辑抽象</a:t>
            </a:r>
            <a:endParaRPr lang="zh-CN" altLang="en-US" sz="2000" dirty="0">
              <a:solidFill>
                <a:schemeClr val="bg1"/>
              </a:solidFill>
              <a:latin typeface="方正粗黑宋简体" pitchFamily="2" charset="-122"/>
              <a:ea typeface="方正粗黑宋简体" pitchFamily="2" charset="-122"/>
            </a:endParaRPr>
          </a:p>
        </p:txBody>
      </p:sp>
      <p:sp>
        <p:nvSpPr>
          <p:cNvPr id="21" name="圆角矩形标注 20"/>
          <p:cNvSpPr/>
          <p:nvPr/>
        </p:nvSpPr>
        <p:spPr>
          <a:xfrm>
            <a:off x="3040560" y="2269803"/>
            <a:ext cx="2633981" cy="867088"/>
          </a:xfrm>
          <a:prstGeom prst="wedgeRoundRectCallout">
            <a:avLst>
              <a:gd name="adj1" fmla="val -42573"/>
              <a:gd name="adj2" fmla="val 80758"/>
              <a:gd name="adj3" fmla="val 16667"/>
            </a:avLst>
          </a:prstGeom>
          <a:solidFill>
            <a:srgbClr val="FFFF00"/>
          </a:solidFill>
          <a:ln>
            <a:solidFill>
              <a:srgbClr val="6600FF"/>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rgbClr val="6600FF"/>
                </a:solidFill>
                <a:latin typeface="方正粗黑宋简体" pitchFamily="2" charset="-122"/>
                <a:ea typeface="方正粗黑宋简体" pitchFamily="2" charset="-122"/>
              </a:rPr>
              <a:t>逻辑抽象：</a:t>
            </a:r>
            <a:r>
              <a:rPr lang="zh-CN" altLang="zh-CN" sz="1200" dirty="0">
                <a:solidFill>
                  <a:schemeClr val="tx1"/>
                </a:solidFill>
                <a:latin typeface="黑体" pitchFamily="49" charset="-122"/>
                <a:ea typeface="黑体" pitchFamily="49" charset="-122"/>
              </a:rPr>
              <a:t>对实际逻辑问题描述中的输入和输出分别赋变量，并对输入变量和输出变量在实际逻辑问题描述中的不同状态赋不同的逻辑值。</a:t>
            </a:r>
            <a:endParaRPr lang="zh-CN" altLang="en-US" sz="1200" dirty="0">
              <a:solidFill>
                <a:schemeClr val="tx1"/>
              </a:solidFill>
              <a:latin typeface="黑体" pitchFamily="49" charset="-122"/>
              <a:ea typeface="黑体" pitchFamily="49" charset="-122"/>
            </a:endParaRPr>
          </a:p>
        </p:txBody>
      </p:sp>
      <p:graphicFrame>
        <p:nvGraphicFramePr>
          <p:cNvPr id="22" name="Group 156"/>
          <p:cNvGraphicFramePr>
            <a:graphicFrameLocks noGrp="1"/>
          </p:cNvGraphicFramePr>
          <p:nvPr>
            <p:extLst>
              <p:ext uri="{D42A27DB-BD31-4B8C-83A1-F6EECF244321}">
                <p14:modId xmlns:p14="http://schemas.microsoft.com/office/powerpoint/2010/main" val="2800593735"/>
              </p:ext>
            </p:extLst>
          </p:nvPr>
        </p:nvGraphicFramePr>
        <p:xfrm>
          <a:off x="4572000" y="3278635"/>
          <a:ext cx="1839677" cy="1318979"/>
        </p:xfrm>
        <a:graphic>
          <a:graphicData uri="http://schemas.openxmlformats.org/drawingml/2006/table">
            <a:tbl>
              <a:tblPr/>
              <a:tblGrid>
                <a:gridCol w="546235">
                  <a:extLst>
                    <a:ext uri="{9D8B030D-6E8A-4147-A177-3AD203B41FA5}">
                      <a16:colId xmlns:a16="http://schemas.microsoft.com/office/drawing/2014/main" xmlns="" val="20000"/>
                    </a:ext>
                  </a:extLst>
                </a:gridCol>
                <a:gridCol w="584135">
                  <a:extLst>
                    <a:ext uri="{9D8B030D-6E8A-4147-A177-3AD203B41FA5}">
                      <a16:colId xmlns:a16="http://schemas.microsoft.com/office/drawing/2014/main" xmlns="" val="20001"/>
                    </a:ext>
                  </a:extLst>
                </a:gridCol>
                <a:gridCol w="709307">
                  <a:extLst>
                    <a:ext uri="{9D8B030D-6E8A-4147-A177-3AD203B41FA5}">
                      <a16:colId xmlns:a16="http://schemas.microsoft.com/office/drawing/2014/main" xmlns="" val="20002"/>
                    </a:ext>
                  </a:extLst>
                </a:gridCol>
              </a:tblGrid>
              <a:tr h="214878">
                <a:tc gridSpan="3">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逻辑真值表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224221">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A</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B</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L</a:t>
                      </a:r>
                      <a:endParaRPr kumimoji="0" lang="zh-CN" altLang="en-US" sz="1400" b="0" i="1"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1"/>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bl>
          </a:graphicData>
        </a:graphic>
      </p:graphicFrame>
      <p:grpSp>
        <p:nvGrpSpPr>
          <p:cNvPr id="23" name="组合 22"/>
          <p:cNvGrpSpPr/>
          <p:nvPr/>
        </p:nvGrpSpPr>
        <p:grpSpPr>
          <a:xfrm>
            <a:off x="6411677" y="1756492"/>
            <a:ext cx="2633980" cy="1854595"/>
            <a:chOff x="6524312" y="762634"/>
            <a:chExt cx="2633980" cy="2060661"/>
          </a:xfrm>
        </p:grpSpPr>
        <p:sp>
          <p:nvSpPr>
            <p:cNvPr id="20" name="圆角矩形 19"/>
            <p:cNvSpPr/>
            <p:nvPr/>
          </p:nvSpPr>
          <p:spPr>
            <a:xfrm>
              <a:off x="6667778" y="784362"/>
              <a:ext cx="2356081" cy="2038933"/>
            </a:xfrm>
            <a:prstGeom prst="roundRect">
              <a:avLst>
                <a:gd name="adj" fmla="val 503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065" name="Group 1"/>
            <p:cNvGrpSpPr>
              <a:grpSpLocks/>
            </p:cNvGrpSpPr>
            <p:nvPr/>
          </p:nvGrpSpPr>
          <p:grpSpPr bwMode="auto">
            <a:xfrm>
              <a:off x="6524312" y="762634"/>
              <a:ext cx="2633980" cy="1980716"/>
              <a:chOff x="7380" y="4663"/>
              <a:chExt cx="4148" cy="3120"/>
            </a:xfrm>
          </p:grpSpPr>
          <p:sp>
            <p:nvSpPr>
              <p:cNvPr id="88066" name="Text Box 2"/>
              <p:cNvSpPr txBox="1">
                <a:spLocks noChangeArrowheads="1"/>
              </p:cNvSpPr>
              <p:nvPr/>
            </p:nvSpPr>
            <p:spPr bwMode="auto">
              <a:xfrm>
                <a:off x="8503" y="7401"/>
                <a:ext cx="2064" cy="38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2263"/>
                  </a:spcAft>
                  <a:buClrTx/>
                  <a:buSzTx/>
                  <a:buFontTx/>
                  <a:buNone/>
                  <a:tabLst/>
                </a:pPr>
                <a:r>
                  <a:rPr kumimoji="0" lang="zh-CN" altLang="en-GB" sz="1600" b="0" i="0" u="none" strike="noStrike" cap="none" normalizeH="0" baseline="0" dirty="0">
                    <a:ln>
                      <a:noFill/>
                    </a:ln>
                    <a:solidFill>
                      <a:srgbClr val="000000"/>
                    </a:solidFill>
                    <a:effectLst/>
                    <a:latin typeface="Times New Roman" pitchFamily="18" charset="0"/>
                    <a:ea typeface="黑体" pitchFamily="49" charset="-122"/>
                    <a:cs typeface="宋体" pitchFamily="2" charset="-122"/>
                  </a:rPr>
                  <a:t>双控灯电路</a:t>
                </a:r>
                <a:endParaRPr kumimoji="0" lang="zh-CN"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aphicFrame>
            <p:nvGraphicFramePr>
              <p:cNvPr id="88067" name="Object 3"/>
              <p:cNvGraphicFramePr>
                <a:graphicFrameLocks noChangeAspect="1"/>
              </p:cNvGraphicFramePr>
              <p:nvPr/>
            </p:nvGraphicFramePr>
            <p:xfrm>
              <a:off x="7380" y="4663"/>
              <a:ext cx="4148" cy="2542"/>
            </p:xfrm>
            <a:graphic>
              <a:graphicData uri="http://schemas.openxmlformats.org/presentationml/2006/ole">
                <mc:AlternateContent xmlns:mc="http://schemas.openxmlformats.org/markup-compatibility/2006">
                  <mc:Choice xmlns:v="urn:schemas-microsoft-com:vml" Requires="v">
                    <p:oleObj spid="_x0000_s31756" name="Visio" r:id="rId5" imgW="1364539" imgH="836789" progId="Visio.Drawing.11">
                      <p:embed/>
                    </p:oleObj>
                  </mc:Choice>
                  <mc:Fallback>
                    <p:oleObj name="Visio" r:id="rId5" imgW="1364539" imgH="836789" progId="Visio.Drawing.11">
                      <p:embed/>
                      <p:pic>
                        <p:nvPicPr>
                          <p:cNvPr id="8806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0" y="4663"/>
                            <a:ext cx="4148" cy="2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5" name="组合 4">
            <a:extLst>
              <a:ext uri="{FF2B5EF4-FFF2-40B4-BE49-F238E27FC236}">
                <a16:creationId xmlns:a16="http://schemas.microsoft.com/office/drawing/2014/main" xmlns="" id="{B27CE84D-0FC1-40FC-A7F3-C278EEB089D3}"/>
              </a:ext>
            </a:extLst>
          </p:cNvPr>
          <p:cNvGrpSpPr/>
          <p:nvPr/>
        </p:nvGrpSpPr>
        <p:grpSpPr>
          <a:xfrm>
            <a:off x="664776" y="1249155"/>
            <a:ext cx="6590824" cy="346293"/>
            <a:chOff x="664776" y="1249155"/>
            <a:chExt cx="6590824" cy="346293"/>
          </a:xfrm>
        </p:grpSpPr>
        <p:graphicFrame>
          <p:nvGraphicFramePr>
            <p:cNvPr id="6" name="对象 5">
              <a:extLst>
                <a:ext uri="{FF2B5EF4-FFF2-40B4-BE49-F238E27FC236}">
                  <a16:creationId xmlns:a16="http://schemas.microsoft.com/office/drawing/2014/main" xmlns="" id="{7CEF3663-178C-4C20-B789-7E55F8853A72}"/>
                </a:ext>
              </a:extLst>
            </p:cNvPr>
            <p:cNvGraphicFramePr>
              <a:graphicFrameLocks noChangeAspect="1"/>
            </p:cNvGraphicFramePr>
            <p:nvPr/>
          </p:nvGraphicFramePr>
          <p:xfrm>
            <a:off x="664776" y="1285983"/>
            <a:ext cx="1253333" cy="309465"/>
          </p:xfrm>
          <a:graphic>
            <a:graphicData uri="http://schemas.openxmlformats.org/presentationml/2006/ole">
              <mc:AlternateContent xmlns:mc="http://schemas.openxmlformats.org/markup-compatibility/2006">
                <mc:Choice xmlns:v="urn:schemas-microsoft-com:vml" Requires="v">
                  <p:oleObj spid="_x0000_s31757" name="公式" r:id="rId7" imgW="774364" imgH="190417" progId="Equation.3">
                    <p:embed/>
                  </p:oleObj>
                </mc:Choice>
                <mc:Fallback>
                  <p:oleObj name="公式" r:id="rId7" imgW="774364" imgH="190417" progId="Equation.3">
                    <p:embed/>
                    <p:pic>
                      <p:nvPicPr>
                        <p:cNvPr id="6" name="对象 5">
                          <a:extLst>
                            <a:ext uri="{FF2B5EF4-FFF2-40B4-BE49-F238E27FC236}">
                              <a16:creationId xmlns:a16="http://schemas.microsoft.com/office/drawing/2014/main" xmlns="" id="{7CEF3663-178C-4C20-B789-7E55F8853A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776" y="1285983"/>
                          <a:ext cx="1253333" cy="309465"/>
                        </a:xfrm>
                        <a:prstGeom prst="rect">
                          <a:avLst/>
                        </a:prstGeom>
                        <a:noFill/>
                      </p:spPr>
                    </p:pic>
                  </p:oleObj>
                </mc:Fallback>
              </mc:AlternateContent>
            </a:graphicData>
          </a:graphic>
        </p:graphicFrame>
        <p:sp>
          <p:nvSpPr>
            <p:cNvPr id="8" name="Rectangle 44">
              <a:extLst>
                <a:ext uri="{FF2B5EF4-FFF2-40B4-BE49-F238E27FC236}">
                  <a16:creationId xmlns:a16="http://schemas.microsoft.com/office/drawing/2014/main" xmlns="" id="{E27FEF7C-1E08-413A-8C7F-B32D6243A9E4}"/>
                </a:ext>
              </a:extLst>
            </p:cNvPr>
            <p:cNvSpPr>
              <a:spLocks noChangeArrowheads="1"/>
            </p:cNvSpPr>
            <p:nvPr/>
          </p:nvSpPr>
          <p:spPr bwMode="auto">
            <a:xfrm>
              <a:off x="1909265" y="1249155"/>
              <a:ext cx="53463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600" dirty="0">
                  <a:latin typeface="Times New Roman" panose="02020603050405020304" pitchFamily="18" charset="0"/>
                  <a:ea typeface="黑体" pitchFamily="49" charset="-122"/>
                  <a:cs typeface="Times New Roman" panose="02020603050405020304" pitchFamily="18" charset="0"/>
                </a:rPr>
                <a:t>表示输出逻辑变量</a:t>
              </a:r>
              <a:r>
                <a:rPr lang="en-US" altLang="zh-CN" sz="1600" i="1" dirty="0">
                  <a:latin typeface="Times New Roman" panose="02020603050405020304" pitchFamily="18" charset="0"/>
                  <a:ea typeface="黑体" pitchFamily="49" charset="-122"/>
                  <a:cs typeface="Times New Roman" panose="02020603050405020304" pitchFamily="18" charset="0"/>
                </a:rPr>
                <a:t>L</a:t>
              </a:r>
              <a:r>
                <a:rPr lang="zh-CN" altLang="en-US" sz="1600" dirty="0">
                  <a:latin typeface="Times New Roman" panose="02020603050405020304" pitchFamily="18" charset="0"/>
                  <a:ea typeface="黑体" pitchFamily="49" charset="-122"/>
                  <a:cs typeface="Times New Roman" panose="02020603050405020304" pitchFamily="18" charset="0"/>
                </a:rPr>
                <a:t>是输入逻辑变量</a:t>
              </a:r>
              <a:r>
                <a:rPr lang="en-US" altLang="zh-CN" sz="1600" i="1" dirty="0">
                  <a:latin typeface="Times New Roman" panose="02020603050405020304" pitchFamily="18" charset="0"/>
                  <a:ea typeface="黑体" pitchFamily="49" charset="-122"/>
                  <a:cs typeface="Times New Roman" panose="02020603050405020304" pitchFamily="18" charset="0"/>
                </a:rPr>
                <a:t>A</a:t>
              </a:r>
              <a:r>
                <a:rPr lang="zh-CN" altLang="en-US" sz="1600" i="1" dirty="0">
                  <a:latin typeface="Times New Roman" panose="02020603050405020304" pitchFamily="18" charset="0"/>
                  <a:ea typeface="黑体" pitchFamily="49" charset="-122"/>
                  <a:cs typeface="Times New Roman" panose="02020603050405020304" pitchFamily="18" charset="0"/>
                </a:rPr>
                <a:t>、</a:t>
              </a:r>
              <a:r>
                <a:rPr lang="en-US" altLang="zh-CN" sz="1600" i="1" dirty="0">
                  <a:latin typeface="Times New Roman" panose="02020603050405020304" pitchFamily="18" charset="0"/>
                  <a:ea typeface="黑体" pitchFamily="49" charset="-122"/>
                  <a:cs typeface="Times New Roman" panose="02020603050405020304" pitchFamily="18" charset="0"/>
                </a:rPr>
                <a:t>B</a:t>
              </a:r>
              <a:r>
                <a:rPr lang="zh-CN" altLang="en-US" sz="1600" i="1" dirty="0">
                  <a:latin typeface="Times New Roman" panose="02020603050405020304" pitchFamily="18" charset="0"/>
                  <a:ea typeface="黑体" pitchFamily="49" charset="-122"/>
                  <a:cs typeface="Times New Roman" panose="02020603050405020304" pitchFamily="18" charset="0"/>
                </a:rPr>
                <a:t>、</a:t>
              </a:r>
              <a:r>
                <a:rPr lang="en-US" altLang="zh-CN" sz="1600" i="1" dirty="0">
                  <a:latin typeface="Times New Roman" panose="02020603050405020304" pitchFamily="18" charset="0"/>
                  <a:ea typeface="黑体" pitchFamily="49" charset="-122"/>
                  <a:cs typeface="Times New Roman" panose="02020603050405020304" pitchFamily="18" charset="0"/>
                </a:rPr>
                <a:t>C</a:t>
              </a:r>
              <a:r>
                <a:rPr lang="zh-CN" altLang="en-US" sz="1600" dirty="0">
                  <a:latin typeface="Times New Roman" panose="02020603050405020304" pitchFamily="18" charset="0"/>
                  <a:ea typeface="黑体" pitchFamily="49" charset="-122"/>
                  <a:cs typeface="Times New Roman" panose="02020603050405020304" pitchFamily="18" charset="0"/>
                </a:rPr>
                <a:t>的</a:t>
              </a:r>
              <a:r>
                <a:rPr lang="zh-CN" altLang="en-US" sz="1600" dirty="0">
                  <a:solidFill>
                    <a:srgbClr val="6600FF"/>
                  </a:solidFill>
                  <a:latin typeface="方正粗黑宋简体" pitchFamily="2" charset="-122"/>
                  <a:ea typeface="方正粗黑宋简体" pitchFamily="2" charset="-122"/>
                </a:rPr>
                <a:t>逻辑函数</a:t>
              </a:r>
              <a:r>
                <a:rPr kumimoji="0" lang="zh-CN" altLang="en-US"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grpSp>
        <p:nvGrpSpPr>
          <p:cNvPr id="24" name="组合 23">
            <a:extLst>
              <a:ext uri="{FF2B5EF4-FFF2-40B4-BE49-F238E27FC236}">
                <a16:creationId xmlns:a16="http://schemas.microsoft.com/office/drawing/2014/main" xmlns="" id="{4762F93E-BDED-471D-AEDD-EA8833AC3F5A}"/>
              </a:ext>
            </a:extLst>
          </p:cNvPr>
          <p:cNvGrpSpPr/>
          <p:nvPr/>
        </p:nvGrpSpPr>
        <p:grpSpPr>
          <a:xfrm>
            <a:off x="421888" y="2519021"/>
            <a:ext cx="2207013" cy="368657"/>
            <a:chOff x="358461" y="2491447"/>
            <a:chExt cx="2207013" cy="401382"/>
          </a:xfrm>
        </p:grpSpPr>
        <p:sp>
          <p:nvSpPr>
            <p:cNvPr id="25" name="矩形 24">
              <a:extLst>
                <a:ext uri="{FF2B5EF4-FFF2-40B4-BE49-F238E27FC236}">
                  <a16:creationId xmlns:a16="http://schemas.microsoft.com/office/drawing/2014/main" xmlns="" id="{E67C19AE-5297-461A-8B84-D409BF8DDD95}"/>
                </a:ext>
              </a:extLst>
            </p:cNvPr>
            <p:cNvSpPr>
              <a:spLocks noChangeArrowheads="1"/>
            </p:cNvSpPr>
            <p:nvPr/>
          </p:nvSpPr>
          <p:spPr bwMode="auto">
            <a:xfrm>
              <a:off x="601349" y="2491447"/>
              <a:ext cx="1964125" cy="401377"/>
            </a:xfrm>
            <a:prstGeom prst="rect">
              <a:avLst/>
            </a:prstGeom>
            <a:solidFill>
              <a:srgbClr val="05AFC8"/>
            </a:solidFill>
            <a:ln>
              <a:noFill/>
            </a:ln>
          </p:spPr>
          <p:txBody>
            <a:bodyPr lIns="72000" tIns="0" bIns="0"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a:t>
              </a:r>
              <a:r>
                <a:rPr lang="zh-CN" altLang="en-US" sz="1600" dirty="0">
                  <a:solidFill>
                    <a:schemeClr val="bg1"/>
                  </a:solidFill>
                  <a:latin typeface="黑体" pitchFamily="2" charset="-122"/>
                  <a:ea typeface="黑体" pitchFamily="2" charset="-122"/>
                </a:rPr>
                <a:t>真值表描述方法</a:t>
              </a:r>
              <a:endParaRPr lang="zh-CN" altLang="en-US" sz="1600" dirty="0">
                <a:solidFill>
                  <a:schemeClr val="bg1"/>
                </a:solidFill>
                <a:latin typeface="黑体" panose="02010609060101010101" pitchFamily="49" charset="-122"/>
                <a:ea typeface="黑体" panose="02010609060101010101" pitchFamily="49" charset="-122"/>
              </a:endParaRPr>
            </a:p>
          </p:txBody>
        </p:sp>
        <p:sp>
          <p:nvSpPr>
            <p:cNvPr id="26" name="矩形 25">
              <a:extLst>
                <a:ext uri="{FF2B5EF4-FFF2-40B4-BE49-F238E27FC236}">
                  <a16:creationId xmlns:a16="http://schemas.microsoft.com/office/drawing/2014/main" xmlns="" id="{97F10FBE-4615-4BCC-A52F-080E150B35D2}"/>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chemeClr val="bg1"/>
                </a:solidFill>
                <a:latin typeface="宋体" panose="02010600030101010101" pitchFamily="2" charset="-122"/>
                <a:sym typeface="宋体" panose="02010600030101010101" pitchFamily="2" charset="-122"/>
              </a:endParaRPr>
            </a:p>
          </p:txBody>
        </p:sp>
        <p:sp>
          <p:nvSpPr>
            <p:cNvPr id="27" name="Freeform 10">
              <a:extLst>
                <a:ext uri="{FF2B5EF4-FFF2-40B4-BE49-F238E27FC236}">
                  <a16:creationId xmlns:a16="http://schemas.microsoft.com/office/drawing/2014/main" xmlns="" id="{863C4DC2-907B-42DC-A4BF-DAEE586C806D}"/>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schemeClr val="bg1"/>
                </a:solidFill>
                <a:latin typeface="Arial"/>
                <a:ea typeface="微软雅黑"/>
              </a:endParaRPr>
            </a:p>
          </p:txBody>
        </p:sp>
      </p:grpSp>
      <p:sp>
        <p:nvSpPr>
          <p:cNvPr id="28" name="五边形 18">
            <a:extLst>
              <a:ext uri="{FF2B5EF4-FFF2-40B4-BE49-F238E27FC236}">
                <a16:creationId xmlns:a16="http://schemas.microsoft.com/office/drawing/2014/main" xmlns="" id="{577977D5-988B-4D3F-B585-4779EC850EAE}"/>
              </a:ext>
            </a:extLst>
          </p:cNvPr>
          <p:cNvSpPr/>
          <p:nvPr/>
        </p:nvSpPr>
        <p:spPr>
          <a:xfrm>
            <a:off x="2557872" y="3399041"/>
            <a:ext cx="1978876" cy="1078166"/>
          </a:xfrm>
          <a:prstGeom prst="homePlate">
            <a:avLst>
              <a:gd name="adj" fmla="val 34444"/>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defRPr/>
            </a:pPr>
            <a:r>
              <a:rPr lang="zh-CN" altLang="en-US" sz="1400" dirty="0">
                <a:solidFill>
                  <a:srgbClr val="FFFF00"/>
                </a:solidFill>
                <a:latin typeface="方正粗黑宋简体" pitchFamily="2" charset="-122"/>
                <a:ea typeface="方正粗黑宋简体" pitchFamily="2" charset="-122"/>
              </a:rPr>
              <a:t>开关（</a:t>
            </a:r>
            <a:r>
              <a:rPr lang="en-US" altLang="zh-CN" sz="1400" i="1" dirty="0">
                <a:solidFill>
                  <a:srgbClr val="FFFF00"/>
                </a:solidFill>
                <a:latin typeface="方正粗黑宋简体" pitchFamily="2" charset="-122"/>
                <a:ea typeface="方正粗黑宋简体" pitchFamily="2" charset="-122"/>
              </a:rPr>
              <a:t>A</a:t>
            </a:r>
            <a:r>
              <a:rPr lang="zh-CN" altLang="en-US" sz="1400" dirty="0">
                <a:solidFill>
                  <a:srgbClr val="FFFF00"/>
                </a:solidFill>
                <a:latin typeface="方正粗黑宋简体" pitchFamily="2" charset="-122"/>
                <a:ea typeface="方正粗黑宋简体" pitchFamily="2" charset="-122"/>
              </a:rPr>
              <a:t>、</a:t>
            </a:r>
            <a:r>
              <a:rPr lang="en-US" altLang="zh-CN" sz="1400" i="1" dirty="0">
                <a:solidFill>
                  <a:srgbClr val="FFFF00"/>
                </a:solidFill>
                <a:latin typeface="方正粗黑宋简体" pitchFamily="2" charset="-122"/>
                <a:ea typeface="方正粗黑宋简体" pitchFamily="2" charset="-122"/>
              </a:rPr>
              <a:t>B</a:t>
            </a:r>
            <a:r>
              <a:rPr lang="zh-CN" altLang="en-US" sz="1400" dirty="0">
                <a:solidFill>
                  <a:srgbClr val="FFFF00"/>
                </a:solidFill>
                <a:latin typeface="方正粗黑宋简体" pitchFamily="2" charset="-122"/>
                <a:ea typeface="方正粗黑宋简体" pitchFamily="2" charset="-122"/>
              </a:rPr>
              <a:t>）</a:t>
            </a:r>
            <a:endParaRPr lang="en-US" altLang="zh-CN" sz="1400" dirty="0">
              <a:solidFill>
                <a:srgbClr val="FFFF00"/>
              </a:solidFill>
              <a:latin typeface="方正粗黑宋简体" pitchFamily="2" charset="-122"/>
              <a:ea typeface="方正粗黑宋简体" pitchFamily="2" charset="-122"/>
            </a:endParaRPr>
          </a:p>
          <a:p>
            <a:pPr marL="92075">
              <a:defRPr/>
            </a:pPr>
            <a:r>
              <a:rPr lang="zh-CN" altLang="en-US" sz="1400" dirty="0">
                <a:solidFill>
                  <a:schemeClr val="bg1"/>
                </a:solidFill>
                <a:latin typeface="方正粗黑宋简体" pitchFamily="2" charset="-122"/>
                <a:ea typeface="方正粗黑宋简体" pitchFamily="2" charset="-122"/>
              </a:rPr>
              <a:t>上</a:t>
            </a:r>
            <a:r>
              <a:rPr lang="en-US" altLang="zh-CN" sz="1400" dirty="0">
                <a:solidFill>
                  <a:schemeClr val="bg1"/>
                </a:solidFill>
                <a:latin typeface="方正粗黑宋简体" pitchFamily="2" charset="-122"/>
                <a:ea typeface="方正粗黑宋简体" pitchFamily="2" charset="-122"/>
              </a:rPr>
              <a:t>(1)</a:t>
            </a:r>
            <a:r>
              <a:rPr lang="zh-CN" altLang="en-US" sz="1400" dirty="0">
                <a:solidFill>
                  <a:schemeClr val="bg1"/>
                </a:solidFill>
                <a:latin typeface="方正粗黑宋简体" pitchFamily="2" charset="-122"/>
                <a:ea typeface="方正粗黑宋简体" pitchFamily="2" charset="-122"/>
              </a:rPr>
              <a:t>、下</a:t>
            </a:r>
            <a:r>
              <a:rPr lang="en-US" altLang="zh-CN" sz="1400" dirty="0">
                <a:solidFill>
                  <a:schemeClr val="bg1"/>
                </a:solidFill>
                <a:latin typeface="方正粗黑宋简体" pitchFamily="2" charset="-122"/>
                <a:ea typeface="方正粗黑宋简体" pitchFamily="2" charset="-122"/>
              </a:rPr>
              <a:t>(0)</a:t>
            </a:r>
            <a:endParaRPr lang="zh-CN" altLang="en-US" sz="1400" dirty="0">
              <a:solidFill>
                <a:schemeClr val="bg1"/>
              </a:solidFill>
              <a:latin typeface="方正粗黑宋简体" pitchFamily="2" charset="-122"/>
              <a:ea typeface="方正粗黑宋简体" pitchFamily="2" charset="-122"/>
            </a:endParaRPr>
          </a:p>
          <a:p>
            <a:pPr marL="92075">
              <a:spcBef>
                <a:spcPts val="600"/>
              </a:spcBef>
              <a:defRPr/>
            </a:pPr>
            <a:r>
              <a:rPr lang="zh-CN" altLang="en-US" sz="1400" dirty="0">
                <a:solidFill>
                  <a:srgbClr val="FFFF00"/>
                </a:solidFill>
                <a:latin typeface="方正粗黑宋简体" pitchFamily="2" charset="-122"/>
                <a:ea typeface="方正粗黑宋简体" pitchFamily="2" charset="-122"/>
              </a:rPr>
              <a:t>灯（</a:t>
            </a:r>
            <a:r>
              <a:rPr lang="en-US" altLang="zh-CN" sz="1400" i="1" dirty="0">
                <a:solidFill>
                  <a:srgbClr val="FFFF00"/>
                </a:solidFill>
                <a:latin typeface="方正粗黑宋简体" pitchFamily="2" charset="-122"/>
                <a:ea typeface="方正粗黑宋简体" pitchFamily="2" charset="-122"/>
              </a:rPr>
              <a:t>L</a:t>
            </a:r>
            <a:r>
              <a:rPr lang="zh-CN" altLang="en-US" sz="1400" dirty="0">
                <a:solidFill>
                  <a:srgbClr val="FFFF00"/>
                </a:solidFill>
                <a:latin typeface="方正粗黑宋简体" pitchFamily="2" charset="-122"/>
                <a:ea typeface="方正粗黑宋简体" pitchFamily="2" charset="-122"/>
              </a:rPr>
              <a:t>）</a:t>
            </a:r>
            <a:endParaRPr lang="en-US" altLang="zh-CN" sz="1400" dirty="0">
              <a:solidFill>
                <a:srgbClr val="FFFF00"/>
              </a:solidFill>
              <a:latin typeface="方正粗黑宋简体" pitchFamily="2" charset="-122"/>
              <a:ea typeface="方正粗黑宋简体" pitchFamily="2" charset="-122"/>
            </a:endParaRPr>
          </a:p>
          <a:p>
            <a:pPr marL="92075">
              <a:defRPr/>
            </a:pPr>
            <a:r>
              <a:rPr lang="zh-CN" altLang="en-US" sz="1400" dirty="0">
                <a:solidFill>
                  <a:schemeClr val="bg1"/>
                </a:solidFill>
                <a:latin typeface="方正粗黑宋简体" pitchFamily="2" charset="-122"/>
                <a:ea typeface="方正粗黑宋简体" pitchFamily="2" charset="-122"/>
              </a:rPr>
              <a:t>亮</a:t>
            </a:r>
            <a:r>
              <a:rPr lang="en-US" altLang="zh-CN" sz="1400" dirty="0">
                <a:solidFill>
                  <a:schemeClr val="bg1"/>
                </a:solidFill>
                <a:latin typeface="方正粗黑宋简体" pitchFamily="2" charset="-122"/>
                <a:ea typeface="方正粗黑宋简体" pitchFamily="2" charset="-122"/>
              </a:rPr>
              <a:t>(1)</a:t>
            </a:r>
            <a:r>
              <a:rPr lang="zh-CN" altLang="en-US" sz="1400" dirty="0">
                <a:solidFill>
                  <a:schemeClr val="bg1"/>
                </a:solidFill>
                <a:latin typeface="方正粗黑宋简体" pitchFamily="2" charset="-122"/>
                <a:ea typeface="方正粗黑宋简体" pitchFamily="2" charset="-122"/>
              </a:rPr>
              <a:t>、灭</a:t>
            </a:r>
            <a:r>
              <a:rPr lang="en-US" altLang="zh-CN" sz="1400" dirty="0">
                <a:solidFill>
                  <a:schemeClr val="bg1"/>
                </a:solidFill>
                <a:latin typeface="方正粗黑宋简体" pitchFamily="2" charset="-122"/>
                <a:ea typeface="方正粗黑宋简体" pitchFamily="2" charset="-122"/>
              </a:rPr>
              <a:t>(0)</a:t>
            </a:r>
            <a:endParaRPr lang="zh-CN" altLang="en-US" sz="1400" dirty="0">
              <a:solidFill>
                <a:schemeClr val="bg1"/>
              </a:solidFill>
              <a:latin typeface="方正粗黑宋简体" pitchFamily="2" charset="-122"/>
              <a:ea typeface="方正粗黑宋简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p:tgtEl>
                                          <p:spTgt spid="5"/>
                                        </p:tgtEl>
                                        <p:attrNameLst>
                                          <p:attrName>ppt_y</p:attrName>
                                        </p:attrNameLst>
                                      </p:cBhvr>
                                      <p:tavLst>
                                        <p:tav tm="0">
                                          <p:val>
                                            <p:strVal val="#ppt_y+#ppt_h*1.125000"/>
                                          </p:val>
                                        </p:tav>
                                        <p:tav tm="100000">
                                          <p:val>
                                            <p:strVal val="#ppt_y"/>
                                          </p:val>
                                        </p:tav>
                                      </p:tavLst>
                                    </p:anim>
                                    <p:animEffect transition="in" filter="wipe(up)">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Bottom)">
                                      <p:cBhvr>
                                        <p:cTn id="17" dur="1000"/>
                                        <p:tgtEl>
                                          <p:spTgt spid="7"/>
                                        </p:tgtEl>
                                      </p:cBhvr>
                                    </p:animEffect>
                                  </p:childTnLst>
                                </p:cTn>
                              </p:par>
                            </p:childTnLst>
                          </p:cTn>
                        </p:par>
                        <p:par>
                          <p:cTn id="18" fill="hold">
                            <p:stCondLst>
                              <p:cond delay="1000"/>
                            </p:stCondLst>
                            <p:childTnLst>
                              <p:par>
                                <p:cTn id="19" presetID="12" presetClass="entr" presetSubtype="2"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slide(fromRight)">
                                      <p:cBhvr>
                                        <p:cTn id="21" dur="10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750"/>
                                        <p:tgtEl>
                                          <p:spTgt spid="24"/>
                                        </p:tgtEl>
                                        <p:attrNameLst>
                                          <p:attrName>ppt_y</p:attrName>
                                        </p:attrNameLst>
                                      </p:cBhvr>
                                      <p:tavLst>
                                        <p:tav tm="0">
                                          <p:val>
                                            <p:strVal val="#ppt_y+#ppt_h*1.125000"/>
                                          </p:val>
                                        </p:tav>
                                        <p:tav tm="100000">
                                          <p:val>
                                            <p:strVal val="#ppt_y"/>
                                          </p:val>
                                        </p:tav>
                                      </p:tavLst>
                                    </p:anim>
                                    <p:animEffect transition="in" filter="wipe(up)">
                                      <p:cBhvr>
                                        <p:cTn id="27" dur="75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1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1000"/>
                                        <p:tgtEl>
                                          <p:spTgt spid="19"/>
                                        </p:tgtEl>
                                        <p:attrNameLst>
                                          <p:attrName>ppt_x</p:attrName>
                                        </p:attrNameLst>
                                      </p:cBhvr>
                                      <p:tavLst>
                                        <p:tav tm="0">
                                          <p:val>
                                            <p:strVal val="#ppt_x-#ppt_w*1.125000"/>
                                          </p:val>
                                        </p:tav>
                                        <p:tav tm="100000">
                                          <p:val>
                                            <p:strVal val="#ppt_x"/>
                                          </p:val>
                                        </p:tav>
                                      </p:tavLst>
                                    </p:anim>
                                    <p:animEffect transition="in" filter="wipe(right)">
                                      <p:cBhvr>
                                        <p:cTn id="38" dur="1000"/>
                                        <p:tgtEl>
                                          <p:spTgt spid="19"/>
                                        </p:tgtEl>
                                      </p:cBhvr>
                                    </p:animEffect>
                                  </p:childTnLst>
                                </p:cTn>
                              </p:par>
                            </p:childTnLst>
                          </p:cTn>
                        </p:par>
                        <p:par>
                          <p:cTn id="39" fill="hold">
                            <p:stCondLst>
                              <p:cond delay="1000"/>
                            </p:stCondLst>
                            <p:childTnLst>
                              <p:par>
                                <p:cTn id="40" presetID="22" presetClass="entr" presetSubtype="4"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down)">
                                      <p:cBhvr>
                                        <p:cTn id="42" dur="10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1000"/>
                                        <p:tgtEl>
                                          <p:spTgt spid="28"/>
                                        </p:tgtEl>
                                        <p:attrNameLst>
                                          <p:attrName>ppt_x</p:attrName>
                                        </p:attrNameLst>
                                      </p:cBhvr>
                                      <p:tavLst>
                                        <p:tav tm="0">
                                          <p:val>
                                            <p:strVal val="#ppt_x-#ppt_w*1.125000"/>
                                          </p:val>
                                        </p:tav>
                                        <p:tav tm="100000">
                                          <p:val>
                                            <p:strVal val="#ppt_x"/>
                                          </p:val>
                                        </p:tav>
                                      </p:tavLst>
                                    </p:anim>
                                    <p:animEffect transition="in" filter="wipe(right)">
                                      <p:cBhvr>
                                        <p:cTn id="48" dur="10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animBg="1"/>
      <p:bldP spid="21" grpId="0" animBg="1"/>
      <p:bldP spid="2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3966208" cy="418885"/>
            <a:chOff x="670560" y="892917"/>
            <a:chExt cx="3966208" cy="465428"/>
          </a:xfrm>
        </p:grpSpPr>
        <p:sp>
          <p:nvSpPr>
            <p:cNvPr id="3" name="矩形 2"/>
            <p:cNvSpPr/>
            <p:nvPr/>
          </p:nvSpPr>
          <p:spPr>
            <a:xfrm>
              <a:off x="1035232" y="913778"/>
              <a:ext cx="360153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5</a:t>
              </a:r>
              <a:r>
                <a:rPr lang="zh-CN" altLang="en-US" sz="2000" b="1" dirty="0">
                  <a:solidFill>
                    <a:srgbClr val="002060"/>
                  </a:solidFill>
                  <a:latin typeface="微软雅黑" pitchFamily="34" charset="-122"/>
                  <a:ea typeface="微软雅黑" pitchFamily="34" charset="-122"/>
                </a:rPr>
                <a:t>、逻辑函数及其表示方法</a:t>
              </a: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8" name="组合 7">
            <a:extLst>
              <a:ext uri="{FF2B5EF4-FFF2-40B4-BE49-F238E27FC236}">
                <a16:creationId xmlns:a16="http://schemas.microsoft.com/office/drawing/2014/main" xmlns="" id="{E010191F-7F37-4AFE-B961-7090CF5FA91D}"/>
              </a:ext>
            </a:extLst>
          </p:cNvPr>
          <p:cNvGrpSpPr/>
          <p:nvPr/>
        </p:nvGrpSpPr>
        <p:grpSpPr>
          <a:xfrm>
            <a:off x="399028" y="1266173"/>
            <a:ext cx="2490391" cy="368657"/>
            <a:chOff x="358461" y="2491447"/>
            <a:chExt cx="2490391" cy="401382"/>
          </a:xfrm>
        </p:grpSpPr>
        <p:sp>
          <p:nvSpPr>
            <p:cNvPr id="9" name="矩形 8">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2247503" cy="401377"/>
            </a:xfrm>
            <a:prstGeom prst="rect">
              <a:avLst/>
            </a:prstGeom>
            <a:solidFill>
              <a:srgbClr val="05AFC8"/>
            </a:solidFill>
            <a:ln>
              <a:noFill/>
            </a:ln>
          </p:spPr>
          <p:txBody>
            <a:bodyPr lIns="72000" tIns="0" bIns="0"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a:t>
              </a:r>
              <a:r>
                <a:rPr lang="zh-CN" altLang="en-US" sz="1600" dirty="0">
                  <a:solidFill>
                    <a:schemeClr val="bg1"/>
                  </a:solidFill>
                  <a:latin typeface="黑体" pitchFamily="2" charset="-122"/>
                  <a:ea typeface="黑体" pitchFamily="2" charset="-122"/>
                </a:rPr>
                <a:t>逻辑表达式描述方法</a:t>
              </a:r>
              <a:endParaRPr lang="zh-CN" altLang="en-US" sz="1600" dirty="0">
                <a:solidFill>
                  <a:schemeClr val="bg1"/>
                </a:solidFill>
                <a:latin typeface="黑体" panose="02010609060101010101" pitchFamily="49" charset="-122"/>
                <a:ea typeface="黑体" panose="02010609060101010101" pitchFamily="49" charset="-122"/>
              </a:endParaRPr>
            </a:p>
          </p:txBody>
        </p:sp>
        <p:sp>
          <p:nvSpPr>
            <p:cNvPr id="10" name="矩形 9">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chemeClr val="bg1"/>
                </a:solidFill>
                <a:latin typeface="宋体" panose="02010600030101010101" pitchFamily="2" charset="-122"/>
                <a:sym typeface="宋体" panose="02010600030101010101" pitchFamily="2" charset="-122"/>
              </a:endParaRPr>
            </a:p>
          </p:txBody>
        </p:sp>
        <p:sp>
          <p:nvSpPr>
            <p:cNvPr id="11"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schemeClr val="bg1"/>
                </a:solidFill>
                <a:latin typeface="Arial"/>
                <a:ea typeface="微软雅黑"/>
              </a:endParaRPr>
            </a:p>
          </p:txBody>
        </p:sp>
      </p:grpSp>
      <p:graphicFrame>
        <p:nvGraphicFramePr>
          <p:cNvPr id="13" name="Group 156"/>
          <p:cNvGraphicFramePr>
            <a:graphicFrameLocks noGrp="1"/>
          </p:cNvGraphicFramePr>
          <p:nvPr/>
        </p:nvGraphicFramePr>
        <p:xfrm>
          <a:off x="423344" y="1836550"/>
          <a:ext cx="1726742" cy="1318979"/>
        </p:xfrm>
        <a:graphic>
          <a:graphicData uri="http://schemas.openxmlformats.org/drawingml/2006/table">
            <a:tbl>
              <a:tblPr/>
              <a:tblGrid>
                <a:gridCol w="512702">
                  <a:extLst>
                    <a:ext uri="{9D8B030D-6E8A-4147-A177-3AD203B41FA5}">
                      <a16:colId xmlns:a16="http://schemas.microsoft.com/office/drawing/2014/main" xmlns="" val="20000"/>
                    </a:ext>
                  </a:extLst>
                </a:gridCol>
                <a:gridCol w="548276">
                  <a:extLst>
                    <a:ext uri="{9D8B030D-6E8A-4147-A177-3AD203B41FA5}">
                      <a16:colId xmlns:a16="http://schemas.microsoft.com/office/drawing/2014/main" xmlns="" val="20001"/>
                    </a:ext>
                  </a:extLst>
                </a:gridCol>
                <a:gridCol w="665764">
                  <a:extLst>
                    <a:ext uri="{9D8B030D-6E8A-4147-A177-3AD203B41FA5}">
                      <a16:colId xmlns:a16="http://schemas.microsoft.com/office/drawing/2014/main" xmlns="" val="20002"/>
                    </a:ext>
                  </a:extLst>
                </a:gridCol>
              </a:tblGrid>
              <a:tr h="214878">
                <a:tc gridSpan="3">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zh-CN" altLang="en-US" sz="1300" b="0" i="0" u="none" strike="noStrike" cap="none" normalizeH="0" baseline="0" dirty="0">
                          <a:ln>
                            <a:noFill/>
                          </a:ln>
                          <a:solidFill>
                            <a:srgbClr val="000000"/>
                          </a:solidFill>
                          <a:effectLst/>
                          <a:latin typeface="方正粗黑宋简体" pitchFamily="2" charset="-122"/>
                          <a:ea typeface="方正粗黑宋简体" pitchFamily="2" charset="-122"/>
                        </a:rPr>
                        <a:t>逻辑真值表</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224221">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A</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B</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1" u="none" strike="noStrike" cap="none" normalizeH="0" baseline="0" dirty="0">
                          <a:ln>
                            <a:noFill/>
                          </a:ln>
                          <a:solidFill>
                            <a:srgbClr val="000000"/>
                          </a:solidFill>
                          <a:effectLst/>
                          <a:latin typeface="Times New Roman" pitchFamily="18" charset="0"/>
                          <a:ea typeface="黑体" pitchFamily="2" charset="-122"/>
                        </a:rPr>
                        <a:t>L</a:t>
                      </a:r>
                      <a:endParaRPr kumimoji="0" lang="zh-CN" altLang="en-US" sz="1400" b="0" i="1"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1"/>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r h="220484">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0</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4"/>
                  </a:ext>
                </a:extLst>
              </a:tr>
              <a:tr h="219456">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solidFill>
                        <a:srgbClr val="33669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p>
                  </a:txBody>
                  <a:tcPr marL="0" marR="0" marT="0" marB="0" anchor="ctr" horzOverflow="overflow">
                    <a:lnL w="12700" cap="flat" cmpd="sng" algn="ctr">
                      <a:no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黑体" pitchFamily="2" charset="-122"/>
                        </a:rPr>
                        <a:t>1</a:t>
                      </a:r>
                      <a:endParaRPr kumimoji="0" lang="zh-CN" altLang="en-US" sz="1400" b="0" i="0" u="none" strike="noStrike" cap="none" normalizeH="0" baseline="0" dirty="0">
                        <a:ln>
                          <a:noFill/>
                        </a:ln>
                        <a:solidFill>
                          <a:srgbClr val="000000"/>
                        </a:solidFill>
                        <a:effectLst/>
                        <a:latin typeface="Times New Roman" pitchFamily="18" charset="0"/>
                        <a:ea typeface="黑体" pitchFamily="2" charset="-122"/>
                      </a:endParaRPr>
                    </a:p>
                  </a:txBody>
                  <a:tcPr marL="0" marR="0" marT="0" marB="0" anchor="ctr" horzOverflow="overflow">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5"/>
                  </a:ext>
                </a:extLst>
              </a:tr>
            </a:tbl>
          </a:graphicData>
        </a:graphic>
      </p:graphicFrame>
      <p:grpSp>
        <p:nvGrpSpPr>
          <p:cNvPr id="17" name="组合 16">
            <a:extLst>
              <a:ext uri="{FF2B5EF4-FFF2-40B4-BE49-F238E27FC236}">
                <a16:creationId xmlns:a16="http://schemas.microsoft.com/office/drawing/2014/main" xmlns="" id="{D0D62257-503E-489A-99A3-D27C7857FB7D}"/>
              </a:ext>
            </a:extLst>
          </p:cNvPr>
          <p:cNvGrpSpPr/>
          <p:nvPr/>
        </p:nvGrpSpPr>
        <p:grpSpPr>
          <a:xfrm>
            <a:off x="422849" y="3270545"/>
            <a:ext cx="1735289" cy="720778"/>
            <a:chOff x="422849" y="3270545"/>
            <a:chExt cx="1735289" cy="720778"/>
          </a:xfrm>
        </p:grpSpPr>
        <p:sp>
          <p:nvSpPr>
            <p:cNvPr id="53" name="圆角矩形 86">
              <a:extLst>
                <a:ext uri="{FF2B5EF4-FFF2-40B4-BE49-F238E27FC236}">
                  <a16:creationId xmlns:a16="http://schemas.microsoft.com/office/drawing/2014/main" xmlns="" id="{3CB40CEF-635A-41ED-BE06-7F20451CE7A5}"/>
                </a:ext>
              </a:extLst>
            </p:cNvPr>
            <p:cNvSpPr/>
            <p:nvPr/>
          </p:nvSpPr>
          <p:spPr>
            <a:xfrm>
              <a:off x="422849" y="3270545"/>
              <a:ext cx="1735289" cy="707703"/>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a:extLst>
                <a:ext uri="{FF2B5EF4-FFF2-40B4-BE49-F238E27FC236}">
                  <a16:creationId xmlns:a16="http://schemas.microsoft.com/office/drawing/2014/main" xmlns="" id="{6651C25B-5D44-4E15-8AE6-8AA32CF68A84}"/>
                </a:ext>
              </a:extLst>
            </p:cNvPr>
            <p:cNvGraphicFramePr>
              <a:graphicFrameLocks noChangeAspect="1"/>
            </p:cNvGraphicFramePr>
            <p:nvPr/>
          </p:nvGraphicFramePr>
          <p:xfrm>
            <a:off x="586194" y="3329194"/>
            <a:ext cx="1281112" cy="277812"/>
          </p:xfrm>
          <a:graphic>
            <a:graphicData uri="http://schemas.openxmlformats.org/presentationml/2006/ole">
              <mc:AlternateContent xmlns:mc="http://schemas.openxmlformats.org/markup-compatibility/2006">
                <mc:Choice xmlns:v="urn:schemas-microsoft-com:vml" Requires="v">
                  <p:oleObj spid="_x0000_s32790" name="公式" r:id="rId5" imgW="723600" imgH="177480" progId="Equation.3">
                    <p:embed/>
                  </p:oleObj>
                </mc:Choice>
                <mc:Fallback>
                  <p:oleObj name="公式" r:id="rId5" imgW="723600" imgH="177480" progId="Equation.3">
                    <p:embed/>
                    <p:pic>
                      <p:nvPicPr>
                        <p:cNvPr id="7" name="对象 6">
                          <a:extLst>
                            <a:ext uri="{FF2B5EF4-FFF2-40B4-BE49-F238E27FC236}">
                              <a16:creationId xmlns:a16="http://schemas.microsoft.com/office/drawing/2014/main" xmlns="" id="{6651C25B-5D44-4E15-8AE6-8AA32CF68A84}"/>
                            </a:ext>
                          </a:extLst>
                        </p:cNvPr>
                        <p:cNvPicPr>
                          <a:picLocks noChangeAspect="1" noChangeArrowheads="1"/>
                        </p:cNvPicPr>
                        <p:nvPr/>
                      </p:nvPicPr>
                      <p:blipFill>
                        <a:blip r:embed="rId6"/>
                        <a:srcRect/>
                        <a:stretch>
                          <a:fillRect/>
                        </a:stretch>
                      </p:blipFill>
                      <p:spPr bwMode="auto">
                        <a:xfrm>
                          <a:off x="586194" y="3329194"/>
                          <a:ext cx="1281112" cy="277812"/>
                        </a:xfrm>
                        <a:prstGeom prst="rect">
                          <a:avLst/>
                        </a:prstGeom>
                        <a:noFill/>
                      </p:spPr>
                    </p:pic>
                  </p:oleObj>
                </mc:Fallback>
              </mc:AlternateContent>
            </a:graphicData>
          </a:graphic>
        </p:graphicFrame>
        <p:grpSp>
          <p:nvGrpSpPr>
            <p:cNvPr id="14" name="组合 13">
              <a:extLst>
                <a:ext uri="{FF2B5EF4-FFF2-40B4-BE49-F238E27FC236}">
                  <a16:creationId xmlns:a16="http://schemas.microsoft.com/office/drawing/2014/main" xmlns="" id="{3184E18D-C595-4A7C-B838-AEE9599B8115}"/>
                </a:ext>
              </a:extLst>
            </p:cNvPr>
            <p:cNvGrpSpPr/>
            <p:nvPr/>
          </p:nvGrpSpPr>
          <p:grpSpPr>
            <a:xfrm>
              <a:off x="754469" y="3621991"/>
              <a:ext cx="944562" cy="369332"/>
              <a:chOff x="2244135" y="3370062"/>
              <a:chExt cx="944562" cy="369332"/>
            </a:xfrm>
          </p:grpSpPr>
          <p:graphicFrame>
            <p:nvGraphicFramePr>
              <p:cNvPr id="41" name="对象 40">
                <a:extLst>
                  <a:ext uri="{FF2B5EF4-FFF2-40B4-BE49-F238E27FC236}">
                    <a16:creationId xmlns:a16="http://schemas.microsoft.com/office/drawing/2014/main" xmlns="" id="{3D108CF3-88FC-44FD-A045-D3DF80049253}"/>
                  </a:ext>
                </a:extLst>
              </p:cNvPr>
              <p:cNvGraphicFramePr>
                <a:graphicFrameLocks noChangeAspect="1"/>
              </p:cNvGraphicFramePr>
              <p:nvPr/>
            </p:nvGraphicFramePr>
            <p:xfrm>
              <a:off x="2244135" y="3427870"/>
              <a:ext cx="944562" cy="298450"/>
            </p:xfrm>
            <a:graphic>
              <a:graphicData uri="http://schemas.openxmlformats.org/presentationml/2006/ole">
                <mc:AlternateContent xmlns:mc="http://schemas.openxmlformats.org/markup-compatibility/2006">
                  <mc:Choice xmlns:v="urn:schemas-microsoft-com:vml" Requires="v">
                    <p:oleObj spid="_x0000_s32791" name="公式" r:id="rId7" imgW="533160" imgH="190440" progId="Equation.3">
                      <p:embed/>
                    </p:oleObj>
                  </mc:Choice>
                  <mc:Fallback>
                    <p:oleObj name="公式" r:id="rId7" imgW="533160" imgH="190440" progId="Equation.3">
                      <p:embed/>
                      <p:pic>
                        <p:nvPicPr>
                          <p:cNvPr id="41" name="对象 40">
                            <a:extLst>
                              <a:ext uri="{FF2B5EF4-FFF2-40B4-BE49-F238E27FC236}">
                                <a16:creationId xmlns:a16="http://schemas.microsoft.com/office/drawing/2014/main" xmlns="" id="{3D108CF3-88FC-44FD-A045-D3DF80049253}"/>
                              </a:ext>
                            </a:extLst>
                          </p:cNvPr>
                          <p:cNvPicPr>
                            <a:picLocks noChangeAspect="1" noChangeArrowheads="1"/>
                          </p:cNvPicPr>
                          <p:nvPr/>
                        </p:nvPicPr>
                        <p:blipFill>
                          <a:blip r:embed="rId8"/>
                          <a:srcRect/>
                          <a:stretch>
                            <a:fillRect/>
                          </a:stretch>
                        </p:blipFill>
                        <p:spPr bwMode="auto">
                          <a:xfrm>
                            <a:off x="2244135" y="3427870"/>
                            <a:ext cx="944562" cy="298450"/>
                          </a:xfrm>
                          <a:prstGeom prst="rect">
                            <a:avLst/>
                          </a:prstGeom>
                          <a:noFill/>
                        </p:spPr>
                      </p:pic>
                    </p:oleObj>
                  </mc:Fallback>
                </mc:AlternateContent>
              </a:graphicData>
            </a:graphic>
          </p:graphicFrame>
          <p:sp>
            <p:nvSpPr>
              <p:cNvPr id="43" name="文本框 42">
                <a:extLst>
                  <a:ext uri="{FF2B5EF4-FFF2-40B4-BE49-F238E27FC236}">
                    <a16:creationId xmlns:a16="http://schemas.microsoft.com/office/drawing/2014/main" xmlns="" id="{91A1E351-DE17-457B-BB95-2E07469C9E4C}"/>
                  </a:ext>
                </a:extLst>
              </p:cNvPr>
              <p:cNvSpPr txBox="1"/>
              <p:nvPr/>
            </p:nvSpPr>
            <p:spPr>
              <a:xfrm>
                <a:off x="2530496" y="3370062"/>
                <a:ext cx="344963" cy="369332"/>
              </a:xfrm>
              <a:prstGeom prst="rect">
                <a:avLst/>
              </a:prstGeom>
              <a:noFill/>
            </p:spPr>
            <p:txBody>
              <a:bodyPr wrap="square">
                <a:spAutoFit/>
              </a:bodyPr>
              <a:lstStyle/>
              <a:p>
                <a:r>
                  <a:rPr lang="zh-CN" altLang="zh-CN" sz="1800" dirty="0"/>
                  <a:t>⊙</a:t>
                </a:r>
                <a:endParaRPr lang="zh-CN" altLang="en-US" dirty="0"/>
              </a:p>
            </p:txBody>
          </p:sp>
        </p:grpSp>
      </p:grpSp>
      <p:sp>
        <p:nvSpPr>
          <p:cNvPr id="35" name="圆角矩形 86">
            <a:extLst>
              <a:ext uri="{FF2B5EF4-FFF2-40B4-BE49-F238E27FC236}">
                <a16:creationId xmlns:a16="http://schemas.microsoft.com/office/drawing/2014/main" xmlns="" id="{6BCD67CD-99DB-42DD-9924-5D64D29E5735}"/>
              </a:ext>
            </a:extLst>
          </p:cNvPr>
          <p:cNvSpPr/>
          <p:nvPr/>
        </p:nvSpPr>
        <p:spPr>
          <a:xfrm>
            <a:off x="421147" y="2270059"/>
            <a:ext cx="1735289" cy="221362"/>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86">
            <a:extLst>
              <a:ext uri="{FF2B5EF4-FFF2-40B4-BE49-F238E27FC236}">
                <a16:creationId xmlns:a16="http://schemas.microsoft.com/office/drawing/2014/main" xmlns="" id="{1075F15C-42E1-4DA1-97C6-9B0FEEAE3E3E}"/>
              </a:ext>
            </a:extLst>
          </p:cNvPr>
          <p:cNvSpPr/>
          <p:nvPr/>
        </p:nvSpPr>
        <p:spPr>
          <a:xfrm>
            <a:off x="421147" y="2270059"/>
            <a:ext cx="1735289" cy="221362"/>
          </a:xfrm>
          <a:prstGeom prst="roundRect">
            <a:avLst>
              <a:gd name="adj" fmla="val 6817"/>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86">
            <a:extLst>
              <a:ext uri="{FF2B5EF4-FFF2-40B4-BE49-F238E27FC236}">
                <a16:creationId xmlns:a16="http://schemas.microsoft.com/office/drawing/2014/main" xmlns="" id="{5A7EEA3A-F320-4A49-9BDB-34D5C1A8E30B}"/>
              </a:ext>
            </a:extLst>
          </p:cNvPr>
          <p:cNvSpPr/>
          <p:nvPr/>
        </p:nvSpPr>
        <p:spPr>
          <a:xfrm>
            <a:off x="421147" y="2934167"/>
            <a:ext cx="1735289" cy="221362"/>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a:extLst>
              <a:ext uri="{FF2B5EF4-FFF2-40B4-BE49-F238E27FC236}">
                <a16:creationId xmlns:a16="http://schemas.microsoft.com/office/drawing/2014/main" xmlns="" id="{FC27C1A9-B21F-4109-B45F-C57621E0F6E6}"/>
              </a:ext>
            </a:extLst>
          </p:cNvPr>
          <p:cNvGrpSpPr/>
          <p:nvPr/>
        </p:nvGrpSpPr>
        <p:grpSpPr>
          <a:xfrm>
            <a:off x="2183407" y="2213156"/>
            <a:ext cx="792456" cy="301691"/>
            <a:chOff x="2183407" y="2213156"/>
            <a:chExt cx="792456" cy="301691"/>
          </a:xfrm>
        </p:grpSpPr>
        <p:graphicFrame>
          <p:nvGraphicFramePr>
            <p:cNvPr id="12" name="对象 11">
              <a:extLst>
                <a:ext uri="{FF2B5EF4-FFF2-40B4-BE49-F238E27FC236}">
                  <a16:creationId xmlns:a16="http://schemas.microsoft.com/office/drawing/2014/main" xmlns="" id="{FF579DC6-9050-4CDF-A00B-5BB224E046DA}"/>
                </a:ext>
              </a:extLst>
            </p:cNvPr>
            <p:cNvGraphicFramePr>
              <a:graphicFrameLocks noChangeAspect="1"/>
            </p:cNvGraphicFramePr>
            <p:nvPr/>
          </p:nvGraphicFramePr>
          <p:xfrm>
            <a:off x="2610659" y="2213156"/>
            <a:ext cx="365204" cy="301691"/>
          </p:xfrm>
          <a:graphic>
            <a:graphicData uri="http://schemas.openxmlformats.org/presentationml/2006/ole">
              <mc:AlternateContent xmlns:mc="http://schemas.openxmlformats.org/markup-compatibility/2006">
                <mc:Choice xmlns:v="urn:schemas-microsoft-com:vml" Requires="v">
                  <p:oleObj spid="_x0000_s32792" name="公式" r:id="rId9" imgW="215619" imgH="177569" progId="Equation.3">
                    <p:embed/>
                  </p:oleObj>
                </mc:Choice>
                <mc:Fallback>
                  <p:oleObj name="公式" r:id="rId9" imgW="215619" imgH="177569" progId="Equation.3">
                    <p:embed/>
                    <p:pic>
                      <p:nvPicPr>
                        <p:cNvPr id="12" name="对象 11">
                          <a:extLst>
                            <a:ext uri="{FF2B5EF4-FFF2-40B4-BE49-F238E27FC236}">
                              <a16:creationId xmlns:a16="http://schemas.microsoft.com/office/drawing/2014/main" xmlns="" id="{FF579DC6-9050-4CDF-A00B-5BB224E046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0659" y="2213156"/>
                          <a:ext cx="365204" cy="301691"/>
                        </a:xfrm>
                        <a:prstGeom prst="rect">
                          <a:avLst/>
                        </a:prstGeom>
                        <a:noFill/>
                      </p:spPr>
                    </p:pic>
                  </p:oleObj>
                </mc:Fallback>
              </mc:AlternateContent>
            </a:graphicData>
          </a:graphic>
        </p:graphicFrame>
        <p:sp>
          <p:nvSpPr>
            <p:cNvPr id="15" name="箭头: 右 14">
              <a:extLst>
                <a:ext uri="{FF2B5EF4-FFF2-40B4-BE49-F238E27FC236}">
                  <a16:creationId xmlns:a16="http://schemas.microsoft.com/office/drawing/2014/main" xmlns="" id="{87AD8BFD-C15E-41EA-BB6D-CF71D70F2D29}"/>
                </a:ext>
              </a:extLst>
            </p:cNvPr>
            <p:cNvSpPr/>
            <p:nvPr/>
          </p:nvSpPr>
          <p:spPr>
            <a:xfrm>
              <a:off x="2183407" y="2270059"/>
              <a:ext cx="415312" cy="221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xmlns="" id="{9AB0B57C-AAB4-4DC1-A5C6-19CC342F1157}"/>
              </a:ext>
            </a:extLst>
          </p:cNvPr>
          <p:cNvGrpSpPr/>
          <p:nvPr/>
        </p:nvGrpSpPr>
        <p:grpSpPr>
          <a:xfrm>
            <a:off x="2188186" y="2913063"/>
            <a:ext cx="793139" cy="240016"/>
            <a:chOff x="2183407" y="2251405"/>
            <a:chExt cx="793139" cy="240016"/>
          </a:xfrm>
        </p:grpSpPr>
        <p:graphicFrame>
          <p:nvGraphicFramePr>
            <p:cNvPr id="51" name="对象 50">
              <a:extLst>
                <a:ext uri="{FF2B5EF4-FFF2-40B4-BE49-F238E27FC236}">
                  <a16:creationId xmlns:a16="http://schemas.microsoft.com/office/drawing/2014/main" xmlns="" id="{A654A70D-C52F-40A3-BC62-5010D9A5846F}"/>
                </a:ext>
              </a:extLst>
            </p:cNvPr>
            <p:cNvGraphicFramePr>
              <a:graphicFrameLocks noChangeAspect="1"/>
            </p:cNvGraphicFramePr>
            <p:nvPr/>
          </p:nvGraphicFramePr>
          <p:xfrm>
            <a:off x="2611421" y="2251405"/>
            <a:ext cx="365125" cy="236537"/>
          </p:xfrm>
          <a:graphic>
            <a:graphicData uri="http://schemas.openxmlformats.org/presentationml/2006/ole">
              <mc:AlternateContent xmlns:mc="http://schemas.openxmlformats.org/markup-compatibility/2006">
                <mc:Choice xmlns:v="urn:schemas-microsoft-com:vml" Requires="v">
                  <p:oleObj spid="_x0000_s32793" name="公式" r:id="rId11" imgW="215640" imgH="139680" progId="Equation.3">
                    <p:embed/>
                  </p:oleObj>
                </mc:Choice>
                <mc:Fallback>
                  <p:oleObj name="公式" r:id="rId11" imgW="215640" imgH="139680" progId="Equation.3">
                    <p:embed/>
                    <p:pic>
                      <p:nvPicPr>
                        <p:cNvPr id="51" name="对象 50">
                          <a:extLst>
                            <a:ext uri="{FF2B5EF4-FFF2-40B4-BE49-F238E27FC236}">
                              <a16:creationId xmlns:a16="http://schemas.microsoft.com/office/drawing/2014/main" xmlns="" id="{A654A70D-C52F-40A3-BC62-5010D9A5846F}"/>
                            </a:ext>
                          </a:extLst>
                        </p:cNvPr>
                        <p:cNvPicPr>
                          <a:picLocks noChangeAspect="1" noChangeArrowheads="1"/>
                        </p:cNvPicPr>
                        <p:nvPr/>
                      </p:nvPicPr>
                      <p:blipFill>
                        <a:blip r:embed="rId12"/>
                        <a:srcRect/>
                        <a:stretch>
                          <a:fillRect/>
                        </a:stretch>
                      </p:blipFill>
                      <p:spPr bwMode="auto">
                        <a:xfrm>
                          <a:off x="2611421" y="2251405"/>
                          <a:ext cx="365125" cy="236537"/>
                        </a:xfrm>
                        <a:prstGeom prst="rect">
                          <a:avLst/>
                        </a:prstGeom>
                        <a:noFill/>
                      </p:spPr>
                    </p:pic>
                  </p:oleObj>
                </mc:Fallback>
              </mc:AlternateContent>
            </a:graphicData>
          </a:graphic>
        </p:graphicFrame>
        <p:sp>
          <p:nvSpPr>
            <p:cNvPr id="52" name="箭头: 右 51">
              <a:extLst>
                <a:ext uri="{FF2B5EF4-FFF2-40B4-BE49-F238E27FC236}">
                  <a16:creationId xmlns:a16="http://schemas.microsoft.com/office/drawing/2014/main" xmlns="" id="{ACFAA2CE-A2D0-43A7-853D-4712830E2CB2}"/>
                </a:ext>
              </a:extLst>
            </p:cNvPr>
            <p:cNvSpPr/>
            <p:nvPr/>
          </p:nvSpPr>
          <p:spPr>
            <a:xfrm>
              <a:off x="2183407" y="2270059"/>
              <a:ext cx="415312" cy="221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圆角矩形 28">
            <a:extLst>
              <a:ext uri="{FF2B5EF4-FFF2-40B4-BE49-F238E27FC236}">
                <a16:creationId xmlns:a16="http://schemas.microsoft.com/office/drawing/2014/main" xmlns="" id="{D4825B99-5ED6-4420-97B2-2C2860772ADB}"/>
              </a:ext>
            </a:extLst>
          </p:cNvPr>
          <p:cNvSpPr/>
          <p:nvPr/>
        </p:nvSpPr>
        <p:spPr>
          <a:xfrm>
            <a:off x="3140502" y="1749189"/>
            <a:ext cx="2660957" cy="2590603"/>
          </a:xfrm>
          <a:prstGeom prst="roundRect">
            <a:avLst>
              <a:gd name="adj" fmla="val 4040"/>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写逻辑表达式的直接方法</a:t>
            </a:r>
            <a:endParaRPr lang="en-US" altLang="zh-CN"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endParaRPr>
          </a:p>
          <a:p>
            <a:pPr marL="171450" indent="-171450">
              <a:spcBef>
                <a:spcPts val="600"/>
              </a:spcBef>
              <a:buFont typeface="Wingdings" panose="05000000000000000000" pitchFamily="2" charset="2"/>
              <a:buChar char="u"/>
            </a:pP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找到真值表中逻辑函数取值为“</a:t>
            </a:r>
            <a:r>
              <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”的行</a:t>
            </a:r>
            <a:endPar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marL="171450" indent="-171450">
              <a:spcBef>
                <a:spcPts val="600"/>
              </a:spcBef>
              <a:buFont typeface="Wingdings" panose="05000000000000000000" pitchFamily="2" charset="2"/>
              <a:buChar char="u"/>
            </a:pP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逻辑函数取值为“</a:t>
            </a:r>
            <a:r>
              <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”的每一行，输入变量取值为“</a:t>
            </a:r>
            <a:r>
              <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”的用原变量表示，取值为“</a:t>
            </a:r>
            <a:r>
              <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”的用反变量表示，然后将这些变量相与，即得到一个与项</a:t>
            </a:r>
            <a:endParaRPr lang="en-US"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marL="171450" indent="-171450">
              <a:spcBef>
                <a:spcPts val="600"/>
              </a:spcBef>
              <a:buFont typeface="Wingdings" panose="05000000000000000000" pitchFamily="2" charset="2"/>
              <a:buChar char="u"/>
            </a:pPr>
            <a:r>
              <a:rPr lang="zh-CN" altLang="zh-CN" sz="12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将所有行对应的与项或起来，即得到输出逻辑函数的逻辑表达式</a:t>
            </a:r>
            <a:endParaRPr lang="zh-CN" altLang="en-US" sz="1200" dirty="0">
              <a:solidFill>
                <a:schemeClr val="tx1"/>
              </a:solidFill>
            </a:endParaRPr>
          </a:p>
        </p:txBody>
      </p:sp>
      <p:grpSp>
        <p:nvGrpSpPr>
          <p:cNvPr id="61" name="组合 60">
            <a:extLst>
              <a:ext uri="{FF2B5EF4-FFF2-40B4-BE49-F238E27FC236}">
                <a16:creationId xmlns:a16="http://schemas.microsoft.com/office/drawing/2014/main" xmlns="" id="{C8C5CED4-AB30-4F3E-9DB0-BED865DA8072}"/>
              </a:ext>
            </a:extLst>
          </p:cNvPr>
          <p:cNvGrpSpPr/>
          <p:nvPr/>
        </p:nvGrpSpPr>
        <p:grpSpPr>
          <a:xfrm>
            <a:off x="5960636" y="1652288"/>
            <a:ext cx="2760020" cy="2657086"/>
            <a:chOff x="1092994" y="4144710"/>
            <a:chExt cx="2760020" cy="2952319"/>
          </a:xfrm>
        </p:grpSpPr>
        <p:sp>
          <p:nvSpPr>
            <p:cNvPr id="62" name="圆角矩形 36">
              <a:extLst>
                <a:ext uri="{FF2B5EF4-FFF2-40B4-BE49-F238E27FC236}">
                  <a16:creationId xmlns:a16="http://schemas.microsoft.com/office/drawing/2014/main" xmlns="" id="{5EE2AD31-3138-47BA-B01A-40539F6A0312}"/>
                </a:ext>
              </a:extLst>
            </p:cNvPr>
            <p:cNvSpPr/>
            <p:nvPr/>
          </p:nvSpPr>
          <p:spPr>
            <a:xfrm>
              <a:off x="1328244" y="4295620"/>
              <a:ext cx="2524770" cy="2801409"/>
            </a:xfrm>
            <a:prstGeom prst="roundRect">
              <a:avLst>
                <a:gd name="adj" fmla="val 5647"/>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altLang="zh-CN" sz="1600" dirty="0">
                <a:solidFill>
                  <a:srgbClr val="6600FF"/>
                </a:solidFill>
                <a:latin typeface="Times New Roman" pitchFamily="18" charset="0"/>
                <a:ea typeface="方正粗黑宋简体" pitchFamily="2" charset="-122"/>
                <a:cs typeface="Times New Roman" pitchFamily="18" charset="0"/>
              </a:endParaRPr>
            </a:p>
            <a:p>
              <a:pPr>
                <a:lnSpc>
                  <a:spcPct val="150000"/>
                </a:lnSpc>
              </a:pPr>
              <a:r>
                <a:rPr lang="zh-CN" altLang="zh-CN" sz="1600" dirty="0">
                  <a:solidFill>
                    <a:srgbClr val="6600FF"/>
                  </a:solidFill>
                  <a:latin typeface="Times New Roman" pitchFamily="18" charset="0"/>
                  <a:ea typeface="方正粗黑宋简体" pitchFamily="2" charset="-122"/>
                  <a:cs typeface="Times New Roman" pitchFamily="18" charset="0"/>
                </a:rPr>
                <a:t>若以真值表中逻辑函数取值为“</a:t>
              </a:r>
              <a:r>
                <a:rPr lang="en-US" altLang="zh-CN" sz="1600" dirty="0">
                  <a:solidFill>
                    <a:srgbClr val="6600FF"/>
                  </a:solidFill>
                  <a:latin typeface="Times New Roman" pitchFamily="18" charset="0"/>
                  <a:ea typeface="方正粗黑宋简体" pitchFamily="2" charset="-122"/>
                  <a:cs typeface="Times New Roman" pitchFamily="18" charset="0"/>
                </a:rPr>
                <a:t>0</a:t>
              </a:r>
              <a:r>
                <a:rPr lang="zh-CN" altLang="zh-CN" sz="1600" dirty="0">
                  <a:solidFill>
                    <a:srgbClr val="6600FF"/>
                  </a:solidFill>
                  <a:latin typeface="Times New Roman" pitchFamily="18" charset="0"/>
                  <a:ea typeface="方正粗黑宋简体" pitchFamily="2" charset="-122"/>
                  <a:cs typeface="Times New Roman" pitchFamily="18" charset="0"/>
                </a:rPr>
                <a:t>”的情况来写逻辑函数的表达式，将如何来得到逻辑函数的表达式呢？</a:t>
              </a:r>
              <a:endParaRPr lang="zh-CN" altLang="en-US" sz="1600" dirty="0">
                <a:solidFill>
                  <a:srgbClr val="6600FF"/>
                </a:solidFill>
                <a:latin typeface="Times New Roman" pitchFamily="18" charset="0"/>
                <a:ea typeface="方正粗黑宋简体" pitchFamily="2" charset="-122"/>
                <a:cs typeface="Times New Roman" pitchFamily="18" charset="0"/>
              </a:endParaRPr>
            </a:p>
          </p:txBody>
        </p:sp>
        <p:pic>
          <p:nvPicPr>
            <p:cNvPr id="63" name="Picture 4">
              <a:extLst>
                <a:ext uri="{FF2B5EF4-FFF2-40B4-BE49-F238E27FC236}">
                  <a16:creationId xmlns:a16="http://schemas.microsoft.com/office/drawing/2014/main" xmlns="" id="{7EE21D1F-9763-4833-888B-67DB8FD97D3A}"/>
                </a:ext>
              </a:extLst>
            </p:cNvPr>
            <p:cNvPicPr>
              <a:picLocks noChangeAspect="1" noChangeArrowheads="1"/>
            </p:cNvPicPr>
            <p:nvPr/>
          </p:nvPicPr>
          <p:blipFill>
            <a:blip r:embed="rId13" cstate="print"/>
            <a:srcRect l="8631" t="6280" r="11341" b="6518"/>
            <a:stretch>
              <a:fillRect/>
            </a:stretch>
          </p:blipFill>
          <p:spPr bwMode="auto">
            <a:xfrm>
              <a:off x="1092994" y="4144710"/>
              <a:ext cx="500856" cy="512220"/>
            </a:xfrm>
            <a:prstGeom prst="rect">
              <a:avLst/>
            </a:prstGeom>
            <a:noFill/>
            <a:ln w="9525">
              <a:noFill/>
              <a:miter lim="800000"/>
              <a:headEnd/>
              <a:tailEnd/>
            </a:ln>
            <a:effectLst/>
          </p:spPr>
        </p:pic>
      </p:gr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1000"/>
                                        <p:tgtEl>
                                          <p:spTgt spid="8"/>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lide(fromBottom)">
                                      <p:cBhvr>
                                        <p:cTn id="11" dur="1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p:cTn id="16" dur="1000" fill="hold"/>
                                        <p:tgtEl>
                                          <p:spTgt spid="35"/>
                                        </p:tgtEl>
                                        <p:attrNameLst>
                                          <p:attrName>ppt_w</p:attrName>
                                        </p:attrNameLst>
                                      </p:cBhvr>
                                      <p:tavLst>
                                        <p:tav tm="0">
                                          <p:val>
                                            <p:fltVal val="0"/>
                                          </p:val>
                                        </p:tav>
                                        <p:tav tm="100000">
                                          <p:val>
                                            <p:strVal val="#ppt_w"/>
                                          </p:val>
                                        </p:tav>
                                      </p:tavLst>
                                    </p:anim>
                                    <p:anim calcmode="lin" valueType="num">
                                      <p:cBhvr>
                                        <p:cTn id="17" dur="1000" fill="hold"/>
                                        <p:tgtEl>
                                          <p:spTgt spid="35"/>
                                        </p:tgtEl>
                                        <p:attrNameLst>
                                          <p:attrName>ppt_h</p:attrName>
                                        </p:attrNameLst>
                                      </p:cBhvr>
                                      <p:tavLst>
                                        <p:tav tm="0">
                                          <p:val>
                                            <p:fltVal val="0"/>
                                          </p:val>
                                        </p:tav>
                                        <p:tav tm="100000">
                                          <p:val>
                                            <p:strVal val="#ppt_h"/>
                                          </p:val>
                                        </p:tav>
                                      </p:tavLst>
                                    </p:anim>
                                    <p:animEffect transition="in" filter="fade">
                                      <p:cBhvr>
                                        <p:cTn id="18" dur="1000"/>
                                        <p:tgtEl>
                                          <p:spTgt spid="3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p:cTn id="21" dur="1000" fill="hold"/>
                                        <p:tgtEl>
                                          <p:spTgt spid="48"/>
                                        </p:tgtEl>
                                        <p:attrNameLst>
                                          <p:attrName>ppt_w</p:attrName>
                                        </p:attrNameLst>
                                      </p:cBhvr>
                                      <p:tavLst>
                                        <p:tav tm="0">
                                          <p:val>
                                            <p:fltVal val="0"/>
                                          </p:val>
                                        </p:tav>
                                        <p:tav tm="100000">
                                          <p:val>
                                            <p:strVal val="#ppt_w"/>
                                          </p:val>
                                        </p:tav>
                                      </p:tavLst>
                                    </p:anim>
                                    <p:anim calcmode="lin" valueType="num">
                                      <p:cBhvr>
                                        <p:cTn id="22" dur="1000" fill="hold"/>
                                        <p:tgtEl>
                                          <p:spTgt spid="48"/>
                                        </p:tgtEl>
                                        <p:attrNameLst>
                                          <p:attrName>ppt_h</p:attrName>
                                        </p:attrNameLst>
                                      </p:cBhvr>
                                      <p:tavLst>
                                        <p:tav tm="0">
                                          <p:val>
                                            <p:fltVal val="0"/>
                                          </p:val>
                                        </p:tav>
                                        <p:tav tm="100000">
                                          <p:val>
                                            <p:strVal val="#ppt_h"/>
                                          </p:val>
                                        </p:tav>
                                      </p:tavLst>
                                    </p:anim>
                                    <p:animEffect transition="in" filter="fade">
                                      <p:cBhvr>
                                        <p:cTn id="23" dur="10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xit" presetSubtype="8" fill="hold" grpId="1" nodeType="clickEffect">
                                  <p:stCondLst>
                                    <p:cond delay="0"/>
                                  </p:stCondLst>
                                  <p:childTnLst>
                                    <p:animEffect transition="out" filter="wipe(left)">
                                      <p:cBhvr>
                                        <p:cTn id="27" dur="750"/>
                                        <p:tgtEl>
                                          <p:spTgt spid="35"/>
                                        </p:tgtEl>
                                      </p:cBhvr>
                                    </p:animEffect>
                                    <p:set>
                                      <p:cBhvr>
                                        <p:cTn id="28" dur="1" fill="hold">
                                          <p:stCondLst>
                                            <p:cond delay="749"/>
                                          </p:stCondLst>
                                        </p:cTn>
                                        <p:tgtEl>
                                          <p:spTgt spid="35"/>
                                        </p:tgtEl>
                                        <p:attrNameLst>
                                          <p:attrName>style.visibility</p:attrName>
                                        </p:attrNameLst>
                                      </p:cBhvr>
                                      <p:to>
                                        <p:strVal val="hidden"/>
                                      </p:to>
                                    </p:set>
                                  </p:childTnLst>
                                </p:cTn>
                              </p:par>
                              <p:par>
                                <p:cTn id="29" presetID="22" presetClass="exit" presetSubtype="8" fill="hold" grpId="1" nodeType="withEffect">
                                  <p:stCondLst>
                                    <p:cond delay="0"/>
                                  </p:stCondLst>
                                  <p:childTnLst>
                                    <p:animEffect transition="out" filter="wipe(left)">
                                      <p:cBhvr>
                                        <p:cTn id="30" dur="750"/>
                                        <p:tgtEl>
                                          <p:spTgt spid="48"/>
                                        </p:tgtEl>
                                      </p:cBhvr>
                                    </p:animEffect>
                                    <p:set>
                                      <p:cBhvr>
                                        <p:cTn id="31" dur="1" fill="hold">
                                          <p:stCondLst>
                                            <p:cond delay="749"/>
                                          </p:stCondLst>
                                        </p:cTn>
                                        <p:tgtEl>
                                          <p:spTgt spid="48"/>
                                        </p:tgtEl>
                                        <p:attrNameLst>
                                          <p:attrName>style.visibility</p:attrName>
                                        </p:attrNameLst>
                                      </p:cBhvr>
                                      <p:to>
                                        <p:strVal val="hidden"/>
                                      </p:to>
                                    </p:set>
                                  </p:childTnLst>
                                </p:cTn>
                              </p:par>
                            </p:childTnLst>
                          </p:cTn>
                        </p:par>
                        <p:par>
                          <p:cTn id="32" fill="hold">
                            <p:stCondLst>
                              <p:cond delay="750"/>
                            </p:stCondLst>
                            <p:childTnLst>
                              <p:par>
                                <p:cTn id="33" presetID="12" presetClass="entr" presetSubtype="8" fill="hold" grpId="0" nodeType="afterEffect">
                                  <p:stCondLst>
                                    <p:cond delay="0"/>
                                  </p:stCondLst>
                                  <p:childTnLst>
                                    <p:set>
                                      <p:cBhvr>
                                        <p:cTn id="34" dur="1" fill="hold">
                                          <p:stCondLst>
                                            <p:cond delay="0"/>
                                          </p:stCondLst>
                                        </p:cTn>
                                        <p:tgtEl>
                                          <p:spTgt spid="47"/>
                                        </p:tgtEl>
                                        <p:attrNameLst>
                                          <p:attrName>style.visibility</p:attrName>
                                        </p:attrNameLst>
                                      </p:cBhvr>
                                      <p:to>
                                        <p:strVal val="visible"/>
                                      </p:to>
                                    </p:set>
                                    <p:anim calcmode="lin" valueType="num">
                                      <p:cBhvr additive="base">
                                        <p:cTn id="35" dur="1000"/>
                                        <p:tgtEl>
                                          <p:spTgt spid="47"/>
                                        </p:tgtEl>
                                        <p:attrNameLst>
                                          <p:attrName>ppt_x</p:attrName>
                                        </p:attrNameLst>
                                      </p:cBhvr>
                                      <p:tavLst>
                                        <p:tav tm="0">
                                          <p:val>
                                            <p:strVal val="#ppt_x-#ppt_w*1.125000"/>
                                          </p:val>
                                        </p:tav>
                                        <p:tav tm="100000">
                                          <p:val>
                                            <p:strVal val="#ppt_x"/>
                                          </p:val>
                                        </p:tav>
                                      </p:tavLst>
                                    </p:anim>
                                    <p:animEffect transition="in" filter="wipe(right)">
                                      <p:cBhvr>
                                        <p:cTn id="36" dur="1000"/>
                                        <p:tgtEl>
                                          <p:spTgt spid="4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1000"/>
                                        <p:tgtEl>
                                          <p:spTgt spid="16"/>
                                        </p:tgtEl>
                                        <p:attrNameLst>
                                          <p:attrName>ppt_x</p:attrName>
                                        </p:attrNameLst>
                                      </p:cBhvr>
                                      <p:tavLst>
                                        <p:tav tm="0">
                                          <p:val>
                                            <p:strVal val="#ppt_x-#ppt_w*1.125000"/>
                                          </p:val>
                                        </p:tav>
                                        <p:tav tm="100000">
                                          <p:val>
                                            <p:strVal val="#ppt_x"/>
                                          </p:val>
                                        </p:tav>
                                      </p:tavLst>
                                    </p:anim>
                                    <p:animEffect transition="in" filter="wipe(right)">
                                      <p:cBhvr>
                                        <p:cTn id="42" dur="1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1" nodeType="clickEffect">
                                  <p:stCondLst>
                                    <p:cond delay="0"/>
                                  </p:stCondLst>
                                  <p:childTnLst>
                                    <p:animMotion origin="layout" path="M 1.38889E-6 -4.32099E-6 L 1.38889E-6 0.12871 " pathEditMode="relative" rAng="0" ptsTypes="AA">
                                      <p:cBhvr>
                                        <p:cTn id="46" dur="2000" fill="hold"/>
                                        <p:tgtEl>
                                          <p:spTgt spid="47"/>
                                        </p:tgtEl>
                                        <p:attrNameLst>
                                          <p:attrName>ppt_x</p:attrName>
                                          <p:attrName>ppt_y</p:attrName>
                                        </p:attrNameLst>
                                      </p:cBhvr>
                                      <p:rCtr x="0" y="6420"/>
                                    </p:animMotion>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1000"/>
                                        <p:tgtEl>
                                          <p:spTgt spid="50"/>
                                        </p:tgtEl>
                                        <p:attrNameLst>
                                          <p:attrName>ppt_x</p:attrName>
                                        </p:attrNameLst>
                                      </p:cBhvr>
                                      <p:tavLst>
                                        <p:tav tm="0">
                                          <p:val>
                                            <p:strVal val="#ppt_x-#ppt_w*1.125000"/>
                                          </p:val>
                                        </p:tav>
                                        <p:tav tm="100000">
                                          <p:val>
                                            <p:strVal val="#ppt_x"/>
                                          </p:val>
                                        </p:tav>
                                      </p:tavLst>
                                    </p:anim>
                                    <p:animEffect transition="in" filter="wipe(right)">
                                      <p:cBhvr>
                                        <p:cTn id="52" dur="10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1000"/>
                                        <p:tgtEl>
                                          <p:spTgt spid="17"/>
                                        </p:tgtEl>
                                        <p:attrNameLst>
                                          <p:attrName>ppt_y</p:attrName>
                                        </p:attrNameLst>
                                      </p:cBhvr>
                                      <p:tavLst>
                                        <p:tav tm="0">
                                          <p:val>
                                            <p:strVal val="#ppt_y+#ppt_h*1.125000"/>
                                          </p:val>
                                        </p:tav>
                                        <p:tav tm="100000">
                                          <p:val>
                                            <p:strVal val="#ppt_y"/>
                                          </p:val>
                                        </p:tav>
                                      </p:tavLst>
                                    </p:anim>
                                    <p:animEffect transition="in" filter="wipe(up)">
                                      <p:cBhvr>
                                        <p:cTn id="58" dur="10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2" nodeType="clickEffect">
                                  <p:stCondLst>
                                    <p:cond delay="0"/>
                                  </p:stCondLst>
                                  <p:childTnLst>
                                    <p:animEffect transition="out" filter="fade">
                                      <p:cBhvr>
                                        <p:cTn id="62" dur="500"/>
                                        <p:tgtEl>
                                          <p:spTgt spid="47"/>
                                        </p:tgtEl>
                                      </p:cBhvr>
                                    </p:animEffect>
                                    <p:set>
                                      <p:cBhvr>
                                        <p:cTn id="63" dur="1" fill="hold">
                                          <p:stCondLst>
                                            <p:cond delay="499"/>
                                          </p:stCondLst>
                                        </p:cTn>
                                        <p:tgtEl>
                                          <p:spTgt spid="47"/>
                                        </p:tgtEl>
                                        <p:attrNameLst>
                                          <p:attrName>style.visibility</p:attrName>
                                        </p:attrNameLst>
                                      </p:cBhvr>
                                      <p:to>
                                        <p:strVal val="hidden"/>
                                      </p:to>
                                    </p:set>
                                  </p:childTnLst>
                                </p:cTn>
                              </p:par>
                              <p:par>
                                <p:cTn id="64" presetID="42" presetClass="entr" presetSubtype="0" fill="hold" grpId="0"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fade">
                                      <p:cBhvr>
                                        <p:cTn id="66" dur="1000"/>
                                        <p:tgtEl>
                                          <p:spTgt spid="55"/>
                                        </p:tgtEl>
                                      </p:cBhvr>
                                    </p:animEffect>
                                    <p:anim calcmode="lin" valueType="num">
                                      <p:cBhvr>
                                        <p:cTn id="67" dur="1000" fill="hold"/>
                                        <p:tgtEl>
                                          <p:spTgt spid="55"/>
                                        </p:tgtEl>
                                        <p:attrNameLst>
                                          <p:attrName>ppt_x</p:attrName>
                                        </p:attrNameLst>
                                      </p:cBhvr>
                                      <p:tavLst>
                                        <p:tav tm="0">
                                          <p:val>
                                            <p:strVal val="#ppt_x"/>
                                          </p:val>
                                        </p:tav>
                                        <p:tav tm="100000">
                                          <p:val>
                                            <p:strVal val="#ppt_x"/>
                                          </p:val>
                                        </p:tav>
                                      </p:tavLst>
                                    </p:anim>
                                    <p:anim calcmode="lin" valueType="num">
                                      <p:cBhvr>
                                        <p:cTn id="68"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2" presetClass="entr" presetSubtype="8" fill="hold" grpId="2" nodeType="clickEffect">
                                  <p:stCondLst>
                                    <p:cond delay="0"/>
                                  </p:stCondLst>
                                  <p:childTnLst>
                                    <p:set>
                                      <p:cBhvr>
                                        <p:cTn id="72" dur="1" fill="hold">
                                          <p:stCondLst>
                                            <p:cond delay="0"/>
                                          </p:stCondLst>
                                        </p:cTn>
                                        <p:tgtEl>
                                          <p:spTgt spid="35"/>
                                        </p:tgtEl>
                                        <p:attrNameLst>
                                          <p:attrName>style.visibility</p:attrName>
                                        </p:attrNameLst>
                                      </p:cBhvr>
                                      <p:to>
                                        <p:strVal val="visible"/>
                                      </p:to>
                                    </p:set>
                                    <p:anim calcmode="lin" valueType="num">
                                      <p:cBhvr additive="base">
                                        <p:cTn id="73" dur="500"/>
                                        <p:tgtEl>
                                          <p:spTgt spid="35"/>
                                        </p:tgtEl>
                                        <p:attrNameLst>
                                          <p:attrName>ppt_x</p:attrName>
                                        </p:attrNameLst>
                                      </p:cBhvr>
                                      <p:tavLst>
                                        <p:tav tm="0">
                                          <p:val>
                                            <p:strVal val="#ppt_x-#ppt_w*1.125000"/>
                                          </p:val>
                                        </p:tav>
                                        <p:tav tm="100000">
                                          <p:val>
                                            <p:strVal val="#ppt_x"/>
                                          </p:val>
                                        </p:tav>
                                      </p:tavLst>
                                    </p:anim>
                                    <p:animEffect transition="in" filter="wipe(right)">
                                      <p:cBhvr>
                                        <p:cTn id="74" dur="500"/>
                                        <p:tgtEl>
                                          <p:spTgt spid="35"/>
                                        </p:tgtEl>
                                      </p:cBhvr>
                                    </p:animEffect>
                                  </p:childTnLst>
                                </p:cTn>
                              </p:par>
                              <p:par>
                                <p:cTn id="75" presetID="12" presetClass="entr" presetSubtype="8" fill="hold" grpId="2" nodeType="withEffect">
                                  <p:stCondLst>
                                    <p:cond delay="0"/>
                                  </p:stCondLst>
                                  <p:childTnLst>
                                    <p:set>
                                      <p:cBhvr>
                                        <p:cTn id="76" dur="1" fill="hold">
                                          <p:stCondLst>
                                            <p:cond delay="0"/>
                                          </p:stCondLst>
                                        </p:cTn>
                                        <p:tgtEl>
                                          <p:spTgt spid="48"/>
                                        </p:tgtEl>
                                        <p:attrNameLst>
                                          <p:attrName>style.visibility</p:attrName>
                                        </p:attrNameLst>
                                      </p:cBhvr>
                                      <p:to>
                                        <p:strVal val="visible"/>
                                      </p:to>
                                    </p:set>
                                    <p:anim calcmode="lin" valueType="num">
                                      <p:cBhvr additive="base">
                                        <p:cTn id="77" dur="500"/>
                                        <p:tgtEl>
                                          <p:spTgt spid="48"/>
                                        </p:tgtEl>
                                        <p:attrNameLst>
                                          <p:attrName>ppt_x</p:attrName>
                                        </p:attrNameLst>
                                      </p:cBhvr>
                                      <p:tavLst>
                                        <p:tav tm="0">
                                          <p:val>
                                            <p:strVal val="#ppt_x-#ppt_w*1.125000"/>
                                          </p:val>
                                        </p:tav>
                                        <p:tav tm="100000">
                                          <p:val>
                                            <p:strVal val="#ppt_x"/>
                                          </p:val>
                                        </p:tav>
                                      </p:tavLst>
                                    </p:anim>
                                    <p:animEffect transition="in" filter="wipe(right)">
                                      <p:cBhvr>
                                        <p:cTn id="78" dur="500"/>
                                        <p:tgtEl>
                                          <p:spTgt spid="48"/>
                                        </p:tgtEl>
                                      </p:cBhvr>
                                    </p:animEffect>
                                  </p:childTnLst>
                                </p:cTn>
                              </p:par>
                            </p:childTnLst>
                          </p:cTn>
                        </p:par>
                      </p:childTnLst>
                    </p:cTn>
                  </p:par>
                  <p:par>
                    <p:cTn id="79" fill="hold">
                      <p:stCondLst>
                        <p:cond delay="indefinite"/>
                      </p:stCondLst>
                      <p:childTnLst>
                        <p:par>
                          <p:cTn id="80" fill="hold">
                            <p:stCondLst>
                              <p:cond delay="0"/>
                            </p:stCondLst>
                            <p:childTnLst>
                              <p:par>
                                <p:cTn id="81" presetID="35" presetClass="emph" presetSubtype="0" fill="hold" nodeType="clickEffect">
                                  <p:stCondLst>
                                    <p:cond delay="0"/>
                                  </p:stCondLst>
                                  <p:childTnLst>
                                    <p:anim calcmode="discrete" valueType="str">
                                      <p:cBhvr>
                                        <p:cTn id="82"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83" fill="hold">
                            <p:stCondLst>
                              <p:cond delay="1000"/>
                            </p:stCondLst>
                            <p:childTnLst>
                              <p:par>
                                <p:cTn id="84" presetID="35" presetClass="emph" presetSubtype="0" fill="hold" nodeType="afterEffect">
                                  <p:stCondLst>
                                    <p:cond delay="0"/>
                                  </p:stCondLst>
                                  <p:childTnLst>
                                    <p:anim calcmode="discrete" valueType="str">
                                      <p:cBhvr>
                                        <p:cTn id="85"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86" fill="hold">
                      <p:stCondLst>
                        <p:cond delay="indefinite"/>
                      </p:stCondLst>
                      <p:childTnLst>
                        <p:par>
                          <p:cTn id="87" fill="hold">
                            <p:stCondLst>
                              <p:cond delay="0"/>
                            </p:stCondLst>
                            <p:childTnLst>
                              <p:par>
                                <p:cTn id="88" presetID="35" presetClass="emph" presetSubtype="0" fill="hold" nodeType="clickEffect">
                                  <p:stCondLst>
                                    <p:cond delay="0"/>
                                  </p:stCondLst>
                                  <p:childTnLst>
                                    <p:anim calcmode="discrete" valueType="str">
                                      <p:cBhvr>
                                        <p:cTn id="89"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90" fill="hold">
                            <p:stCondLst>
                              <p:cond delay="1000"/>
                            </p:stCondLst>
                            <p:childTnLst>
                              <p:par>
                                <p:cTn id="91" presetID="35" presetClass="emph" presetSubtype="0" fill="hold" nodeType="afterEffect">
                                  <p:stCondLst>
                                    <p:cond delay="0"/>
                                  </p:stCondLst>
                                  <p:childTnLst>
                                    <p:anim calcmode="discrete" valueType="str">
                                      <p:cBhvr>
                                        <p:cTn id="92" dur="1000" fill="hold"/>
                                        <p:tgtEl>
                                          <p:spTgt spid="50"/>
                                        </p:tgtEl>
                                        <p:attrNameLst>
                                          <p:attrName>style.visibility</p:attrName>
                                        </p:attrNameLst>
                                      </p:cBhvr>
                                      <p:tavLst>
                                        <p:tav tm="0">
                                          <p:val>
                                            <p:strVal val="hidden"/>
                                          </p:val>
                                        </p:tav>
                                        <p:tav tm="50000">
                                          <p:val>
                                            <p:strVal val="visible"/>
                                          </p:val>
                                        </p:tav>
                                      </p:tavLst>
                                    </p:anim>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nodeType="click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slide(fromBottom)">
                                      <p:cBhvr>
                                        <p:cTn id="9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5" grpId="2" animBg="1"/>
      <p:bldP spid="47" grpId="0" animBg="1"/>
      <p:bldP spid="47" grpId="1" animBg="1"/>
      <p:bldP spid="47" grpId="2" animBg="1"/>
      <p:bldP spid="48" grpId="0" animBg="1"/>
      <p:bldP spid="48" grpId="1" animBg="1"/>
      <p:bldP spid="48" grpId="2" animBg="1"/>
      <p:bldP spid="5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02128"/>
            <a:ext cx="3966208" cy="418885"/>
            <a:chOff x="670560" y="892917"/>
            <a:chExt cx="3966208" cy="465428"/>
          </a:xfrm>
        </p:grpSpPr>
        <p:sp>
          <p:nvSpPr>
            <p:cNvPr id="3" name="矩形 2"/>
            <p:cNvSpPr/>
            <p:nvPr/>
          </p:nvSpPr>
          <p:spPr>
            <a:xfrm>
              <a:off x="1035232" y="913778"/>
              <a:ext cx="3601536" cy="444567"/>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5</a:t>
              </a:r>
              <a:r>
                <a:rPr lang="zh-CN" altLang="en-US" sz="2000" b="1" dirty="0">
                  <a:solidFill>
                    <a:srgbClr val="002060"/>
                  </a:solidFill>
                  <a:latin typeface="微软雅黑" pitchFamily="34" charset="-122"/>
                  <a:ea typeface="微软雅黑" pitchFamily="34" charset="-122"/>
                </a:rPr>
                <a:t>、逻辑函数及其表示方法</a:t>
              </a: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4" name="组合 23">
            <a:extLst>
              <a:ext uri="{FF2B5EF4-FFF2-40B4-BE49-F238E27FC236}">
                <a16:creationId xmlns:a16="http://schemas.microsoft.com/office/drawing/2014/main" xmlns="" id="{E010191F-7F37-4AFE-B961-7090CF5FA91D}"/>
              </a:ext>
            </a:extLst>
          </p:cNvPr>
          <p:cNvGrpSpPr/>
          <p:nvPr/>
        </p:nvGrpSpPr>
        <p:grpSpPr>
          <a:xfrm>
            <a:off x="470311" y="1273016"/>
            <a:ext cx="2214633" cy="368657"/>
            <a:chOff x="358461" y="2491447"/>
            <a:chExt cx="2214633" cy="401382"/>
          </a:xfrm>
        </p:grpSpPr>
        <p:sp>
          <p:nvSpPr>
            <p:cNvPr id="25" name="矩形 24">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1971745" cy="401377"/>
            </a:xfrm>
            <a:prstGeom prst="rect">
              <a:avLst/>
            </a:prstGeom>
            <a:solidFill>
              <a:srgbClr val="05AFC8"/>
            </a:solidFill>
            <a:ln>
              <a:noFill/>
            </a:ln>
          </p:spPr>
          <p:txBody>
            <a:bodyPr lIns="72000" tIns="0" bIns="0"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逻辑图</a:t>
              </a:r>
              <a:r>
                <a:rPr lang="zh-CN" altLang="en-US" sz="1600" dirty="0">
                  <a:solidFill>
                    <a:schemeClr val="bg1"/>
                  </a:solidFill>
                  <a:latin typeface="黑体" pitchFamily="2" charset="-122"/>
                  <a:ea typeface="黑体" pitchFamily="2" charset="-122"/>
                </a:rPr>
                <a:t>描述方法</a:t>
              </a:r>
              <a:endParaRPr lang="zh-CN" altLang="en-US" sz="1600" dirty="0">
                <a:solidFill>
                  <a:schemeClr val="bg1"/>
                </a:solidFill>
                <a:latin typeface="黑体" panose="02010609060101010101" pitchFamily="49" charset="-122"/>
                <a:ea typeface="黑体" panose="02010609060101010101" pitchFamily="49" charset="-122"/>
              </a:endParaRPr>
            </a:p>
          </p:txBody>
        </p:sp>
        <p:sp>
          <p:nvSpPr>
            <p:cNvPr id="26" name="矩形 25">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chemeClr val="bg1"/>
                </a:solidFill>
                <a:latin typeface="宋体" panose="02010600030101010101" pitchFamily="2" charset="-122"/>
                <a:sym typeface="宋体" panose="02010600030101010101" pitchFamily="2" charset="-122"/>
              </a:endParaRPr>
            </a:p>
          </p:txBody>
        </p:sp>
        <p:sp>
          <p:nvSpPr>
            <p:cNvPr id="27"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schemeClr val="bg1"/>
                </a:solidFill>
                <a:latin typeface="Arial"/>
                <a:ea typeface="微软雅黑"/>
              </a:endParaRPr>
            </a:p>
          </p:txBody>
        </p:sp>
      </p:grpSp>
      <p:grpSp>
        <p:nvGrpSpPr>
          <p:cNvPr id="31" name="组合 30">
            <a:extLst>
              <a:ext uri="{FF2B5EF4-FFF2-40B4-BE49-F238E27FC236}">
                <a16:creationId xmlns:a16="http://schemas.microsoft.com/office/drawing/2014/main" xmlns="" id="{E010191F-7F37-4AFE-B961-7090CF5FA91D}"/>
              </a:ext>
            </a:extLst>
          </p:cNvPr>
          <p:cNvGrpSpPr/>
          <p:nvPr/>
        </p:nvGrpSpPr>
        <p:grpSpPr>
          <a:xfrm>
            <a:off x="5678505" y="1273011"/>
            <a:ext cx="2214633" cy="368657"/>
            <a:chOff x="358461" y="2491447"/>
            <a:chExt cx="2214633" cy="401382"/>
          </a:xfrm>
        </p:grpSpPr>
        <p:sp>
          <p:nvSpPr>
            <p:cNvPr id="32" name="矩形 31">
              <a:extLst>
                <a:ext uri="{FF2B5EF4-FFF2-40B4-BE49-F238E27FC236}">
                  <a16:creationId xmlns:a16="http://schemas.microsoft.com/office/drawing/2014/main" xmlns="" id="{32B3D1A8-7BCE-444D-9034-DDC964704B44}"/>
                </a:ext>
              </a:extLst>
            </p:cNvPr>
            <p:cNvSpPr>
              <a:spLocks noChangeArrowheads="1"/>
            </p:cNvSpPr>
            <p:nvPr/>
          </p:nvSpPr>
          <p:spPr bwMode="auto">
            <a:xfrm>
              <a:off x="601349" y="2491447"/>
              <a:ext cx="1971745" cy="401377"/>
            </a:xfrm>
            <a:prstGeom prst="rect">
              <a:avLst/>
            </a:prstGeom>
            <a:solidFill>
              <a:srgbClr val="05AFC8"/>
            </a:solidFill>
            <a:ln>
              <a:noFill/>
            </a:ln>
          </p:spPr>
          <p:txBody>
            <a:bodyPr lIns="72000" tIns="0" bIns="0"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1600" dirty="0">
                  <a:solidFill>
                    <a:schemeClr val="bg1"/>
                  </a:solidFill>
                  <a:latin typeface="黑体" panose="02010609060101010101" pitchFamily="49" charset="-122"/>
                  <a:ea typeface="黑体" panose="02010609060101010101" pitchFamily="49" charset="-122"/>
                </a:rPr>
                <a:t>  波形图的表示</a:t>
              </a:r>
            </a:p>
          </p:txBody>
        </p:sp>
        <p:sp>
          <p:nvSpPr>
            <p:cNvPr id="33" name="矩形 32">
              <a:extLst>
                <a:ext uri="{FF2B5EF4-FFF2-40B4-BE49-F238E27FC236}">
                  <a16:creationId xmlns:a16="http://schemas.microsoft.com/office/drawing/2014/main" xmlns="" id="{22797C4C-A0A2-421C-A146-0EC5290723C4}"/>
                </a:ext>
              </a:extLst>
            </p:cNvPr>
            <p:cNvSpPr>
              <a:spLocks noChangeArrowheads="1"/>
            </p:cNvSpPr>
            <p:nvPr/>
          </p:nvSpPr>
          <p:spPr bwMode="auto">
            <a:xfrm>
              <a:off x="358461" y="2491451"/>
              <a:ext cx="449288" cy="401378"/>
            </a:xfrm>
            <a:prstGeom prst="rect">
              <a:avLst/>
            </a:prstGeom>
            <a:solidFill>
              <a:srgbClr val="3C3C37"/>
            </a:solidFill>
            <a:ln>
              <a:noFill/>
            </a:ln>
            <a:extLst>
              <a:ext uri="{91240B29-F687-4F45-9708-019B960494DF}">
                <a14:hiddenLine xmlns:a14="http://schemas.microsoft.com/office/drawing/2010/main" w="25400">
                  <a:solidFill>
                    <a:srgbClr val="395E8A"/>
                  </a:solidFill>
                  <a:bevel/>
                  <a:headEnd/>
                  <a:tailE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eaLnBrk="1" hangingPunct="1"/>
              <a:endParaRPr lang="zh-CN" altLang="zh-CN" sz="1600">
                <a:solidFill>
                  <a:schemeClr val="bg1"/>
                </a:solidFill>
                <a:latin typeface="宋体" panose="02010600030101010101" pitchFamily="2" charset="-122"/>
                <a:sym typeface="宋体" panose="02010600030101010101" pitchFamily="2" charset="-122"/>
              </a:endParaRPr>
            </a:p>
          </p:txBody>
        </p:sp>
        <p:sp>
          <p:nvSpPr>
            <p:cNvPr id="34" name="Freeform 10">
              <a:extLst>
                <a:ext uri="{FF2B5EF4-FFF2-40B4-BE49-F238E27FC236}">
                  <a16:creationId xmlns:a16="http://schemas.microsoft.com/office/drawing/2014/main" xmlns="" id="{B060B1F0-E4C4-49CB-85A5-BFEA44131A04}"/>
                </a:ext>
              </a:extLst>
            </p:cNvPr>
            <p:cNvSpPr>
              <a:spLocks noChangeAspect="1"/>
            </p:cNvSpPr>
            <p:nvPr/>
          </p:nvSpPr>
          <p:spPr bwMode="auto">
            <a:xfrm>
              <a:off x="429898" y="2555590"/>
              <a:ext cx="306580" cy="288000"/>
            </a:xfrm>
            <a:custGeom>
              <a:avLst/>
              <a:gdLst>
                <a:gd name="T0" fmla="*/ 40 w 128"/>
                <a:gd name="T1" fmla="*/ 120 h 120"/>
                <a:gd name="T2" fmla="*/ 12 w 128"/>
                <a:gd name="T3" fmla="*/ 108 h 120"/>
                <a:gd name="T4" fmla="*/ 0 w 128"/>
                <a:gd name="T5" fmla="*/ 80 h 120"/>
                <a:gd name="T6" fmla="*/ 12 w 128"/>
                <a:gd name="T7" fmla="*/ 52 h 120"/>
                <a:gd name="T8" fmla="*/ 58 w 128"/>
                <a:gd name="T9" fmla="*/ 2 h 120"/>
                <a:gd name="T10" fmla="*/ 64 w 128"/>
                <a:gd name="T11" fmla="*/ 8 h 120"/>
                <a:gd name="T12" fmla="*/ 17 w 128"/>
                <a:gd name="T13" fmla="*/ 57 h 120"/>
                <a:gd name="T14" fmla="*/ 8 w 128"/>
                <a:gd name="T15" fmla="*/ 80 h 120"/>
                <a:gd name="T16" fmla="*/ 17 w 128"/>
                <a:gd name="T17" fmla="*/ 103 h 120"/>
                <a:gd name="T18" fmla="*/ 40 w 128"/>
                <a:gd name="T19" fmla="*/ 112 h 120"/>
                <a:gd name="T20" fmla="*/ 63 w 128"/>
                <a:gd name="T21" fmla="*/ 103 h 120"/>
                <a:gd name="T22" fmla="*/ 113 w 128"/>
                <a:gd name="T23" fmla="*/ 49 h 120"/>
                <a:gd name="T24" fmla="*/ 120 w 128"/>
                <a:gd name="T25" fmla="*/ 32 h 120"/>
                <a:gd name="T26" fmla="*/ 113 w 128"/>
                <a:gd name="T27" fmla="*/ 15 h 120"/>
                <a:gd name="T28" fmla="*/ 96 w 128"/>
                <a:gd name="T29" fmla="*/ 8 h 120"/>
                <a:gd name="T30" fmla="*/ 79 w 128"/>
                <a:gd name="T31" fmla="*/ 15 h 120"/>
                <a:gd name="T32" fmla="*/ 29 w 128"/>
                <a:gd name="T33" fmla="*/ 69 h 120"/>
                <a:gd name="T34" fmla="*/ 29 w 128"/>
                <a:gd name="T35" fmla="*/ 91 h 120"/>
                <a:gd name="T36" fmla="*/ 40 w 128"/>
                <a:gd name="T37" fmla="*/ 96 h 120"/>
                <a:gd name="T38" fmla="*/ 40 w 128"/>
                <a:gd name="T39" fmla="*/ 96 h 120"/>
                <a:gd name="T40" fmla="*/ 51 w 128"/>
                <a:gd name="T41" fmla="*/ 91 h 120"/>
                <a:gd name="T42" fmla="*/ 100 w 128"/>
                <a:gd name="T43" fmla="*/ 41 h 120"/>
                <a:gd name="T44" fmla="*/ 105 w 128"/>
                <a:gd name="T45" fmla="*/ 47 h 120"/>
                <a:gd name="T46" fmla="*/ 57 w 128"/>
                <a:gd name="T47" fmla="*/ 97 h 120"/>
                <a:gd name="T48" fmla="*/ 40 w 128"/>
                <a:gd name="T49" fmla="*/ 104 h 120"/>
                <a:gd name="T50" fmla="*/ 40 w 128"/>
                <a:gd name="T51" fmla="*/ 104 h 120"/>
                <a:gd name="T52" fmla="*/ 23 w 128"/>
                <a:gd name="T53" fmla="*/ 97 h 120"/>
                <a:gd name="T54" fmla="*/ 23 w 128"/>
                <a:gd name="T55" fmla="*/ 63 h 120"/>
                <a:gd name="T56" fmla="*/ 73 w 128"/>
                <a:gd name="T57" fmla="*/ 9 h 120"/>
                <a:gd name="T58" fmla="*/ 96 w 128"/>
                <a:gd name="T59" fmla="*/ 0 h 120"/>
                <a:gd name="T60" fmla="*/ 119 w 128"/>
                <a:gd name="T61" fmla="*/ 9 h 120"/>
                <a:gd name="T62" fmla="*/ 128 w 128"/>
                <a:gd name="T63" fmla="*/ 32 h 120"/>
                <a:gd name="T64" fmla="*/ 119 w 128"/>
                <a:gd name="T65" fmla="*/ 55 h 120"/>
                <a:gd name="T66" fmla="*/ 68 w 128"/>
                <a:gd name="T67" fmla="*/ 108 h 120"/>
                <a:gd name="T68" fmla="*/ 40 w 128"/>
                <a:gd name="T6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20">
                  <a:moveTo>
                    <a:pt x="40" y="120"/>
                  </a:moveTo>
                  <a:cubicBezTo>
                    <a:pt x="29" y="120"/>
                    <a:pt x="19" y="116"/>
                    <a:pt x="12" y="108"/>
                  </a:cubicBezTo>
                  <a:cubicBezTo>
                    <a:pt x="4" y="101"/>
                    <a:pt x="0" y="91"/>
                    <a:pt x="0" y="80"/>
                  </a:cubicBezTo>
                  <a:cubicBezTo>
                    <a:pt x="0" y="69"/>
                    <a:pt x="4" y="59"/>
                    <a:pt x="12" y="52"/>
                  </a:cubicBezTo>
                  <a:cubicBezTo>
                    <a:pt x="58" y="2"/>
                    <a:pt x="58" y="2"/>
                    <a:pt x="58" y="2"/>
                  </a:cubicBezTo>
                  <a:cubicBezTo>
                    <a:pt x="64" y="8"/>
                    <a:pt x="64" y="8"/>
                    <a:pt x="64" y="8"/>
                  </a:cubicBezTo>
                  <a:cubicBezTo>
                    <a:pt x="17" y="57"/>
                    <a:pt x="17" y="57"/>
                    <a:pt x="17" y="57"/>
                  </a:cubicBezTo>
                  <a:cubicBezTo>
                    <a:pt x="11" y="63"/>
                    <a:pt x="8" y="71"/>
                    <a:pt x="8" y="80"/>
                  </a:cubicBezTo>
                  <a:cubicBezTo>
                    <a:pt x="8" y="89"/>
                    <a:pt x="11" y="97"/>
                    <a:pt x="17" y="103"/>
                  </a:cubicBezTo>
                  <a:cubicBezTo>
                    <a:pt x="23" y="109"/>
                    <a:pt x="31" y="112"/>
                    <a:pt x="40" y="112"/>
                  </a:cubicBezTo>
                  <a:cubicBezTo>
                    <a:pt x="49" y="112"/>
                    <a:pt x="57" y="109"/>
                    <a:pt x="63" y="103"/>
                  </a:cubicBezTo>
                  <a:cubicBezTo>
                    <a:pt x="113" y="49"/>
                    <a:pt x="113" y="49"/>
                    <a:pt x="113" y="49"/>
                  </a:cubicBezTo>
                  <a:cubicBezTo>
                    <a:pt x="118" y="44"/>
                    <a:pt x="120" y="38"/>
                    <a:pt x="120" y="32"/>
                  </a:cubicBezTo>
                  <a:cubicBezTo>
                    <a:pt x="120" y="26"/>
                    <a:pt x="118" y="20"/>
                    <a:pt x="113" y="15"/>
                  </a:cubicBezTo>
                  <a:cubicBezTo>
                    <a:pt x="108" y="10"/>
                    <a:pt x="102" y="8"/>
                    <a:pt x="96" y="8"/>
                  </a:cubicBezTo>
                  <a:cubicBezTo>
                    <a:pt x="90" y="8"/>
                    <a:pt x="84" y="10"/>
                    <a:pt x="79" y="15"/>
                  </a:cubicBezTo>
                  <a:cubicBezTo>
                    <a:pt x="29" y="69"/>
                    <a:pt x="29" y="69"/>
                    <a:pt x="29" y="69"/>
                  </a:cubicBezTo>
                  <a:cubicBezTo>
                    <a:pt x="22" y="75"/>
                    <a:pt x="22" y="85"/>
                    <a:pt x="29" y="91"/>
                  </a:cubicBezTo>
                  <a:cubicBezTo>
                    <a:pt x="32" y="94"/>
                    <a:pt x="36" y="96"/>
                    <a:pt x="40" y="96"/>
                  </a:cubicBezTo>
                  <a:cubicBezTo>
                    <a:pt x="40" y="96"/>
                    <a:pt x="40" y="96"/>
                    <a:pt x="40" y="96"/>
                  </a:cubicBezTo>
                  <a:cubicBezTo>
                    <a:pt x="44" y="96"/>
                    <a:pt x="48" y="94"/>
                    <a:pt x="51" y="91"/>
                  </a:cubicBezTo>
                  <a:cubicBezTo>
                    <a:pt x="100" y="41"/>
                    <a:pt x="100" y="41"/>
                    <a:pt x="100" y="41"/>
                  </a:cubicBezTo>
                  <a:cubicBezTo>
                    <a:pt x="105" y="47"/>
                    <a:pt x="105" y="47"/>
                    <a:pt x="105" y="47"/>
                  </a:cubicBezTo>
                  <a:cubicBezTo>
                    <a:pt x="57" y="97"/>
                    <a:pt x="57" y="97"/>
                    <a:pt x="57" y="97"/>
                  </a:cubicBezTo>
                  <a:cubicBezTo>
                    <a:pt x="52" y="102"/>
                    <a:pt x="46" y="104"/>
                    <a:pt x="40" y="104"/>
                  </a:cubicBezTo>
                  <a:cubicBezTo>
                    <a:pt x="40" y="104"/>
                    <a:pt x="40" y="104"/>
                    <a:pt x="40" y="104"/>
                  </a:cubicBezTo>
                  <a:cubicBezTo>
                    <a:pt x="34" y="104"/>
                    <a:pt x="28" y="102"/>
                    <a:pt x="23" y="97"/>
                  </a:cubicBezTo>
                  <a:cubicBezTo>
                    <a:pt x="14" y="88"/>
                    <a:pt x="14" y="72"/>
                    <a:pt x="23" y="63"/>
                  </a:cubicBezTo>
                  <a:cubicBezTo>
                    <a:pt x="73" y="9"/>
                    <a:pt x="73" y="9"/>
                    <a:pt x="73" y="9"/>
                  </a:cubicBezTo>
                  <a:cubicBezTo>
                    <a:pt x="79" y="3"/>
                    <a:pt x="87" y="0"/>
                    <a:pt x="96" y="0"/>
                  </a:cubicBezTo>
                  <a:cubicBezTo>
                    <a:pt x="105" y="0"/>
                    <a:pt x="113" y="3"/>
                    <a:pt x="119" y="9"/>
                  </a:cubicBezTo>
                  <a:cubicBezTo>
                    <a:pt x="125" y="15"/>
                    <a:pt x="128" y="23"/>
                    <a:pt x="128" y="32"/>
                  </a:cubicBezTo>
                  <a:cubicBezTo>
                    <a:pt x="128" y="41"/>
                    <a:pt x="125" y="49"/>
                    <a:pt x="119" y="55"/>
                  </a:cubicBezTo>
                  <a:cubicBezTo>
                    <a:pt x="68" y="108"/>
                    <a:pt x="68" y="108"/>
                    <a:pt x="68" y="108"/>
                  </a:cubicBezTo>
                  <a:cubicBezTo>
                    <a:pt x="61" y="116"/>
                    <a:pt x="51" y="120"/>
                    <a:pt x="40" y="120"/>
                  </a:cubicBezTo>
                </a:path>
              </a:pathLst>
            </a:custGeom>
            <a:solidFill>
              <a:schemeClr val="bg1"/>
            </a:solidFill>
            <a:ln w="6350" cmpd="sng">
              <a:solidFill>
                <a:schemeClr val="bg1"/>
              </a:solidFill>
            </a:ln>
            <a:effectLst/>
          </p:spPr>
          <p:txBody>
            <a:bodyPr vert="horz" wrap="square" lIns="121920" tIns="60960" rIns="121920" bIns="60960" numCol="1" anchor="t" anchorCtr="0" compatLnSpc="1">
              <a:prstTxWarp prst="textNoShape">
                <a:avLst/>
              </a:prstTxWarp>
            </a:bodyPr>
            <a:lstStyle>
              <a:defPPr>
                <a:defRPr lang="en-US"/>
              </a:defPPr>
              <a:lvl1pPr marL="0" algn="l" defTabSz="609630" rtl="0" eaLnBrk="1" latinLnBrk="0" hangingPunct="1">
                <a:defRPr sz="2400" kern="1200">
                  <a:solidFill>
                    <a:schemeClr val="tx1"/>
                  </a:solidFill>
                  <a:latin typeface="+mn-lt"/>
                  <a:ea typeface="+mn-ea"/>
                  <a:cs typeface="+mn-cs"/>
                </a:defRPr>
              </a:lvl1pPr>
              <a:lvl2pPr marL="609630" algn="l" defTabSz="609630" rtl="0" eaLnBrk="1" latinLnBrk="0" hangingPunct="1">
                <a:defRPr sz="2400" kern="1200">
                  <a:solidFill>
                    <a:schemeClr val="tx1"/>
                  </a:solidFill>
                  <a:latin typeface="+mn-lt"/>
                  <a:ea typeface="+mn-ea"/>
                  <a:cs typeface="+mn-cs"/>
                </a:defRPr>
              </a:lvl2pPr>
              <a:lvl3pPr marL="1219261" algn="l" defTabSz="609630" rtl="0" eaLnBrk="1" latinLnBrk="0" hangingPunct="1">
                <a:defRPr sz="2400" kern="1200">
                  <a:solidFill>
                    <a:schemeClr val="tx1"/>
                  </a:solidFill>
                  <a:latin typeface="+mn-lt"/>
                  <a:ea typeface="+mn-ea"/>
                  <a:cs typeface="+mn-cs"/>
                </a:defRPr>
              </a:lvl3pPr>
              <a:lvl4pPr marL="1828891" algn="l" defTabSz="609630" rtl="0" eaLnBrk="1" latinLnBrk="0" hangingPunct="1">
                <a:defRPr sz="2400" kern="1200">
                  <a:solidFill>
                    <a:schemeClr val="tx1"/>
                  </a:solidFill>
                  <a:latin typeface="+mn-lt"/>
                  <a:ea typeface="+mn-ea"/>
                  <a:cs typeface="+mn-cs"/>
                </a:defRPr>
              </a:lvl4pPr>
              <a:lvl5pPr marL="2438522" algn="l" defTabSz="609630" rtl="0" eaLnBrk="1" latinLnBrk="0" hangingPunct="1">
                <a:defRPr sz="2400" kern="1200">
                  <a:solidFill>
                    <a:schemeClr val="tx1"/>
                  </a:solidFill>
                  <a:latin typeface="+mn-lt"/>
                  <a:ea typeface="+mn-ea"/>
                  <a:cs typeface="+mn-cs"/>
                </a:defRPr>
              </a:lvl5pPr>
              <a:lvl6pPr marL="3048152" algn="l" defTabSz="609630" rtl="0" eaLnBrk="1" latinLnBrk="0" hangingPunct="1">
                <a:defRPr sz="2400" kern="1200">
                  <a:solidFill>
                    <a:schemeClr val="tx1"/>
                  </a:solidFill>
                  <a:latin typeface="+mn-lt"/>
                  <a:ea typeface="+mn-ea"/>
                  <a:cs typeface="+mn-cs"/>
                </a:defRPr>
              </a:lvl6pPr>
              <a:lvl7pPr marL="3657783" algn="l" defTabSz="609630" rtl="0" eaLnBrk="1" latinLnBrk="0" hangingPunct="1">
                <a:defRPr sz="2400" kern="1200">
                  <a:solidFill>
                    <a:schemeClr val="tx1"/>
                  </a:solidFill>
                  <a:latin typeface="+mn-lt"/>
                  <a:ea typeface="+mn-ea"/>
                  <a:cs typeface="+mn-cs"/>
                </a:defRPr>
              </a:lvl7pPr>
              <a:lvl8pPr marL="4267413" algn="l" defTabSz="609630" rtl="0" eaLnBrk="1" latinLnBrk="0" hangingPunct="1">
                <a:defRPr sz="2400" kern="1200">
                  <a:solidFill>
                    <a:schemeClr val="tx1"/>
                  </a:solidFill>
                  <a:latin typeface="+mn-lt"/>
                  <a:ea typeface="+mn-ea"/>
                  <a:cs typeface="+mn-cs"/>
                </a:defRPr>
              </a:lvl8pPr>
              <a:lvl9pPr marL="4877044" algn="l" defTabSz="609630" rtl="0" eaLnBrk="1" latinLnBrk="0" hangingPunct="1">
                <a:defRPr sz="2400" kern="1200">
                  <a:solidFill>
                    <a:schemeClr val="tx1"/>
                  </a:solidFill>
                  <a:latin typeface="+mn-lt"/>
                  <a:ea typeface="+mn-ea"/>
                  <a:cs typeface="+mn-cs"/>
                </a:defRPr>
              </a:lvl9pPr>
            </a:lstStyle>
            <a:p>
              <a:pPr defTabSz="1219170"/>
              <a:endParaRPr lang="zh-CN" altLang="en-US" sz="1600">
                <a:solidFill>
                  <a:schemeClr val="bg1"/>
                </a:solidFill>
                <a:latin typeface="Arial"/>
                <a:ea typeface="微软雅黑"/>
              </a:endParaRPr>
            </a:p>
          </p:txBody>
        </p:sp>
      </p:grpSp>
      <p:grpSp>
        <p:nvGrpSpPr>
          <p:cNvPr id="36" name="组合 35"/>
          <p:cNvGrpSpPr/>
          <p:nvPr/>
        </p:nvGrpSpPr>
        <p:grpSpPr>
          <a:xfrm>
            <a:off x="3088557" y="1921251"/>
            <a:ext cx="2372128" cy="2077974"/>
            <a:chOff x="2780993" y="2705100"/>
            <a:chExt cx="2697787" cy="2308860"/>
          </a:xfrm>
        </p:grpSpPr>
        <p:sp>
          <p:nvSpPr>
            <p:cNvPr id="29" name="圆角矩形 28"/>
            <p:cNvSpPr/>
            <p:nvPr/>
          </p:nvSpPr>
          <p:spPr>
            <a:xfrm>
              <a:off x="2780993" y="2705100"/>
              <a:ext cx="2697787" cy="2308860"/>
            </a:xfrm>
            <a:prstGeom prst="roundRect">
              <a:avLst>
                <a:gd name="adj" fmla="val 576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5364" name="Picture 4"/>
            <p:cNvPicPr>
              <a:picLocks noChangeAspect="1" noChangeArrowheads="1"/>
            </p:cNvPicPr>
            <p:nvPr/>
          </p:nvPicPr>
          <p:blipFill>
            <a:blip r:embed="rId5" cstate="print"/>
            <a:srcRect/>
            <a:stretch>
              <a:fillRect/>
            </a:stretch>
          </p:blipFill>
          <p:spPr bwMode="auto">
            <a:xfrm>
              <a:off x="2880361" y="2770817"/>
              <a:ext cx="2468880" cy="2177421"/>
            </a:xfrm>
            <a:prstGeom prst="rect">
              <a:avLst/>
            </a:prstGeom>
            <a:noFill/>
            <a:ln w="9525">
              <a:noFill/>
              <a:miter lim="800000"/>
              <a:headEnd/>
              <a:tailEnd/>
            </a:ln>
            <a:effectLst/>
          </p:spPr>
        </p:pic>
      </p:grpSp>
      <p:grpSp>
        <p:nvGrpSpPr>
          <p:cNvPr id="40" name="组合 39"/>
          <p:cNvGrpSpPr/>
          <p:nvPr/>
        </p:nvGrpSpPr>
        <p:grpSpPr>
          <a:xfrm>
            <a:off x="5678505" y="2493330"/>
            <a:ext cx="2982885" cy="1481328"/>
            <a:chOff x="5722313" y="3368040"/>
            <a:chExt cx="2842567" cy="1645920"/>
          </a:xfrm>
        </p:grpSpPr>
        <p:pic>
          <p:nvPicPr>
            <p:cNvPr id="15366" name="Picture 6"/>
            <p:cNvPicPr>
              <a:picLocks noChangeAspect="1" noChangeArrowheads="1"/>
            </p:cNvPicPr>
            <p:nvPr/>
          </p:nvPicPr>
          <p:blipFill>
            <a:blip r:embed="rId6" cstate="print"/>
            <a:srcRect/>
            <a:stretch>
              <a:fillRect/>
            </a:stretch>
          </p:blipFill>
          <p:spPr bwMode="auto">
            <a:xfrm>
              <a:off x="5795963" y="3406138"/>
              <a:ext cx="2586037" cy="1607705"/>
            </a:xfrm>
            <a:prstGeom prst="rect">
              <a:avLst/>
            </a:prstGeom>
            <a:noFill/>
            <a:ln w="9525">
              <a:noFill/>
              <a:miter lim="800000"/>
              <a:headEnd/>
              <a:tailEnd/>
            </a:ln>
            <a:effectLst/>
          </p:spPr>
        </p:pic>
        <p:sp>
          <p:nvSpPr>
            <p:cNvPr id="38" name="圆角矩形 37"/>
            <p:cNvSpPr/>
            <p:nvPr/>
          </p:nvSpPr>
          <p:spPr>
            <a:xfrm>
              <a:off x="5722313" y="3368040"/>
              <a:ext cx="2842567" cy="1645920"/>
            </a:xfrm>
            <a:prstGeom prst="roundRect">
              <a:avLst>
                <a:gd name="adj" fmla="val 5767"/>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2" name="组合 41"/>
          <p:cNvGrpSpPr/>
          <p:nvPr/>
        </p:nvGrpSpPr>
        <p:grpSpPr>
          <a:xfrm>
            <a:off x="259822" y="4004184"/>
            <a:ext cx="8624355" cy="687824"/>
            <a:chOff x="1092994" y="4144710"/>
            <a:chExt cx="8624355" cy="764249"/>
          </a:xfrm>
        </p:grpSpPr>
        <p:sp>
          <p:nvSpPr>
            <p:cNvPr id="37" name="圆角矩形 36"/>
            <p:cNvSpPr/>
            <p:nvPr/>
          </p:nvSpPr>
          <p:spPr>
            <a:xfrm>
              <a:off x="1333501" y="4396739"/>
              <a:ext cx="8383848" cy="512220"/>
            </a:xfrm>
            <a:prstGeom prst="roundRect">
              <a:avLst>
                <a:gd name="adj" fmla="val 11994"/>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rgbClr val="6600FF"/>
                  </a:solidFill>
                  <a:latin typeface="Times New Roman" pitchFamily="18" charset="0"/>
                  <a:ea typeface="方正粗黑宋简体" pitchFamily="2" charset="-122"/>
                  <a:cs typeface="Times New Roman" pitchFamily="18" charset="0"/>
                </a:rPr>
                <a:t>    上述几种描述方式中，都可以对实例提出逻辑问题进行描述，请问哪种描述方法是唯一的？</a:t>
              </a:r>
            </a:p>
          </p:txBody>
        </p:sp>
        <p:pic>
          <p:nvPicPr>
            <p:cNvPr id="6" name="Picture 4"/>
            <p:cNvPicPr>
              <a:picLocks noChangeAspect="1" noChangeArrowheads="1"/>
            </p:cNvPicPr>
            <p:nvPr/>
          </p:nvPicPr>
          <p:blipFill>
            <a:blip r:embed="rId7" cstate="print"/>
            <a:srcRect l="8631" t="6280" r="11341" b="6518"/>
            <a:stretch>
              <a:fillRect/>
            </a:stretch>
          </p:blipFill>
          <p:spPr bwMode="auto">
            <a:xfrm>
              <a:off x="1092994" y="4144710"/>
              <a:ext cx="500856" cy="512220"/>
            </a:xfrm>
            <a:prstGeom prst="rect">
              <a:avLst/>
            </a:prstGeom>
            <a:noFill/>
            <a:ln w="9525">
              <a:noFill/>
              <a:miter lim="800000"/>
              <a:headEnd/>
              <a:tailEnd/>
            </a:ln>
            <a:effectLst/>
          </p:spPr>
        </p:pic>
      </p:grpSp>
      <p:sp>
        <p:nvSpPr>
          <p:cNvPr id="49" name="文本框 48">
            <a:extLst>
              <a:ext uri="{FF2B5EF4-FFF2-40B4-BE49-F238E27FC236}">
                <a16:creationId xmlns:a16="http://schemas.microsoft.com/office/drawing/2014/main" xmlns="" id="{4ACCDD18-9A4F-4DA3-9D2B-03B0A9F23525}"/>
              </a:ext>
            </a:extLst>
          </p:cNvPr>
          <p:cNvSpPr txBox="1"/>
          <p:nvPr/>
        </p:nvSpPr>
        <p:spPr>
          <a:xfrm>
            <a:off x="339435" y="1766318"/>
            <a:ext cx="2733722" cy="863250"/>
          </a:xfrm>
          <a:prstGeom prst="rect">
            <a:avLst/>
          </a:prstGeom>
          <a:noFill/>
        </p:spPr>
        <p:txBody>
          <a:bodyPr wrap="square">
            <a:spAutoFit/>
          </a:bodyPr>
          <a:lstStyle/>
          <a:p>
            <a:pPr marL="715963" indent="-715963">
              <a:lnSpc>
                <a:spcPct val="125000"/>
              </a:lnSpc>
            </a:pPr>
            <a:r>
              <a:rPr lang="zh-CN" altLang="zh-CN" sz="1400" b="1" kern="100" dirty="0">
                <a:solidFill>
                  <a:srgbClr val="CC00CC"/>
                </a:solidFill>
                <a:latin typeface="黑体" panose="02010609060101010101" pitchFamily="49" charset="-122"/>
                <a:ea typeface="黑体" panose="02010609060101010101" pitchFamily="49" charset="-122"/>
                <a:cs typeface="Times New Roman" panose="02020603050405020304" pitchFamily="18" charset="0"/>
              </a:rPr>
              <a:t>逻辑图</a:t>
            </a:r>
            <a:r>
              <a:rPr lang="zh-CN" altLang="en-US" sz="1400" b="1" kern="100" dirty="0">
                <a:solidFill>
                  <a:srgbClr val="CC00CC"/>
                </a:solidFill>
                <a:latin typeface="黑体" panose="02010609060101010101" pitchFamily="49" charset="-122"/>
                <a:ea typeface="黑体" panose="02010609060101010101" pitchFamily="49" charset="-122"/>
                <a:cs typeface="Times New Roman" panose="02020603050405020304" pitchFamily="18" charset="0"/>
              </a:rPr>
              <a:t>：</a:t>
            </a:r>
            <a:r>
              <a:rPr lang="zh-CN" altLang="zh-CN" sz="1400" kern="100" dirty="0">
                <a:latin typeface="黑体" panose="02010609060101010101" pitchFamily="49" charset="-122"/>
                <a:ea typeface="黑体" panose="02010609060101010101" pitchFamily="49" charset="-122"/>
                <a:cs typeface="Times New Roman" panose="02020603050405020304" pitchFamily="18" charset="0"/>
              </a:rPr>
              <a:t>用逻辑符号表示逻辑函数中输出与输入变量之间逻辑关系的图形</a:t>
            </a:r>
            <a:r>
              <a:rPr lang="zh-CN" altLang="en-US" sz="1400" kern="100" dirty="0">
                <a:latin typeface="黑体" panose="02010609060101010101" pitchFamily="49" charset="-122"/>
                <a:ea typeface="黑体" panose="02010609060101010101" pitchFamily="49" charset="-122"/>
                <a:cs typeface="Times New Roman" panose="02020603050405020304" pitchFamily="18" charset="0"/>
              </a:rPr>
              <a:t>。</a:t>
            </a:r>
            <a:endParaRPr lang="zh-CN" altLang="en-US" sz="1400" dirty="0">
              <a:latin typeface="黑体" panose="02010609060101010101" pitchFamily="49" charset="-122"/>
              <a:ea typeface="黑体" panose="02010609060101010101" pitchFamily="49" charset="-122"/>
            </a:endParaRPr>
          </a:p>
        </p:txBody>
      </p:sp>
      <p:sp>
        <p:nvSpPr>
          <p:cNvPr id="22" name="任意多边形: 形状 21">
            <a:extLst>
              <a:ext uri="{FF2B5EF4-FFF2-40B4-BE49-F238E27FC236}">
                <a16:creationId xmlns:a16="http://schemas.microsoft.com/office/drawing/2014/main" xmlns="" id="{062F9424-B138-4146-9F4C-DA77BB472BF1}"/>
              </a:ext>
            </a:extLst>
          </p:cNvPr>
          <p:cNvSpPr/>
          <p:nvPr/>
        </p:nvSpPr>
        <p:spPr>
          <a:xfrm>
            <a:off x="1438724" y="2685591"/>
            <a:ext cx="1750007" cy="468066"/>
          </a:xfrm>
          <a:custGeom>
            <a:avLst/>
            <a:gdLst>
              <a:gd name="connsiteX0" fmla="*/ 0 w 1935480"/>
              <a:gd name="connsiteY0" fmla="*/ 548640 h 548640"/>
              <a:gd name="connsiteX1" fmla="*/ 190500 w 1935480"/>
              <a:gd name="connsiteY1" fmla="*/ 335280 h 548640"/>
              <a:gd name="connsiteX2" fmla="*/ 731520 w 1935480"/>
              <a:gd name="connsiteY2" fmla="*/ 175260 h 548640"/>
              <a:gd name="connsiteX3" fmla="*/ 1935480 w 1935480"/>
              <a:gd name="connsiteY3" fmla="*/ 0 h 548640"/>
            </a:gdLst>
            <a:ahLst/>
            <a:cxnLst>
              <a:cxn ang="0">
                <a:pos x="connsiteX0" y="connsiteY0"/>
              </a:cxn>
              <a:cxn ang="0">
                <a:pos x="connsiteX1" y="connsiteY1"/>
              </a:cxn>
              <a:cxn ang="0">
                <a:pos x="connsiteX2" y="connsiteY2"/>
              </a:cxn>
              <a:cxn ang="0">
                <a:pos x="connsiteX3" y="connsiteY3"/>
              </a:cxn>
            </a:cxnLst>
            <a:rect l="l" t="t" r="r" b="b"/>
            <a:pathLst>
              <a:path w="1935480" h="548640">
                <a:moveTo>
                  <a:pt x="0" y="548640"/>
                </a:moveTo>
                <a:cubicBezTo>
                  <a:pt x="34290" y="473075"/>
                  <a:pt x="68580" y="397510"/>
                  <a:pt x="190500" y="335280"/>
                </a:cubicBezTo>
                <a:cubicBezTo>
                  <a:pt x="312420" y="273050"/>
                  <a:pt x="440690" y="231140"/>
                  <a:pt x="731520" y="175260"/>
                </a:cubicBezTo>
                <a:cubicBezTo>
                  <a:pt x="1022350" y="119380"/>
                  <a:pt x="1478915" y="59690"/>
                  <a:pt x="1935480" y="0"/>
                </a:cubicBezTo>
              </a:path>
            </a:pathLst>
          </a:custGeom>
          <a:noFill/>
          <a:ln w="28575">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 name="组合 57">
            <a:extLst>
              <a:ext uri="{FF2B5EF4-FFF2-40B4-BE49-F238E27FC236}">
                <a16:creationId xmlns:a16="http://schemas.microsoft.com/office/drawing/2014/main" xmlns="" id="{826E52E5-434D-4046-9A4B-CF48A479CF95}"/>
              </a:ext>
            </a:extLst>
          </p:cNvPr>
          <p:cNvGrpSpPr/>
          <p:nvPr/>
        </p:nvGrpSpPr>
        <p:grpSpPr>
          <a:xfrm>
            <a:off x="470311" y="3072075"/>
            <a:ext cx="2386429" cy="460999"/>
            <a:chOff x="470311" y="3003495"/>
            <a:chExt cx="2386429" cy="460999"/>
          </a:xfrm>
        </p:grpSpPr>
        <p:grpSp>
          <p:nvGrpSpPr>
            <p:cNvPr id="46" name="组合 45">
              <a:extLst>
                <a:ext uri="{FF2B5EF4-FFF2-40B4-BE49-F238E27FC236}">
                  <a16:creationId xmlns:a16="http://schemas.microsoft.com/office/drawing/2014/main" xmlns="" id="{6F0EE12C-2378-415B-BBD0-6520E3E6FBE2}"/>
                </a:ext>
              </a:extLst>
            </p:cNvPr>
            <p:cNvGrpSpPr/>
            <p:nvPr/>
          </p:nvGrpSpPr>
          <p:grpSpPr>
            <a:xfrm>
              <a:off x="470311" y="3003495"/>
              <a:ext cx="2386429" cy="460999"/>
              <a:chOff x="470311" y="3003495"/>
              <a:chExt cx="2386429" cy="460999"/>
            </a:xfrm>
          </p:grpSpPr>
          <p:sp>
            <p:nvSpPr>
              <p:cNvPr id="53" name="圆角矩形 86">
                <a:extLst>
                  <a:ext uri="{FF2B5EF4-FFF2-40B4-BE49-F238E27FC236}">
                    <a16:creationId xmlns:a16="http://schemas.microsoft.com/office/drawing/2014/main" xmlns="" id="{3CB40CEF-635A-41ED-BE06-7F20451CE7A5}"/>
                  </a:ext>
                </a:extLst>
              </p:cNvPr>
              <p:cNvSpPr/>
              <p:nvPr/>
            </p:nvSpPr>
            <p:spPr>
              <a:xfrm>
                <a:off x="470311" y="3003495"/>
                <a:ext cx="2386429" cy="460999"/>
              </a:xfrm>
              <a:prstGeom prst="roundRect">
                <a:avLst>
                  <a:gd name="adj" fmla="val 6817"/>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a:extLst>
                  <a:ext uri="{FF2B5EF4-FFF2-40B4-BE49-F238E27FC236}">
                    <a16:creationId xmlns:a16="http://schemas.microsoft.com/office/drawing/2014/main" xmlns="" id="{6651C25B-5D44-4E15-8AE6-8AA32CF68A84}"/>
                  </a:ext>
                </a:extLst>
              </p:cNvPr>
              <p:cNvGraphicFramePr>
                <a:graphicFrameLocks noChangeAspect="1"/>
              </p:cNvGraphicFramePr>
              <p:nvPr/>
            </p:nvGraphicFramePr>
            <p:xfrm>
              <a:off x="633656" y="3062144"/>
              <a:ext cx="1281112" cy="277812"/>
            </p:xfrm>
            <a:graphic>
              <a:graphicData uri="http://schemas.openxmlformats.org/presentationml/2006/ole">
                <mc:AlternateContent xmlns:mc="http://schemas.openxmlformats.org/markup-compatibility/2006">
                  <mc:Choice xmlns:v="urn:schemas-microsoft-com:vml" Requires="v">
                    <p:oleObj spid="_x0000_s33804" name="公式" r:id="rId8" imgW="723600" imgH="177480" progId="Equation.3">
                      <p:embed/>
                    </p:oleObj>
                  </mc:Choice>
                  <mc:Fallback>
                    <p:oleObj name="公式" r:id="rId8" imgW="723600" imgH="177480" progId="Equation.3">
                      <p:embed/>
                      <p:pic>
                        <p:nvPicPr>
                          <p:cNvPr id="7" name="对象 6">
                            <a:extLst>
                              <a:ext uri="{FF2B5EF4-FFF2-40B4-BE49-F238E27FC236}">
                                <a16:creationId xmlns:a16="http://schemas.microsoft.com/office/drawing/2014/main" xmlns="" id="{6651C25B-5D44-4E15-8AE6-8AA32CF68A84}"/>
                              </a:ext>
                            </a:extLst>
                          </p:cNvPr>
                          <p:cNvPicPr>
                            <a:picLocks noChangeAspect="1" noChangeArrowheads="1"/>
                          </p:cNvPicPr>
                          <p:nvPr/>
                        </p:nvPicPr>
                        <p:blipFill>
                          <a:blip r:embed="rId9"/>
                          <a:srcRect/>
                          <a:stretch>
                            <a:fillRect/>
                          </a:stretch>
                        </p:blipFill>
                        <p:spPr bwMode="auto">
                          <a:xfrm>
                            <a:off x="633656" y="3062144"/>
                            <a:ext cx="1281112" cy="277812"/>
                          </a:xfrm>
                          <a:prstGeom prst="rect">
                            <a:avLst/>
                          </a:prstGeom>
                          <a:noFill/>
                        </p:spPr>
                      </p:pic>
                    </p:oleObj>
                  </mc:Fallback>
                </mc:AlternateContent>
              </a:graphicData>
            </a:graphic>
          </p:graphicFrame>
        </p:grpSp>
        <p:cxnSp>
          <p:nvCxnSpPr>
            <p:cNvPr id="28" name="直接连接符 27">
              <a:extLst>
                <a:ext uri="{FF2B5EF4-FFF2-40B4-BE49-F238E27FC236}">
                  <a16:creationId xmlns:a16="http://schemas.microsoft.com/office/drawing/2014/main" xmlns="" id="{E5ADE56F-7919-452C-A91D-ED72761892B2}"/>
                </a:ext>
              </a:extLst>
            </p:cNvPr>
            <p:cNvCxnSpPr/>
            <p:nvPr/>
          </p:nvCxnSpPr>
          <p:spPr>
            <a:xfrm>
              <a:off x="974776" y="3383527"/>
              <a:ext cx="74676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xmlns="" id="{651368BF-AEF5-427F-BF0F-1FB222E18E46}"/>
              </a:ext>
            </a:extLst>
          </p:cNvPr>
          <p:cNvGrpSpPr/>
          <p:nvPr/>
        </p:nvGrpSpPr>
        <p:grpSpPr>
          <a:xfrm>
            <a:off x="1888192" y="3095849"/>
            <a:ext cx="1584112" cy="599973"/>
            <a:chOff x="1888192" y="3027269"/>
            <a:chExt cx="1584112" cy="599973"/>
          </a:xfrm>
        </p:grpSpPr>
        <p:grpSp>
          <p:nvGrpSpPr>
            <p:cNvPr id="57" name="组合 56">
              <a:extLst>
                <a:ext uri="{FF2B5EF4-FFF2-40B4-BE49-F238E27FC236}">
                  <a16:creationId xmlns:a16="http://schemas.microsoft.com/office/drawing/2014/main" xmlns="" id="{4250E2E3-97F6-4781-B11E-469F1C34B955}"/>
                </a:ext>
              </a:extLst>
            </p:cNvPr>
            <p:cNvGrpSpPr/>
            <p:nvPr/>
          </p:nvGrpSpPr>
          <p:grpSpPr>
            <a:xfrm>
              <a:off x="1888192" y="3027269"/>
              <a:ext cx="944562" cy="369332"/>
              <a:chOff x="1888192" y="3027269"/>
              <a:chExt cx="944562" cy="369332"/>
            </a:xfrm>
          </p:grpSpPr>
          <p:grpSp>
            <p:nvGrpSpPr>
              <p:cNvPr id="14" name="组合 13">
                <a:extLst>
                  <a:ext uri="{FF2B5EF4-FFF2-40B4-BE49-F238E27FC236}">
                    <a16:creationId xmlns:a16="http://schemas.microsoft.com/office/drawing/2014/main" xmlns="" id="{3184E18D-C595-4A7C-B838-AEE9599B8115}"/>
                  </a:ext>
                </a:extLst>
              </p:cNvPr>
              <p:cNvGrpSpPr/>
              <p:nvPr/>
            </p:nvGrpSpPr>
            <p:grpSpPr>
              <a:xfrm>
                <a:off x="1888192" y="3027269"/>
                <a:ext cx="944562" cy="369332"/>
                <a:chOff x="3330396" y="3042390"/>
                <a:chExt cx="944562" cy="369332"/>
              </a:xfrm>
            </p:grpSpPr>
            <p:graphicFrame>
              <p:nvGraphicFramePr>
                <p:cNvPr id="41" name="对象 40">
                  <a:extLst>
                    <a:ext uri="{FF2B5EF4-FFF2-40B4-BE49-F238E27FC236}">
                      <a16:creationId xmlns:a16="http://schemas.microsoft.com/office/drawing/2014/main" xmlns="" id="{3D108CF3-88FC-44FD-A045-D3DF80049253}"/>
                    </a:ext>
                  </a:extLst>
                </p:cNvPr>
                <p:cNvGraphicFramePr>
                  <a:graphicFrameLocks noChangeAspect="1"/>
                </p:cNvGraphicFramePr>
                <p:nvPr/>
              </p:nvGraphicFramePr>
              <p:xfrm>
                <a:off x="3330396" y="3100198"/>
                <a:ext cx="944562" cy="298450"/>
              </p:xfrm>
              <a:graphic>
                <a:graphicData uri="http://schemas.openxmlformats.org/presentationml/2006/ole">
                  <mc:AlternateContent xmlns:mc="http://schemas.openxmlformats.org/markup-compatibility/2006">
                    <mc:Choice xmlns:v="urn:schemas-microsoft-com:vml" Requires="v">
                      <p:oleObj spid="_x0000_s33805" name="公式" r:id="rId10" imgW="533160" imgH="190440" progId="Equation.3">
                        <p:embed/>
                      </p:oleObj>
                    </mc:Choice>
                    <mc:Fallback>
                      <p:oleObj name="公式" r:id="rId10" imgW="533160" imgH="190440" progId="Equation.3">
                        <p:embed/>
                        <p:pic>
                          <p:nvPicPr>
                            <p:cNvPr id="41" name="对象 40">
                              <a:extLst>
                                <a:ext uri="{FF2B5EF4-FFF2-40B4-BE49-F238E27FC236}">
                                  <a16:creationId xmlns:a16="http://schemas.microsoft.com/office/drawing/2014/main" xmlns="" id="{3D108CF3-88FC-44FD-A045-D3DF80049253}"/>
                                </a:ext>
                              </a:extLst>
                            </p:cNvPr>
                            <p:cNvPicPr>
                              <a:picLocks noChangeAspect="1" noChangeArrowheads="1"/>
                            </p:cNvPicPr>
                            <p:nvPr/>
                          </p:nvPicPr>
                          <p:blipFill>
                            <a:blip r:embed="rId11"/>
                            <a:srcRect/>
                            <a:stretch>
                              <a:fillRect/>
                            </a:stretch>
                          </p:blipFill>
                          <p:spPr bwMode="auto">
                            <a:xfrm>
                              <a:off x="3330396" y="3100198"/>
                              <a:ext cx="944562" cy="298450"/>
                            </a:xfrm>
                            <a:prstGeom prst="rect">
                              <a:avLst/>
                            </a:prstGeom>
                            <a:noFill/>
                          </p:spPr>
                        </p:pic>
                      </p:oleObj>
                    </mc:Fallback>
                  </mc:AlternateContent>
                </a:graphicData>
              </a:graphic>
            </p:graphicFrame>
            <p:sp>
              <p:nvSpPr>
                <p:cNvPr id="43" name="文本框 42">
                  <a:extLst>
                    <a:ext uri="{FF2B5EF4-FFF2-40B4-BE49-F238E27FC236}">
                      <a16:creationId xmlns:a16="http://schemas.microsoft.com/office/drawing/2014/main" xmlns="" id="{91A1E351-DE17-457B-BB95-2E07469C9E4C}"/>
                    </a:ext>
                  </a:extLst>
                </p:cNvPr>
                <p:cNvSpPr txBox="1"/>
                <p:nvPr/>
              </p:nvSpPr>
              <p:spPr>
                <a:xfrm>
                  <a:off x="3616757" y="3042390"/>
                  <a:ext cx="344963" cy="369332"/>
                </a:xfrm>
                <a:prstGeom prst="rect">
                  <a:avLst/>
                </a:prstGeom>
                <a:noFill/>
              </p:spPr>
              <p:txBody>
                <a:bodyPr wrap="square">
                  <a:spAutoFit/>
                </a:bodyPr>
                <a:lstStyle/>
                <a:p>
                  <a:r>
                    <a:rPr lang="zh-CN" altLang="zh-CN" sz="1800" dirty="0"/>
                    <a:t>⊙</a:t>
                  </a:r>
                  <a:endParaRPr lang="zh-CN" altLang="en-US" dirty="0"/>
                </a:p>
              </p:txBody>
            </p:sp>
          </p:grpSp>
          <p:cxnSp>
            <p:nvCxnSpPr>
              <p:cNvPr id="56" name="直接连接符 55">
                <a:extLst>
                  <a:ext uri="{FF2B5EF4-FFF2-40B4-BE49-F238E27FC236}">
                    <a16:creationId xmlns:a16="http://schemas.microsoft.com/office/drawing/2014/main" xmlns="" id="{28EB38CC-1C57-4A0C-BC5C-308DE4227251}"/>
                  </a:ext>
                </a:extLst>
              </p:cNvPr>
              <p:cNvCxnSpPr>
                <a:cxnSpLocks/>
              </p:cNvCxnSpPr>
              <p:nvPr/>
            </p:nvCxnSpPr>
            <p:spPr>
              <a:xfrm>
                <a:off x="2085994" y="3383527"/>
                <a:ext cx="4971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39" name="任意多边形: 形状 38">
              <a:extLst>
                <a:ext uri="{FF2B5EF4-FFF2-40B4-BE49-F238E27FC236}">
                  <a16:creationId xmlns:a16="http://schemas.microsoft.com/office/drawing/2014/main" xmlns="" id="{61BB6761-3077-4999-9111-875997BE8E68}"/>
                </a:ext>
              </a:extLst>
            </p:cNvPr>
            <p:cNvSpPr/>
            <p:nvPr/>
          </p:nvSpPr>
          <p:spPr>
            <a:xfrm>
              <a:off x="2369820" y="3436620"/>
              <a:ext cx="1102484" cy="190622"/>
            </a:xfrm>
            <a:custGeom>
              <a:avLst/>
              <a:gdLst>
                <a:gd name="connsiteX0" fmla="*/ 0 w 1424940"/>
                <a:gd name="connsiteY0" fmla="*/ 0 h 190622"/>
                <a:gd name="connsiteX1" fmla="*/ 251460 w 1424940"/>
                <a:gd name="connsiteY1" fmla="*/ 190500 h 190622"/>
                <a:gd name="connsiteX2" fmla="*/ 1424940 w 1424940"/>
                <a:gd name="connsiteY2" fmla="*/ 22860 h 190622"/>
              </a:gdLst>
              <a:ahLst/>
              <a:cxnLst>
                <a:cxn ang="0">
                  <a:pos x="connsiteX0" y="connsiteY0"/>
                </a:cxn>
                <a:cxn ang="0">
                  <a:pos x="connsiteX1" y="connsiteY1"/>
                </a:cxn>
                <a:cxn ang="0">
                  <a:pos x="connsiteX2" y="connsiteY2"/>
                </a:cxn>
              </a:cxnLst>
              <a:rect l="l" t="t" r="r" b="b"/>
              <a:pathLst>
                <a:path w="1424940" h="190622">
                  <a:moveTo>
                    <a:pt x="0" y="0"/>
                  </a:moveTo>
                  <a:cubicBezTo>
                    <a:pt x="6985" y="93345"/>
                    <a:pt x="13970" y="186690"/>
                    <a:pt x="251460" y="190500"/>
                  </a:cubicBezTo>
                  <a:cubicBezTo>
                    <a:pt x="488950" y="194310"/>
                    <a:pt x="956945" y="108585"/>
                    <a:pt x="1424940" y="22860"/>
                  </a:cubicBezTo>
                </a:path>
              </a:pathLst>
            </a:custGeom>
            <a:noFill/>
            <a:ln w="28575">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a:extLst>
              <a:ext uri="{FF2B5EF4-FFF2-40B4-BE49-F238E27FC236}">
                <a16:creationId xmlns:a16="http://schemas.microsoft.com/office/drawing/2014/main" xmlns="" id="{7122D7B3-5C5C-4095-B4A1-0B444DA880CB}"/>
              </a:ext>
            </a:extLst>
          </p:cNvPr>
          <p:cNvSpPr txBox="1"/>
          <p:nvPr/>
        </p:nvSpPr>
        <p:spPr>
          <a:xfrm>
            <a:off x="5560859" y="1794240"/>
            <a:ext cx="3512820" cy="593945"/>
          </a:xfrm>
          <a:prstGeom prst="rect">
            <a:avLst/>
          </a:prstGeom>
          <a:noFill/>
        </p:spPr>
        <p:txBody>
          <a:bodyPr wrap="square">
            <a:spAutoFit/>
          </a:bodyPr>
          <a:lstStyle>
            <a:defPPr>
              <a:defRPr lang="zh-CN"/>
            </a:defPPr>
            <a:lvl1pPr indent="358775">
              <a:lnSpc>
                <a:spcPct val="125000"/>
              </a:lnSpc>
              <a:defRPr sz="1400" kern="100">
                <a:latin typeface="黑体" panose="02010609060101010101" pitchFamily="49" charset="-122"/>
                <a:ea typeface="黑体" panose="02010609060101010101" pitchFamily="49" charset="-122"/>
                <a:cs typeface="Times New Roman" panose="02020603050405020304" pitchFamily="18" charset="0"/>
              </a:defRPr>
            </a:lvl1pPr>
          </a:lstStyle>
          <a:p>
            <a:pPr marL="715963" indent="-715963"/>
            <a:r>
              <a:rPr lang="zh-CN" altLang="en-US" b="1" dirty="0">
                <a:solidFill>
                  <a:srgbClr val="CC00CC"/>
                </a:solidFill>
              </a:rPr>
              <a:t>波形图</a:t>
            </a:r>
            <a:r>
              <a:rPr lang="zh-CN" altLang="en-US" dirty="0"/>
              <a:t>：</a:t>
            </a:r>
            <a:r>
              <a:rPr lang="zh-CN" altLang="zh-CN" dirty="0"/>
              <a:t>输入信号波形作用下对应</a:t>
            </a:r>
            <a:r>
              <a:rPr lang="zh-CN" altLang="en-US" dirty="0"/>
              <a:t>的</a:t>
            </a:r>
            <a:r>
              <a:rPr lang="zh-CN" altLang="zh-CN" dirty="0"/>
              <a:t>输出波形</a:t>
            </a:r>
            <a:r>
              <a:rPr lang="zh-CN" altLang="en-US" dirty="0"/>
              <a:t>。</a:t>
            </a:r>
          </a:p>
        </p:txBody>
      </p:sp>
    </p:spTree>
    <p:extLst>
      <p:ext uri="{BB962C8B-B14F-4D97-AF65-F5344CB8AC3E}">
        <p14:creationId xmlns:p14="http://schemas.microsoft.com/office/powerpoint/2010/main" val="2838203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1000"/>
                                        <p:tgtEl>
                                          <p:spTgt spid="24"/>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1000"/>
                                        <p:tgtEl>
                                          <p:spTgt spid="49"/>
                                        </p:tgtEl>
                                        <p:attrNameLst>
                                          <p:attrName>ppt_y</p:attrName>
                                        </p:attrNameLst>
                                      </p:cBhvr>
                                      <p:tavLst>
                                        <p:tav tm="0">
                                          <p:val>
                                            <p:strVal val="#ppt_y+#ppt_h*1.125000"/>
                                          </p:val>
                                        </p:tav>
                                        <p:tav tm="100000">
                                          <p:val>
                                            <p:strVal val="#ppt_y"/>
                                          </p:val>
                                        </p:tav>
                                      </p:tavLst>
                                    </p:anim>
                                    <p:animEffect transition="in" filter="wipe(up)">
                                      <p:cBhvr>
                                        <p:cTn id="12" dur="10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1000"/>
                                        <p:tgtEl>
                                          <p:spTgt spid="58"/>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750"/>
                                        <p:tgtEl>
                                          <p:spTgt spid="22"/>
                                        </p:tgtEl>
                                      </p:cBhvr>
                                    </p:animEffect>
                                  </p:childTnLst>
                                </p:cTn>
                              </p:par>
                            </p:childTnLst>
                          </p:cTn>
                        </p:par>
                        <p:par>
                          <p:cTn id="22" fill="hold">
                            <p:stCondLst>
                              <p:cond delay="1750"/>
                            </p:stCondLst>
                            <p:childTnLst>
                              <p:par>
                                <p:cTn id="23" presetID="22" presetClass="entr" presetSubtype="8"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left)">
                                      <p:cBhvr>
                                        <p:cTn id="25" dur="10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wipe(left)">
                                      <p:cBhvr>
                                        <p:cTn id="30" dur="1000"/>
                                        <p:tgtEl>
                                          <p:spTgt spid="59"/>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slide(fromBottom)">
                                      <p:cBhvr>
                                        <p:cTn id="35" dur="1000"/>
                                        <p:tgtEl>
                                          <p:spTgt spid="31"/>
                                        </p:tgtEl>
                                      </p:cBhvr>
                                    </p:animEffect>
                                  </p:childTnLst>
                                </p:cTn>
                              </p:par>
                            </p:childTnLst>
                          </p:cTn>
                        </p:par>
                        <p:par>
                          <p:cTn id="36" fill="hold">
                            <p:stCondLst>
                              <p:cond delay="1000"/>
                            </p:stCondLst>
                            <p:childTnLst>
                              <p:par>
                                <p:cTn id="37" presetID="42" presetClass="entr" presetSubtype="0" fill="hold" grpId="0" nodeType="after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fade">
                                      <p:cBhvr>
                                        <p:cTn id="39" dur="1000"/>
                                        <p:tgtEl>
                                          <p:spTgt spid="63"/>
                                        </p:tgtEl>
                                      </p:cBhvr>
                                    </p:animEffect>
                                    <p:anim calcmode="lin" valueType="num">
                                      <p:cBhvr>
                                        <p:cTn id="40" dur="1000" fill="hold"/>
                                        <p:tgtEl>
                                          <p:spTgt spid="63"/>
                                        </p:tgtEl>
                                        <p:attrNameLst>
                                          <p:attrName>ppt_x</p:attrName>
                                        </p:attrNameLst>
                                      </p:cBhvr>
                                      <p:tavLst>
                                        <p:tav tm="0">
                                          <p:val>
                                            <p:strVal val="#ppt_x"/>
                                          </p:val>
                                        </p:tav>
                                        <p:tav tm="100000">
                                          <p:val>
                                            <p:strVal val="#ppt_x"/>
                                          </p:val>
                                        </p:tav>
                                      </p:tavLst>
                                    </p:anim>
                                    <p:anim calcmode="lin" valueType="num">
                                      <p:cBhvr>
                                        <p:cTn id="41"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slide(fromBottom)">
                                      <p:cBhvr>
                                        <p:cTn id="46" dur="10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slide(fromBottom)">
                                      <p:cBhvr>
                                        <p:cTn id="51"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22" grpId="0" animBg="1"/>
      <p:bldP spid="63" grpId="0"/>
    </p:bldLst>
  </p:timing>
</p:sld>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11174</TotalTime>
  <Words>6106</Words>
  <Application>Microsoft Office PowerPoint</Application>
  <PresentationFormat>全屏显示(16:9)</PresentationFormat>
  <Paragraphs>2174</Paragraphs>
  <Slides>52</Slides>
  <Notes>51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vt:i4>
      </vt:variant>
      <vt:variant>
        <vt:lpstr>幻灯片标题</vt:lpstr>
      </vt:variant>
      <vt:variant>
        <vt:i4>52</vt:i4>
      </vt:variant>
    </vt:vector>
  </HeadingPairs>
  <TitlesOfParts>
    <vt:vector size="72" baseType="lpstr">
      <vt:lpstr>等线</vt:lpstr>
      <vt:lpstr>方正粗黑宋简体</vt:lpstr>
      <vt:lpstr>方正大黑简体</vt:lpstr>
      <vt:lpstr>黑体</vt:lpstr>
      <vt:lpstr>华文新魏</vt:lpstr>
      <vt:lpstr>楷体</vt:lpstr>
      <vt:lpstr>楷体_GB2312</vt:lpstr>
      <vt:lpstr>宋体</vt:lpstr>
      <vt:lpstr>微软雅黑</vt:lpstr>
      <vt:lpstr>Arial</vt:lpstr>
      <vt:lpstr>Calibri</vt:lpstr>
      <vt:lpstr>Symbol</vt:lpstr>
      <vt:lpstr>Times</vt:lpstr>
      <vt:lpstr>Times New Roman</vt:lpstr>
      <vt:lpstr>Wingdings</vt:lpstr>
      <vt:lpstr>Office 主题</vt:lpstr>
      <vt:lpstr>位图图像</vt:lpstr>
      <vt:lpstr>Visio</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Administrator</cp:lastModifiedBy>
  <cp:revision>927</cp:revision>
  <dcterms:created xsi:type="dcterms:W3CDTF">2015-01-13T10:49:01Z</dcterms:created>
  <dcterms:modified xsi:type="dcterms:W3CDTF">2024-09-09T12:37:18Z</dcterms:modified>
</cp:coreProperties>
</file>