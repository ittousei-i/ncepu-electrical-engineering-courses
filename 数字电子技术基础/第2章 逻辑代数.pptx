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41"/>
  </p:notesMasterIdLst>
  <p:sldIdLst>
    <p:sldId id="256" r:id="rId2"/>
    <p:sldId id="334" r:id="rId3"/>
    <p:sldId id="358" r:id="rId4"/>
    <p:sldId id="356" r:id="rId5"/>
    <p:sldId id="346" r:id="rId6"/>
    <p:sldId id="347" r:id="rId7"/>
    <p:sldId id="348" r:id="rId8"/>
    <p:sldId id="350" r:id="rId9"/>
    <p:sldId id="349" r:id="rId10"/>
    <p:sldId id="359" r:id="rId11"/>
    <p:sldId id="351" r:id="rId12"/>
    <p:sldId id="352" r:id="rId13"/>
    <p:sldId id="353" r:id="rId14"/>
    <p:sldId id="354" r:id="rId15"/>
    <p:sldId id="355" r:id="rId16"/>
    <p:sldId id="360" r:id="rId17"/>
    <p:sldId id="335" r:id="rId18"/>
    <p:sldId id="361" r:id="rId19"/>
    <p:sldId id="362" r:id="rId20"/>
    <p:sldId id="363" r:id="rId21"/>
    <p:sldId id="372" r:id="rId22"/>
    <p:sldId id="357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64" r:id="rId31"/>
    <p:sldId id="365" r:id="rId32"/>
    <p:sldId id="380" r:id="rId33"/>
    <p:sldId id="366" r:id="rId34"/>
    <p:sldId id="367" r:id="rId35"/>
    <p:sldId id="368" r:id="rId36"/>
    <p:sldId id="369" r:id="rId37"/>
    <p:sldId id="381" r:id="rId38"/>
    <p:sldId id="370" r:id="rId39"/>
    <p:sldId id="371" r:id="rId4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5375" userDrawn="1">
          <p15:clr>
            <a:srgbClr val="A4A3A4"/>
          </p15:clr>
        </p15:guide>
        <p15:guide id="3" pos="385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  <p15:guide id="5" orient="horz" pos="288">
          <p15:clr>
            <a:srgbClr val="A4A3A4"/>
          </p15:clr>
        </p15:guide>
        <p15:guide id="6" orient="horz" pos="33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0070C0"/>
    <a:srgbClr val="0000FF"/>
    <a:srgbClr val="262626"/>
    <a:srgbClr val="CC00CC"/>
    <a:srgbClr val="FF00FF"/>
    <a:srgbClr val="66FF66"/>
    <a:srgbClr val="66FFCC"/>
    <a:srgbClr val="FF66F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7" autoAdjust="0"/>
    <p:restoredTop sz="94645" autoAdjust="0"/>
  </p:normalViewPr>
  <p:slideViewPr>
    <p:cSldViewPr snapToGrid="0" showGuides="1">
      <p:cViewPr varScale="1">
        <p:scale>
          <a:sx n="88" d="100"/>
          <a:sy n="88" d="100"/>
        </p:scale>
        <p:origin x="1284" y="78"/>
      </p:cViewPr>
      <p:guideLst>
        <p:guide orient="horz" pos="346"/>
        <p:guide pos="5375"/>
        <p:guide pos="385"/>
        <p:guide orient="horz" pos="3997"/>
        <p:guide orient="horz" pos="288"/>
        <p:guide orient="horz" pos="33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image" Target="../media/image105.wmf"/><Relationship Id="rId18" Type="http://schemas.openxmlformats.org/officeDocument/2006/relationships/image" Target="../media/image110.wmf"/><Relationship Id="rId26" Type="http://schemas.openxmlformats.org/officeDocument/2006/relationships/image" Target="../media/image118.wmf"/><Relationship Id="rId3" Type="http://schemas.openxmlformats.org/officeDocument/2006/relationships/image" Target="../media/image95.wmf"/><Relationship Id="rId21" Type="http://schemas.openxmlformats.org/officeDocument/2006/relationships/image" Target="../media/image113.wmf"/><Relationship Id="rId7" Type="http://schemas.openxmlformats.org/officeDocument/2006/relationships/image" Target="../media/image99.wmf"/><Relationship Id="rId12" Type="http://schemas.openxmlformats.org/officeDocument/2006/relationships/image" Target="../media/image104.wmf"/><Relationship Id="rId17" Type="http://schemas.openxmlformats.org/officeDocument/2006/relationships/image" Target="../media/image109.wmf"/><Relationship Id="rId25" Type="http://schemas.openxmlformats.org/officeDocument/2006/relationships/image" Target="../media/image117.wmf"/><Relationship Id="rId2" Type="http://schemas.openxmlformats.org/officeDocument/2006/relationships/image" Target="../media/image94.emf"/><Relationship Id="rId16" Type="http://schemas.openxmlformats.org/officeDocument/2006/relationships/image" Target="../media/image108.wmf"/><Relationship Id="rId20" Type="http://schemas.openxmlformats.org/officeDocument/2006/relationships/image" Target="../media/image112.wmf"/><Relationship Id="rId29" Type="http://schemas.openxmlformats.org/officeDocument/2006/relationships/image" Target="../media/image121.wmf"/><Relationship Id="rId1" Type="http://schemas.openxmlformats.org/officeDocument/2006/relationships/image" Target="../media/image93.e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24" Type="http://schemas.openxmlformats.org/officeDocument/2006/relationships/image" Target="../media/image116.wmf"/><Relationship Id="rId5" Type="http://schemas.openxmlformats.org/officeDocument/2006/relationships/image" Target="../media/image97.wmf"/><Relationship Id="rId15" Type="http://schemas.openxmlformats.org/officeDocument/2006/relationships/image" Target="../media/image107.wmf"/><Relationship Id="rId23" Type="http://schemas.openxmlformats.org/officeDocument/2006/relationships/image" Target="../media/image115.wmf"/><Relationship Id="rId28" Type="http://schemas.openxmlformats.org/officeDocument/2006/relationships/image" Target="../media/image120.wmf"/><Relationship Id="rId10" Type="http://schemas.openxmlformats.org/officeDocument/2006/relationships/image" Target="../media/image102.wmf"/><Relationship Id="rId19" Type="http://schemas.openxmlformats.org/officeDocument/2006/relationships/image" Target="../media/image111.wmf"/><Relationship Id="rId31" Type="http://schemas.openxmlformats.org/officeDocument/2006/relationships/image" Target="../media/image123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Relationship Id="rId14" Type="http://schemas.openxmlformats.org/officeDocument/2006/relationships/image" Target="../media/image106.wmf"/><Relationship Id="rId22" Type="http://schemas.openxmlformats.org/officeDocument/2006/relationships/image" Target="../media/image114.wmf"/><Relationship Id="rId27" Type="http://schemas.openxmlformats.org/officeDocument/2006/relationships/image" Target="../media/image119.wmf"/><Relationship Id="rId30" Type="http://schemas.openxmlformats.org/officeDocument/2006/relationships/image" Target="../media/image122.wmf"/></Relationships>
</file>

<file path=ppt/drawings/_rels/vmlDrawing16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wmf"/><Relationship Id="rId18" Type="http://schemas.openxmlformats.org/officeDocument/2006/relationships/image" Target="../media/image141.wmf"/><Relationship Id="rId26" Type="http://schemas.openxmlformats.org/officeDocument/2006/relationships/image" Target="../media/image149.wmf"/><Relationship Id="rId3" Type="http://schemas.openxmlformats.org/officeDocument/2006/relationships/image" Target="../media/image126.wmf"/><Relationship Id="rId21" Type="http://schemas.openxmlformats.org/officeDocument/2006/relationships/image" Target="../media/image144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17" Type="http://schemas.openxmlformats.org/officeDocument/2006/relationships/image" Target="../media/image140.wmf"/><Relationship Id="rId25" Type="http://schemas.openxmlformats.org/officeDocument/2006/relationships/image" Target="../media/image148.wmf"/><Relationship Id="rId33" Type="http://schemas.openxmlformats.org/officeDocument/2006/relationships/image" Target="../media/image156.wmf"/><Relationship Id="rId2" Type="http://schemas.openxmlformats.org/officeDocument/2006/relationships/image" Target="../media/image125.wmf"/><Relationship Id="rId16" Type="http://schemas.openxmlformats.org/officeDocument/2006/relationships/image" Target="../media/image139.wmf"/><Relationship Id="rId20" Type="http://schemas.openxmlformats.org/officeDocument/2006/relationships/image" Target="../media/image143.wmf"/><Relationship Id="rId29" Type="http://schemas.openxmlformats.org/officeDocument/2006/relationships/image" Target="../media/image152.wmf"/><Relationship Id="rId1" Type="http://schemas.openxmlformats.org/officeDocument/2006/relationships/image" Target="../media/image124.e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24" Type="http://schemas.openxmlformats.org/officeDocument/2006/relationships/image" Target="../media/image147.wmf"/><Relationship Id="rId32" Type="http://schemas.openxmlformats.org/officeDocument/2006/relationships/image" Target="../media/image155.wmf"/><Relationship Id="rId5" Type="http://schemas.openxmlformats.org/officeDocument/2006/relationships/image" Target="../media/image128.wmf"/><Relationship Id="rId15" Type="http://schemas.openxmlformats.org/officeDocument/2006/relationships/image" Target="../media/image138.wmf"/><Relationship Id="rId23" Type="http://schemas.openxmlformats.org/officeDocument/2006/relationships/image" Target="../media/image146.wmf"/><Relationship Id="rId28" Type="http://schemas.openxmlformats.org/officeDocument/2006/relationships/image" Target="../media/image151.wmf"/><Relationship Id="rId10" Type="http://schemas.openxmlformats.org/officeDocument/2006/relationships/image" Target="../media/image133.wmf"/><Relationship Id="rId19" Type="http://schemas.openxmlformats.org/officeDocument/2006/relationships/image" Target="../media/image142.wmf"/><Relationship Id="rId31" Type="http://schemas.openxmlformats.org/officeDocument/2006/relationships/image" Target="../media/image154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Relationship Id="rId22" Type="http://schemas.openxmlformats.org/officeDocument/2006/relationships/image" Target="../media/image145.wmf"/><Relationship Id="rId27" Type="http://schemas.openxmlformats.org/officeDocument/2006/relationships/image" Target="../media/image150.wmf"/><Relationship Id="rId30" Type="http://schemas.openxmlformats.org/officeDocument/2006/relationships/image" Target="../media/image153.wmf"/><Relationship Id="rId8" Type="http://schemas.openxmlformats.org/officeDocument/2006/relationships/image" Target="../media/image13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emf"/><Relationship Id="rId1" Type="http://schemas.openxmlformats.org/officeDocument/2006/relationships/image" Target="../media/image16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2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wmf"/><Relationship Id="rId1" Type="http://schemas.openxmlformats.org/officeDocument/2006/relationships/image" Target="../media/image16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9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2" Type="http://schemas.openxmlformats.org/officeDocument/2006/relationships/image" Target="../media/image171.wmf"/><Relationship Id="rId1" Type="http://schemas.openxmlformats.org/officeDocument/2006/relationships/image" Target="../media/image170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emf"/><Relationship Id="rId4" Type="http://schemas.openxmlformats.org/officeDocument/2006/relationships/image" Target="../media/image17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8.wmf"/><Relationship Id="rId1" Type="http://schemas.openxmlformats.org/officeDocument/2006/relationships/image" Target="../media/image177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emf"/><Relationship Id="rId1" Type="http://schemas.openxmlformats.org/officeDocument/2006/relationships/image" Target="../media/image179.emf"/><Relationship Id="rId4" Type="http://schemas.openxmlformats.org/officeDocument/2006/relationships/image" Target="../media/image182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image" Target="../media/image185.emf"/><Relationship Id="rId7" Type="http://schemas.openxmlformats.org/officeDocument/2006/relationships/image" Target="../media/image189.w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Relationship Id="rId6" Type="http://schemas.openxmlformats.org/officeDocument/2006/relationships/image" Target="../media/image188.emf"/><Relationship Id="rId5" Type="http://schemas.openxmlformats.org/officeDocument/2006/relationships/image" Target="../media/image187.emf"/><Relationship Id="rId4" Type="http://schemas.openxmlformats.org/officeDocument/2006/relationships/image" Target="../media/image186.emf"/><Relationship Id="rId9" Type="http://schemas.openxmlformats.org/officeDocument/2006/relationships/image" Target="../media/image191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2" Type="http://schemas.openxmlformats.org/officeDocument/2006/relationships/image" Target="../media/image195.emf"/><Relationship Id="rId1" Type="http://schemas.openxmlformats.org/officeDocument/2006/relationships/image" Target="../media/image194.emf"/><Relationship Id="rId4" Type="http://schemas.openxmlformats.org/officeDocument/2006/relationships/image" Target="../media/image19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77B4-E4B4-4D3C-A9C5-EB900FF3B15E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5EBB-275F-4C24-B082-C5EEF1435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49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2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73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854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38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533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00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024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717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32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38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060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172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22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977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574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2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623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714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944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223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998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309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1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159130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55980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5737860" cy="601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" y="556042"/>
            <a:ext cx="9143999" cy="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2" y="25401"/>
            <a:ext cx="2307724" cy="478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6789420" y="0"/>
            <a:ext cx="2354580" cy="55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数据 12"/>
          <p:cNvSpPr/>
          <p:nvPr/>
        </p:nvSpPr>
        <p:spPr>
          <a:xfrm>
            <a:off x="4846320" y="0"/>
            <a:ext cx="3855720" cy="558800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38803" y="1"/>
            <a:ext cx="32289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zh-CN" altLang="en-US" sz="2400" b="1" cap="none" spc="0" dirty="0">
                <a:ln w="12700">
                  <a:solidFill>
                    <a:schemeClr val="bg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数字电子技术基础</a:t>
            </a:r>
          </a:p>
        </p:txBody>
      </p:sp>
    </p:spTree>
    <p:extLst>
      <p:ext uri="{BB962C8B-B14F-4D97-AF65-F5344CB8AC3E}">
        <p14:creationId xmlns:p14="http://schemas.microsoft.com/office/powerpoint/2010/main" val="403510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8.wmf"/><Relationship Id="rId5" Type="http://schemas.openxmlformats.org/officeDocument/2006/relationships/image" Target="../media/image10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9.png"/><Relationship Id="rId9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7.wmf"/><Relationship Id="rId26" Type="http://schemas.openxmlformats.org/officeDocument/2006/relationships/image" Target="../media/image21.wmf"/><Relationship Id="rId3" Type="http://schemas.openxmlformats.org/officeDocument/2006/relationships/notesSlide" Target="../notesSlides/notesSlide6.xml"/><Relationship Id="rId21" Type="http://schemas.openxmlformats.org/officeDocument/2006/relationships/oleObject" Target="../embeddings/oleObject12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20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22.wmf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9.png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6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image" Target="../media/image25.w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18.bin"/><Relationship Id="rId4" Type="http://schemas.openxmlformats.org/officeDocument/2006/relationships/image" Target="../media/image9.png"/><Relationship Id="rId9" Type="http://schemas.openxmlformats.org/officeDocument/2006/relationships/image" Target="../media/image29.png"/><Relationship Id="rId14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10.png"/><Relationship Id="rId18" Type="http://schemas.openxmlformats.org/officeDocument/2006/relationships/oleObject" Target="../embeddings/oleObject28.bin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33.wmf"/><Relationship Id="rId1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image" Target="../media/image34.wmf"/><Relationship Id="rId10" Type="http://schemas.openxmlformats.org/officeDocument/2006/relationships/image" Target="../media/image32.wmf"/><Relationship Id="rId19" Type="http://schemas.openxmlformats.org/officeDocument/2006/relationships/image" Target="../media/image36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24.bin"/><Relationship Id="rId14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9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png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7.w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3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52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9.png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0.wmf"/><Relationship Id="rId1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oleObject" Target="../embeddings/oleObject48.bin"/><Relationship Id="rId18" Type="http://schemas.openxmlformats.org/officeDocument/2006/relationships/oleObject" Target="../embeddings/oleObject51.bin"/><Relationship Id="rId26" Type="http://schemas.openxmlformats.org/officeDocument/2006/relationships/image" Target="../media/image64.png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61.wmf"/><Relationship Id="rId7" Type="http://schemas.openxmlformats.org/officeDocument/2006/relationships/image" Target="../media/image55.wmf"/><Relationship Id="rId12" Type="http://schemas.openxmlformats.org/officeDocument/2006/relationships/image" Target="../media/image9.png"/><Relationship Id="rId17" Type="http://schemas.openxmlformats.org/officeDocument/2006/relationships/oleObject" Target="../embeddings/oleObject50.bin"/><Relationship Id="rId25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wmf"/><Relationship Id="rId20" Type="http://schemas.openxmlformats.org/officeDocument/2006/relationships/oleObject" Target="../embeddings/oleObject52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7.wmf"/><Relationship Id="rId24" Type="http://schemas.openxmlformats.org/officeDocument/2006/relationships/oleObject" Target="../embeddings/oleObject54.bin"/><Relationship Id="rId5" Type="http://schemas.openxmlformats.org/officeDocument/2006/relationships/image" Target="../media/image54.wmf"/><Relationship Id="rId15" Type="http://schemas.openxmlformats.org/officeDocument/2006/relationships/oleObject" Target="../embeddings/oleObject49.bin"/><Relationship Id="rId23" Type="http://schemas.openxmlformats.org/officeDocument/2006/relationships/image" Target="../media/image62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60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6.wmf"/><Relationship Id="rId14" Type="http://schemas.openxmlformats.org/officeDocument/2006/relationships/image" Target="../media/image58.wmf"/><Relationship Id="rId22" Type="http://schemas.openxmlformats.org/officeDocument/2006/relationships/oleObject" Target="../embeddings/oleObject5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9.wmf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2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image" Target="../media/image71.png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70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77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73.wmf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1.bin"/><Relationship Id="rId11" Type="http://schemas.openxmlformats.org/officeDocument/2006/relationships/oleObject" Target="../embeddings/oleObject63.bin"/><Relationship Id="rId5" Type="http://schemas.openxmlformats.org/officeDocument/2006/relationships/image" Target="../media/image76.png"/><Relationship Id="rId10" Type="http://schemas.openxmlformats.org/officeDocument/2006/relationships/image" Target="../media/image64.png"/><Relationship Id="rId4" Type="http://schemas.openxmlformats.org/officeDocument/2006/relationships/image" Target="../media/image9.png"/><Relationship Id="rId9" Type="http://schemas.openxmlformats.org/officeDocument/2006/relationships/image" Target="../media/image7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4.bin"/><Relationship Id="rId7" Type="http://schemas.openxmlformats.org/officeDocument/2006/relationships/image" Target="../media/image80.wmf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5.bin"/><Relationship Id="rId11" Type="http://schemas.openxmlformats.org/officeDocument/2006/relationships/oleObject" Target="../embeddings/oleObject67.bin"/><Relationship Id="rId5" Type="http://schemas.openxmlformats.org/officeDocument/2006/relationships/image" Target="../media/image9.png"/><Relationship Id="rId15" Type="http://schemas.openxmlformats.org/officeDocument/2006/relationships/image" Target="../media/image83.wmf"/><Relationship Id="rId10" Type="http://schemas.openxmlformats.org/officeDocument/2006/relationships/image" Target="../media/image84.png"/><Relationship Id="rId4" Type="http://schemas.openxmlformats.org/officeDocument/2006/relationships/image" Target="../media/image79.wmf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6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89.wmf"/><Relationship Id="rId3" Type="http://schemas.openxmlformats.org/officeDocument/2006/relationships/image" Target="../media/image9.png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73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75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76.bin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3.wmf"/><Relationship Id="rId21" Type="http://schemas.openxmlformats.org/officeDocument/2006/relationships/oleObject" Target="../embeddings/oleObject86.bin"/><Relationship Id="rId34" Type="http://schemas.openxmlformats.org/officeDocument/2006/relationships/oleObject" Target="../embeddings/oleObject93.bin"/><Relationship Id="rId42" Type="http://schemas.openxmlformats.org/officeDocument/2006/relationships/oleObject" Target="../embeddings/oleObject97.bin"/><Relationship Id="rId47" Type="http://schemas.openxmlformats.org/officeDocument/2006/relationships/image" Target="../media/image113.wmf"/><Relationship Id="rId50" Type="http://schemas.openxmlformats.org/officeDocument/2006/relationships/oleObject" Target="../embeddings/oleObject101.bin"/><Relationship Id="rId55" Type="http://schemas.openxmlformats.org/officeDocument/2006/relationships/image" Target="../media/image117.wmf"/><Relationship Id="rId63" Type="http://schemas.openxmlformats.org/officeDocument/2006/relationships/oleObject" Target="../embeddings/oleObject108.bin"/><Relationship Id="rId68" Type="http://schemas.openxmlformats.org/officeDocument/2006/relationships/image" Target="../media/image123.wmf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8.wmf"/><Relationship Id="rId29" Type="http://schemas.openxmlformats.org/officeDocument/2006/relationships/image" Target="../media/image104.w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102.wmf"/><Relationship Id="rId32" Type="http://schemas.openxmlformats.org/officeDocument/2006/relationships/oleObject" Target="../embeddings/oleObject92.bin"/><Relationship Id="rId37" Type="http://schemas.openxmlformats.org/officeDocument/2006/relationships/image" Target="../media/image108.wmf"/><Relationship Id="rId40" Type="http://schemas.openxmlformats.org/officeDocument/2006/relationships/oleObject" Target="../embeddings/oleObject96.bin"/><Relationship Id="rId45" Type="http://schemas.openxmlformats.org/officeDocument/2006/relationships/image" Target="../media/image112.wmf"/><Relationship Id="rId53" Type="http://schemas.openxmlformats.org/officeDocument/2006/relationships/image" Target="../media/image116.wmf"/><Relationship Id="rId58" Type="http://schemas.openxmlformats.org/officeDocument/2006/relationships/oleObject" Target="../embeddings/oleObject105.bin"/><Relationship Id="rId66" Type="http://schemas.openxmlformats.org/officeDocument/2006/relationships/image" Target="../media/image122.wmf"/><Relationship Id="rId5" Type="http://schemas.openxmlformats.org/officeDocument/2006/relationships/oleObject" Target="../embeddings/oleObject78.bin"/><Relationship Id="rId61" Type="http://schemas.openxmlformats.org/officeDocument/2006/relationships/oleObject" Target="../embeddings/oleObject107.bin"/><Relationship Id="rId19" Type="http://schemas.openxmlformats.org/officeDocument/2006/relationships/oleObject" Target="../embeddings/oleObject85.bin"/><Relationship Id="rId14" Type="http://schemas.openxmlformats.org/officeDocument/2006/relationships/image" Target="../media/image97.wmf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89.bin"/><Relationship Id="rId30" Type="http://schemas.openxmlformats.org/officeDocument/2006/relationships/oleObject" Target="../embeddings/oleObject91.bin"/><Relationship Id="rId35" Type="http://schemas.openxmlformats.org/officeDocument/2006/relationships/image" Target="../media/image107.wmf"/><Relationship Id="rId43" Type="http://schemas.openxmlformats.org/officeDocument/2006/relationships/image" Target="../media/image111.wmf"/><Relationship Id="rId48" Type="http://schemas.openxmlformats.org/officeDocument/2006/relationships/oleObject" Target="../embeddings/oleObject100.bin"/><Relationship Id="rId56" Type="http://schemas.openxmlformats.org/officeDocument/2006/relationships/oleObject" Target="../embeddings/oleObject104.bin"/><Relationship Id="rId64" Type="http://schemas.openxmlformats.org/officeDocument/2006/relationships/image" Target="../media/image121.wmf"/><Relationship Id="rId8" Type="http://schemas.openxmlformats.org/officeDocument/2006/relationships/image" Target="../media/image94.emf"/><Relationship Id="rId51" Type="http://schemas.openxmlformats.org/officeDocument/2006/relationships/image" Target="../media/image115.wmf"/><Relationship Id="rId3" Type="http://schemas.openxmlformats.org/officeDocument/2006/relationships/notesSlide" Target="../notesSlides/notesSlide18.xml"/><Relationship Id="rId12" Type="http://schemas.openxmlformats.org/officeDocument/2006/relationships/image" Target="../media/image96.wmf"/><Relationship Id="rId17" Type="http://schemas.openxmlformats.org/officeDocument/2006/relationships/oleObject" Target="../embeddings/oleObject84.bin"/><Relationship Id="rId25" Type="http://schemas.openxmlformats.org/officeDocument/2006/relationships/oleObject" Target="../embeddings/oleObject88.bin"/><Relationship Id="rId33" Type="http://schemas.openxmlformats.org/officeDocument/2006/relationships/image" Target="../media/image106.wmf"/><Relationship Id="rId38" Type="http://schemas.openxmlformats.org/officeDocument/2006/relationships/oleObject" Target="../embeddings/oleObject95.bin"/><Relationship Id="rId46" Type="http://schemas.openxmlformats.org/officeDocument/2006/relationships/oleObject" Target="../embeddings/oleObject99.bin"/><Relationship Id="rId59" Type="http://schemas.openxmlformats.org/officeDocument/2006/relationships/image" Target="../media/image119.wmf"/><Relationship Id="rId67" Type="http://schemas.openxmlformats.org/officeDocument/2006/relationships/oleObject" Target="../embeddings/oleObject110.bin"/><Relationship Id="rId20" Type="http://schemas.openxmlformats.org/officeDocument/2006/relationships/image" Target="../media/image100.wmf"/><Relationship Id="rId41" Type="http://schemas.openxmlformats.org/officeDocument/2006/relationships/image" Target="../media/image110.wmf"/><Relationship Id="rId54" Type="http://schemas.openxmlformats.org/officeDocument/2006/relationships/oleObject" Target="../embeddings/oleObject103.bin"/><Relationship Id="rId62" Type="http://schemas.openxmlformats.org/officeDocument/2006/relationships/image" Target="../media/image12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3.emf"/><Relationship Id="rId15" Type="http://schemas.openxmlformats.org/officeDocument/2006/relationships/oleObject" Target="../embeddings/oleObject83.bin"/><Relationship Id="rId23" Type="http://schemas.openxmlformats.org/officeDocument/2006/relationships/oleObject" Target="../embeddings/oleObject87.bin"/><Relationship Id="rId28" Type="http://schemas.openxmlformats.org/officeDocument/2006/relationships/oleObject" Target="../embeddings/oleObject90.bin"/><Relationship Id="rId36" Type="http://schemas.openxmlformats.org/officeDocument/2006/relationships/oleObject" Target="../embeddings/oleObject94.bin"/><Relationship Id="rId49" Type="http://schemas.openxmlformats.org/officeDocument/2006/relationships/image" Target="../media/image114.wmf"/><Relationship Id="rId57" Type="http://schemas.openxmlformats.org/officeDocument/2006/relationships/image" Target="../media/image118.wmf"/><Relationship Id="rId10" Type="http://schemas.openxmlformats.org/officeDocument/2006/relationships/image" Target="../media/image95.wmf"/><Relationship Id="rId31" Type="http://schemas.openxmlformats.org/officeDocument/2006/relationships/image" Target="../media/image105.wmf"/><Relationship Id="rId44" Type="http://schemas.openxmlformats.org/officeDocument/2006/relationships/oleObject" Target="../embeddings/oleObject98.bin"/><Relationship Id="rId52" Type="http://schemas.openxmlformats.org/officeDocument/2006/relationships/oleObject" Target="../embeddings/oleObject102.bin"/><Relationship Id="rId60" Type="http://schemas.openxmlformats.org/officeDocument/2006/relationships/oleObject" Target="../embeddings/oleObject106.bin"/><Relationship Id="rId65" Type="http://schemas.openxmlformats.org/officeDocument/2006/relationships/oleObject" Target="../embeddings/oleObject109.bin"/><Relationship Id="rId4" Type="http://schemas.openxmlformats.org/officeDocument/2006/relationships/image" Target="../media/image9.png"/><Relationship Id="rId9" Type="http://schemas.openxmlformats.org/officeDocument/2006/relationships/oleObject" Target="../embeddings/oleObject80.bin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99.wmf"/><Relationship Id="rId39" Type="http://schemas.openxmlformats.org/officeDocument/2006/relationships/image" Target="../media/image109.wmf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4.wmf"/><Relationship Id="rId21" Type="http://schemas.openxmlformats.org/officeDocument/2006/relationships/oleObject" Target="../embeddings/oleObject119.bin"/><Relationship Id="rId42" Type="http://schemas.openxmlformats.org/officeDocument/2006/relationships/image" Target="../media/image142.wmf"/><Relationship Id="rId47" Type="http://schemas.openxmlformats.org/officeDocument/2006/relationships/oleObject" Target="../embeddings/oleObject132.bin"/><Relationship Id="rId63" Type="http://schemas.openxmlformats.org/officeDocument/2006/relationships/oleObject" Target="../embeddings/oleObject140.bin"/><Relationship Id="rId68" Type="http://schemas.openxmlformats.org/officeDocument/2006/relationships/image" Target="../media/image155.wmf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9.wmf"/><Relationship Id="rId29" Type="http://schemas.openxmlformats.org/officeDocument/2006/relationships/oleObject" Target="../embeddings/oleObject123.bin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133.wmf"/><Relationship Id="rId32" Type="http://schemas.openxmlformats.org/officeDocument/2006/relationships/image" Target="../media/image137.wmf"/><Relationship Id="rId37" Type="http://schemas.openxmlformats.org/officeDocument/2006/relationships/oleObject" Target="../embeddings/oleObject127.bin"/><Relationship Id="rId40" Type="http://schemas.openxmlformats.org/officeDocument/2006/relationships/image" Target="../media/image141.wmf"/><Relationship Id="rId45" Type="http://schemas.openxmlformats.org/officeDocument/2006/relationships/oleObject" Target="../embeddings/oleObject131.bin"/><Relationship Id="rId53" Type="http://schemas.openxmlformats.org/officeDocument/2006/relationships/oleObject" Target="../embeddings/oleObject135.bin"/><Relationship Id="rId58" Type="http://schemas.openxmlformats.org/officeDocument/2006/relationships/image" Target="../media/image150.wmf"/><Relationship Id="rId66" Type="http://schemas.openxmlformats.org/officeDocument/2006/relationships/image" Target="../media/image154.wmf"/><Relationship Id="rId5" Type="http://schemas.openxmlformats.org/officeDocument/2006/relationships/image" Target="../media/image9.png"/><Relationship Id="rId61" Type="http://schemas.openxmlformats.org/officeDocument/2006/relationships/oleObject" Target="../embeddings/oleObject139.bin"/><Relationship Id="rId19" Type="http://schemas.openxmlformats.org/officeDocument/2006/relationships/oleObject" Target="../embeddings/oleObject118.bin"/><Relationship Id="rId14" Type="http://schemas.openxmlformats.org/officeDocument/2006/relationships/image" Target="../media/image128.wmf"/><Relationship Id="rId22" Type="http://schemas.openxmlformats.org/officeDocument/2006/relationships/image" Target="../media/image132.wmf"/><Relationship Id="rId27" Type="http://schemas.openxmlformats.org/officeDocument/2006/relationships/oleObject" Target="../embeddings/oleObject122.bin"/><Relationship Id="rId30" Type="http://schemas.openxmlformats.org/officeDocument/2006/relationships/image" Target="../media/image136.wmf"/><Relationship Id="rId35" Type="http://schemas.openxmlformats.org/officeDocument/2006/relationships/oleObject" Target="../embeddings/oleObject126.bin"/><Relationship Id="rId43" Type="http://schemas.openxmlformats.org/officeDocument/2006/relationships/oleObject" Target="../embeddings/oleObject130.bin"/><Relationship Id="rId48" Type="http://schemas.openxmlformats.org/officeDocument/2006/relationships/image" Target="../media/image145.wmf"/><Relationship Id="rId56" Type="http://schemas.openxmlformats.org/officeDocument/2006/relationships/image" Target="../media/image149.wmf"/><Relationship Id="rId64" Type="http://schemas.openxmlformats.org/officeDocument/2006/relationships/image" Target="../media/image153.wmf"/><Relationship Id="rId69" Type="http://schemas.openxmlformats.org/officeDocument/2006/relationships/oleObject" Target="../embeddings/oleObject143.bin"/><Relationship Id="rId8" Type="http://schemas.openxmlformats.org/officeDocument/2006/relationships/image" Target="../media/image125.wmf"/><Relationship Id="rId51" Type="http://schemas.openxmlformats.org/officeDocument/2006/relationships/oleObject" Target="../embeddings/oleObject134.bin"/><Relationship Id="rId3" Type="http://schemas.openxmlformats.org/officeDocument/2006/relationships/oleObject" Target="../embeddings/oleObject111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33" Type="http://schemas.openxmlformats.org/officeDocument/2006/relationships/oleObject" Target="../embeddings/oleObject125.bin"/><Relationship Id="rId38" Type="http://schemas.openxmlformats.org/officeDocument/2006/relationships/image" Target="../media/image140.wmf"/><Relationship Id="rId46" Type="http://schemas.openxmlformats.org/officeDocument/2006/relationships/image" Target="../media/image144.wmf"/><Relationship Id="rId59" Type="http://schemas.openxmlformats.org/officeDocument/2006/relationships/oleObject" Target="../embeddings/oleObject138.bin"/><Relationship Id="rId67" Type="http://schemas.openxmlformats.org/officeDocument/2006/relationships/oleObject" Target="../embeddings/oleObject142.bin"/><Relationship Id="rId20" Type="http://schemas.openxmlformats.org/officeDocument/2006/relationships/image" Target="../media/image131.wmf"/><Relationship Id="rId41" Type="http://schemas.openxmlformats.org/officeDocument/2006/relationships/oleObject" Target="../embeddings/oleObject129.bin"/><Relationship Id="rId54" Type="http://schemas.openxmlformats.org/officeDocument/2006/relationships/image" Target="../media/image148.wmf"/><Relationship Id="rId62" Type="http://schemas.openxmlformats.org/officeDocument/2006/relationships/image" Target="../media/image152.wmf"/><Relationship Id="rId70" Type="http://schemas.openxmlformats.org/officeDocument/2006/relationships/image" Target="../media/image15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3.png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28" Type="http://schemas.openxmlformats.org/officeDocument/2006/relationships/image" Target="../media/image135.wmf"/><Relationship Id="rId36" Type="http://schemas.openxmlformats.org/officeDocument/2006/relationships/image" Target="../media/image139.wmf"/><Relationship Id="rId49" Type="http://schemas.openxmlformats.org/officeDocument/2006/relationships/oleObject" Target="../embeddings/oleObject133.bin"/><Relationship Id="rId57" Type="http://schemas.openxmlformats.org/officeDocument/2006/relationships/oleObject" Target="../embeddings/oleObject137.bin"/><Relationship Id="rId10" Type="http://schemas.openxmlformats.org/officeDocument/2006/relationships/image" Target="../media/image126.wmf"/><Relationship Id="rId31" Type="http://schemas.openxmlformats.org/officeDocument/2006/relationships/oleObject" Target="../embeddings/oleObject124.bin"/><Relationship Id="rId44" Type="http://schemas.openxmlformats.org/officeDocument/2006/relationships/image" Target="../media/image143.wmf"/><Relationship Id="rId52" Type="http://schemas.openxmlformats.org/officeDocument/2006/relationships/image" Target="../media/image147.wmf"/><Relationship Id="rId60" Type="http://schemas.openxmlformats.org/officeDocument/2006/relationships/image" Target="../media/image151.wmf"/><Relationship Id="rId65" Type="http://schemas.openxmlformats.org/officeDocument/2006/relationships/oleObject" Target="../embeddings/oleObject141.bin"/><Relationship Id="rId4" Type="http://schemas.openxmlformats.org/officeDocument/2006/relationships/image" Target="../media/image124.emf"/><Relationship Id="rId9" Type="http://schemas.openxmlformats.org/officeDocument/2006/relationships/oleObject" Target="../embeddings/oleObject113.bin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30.wmf"/><Relationship Id="rId39" Type="http://schemas.openxmlformats.org/officeDocument/2006/relationships/oleObject" Target="../embeddings/oleObject128.bin"/><Relationship Id="rId34" Type="http://schemas.openxmlformats.org/officeDocument/2006/relationships/image" Target="../media/image138.wmf"/><Relationship Id="rId50" Type="http://schemas.openxmlformats.org/officeDocument/2006/relationships/image" Target="../media/image146.wmf"/><Relationship Id="rId55" Type="http://schemas.openxmlformats.org/officeDocument/2006/relationships/oleObject" Target="../embeddings/oleObject13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3" Type="http://schemas.openxmlformats.org/officeDocument/2006/relationships/image" Target="../media/image9.png"/><Relationship Id="rId7" Type="http://schemas.openxmlformats.org/officeDocument/2006/relationships/image" Target="../media/image1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5.bin"/><Relationship Id="rId5" Type="http://schemas.openxmlformats.org/officeDocument/2006/relationships/image" Target="../media/image157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5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7" Type="http://schemas.openxmlformats.org/officeDocument/2006/relationships/image" Target="../media/image16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48.bin"/><Relationship Id="rId5" Type="http://schemas.openxmlformats.org/officeDocument/2006/relationships/image" Target="../media/image9.png"/><Relationship Id="rId4" Type="http://schemas.openxmlformats.org/officeDocument/2006/relationships/image" Target="../media/image16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62.emf"/><Relationship Id="rId4" Type="http://schemas.openxmlformats.org/officeDocument/2006/relationships/oleObject" Target="../embeddings/oleObject149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6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.png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6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image" Target="../media/image168.emf"/><Relationship Id="rId7" Type="http://schemas.openxmlformats.org/officeDocument/2006/relationships/oleObject" Target="../embeddings/oleObject1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69.emf"/><Relationship Id="rId4" Type="http://schemas.openxmlformats.org/officeDocument/2006/relationships/oleObject" Target="../embeddings/oleObject15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oleObject" Target="../embeddings/oleObject155.bin"/><Relationship Id="rId7" Type="http://schemas.openxmlformats.org/officeDocument/2006/relationships/image" Target="../media/image17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56.bin"/><Relationship Id="rId5" Type="http://schemas.openxmlformats.org/officeDocument/2006/relationships/image" Target="../media/image9.png"/><Relationship Id="rId10" Type="http://schemas.openxmlformats.org/officeDocument/2006/relationships/image" Target="../media/image172.emf"/><Relationship Id="rId4" Type="http://schemas.openxmlformats.org/officeDocument/2006/relationships/image" Target="../media/image170.emf"/><Relationship Id="rId9" Type="http://schemas.openxmlformats.org/officeDocument/2006/relationships/oleObject" Target="../embeddings/oleObject15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3" Type="http://schemas.openxmlformats.org/officeDocument/2006/relationships/image" Target="../media/image9.png"/><Relationship Id="rId7" Type="http://schemas.openxmlformats.org/officeDocument/2006/relationships/image" Target="../media/image17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76.wmf"/><Relationship Id="rId5" Type="http://schemas.openxmlformats.org/officeDocument/2006/relationships/image" Target="../media/image173.e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7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3" Type="http://schemas.openxmlformats.org/officeDocument/2006/relationships/image" Target="../media/image9.png"/><Relationship Id="rId7" Type="http://schemas.openxmlformats.org/officeDocument/2006/relationships/image" Target="../media/image17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63.bin"/><Relationship Id="rId5" Type="http://schemas.openxmlformats.org/officeDocument/2006/relationships/image" Target="../media/image177.e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7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0.emf"/><Relationship Id="rId11" Type="http://schemas.openxmlformats.org/officeDocument/2006/relationships/image" Target="../media/image9.png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82.wmf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6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187.emf"/><Relationship Id="rId18" Type="http://schemas.openxmlformats.org/officeDocument/2006/relationships/oleObject" Target="../embeddings/oleObject176.bin"/><Relationship Id="rId3" Type="http://schemas.openxmlformats.org/officeDocument/2006/relationships/image" Target="../media/image9.png"/><Relationship Id="rId21" Type="http://schemas.openxmlformats.org/officeDocument/2006/relationships/image" Target="../media/image191.wmf"/><Relationship Id="rId7" Type="http://schemas.openxmlformats.org/officeDocument/2006/relationships/image" Target="../media/image184.emf"/><Relationship Id="rId12" Type="http://schemas.openxmlformats.org/officeDocument/2006/relationships/oleObject" Target="../embeddings/oleObject173.bin"/><Relationship Id="rId17" Type="http://schemas.openxmlformats.org/officeDocument/2006/relationships/image" Target="../media/image18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5.bin"/><Relationship Id="rId20" Type="http://schemas.openxmlformats.org/officeDocument/2006/relationships/oleObject" Target="../embeddings/oleObject177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86.emf"/><Relationship Id="rId5" Type="http://schemas.openxmlformats.org/officeDocument/2006/relationships/image" Target="../media/image183.emf"/><Relationship Id="rId15" Type="http://schemas.openxmlformats.org/officeDocument/2006/relationships/image" Target="../media/image188.emf"/><Relationship Id="rId10" Type="http://schemas.openxmlformats.org/officeDocument/2006/relationships/oleObject" Target="../embeddings/oleObject172.bin"/><Relationship Id="rId19" Type="http://schemas.openxmlformats.org/officeDocument/2006/relationships/image" Target="../media/image190.wmf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185.emf"/><Relationship Id="rId14" Type="http://schemas.openxmlformats.org/officeDocument/2006/relationships/oleObject" Target="../embeddings/oleObject174.bin"/><Relationship Id="rId22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77.png"/><Relationship Id="rId4" Type="http://schemas.openxmlformats.org/officeDocument/2006/relationships/image" Target="../media/image9.png"/><Relationship Id="rId9" Type="http://schemas.openxmlformats.org/officeDocument/2006/relationships/image" Target="../media/image193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7.e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95.emf"/><Relationship Id="rId12" Type="http://schemas.openxmlformats.org/officeDocument/2006/relationships/oleObject" Target="../embeddings/oleObject1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96.emf"/><Relationship Id="rId5" Type="http://schemas.openxmlformats.org/officeDocument/2006/relationships/image" Target="../media/image194.e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285751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https://timgsa.baidu.com/timg?image&amp;quality=80&amp;size=b9999_10000&amp;sec=1580725348395&amp;di=7d0f97d144a87161ca1f8c https://timgsa.baidu.com/timg?image&amp;quality=80&amp;size=b9999_10000&amp;sec=1580725348395&amp;di=7d0f97d144a87161ca1f8c49f6249c5f&amp;imgtype=0&amp;src=http%3A%2F%2Fpic1.16pic.com%2F00%2F54%2F86%2F16pic_5486472_b.jpg 49f6249c5f&amp;imgtype=0&amp;src=http%3A%2F%2Fpic1.16pic.com%2F00%2F54%2F86%2F16pic_5486472_b.jpg</a:t>
            </a:r>
            <a:endParaRPr lang="zh-CN" altLang="en-US" dirty="0"/>
          </a:p>
        </p:txBody>
      </p:sp>
      <p:pic>
        <p:nvPicPr>
          <p:cNvPr id="10244" name="Picture 4" descr="http://img.mp.itc.cn/upload/20170309/9f3693de49bf44d791994c44caa6c12c_th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8499" y="2133529"/>
            <a:ext cx="5356703" cy="246924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矩形 22"/>
          <p:cNvSpPr/>
          <p:nvPr/>
        </p:nvSpPr>
        <p:spPr>
          <a:xfrm>
            <a:off x="5" y="1193379"/>
            <a:ext cx="9143999" cy="205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22604" y="1559716"/>
            <a:ext cx="6498792" cy="68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400" b="1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数字电子技术基础</a:t>
            </a:r>
          </a:p>
        </p:txBody>
      </p:sp>
      <p:sp>
        <p:nvSpPr>
          <p:cNvPr id="31" name="矩形 30"/>
          <p:cNvSpPr/>
          <p:nvPr/>
        </p:nvSpPr>
        <p:spPr>
          <a:xfrm>
            <a:off x="0" y="285753"/>
            <a:ext cx="9144000" cy="985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2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0496" y="484128"/>
            <a:ext cx="3261360" cy="60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本框 8"/>
          <p:cNvSpPr txBox="1"/>
          <p:nvPr/>
        </p:nvSpPr>
        <p:spPr>
          <a:xfrm>
            <a:off x="5829300" y="382144"/>
            <a:ext cx="307086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zh-CN" altLang="en-US" sz="2000" dirty="0">
                <a:solidFill>
                  <a:srgbClr val="002060"/>
                </a:solidFill>
              </a:rPr>
              <a:t>电子与通信工程系</a:t>
            </a:r>
          </a:p>
        </p:txBody>
      </p:sp>
      <p:sp>
        <p:nvSpPr>
          <p:cNvPr id="12" name="文本框 8"/>
          <p:cNvSpPr txBox="1"/>
          <p:nvPr/>
        </p:nvSpPr>
        <p:spPr>
          <a:xfrm>
            <a:off x="3080919" y="4367423"/>
            <a:ext cx="3390900" cy="61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zh-CN" altLang="en-US" sz="2000" dirty="0">
                <a:solidFill>
                  <a:srgbClr val="002060"/>
                </a:solidFill>
              </a:rPr>
              <a:t>主讲人</a:t>
            </a:r>
            <a:r>
              <a:rPr lang="zh-CN" altLang="en-US" sz="2000" dirty="0" smtClean="0">
                <a:solidFill>
                  <a:srgbClr val="002060"/>
                </a:solidFill>
              </a:rPr>
              <a:t>：赵伟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948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023223" y="1824567"/>
            <a:ext cx="6791087" cy="2072333"/>
            <a:chOff x="1023223" y="1824567"/>
            <a:chExt cx="6791087" cy="2072333"/>
          </a:xfrm>
        </p:grpSpPr>
        <p:grpSp>
          <p:nvGrpSpPr>
            <p:cNvPr id="17" name="组合 16"/>
            <p:cNvGrpSpPr/>
            <p:nvPr/>
          </p:nvGrpSpPr>
          <p:grpSpPr>
            <a:xfrm>
              <a:off x="1101090" y="1824567"/>
              <a:ext cx="1371600" cy="760000"/>
              <a:chOff x="1101090" y="1824567"/>
              <a:chExt cx="1371600" cy="760000"/>
            </a:xfrm>
          </p:grpSpPr>
          <p:grpSp>
            <p:nvGrpSpPr>
              <p:cNvPr id="3" name="组合 35"/>
              <p:cNvGrpSpPr/>
              <p:nvPr/>
            </p:nvGrpSpPr>
            <p:grpSpPr>
              <a:xfrm>
                <a:off x="1101090" y="1972734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" name="组合 36"/>
              <p:cNvGrpSpPr/>
              <p:nvPr/>
            </p:nvGrpSpPr>
            <p:grpSpPr>
              <a:xfrm rot="5400000">
                <a:off x="986715" y="2155037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0" name="直接连接符 1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组合 17"/>
            <p:cNvGrpSpPr/>
            <p:nvPr/>
          </p:nvGrpSpPr>
          <p:grpSpPr>
            <a:xfrm>
              <a:off x="6442710" y="3136900"/>
              <a:ext cx="1371600" cy="760000"/>
              <a:chOff x="6442710" y="3136900"/>
              <a:chExt cx="1371600" cy="760000"/>
            </a:xfrm>
          </p:grpSpPr>
          <p:grpSp>
            <p:nvGrpSpPr>
              <p:cNvPr id="6" name="组合 35"/>
              <p:cNvGrpSpPr/>
              <p:nvPr/>
            </p:nvGrpSpPr>
            <p:grpSpPr>
              <a:xfrm rot="10800000">
                <a:off x="6442710" y="3638667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31" name="直接连接符 30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16200000">
                <a:off x="7092485" y="3467370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文本框 6"/>
            <p:cNvSpPr txBox="1"/>
            <p:nvPr/>
          </p:nvSpPr>
          <p:spPr>
            <a:xfrm>
              <a:off x="1023223" y="2391978"/>
              <a:ext cx="6498792" cy="708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</a:t>
              </a:r>
              <a:r>
                <a:rPr lang="zh-CN" altLang="en-US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 逻辑代数</a:t>
              </a:r>
              <a:endParaRPr lang="en-US" altLang="zh-CN" sz="3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0B90997-A890-41C2-BF1E-DDF965887760}"/>
              </a:ext>
            </a:extLst>
          </p:cNvPr>
          <p:cNvGrpSpPr/>
          <p:nvPr/>
        </p:nvGrpSpPr>
        <p:grpSpPr>
          <a:xfrm>
            <a:off x="279213" y="1090204"/>
            <a:ext cx="8631294" cy="4304756"/>
            <a:chOff x="256353" y="1058938"/>
            <a:chExt cx="8631294" cy="478306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7F1E5319-4C7A-418F-9047-1D6ACA5021B4}"/>
                </a:ext>
              </a:extLst>
            </p:cNvPr>
            <p:cNvSpPr/>
            <p:nvPr/>
          </p:nvSpPr>
          <p:spPr>
            <a:xfrm>
              <a:off x="256353" y="1426524"/>
              <a:ext cx="8631294" cy="4415476"/>
            </a:xfrm>
            <a:prstGeom prst="rect">
              <a:avLst/>
            </a:prstGeom>
            <a:solidFill>
              <a:sysClr val="window" lastClr="FFFFFF">
                <a:alpha val="0"/>
              </a:sysClr>
            </a:solidFill>
            <a:ln w="25400" cap="flat" cmpd="sng" algn="ctr">
              <a:solidFill>
                <a:srgbClr val="2090EC"/>
              </a:solidFill>
              <a:prstDash val="solid"/>
            </a:ln>
            <a:effectLst/>
          </p:spPr>
          <p:txBody>
            <a:bodyPr lIns="0" tIns="72000" rIns="0" bIns="0" numCol="3" spcCol="180000" anchor="ctr"/>
            <a:lstStyle/>
            <a:p>
              <a:pPr marL="357496" indent="-268599">
                <a:spcBef>
                  <a:spcPts val="600"/>
                </a:spcBef>
                <a:buSzPct val="100000"/>
                <a:buFont typeface="Wingdings" panose="05000000000000000000" pitchFamily="2" charset="2"/>
                <a:buChar char="n"/>
              </a:pPr>
              <a:endParaRPr sz="1400" kern="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xmlns="" id="{A830C12A-E68A-4511-8B69-B3FEED7E8667}"/>
                </a:ext>
              </a:extLst>
            </p:cNvPr>
            <p:cNvSpPr/>
            <p:nvPr/>
          </p:nvSpPr>
          <p:spPr>
            <a:xfrm>
              <a:off x="256353" y="1058938"/>
              <a:ext cx="7344511" cy="374964"/>
            </a:xfrm>
            <a:prstGeom prst="parallelogram">
              <a:avLst>
                <a:gd name="adj" fmla="val 64377"/>
              </a:avLst>
            </a:prstGeom>
            <a:solidFill>
              <a:srgbClr val="005DA2"/>
            </a:solidFill>
            <a:ln w="15875" cap="flat" cmpd="sng" algn="ctr">
              <a:solidFill>
                <a:srgbClr val="005DA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defTabSz="914377">
                <a:defRPr/>
              </a:pPr>
              <a:r>
                <a:rPr lang="zh-CN" altLang="en-US" sz="20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 容 提 要</a:t>
              </a:r>
              <a:endParaRPr lang="zh-CN" altLang="en-US" sz="2000" b="1" kern="0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D726B800-F8FA-422A-AEA0-6CD2B6202A28}"/>
              </a:ext>
            </a:extLst>
          </p:cNvPr>
          <p:cNvGrpSpPr/>
          <p:nvPr/>
        </p:nvGrpSpPr>
        <p:grpSpPr>
          <a:xfrm>
            <a:off x="412203" y="1529897"/>
            <a:ext cx="5810991" cy="1550874"/>
            <a:chOff x="657206" y="3747952"/>
            <a:chExt cx="5810991" cy="155087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80AFF137-CF16-4172-863A-88050A91EE52}"/>
                </a:ext>
              </a:extLst>
            </p:cNvPr>
            <p:cNvSpPr/>
            <p:nvPr/>
          </p:nvSpPr>
          <p:spPr>
            <a:xfrm>
              <a:off x="931364" y="3747952"/>
              <a:ext cx="5536833" cy="15508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逻辑代数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又称</a:t>
              </a:r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布尔代数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，是英国数学家</a:t>
              </a:r>
              <a:r>
                <a:rPr lang="en-US" altLang="zh-CN" sz="1600" dirty="0" err="1">
                  <a:latin typeface="黑体" pitchFamily="49" charset="-122"/>
                  <a:ea typeface="黑体" pitchFamily="49" charset="-122"/>
                </a:rPr>
                <a:t>George.Boole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在</a:t>
              </a:r>
              <a:r>
                <a:rPr lang="en-US" altLang="zh-CN" sz="1600" dirty="0">
                  <a:latin typeface="黑体" pitchFamily="49" charset="-122"/>
                  <a:ea typeface="黑体" pitchFamily="49" charset="-122"/>
                </a:rPr>
                <a:t>1849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年提出的。它是分析和设计数字逻辑电路的数学工具，逻辑代数有一系列的定律、定理和规则，用它们对数学表达式进行处理，可以完成对逻辑电路的化简、变换、分析和设计</a:t>
              </a:r>
              <a:r>
                <a:rPr lang="zh-CN" altLang="en-US" dirty="0">
                  <a:latin typeface="黑体" pitchFamily="49" charset="-122"/>
                  <a:ea typeface="黑体" pitchFamily="49" charset="-122"/>
                </a:rPr>
                <a:t>。</a:t>
              </a:r>
            </a:p>
          </p:txBody>
        </p:sp>
        <p:grpSp>
          <p:nvGrpSpPr>
            <p:cNvPr id="8" name="组合 13">
              <a:extLst>
                <a:ext uri="{FF2B5EF4-FFF2-40B4-BE49-F238E27FC236}">
                  <a16:creationId xmlns:a16="http://schemas.microsoft.com/office/drawing/2014/main" xmlns="" id="{7E0DC38C-07AA-4854-B34D-EA70C9C3786A}"/>
                </a:ext>
              </a:extLst>
            </p:cNvPr>
            <p:cNvGrpSpPr/>
            <p:nvPr/>
          </p:nvGrpSpPr>
          <p:grpSpPr>
            <a:xfrm>
              <a:off x="657206" y="3855670"/>
              <a:ext cx="272583" cy="310719"/>
              <a:chOff x="5908675" y="1281113"/>
              <a:chExt cx="246063" cy="260350"/>
            </a:xfrm>
            <a:solidFill>
              <a:srgbClr val="CC6600"/>
            </a:solidFill>
            <a:effectLst/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xmlns="" id="{9211C290-45B0-45CA-AE5C-3D9AE6C03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563" y="1320800"/>
                <a:ext cx="15875" cy="163513"/>
              </a:xfrm>
              <a:prstGeom prst="rect">
                <a:avLst/>
              </a:prstGeom>
              <a:grpFill/>
              <a:ln w="6350" cmpd="sng">
                <a:solidFill>
                  <a:srgbClr val="CC6600"/>
                </a:solidFill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6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9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2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5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78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1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44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9170"/>
                <a:endParaRPr lang="zh-CN" altLang="en-US" sz="3200"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</a:endParaRPr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xmlns="" id="{D52C2737-FB3C-411D-9152-44C35EFEA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8675" y="1501775"/>
                <a:ext cx="131762" cy="39688"/>
              </a:xfrm>
              <a:custGeom>
                <a:avLst/>
                <a:gdLst>
                  <a:gd name="T0" fmla="*/ 64 w 64"/>
                  <a:gd name="T1" fmla="*/ 20 h 20"/>
                  <a:gd name="T2" fmla="*/ 56 w 64"/>
                  <a:gd name="T3" fmla="*/ 20 h 20"/>
                  <a:gd name="T4" fmla="*/ 44 w 64"/>
                  <a:gd name="T5" fmla="*/ 8 h 20"/>
                  <a:gd name="T6" fmla="*/ 0 w 64"/>
                  <a:gd name="T7" fmla="*/ 8 h 20"/>
                  <a:gd name="T8" fmla="*/ 0 w 64"/>
                  <a:gd name="T9" fmla="*/ 0 h 20"/>
                  <a:gd name="T10" fmla="*/ 44 w 64"/>
                  <a:gd name="T11" fmla="*/ 0 h 20"/>
                  <a:gd name="T12" fmla="*/ 64 w 64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20">
                    <a:moveTo>
                      <a:pt x="64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13"/>
                      <a:pt x="51" y="8"/>
                      <a:pt x="4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55" y="0"/>
                      <a:pt x="64" y="9"/>
                      <a:pt x="64" y="20"/>
                    </a:cubicBezTo>
                  </a:path>
                </a:pathLst>
              </a:custGeom>
              <a:grpFill/>
              <a:ln w="6350" cmpd="sng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6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9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2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5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78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1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44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9170"/>
                <a:endParaRPr lang="zh-CN" altLang="en-US" sz="3200"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</a:endParaRPr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xmlns="" id="{94253055-FF81-4E7B-BCD0-FFC3DA6B4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4563" y="1501775"/>
                <a:ext cx="130175" cy="39688"/>
              </a:xfrm>
              <a:custGeom>
                <a:avLst/>
                <a:gdLst>
                  <a:gd name="T0" fmla="*/ 8 w 64"/>
                  <a:gd name="T1" fmla="*/ 20 h 20"/>
                  <a:gd name="T2" fmla="*/ 0 w 64"/>
                  <a:gd name="T3" fmla="*/ 20 h 20"/>
                  <a:gd name="T4" fmla="*/ 20 w 64"/>
                  <a:gd name="T5" fmla="*/ 0 h 20"/>
                  <a:gd name="T6" fmla="*/ 64 w 64"/>
                  <a:gd name="T7" fmla="*/ 0 h 20"/>
                  <a:gd name="T8" fmla="*/ 64 w 64"/>
                  <a:gd name="T9" fmla="*/ 8 h 20"/>
                  <a:gd name="T10" fmla="*/ 20 w 64"/>
                  <a:gd name="T11" fmla="*/ 8 h 20"/>
                  <a:gd name="T12" fmla="*/ 8 w 64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20">
                    <a:moveTo>
                      <a:pt x="8" y="2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3" y="8"/>
                      <a:pt x="8" y="13"/>
                      <a:pt x="8" y="20"/>
                    </a:cubicBezTo>
                  </a:path>
                </a:pathLst>
              </a:custGeom>
              <a:grpFill/>
              <a:ln w="6350" cmpd="sng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6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9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2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5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78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1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44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9170"/>
                <a:endParaRPr lang="zh-CN" altLang="en-US" sz="3200"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</a:endParaRPr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xmlns="" id="{229A988A-21EF-487E-82D6-59A736536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8675" y="1281113"/>
                <a:ext cx="131762" cy="203200"/>
              </a:xfrm>
              <a:custGeom>
                <a:avLst/>
                <a:gdLst>
                  <a:gd name="T0" fmla="*/ 48 w 64"/>
                  <a:gd name="T1" fmla="*/ 100 h 100"/>
                  <a:gd name="T2" fmla="*/ 0 w 64"/>
                  <a:gd name="T3" fmla="*/ 100 h 100"/>
                  <a:gd name="T4" fmla="*/ 0 w 64"/>
                  <a:gd name="T5" fmla="*/ 0 h 100"/>
                  <a:gd name="T6" fmla="*/ 44 w 64"/>
                  <a:gd name="T7" fmla="*/ 0 h 100"/>
                  <a:gd name="T8" fmla="*/ 64 w 64"/>
                  <a:gd name="T9" fmla="*/ 20 h 100"/>
                  <a:gd name="T10" fmla="*/ 56 w 64"/>
                  <a:gd name="T11" fmla="*/ 20 h 100"/>
                  <a:gd name="T12" fmla="*/ 44 w 64"/>
                  <a:gd name="T13" fmla="*/ 8 h 100"/>
                  <a:gd name="T14" fmla="*/ 8 w 64"/>
                  <a:gd name="T15" fmla="*/ 8 h 100"/>
                  <a:gd name="T16" fmla="*/ 8 w 64"/>
                  <a:gd name="T17" fmla="*/ 92 h 100"/>
                  <a:gd name="T18" fmla="*/ 48 w 64"/>
                  <a:gd name="T19" fmla="*/ 92 h 100"/>
                  <a:gd name="T20" fmla="*/ 48 w 64"/>
                  <a:gd name="T21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100">
                    <a:moveTo>
                      <a:pt x="48" y="100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55" y="0"/>
                      <a:pt x="64" y="9"/>
                      <a:pt x="64" y="2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13"/>
                      <a:pt x="51" y="8"/>
                      <a:pt x="44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48" y="92"/>
                      <a:pt x="48" y="92"/>
                      <a:pt x="48" y="92"/>
                    </a:cubicBezTo>
                    <a:lnTo>
                      <a:pt x="48" y="100"/>
                    </a:lnTo>
                    <a:close/>
                  </a:path>
                </a:pathLst>
              </a:custGeom>
              <a:grpFill/>
              <a:ln w="6350" cmpd="sng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6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9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2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5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78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1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44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9170"/>
                <a:endParaRPr lang="zh-CN" altLang="en-US" sz="3200"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</a:endParaRPr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xmlns="" id="{AB417DA5-9E7F-4256-9A56-07C9F8CB93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24563" y="1281113"/>
                <a:ext cx="130175" cy="203200"/>
              </a:xfrm>
              <a:custGeom>
                <a:avLst/>
                <a:gdLst>
                  <a:gd name="T0" fmla="*/ 64 w 64"/>
                  <a:gd name="T1" fmla="*/ 100 h 100"/>
                  <a:gd name="T2" fmla="*/ 16 w 64"/>
                  <a:gd name="T3" fmla="*/ 100 h 100"/>
                  <a:gd name="T4" fmla="*/ 16 w 64"/>
                  <a:gd name="T5" fmla="*/ 92 h 100"/>
                  <a:gd name="T6" fmla="*/ 56 w 64"/>
                  <a:gd name="T7" fmla="*/ 92 h 100"/>
                  <a:gd name="T8" fmla="*/ 56 w 64"/>
                  <a:gd name="T9" fmla="*/ 8 h 100"/>
                  <a:gd name="T10" fmla="*/ 20 w 64"/>
                  <a:gd name="T11" fmla="*/ 8 h 100"/>
                  <a:gd name="T12" fmla="*/ 8 w 64"/>
                  <a:gd name="T13" fmla="*/ 20 h 100"/>
                  <a:gd name="T14" fmla="*/ 0 w 64"/>
                  <a:gd name="T15" fmla="*/ 20 h 100"/>
                  <a:gd name="T16" fmla="*/ 20 w 64"/>
                  <a:gd name="T17" fmla="*/ 0 h 100"/>
                  <a:gd name="T18" fmla="*/ 64 w 64"/>
                  <a:gd name="T19" fmla="*/ 0 h 100"/>
                  <a:gd name="T20" fmla="*/ 64 w 64"/>
                  <a:gd name="T21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100">
                    <a:moveTo>
                      <a:pt x="64" y="100"/>
                    </a:moveTo>
                    <a:cubicBezTo>
                      <a:pt x="16" y="100"/>
                      <a:pt x="16" y="100"/>
                      <a:pt x="16" y="100"/>
                    </a:cubicBezTo>
                    <a:cubicBezTo>
                      <a:pt x="16" y="92"/>
                      <a:pt x="16" y="92"/>
                      <a:pt x="16" y="92"/>
                    </a:cubicBezTo>
                    <a:cubicBezTo>
                      <a:pt x="56" y="92"/>
                      <a:pt x="56" y="92"/>
                      <a:pt x="56" y="92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3" y="8"/>
                      <a:pt x="8" y="13"/>
                      <a:pt x="8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64" y="0"/>
                      <a:pt x="64" y="0"/>
                      <a:pt x="64" y="0"/>
                    </a:cubicBezTo>
                    <a:lnTo>
                      <a:pt x="64" y="100"/>
                    </a:lnTo>
                    <a:close/>
                  </a:path>
                </a:pathLst>
              </a:custGeom>
              <a:grpFill/>
              <a:ln w="6350" cmpd="sng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630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26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891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52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8152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778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7413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7044" algn="l" defTabSz="609630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219170"/>
                <a:endParaRPr lang="zh-CN" altLang="en-US" sz="3200"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</a:endParaRPr>
              </a:p>
            </p:txBody>
          </p:sp>
        </p:grpSp>
      </p:grpSp>
      <p:sp>
        <p:nvSpPr>
          <p:cNvPr id="14" name="Rectangle 1069">
            <a:extLst>
              <a:ext uri="{FF2B5EF4-FFF2-40B4-BE49-F238E27FC236}">
                <a16:creationId xmlns:a16="http://schemas.microsoft.com/office/drawing/2014/main" xmlns="" id="{3CCADEA9-F4DB-461A-BAED-520C908A1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786" y="3332367"/>
            <a:ext cx="5281674" cy="17673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逻辑代数的基本定律及三个基本运算规则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逻辑函数表达式的常见形式，逻辑函数的代数化简与变换方法</a:t>
            </a:r>
          </a:p>
          <a:p>
            <a:pPr marL="285750" lvl="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逻辑函数的最小项表达式及卡诺图表示，逻辑函数的卡诺图化简方法</a:t>
            </a:r>
            <a:endParaRPr lang="zh-CN" altLang="en-US" sz="1600" dirty="0">
              <a:solidFill>
                <a:srgbClr val="0070C0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B583C748-8BF7-411E-BE38-A13F277C8D68}"/>
              </a:ext>
            </a:extLst>
          </p:cNvPr>
          <p:cNvGrpSpPr/>
          <p:nvPr/>
        </p:nvGrpSpPr>
        <p:grpSpPr>
          <a:xfrm>
            <a:off x="6785999" y="1515836"/>
            <a:ext cx="1608628" cy="1710728"/>
            <a:chOff x="7030498" y="746596"/>
            <a:chExt cx="1791588" cy="2426016"/>
          </a:xfrm>
        </p:grpSpPr>
        <p:pic>
          <p:nvPicPr>
            <p:cNvPr id="16" name="Picture 8" descr="https://gss3.bdstatic.com/-Po3dSag_xI4khGkpoWK1HF6hhy/baike/w%3D268%3Bg%3D0/sign=4e06bf602e34349b74066983f1d172f3/80cb39dbb6fd5266bb3d626ead18972bd40736b1.jpg">
              <a:extLst>
                <a:ext uri="{FF2B5EF4-FFF2-40B4-BE49-F238E27FC236}">
                  <a16:creationId xmlns:a16="http://schemas.microsoft.com/office/drawing/2014/main" xmlns="" id="{F5748DB5-1F11-417C-BDDB-3428199F9A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t="3839"/>
            <a:stretch>
              <a:fillRect/>
            </a:stretch>
          </p:blipFill>
          <p:spPr bwMode="auto">
            <a:xfrm flipH="1">
              <a:off x="7030498" y="746596"/>
              <a:ext cx="1791588" cy="2095662"/>
            </a:xfrm>
            <a:prstGeom prst="rect">
              <a:avLst/>
            </a:prstGeom>
            <a:noFill/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73AEAA5C-87B0-4F6B-BA8F-B77962AD366A}"/>
                </a:ext>
              </a:extLst>
            </p:cNvPr>
            <p:cNvSpPr/>
            <p:nvPr/>
          </p:nvSpPr>
          <p:spPr>
            <a:xfrm>
              <a:off x="7045856" y="2803281"/>
              <a:ext cx="1697900" cy="369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方正粗黑宋简体" pitchFamily="2" charset="-122"/>
                  <a:ea typeface="方正粗黑宋简体" pitchFamily="2" charset="-122"/>
                </a:rPr>
                <a:t>(1815</a:t>
              </a:r>
              <a:r>
                <a:rPr lang="zh-CN" altLang="en-US" dirty="0">
                  <a:latin typeface="方正粗黑宋简体" pitchFamily="2" charset="-122"/>
                  <a:ea typeface="方正粗黑宋简体" pitchFamily="2" charset="-122"/>
                </a:rPr>
                <a:t>～</a:t>
              </a:r>
              <a:r>
                <a:rPr lang="en-US" altLang="zh-CN" dirty="0">
                  <a:latin typeface="方正粗黑宋简体" pitchFamily="2" charset="-122"/>
                  <a:ea typeface="方正粗黑宋简体" pitchFamily="2" charset="-122"/>
                </a:rPr>
                <a:t>1864)</a:t>
              </a:r>
              <a:endParaRPr lang="zh-CN" altLang="en-US" dirty="0">
                <a:latin typeface="方正粗黑宋简体" pitchFamily="2" charset="-122"/>
                <a:ea typeface="方正粗黑宋简体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24E45816-C398-4FFB-A772-1404E74E56DF}"/>
              </a:ext>
            </a:extLst>
          </p:cNvPr>
          <p:cNvGrpSpPr/>
          <p:nvPr/>
        </p:nvGrpSpPr>
        <p:grpSpPr>
          <a:xfrm>
            <a:off x="6454173" y="3481712"/>
            <a:ext cx="2339102" cy="1710728"/>
            <a:chOff x="5655036" y="3356257"/>
            <a:chExt cx="3473211" cy="2251481"/>
          </a:xfrm>
          <a:effectLst>
            <a:glow rad="139700">
              <a:schemeClr val="accent2">
                <a:satMod val="175000"/>
                <a:alpha val="40000"/>
              </a:schemeClr>
            </a:glow>
          </a:effectLst>
        </p:grpSpPr>
        <p:pic>
          <p:nvPicPr>
            <p:cNvPr id="19" name="Picture 10" descr="https://bkimg.cdn.bcebos.com/pic/279759ee3d6d55fb7762295c6b224f4a20a4dd20?x-bce-process=image/watermark,g_7,image_d2F0ZXIvYmFpa2U5Mg==,xp_5,yp_5">
              <a:extLst>
                <a:ext uri="{FF2B5EF4-FFF2-40B4-BE49-F238E27FC236}">
                  <a16:creationId xmlns:a16="http://schemas.microsoft.com/office/drawing/2014/main" xmlns="" id="{635818CC-8807-4B6D-BCF7-DC35E2006D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48843" y="3356257"/>
              <a:ext cx="3360420" cy="225148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DC04F26B-1BC9-4247-A7E1-314875B54F1E}"/>
                </a:ext>
              </a:extLst>
            </p:cNvPr>
            <p:cNvSpPr/>
            <p:nvPr/>
          </p:nvSpPr>
          <p:spPr>
            <a:xfrm>
              <a:off x="5655036" y="5133411"/>
              <a:ext cx="3473211" cy="4050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位于爱尔兰科克的布尔之墓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0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116330" y="1824567"/>
            <a:ext cx="6713220" cy="2072333"/>
            <a:chOff x="1101090" y="1824567"/>
            <a:chExt cx="6713220" cy="2072333"/>
          </a:xfrm>
        </p:grpSpPr>
        <p:grpSp>
          <p:nvGrpSpPr>
            <p:cNvPr id="17" name="组合 16"/>
            <p:cNvGrpSpPr/>
            <p:nvPr/>
          </p:nvGrpSpPr>
          <p:grpSpPr>
            <a:xfrm>
              <a:off x="1101090" y="1824567"/>
              <a:ext cx="1371600" cy="760000"/>
              <a:chOff x="1101090" y="1824567"/>
              <a:chExt cx="1371600" cy="760000"/>
            </a:xfrm>
          </p:grpSpPr>
          <p:grpSp>
            <p:nvGrpSpPr>
              <p:cNvPr id="3" name="组合 35"/>
              <p:cNvGrpSpPr/>
              <p:nvPr/>
            </p:nvGrpSpPr>
            <p:grpSpPr>
              <a:xfrm>
                <a:off x="1101090" y="1972734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" name="组合 36"/>
              <p:cNvGrpSpPr/>
              <p:nvPr/>
            </p:nvGrpSpPr>
            <p:grpSpPr>
              <a:xfrm rot="5400000">
                <a:off x="986715" y="2155037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0" name="直接连接符 1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组合 17"/>
            <p:cNvGrpSpPr/>
            <p:nvPr/>
          </p:nvGrpSpPr>
          <p:grpSpPr>
            <a:xfrm>
              <a:off x="6442710" y="3136900"/>
              <a:ext cx="1371600" cy="760000"/>
              <a:chOff x="6442710" y="3136900"/>
              <a:chExt cx="1371600" cy="760000"/>
            </a:xfrm>
          </p:grpSpPr>
          <p:grpSp>
            <p:nvGrpSpPr>
              <p:cNvPr id="6" name="组合 35"/>
              <p:cNvGrpSpPr/>
              <p:nvPr/>
            </p:nvGrpSpPr>
            <p:grpSpPr>
              <a:xfrm rot="10800000">
                <a:off x="6442710" y="3638667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31" name="直接连接符 30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16200000">
                <a:off x="7092485" y="3467370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文本框 6"/>
            <p:cNvSpPr txBox="1"/>
            <p:nvPr/>
          </p:nvSpPr>
          <p:spPr>
            <a:xfrm>
              <a:off x="1163274" y="2166579"/>
              <a:ext cx="6498792" cy="125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</a:t>
              </a:r>
              <a:r>
                <a:rPr lang="zh-CN" altLang="en-US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 逻辑代数</a:t>
              </a:r>
              <a:endParaRPr lang="en-US" altLang="zh-CN" sz="3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en-US" altLang="zh-CN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2.1 </a:t>
              </a:r>
              <a:r>
                <a:rPr lang="zh-CN" altLang="zh-CN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逻辑代数的基本定律与基本规则</a:t>
              </a:r>
              <a:endParaRPr lang="zh-CN" altLang="en-US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endParaRPr>
            </a:p>
          </p:txBody>
        </p:sp>
      </p:grp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95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92432" y="780143"/>
            <a:ext cx="2986220" cy="411055"/>
            <a:chOff x="392432" y="780143"/>
            <a:chExt cx="2986220" cy="411055"/>
          </a:xfrm>
        </p:grpSpPr>
        <p:sp>
          <p:nvSpPr>
            <p:cNvPr id="2" name="矩形 1"/>
            <p:cNvSpPr/>
            <p:nvPr/>
          </p:nvSpPr>
          <p:spPr>
            <a:xfrm>
              <a:off x="754216" y="805934"/>
              <a:ext cx="26244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、逻辑代数的基本定律</a:t>
              </a:r>
              <a:endParaRPr lang="zh-CN" altLang="en-US" dirty="0">
                <a:solidFill>
                  <a:srgbClr val="002060"/>
                </a:solidFill>
              </a:endParaRPr>
            </a:p>
          </p:txBody>
        </p:sp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4" name="组合 33"/>
          <p:cNvGrpSpPr/>
          <p:nvPr/>
        </p:nvGrpSpPr>
        <p:grpSpPr>
          <a:xfrm>
            <a:off x="1328738" y="1282065"/>
            <a:ext cx="6029325" cy="3714750"/>
            <a:chOff x="1100138" y="1129665"/>
            <a:chExt cx="6029325" cy="3714750"/>
          </a:xfrm>
        </p:grpSpPr>
        <p:pic>
          <p:nvPicPr>
            <p:cNvPr id="53276" name="Picture 2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100138" y="1129665"/>
              <a:ext cx="6029325" cy="3714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2068830" y="1548130"/>
            <a:ext cx="1908810" cy="287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8" name="公式" r:id="rId6" imgW="1752480" imgH="2539800" progId="Equation.3">
                    <p:embed/>
                  </p:oleObj>
                </mc:Choice>
                <mc:Fallback>
                  <p:oleObj name="公式" r:id="rId6" imgW="1752480" imgH="25398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8830" y="1548130"/>
                          <a:ext cx="1908810" cy="287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1" name="Object 3"/>
            <p:cNvGraphicFramePr>
              <a:graphicFrameLocks noChangeAspect="1"/>
            </p:cNvGraphicFramePr>
            <p:nvPr/>
          </p:nvGraphicFramePr>
          <p:xfrm>
            <a:off x="4126548" y="1540510"/>
            <a:ext cx="2792412" cy="287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9" name="公式" r:id="rId8" imgW="2463480" imgH="2539800" progId="Equation.3">
                    <p:embed/>
                  </p:oleObj>
                </mc:Choice>
                <mc:Fallback>
                  <p:oleObj name="公式" r:id="rId8" imgW="2463480" imgH="25398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6548" y="1540510"/>
                          <a:ext cx="2792412" cy="287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3" name="Object 25"/>
            <p:cNvGraphicFramePr>
              <a:graphicFrameLocks noChangeAspect="1"/>
            </p:cNvGraphicFramePr>
            <p:nvPr/>
          </p:nvGraphicFramePr>
          <p:xfrm>
            <a:off x="2084546" y="4477702"/>
            <a:ext cx="452914" cy="233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0" name="公式" r:id="rId10" imgW="419040" imgH="215640" progId="Equation.3">
                    <p:embed/>
                  </p:oleObj>
                </mc:Choice>
                <mc:Fallback>
                  <p:oleObj name="公式" r:id="rId10" imgW="419040" imgH="215640" progId="Equation.3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4546" y="4477702"/>
                          <a:ext cx="452914" cy="2333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2986220" cy="411055"/>
            <a:chOff x="392432" y="780143"/>
            <a:chExt cx="2986220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26244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、逻辑代数的基本定律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507368" y="1325591"/>
            <a:ext cx="2314082" cy="401378"/>
            <a:chOff x="358461" y="2491451"/>
            <a:chExt cx="2314082" cy="40137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49" y="2491452"/>
              <a:ext cx="2071194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公式的证明方法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401378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9" name="Group 992"/>
          <p:cNvGrpSpPr>
            <a:grpSpLocks/>
          </p:cNvGrpSpPr>
          <p:nvPr/>
        </p:nvGrpSpPr>
        <p:grpSpPr bwMode="auto">
          <a:xfrm>
            <a:off x="537210" y="2338073"/>
            <a:ext cx="5307869" cy="360363"/>
            <a:chOff x="323" y="948"/>
            <a:chExt cx="3179" cy="227"/>
          </a:xfrm>
        </p:grpSpPr>
        <p:sp>
          <p:nvSpPr>
            <p:cNvPr id="10" name="Rectangle 775"/>
            <p:cNvSpPr>
              <a:spLocks noChangeArrowheads="1"/>
            </p:cNvSpPr>
            <p:nvPr/>
          </p:nvSpPr>
          <p:spPr bwMode="auto">
            <a:xfrm>
              <a:off x="323" y="962"/>
              <a:ext cx="97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例：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证明吸收律</a:t>
              </a:r>
            </a:p>
          </p:txBody>
        </p:sp>
        <p:graphicFrame>
          <p:nvGraphicFramePr>
            <p:cNvPr id="11" name="Object 9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8951907"/>
                </p:ext>
              </p:extLst>
            </p:nvPr>
          </p:nvGraphicFramePr>
          <p:xfrm>
            <a:off x="1297" y="948"/>
            <a:ext cx="2205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1" name="公式" r:id="rId5" imgW="2323800" imgH="215640" progId="Equation.3">
                    <p:embed/>
                  </p:oleObj>
                </mc:Choice>
                <mc:Fallback>
                  <p:oleObj name="公式" r:id="rId5" imgW="2323800" imgH="215640" progId="Equation.3">
                    <p:embed/>
                    <p:pic>
                      <p:nvPicPr>
                        <p:cNvPr id="0" name="Object 9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7" y="948"/>
                          <a:ext cx="2205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9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910853"/>
              </p:ext>
            </p:extLst>
          </p:nvPr>
        </p:nvGraphicFramePr>
        <p:xfrm>
          <a:off x="1035685" y="2958710"/>
          <a:ext cx="827267" cy="30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2" name="Equation" r:id="rId7" imgW="482400" imgH="203040" progId="Equation.3">
                  <p:embed/>
                </p:oleObj>
              </mc:Choice>
              <mc:Fallback>
                <p:oleObj name="Equation" r:id="rId7" imgW="482400" imgH="203040" progId="Equation.3">
                  <p:embed/>
                  <p:pic>
                    <p:nvPicPr>
                      <p:cNvPr id="0" name="Object 9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685" y="2958710"/>
                        <a:ext cx="827267" cy="3088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76"/>
          <p:cNvGraphicFramePr>
            <a:graphicFrameLocks noChangeAspect="1"/>
          </p:cNvGraphicFramePr>
          <p:nvPr/>
        </p:nvGraphicFramePr>
        <p:xfrm>
          <a:off x="4426269" y="2894727"/>
          <a:ext cx="1413854" cy="335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3" name="Equation" r:id="rId9" imgW="927000" imgH="215640" progId="Equation.3">
                  <p:embed/>
                </p:oleObj>
              </mc:Choice>
              <mc:Fallback>
                <p:oleObj name="Equation" r:id="rId9" imgW="927000" imgH="215640" progId="Equation.3">
                  <p:embed/>
                  <p:pic>
                    <p:nvPicPr>
                      <p:cNvPr id="0" name="Object 9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6269" y="2894727"/>
                        <a:ext cx="1413854" cy="3359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81"/>
          <p:cNvSpPr>
            <a:spLocks noChangeArrowheads="1"/>
          </p:cNvSpPr>
          <p:nvPr/>
        </p:nvSpPr>
        <p:spPr bwMode="auto">
          <a:xfrm>
            <a:off x="353378" y="1892618"/>
            <a:ext cx="57086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（1）用简单的公式证明略为复杂的公式。</a:t>
            </a:r>
          </a:p>
        </p:txBody>
      </p:sp>
      <p:graphicFrame>
        <p:nvGraphicFramePr>
          <p:cNvPr id="16" name="Object 9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361245"/>
              </p:ext>
            </p:extLst>
          </p:nvPr>
        </p:nvGraphicFramePr>
        <p:xfrm>
          <a:off x="1831975" y="2943225"/>
          <a:ext cx="16065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4" name="公式" r:id="rId11" imgW="1041120" imgH="241200" progId="Equation.3">
                  <p:embed/>
                </p:oleObj>
              </mc:Choice>
              <mc:Fallback>
                <p:oleObj name="公式" r:id="rId11" imgW="1041120" imgH="241200" progId="Equation.3">
                  <p:embed/>
                  <p:pic>
                    <p:nvPicPr>
                      <p:cNvPr id="0" name="Object 9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2943225"/>
                        <a:ext cx="16065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36965"/>
              </p:ext>
            </p:extLst>
          </p:nvPr>
        </p:nvGraphicFramePr>
        <p:xfrm>
          <a:off x="1831341" y="3352304"/>
          <a:ext cx="1582420" cy="30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5" name="公式" r:id="rId13" imgW="1041120" imgH="203040" progId="Equation.3">
                  <p:embed/>
                </p:oleObj>
              </mc:Choice>
              <mc:Fallback>
                <p:oleObj name="公式" r:id="rId13" imgW="1041120" imgH="203040" progId="Equation.3">
                  <p:embed/>
                  <p:pic>
                    <p:nvPicPr>
                      <p:cNvPr id="0" name="Object 9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341" y="3352304"/>
                        <a:ext cx="1582420" cy="308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376573"/>
              </p:ext>
            </p:extLst>
          </p:nvPr>
        </p:nvGraphicFramePr>
        <p:xfrm>
          <a:off x="1831341" y="3733357"/>
          <a:ext cx="2114428" cy="37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6" name="Equation" r:id="rId15" imgW="1396800" imgH="241200" progId="Equation.3">
                  <p:embed/>
                </p:oleObj>
              </mc:Choice>
              <mc:Fallback>
                <p:oleObj name="Equation" r:id="rId15" imgW="1396800" imgH="241200" progId="Equation.3">
                  <p:embed/>
                  <p:pic>
                    <p:nvPicPr>
                      <p:cNvPr id="0" name="Object 9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341" y="3733357"/>
                        <a:ext cx="2114428" cy="37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620563"/>
              </p:ext>
            </p:extLst>
          </p:nvPr>
        </p:nvGraphicFramePr>
        <p:xfrm>
          <a:off x="1832612" y="4179720"/>
          <a:ext cx="789939" cy="25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7" name="Equation" r:id="rId17" imgW="507960" imgH="164880" progId="Equation.3">
                  <p:embed/>
                </p:oleObj>
              </mc:Choice>
              <mc:Fallback>
                <p:oleObj name="Equation" r:id="rId17" imgW="507960" imgH="164880" progId="Equation.3">
                  <p:embed/>
                  <p:pic>
                    <p:nvPicPr>
                      <p:cNvPr id="0" name="Object 9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612" y="4179720"/>
                        <a:ext cx="789939" cy="25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88"/>
          <p:cNvGraphicFramePr>
            <a:graphicFrameLocks noChangeAspect="1"/>
          </p:cNvGraphicFramePr>
          <p:nvPr/>
        </p:nvGraphicFramePr>
        <p:xfrm>
          <a:off x="5863591" y="4000001"/>
          <a:ext cx="1035308" cy="32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8" name="Equation" r:id="rId19" imgW="698400" imgH="215640" progId="Equation.3">
                  <p:embed/>
                </p:oleObj>
              </mc:Choice>
              <mc:Fallback>
                <p:oleObj name="Equation" r:id="rId19" imgW="698400" imgH="215640" progId="Equation.3">
                  <p:embed/>
                  <p:pic>
                    <p:nvPicPr>
                      <p:cNvPr id="0" name="Object 9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591" y="4000001"/>
                        <a:ext cx="1035308" cy="320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89"/>
          <p:cNvGraphicFramePr>
            <a:graphicFrameLocks noChangeAspect="1"/>
          </p:cNvGraphicFramePr>
          <p:nvPr/>
        </p:nvGraphicFramePr>
        <p:xfrm>
          <a:off x="5863589" y="2886824"/>
          <a:ext cx="2190828" cy="35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9" name="Equation" r:id="rId21" imgW="1498320" imgH="241200" progId="Equation.3">
                  <p:embed/>
                </p:oleObj>
              </mc:Choice>
              <mc:Fallback>
                <p:oleObj name="Equation" r:id="rId21" imgW="1498320" imgH="241200" progId="Equation.3">
                  <p:embed/>
                  <p:pic>
                    <p:nvPicPr>
                      <p:cNvPr id="0" name="Object 9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589" y="2886824"/>
                        <a:ext cx="2190828" cy="352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90"/>
          <p:cNvGraphicFramePr>
            <a:graphicFrameLocks noChangeAspect="1"/>
          </p:cNvGraphicFramePr>
          <p:nvPr/>
        </p:nvGraphicFramePr>
        <p:xfrm>
          <a:off x="5863590" y="3278552"/>
          <a:ext cx="2378910" cy="32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0" name="Equation" r:id="rId23" imgW="1587240" imgH="215640" progId="Equation.3">
                  <p:embed/>
                </p:oleObj>
              </mc:Choice>
              <mc:Fallback>
                <p:oleObj name="Equation" r:id="rId23" imgW="1587240" imgH="215640" progId="Equation.3">
                  <p:embed/>
                  <p:pic>
                    <p:nvPicPr>
                      <p:cNvPr id="0" name="Object 9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590" y="3278552"/>
                        <a:ext cx="2378910" cy="324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91"/>
          <p:cNvGraphicFramePr>
            <a:graphicFrameLocks noChangeAspect="1"/>
          </p:cNvGraphicFramePr>
          <p:nvPr/>
        </p:nvGraphicFramePr>
        <p:xfrm>
          <a:off x="5863589" y="3623843"/>
          <a:ext cx="2190828" cy="35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1" name="Equation" r:id="rId25" imgW="1498320" imgH="241200" progId="Equation.3">
                  <p:embed/>
                </p:oleObj>
              </mc:Choice>
              <mc:Fallback>
                <p:oleObj name="Equation" r:id="rId25" imgW="1498320" imgH="241200" progId="Equation.3">
                  <p:embed/>
                  <p:pic>
                    <p:nvPicPr>
                      <p:cNvPr id="0" name="Object 9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3589" y="3623843"/>
                        <a:ext cx="2190828" cy="352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xmlns="" id="{D82F2550-42B5-41D2-A66B-E8A09D655F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901408"/>
              </p:ext>
            </p:extLst>
          </p:nvPr>
        </p:nvGraphicFramePr>
        <p:xfrm>
          <a:off x="3371387" y="3403693"/>
          <a:ext cx="574382" cy="2527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2" name="公式" r:id="rId27" imgW="317160" imgH="139680" progId="Equation.3">
                  <p:embed/>
                </p:oleObj>
              </mc:Choice>
              <mc:Fallback>
                <p:oleObj name="公式" r:id="rId27" imgW="317160" imgH="1396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371387" y="3403693"/>
                        <a:ext cx="574382" cy="2527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DAEE7394-527D-4879-A74F-285B1F060668}"/>
              </a:ext>
            </a:extLst>
          </p:cNvPr>
          <p:cNvGrpSpPr/>
          <p:nvPr/>
        </p:nvGrpSpPr>
        <p:grpSpPr>
          <a:xfrm>
            <a:off x="2042160" y="3671661"/>
            <a:ext cx="1823085" cy="0"/>
            <a:chOff x="2042160" y="3671661"/>
            <a:chExt cx="1823085" cy="0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D08C86DA-E546-4757-81F2-BD1B3E2D753C}"/>
                </a:ext>
              </a:extLst>
            </p:cNvPr>
            <p:cNvCxnSpPr/>
            <p:nvPr/>
          </p:nvCxnSpPr>
          <p:spPr>
            <a:xfrm>
              <a:off x="2042160" y="3671661"/>
              <a:ext cx="80772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xmlns="" id="{5156C9B3-70BA-4B2E-9FEC-467545D48497}"/>
                </a:ext>
              </a:extLst>
            </p:cNvPr>
            <p:cNvCxnSpPr/>
            <p:nvPr/>
          </p:nvCxnSpPr>
          <p:spPr>
            <a:xfrm>
              <a:off x="3057525" y="3671661"/>
              <a:ext cx="80772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132EC333-37EF-4974-B8C8-239766076BF4}"/>
              </a:ext>
            </a:extLst>
          </p:cNvPr>
          <p:cNvGrpSpPr/>
          <p:nvPr/>
        </p:nvGrpSpPr>
        <p:grpSpPr>
          <a:xfrm>
            <a:off x="6062028" y="3623843"/>
            <a:ext cx="2053272" cy="919"/>
            <a:chOff x="6062028" y="3623843"/>
            <a:chExt cx="2053272" cy="919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xmlns="" id="{0C502540-1112-4724-9D09-0A8C2973D5B3}"/>
                </a:ext>
              </a:extLst>
            </p:cNvPr>
            <p:cNvGrpSpPr/>
            <p:nvPr/>
          </p:nvGrpSpPr>
          <p:grpSpPr>
            <a:xfrm>
              <a:off x="6062028" y="3624762"/>
              <a:ext cx="1428432" cy="0"/>
              <a:chOff x="2042160" y="3671661"/>
              <a:chExt cx="1428432" cy="0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xmlns="" id="{36F796C3-7CFE-4B9F-BAAA-E2D85F21A2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2160" y="3671661"/>
                <a:ext cx="293052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xmlns="" id="{186D8F2F-8B9D-405B-8A96-4F6ABB1A32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7525" y="3671661"/>
                <a:ext cx="413067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xmlns="" id="{50B3CE7D-F8AC-4B70-B589-3DB62E86D70E}"/>
                </a:ext>
              </a:extLst>
            </p:cNvPr>
            <p:cNvGrpSpPr/>
            <p:nvPr/>
          </p:nvGrpSpPr>
          <p:grpSpPr>
            <a:xfrm>
              <a:off x="6557328" y="3623843"/>
              <a:ext cx="1557972" cy="0"/>
              <a:chOff x="2042160" y="3671661"/>
              <a:chExt cx="1557972" cy="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xmlns="" id="{02961CBE-D775-446D-A6F4-EF8615DE4C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2160" y="3671661"/>
                <a:ext cx="293052" cy="0"/>
              </a:xfrm>
              <a:prstGeom prst="line">
                <a:avLst/>
              </a:prstGeom>
              <a:ln w="28575">
                <a:solidFill>
                  <a:srgbClr val="66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xmlns="" id="{22CD0A9C-E4C3-4D28-A661-3D30ADB21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7065" y="3671661"/>
                <a:ext cx="413067" cy="0"/>
              </a:xfrm>
              <a:prstGeom prst="line">
                <a:avLst/>
              </a:prstGeom>
              <a:ln w="28575">
                <a:solidFill>
                  <a:srgbClr val="66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93"/>
          <p:cNvSpPr>
            <a:spLocks noChangeArrowheads="1"/>
          </p:cNvSpPr>
          <p:nvPr/>
        </p:nvSpPr>
        <p:spPr bwMode="auto">
          <a:xfrm>
            <a:off x="353378" y="1854518"/>
            <a:ext cx="7772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folHlink"/>
              </a:buClr>
              <a:buSzPct val="150000"/>
              <a:buFont typeface="Wingdings" pitchFamily="2" charset="2"/>
              <a:buNone/>
            </a:pPr>
            <a:r>
              <a:rPr lang="zh-CN" altLang="en-US" sz="16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（2）用真值表证明，即检验等式两边函数的真值表是否一致。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92432" y="780143"/>
            <a:ext cx="3909550" cy="411055"/>
            <a:chOff x="392432" y="780143"/>
            <a:chExt cx="3909550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354776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、逻辑代数的基本定律和恒等式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507368" y="1325591"/>
            <a:ext cx="2314082" cy="401378"/>
            <a:chOff x="358461" y="2491451"/>
            <a:chExt cx="2314082" cy="40137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49" y="2491452"/>
              <a:ext cx="2071194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公式的证明方法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401378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4" name="Group 994"/>
          <p:cNvGrpSpPr>
            <a:grpSpLocks/>
          </p:cNvGrpSpPr>
          <p:nvPr/>
        </p:nvGrpSpPr>
        <p:grpSpPr bwMode="auto">
          <a:xfrm>
            <a:off x="537210" y="2285348"/>
            <a:ext cx="5939128" cy="365662"/>
            <a:chOff x="444" y="859"/>
            <a:chExt cx="3458" cy="221"/>
          </a:xfrm>
        </p:grpSpPr>
        <p:sp>
          <p:nvSpPr>
            <p:cNvPr id="17" name="Rectangle 991"/>
            <p:cNvSpPr>
              <a:spLocks noChangeArrowheads="1"/>
            </p:cNvSpPr>
            <p:nvPr/>
          </p:nvSpPr>
          <p:spPr bwMode="auto">
            <a:xfrm>
              <a:off x="444" y="875"/>
              <a:ext cx="3458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例：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用真值表证明反演律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：                      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，</a:t>
              </a:r>
            </a:p>
          </p:txBody>
        </p:sp>
        <p:graphicFrame>
          <p:nvGraphicFramePr>
            <p:cNvPr id="15" name="Object 989"/>
            <p:cNvGraphicFramePr>
              <a:graphicFrameLocks noChangeAspect="1"/>
            </p:cNvGraphicFramePr>
            <p:nvPr/>
          </p:nvGraphicFramePr>
          <p:xfrm>
            <a:off x="2788" y="866"/>
            <a:ext cx="76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65" r:id="rId5" imgW="761669" imgH="203112" progId="Equation.3">
                    <p:embed/>
                  </p:oleObj>
                </mc:Choice>
                <mc:Fallback>
                  <p:oleObj r:id="rId5" imgW="761669" imgH="203112" progId="Equation.3">
                    <p:embed/>
                    <p:pic>
                      <p:nvPicPr>
                        <p:cNvPr id="0" name="Object 9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8" y="866"/>
                          <a:ext cx="769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88"/>
            <p:cNvGraphicFramePr>
              <a:graphicFrameLocks noChangeAspect="1"/>
            </p:cNvGraphicFramePr>
            <p:nvPr/>
          </p:nvGraphicFramePr>
          <p:xfrm>
            <a:off x="1888" y="859"/>
            <a:ext cx="799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66" name="公式" r:id="rId7" imgW="812520" imgH="203040" progId="Equation.3">
                    <p:embed/>
                  </p:oleObj>
                </mc:Choice>
                <mc:Fallback>
                  <p:oleObj name="公式" r:id="rId7" imgW="812520" imgH="203040" progId="Equation.3">
                    <p:embed/>
                    <p:pic>
                      <p:nvPicPr>
                        <p:cNvPr id="0" name="Object 9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8" y="859"/>
                          <a:ext cx="799" cy="2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1544954" y="2796540"/>
            <a:ext cx="5488306" cy="1623060"/>
            <a:chOff x="1362075" y="3764280"/>
            <a:chExt cx="5200650" cy="1381125"/>
          </a:xfrm>
        </p:grpSpPr>
        <p:pic>
          <p:nvPicPr>
            <p:cNvPr id="64521" name="Picture 9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1362075" y="3764280"/>
              <a:ext cx="5200650" cy="1381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aphicFrame>
          <p:nvGraphicFramePr>
            <p:cNvPr id="19" name="Object 989"/>
            <p:cNvGraphicFramePr>
              <a:graphicFrameLocks noChangeAspect="1"/>
            </p:cNvGraphicFramePr>
            <p:nvPr/>
          </p:nvGraphicFramePr>
          <p:xfrm>
            <a:off x="5711188" y="3873500"/>
            <a:ext cx="523831" cy="25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67" name="公式" r:id="rId10" imgW="393480" imgH="203040" progId="Equation.3">
                    <p:embed/>
                  </p:oleObj>
                </mc:Choice>
                <mc:Fallback>
                  <p:oleObj name="公式" r:id="rId10" imgW="39348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1188" y="3873500"/>
                          <a:ext cx="523831" cy="252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988"/>
            <p:cNvGraphicFramePr>
              <a:graphicFrameLocks noChangeAspect="1"/>
            </p:cNvGraphicFramePr>
            <p:nvPr/>
          </p:nvGraphicFramePr>
          <p:xfrm>
            <a:off x="3737610" y="3873500"/>
            <a:ext cx="474418" cy="25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68" name="公式" r:id="rId12" imgW="330120" imgH="203040" progId="Equation.3">
                    <p:embed/>
                  </p:oleObj>
                </mc:Choice>
                <mc:Fallback>
                  <p:oleObj name="公式" r:id="rId12" imgW="330120" imgH="2030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610" y="3873500"/>
                          <a:ext cx="474418" cy="252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" name="Object 7"/>
            <p:cNvGraphicFramePr>
              <a:graphicFrameLocks noChangeAspect="1"/>
            </p:cNvGraphicFramePr>
            <p:nvPr/>
          </p:nvGraphicFramePr>
          <p:xfrm>
            <a:off x="2721610" y="3873500"/>
            <a:ext cx="488250" cy="25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69" name="公式" r:id="rId14" imgW="393480" imgH="203040" progId="Equation.3">
                    <p:embed/>
                  </p:oleObj>
                </mc:Choice>
                <mc:Fallback>
                  <p:oleObj name="公式" r:id="rId14" imgW="393480" imgH="203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610" y="3873500"/>
                          <a:ext cx="488250" cy="25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" name="Object 8"/>
            <p:cNvGraphicFramePr>
              <a:graphicFrameLocks noChangeAspect="1"/>
            </p:cNvGraphicFramePr>
            <p:nvPr/>
          </p:nvGraphicFramePr>
          <p:xfrm>
            <a:off x="4810760" y="3873500"/>
            <a:ext cx="315000" cy="252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70" name="公式" r:id="rId16" imgW="253800" imgH="203040" progId="Equation.3">
                    <p:embed/>
                  </p:oleObj>
                </mc:Choice>
                <mc:Fallback>
                  <p:oleObj name="公式" r:id="rId16" imgW="25380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0760" y="3873500"/>
                          <a:ext cx="315000" cy="252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2986220" cy="411055"/>
            <a:chOff x="392432" y="780143"/>
            <a:chExt cx="2986220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26244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、逻辑代数的基本规则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50"/>
          <p:cNvSpPr>
            <a:spLocks noChangeArrowheads="1"/>
          </p:cNvSpPr>
          <p:nvPr/>
        </p:nvSpPr>
        <p:spPr bwMode="auto">
          <a:xfrm>
            <a:off x="392432" y="1799012"/>
            <a:ext cx="8462008" cy="665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74738" indent="-1074738"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方正粗黑宋简体" pitchFamily="2" charset="-122"/>
                <a:ea typeface="方正粗黑宋简体" pitchFamily="2" charset="-122"/>
              </a:rPr>
              <a:t>基本内容</a:t>
            </a:r>
            <a:r>
              <a:rPr lang="zh-CN" altLang="en-US" sz="1600" b="1" dirty="0">
                <a:latin typeface="黑体" pitchFamily="49" charset="-122"/>
                <a:ea typeface="黑体" pitchFamily="49" charset="-122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对于任何一个逻辑等式，以某个逻辑变量或逻辑函数同时取代等式两端任何一个逻辑变量后，等式依然成立。</a:t>
            </a:r>
          </a:p>
        </p:txBody>
      </p:sp>
      <p:graphicFrame>
        <p:nvGraphicFramePr>
          <p:cNvPr id="8" name="Object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560325"/>
              </p:ext>
            </p:extLst>
          </p:nvPr>
        </p:nvGraphicFramePr>
        <p:xfrm>
          <a:off x="2619693" y="2559803"/>
          <a:ext cx="3421697" cy="391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23" name="公式" r:id="rId5" imgW="2286000" imgH="241200" progId="Equation.3">
                  <p:embed/>
                </p:oleObj>
              </mc:Choice>
              <mc:Fallback>
                <p:oleObj name="公式" r:id="rId5" imgW="2286000" imgH="241200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693" y="2559803"/>
                        <a:ext cx="3421697" cy="3916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58"/>
          <p:cNvGrpSpPr>
            <a:grpSpLocks/>
          </p:cNvGrpSpPr>
          <p:nvPr/>
        </p:nvGrpSpPr>
        <p:grpSpPr bwMode="auto">
          <a:xfrm>
            <a:off x="619761" y="3454400"/>
            <a:ext cx="4721225" cy="409575"/>
            <a:chOff x="400" y="2744"/>
            <a:chExt cx="2974" cy="258"/>
          </a:xfrm>
        </p:grpSpPr>
        <p:sp>
          <p:nvSpPr>
            <p:cNvPr id="11" name="Rectangle 154"/>
            <p:cNvSpPr>
              <a:spLocks noChangeArrowheads="1"/>
            </p:cNvSpPr>
            <p:nvPr/>
          </p:nvSpPr>
          <p:spPr bwMode="auto">
            <a:xfrm>
              <a:off x="400" y="2744"/>
              <a:ext cx="2974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25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将一个逻辑函数 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L</a:t>
              </a:r>
              <a:r>
                <a:rPr lang="en-US" altLang="zh-CN" sz="1600" i="1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进行</a:t>
              </a:r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对偶变换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得其</a:t>
              </a:r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对偶式</a:t>
              </a:r>
              <a:r>
                <a:rPr lang="zh-CN" altLang="en-US" sz="1600" dirty="0">
                  <a:solidFill>
                    <a:srgbClr val="FF00FF"/>
                  </a:solidFill>
                  <a:latin typeface="黑体" pitchFamily="49" charset="-122"/>
                  <a:ea typeface="黑体" pitchFamily="49" charset="-122"/>
                </a:rPr>
                <a:t>   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</a:p>
          </p:txBody>
        </p:sp>
        <p:graphicFrame>
          <p:nvGraphicFramePr>
            <p:cNvPr id="12" name="Object 1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8783118"/>
                </p:ext>
              </p:extLst>
            </p:nvPr>
          </p:nvGraphicFramePr>
          <p:xfrm>
            <a:off x="2981" y="2793"/>
            <a:ext cx="173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24" name="公式" r:id="rId7" imgW="177480" imgH="164880" progId="Equation.3">
                    <p:embed/>
                  </p:oleObj>
                </mc:Choice>
                <mc:Fallback>
                  <p:oleObj name="公式" r:id="rId7" imgW="177480" imgH="164880" progId="Equation.3">
                    <p:embed/>
                    <p:pic>
                      <p:nvPicPr>
                        <p:cNvPr id="0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1" y="2793"/>
                          <a:ext cx="173" cy="1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12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507368" y="1325591"/>
            <a:ext cx="1717672" cy="401378"/>
            <a:chOff x="358461" y="2491451"/>
            <a:chExt cx="1717672" cy="40137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49" y="2491452"/>
              <a:ext cx="1474784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代入规则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401378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9" name="组合 16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484508" y="2963891"/>
            <a:ext cx="1763392" cy="402907"/>
            <a:chOff x="358461" y="2491451"/>
            <a:chExt cx="1763392" cy="40290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49" y="2499072"/>
              <a:ext cx="1520504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对偶规则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401378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0" name="组合 32"/>
          <p:cNvGrpSpPr/>
          <p:nvPr/>
        </p:nvGrpSpPr>
        <p:grpSpPr>
          <a:xfrm>
            <a:off x="670657" y="4107445"/>
            <a:ext cx="2393465" cy="750276"/>
            <a:chOff x="5034475" y="3246316"/>
            <a:chExt cx="2393465" cy="750276"/>
          </a:xfrm>
        </p:grpSpPr>
        <p:grpSp>
          <p:nvGrpSpPr>
            <p:cNvPr id="13" name="组合 30"/>
            <p:cNvGrpSpPr/>
            <p:nvPr/>
          </p:nvGrpSpPr>
          <p:grpSpPr>
            <a:xfrm>
              <a:off x="5034475" y="3246316"/>
              <a:ext cx="2393465" cy="750276"/>
              <a:chOff x="5034475" y="3322516"/>
              <a:chExt cx="2393465" cy="750276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5548911" y="3338146"/>
                <a:ext cx="1879029" cy="72331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流程图: 可选过程 21"/>
              <p:cNvSpPr/>
              <p:nvPr/>
            </p:nvSpPr>
            <p:spPr>
              <a:xfrm>
                <a:off x="5034475" y="3322516"/>
                <a:ext cx="527135" cy="750276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对偶变换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5593080" y="3288715"/>
              <a:ext cx="178308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</a:t>
              </a: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•  → +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， </a:t>
              </a: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+ 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→ </a:t>
              </a: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•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</a:t>
              </a:r>
              <a:endParaRPr lang="en-US" altLang="zh-CN" b="1" dirty="0">
                <a:solidFill>
                  <a:srgbClr val="6600FF"/>
                </a:solidFill>
                <a:ea typeface="楷体" pitchFamily="49" charset="-122"/>
              </a:endParaRPr>
            </a:p>
            <a:p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 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0 → 1  ， 1  → 0</a:t>
              </a:r>
              <a:endParaRPr lang="zh-CN" altLang="en-US" dirty="0">
                <a:solidFill>
                  <a:srgbClr val="6600FF"/>
                </a:solidFill>
              </a:endParaRPr>
            </a:p>
          </p:txBody>
        </p:sp>
      </p:grpSp>
      <p:sp>
        <p:nvSpPr>
          <p:cNvPr id="34" name="Rectangle 42"/>
          <p:cNvSpPr>
            <a:spLocks noChangeArrowheads="1"/>
          </p:cNvSpPr>
          <p:nvPr/>
        </p:nvSpPr>
        <p:spPr bwMode="auto">
          <a:xfrm>
            <a:off x="578805" y="5013568"/>
            <a:ext cx="7637780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578100" indent="-2578100">
              <a:lnSpc>
                <a:spcPct val="125000"/>
              </a:lnSpc>
              <a:spcBef>
                <a:spcPct val="50000"/>
              </a:spcBef>
              <a:buClr>
                <a:schemeClr val="tx1"/>
              </a:buClr>
              <a:buSzPct val="70000"/>
              <a:buFont typeface="Monotype Sorts" pitchFamily="2" charset="2"/>
              <a:buNone/>
              <a:tabLst>
                <a:tab pos="2286000" algn="l"/>
              </a:tabLst>
            </a:pPr>
            <a:r>
              <a:rPr lang="zh-CN" altLang="en-US" sz="1600" dirty="0">
                <a:solidFill>
                  <a:srgbClr val="6600FF"/>
                </a:solidFill>
                <a:latin typeface="方正粗黑宋简体" pitchFamily="2" charset="-122"/>
                <a:ea typeface="方正粗黑宋简体" pitchFamily="2" charset="-122"/>
              </a:rPr>
              <a:t>基本内容</a:t>
            </a:r>
            <a:r>
              <a:rPr kumimoji="1" lang="zh-CN" altLang="en-US" b="1" dirty="0">
                <a:solidFill>
                  <a:schemeClr val="tx1"/>
                </a:solidFill>
                <a:latin typeface="Arial" charset="0"/>
                <a:ea typeface="黑体" pitchFamily="49" charset="-122"/>
              </a:rPr>
              <a:t>：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如果两个逻辑函数表达式相等，那么它们的对偶式也一定相等。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FC140757-AD71-442F-8AE4-86633B4F65FE}"/>
              </a:ext>
            </a:extLst>
          </p:cNvPr>
          <p:cNvGrpSpPr/>
          <p:nvPr/>
        </p:nvGrpSpPr>
        <p:grpSpPr>
          <a:xfrm>
            <a:off x="3672028" y="4082791"/>
            <a:ext cx="2934615" cy="691426"/>
            <a:chOff x="3672028" y="4082791"/>
            <a:chExt cx="2934615" cy="691426"/>
          </a:xfrm>
        </p:grpSpPr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xmlns="" id="{EA5013E2-B6B4-49D3-AD75-BE3C351FBC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260903"/>
                </p:ext>
              </p:extLst>
            </p:nvPr>
          </p:nvGraphicFramePr>
          <p:xfrm>
            <a:off x="3952804" y="4082791"/>
            <a:ext cx="2022527" cy="2739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25" name="公式" r:id="rId9" imgW="1104840" imgH="164880" progId="Equation.3">
                    <p:embed/>
                  </p:oleObj>
                </mc:Choice>
                <mc:Fallback>
                  <p:oleObj name="公式" r:id="rId9" imgW="1104840" imgH="164880" progId="Equation.3">
                    <p:embed/>
                    <p:pic>
                      <p:nvPicPr>
                        <p:cNvPr id="37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04" y="4082791"/>
                          <a:ext cx="2022527" cy="27394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xmlns="" id="{AADBB60F-B5D2-46F0-AF01-6E78FDC3D0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4448587"/>
                </p:ext>
              </p:extLst>
            </p:nvPr>
          </p:nvGraphicFramePr>
          <p:xfrm>
            <a:off x="3672028" y="4450266"/>
            <a:ext cx="2934615" cy="323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26" name="公式" r:id="rId11" imgW="1955520" imgH="215640" progId="Equation.3">
                    <p:embed/>
                  </p:oleObj>
                </mc:Choice>
                <mc:Fallback>
                  <p:oleObj name="公式" r:id="rId11" imgW="1955520" imgH="21564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72028" y="4450266"/>
                          <a:ext cx="2934615" cy="3239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xmlns="" id="{EC491B8C-3774-4812-B725-E8D2A28B8592}"/>
              </a:ext>
            </a:extLst>
          </p:cNvPr>
          <p:cNvSpPr/>
          <p:nvPr/>
        </p:nvSpPr>
        <p:spPr>
          <a:xfrm>
            <a:off x="3595150" y="2882938"/>
            <a:ext cx="2022528" cy="363926"/>
          </a:xfrm>
          <a:custGeom>
            <a:avLst/>
            <a:gdLst>
              <a:gd name="connsiteX0" fmla="*/ 0 w 1790700"/>
              <a:gd name="connsiteY0" fmla="*/ 15875 h 117571"/>
              <a:gd name="connsiteX1" fmla="*/ 996950 w 1790700"/>
              <a:gd name="connsiteY1" fmla="*/ 117475 h 117571"/>
              <a:gd name="connsiteX2" fmla="*/ 1790700 w 1790700"/>
              <a:gd name="connsiteY2" fmla="*/ 0 h 11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700" h="117571">
                <a:moveTo>
                  <a:pt x="0" y="15875"/>
                </a:moveTo>
                <a:cubicBezTo>
                  <a:pt x="349250" y="67998"/>
                  <a:pt x="698500" y="120121"/>
                  <a:pt x="996950" y="117475"/>
                </a:cubicBezTo>
                <a:cubicBezTo>
                  <a:pt x="1295400" y="114829"/>
                  <a:pt x="1543050" y="57414"/>
                  <a:pt x="1790700" y="0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xmlns="" id="{D21B6ED8-84BC-4F80-BB92-3350E525AAF9}"/>
              </a:ext>
            </a:extLst>
          </p:cNvPr>
          <p:cNvSpPr/>
          <p:nvPr/>
        </p:nvSpPr>
        <p:spPr>
          <a:xfrm>
            <a:off x="2891692" y="2864086"/>
            <a:ext cx="1680308" cy="346419"/>
          </a:xfrm>
          <a:custGeom>
            <a:avLst/>
            <a:gdLst>
              <a:gd name="connsiteX0" fmla="*/ 0 w 1790700"/>
              <a:gd name="connsiteY0" fmla="*/ 15875 h 117571"/>
              <a:gd name="connsiteX1" fmla="*/ 996950 w 1790700"/>
              <a:gd name="connsiteY1" fmla="*/ 117475 h 117571"/>
              <a:gd name="connsiteX2" fmla="*/ 1790700 w 1790700"/>
              <a:gd name="connsiteY2" fmla="*/ 0 h 11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700" h="117571">
                <a:moveTo>
                  <a:pt x="0" y="15875"/>
                </a:moveTo>
                <a:cubicBezTo>
                  <a:pt x="349250" y="67998"/>
                  <a:pt x="698500" y="120121"/>
                  <a:pt x="996950" y="117475"/>
                </a:cubicBezTo>
                <a:cubicBezTo>
                  <a:pt x="1295400" y="114829"/>
                  <a:pt x="1543050" y="57414"/>
                  <a:pt x="1790700" y="0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7" name="组合 41"/>
          <p:cNvGrpSpPr/>
          <p:nvPr/>
        </p:nvGrpSpPr>
        <p:grpSpPr>
          <a:xfrm>
            <a:off x="1369243" y="1383310"/>
            <a:ext cx="5699415" cy="3819226"/>
            <a:chOff x="2880360" y="603885"/>
            <a:chExt cx="6164580" cy="3993114"/>
          </a:xfrm>
        </p:grpSpPr>
        <p:grpSp>
          <p:nvGrpSpPr>
            <p:cNvPr id="21" name="组合 34"/>
            <p:cNvGrpSpPr/>
            <p:nvPr/>
          </p:nvGrpSpPr>
          <p:grpSpPr>
            <a:xfrm>
              <a:off x="2880360" y="603885"/>
              <a:ext cx="6164580" cy="3975735"/>
              <a:chOff x="964883" y="1129665"/>
              <a:chExt cx="6164580" cy="3975735"/>
            </a:xfrm>
            <a:solidFill>
              <a:schemeClr val="bg1"/>
            </a:solidFill>
          </p:grpSpPr>
          <p:pic>
            <p:nvPicPr>
              <p:cNvPr id="36" name="Picture 28"/>
              <p:cNvPicPr>
                <a:picLocks noChangeAspect="1" noChangeArrowheads="1"/>
              </p:cNvPicPr>
              <p:nvPr/>
            </p:nvPicPr>
            <p:blipFill>
              <a:blip r:embed="rId13"/>
              <a:srcRect l="-2243" b="-7026"/>
              <a:stretch>
                <a:fillRect/>
              </a:stretch>
            </p:blipFill>
            <p:spPr bwMode="auto">
              <a:xfrm>
                <a:off x="964883" y="1129665"/>
                <a:ext cx="6164580" cy="397573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70C0"/>
                </a:solidFill>
                <a:miter lim="800000"/>
                <a:headEnd/>
                <a:tailEnd/>
              </a:ln>
              <a:effectLst/>
            </p:spPr>
          </p:pic>
          <p:graphicFrame>
            <p:nvGraphicFramePr>
              <p:cNvPr id="37" name="对象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3322316"/>
                  </p:ext>
                </p:extLst>
              </p:nvPr>
            </p:nvGraphicFramePr>
            <p:xfrm>
              <a:off x="2068426" y="1548199"/>
              <a:ext cx="1694745" cy="28797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727" name="公式" r:id="rId14" imgW="1752480" imgH="2539800" progId="Equation.3">
                      <p:embed/>
                    </p:oleObj>
                  </mc:Choice>
                  <mc:Fallback>
                    <p:oleObj name="公式" r:id="rId14" imgW="1752480" imgH="2539800" progId="Equation.3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8426" y="1548199"/>
                            <a:ext cx="1694745" cy="28797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5672735"/>
                  </p:ext>
                </p:extLst>
              </p:nvPr>
            </p:nvGraphicFramePr>
            <p:xfrm>
              <a:off x="4126548" y="1540510"/>
              <a:ext cx="2792412" cy="28797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728" name="公式" r:id="rId16" imgW="2463480" imgH="2539800" progId="Equation.3">
                      <p:embed/>
                    </p:oleObj>
                  </mc:Choice>
                  <mc:Fallback>
                    <p:oleObj name="公式" r:id="rId16" imgW="2463480" imgH="253980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6548" y="1540510"/>
                            <a:ext cx="2792412" cy="28797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25"/>
              <p:cNvGraphicFramePr>
                <a:graphicFrameLocks noChangeAspect="1"/>
              </p:cNvGraphicFramePr>
              <p:nvPr/>
            </p:nvGraphicFramePr>
            <p:xfrm>
              <a:off x="2084546" y="4477702"/>
              <a:ext cx="452914" cy="233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729" name="公式" r:id="rId18" imgW="419040" imgH="215640" progId="Equation.3">
                      <p:embed/>
                    </p:oleObj>
                  </mc:Choice>
                  <mc:Fallback>
                    <p:oleObj name="公式" r:id="rId18" imgW="419040" imgH="215640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4546" y="4477702"/>
                            <a:ext cx="452914" cy="2333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" name="矩形 39"/>
            <p:cNvSpPr/>
            <p:nvPr/>
          </p:nvSpPr>
          <p:spPr>
            <a:xfrm>
              <a:off x="5103117" y="4258445"/>
              <a:ext cx="226536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公式</a:t>
              </a:r>
              <a:r>
                <a:rPr lang="en-US" altLang="zh-CN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和公式</a:t>
              </a:r>
              <a:r>
                <a:rPr lang="en-US" altLang="zh-CN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sz="1600" dirty="0">
                  <a:solidFill>
                    <a:srgbClr val="6600FF"/>
                  </a:solidFill>
                  <a:latin typeface="方正粗黑宋简体" pitchFamily="2" charset="-122"/>
                  <a:ea typeface="方正粗黑宋简体" pitchFamily="2" charset="-122"/>
                </a:rPr>
                <a:t>互为对偶</a:t>
              </a:r>
            </a:p>
          </p:txBody>
        </p:sp>
      </p:grpSp>
      <p:sp>
        <p:nvSpPr>
          <p:cNvPr id="35" name="圆角矩形 11">
            <a:extLst>
              <a:ext uri="{FF2B5EF4-FFF2-40B4-BE49-F238E27FC236}">
                <a16:creationId xmlns:a16="http://schemas.microsoft.com/office/drawing/2014/main" xmlns="" id="{729B9A5D-DA90-4E68-BFB5-C3C403632467}"/>
              </a:ext>
            </a:extLst>
          </p:cNvPr>
          <p:cNvSpPr/>
          <p:nvPr/>
        </p:nvSpPr>
        <p:spPr>
          <a:xfrm>
            <a:off x="2361186" y="3758865"/>
            <a:ext cx="3073716" cy="236220"/>
          </a:xfrm>
          <a:prstGeom prst="roundRect">
            <a:avLst>
              <a:gd name="adj" fmla="val 9167"/>
            </a:avLst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xmlns="" id="{B7886530-BB8B-45E9-BC65-A65D0354A31B}"/>
              </a:ext>
            </a:extLst>
          </p:cNvPr>
          <p:cNvSpPr/>
          <p:nvPr/>
        </p:nvSpPr>
        <p:spPr>
          <a:xfrm flipV="1">
            <a:off x="2682131" y="3571739"/>
            <a:ext cx="1790700" cy="201556"/>
          </a:xfrm>
          <a:custGeom>
            <a:avLst/>
            <a:gdLst>
              <a:gd name="connsiteX0" fmla="*/ 0 w 1790700"/>
              <a:gd name="connsiteY0" fmla="*/ 15875 h 117571"/>
              <a:gd name="connsiteX1" fmla="*/ 996950 w 1790700"/>
              <a:gd name="connsiteY1" fmla="*/ 117475 h 117571"/>
              <a:gd name="connsiteX2" fmla="*/ 1790700 w 1790700"/>
              <a:gd name="connsiteY2" fmla="*/ 0 h 11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700" h="117571">
                <a:moveTo>
                  <a:pt x="0" y="15875"/>
                </a:moveTo>
                <a:cubicBezTo>
                  <a:pt x="349250" y="67998"/>
                  <a:pt x="698500" y="120121"/>
                  <a:pt x="996950" y="117475"/>
                </a:cubicBezTo>
                <a:cubicBezTo>
                  <a:pt x="1295400" y="114829"/>
                  <a:pt x="1543050" y="57414"/>
                  <a:pt x="1790700" y="0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xmlns="" id="{47798038-E3F1-4CF2-9899-1494EE79D701}"/>
              </a:ext>
            </a:extLst>
          </p:cNvPr>
          <p:cNvSpPr/>
          <p:nvPr/>
        </p:nvSpPr>
        <p:spPr>
          <a:xfrm>
            <a:off x="3096740" y="3967329"/>
            <a:ext cx="2043206" cy="247356"/>
          </a:xfrm>
          <a:custGeom>
            <a:avLst/>
            <a:gdLst>
              <a:gd name="connsiteX0" fmla="*/ 0 w 1790700"/>
              <a:gd name="connsiteY0" fmla="*/ 15875 h 117571"/>
              <a:gd name="connsiteX1" fmla="*/ 996950 w 1790700"/>
              <a:gd name="connsiteY1" fmla="*/ 117475 h 117571"/>
              <a:gd name="connsiteX2" fmla="*/ 1790700 w 1790700"/>
              <a:gd name="connsiteY2" fmla="*/ 0 h 117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0700" h="117571">
                <a:moveTo>
                  <a:pt x="0" y="15875"/>
                </a:moveTo>
                <a:cubicBezTo>
                  <a:pt x="349250" y="67998"/>
                  <a:pt x="698500" y="120121"/>
                  <a:pt x="996950" y="117475"/>
                </a:cubicBezTo>
                <a:cubicBezTo>
                  <a:pt x="1295400" y="114829"/>
                  <a:pt x="1543050" y="57414"/>
                  <a:pt x="1790700" y="0"/>
                </a:cubicBezTo>
              </a:path>
            </a:pathLst>
          </a:cu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4" grpId="0"/>
      <p:bldP spid="43" grpId="0" animBg="1"/>
      <p:bldP spid="44" grpId="0" animBg="1"/>
      <p:bldP spid="35" grpId="0" animBg="1"/>
      <p:bldP spid="28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2986220" cy="411055"/>
            <a:chOff x="392432" y="780143"/>
            <a:chExt cx="2986220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26244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、逻辑代数的基本规则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50"/>
          <p:cNvSpPr>
            <a:spLocks noChangeArrowheads="1"/>
          </p:cNvSpPr>
          <p:nvPr/>
        </p:nvSpPr>
        <p:spPr bwMode="auto">
          <a:xfrm>
            <a:off x="474980" y="1823085"/>
            <a:ext cx="58648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82663" indent="-982663"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基本内容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将一个逻辑函数 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en-US" altLang="zh-CN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进行反演变换，即可得到该函数的反函数。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507368" y="1325591"/>
            <a:ext cx="1717672" cy="402907"/>
            <a:chOff x="358461" y="2491451"/>
            <a:chExt cx="1717672" cy="40290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349" y="2499072"/>
              <a:ext cx="1474784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反演规则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401378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653811" y="1021080"/>
            <a:ext cx="1879029" cy="1805940"/>
            <a:chOff x="5548911" y="2948940"/>
            <a:chExt cx="1879029" cy="1805940"/>
          </a:xfrm>
        </p:grpSpPr>
        <p:grpSp>
          <p:nvGrpSpPr>
            <p:cNvPr id="31" name="组合 30"/>
            <p:cNvGrpSpPr/>
            <p:nvPr/>
          </p:nvGrpSpPr>
          <p:grpSpPr>
            <a:xfrm>
              <a:off x="5548911" y="2948940"/>
              <a:ext cx="1879029" cy="1805940"/>
              <a:chOff x="5548911" y="3025140"/>
              <a:chExt cx="1879029" cy="1805940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5548911" y="3172380"/>
                <a:ext cx="1879029" cy="1658700"/>
              </a:xfrm>
              <a:prstGeom prst="roundRect">
                <a:avLst>
                  <a:gd name="adj" fmla="val 9776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流程图: 可选过程 21"/>
              <p:cNvSpPr/>
              <p:nvPr/>
            </p:nvSpPr>
            <p:spPr>
              <a:xfrm>
                <a:off x="5891241" y="3025140"/>
                <a:ext cx="1194369" cy="290457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反演变换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5593080" y="3288715"/>
              <a:ext cx="1783080" cy="1447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</a:t>
              </a: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•  → +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， </a:t>
              </a: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+ 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→ </a:t>
              </a: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•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 </a:t>
              </a:r>
              <a:endParaRPr lang="en-US" altLang="zh-CN" b="1" dirty="0">
                <a:solidFill>
                  <a:srgbClr val="6600FF"/>
                </a:solidFill>
                <a:ea typeface="楷体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b="1" dirty="0">
                  <a:solidFill>
                    <a:srgbClr val="6600FF"/>
                  </a:solidFill>
                  <a:ea typeface="楷体" pitchFamily="49" charset="-122"/>
                </a:rPr>
                <a:t> </a:t>
              </a: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0 → 1  ， 1  → 0</a:t>
              </a:r>
              <a:endParaRPr lang="en-US" altLang="zh-CN" b="1" dirty="0">
                <a:solidFill>
                  <a:srgbClr val="6600FF"/>
                </a:solidFill>
                <a:ea typeface="楷体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原变量→反变量</a:t>
              </a:r>
              <a:endParaRPr lang="en-US" altLang="zh-CN" b="1" dirty="0">
                <a:solidFill>
                  <a:srgbClr val="6600FF"/>
                </a:solidFill>
                <a:ea typeface="楷体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b="1" dirty="0">
                  <a:solidFill>
                    <a:srgbClr val="6600FF"/>
                  </a:solidFill>
                  <a:ea typeface="楷体" pitchFamily="49" charset="-122"/>
                </a:rPr>
                <a:t>反变量→原变量</a:t>
              </a:r>
              <a:endParaRPr lang="zh-CN" altLang="en-US" dirty="0">
                <a:solidFill>
                  <a:srgbClr val="6600FF"/>
                </a:solidFill>
              </a:endParaRPr>
            </a:p>
          </p:txBody>
        </p:sp>
      </p:grpSp>
      <p:graphicFrame>
        <p:nvGraphicFramePr>
          <p:cNvPr id="1080655" name="Object 335"/>
          <p:cNvGraphicFramePr>
            <a:graphicFrameLocks noChangeAspect="1"/>
          </p:cNvGraphicFramePr>
          <p:nvPr/>
        </p:nvGraphicFramePr>
        <p:xfrm>
          <a:off x="1019175" y="2667000"/>
          <a:ext cx="44672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公式" r:id="rId5" imgW="3009600" imgH="241200" progId="Equation.3">
                  <p:embed/>
                </p:oleObj>
              </mc:Choice>
              <mc:Fallback>
                <p:oleObj name="公式" r:id="rId5" imgW="3009600" imgH="241200" progId="Equation.3">
                  <p:embed/>
                  <p:pic>
                    <p:nvPicPr>
                      <p:cNvPr id="0" name="Object 3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667000"/>
                        <a:ext cx="446722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657" name="Object 337"/>
          <p:cNvGraphicFramePr>
            <a:graphicFrameLocks noChangeAspect="1"/>
          </p:cNvGraphicFramePr>
          <p:nvPr/>
        </p:nvGraphicFramePr>
        <p:xfrm>
          <a:off x="1013460" y="3088542"/>
          <a:ext cx="4236720" cy="38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4" name="Equation" r:id="rId7" imgW="2971800" imgH="266400" progId="Equation.3">
                  <p:embed/>
                </p:oleObj>
              </mc:Choice>
              <mc:Fallback>
                <p:oleObj name="Equation" r:id="rId7" imgW="2971800" imgH="266400" progId="Equation.3">
                  <p:embed/>
                  <p:pic>
                    <p:nvPicPr>
                      <p:cNvPr id="0" name="Object 3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460" y="3088542"/>
                        <a:ext cx="4236720" cy="3861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组合 44"/>
          <p:cNvGrpSpPr/>
          <p:nvPr/>
        </p:nvGrpSpPr>
        <p:grpSpPr>
          <a:xfrm>
            <a:off x="625475" y="3666489"/>
            <a:ext cx="7291705" cy="1256031"/>
            <a:chOff x="5603875" y="3086099"/>
            <a:chExt cx="7291705" cy="1256031"/>
          </a:xfrm>
        </p:grpSpPr>
        <p:sp>
          <p:nvSpPr>
            <p:cNvPr id="46" name="剪去对角的矩形 45"/>
            <p:cNvSpPr/>
            <p:nvPr/>
          </p:nvSpPr>
          <p:spPr>
            <a:xfrm>
              <a:off x="5765800" y="3219450"/>
              <a:ext cx="7129780" cy="1122680"/>
            </a:xfrm>
            <a:prstGeom prst="snip2Diag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  <a:buClr>
                  <a:schemeClr val="tx1"/>
                </a:buClr>
                <a:buSzPct val="70000"/>
                <a:buFont typeface="Monotype Sorts" pitchFamily="2" charset="2"/>
                <a:buNone/>
                <a:defRPr/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注意：</a:t>
              </a:r>
              <a:r>
                <a:rPr kumimoji="1"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反演变换中要注意以下两点：</a:t>
              </a:r>
            </a:p>
            <a:p>
              <a:pPr>
                <a:lnSpc>
                  <a:spcPct val="125000"/>
                </a:lnSpc>
                <a:buClr>
                  <a:schemeClr val="tx1"/>
                </a:buClr>
                <a:buSzPct val="70000"/>
                <a:buFont typeface="Monotype Sorts" pitchFamily="2" charset="2"/>
                <a:buNone/>
                <a:defRPr/>
              </a:pPr>
              <a:r>
                <a:rPr kumimoji="1"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   （1）保持运算的优先顺序不变，必要时加括号表明，如例(1)。</a:t>
              </a:r>
            </a:p>
            <a:p>
              <a:pPr>
                <a:lnSpc>
                  <a:spcPct val="125000"/>
                </a:lnSpc>
                <a:buClr>
                  <a:schemeClr val="tx1"/>
                </a:buClr>
                <a:buSzPct val="70000"/>
                <a:buFont typeface="Monotype Sorts" pitchFamily="2" charset="2"/>
                <a:buNone/>
                <a:defRPr/>
              </a:pPr>
              <a:r>
                <a:rPr kumimoji="1" lang="zh-CN" altLang="en-US" sz="16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   （2）变换中，几个变量（一个以上）的公共非号保持不变，如例(2)。</a:t>
              </a:r>
              <a:endParaRPr lang="zh-CN" altLang="en-US" sz="1600" dirty="0">
                <a:solidFill>
                  <a:srgbClr val="0000FF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47" name="Picture 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603875" y="3086099"/>
              <a:ext cx="320675" cy="320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80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80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80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80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80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80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80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80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041354" y="1824567"/>
            <a:ext cx="6772956" cy="2072333"/>
            <a:chOff x="1041354" y="1824567"/>
            <a:chExt cx="6772956" cy="2072333"/>
          </a:xfrm>
        </p:grpSpPr>
        <p:grpSp>
          <p:nvGrpSpPr>
            <p:cNvPr id="17" name="组合 16"/>
            <p:cNvGrpSpPr/>
            <p:nvPr/>
          </p:nvGrpSpPr>
          <p:grpSpPr>
            <a:xfrm>
              <a:off x="1101090" y="1824567"/>
              <a:ext cx="1371600" cy="760000"/>
              <a:chOff x="1101090" y="1824567"/>
              <a:chExt cx="1371600" cy="760000"/>
            </a:xfrm>
          </p:grpSpPr>
          <p:grpSp>
            <p:nvGrpSpPr>
              <p:cNvPr id="3" name="组合 35"/>
              <p:cNvGrpSpPr/>
              <p:nvPr/>
            </p:nvGrpSpPr>
            <p:grpSpPr>
              <a:xfrm>
                <a:off x="1101090" y="1972734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" name="组合 36"/>
              <p:cNvGrpSpPr/>
              <p:nvPr/>
            </p:nvGrpSpPr>
            <p:grpSpPr>
              <a:xfrm rot="5400000">
                <a:off x="986715" y="2155037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0" name="直接连接符 1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组合 17"/>
            <p:cNvGrpSpPr/>
            <p:nvPr/>
          </p:nvGrpSpPr>
          <p:grpSpPr>
            <a:xfrm>
              <a:off x="6442710" y="3136900"/>
              <a:ext cx="1371600" cy="760000"/>
              <a:chOff x="6442710" y="3136900"/>
              <a:chExt cx="1371600" cy="760000"/>
            </a:xfrm>
          </p:grpSpPr>
          <p:grpSp>
            <p:nvGrpSpPr>
              <p:cNvPr id="6" name="组合 35"/>
              <p:cNvGrpSpPr/>
              <p:nvPr/>
            </p:nvGrpSpPr>
            <p:grpSpPr>
              <a:xfrm rot="10800000">
                <a:off x="6442710" y="3638667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31" name="直接连接符 30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16200000">
                <a:off x="7092485" y="3467370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文本框 6"/>
            <p:cNvSpPr txBox="1"/>
            <p:nvPr/>
          </p:nvSpPr>
          <p:spPr>
            <a:xfrm>
              <a:off x="1041354" y="2166579"/>
              <a:ext cx="6498792" cy="125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</a:t>
              </a:r>
              <a:r>
                <a:rPr lang="en-US" altLang="zh-CN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2</a:t>
              </a:r>
              <a:r>
                <a:rPr lang="zh-CN" altLang="en-US" sz="34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章 逻辑代数</a:t>
              </a:r>
              <a:endParaRPr lang="en-US" altLang="zh-CN" sz="3400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en-US" altLang="zh-CN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2.2 </a:t>
              </a:r>
              <a:r>
                <a:rPr lang="zh-CN" altLang="zh-CN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逻辑</a:t>
              </a:r>
              <a:r>
                <a:rPr lang="zh-CN" altLang="en-US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函数的代数化简与变换</a:t>
              </a:r>
            </a:p>
          </p:txBody>
        </p:sp>
      </p:grp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70278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126"/>
          <p:cNvGraphicFramePr>
            <a:graphicFrameLocks noChangeAspect="1"/>
          </p:cNvGraphicFramePr>
          <p:nvPr/>
        </p:nvGraphicFramePr>
        <p:xfrm>
          <a:off x="840105" y="1437958"/>
          <a:ext cx="2216152" cy="206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2" name="公式" r:id="rId4" imgW="1193760" imgH="1384200" progId="Equation.3">
                  <p:embed/>
                </p:oleObj>
              </mc:Choice>
              <mc:Fallback>
                <p:oleObj name="公式" r:id="rId4" imgW="1193760" imgH="1384200" progId="Equation.3">
                  <p:embed/>
                  <p:pic>
                    <p:nvPicPr>
                      <p:cNvPr id="7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5" y="1437958"/>
                        <a:ext cx="2216152" cy="2060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92432" y="780143"/>
            <a:ext cx="3282776" cy="411055"/>
            <a:chOff x="392432" y="780143"/>
            <a:chExt cx="3282776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29209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、逻辑函数式的常见形式 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AutoShape 134"/>
          <p:cNvSpPr>
            <a:spLocks noChangeArrowheads="1"/>
          </p:cNvSpPr>
          <p:nvPr/>
        </p:nvSpPr>
        <p:spPr bwMode="auto">
          <a:xfrm>
            <a:off x="4693920" y="1190595"/>
            <a:ext cx="1524000" cy="490856"/>
          </a:xfrm>
          <a:prstGeom prst="wedgeRoundRectCallout">
            <a:avLst>
              <a:gd name="adj1" fmla="val -63428"/>
              <a:gd name="adj2" fmla="val 49684"/>
              <a:gd name="adj3" fmla="val 16667"/>
            </a:avLst>
          </a:prstGeom>
          <a:solidFill>
            <a:srgbClr val="FFFF99"/>
          </a:solidFill>
          <a:ln w="12700">
            <a:solidFill>
              <a:srgbClr val="6600FF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最基本形式</a:t>
            </a:r>
          </a:p>
        </p:txBody>
      </p:sp>
      <p:sp>
        <p:nvSpPr>
          <p:cNvPr id="10" name="AutoShape 136"/>
          <p:cNvSpPr>
            <a:spLocks noChangeArrowheads="1"/>
          </p:cNvSpPr>
          <p:nvPr/>
        </p:nvSpPr>
        <p:spPr bwMode="auto">
          <a:xfrm>
            <a:off x="5355907" y="1957467"/>
            <a:ext cx="3702635" cy="999068"/>
          </a:xfrm>
          <a:prstGeom prst="wedgeRoundRectCallout">
            <a:avLst>
              <a:gd name="adj1" fmla="val -73509"/>
              <a:gd name="adj2" fmla="val -59306"/>
              <a:gd name="adj3" fmla="val 16667"/>
            </a:avLst>
          </a:prstGeom>
          <a:solidFill>
            <a:srgbClr val="CCFFCC"/>
          </a:solidFill>
          <a:ln w="9525">
            <a:solidFill>
              <a:srgbClr val="6600FF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>
            <a:spAutoFit/>
          </a:bodyPr>
          <a:lstStyle/>
          <a:p>
            <a:pPr marL="673100" indent="-673100" algn="ctr">
              <a:lnSpc>
                <a:spcPct val="125000"/>
              </a:lnSpc>
            </a:pPr>
            <a:r>
              <a:rPr lang="zh-CN" altLang="en-US" sz="1600" dirty="0">
                <a:latin typeface="方正粗黑宋简体" pitchFamily="2" charset="-122"/>
                <a:ea typeface="方正粗黑宋简体" pitchFamily="2" charset="-122"/>
              </a:rPr>
              <a:t>最简与—或表达式的标准</a:t>
            </a:r>
          </a:p>
          <a:p>
            <a:pPr marL="673100" indent="-673100" algn="just">
              <a:lnSpc>
                <a:spcPct val="125000"/>
              </a:lnSpc>
            </a:pPr>
            <a:r>
              <a:rPr lang="zh-CN" altLang="en-US" sz="1600" dirty="0">
                <a:latin typeface="方正粗黑宋简体" pitchFamily="2" charset="-122"/>
                <a:ea typeface="方正粗黑宋简体" pitchFamily="2" charset="-122"/>
              </a:rPr>
              <a:t>1）与项最少</a:t>
            </a:r>
            <a:r>
              <a:rPr lang="en-US" altLang="zh-CN" sz="1600" dirty="0">
                <a:latin typeface="方正粗黑宋简体" pitchFamily="2" charset="-122"/>
                <a:ea typeface="方正粗黑宋简体" pitchFamily="2" charset="-122"/>
              </a:rPr>
              <a:t>(“+”</a:t>
            </a:r>
            <a:r>
              <a:rPr lang="zh-CN" altLang="en-US" sz="1600" dirty="0">
                <a:latin typeface="方正粗黑宋简体" pitchFamily="2" charset="-122"/>
                <a:ea typeface="方正粗黑宋简体" pitchFamily="2" charset="-122"/>
              </a:rPr>
              <a:t>最少</a:t>
            </a:r>
            <a:r>
              <a:rPr lang="en-US" altLang="zh-CN" sz="1600" dirty="0">
                <a:latin typeface="方正粗黑宋简体" pitchFamily="2" charset="-122"/>
                <a:ea typeface="方正粗黑宋简体" pitchFamily="2" charset="-122"/>
              </a:rPr>
              <a:t>)</a:t>
            </a:r>
            <a:endParaRPr lang="zh-CN" altLang="en-US" sz="1600" dirty="0">
              <a:latin typeface="方正粗黑宋简体" pitchFamily="2" charset="-122"/>
              <a:ea typeface="方正粗黑宋简体" pitchFamily="2" charset="-122"/>
            </a:endParaRPr>
          </a:p>
          <a:p>
            <a:pPr marL="358775" indent="-358775" algn="just">
              <a:lnSpc>
                <a:spcPct val="125000"/>
              </a:lnSpc>
            </a:pPr>
            <a:r>
              <a:rPr lang="zh-CN" altLang="en-US" sz="1600" dirty="0">
                <a:latin typeface="方正粗黑宋简体" pitchFamily="2" charset="-122"/>
                <a:ea typeface="方正粗黑宋简体" pitchFamily="2" charset="-122"/>
              </a:rPr>
              <a:t>2）每个与项变量数最少（“</a:t>
            </a:r>
            <a:r>
              <a:rPr lang="en-US" altLang="zh-CN" sz="1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latin typeface="方正粗黑宋简体" pitchFamily="2" charset="-122"/>
                <a:ea typeface="方正粗黑宋简体" pitchFamily="2" charset="-122"/>
              </a:rPr>
              <a:t>”最少）</a:t>
            </a:r>
          </a:p>
        </p:txBody>
      </p:sp>
      <p:sp>
        <p:nvSpPr>
          <p:cNvPr id="15" name="Rectangle 130"/>
          <p:cNvSpPr>
            <a:spLocks noChangeArrowheads="1"/>
          </p:cNvSpPr>
          <p:nvPr/>
        </p:nvSpPr>
        <p:spPr bwMode="auto">
          <a:xfrm>
            <a:off x="805180" y="3992364"/>
            <a:ext cx="8161267" cy="429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065338" indent="-2065338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150000"/>
              <a:buFont typeface="Wingdings" pitchFamily="2" charset="2"/>
              <a:buNone/>
              <a:tabLst>
                <a:tab pos="2689225" algn="l"/>
              </a:tabLst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化简的目的：</a:t>
            </a:r>
            <a:r>
              <a:rPr lang="zh-CN" altLang="zh-CN" sz="1600" dirty="0">
                <a:latin typeface="黑体" pitchFamily="49" charset="-122"/>
                <a:ea typeface="黑体" pitchFamily="49" charset="-122"/>
              </a:rPr>
              <a:t>最大限度的简化电路，节省器件，降低成本，提高系统的可靠性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D1A0FA1F-7C2B-4BA1-BE4B-336B3A5B6F72}"/>
              </a:ext>
            </a:extLst>
          </p:cNvPr>
          <p:cNvGrpSpPr/>
          <p:nvPr/>
        </p:nvGrpSpPr>
        <p:grpSpPr>
          <a:xfrm>
            <a:off x="1257300" y="1518505"/>
            <a:ext cx="4098609" cy="490856"/>
            <a:chOff x="1257300" y="1518505"/>
            <a:chExt cx="4098609" cy="490856"/>
          </a:xfrm>
        </p:grpSpPr>
        <p:sp>
          <p:nvSpPr>
            <p:cNvPr id="8" name="Text Box 129"/>
            <p:cNvSpPr txBox="1">
              <a:spLocks noChangeArrowheads="1"/>
            </p:cNvSpPr>
            <p:nvPr/>
          </p:nvSpPr>
          <p:spPr bwMode="auto">
            <a:xfrm>
              <a:off x="3547035" y="1518505"/>
              <a:ext cx="1808874" cy="4908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0" rIns="0"/>
            <a:lstStyle/>
            <a:p>
              <a:pPr algn="just" eaLnBrk="0" hangingPunct="0">
                <a:lnSpc>
                  <a:spcPct val="160000"/>
                </a:lnSpc>
                <a:spcBef>
                  <a:spcPts val="775"/>
                </a:spcBef>
              </a:pP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与—或式</a:t>
              </a: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1257300" y="1767840"/>
              <a:ext cx="21240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130">
            <a:extLst>
              <a:ext uri="{FF2B5EF4-FFF2-40B4-BE49-F238E27FC236}">
                <a16:creationId xmlns:a16="http://schemas.microsoft.com/office/drawing/2014/main" xmlns="" id="{45F89118-4E75-41B1-A822-752E0EABB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179" y="4386064"/>
            <a:ext cx="8161267" cy="459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065338" indent="-2065338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150000"/>
              <a:buFont typeface="Wingdings" pitchFamily="2" charset="2"/>
              <a:buNone/>
              <a:tabLst>
                <a:tab pos="2689225" algn="l"/>
              </a:tabLst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变换的目的：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使逻辑函数表达式满足</a:t>
            </a:r>
            <a:r>
              <a:rPr lang="zh-CN" altLang="zh-CN" sz="1600" dirty="0">
                <a:latin typeface="黑体" pitchFamily="49" charset="-122"/>
                <a:ea typeface="黑体" pitchFamily="49" charset="-122"/>
              </a:rPr>
              <a:t>选用器件逻辑功能的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要求。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B8CE4988-10D5-40EF-AC82-CF4582F87D8F}"/>
              </a:ext>
            </a:extLst>
          </p:cNvPr>
          <p:cNvGrpSpPr/>
          <p:nvPr/>
        </p:nvGrpSpPr>
        <p:grpSpPr>
          <a:xfrm>
            <a:off x="1242742" y="1951035"/>
            <a:ext cx="4098609" cy="490856"/>
            <a:chOff x="1257300" y="1518505"/>
            <a:chExt cx="4098609" cy="490856"/>
          </a:xfrm>
        </p:grpSpPr>
        <p:sp>
          <p:nvSpPr>
            <p:cNvPr id="22" name="Text Box 129">
              <a:extLst>
                <a:ext uri="{FF2B5EF4-FFF2-40B4-BE49-F238E27FC236}">
                  <a16:creationId xmlns:a16="http://schemas.microsoft.com/office/drawing/2014/main" xmlns="" id="{07F62017-6D97-4238-AFD4-E1F690FD1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7035" y="1518505"/>
              <a:ext cx="1808874" cy="4908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0" rIns="0"/>
            <a:lstStyle/>
            <a:p>
              <a:pPr algn="just" eaLnBrk="0" hangingPunct="0">
                <a:lnSpc>
                  <a:spcPct val="160000"/>
                </a:lnSpc>
                <a:spcBef>
                  <a:spcPts val="775"/>
                </a:spcBef>
              </a:pP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或—与式</a:t>
              </a: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xmlns="" id="{7A64238D-02CC-411A-B1FB-BE0DF90CE3FF}"/>
                </a:ext>
              </a:extLst>
            </p:cNvPr>
            <p:cNvCxnSpPr/>
            <p:nvPr/>
          </p:nvCxnSpPr>
          <p:spPr>
            <a:xfrm>
              <a:off x="1257300" y="1767840"/>
              <a:ext cx="21240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31616B35-AB74-4978-8A69-0580416F767F}"/>
              </a:ext>
            </a:extLst>
          </p:cNvPr>
          <p:cNvGrpSpPr/>
          <p:nvPr/>
        </p:nvGrpSpPr>
        <p:grpSpPr>
          <a:xfrm>
            <a:off x="1242742" y="2387472"/>
            <a:ext cx="4098609" cy="490856"/>
            <a:chOff x="1257300" y="1518505"/>
            <a:chExt cx="4098609" cy="490856"/>
          </a:xfrm>
        </p:grpSpPr>
        <p:sp>
          <p:nvSpPr>
            <p:cNvPr id="25" name="Text Box 129">
              <a:extLst>
                <a:ext uri="{FF2B5EF4-FFF2-40B4-BE49-F238E27FC236}">
                  <a16:creationId xmlns:a16="http://schemas.microsoft.com/office/drawing/2014/main" xmlns="" id="{AA3FFD67-C1D7-4FF8-A4CF-F5E93766A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7035" y="1518505"/>
              <a:ext cx="1808874" cy="4908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 anchor="t" anchorCtr="0"/>
            <a:lstStyle/>
            <a:p>
              <a:pPr algn="just" eaLnBrk="0" hangingPunct="0">
                <a:lnSpc>
                  <a:spcPct val="200000"/>
                </a:lnSpc>
              </a:pP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与非—与非式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xmlns="" id="{273061FF-D932-44EB-9AB6-3B16BE7AEB4B}"/>
                </a:ext>
              </a:extLst>
            </p:cNvPr>
            <p:cNvCxnSpPr/>
            <p:nvPr/>
          </p:nvCxnSpPr>
          <p:spPr>
            <a:xfrm>
              <a:off x="1257300" y="1767840"/>
              <a:ext cx="21240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xmlns="" id="{A912D39A-3DB3-4AD4-BCD1-C98EBDD0BFEE}"/>
              </a:ext>
            </a:extLst>
          </p:cNvPr>
          <p:cNvGrpSpPr/>
          <p:nvPr/>
        </p:nvGrpSpPr>
        <p:grpSpPr>
          <a:xfrm>
            <a:off x="1242742" y="2836677"/>
            <a:ext cx="4098609" cy="490856"/>
            <a:chOff x="1257300" y="1518505"/>
            <a:chExt cx="4098609" cy="490856"/>
          </a:xfrm>
        </p:grpSpPr>
        <p:sp>
          <p:nvSpPr>
            <p:cNvPr id="32" name="Text Box 129">
              <a:extLst>
                <a:ext uri="{FF2B5EF4-FFF2-40B4-BE49-F238E27FC236}">
                  <a16:creationId xmlns:a16="http://schemas.microsoft.com/office/drawing/2014/main" xmlns="" id="{0FB8A96F-0527-4456-B2AE-87435F89A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7035" y="1518505"/>
              <a:ext cx="1808874" cy="4908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 anchor="t" anchorCtr="0"/>
            <a:lstStyle/>
            <a:p>
              <a:pPr algn="just" eaLnBrk="0" hangingPunct="0">
                <a:lnSpc>
                  <a:spcPct val="200000"/>
                </a:lnSpc>
              </a:pP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或非—或非式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xmlns="" id="{151573DF-9551-4306-AB72-DC155416C33A}"/>
                </a:ext>
              </a:extLst>
            </p:cNvPr>
            <p:cNvCxnSpPr/>
            <p:nvPr/>
          </p:nvCxnSpPr>
          <p:spPr>
            <a:xfrm>
              <a:off x="1257300" y="1767840"/>
              <a:ext cx="21240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0074E34C-E124-4E1D-9F91-0AD56667C114}"/>
              </a:ext>
            </a:extLst>
          </p:cNvPr>
          <p:cNvGrpSpPr/>
          <p:nvPr/>
        </p:nvGrpSpPr>
        <p:grpSpPr>
          <a:xfrm>
            <a:off x="1207395" y="3280026"/>
            <a:ext cx="4098609" cy="490856"/>
            <a:chOff x="1257300" y="1518505"/>
            <a:chExt cx="4098609" cy="490856"/>
          </a:xfrm>
        </p:grpSpPr>
        <p:sp>
          <p:nvSpPr>
            <p:cNvPr id="35" name="Text Box 129">
              <a:extLst>
                <a:ext uri="{FF2B5EF4-FFF2-40B4-BE49-F238E27FC236}">
                  <a16:creationId xmlns:a16="http://schemas.microsoft.com/office/drawing/2014/main" xmlns="" id="{DE7C1791-116B-4159-B438-74A681873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7035" y="1518505"/>
              <a:ext cx="1808874" cy="4908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 anchor="t" anchorCtr="0"/>
            <a:lstStyle/>
            <a:p>
              <a:pPr algn="just" eaLnBrk="0" hangingPunct="0">
                <a:lnSpc>
                  <a:spcPct val="200000"/>
                </a:lnSpc>
              </a:pP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与</a:t>
              </a:r>
              <a:r>
                <a:rPr lang="en-US" altLang="zh-CN" sz="1600" dirty="0">
                  <a:latin typeface="黑体" pitchFamily="49" charset="-122"/>
                  <a:ea typeface="黑体" pitchFamily="49" charset="-122"/>
                </a:rPr>
                <a:t>-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或</a:t>
              </a:r>
              <a:r>
                <a:rPr lang="en-US" altLang="zh-CN" sz="1600" dirty="0">
                  <a:latin typeface="黑体" pitchFamily="49" charset="-122"/>
                  <a:ea typeface="黑体" pitchFamily="49" charset="-122"/>
                </a:rPr>
                <a:t>-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非式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xmlns="" id="{CEE42817-5FB5-452C-8FEC-648CEB32105E}"/>
                </a:ext>
              </a:extLst>
            </p:cNvPr>
            <p:cNvCxnSpPr/>
            <p:nvPr/>
          </p:nvCxnSpPr>
          <p:spPr>
            <a:xfrm>
              <a:off x="1257300" y="1767840"/>
              <a:ext cx="2124000" cy="158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4140383" cy="411055"/>
            <a:chOff x="392432" y="780143"/>
            <a:chExt cx="4140383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37785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、逻辑函数的代数化简的基本方法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219"/>
          <p:cNvSpPr>
            <a:spLocks noChangeArrowheads="1"/>
          </p:cNvSpPr>
          <p:nvPr/>
        </p:nvSpPr>
        <p:spPr bwMode="auto">
          <a:xfrm>
            <a:off x="614045" y="1414463"/>
            <a:ext cx="20383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1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）并项法</a:t>
            </a:r>
          </a:p>
        </p:txBody>
      </p:sp>
      <p:grpSp>
        <p:nvGrpSpPr>
          <p:cNvPr id="10" name="Group 223"/>
          <p:cNvGrpSpPr>
            <a:grpSpLocks/>
          </p:cNvGrpSpPr>
          <p:nvPr/>
        </p:nvGrpSpPr>
        <p:grpSpPr bwMode="auto">
          <a:xfrm>
            <a:off x="1108075" y="1733868"/>
            <a:ext cx="6237856" cy="341313"/>
            <a:chOff x="610" y="1145"/>
            <a:chExt cx="3702" cy="215"/>
          </a:xfrm>
        </p:grpSpPr>
        <p:sp>
          <p:nvSpPr>
            <p:cNvPr id="11" name="Rectangle 222"/>
            <p:cNvSpPr>
              <a:spLocks noChangeArrowheads="1"/>
            </p:cNvSpPr>
            <p:nvPr/>
          </p:nvSpPr>
          <p:spPr bwMode="auto">
            <a:xfrm>
              <a:off x="610" y="1147"/>
              <a:ext cx="370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运用互补律         ，将两项合并为一项，消去互为相反的变量。</a:t>
              </a:r>
              <a:endParaRPr lang="en-US" altLang="zh-CN" sz="1600" dirty="0">
                <a:latin typeface="黑体" pitchFamily="49" charset="-122"/>
                <a:ea typeface="黑体" pitchFamily="49" charset="-122"/>
              </a:endParaRPr>
            </a:p>
          </p:txBody>
        </p:sp>
        <p:graphicFrame>
          <p:nvGraphicFramePr>
            <p:cNvPr id="12" name="Object 221"/>
            <p:cNvGraphicFramePr>
              <a:graphicFrameLocks noChangeAspect="1"/>
            </p:cNvGraphicFramePr>
            <p:nvPr/>
          </p:nvGraphicFramePr>
          <p:xfrm>
            <a:off x="1309" y="1145"/>
            <a:ext cx="50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652" name="公式" r:id="rId5" imgW="507960" imgH="177480" progId="Equation.3">
                    <p:embed/>
                  </p:oleObj>
                </mc:Choice>
                <mc:Fallback>
                  <p:oleObj name="公式" r:id="rId5" imgW="507960" imgH="177480" progId="Equation.3">
                    <p:embed/>
                    <p:pic>
                      <p:nvPicPr>
                        <p:cNvPr id="12" name="Object 2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9" y="1145"/>
                          <a:ext cx="502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225"/>
          <p:cNvGraphicFramePr>
            <a:graphicFrameLocks noChangeAspect="1"/>
          </p:cNvGraphicFramePr>
          <p:nvPr/>
        </p:nvGraphicFramePr>
        <p:xfrm>
          <a:off x="3909060" y="2626496"/>
          <a:ext cx="998537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3" name="公式" r:id="rId7" imgW="609480" imgH="177480" progId="Equation.3">
                  <p:embed/>
                </p:oleObj>
              </mc:Choice>
              <mc:Fallback>
                <p:oleObj name="公式" r:id="rId7" imgW="609480" imgH="177480" progId="Equation.3">
                  <p:embed/>
                  <p:pic>
                    <p:nvPicPr>
                      <p:cNvPr id="14" name="Object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060" y="2626496"/>
                        <a:ext cx="998537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28"/>
          <p:cNvGraphicFramePr>
            <a:graphicFrameLocks noChangeAspect="1"/>
          </p:cNvGraphicFramePr>
          <p:nvPr/>
        </p:nvGraphicFramePr>
        <p:xfrm>
          <a:off x="3909060" y="2296141"/>
          <a:ext cx="2219960" cy="34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4" name="公式" r:id="rId9" imgW="1371600" imgH="215640" progId="Equation.3">
                  <p:embed/>
                </p:oleObj>
              </mc:Choice>
              <mc:Fallback>
                <p:oleObj name="公式" r:id="rId9" imgW="1371600" imgH="215640" progId="Equation.3">
                  <p:embed/>
                  <p:pic>
                    <p:nvPicPr>
                      <p:cNvPr id="16" name="Object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060" y="2296141"/>
                        <a:ext cx="2219960" cy="349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9"/>
          <p:cNvGraphicFramePr>
            <a:graphicFrameLocks noChangeAspect="1"/>
          </p:cNvGraphicFramePr>
          <p:nvPr/>
        </p:nvGraphicFramePr>
        <p:xfrm>
          <a:off x="1194435" y="2273558"/>
          <a:ext cx="27146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5" name="公式" r:id="rId11" imgW="1638000" imgH="190440" progId="Equation.3">
                  <p:embed/>
                </p:oleObj>
              </mc:Choice>
              <mc:Fallback>
                <p:oleObj name="公式" r:id="rId11" imgW="1638000" imgH="190440" progId="Equation.3">
                  <p:embed/>
                  <p:pic>
                    <p:nvPicPr>
                      <p:cNvPr id="17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435" y="2273558"/>
                        <a:ext cx="2714625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31"/>
          <p:cNvSpPr>
            <a:spLocks noChangeArrowheads="1"/>
          </p:cNvSpPr>
          <p:nvPr/>
        </p:nvSpPr>
        <p:spPr bwMode="auto">
          <a:xfrm>
            <a:off x="614045" y="3751263"/>
            <a:ext cx="24145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2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）吸收法</a:t>
            </a:r>
          </a:p>
        </p:txBody>
      </p:sp>
      <p:sp>
        <p:nvSpPr>
          <p:cNvPr id="19" name="Rectangle 232"/>
          <p:cNvSpPr>
            <a:spLocks noChangeArrowheads="1"/>
          </p:cNvSpPr>
          <p:nvPr/>
        </p:nvSpPr>
        <p:spPr bwMode="auto">
          <a:xfrm>
            <a:off x="1108075" y="4132263"/>
            <a:ext cx="52244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运用吸收律 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en-US" altLang="zh-CN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+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AB</a:t>
            </a:r>
            <a:r>
              <a:rPr lang="en-US" altLang="zh-CN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，消去多余的与项。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21" name="Object 225">
            <a:extLst>
              <a:ext uri="{FF2B5EF4-FFF2-40B4-BE49-F238E27FC236}">
                <a16:creationId xmlns:a16="http://schemas.microsoft.com/office/drawing/2014/main" xmlns="" id="{CDEE1507-8754-4DCC-B240-EB280690E6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9060" y="3019862"/>
          <a:ext cx="9985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6" name="公式" r:id="rId13" imgW="609480" imgH="215640" progId="Equation.3">
                  <p:embed/>
                </p:oleObj>
              </mc:Choice>
              <mc:Fallback>
                <p:oleObj name="公式" r:id="rId13" imgW="609480" imgH="215640" progId="Equation.3">
                  <p:embed/>
                  <p:pic>
                    <p:nvPicPr>
                      <p:cNvPr id="21" name="Object 225">
                        <a:extLst>
                          <a:ext uri="{FF2B5EF4-FFF2-40B4-BE49-F238E27FC236}">
                            <a16:creationId xmlns:a16="http://schemas.microsoft.com/office/drawing/2014/main" xmlns="" id="{CDEE1507-8754-4DCC-B240-EB280690E6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060" y="3019862"/>
                        <a:ext cx="998538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5">
            <a:extLst>
              <a:ext uri="{FF2B5EF4-FFF2-40B4-BE49-F238E27FC236}">
                <a16:creationId xmlns:a16="http://schemas.microsoft.com/office/drawing/2014/main" xmlns="" id="{4F9E609D-6B43-4FE5-80B8-1FA401D816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2896" y="3383666"/>
          <a:ext cx="39528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7" name="公式" r:id="rId15" imgW="241200" imgH="139680" progId="Equation.3">
                  <p:embed/>
                </p:oleObj>
              </mc:Choice>
              <mc:Fallback>
                <p:oleObj name="公式" r:id="rId15" imgW="241200" imgH="139680" progId="Equation.3">
                  <p:embed/>
                  <p:pic>
                    <p:nvPicPr>
                      <p:cNvPr id="23" name="Object 225">
                        <a:extLst>
                          <a:ext uri="{FF2B5EF4-FFF2-40B4-BE49-F238E27FC236}">
                            <a16:creationId xmlns:a16="http://schemas.microsoft.com/office/drawing/2014/main" xmlns="" id="{4F9E609D-6B43-4FE5-80B8-1FA401D816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2896" y="3383666"/>
                        <a:ext cx="395288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754006C6-C514-4585-BEDD-0C95B8659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5781" y="4583559"/>
          <a:ext cx="2903279" cy="377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8" name="Equation" r:id="rId17" imgW="1854000" imgH="241200" progId="Equation.DSMT4">
                  <p:embed/>
                </p:oleObj>
              </mc:Choice>
              <mc:Fallback>
                <p:oleObj name="Equation" r:id="rId17" imgW="18540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xmlns="" id="{754006C6-C514-4585-BEDD-0C95B8659B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05781" y="4583559"/>
                        <a:ext cx="2903279" cy="3778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19"/>
          <p:cNvSpPr>
            <a:spLocks noChangeArrowheads="1"/>
          </p:cNvSpPr>
          <p:nvPr/>
        </p:nvSpPr>
        <p:spPr bwMode="auto">
          <a:xfrm>
            <a:off x="400685" y="1445088"/>
            <a:ext cx="20383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3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）消去法</a:t>
            </a:r>
          </a:p>
        </p:txBody>
      </p:sp>
      <p:grpSp>
        <p:nvGrpSpPr>
          <p:cNvPr id="21" name="Group 115"/>
          <p:cNvGrpSpPr>
            <a:grpSpLocks/>
          </p:cNvGrpSpPr>
          <p:nvPr/>
        </p:nvGrpSpPr>
        <p:grpSpPr bwMode="auto">
          <a:xfrm>
            <a:off x="891697" y="1857041"/>
            <a:ext cx="4518025" cy="338138"/>
            <a:chOff x="676" y="875"/>
            <a:chExt cx="2846" cy="213"/>
          </a:xfrm>
        </p:grpSpPr>
        <p:sp>
          <p:nvSpPr>
            <p:cNvPr id="22" name="Rectangle 113"/>
            <p:cNvSpPr>
              <a:spLocks noChangeArrowheads="1"/>
            </p:cNvSpPr>
            <p:nvPr/>
          </p:nvSpPr>
          <p:spPr bwMode="auto">
            <a:xfrm>
              <a:off x="676" y="875"/>
              <a:ext cx="284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运用吸收律               消去多余的因子。</a:t>
              </a:r>
            </a:p>
          </p:txBody>
        </p:sp>
        <p:graphicFrame>
          <p:nvGraphicFramePr>
            <p:cNvPr id="23" name="Object 110"/>
            <p:cNvGraphicFramePr>
              <a:graphicFrameLocks noChangeAspect="1"/>
            </p:cNvGraphicFramePr>
            <p:nvPr/>
          </p:nvGraphicFramePr>
          <p:xfrm>
            <a:off x="1390" y="880"/>
            <a:ext cx="93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4" name="公式" r:id="rId4" imgW="876300" imgH="190500" progId="Equation.3">
                    <p:embed/>
                  </p:oleObj>
                </mc:Choice>
                <mc:Fallback>
                  <p:oleObj name="公式" r:id="rId4" imgW="876300" imgH="190500" progId="Equation.3">
                    <p:embed/>
                    <p:pic>
                      <p:nvPicPr>
                        <p:cNvPr id="23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0" y="880"/>
                          <a:ext cx="938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116"/>
          <p:cNvGraphicFramePr>
            <a:graphicFrameLocks noChangeAspect="1"/>
          </p:cNvGraphicFramePr>
          <p:nvPr/>
        </p:nvGraphicFramePr>
        <p:xfrm>
          <a:off x="980441" y="2319386"/>
          <a:ext cx="3934460" cy="310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5" name="公式" r:id="rId6" imgW="2413000" imgH="190500" progId="Equation.3">
                  <p:embed/>
                </p:oleObj>
              </mc:Choice>
              <mc:Fallback>
                <p:oleObj name="公式" r:id="rId6" imgW="2413000" imgH="190500" progId="Equation.3">
                  <p:embed/>
                  <p:pic>
                    <p:nvPicPr>
                      <p:cNvPr id="24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441" y="2319386"/>
                        <a:ext cx="3934460" cy="31023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124"/>
          <p:cNvGrpSpPr>
            <a:grpSpLocks/>
          </p:cNvGrpSpPr>
          <p:nvPr/>
        </p:nvGrpSpPr>
        <p:grpSpPr bwMode="auto">
          <a:xfrm>
            <a:off x="891697" y="3481871"/>
            <a:ext cx="7826498" cy="400858"/>
            <a:chOff x="427" y="1065"/>
            <a:chExt cx="4846" cy="245"/>
          </a:xfrm>
        </p:grpSpPr>
        <p:sp>
          <p:nvSpPr>
            <p:cNvPr id="26" name="Rectangle 123"/>
            <p:cNvSpPr>
              <a:spLocks noChangeArrowheads="1"/>
            </p:cNvSpPr>
            <p:nvPr/>
          </p:nvSpPr>
          <p:spPr bwMode="auto">
            <a:xfrm>
              <a:off x="427" y="1065"/>
              <a:ext cx="4846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25000"/>
                </a:lnSpc>
              </a:pP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先通过乘以       </a:t>
              </a:r>
              <a:r>
                <a:rPr lang="en-US" altLang="zh-CN" sz="1600" dirty="0">
                  <a:latin typeface="黑体" pitchFamily="49" charset="-122"/>
                  <a:ea typeface="黑体" pitchFamily="49" charset="-122"/>
                </a:rPr>
                <a:t>(=1)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或加上    </a:t>
              </a:r>
              <a:r>
                <a:rPr lang="en-US" altLang="zh-CN" sz="1600" dirty="0">
                  <a:latin typeface="黑体" pitchFamily="49" charset="-122"/>
                  <a:ea typeface="黑体" pitchFamily="49" charset="-122"/>
                </a:rPr>
                <a:t>(=0)</a:t>
              </a:r>
              <a:r>
                <a:rPr lang="zh-CN" altLang="en-US" sz="1600" dirty="0">
                  <a:latin typeface="黑体" pitchFamily="49" charset="-122"/>
                  <a:ea typeface="黑体" pitchFamily="49" charset="-122"/>
                </a:rPr>
                <a:t>，增加必要逻辑项，再用以上方法化简。</a:t>
              </a:r>
            </a:p>
          </p:txBody>
        </p:sp>
        <p:graphicFrame>
          <p:nvGraphicFramePr>
            <p:cNvPr id="27" name="Object 119"/>
            <p:cNvGraphicFramePr>
              <a:graphicFrameLocks noChangeAspect="1"/>
            </p:cNvGraphicFramePr>
            <p:nvPr/>
          </p:nvGraphicFramePr>
          <p:xfrm>
            <a:off x="1143" y="1074"/>
            <a:ext cx="402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6" name="公式" r:id="rId8" imgW="368300" imgH="190500" progId="Equation.3">
                    <p:embed/>
                  </p:oleObj>
                </mc:Choice>
                <mc:Fallback>
                  <p:oleObj name="公式" r:id="rId8" imgW="368300" imgH="190500" progId="Equation.3">
                    <p:embed/>
                    <p:pic>
                      <p:nvPicPr>
                        <p:cNvPr id="27" name="Object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3" y="1074"/>
                          <a:ext cx="402" cy="1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18"/>
            <p:cNvGraphicFramePr>
              <a:graphicFrameLocks noChangeAspect="1"/>
            </p:cNvGraphicFramePr>
            <p:nvPr/>
          </p:nvGraphicFramePr>
          <p:xfrm>
            <a:off x="2193" y="1098"/>
            <a:ext cx="207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7" name="公式" r:id="rId10" imgW="228600" imgH="190500" progId="Equation.3">
                    <p:embed/>
                  </p:oleObj>
                </mc:Choice>
                <mc:Fallback>
                  <p:oleObj name="公式" r:id="rId10" imgW="228600" imgH="190500" progId="Equation.3">
                    <p:embed/>
                    <p:pic>
                      <p:nvPicPr>
                        <p:cNvPr id="28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3" y="1098"/>
                          <a:ext cx="207" cy="1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125"/>
          <p:cNvGraphicFramePr>
            <a:graphicFrameLocks noChangeAspect="1"/>
          </p:cNvGraphicFramePr>
          <p:nvPr/>
        </p:nvGraphicFramePr>
        <p:xfrm>
          <a:off x="891697" y="3950745"/>
          <a:ext cx="4218939" cy="58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8" name="公式" r:id="rId12" imgW="2933700" imgH="457200" progId="Equation.3">
                  <p:embed/>
                </p:oleObj>
              </mc:Choice>
              <mc:Fallback>
                <p:oleObj name="公式" r:id="rId12" imgW="2933700" imgH="457200" progId="Equation.3">
                  <p:embed/>
                  <p:pic>
                    <p:nvPicPr>
                      <p:cNvPr id="29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697" y="3950745"/>
                        <a:ext cx="4218939" cy="5856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17"/>
          <p:cNvSpPr>
            <a:spLocks noChangeArrowheads="1"/>
          </p:cNvSpPr>
          <p:nvPr/>
        </p:nvSpPr>
        <p:spPr bwMode="auto">
          <a:xfrm>
            <a:off x="458788" y="3052763"/>
            <a:ext cx="13644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4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）配项法 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5890260" y="876300"/>
            <a:ext cx="3196590" cy="1927860"/>
            <a:chOff x="6027420" y="670560"/>
            <a:chExt cx="3196590" cy="1927860"/>
          </a:xfrm>
        </p:grpSpPr>
        <p:sp>
          <p:nvSpPr>
            <p:cNvPr id="33" name="圆角矩形 32"/>
            <p:cNvSpPr/>
            <p:nvPr/>
          </p:nvSpPr>
          <p:spPr>
            <a:xfrm>
              <a:off x="6027420" y="1074420"/>
              <a:ext cx="2636520" cy="1524000"/>
            </a:xfrm>
            <a:prstGeom prst="roundRect">
              <a:avLst>
                <a:gd name="adj" fmla="val 11994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在化简逻辑函数</a:t>
              </a:r>
              <a:endPara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时，要灵活运用上述方法，才能将逻辑函数化为最简。</a:t>
              </a:r>
            </a:p>
          </p:txBody>
        </p:sp>
        <p:pic>
          <p:nvPicPr>
            <p:cNvPr id="69647" name="Picture 15"/>
            <p:cNvPicPr>
              <a:picLocks noChangeAspect="1" noChangeArrowheads="1"/>
            </p:cNvPicPr>
            <p:nvPr/>
          </p:nvPicPr>
          <p:blipFill>
            <a:blip r:embed="rId14"/>
            <a:srcRect l="7692"/>
            <a:stretch>
              <a:fillRect/>
            </a:stretch>
          </p:blipFill>
          <p:spPr bwMode="auto">
            <a:xfrm>
              <a:off x="7818120" y="670560"/>
              <a:ext cx="1405890" cy="93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35" name="直接连接符 34"/>
            <p:cNvCxnSpPr/>
            <p:nvPr/>
          </p:nvCxnSpPr>
          <p:spPr>
            <a:xfrm flipV="1">
              <a:off x="7815262" y="1074420"/>
              <a:ext cx="216218" cy="0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392432" y="780143"/>
            <a:ext cx="4140383" cy="411055"/>
            <a:chOff x="392432" y="780143"/>
            <a:chExt cx="4140383" cy="411055"/>
          </a:xfrm>
        </p:grpSpPr>
        <p:sp>
          <p:nvSpPr>
            <p:cNvPr id="45" name="矩形 44"/>
            <p:cNvSpPr/>
            <p:nvPr/>
          </p:nvSpPr>
          <p:spPr>
            <a:xfrm>
              <a:off x="754216" y="805934"/>
              <a:ext cx="37785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、逻辑函数的代数化简的基本方法</a:t>
              </a:r>
            </a:p>
          </p:txBody>
        </p:sp>
        <p:pic>
          <p:nvPicPr>
            <p:cNvPr id="46" name="Picture 3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27"/>
          <p:cNvGraphicFramePr>
            <a:graphicFrameLocks noChangeAspect="1"/>
          </p:cNvGraphicFramePr>
          <p:nvPr/>
        </p:nvGraphicFramePr>
        <p:xfrm>
          <a:off x="1118901" y="2103038"/>
          <a:ext cx="3238248" cy="315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4" name="公式" r:id="rId4" imgW="1904760" imgH="190440" progId="Equation.3">
                  <p:embed/>
                </p:oleObj>
              </mc:Choice>
              <mc:Fallback>
                <p:oleObj name="公式" r:id="rId4" imgW="1904760" imgH="190440" progId="Equation.3">
                  <p:embed/>
                  <p:pic>
                    <p:nvPicPr>
                      <p:cNvPr id="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901" y="2103038"/>
                        <a:ext cx="3238248" cy="3150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489585" y="1265193"/>
            <a:ext cx="28844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化简逻辑函数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2" name="Object 30"/>
          <p:cNvGraphicFramePr>
            <a:graphicFrameLocks noChangeAspect="1"/>
          </p:cNvGraphicFramePr>
          <p:nvPr/>
        </p:nvGraphicFramePr>
        <p:xfrm>
          <a:off x="1118901" y="2455521"/>
          <a:ext cx="2087497" cy="32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5" r:id="rId6" imgW="1269449" imgH="203112" progId="Equation.3">
                  <p:embed/>
                </p:oleObj>
              </mc:Choice>
              <mc:Fallback>
                <p:oleObj r:id="rId6" imgW="1269449" imgH="203112" progId="Equation.3">
                  <p:embed/>
                  <p:pic>
                    <p:nvPicPr>
                      <p:cNvPr id="1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901" y="2455521"/>
                        <a:ext cx="2087497" cy="329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2"/>
          <p:cNvGraphicFramePr>
            <a:graphicFrameLocks noChangeAspect="1"/>
          </p:cNvGraphicFramePr>
          <p:nvPr/>
        </p:nvGraphicFramePr>
        <p:xfrm>
          <a:off x="1118901" y="2759980"/>
          <a:ext cx="1909194" cy="3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6" r:id="rId8" imgW="1155700" imgH="203200" progId="Equation.3">
                  <p:embed/>
                </p:oleObj>
              </mc:Choice>
              <mc:Fallback>
                <p:oleObj r:id="rId8" imgW="1155700" imgH="203200" progId="Equation.3">
                  <p:embed/>
                  <p:pic>
                    <p:nvPicPr>
                      <p:cNvPr id="1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901" y="2759980"/>
                        <a:ext cx="1909194" cy="324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0"/>
          <p:cNvGraphicFramePr>
            <a:graphicFrameLocks noChangeAspect="1"/>
          </p:cNvGraphicFramePr>
          <p:nvPr/>
        </p:nvGraphicFramePr>
        <p:xfrm>
          <a:off x="965077" y="1762540"/>
          <a:ext cx="3545897" cy="33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7" name="公式" r:id="rId10" imgW="2450880" imgH="215640" progId="Equation.3">
                  <p:embed/>
                </p:oleObj>
              </mc:Choice>
              <mc:Fallback>
                <p:oleObj name="公式" r:id="rId10" imgW="2450880" imgH="215640" progId="Equation.3">
                  <p:embed/>
                  <p:pic>
                    <p:nvPicPr>
                      <p:cNvPr id="1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077" y="1762540"/>
                        <a:ext cx="3545897" cy="337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392432" y="780143"/>
            <a:ext cx="4602047" cy="411055"/>
            <a:chOff x="392432" y="780143"/>
            <a:chExt cx="4602047" cy="411055"/>
          </a:xfrm>
        </p:grpSpPr>
        <p:sp>
          <p:nvSpPr>
            <p:cNvPr id="22" name="矩形 21"/>
            <p:cNvSpPr/>
            <p:nvPr/>
          </p:nvSpPr>
          <p:spPr>
            <a:xfrm>
              <a:off x="754216" y="805934"/>
              <a:ext cx="42402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逻辑函数的代数化简与变换应用举例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25" name="直接连接符 13"/>
          <p:cNvCxnSpPr>
            <a:cxnSpLocks noChangeShapeType="1"/>
          </p:cNvCxnSpPr>
          <p:nvPr/>
        </p:nvCxnSpPr>
        <p:spPr bwMode="auto">
          <a:xfrm flipV="1">
            <a:off x="1332523" y="2074315"/>
            <a:ext cx="701187" cy="1342"/>
          </a:xfrm>
          <a:prstGeom prst="line">
            <a:avLst/>
          </a:prstGeom>
          <a:noFill/>
          <a:ln w="57150" algn="ctr">
            <a:solidFill>
              <a:srgbClr val="FF0000"/>
            </a:solidFill>
            <a:miter lim="800000"/>
            <a:headEnd/>
            <a:tailEnd/>
          </a:ln>
        </p:spPr>
      </p:cxnSp>
      <p:grpSp>
        <p:nvGrpSpPr>
          <p:cNvPr id="31" name="组合 30"/>
          <p:cNvGrpSpPr/>
          <p:nvPr/>
        </p:nvGrpSpPr>
        <p:grpSpPr>
          <a:xfrm>
            <a:off x="1332523" y="2429322"/>
            <a:ext cx="2318001" cy="1588"/>
            <a:chOff x="1371600" y="3502660"/>
            <a:chExt cx="2318001" cy="1588"/>
          </a:xfrm>
        </p:grpSpPr>
        <p:cxnSp>
          <p:nvCxnSpPr>
            <p:cNvPr id="29" name="直接连接符 15"/>
            <p:cNvCxnSpPr>
              <a:cxnSpLocks noChangeShapeType="1"/>
            </p:cNvCxnSpPr>
            <p:nvPr/>
          </p:nvCxnSpPr>
          <p:spPr bwMode="auto">
            <a:xfrm>
              <a:off x="3149601" y="3502660"/>
              <a:ext cx="540000" cy="158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miter lim="800000"/>
              <a:headEnd/>
              <a:tailEnd/>
            </a:ln>
          </p:spPr>
        </p:cxnSp>
        <p:cxnSp>
          <p:nvCxnSpPr>
            <p:cNvPr id="30" name="直接连接符 13"/>
            <p:cNvCxnSpPr>
              <a:cxnSpLocks noChangeShapeType="1"/>
            </p:cNvCxnSpPr>
            <p:nvPr/>
          </p:nvCxnSpPr>
          <p:spPr bwMode="auto">
            <a:xfrm>
              <a:off x="1371600" y="3502660"/>
              <a:ext cx="720000" cy="158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miter lim="800000"/>
              <a:headEnd/>
              <a:tailEnd/>
            </a:ln>
          </p:spPr>
        </p:cxnSp>
      </p:grpSp>
      <p:cxnSp>
        <p:nvCxnSpPr>
          <p:cNvPr id="32" name="直接连接符 15"/>
          <p:cNvCxnSpPr>
            <a:cxnSpLocks noChangeShapeType="1"/>
          </p:cNvCxnSpPr>
          <p:nvPr/>
        </p:nvCxnSpPr>
        <p:spPr bwMode="auto">
          <a:xfrm>
            <a:off x="1313710" y="2795839"/>
            <a:ext cx="720000" cy="1588"/>
          </a:xfrm>
          <a:prstGeom prst="line">
            <a:avLst/>
          </a:prstGeom>
          <a:noFill/>
          <a:ln w="57150" algn="ctr">
            <a:solidFill>
              <a:srgbClr val="FF0000"/>
            </a:solidFill>
            <a:miter lim="800000"/>
            <a:headEnd/>
            <a:tailEnd/>
          </a:ln>
        </p:spPr>
      </p:cxnSp>
      <p:grpSp>
        <p:nvGrpSpPr>
          <p:cNvPr id="41" name="组合 40"/>
          <p:cNvGrpSpPr/>
          <p:nvPr/>
        </p:nvGrpSpPr>
        <p:grpSpPr>
          <a:xfrm>
            <a:off x="3576533" y="3491995"/>
            <a:ext cx="5386243" cy="1928234"/>
            <a:chOff x="375139" y="4009286"/>
            <a:chExt cx="5386243" cy="1928234"/>
          </a:xfrm>
        </p:grpSpPr>
        <p:sp>
          <p:nvSpPr>
            <p:cNvPr id="38" name="剪去对角的矩形 37"/>
            <p:cNvSpPr/>
            <p:nvPr/>
          </p:nvSpPr>
          <p:spPr>
            <a:xfrm>
              <a:off x="375140" y="4235934"/>
              <a:ext cx="5386242" cy="1701586"/>
            </a:xfrm>
            <a:prstGeom prst="snip2DiagRect">
              <a:avLst>
                <a:gd name="adj1" fmla="val 0"/>
                <a:gd name="adj2" fmla="val 1174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b"/>
            <a:lstStyle/>
            <a:p>
              <a:pPr marL="812800" indent="-812800">
                <a:defRPr/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优点：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是不受变量数目的限制。</a:t>
              </a:r>
            </a:p>
            <a:p>
              <a:pPr marL="625475" indent="-625475">
                <a:spcBef>
                  <a:spcPts val="600"/>
                </a:spcBef>
                <a:defRPr/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缺点：</a:t>
              </a:r>
              <a:r>
                <a:rPr lang="zh-CN" altLang="en-US" sz="16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没有固定的步骤可循；需要熟练运用各种公式和定理；在化简一些较为复杂的逻辑函数时还需要一定的技巧和经验；有时很难判定化简结果是否最简。</a:t>
              </a:r>
              <a:endParaRPr lang="zh-CN" altLang="en-US" sz="16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375139" y="4009286"/>
              <a:ext cx="2110153" cy="3438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代数化简法的特点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Rectangle 61">
            <a:extLst>
              <a:ext uri="{FF2B5EF4-FFF2-40B4-BE49-F238E27FC236}">
                <a16:creationId xmlns:a16="http://schemas.microsoft.com/office/drawing/2014/main" xmlns="" id="{97BA55FD-8890-4EC3-8408-3E2AF4220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0" y="83609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33CABB54-9403-4F85-BB6F-268B2DCBFEC5}"/>
              </a:ext>
            </a:extLst>
          </p:cNvPr>
          <p:cNvGrpSpPr/>
          <p:nvPr/>
        </p:nvGrpSpPr>
        <p:grpSpPr>
          <a:xfrm>
            <a:off x="2273300" y="1110650"/>
            <a:ext cx="6022050" cy="497604"/>
            <a:chOff x="2273300" y="1110650"/>
            <a:chExt cx="6022050" cy="497604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xmlns="" id="{51AFF932-58EA-48F4-9010-A6FA8FEFF1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3300" y="1258888"/>
            <a:ext cx="4000500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28" name="公式" r:id="rId13" imgW="2489040" imgH="215640" progId="Equation.3">
                    <p:embed/>
                  </p:oleObj>
                </mc:Choice>
                <mc:Fallback>
                  <p:oleObj name="公式" r:id="rId13" imgW="2489040" imgH="215640" progId="Equation.3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xmlns="" id="{51AFF932-58EA-48F4-9010-A6FA8FEFF1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3300" y="1258888"/>
                          <a:ext cx="4000500" cy="349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xmlns="" id="{AB66E994-BABA-470D-85F6-96D2381D3A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67134" y="1110650"/>
            <a:ext cx="1928216" cy="497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29" name="公式" r:id="rId15" imgW="1180588" imgH="304668" progId="Equation.3">
                    <p:embed/>
                  </p:oleObj>
                </mc:Choice>
                <mc:Fallback>
                  <p:oleObj name="公式" r:id="rId15" imgW="1180588" imgH="304668" progId="Equation.3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xmlns="" id="{AB66E994-BABA-470D-85F6-96D2381D3A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7134" y="1110650"/>
                          <a:ext cx="1928216" cy="4976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xmlns="" id="{ABA27DDE-A24F-4A53-910C-4F1F8F6BF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6131" y="3373071"/>
          <a:ext cx="1928216" cy="497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0" name="公式" r:id="rId17" imgW="1180588" imgH="304668" progId="Equation.3">
                  <p:embed/>
                </p:oleObj>
              </mc:Choice>
              <mc:Fallback>
                <p:oleObj name="公式" r:id="rId17" imgW="1180588" imgH="304668" progId="Equation.3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xmlns="" id="{ABA27DDE-A24F-4A53-910C-4F1F8F6BFE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31" y="3373071"/>
                        <a:ext cx="1928216" cy="4976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xmlns="" id="{F09FD4AB-DB3F-472C-BEA8-55A6E75E6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293" y="3872459"/>
          <a:ext cx="1772460" cy="396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1" name="公式" r:id="rId18" imgW="1079280" imgH="241200" progId="Equation.3">
                  <p:embed/>
                </p:oleObj>
              </mc:Choice>
              <mc:Fallback>
                <p:oleObj name="公式" r:id="rId18" imgW="1079280" imgH="241200" progId="Equation.3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xmlns="" id="{F09FD4AB-DB3F-472C-BEA8-55A6E75E67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66293" y="3872459"/>
                        <a:ext cx="1772460" cy="396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xmlns="" id="{4C61219A-EC32-46E7-9FC6-EB9D9BBCB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7489" y="4321324"/>
          <a:ext cx="1909194" cy="324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2" name="公式" r:id="rId20" imgW="1193760" imgH="203040" progId="Equation.3">
                  <p:embed/>
                </p:oleObj>
              </mc:Choice>
              <mc:Fallback>
                <p:oleObj name="公式" r:id="rId20" imgW="1193760" imgH="203040" progId="Equation.3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xmlns="" id="{4C61219A-EC32-46E7-9FC6-EB9D9BBCB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47489" y="4321324"/>
                        <a:ext cx="1909194" cy="3249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xmlns="" id="{00F1B124-D2FA-43B8-81EB-6979E37F67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293" y="4710935"/>
          <a:ext cx="2069006" cy="263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3" name="公式" r:id="rId22" imgW="1396800" imgH="177480" progId="Equation.3">
                  <p:embed/>
                </p:oleObj>
              </mc:Choice>
              <mc:Fallback>
                <p:oleObj name="公式" r:id="rId22" imgW="1396800" imgH="177480" progId="Equation.3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xmlns="" id="{00F1B124-D2FA-43B8-81EB-6979E37F6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166293" y="4710935"/>
                        <a:ext cx="2069006" cy="263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xmlns="" id="{97FA291D-B401-4E6B-90D5-11C23C5C04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292" y="5066655"/>
          <a:ext cx="792773" cy="226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4" name="公式" r:id="rId24" imgW="533160" imgH="152280" progId="Equation.3">
                  <p:embed/>
                </p:oleObj>
              </mc:Choice>
              <mc:Fallback>
                <p:oleObj name="公式" r:id="rId24" imgW="533160" imgH="152280" progId="Equation.3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xmlns="" id="{97FA291D-B401-4E6B-90D5-11C23C5C04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66292" y="5066655"/>
                        <a:ext cx="792773" cy="226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1461358" y="1131794"/>
            <a:ext cx="7570699" cy="1950219"/>
            <a:chOff x="1491175" y="1533570"/>
            <a:chExt cx="7570699" cy="1950219"/>
          </a:xfrm>
        </p:grpSpPr>
        <p:grpSp>
          <p:nvGrpSpPr>
            <p:cNvPr id="20" name="组合 19"/>
            <p:cNvGrpSpPr/>
            <p:nvPr/>
          </p:nvGrpSpPr>
          <p:grpSpPr>
            <a:xfrm>
              <a:off x="5600699" y="1533570"/>
              <a:ext cx="3461175" cy="1758270"/>
              <a:chOff x="5202567" y="2958510"/>
              <a:chExt cx="3218690" cy="1758270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5202567" y="3596640"/>
                <a:ext cx="2585074" cy="1120140"/>
              </a:xfrm>
              <a:prstGeom prst="roundRect">
                <a:avLst>
                  <a:gd name="adj" fmla="val 11994"/>
                </a:avLst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是否还能化简？</a:t>
                </a:r>
                <a:endParaRPr lang="en-US" altLang="zh-CN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不容易判断！！！</a:t>
                </a:r>
                <a:endParaRPr lang="en-US" altLang="zh-CN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这是代数化简存在的问题！！</a:t>
                </a:r>
              </a:p>
            </p:txBody>
          </p:sp>
          <p:pic>
            <p:nvPicPr>
              <p:cNvPr id="17" name="Picture 2"/>
              <p:cNvPicPr>
                <a:picLocks noChangeAspect="1" noChangeArrowheads="1"/>
              </p:cNvPicPr>
              <p:nvPr/>
            </p:nvPicPr>
            <p:blipFill>
              <a:blip r:embed="rId26"/>
              <a:srcRect l="4700" t="11826" r="57922"/>
              <a:stretch>
                <a:fillRect/>
              </a:stretch>
            </p:blipFill>
            <p:spPr bwMode="auto">
              <a:xfrm>
                <a:off x="6899304" y="2958510"/>
                <a:ext cx="1521953" cy="12067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19" name="直接连接符 18"/>
              <p:cNvCxnSpPr/>
              <p:nvPr/>
            </p:nvCxnSpPr>
            <p:spPr>
              <a:xfrm flipV="1">
                <a:off x="6923722" y="3596640"/>
                <a:ext cx="216218" cy="0"/>
              </a:xfrm>
              <a:prstGeom prst="line">
                <a:avLst/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4" name="线形标注 1(带强调线) 33"/>
            <p:cNvSpPr/>
            <p:nvPr/>
          </p:nvSpPr>
          <p:spPr>
            <a:xfrm rot="16200000">
              <a:off x="2359093" y="2370507"/>
              <a:ext cx="245364" cy="1981200"/>
            </a:xfrm>
            <a:prstGeom prst="accentCallout1">
              <a:avLst>
                <a:gd name="adj1" fmla="val 106224"/>
                <a:gd name="adj2" fmla="val -14783"/>
                <a:gd name="adj3" fmla="val 207864"/>
                <a:gd name="adj4" fmla="val 313076"/>
              </a:avLst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472440" y="1458621"/>
            <a:ext cx="430339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</a:t>
            </a:r>
            <a:r>
              <a:rPr lang="zh-CN" altLang="en-US" sz="1600" dirty="0">
                <a:latin typeface="黑体" pitchFamily="49" charset="-122"/>
                <a:ea typeface="黑体" pitchFamily="49" charset="-122"/>
              </a:rPr>
              <a:t>化简逻辑函数并用最少的与非门实现。</a:t>
            </a:r>
            <a:endParaRPr lang="en-US" altLang="zh-CN" sz="16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72706" name="Object 6"/>
          <p:cNvGraphicFramePr>
            <a:graphicFrameLocks noChangeAspect="1"/>
          </p:cNvGraphicFramePr>
          <p:nvPr/>
        </p:nvGraphicFramePr>
        <p:xfrm>
          <a:off x="962660" y="2019300"/>
          <a:ext cx="3872799" cy="289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8" name="公式" r:id="rId3" imgW="2717640" imgH="203040" progId="Equation.3">
                  <p:embed/>
                </p:oleObj>
              </mc:Choice>
              <mc:Fallback>
                <p:oleObj name="公式" r:id="rId3" imgW="2717640" imgH="203040" progId="Equation.3">
                  <p:embed/>
                  <p:pic>
                    <p:nvPicPr>
                      <p:cNvPr id="727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0" y="2019300"/>
                        <a:ext cx="3872799" cy="2898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"/>
          <p:cNvGraphicFramePr>
            <a:graphicFrameLocks noChangeAspect="1"/>
          </p:cNvGraphicFramePr>
          <p:nvPr/>
        </p:nvGraphicFramePr>
        <p:xfrm>
          <a:off x="1079183" y="2405827"/>
          <a:ext cx="3317487" cy="330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9" name="公式" r:id="rId5" imgW="2298600" imgH="228600" progId="Equation.3">
                  <p:embed/>
                </p:oleObj>
              </mc:Choice>
              <mc:Fallback>
                <p:oleObj name="公式" r:id="rId5" imgW="2298600" imgH="228600" progId="Equation.3">
                  <p:embed/>
                  <p:pic>
                    <p:nvPicPr>
                      <p:cNvPr id="92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183" y="2405827"/>
                        <a:ext cx="3317487" cy="330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1"/>
          <p:cNvGraphicFramePr>
            <a:graphicFrameLocks noChangeAspect="1"/>
          </p:cNvGraphicFramePr>
          <p:nvPr/>
        </p:nvGraphicFramePr>
        <p:xfrm>
          <a:off x="1079183" y="2775324"/>
          <a:ext cx="1924795" cy="27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0" name="公式" r:id="rId7" imgW="1333440" imgH="190440" progId="Equation.3">
                  <p:embed/>
                </p:oleObj>
              </mc:Choice>
              <mc:Fallback>
                <p:oleObj name="公式" r:id="rId7" imgW="1333440" imgH="190440" progId="Equation.3">
                  <p:embed/>
                  <p:pic>
                    <p:nvPicPr>
                      <p:cNvPr id="92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183" y="2775324"/>
                        <a:ext cx="1924795" cy="27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3"/>
          <p:cNvGraphicFramePr>
            <a:graphicFrameLocks noChangeAspect="1"/>
          </p:cNvGraphicFramePr>
          <p:nvPr/>
        </p:nvGraphicFramePr>
        <p:xfrm>
          <a:off x="1079183" y="3147751"/>
          <a:ext cx="1063081" cy="27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1" name="公式" r:id="rId9" imgW="736560" imgH="190440" progId="Equation.3">
                  <p:embed/>
                </p:oleObj>
              </mc:Choice>
              <mc:Fallback>
                <p:oleObj name="公式" r:id="rId9" imgW="736560" imgH="190440" progId="Equation.3">
                  <p:embed/>
                  <p:pic>
                    <p:nvPicPr>
                      <p:cNvPr id="922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183" y="3147751"/>
                        <a:ext cx="1063081" cy="27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4"/>
          <p:cNvGraphicFramePr>
            <a:graphicFrameLocks noChangeAspect="1"/>
          </p:cNvGraphicFramePr>
          <p:nvPr/>
        </p:nvGraphicFramePr>
        <p:xfrm>
          <a:off x="1079183" y="3471869"/>
          <a:ext cx="1063081" cy="34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2" name="公式" r:id="rId11" imgW="736560" imgH="241200" progId="Equation.3">
                  <p:embed/>
                </p:oleObj>
              </mc:Choice>
              <mc:Fallback>
                <p:oleObj name="公式" r:id="rId11" imgW="736560" imgH="241200" progId="Equation.3">
                  <p:embed/>
                  <p:pic>
                    <p:nvPicPr>
                      <p:cNvPr id="922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183" y="3471869"/>
                        <a:ext cx="1063081" cy="348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5"/>
          <p:cNvGraphicFramePr>
            <a:graphicFrameLocks noChangeAspect="1"/>
          </p:cNvGraphicFramePr>
          <p:nvPr/>
        </p:nvGraphicFramePr>
        <p:xfrm>
          <a:off x="1079183" y="3900176"/>
          <a:ext cx="970835" cy="348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3" name="公式" r:id="rId13" imgW="672840" imgH="241200" progId="Equation.3">
                  <p:embed/>
                </p:oleObj>
              </mc:Choice>
              <mc:Fallback>
                <p:oleObj name="公式" r:id="rId13" imgW="672840" imgH="241200" progId="Equation.3">
                  <p:embed/>
                  <p:pic>
                    <p:nvPicPr>
                      <p:cNvPr id="92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183" y="3900176"/>
                        <a:ext cx="970835" cy="3487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1371600" y="2329180"/>
            <a:ext cx="3423340" cy="1588"/>
            <a:chOff x="1371600" y="2512060"/>
            <a:chExt cx="3423340" cy="1588"/>
          </a:xfrm>
        </p:grpSpPr>
        <p:cxnSp>
          <p:nvCxnSpPr>
            <p:cNvPr id="17" name="直接连接符 13"/>
            <p:cNvCxnSpPr>
              <a:cxnSpLocks noChangeShapeType="1"/>
            </p:cNvCxnSpPr>
            <p:nvPr/>
          </p:nvCxnSpPr>
          <p:spPr bwMode="auto">
            <a:xfrm>
              <a:off x="1371600" y="2512060"/>
              <a:ext cx="396000" cy="158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miter lim="800000"/>
              <a:headEnd/>
              <a:tailEnd/>
            </a:ln>
          </p:spPr>
        </p:cxnSp>
        <p:cxnSp>
          <p:nvCxnSpPr>
            <p:cNvPr id="18" name="直接连接符 15"/>
            <p:cNvCxnSpPr>
              <a:cxnSpLocks noChangeShapeType="1"/>
            </p:cNvCxnSpPr>
            <p:nvPr/>
          </p:nvCxnSpPr>
          <p:spPr bwMode="auto">
            <a:xfrm>
              <a:off x="2702560" y="2512060"/>
              <a:ext cx="396000" cy="158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miter lim="800000"/>
              <a:headEnd/>
              <a:tailEnd/>
            </a:ln>
          </p:spPr>
        </p:cxnSp>
        <p:cxnSp>
          <p:nvCxnSpPr>
            <p:cNvPr id="19" name="直接连接符 16"/>
            <p:cNvCxnSpPr>
              <a:cxnSpLocks noChangeShapeType="1"/>
            </p:cNvCxnSpPr>
            <p:nvPr/>
          </p:nvCxnSpPr>
          <p:spPr bwMode="auto">
            <a:xfrm>
              <a:off x="3362960" y="2512060"/>
              <a:ext cx="576000" cy="1588"/>
            </a:xfrm>
            <a:prstGeom prst="line">
              <a:avLst/>
            </a:prstGeom>
            <a:noFill/>
            <a:ln w="57150" algn="ctr">
              <a:solidFill>
                <a:srgbClr val="0070C0"/>
              </a:solidFill>
              <a:miter lim="800000"/>
              <a:headEnd/>
              <a:tailEnd/>
            </a:ln>
          </p:spPr>
        </p:cxnSp>
        <p:cxnSp>
          <p:nvCxnSpPr>
            <p:cNvPr id="20" name="直接连接符 20"/>
            <p:cNvCxnSpPr>
              <a:cxnSpLocks noChangeShapeType="1"/>
            </p:cNvCxnSpPr>
            <p:nvPr/>
          </p:nvCxnSpPr>
          <p:spPr bwMode="auto">
            <a:xfrm>
              <a:off x="4218940" y="2512060"/>
              <a:ext cx="576000" cy="1588"/>
            </a:xfrm>
            <a:prstGeom prst="line">
              <a:avLst/>
            </a:prstGeom>
            <a:noFill/>
            <a:ln w="57150" algn="ctr">
              <a:solidFill>
                <a:srgbClr val="0070C0"/>
              </a:solidFill>
              <a:miter lim="800000"/>
              <a:headEnd/>
              <a:tailEnd/>
            </a:ln>
          </p:spPr>
        </p:cxnSp>
      </p:grpSp>
      <p:grpSp>
        <p:nvGrpSpPr>
          <p:cNvPr id="24" name="组合 23"/>
          <p:cNvGrpSpPr/>
          <p:nvPr/>
        </p:nvGrpSpPr>
        <p:grpSpPr>
          <a:xfrm>
            <a:off x="1811020" y="3083560"/>
            <a:ext cx="1091960" cy="1588"/>
            <a:chOff x="1811020" y="3266440"/>
            <a:chExt cx="1091960" cy="1588"/>
          </a:xfrm>
        </p:grpSpPr>
        <p:cxnSp>
          <p:nvCxnSpPr>
            <p:cNvPr id="22" name="直接连接符 13"/>
            <p:cNvCxnSpPr>
              <a:cxnSpLocks noChangeShapeType="1"/>
            </p:cNvCxnSpPr>
            <p:nvPr/>
          </p:nvCxnSpPr>
          <p:spPr bwMode="auto">
            <a:xfrm>
              <a:off x="2506980" y="3266440"/>
              <a:ext cx="396000" cy="158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miter lim="800000"/>
              <a:headEnd/>
              <a:tailEnd/>
            </a:ln>
          </p:spPr>
        </p:cxnSp>
        <p:cxnSp>
          <p:nvCxnSpPr>
            <p:cNvPr id="23" name="直接连接符 15"/>
            <p:cNvCxnSpPr>
              <a:cxnSpLocks noChangeShapeType="1"/>
            </p:cNvCxnSpPr>
            <p:nvPr/>
          </p:nvCxnSpPr>
          <p:spPr bwMode="auto">
            <a:xfrm>
              <a:off x="1811020" y="3266440"/>
              <a:ext cx="396000" cy="1588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miter lim="800000"/>
              <a:headEnd/>
              <a:tailEnd/>
            </a:ln>
          </p:spPr>
        </p:cxnSp>
      </p:grpSp>
      <p:sp>
        <p:nvSpPr>
          <p:cNvPr id="25" name="圆角矩形标注 24"/>
          <p:cNvSpPr/>
          <p:nvPr/>
        </p:nvSpPr>
        <p:spPr>
          <a:xfrm>
            <a:off x="2458720" y="3218180"/>
            <a:ext cx="1092200" cy="355600"/>
          </a:xfrm>
          <a:prstGeom prst="wedgeRoundRectCallout">
            <a:avLst>
              <a:gd name="adj1" fmla="val -76221"/>
              <a:gd name="adj2" fmla="val -8740"/>
              <a:gd name="adj3" fmla="val 16667"/>
            </a:avLst>
          </a:prstGeom>
          <a:solidFill>
            <a:srgbClr val="FFFF00"/>
          </a:solidFill>
          <a:ln>
            <a:solidFill>
              <a:srgbClr val="262626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最简与或式</a:t>
            </a:r>
            <a:endParaRPr lang="zh-CN" altLang="en-US" sz="1400" dirty="0"/>
          </a:p>
        </p:txBody>
      </p:sp>
      <p:sp>
        <p:nvSpPr>
          <p:cNvPr id="26" name="圆角矩形标注 25"/>
          <p:cNvSpPr/>
          <p:nvPr/>
        </p:nvSpPr>
        <p:spPr>
          <a:xfrm>
            <a:off x="2390140" y="3903980"/>
            <a:ext cx="1435100" cy="355600"/>
          </a:xfrm>
          <a:prstGeom prst="wedgeRoundRectCallout">
            <a:avLst>
              <a:gd name="adj1" fmla="val -69849"/>
              <a:gd name="adj2" fmla="val -2311"/>
              <a:gd name="adj3" fmla="val 16667"/>
            </a:avLst>
          </a:prstGeom>
          <a:solidFill>
            <a:srgbClr val="FFFF00"/>
          </a:solidFill>
          <a:ln>
            <a:solidFill>
              <a:srgbClr val="262626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最简与非</a:t>
            </a:r>
            <a:r>
              <a:rPr lang="en-US" altLang="zh-CN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-</a:t>
            </a:r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与非式</a:t>
            </a:r>
            <a:endParaRPr lang="zh-CN" altLang="en-US" sz="14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5745480" y="830580"/>
            <a:ext cx="2971800" cy="2057400"/>
            <a:chOff x="5745480" y="716280"/>
            <a:chExt cx="2971800" cy="2057400"/>
          </a:xfrm>
        </p:grpSpPr>
        <p:sp>
          <p:nvSpPr>
            <p:cNvPr id="34" name="圆角矩形 33"/>
            <p:cNvSpPr/>
            <p:nvPr/>
          </p:nvSpPr>
          <p:spPr>
            <a:xfrm>
              <a:off x="5745480" y="716280"/>
              <a:ext cx="2971800" cy="2057400"/>
            </a:xfrm>
            <a:prstGeom prst="roundRect">
              <a:avLst>
                <a:gd name="adj" fmla="val 4816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2714" name="Picture 10"/>
            <p:cNvPicPr>
              <a:picLocks noChangeAspect="1" noChangeArrowheads="1"/>
            </p:cNvPicPr>
            <p:nvPr/>
          </p:nvPicPr>
          <p:blipFill>
            <a:blip r:embed="rId15"/>
            <a:srcRect l="2696" t="4075" r="5266" b="3840"/>
            <a:stretch>
              <a:fillRect/>
            </a:stretch>
          </p:blipFill>
          <p:spPr bwMode="auto">
            <a:xfrm>
              <a:off x="5836920" y="800100"/>
              <a:ext cx="2796540" cy="190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3" name="圆角矩形标注 32"/>
          <p:cNvSpPr/>
          <p:nvPr/>
        </p:nvSpPr>
        <p:spPr>
          <a:xfrm>
            <a:off x="4716780" y="1115060"/>
            <a:ext cx="822960" cy="591820"/>
          </a:xfrm>
          <a:prstGeom prst="wedgeRoundRectCallout">
            <a:avLst>
              <a:gd name="adj1" fmla="val 72430"/>
              <a:gd name="adj2" fmla="val 49063"/>
              <a:gd name="adj3" fmla="val 16667"/>
            </a:avLst>
          </a:prstGeom>
          <a:solidFill>
            <a:srgbClr val="FFFF00"/>
          </a:solidFill>
          <a:ln>
            <a:solidFill>
              <a:srgbClr val="262626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5</a:t>
            </a:r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个门</a:t>
            </a:r>
            <a:endParaRPr lang="en-US" altLang="zh-CN" sz="1400" dirty="0">
              <a:solidFill>
                <a:srgbClr val="0070C0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3</a:t>
            </a:r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种门</a:t>
            </a:r>
            <a:endParaRPr lang="zh-CN" altLang="en-US" sz="14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5745480" y="3101340"/>
            <a:ext cx="2979420" cy="2078737"/>
            <a:chOff x="5775960" y="3162300"/>
            <a:chExt cx="2979420" cy="2078737"/>
          </a:xfrm>
        </p:grpSpPr>
        <p:pic>
          <p:nvPicPr>
            <p:cNvPr id="28" name="Picture 8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5801050" y="3218555"/>
              <a:ext cx="2954330" cy="20224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圆角矩形 35"/>
            <p:cNvSpPr/>
            <p:nvPr/>
          </p:nvSpPr>
          <p:spPr>
            <a:xfrm>
              <a:off x="5775960" y="3162300"/>
              <a:ext cx="2971800" cy="2057400"/>
            </a:xfrm>
            <a:prstGeom prst="roundRect">
              <a:avLst>
                <a:gd name="adj" fmla="val 4816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圆角矩形标注 37"/>
          <p:cNvSpPr/>
          <p:nvPr/>
        </p:nvSpPr>
        <p:spPr>
          <a:xfrm>
            <a:off x="4716780" y="3088640"/>
            <a:ext cx="822960" cy="591820"/>
          </a:xfrm>
          <a:prstGeom prst="wedgeRoundRectCallout">
            <a:avLst>
              <a:gd name="adj1" fmla="val 72430"/>
              <a:gd name="adj2" fmla="val 49063"/>
              <a:gd name="adj3" fmla="val 16667"/>
            </a:avLst>
          </a:prstGeom>
          <a:solidFill>
            <a:srgbClr val="FFFF00"/>
          </a:solidFill>
          <a:ln>
            <a:solidFill>
              <a:srgbClr val="262626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5</a:t>
            </a:r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个门</a:t>
            </a:r>
            <a:endParaRPr lang="en-US" altLang="zh-CN" sz="1400" dirty="0">
              <a:solidFill>
                <a:srgbClr val="0070C0"/>
              </a:solidFill>
              <a:latin typeface="方正粗黑宋简体" pitchFamily="2" charset="-122"/>
              <a:ea typeface="方正粗黑宋简体" pitchFamily="2" charset="-122"/>
            </a:endParaRPr>
          </a:p>
          <a:p>
            <a:pPr algn="ctr"/>
            <a:r>
              <a:rPr lang="en-US" altLang="zh-CN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1</a:t>
            </a:r>
            <a:r>
              <a:rPr lang="zh-CN" altLang="en-US" sz="1400" dirty="0">
                <a:solidFill>
                  <a:srgbClr val="0070C0"/>
                </a:solidFill>
                <a:latin typeface="方正粗黑宋简体" pitchFamily="2" charset="-122"/>
                <a:ea typeface="方正粗黑宋简体" pitchFamily="2" charset="-122"/>
              </a:rPr>
              <a:t>种门</a:t>
            </a:r>
            <a:endParaRPr lang="zh-CN" altLang="en-US" sz="1400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xmlns="" id="{1837C5E5-7959-42ED-9800-4A299FBA6F36}"/>
              </a:ext>
            </a:extLst>
          </p:cNvPr>
          <p:cNvGrpSpPr/>
          <p:nvPr/>
        </p:nvGrpSpPr>
        <p:grpSpPr>
          <a:xfrm>
            <a:off x="392432" y="780143"/>
            <a:ext cx="4602047" cy="411055"/>
            <a:chOff x="392432" y="780143"/>
            <a:chExt cx="4602047" cy="411055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xmlns="" id="{35DF2855-3B0E-4FE8-B6F6-8DEBE24611B2}"/>
                </a:ext>
              </a:extLst>
            </p:cNvPr>
            <p:cNvSpPr/>
            <p:nvPr/>
          </p:nvSpPr>
          <p:spPr>
            <a:xfrm>
              <a:off x="754216" y="805934"/>
              <a:ext cx="42402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逻辑函数的代数化简与变换应用举例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42" name="Picture 3">
              <a:extLst>
                <a:ext uri="{FF2B5EF4-FFF2-40B4-BE49-F238E27FC236}">
                  <a16:creationId xmlns:a16="http://schemas.microsoft.com/office/drawing/2014/main" xmlns="" id="{1E198D68-A696-4333-9621-481CBC3DF6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10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25" grpId="0" animBg="1"/>
      <p:bldP spid="26" grpId="0" animBg="1"/>
      <p:bldP spid="33" grpId="0" animBg="1"/>
      <p:bldP spid="3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38BC6C45-34EA-4997-B751-1C5FDC7932E3}"/>
              </a:ext>
            </a:extLst>
          </p:cNvPr>
          <p:cNvGrpSpPr/>
          <p:nvPr/>
        </p:nvGrpSpPr>
        <p:grpSpPr>
          <a:xfrm>
            <a:off x="1041354" y="1824567"/>
            <a:ext cx="6772956" cy="2072333"/>
            <a:chOff x="1041354" y="1824567"/>
            <a:chExt cx="6772956" cy="2072333"/>
          </a:xfrm>
        </p:grpSpPr>
        <p:grpSp>
          <p:nvGrpSpPr>
            <p:cNvPr id="17" name="组合 16"/>
            <p:cNvGrpSpPr/>
            <p:nvPr/>
          </p:nvGrpSpPr>
          <p:grpSpPr>
            <a:xfrm>
              <a:off x="1101090" y="1824567"/>
              <a:ext cx="1371600" cy="760000"/>
              <a:chOff x="1101090" y="1824567"/>
              <a:chExt cx="1371600" cy="760000"/>
            </a:xfrm>
          </p:grpSpPr>
          <p:grpSp>
            <p:nvGrpSpPr>
              <p:cNvPr id="3" name="组合 35"/>
              <p:cNvGrpSpPr/>
              <p:nvPr/>
            </p:nvGrpSpPr>
            <p:grpSpPr>
              <a:xfrm>
                <a:off x="1101090" y="1972734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22" name="直接连接符 21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" name="组合 36"/>
              <p:cNvGrpSpPr/>
              <p:nvPr/>
            </p:nvGrpSpPr>
            <p:grpSpPr>
              <a:xfrm rot="5400000">
                <a:off x="986715" y="2155037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0" name="直接连接符 19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组合 17"/>
            <p:cNvGrpSpPr/>
            <p:nvPr/>
          </p:nvGrpSpPr>
          <p:grpSpPr>
            <a:xfrm>
              <a:off x="6442710" y="3136900"/>
              <a:ext cx="1371600" cy="760000"/>
              <a:chOff x="6442710" y="3136900"/>
              <a:chExt cx="1371600" cy="760000"/>
            </a:xfrm>
          </p:grpSpPr>
          <p:grpSp>
            <p:nvGrpSpPr>
              <p:cNvPr id="6" name="组合 35"/>
              <p:cNvGrpSpPr/>
              <p:nvPr/>
            </p:nvGrpSpPr>
            <p:grpSpPr>
              <a:xfrm rot="10800000">
                <a:off x="6442710" y="3638667"/>
                <a:ext cx="1371600" cy="110067"/>
                <a:chOff x="910590" y="1699260"/>
                <a:chExt cx="1371600" cy="99060"/>
              </a:xfrm>
            </p:grpSpPr>
            <p:cxnSp>
              <p:nvCxnSpPr>
                <p:cNvPr id="31" name="直接连接符 30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组合 36"/>
              <p:cNvGrpSpPr/>
              <p:nvPr/>
            </p:nvGrpSpPr>
            <p:grpSpPr>
              <a:xfrm rot="16200000">
                <a:off x="7092485" y="3467370"/>
                <a:ext cx="760000" cy="99060"/>
                <a:chOff x="910590" y="1699260"/>
                <a:chExt cx="1371600" cy="99060"/>
              </a:xfrm>
            </p:grpSpPr>
            <p:cxnSp>
              <p:nvCxnSpPr>
                <p:cNvPr id="28" name="直接连接符 27"/>
                <p:cNvCxnSpPr/>
                <p:nvPr/>
              </p:nvCxnSpPr>
              <p:spPr>
                <a:xfrm>
                  <a:off x="910590" y="169926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910590" y="1798320"/>
                  <a:ext cx="1371600" cy="0"/>
                </a:xfrm>
                <a:prstGeom prst="line">
                  <a:avLst/>
                </a:prstGeom>
                <a:ln>
                  <a:solidFill>
                    <a:srgbClr val="00B0F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文本框 6"/>
            <p:cNvSpPr txBox="1"/>
            <p:nvPr/>
          </p:nvSpPr>
          <p:spPr>
            <a:xfrm>
              <a:off x="1041354" y="1884639"/>
              <a:ext cx="6498792" cy="1647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3400" b="1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第二章 逻辑代数</a:t>
              </a:r>
              <a:endParaRPr lang="en-US" altLang="zh-CN" sz="3400" b="1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en-US" altLang="zh-CN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2.3 </a:t>
              </a:r>
              <a:r>
                <a:rPr lang="zh-CN" altLang="en-US" sz="2800" dirty="0">
                  <a:ln w="12700">
                    <a:solidFill>
                      <a:srgbClr val="7030A0"/>
                    </a:solidFill>
                    <a:prstDash val="solid"/>
                  </a:ln>
                  <a:solidFill>
                    <a:srgbClr val="6600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逻辑函数的卡诺图化简</a:t>
              </a:r>
              <a:endParaRPr lang="en-US" altLang="zh-CN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zh-CN" altLang="en-US" sz="20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方正粗黑宋简体" pitchFamily="2" charset="-122"/>
                  <a:ea typeface="方正粗黑宋简体" pitchFamily="2" charset="-122"/>
                </a:rPr>
                <a:t>（一）逻辑函数的最小项表达式</a:t>
              </a:r>
            </a:p>
          </p:txBody>
        </p:sp>
      </p:grp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AutoShape 8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50" name="AutoShape 10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852" name="AutoShape 1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392432" y="780143"/>
            <a:ext cx="3737608" cy="411055"/>
            <a:chOff x="392432" y="780143"/>
            <a:chExt cx="3737608" cy="411055"/>
          </a:xfrm>
        </p:grpSpPr>
        <p:sp>
          <p:nvSpPr>
            <p:cNvPr id="21" name="矩形 20"/>
            <p:cNvSpPr/>
            <p:nvPr/>
          </p:nvSpPr>
          <p:spPr>
            <a:xfrm>
              <a:off x="754216" y="805934"/>
              <a:ext cx="33758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、最小项的定义与编号表示</a:t>
              </a:r>
            </a:p>
          </p:txBody>
        </p:sp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9" name="矩形 28"/>
          <p:cNvSpPr/>
          <p:nvPr/>
        </p:nvSpPr>
        <p:spPr>
          <a:xfrm>
            <a:off x="392432" y="2101986"/>
            <a:ext cx="56464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如：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三变量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altLang="zh-CN" sz="1600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的最小项共有</a:t>
            </a:r>
            <a:r>
              <a:rPr lang="en-US" altLang="zh-CN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1600" baseline="300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en-US" altLang="zh-CN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=8</a:t>
            </a:r>
            <a:r>
              <a:rPr lang="zh-CN" altLang="en-US" sz="16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941" y="2570327"/>
            <a:ext cx="3100283" cy="2876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ABA7299D-6E28-4F83-87C3-7D15B36A983D}"/>
              </a:ext>
            </a:extLst>
          </p:cNvPr>
          <p:cNvGrpSpPr/>
          <p:nvPr/>
        </p:nvGrpSpPr>
        <p:grpSpPr>
          <a:xfrm>
            <a:off x="491798" y="1294282"/>
            <a:ext cx="7890824" cy="662939"/>
            <a:chOff x="826456" y="1225827"/>
            <a:chExt cx="7890824" cy="66293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456" y="1225827"/>
              <a:ext cx="1040444" cy="662939"/>
            </a:xfrm>
            <a:prstGeom prst="rect">
              <a:avLst/>
            </a:prstGeom>
            <a:solidFill>
              <a:srgbClr val="05AFC8"/>
            </a:solidFill>
            <a:ln w="19050">
              <a:solidFill>
                <a:schemeClr val="accent1"/>
              </a:solidFill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最小项的定义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4E5F878E-1F17-4D81-B123-EBD4CE26E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6900" y="1225827"/>
              <a:ext cx="6850380" cy="6629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92075">
                <a:lnSpc>
                  <a:spcPct val="125000"/>
                </a:lnSpc>
                <a:spcBef>
                  <a:spcPct val="50000"/>
                </a:spcBef>
                <a:defRPr/>
              </a:pPr>
              <a:r>
                <a:rPr lang="en-US" altLang="zh-CN" sz="1600" i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变量逻辑函数中，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包含全部 </a:t>
              </a:r>
              <a:r>
                <a:rPr lang="en-US" altLang="zh-CN" sz="1600" i="1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n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个变量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的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与项（乘积项）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称为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最小项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。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变量逻辑函数的全部最小项共有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1600" i="1" baseline="300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n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个。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828375" y="4909066"/>
            <a:ext cx="2315941" cy="330448"/>
            <a:chOff x="3828375" y="4909066"/>
            <a:chExt cx="2315941" cy="330448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xmlns="" id="{FCA34AE1-8985-4469-9B8C-B9941B0D81B5}"/>
                </a:ext>
              </a:extLst>
            </p:cNvPr>
            <p:cNvGrpSpPr/>
            <p:nvPr/>
          </p:nvGrpSpPr>
          <p:grpSpPr>
            <a:xfrm>
              <a:off x="3828375" y="4913876"/>
              <a:ext cx="743625" cy="325638"/>
              <a:chOff x="3828375" y="4913876"/>
              <a:chExt cx="743625" cy="325638"/>
            </a:xfrm>
          </p:grpSpPr>
          <p:sp>
            <p:nvSpPr>
              <p:cNvPr id="4" name="箭头: 五边形 3">
                <a:extLst>
                  <a:ext uri="{FF2B5EF4-FFF2-40B4-BE49-F238E27FC236}">
                    <a16:creationId xmlns:a16="http://schemas.microsoft.com/office/drawing/2014/main" xmlns="" id="{5AAC426B-731D-450B-9822-768976CFDD9F}"/>
                  </a:ext>
                </a:extLst>
              </p:cNvPr>
              <p:cNvSpPr/>
              <p:nvPr/>
            </p:nvSpPr>
            <p:spPr>
              <a:xfrm>
                <a:off x="3828375" y="4913876"/>
                <a:ext cx="743625" cy="325638"/>
              </a:xfrm>
              <a:prstGeom prst="homePlat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" name="对象 2">
                <a:extLst>
                  <a:ext uri="{FF2B5EF4-FFF2-40B4-BE49-F238E27FC236}">
                    <a16:creationId xmlns:a16="http://schemas.microsoft.com/office/drawing/2014/main" xmlns="" id="{D9AB55C1-8FC8-413F-A7F7-332D19FE2D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24550" y="4964058"/>
              <a:ext cx="377503" cy="2485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24" name="公式" r:id="rId6" imgW="317160" imgH="190440" progId="Equation.3">
                      <p:embed/>
                    </p:oleObj>
                  </mc:Choice>
                  <mc:Fallback>
                    <p:oleObj name="公式" r:id="rId6" imgW="317160" imgH="190440" progId="Equation.3">
                      <p:embed/>
                      <p:pic>
                        <p:nvPicPr>
                          <p:cNvPr id="3" name="对象 2">
                            <a:extLst>
                              <a:ext uri="{FF2B5EF4-FFF2-40B4-BE49-F238E27FC236}">
                                <a16:creationId xmlns:a16="http://schemas.microsoft.com/office/drawing/2014/main" xmlns="" id="{D9AB55C1-8FC8-413F-A7F7-332D19FE2DE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4550" y="4964058"/>
                            <a:ext cx="377503" cy="248549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" name="箭头: V 形 4">
              <a:extLst>
                <a:ext uri="{FF2B5EF4-FFF2-40B4-BE49-F238E27FC236}">
                  <a16:creationId xmlns:a16="http://schemas.microsoft.com/office/drawing/2014/main" xmlns="" id="{27999D31-B0D1-4456-9822-E8C0E37D17C1}"/>
                </a:ext>
              </a:extLst>
            </p:cNvPr>
            <p:cNvSpPr/>
            <p:nvPr/>
          </p:nvSpPr>
          <p:spPr>
            <a:xfrm>
              <a:off x="4460232" y="4911471"/>
              <a:ext cx="887022" cy="325638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011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箭头: V 形 32">
              <a:extLst>
                <a:ext uri="{FF2B5EF4-FFF2-40B4-BE49-F238E27FC236}">
                  <a16:creationId xmlns:a16="http://schemas.microsoft.com/office/drawing/2014/main" xmlns="" id="{E406A562-BB26-4163-800B-DB746B85B27A}"/>
                </a:ext>
              </a:extLst>
            </p:cNvPr>
            <p:cNvSpPr/>
            <p:nvPr/>
          </p:nvSpPr>
          <p:spPr>
            <a:xfrm>
              <a:off x="5257294" y="4909066"/>
              <a:ext cx="887022" cy="325638"/>
            </a:xfrm>
            <a:prstGeom prst="chevro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388101" y="4909066"/>
            <a:ext cx="2299307" cy="328043"/>
            <a:chOff x="6388101" y="4909066"/>
            <a:chExt cx="2299307" cy="32804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xmlns="" id="{F30C21EB-3E64-4E0B-ABD6-ABB25E62FCBC}"/>
                </a:ext>
              </a:extLst>
            </p:cNvPr>
            <p:cNvGrpSpPr/>
            <p:nvPr/>
          </p:nvGrpSpPr>
          <p:grpSpPr>
            <a:xfrm>
              <a:off x="6388101" y="4911471"/>
              <a:ext cx="743625" cy="325638"/>
              <a:chOff x="6388101" y="4911471"/>
              <a:chExt cx="743625" cy="325638"/>
            </a:xfrm>
          </p:grpSpPr>
          <p:sp>
            <p:nvSpPr>
              <p:cNvPr id="34" name="箭头: 五边形 33">
                <a:extLst>
                  <a:ext uri="{FF2B5EF4-FFF2-40B4-BE49-F238E27FC236}">
                    <a16:creationId xmlns:a16="http://schemas.microsoft.com/office/drawing/2014/main" xmlns="" id="{970A733C-012D-4EC6-9FC6-122AF99E136B}"/>
                  </a:ext>
                </a:extLst>
              </p:cNvPr>
              <p:cNvSpPr/>
              <p:nvPr/>
            </p:nvSpPr>
            <p:spPr>
              <a:xfrm>
                <a:off x="6388101" y="4911471"/>
                <a:ext cx="743625" cy="325638"/>
              </a:xfrm>
              <a:prstGeom prst="homePlat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8" name="对象 37">
                <a:extLst>
                  <a:ext uri="{FF2B5EF4-FFF2-40B4-BE49-F238E27FC236}">
                    <a16:creationId xmlns:a16="http://schemas.microsoft.com/office/drawing/2014/main" xmlns="" id="{B1BC1C2B-64BD-459D-A136-B282B8C0065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70316" y="4964058"/>
              <a:ext cx="389402" cy="243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25" name="公式" r:id="rId8" imgW="291960" imgH="190440" progId="Equation.3">
                      <p:embed/>
                    </p:oleObj>
                  </mc:Choice>
                  <mc:Fallback>
                    <p:oleObj name="公式" r:id="rId8" imgW="291960" imgH="190440" progId="Equation.3">
                      <p:embed/>
                      <p:pic>
                        <p:nvPicPr>
                          <p:cNvPr id="38" name="对象 37">
                            <a:extLst>
                              <a:ext uri="{FF2B5EF4-FFF2-40B4-BE49-F238E27FC236}">
                                <a16:creationId xmlns:a16="http://schemas.microsoft.com/office/drawing/2014/main" xmlns="" id="{B1BC1C2B-64BD-459D-A136-B282B8C0065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70316" y="4964058"/>
                            <a:ext cx="389402" cy="243204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2" name="箭头: V 形 41">
              <a:extLst>
                <a:ext uri="{FF2B5EF4-FFF2-40B4-BE49-F238E27FC236}">
                  <a16:creationId xmlns:a16="http://schemas.microsoft.com/office/drawing/2014/main" xmlns="" id="{79B78AF2-C247-4461-A86B-65BC8407126E}"/>
                </a:ext>
              </a:extLst>
            </p:cNvPr>
            <p:cNvSpPr/>
            <p:nvPr/>
          </p:nvSpPr>
          <p:spPr>
            <a:xfrm>
              <a:off x="7019958" y="4909066"/>
              <a:ext cx="887022" cy="325638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110</a:t>
              </a:r>
              <a:endPara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箭头: V 形 42">
              <a:extLst>
                <a:ext uri="{FF2B5EF4-FFF2-40B4-BE49-F238E27FC236}">
                  <a16:creationId xmlns:a16="http://schemas.microsoft.com/office/drawing/2014/main" xmlns="" id="{80CE0864-87CA-4582-B60E-500C05555388}"/>
                </a:ext>
              </a:extLst>
            </p:cNvPr>
            <p:cNvSpPr/>
            <p:nvPr/>
          </p:nvSpPr>
          <p:spPr>
            <a:xfrm>
              <a:off x="7800386" y="4909066"/>
              <a:ext cx="887022" cy="325638"/>
            </a:xfrm>
            <a:prstGeom prst="chevro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b="1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62558" y="2277474"/>
            <a:ext cx="4289042" cy="1478644"/>
            <a:chOff x="3921377" y="2930757"/>
            <a:chExt cx="4289042" cy="1466233"/>
          </a:xfrm>
        </p:grpSpPr>
        <p:grpSp>
          <p:nvGrpSpPr>
            <p:cNvPr id="37" name="组合 36"/>
            <p:cNvGrpSpPr/>
            <p:nvPr/>
          </p:nvGrpSpPr>
          <p:grpSpPr>
            <a:xfrm>
              <a:off x="3921377" y="2930757"/>
              <a:ext cx="4289042" cy="1466233"/>
              <a:chOff x="3997577" y="2930757"/>
              <a:chExt cx="4289042" cy="1466233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3997577" y="3210630"/>
                <a:ext cx="4137661" cy="1186360"/>
              </a:xfrm>
              <a:prstGeom prst="roundRect">
                <a:avLst>
                  <a:gd name="adj" fmla="val 11994"/>
                </a:avLst>
              </a:prstGeom>
              <a:solidFill>
                <a:schemeClr val="bg1"/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endParaRPr>
              </a:p>
            </p:txBody>
          </p:sp>
          <p:pic>
            <p:nvPicPr>
              <p:cNvPr id="36" name="Picture 2"/>
              <p:cNvPicPr>
                <a:picLocks noChangeAspect="1" noChangeArrowheads="1"/>
              </p:cNvPicPr>
              <p:nvPr/>
            </p:nvPicPr>
            <p:blipFill>
              <a:blip r:embed="rId10"/>
              <a:srcRect l="4700" t="11826" r="57922"/>
              <a:stretch>
                <a:fillRect/>
              </a:stretch>
            </p:blipFill>
            <p:spPr bwMode="auto">
              <a:xfrm>
                <a:off x="7239524" y="2930757"/>
                <a:ext cx="1047095" cy="772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41" name="组合 40"/>
            <p:cNvGrpSpPr/>
            <p:nvPr/>
          </p:nvGrpSpPr>
          <p:grpSpPr>
            <a:xfrm>
              <a:off x="4027313" y="3201597"/>
              <a:ext cx="3522476" cy="1113469"/>
              <a:chOff x="4027313" y="3201597"/>
              <a:chExt cx="3522476" cy="1113469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4027313" y="3201597"/>
                <a:ext cx="3522476" cy="3314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1400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三变量</a:t>
                </a:r>
                <a:r>
                  <a:rPr lang="en-US" altLang="zh-CN" sz="1400" i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A</a:t>
                </a:r>
                <a:r>
                  <a:rPr lang="zh-CN" altLang="en-US" sz="1400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，</a:t>
                </a:r>
                <a:r>
                  <a:rPr lang="en-US" altLang="zh-CN" sz="1400" i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B</a:t>
                </a:r>
                <a:r>
                  <a:rPr lang="zh-CN" altLang="en-US" sz="1400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，</a:t>
                </a:r>
                <a:r>
                  <a:rPr lang="en-US" altLang="zh-CN" sz="1400" i="1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C</a:t>
                </a:r>
                <a:r>
                  <a:rPr lang="zh-CN" altLang="en-US" sz="1400" dirty="0"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，以下哪些是最小项？</a:t>
                </a:r>
              </a:p>
            </p:txBody>
          </p:sp>
          <p:graphicFrame>
            <p:nvGraphicFramePr>
              <p:cNvPr id="40" name="对象 39"/>
              <p:cNvGraphicFramePr>
                <a:graphicFrameLocks noChangeAspect="1"/>
              </p:cNvGraphicFramePr>
              <p:nvPr/>
            </p:nvGraphicFramePr>
            <p:xfrm>
              <a:off x="4124160" y="3625138"/>
              <a:ext cx="2774633" cy="689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26" name="公式" r:id="rId11" imgW="2209680" imgH="482400" progId="Equation.3">
                      <p:embed/>
                    </p:oleObj>
                  </mc:Choice>
                  <mc:Fallback>
                    <p:oleObj name="公式" r:id="rId11" imgW="2209680" imgH="482400" progId="Equation.3">
                      <p:embed/>
                      <p:pic>
                        <p:nvPicPr>
                          <p:cNvPr id="40" name="对象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4160" y="3625138"/>
                            <a:ext cx="2774633" cy="68992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xmlns="" id="{1E5B4541-E2B3-4092-BE9B-4334E43680BB}"/>
              </a:ext>
            </a:extLst>
          </p:cNvPr>
          <p:cNvGrpSpPr/>
          <p:nvPr/>
        </p:nvGrpSpPr>
        <p:grpSpPr>
          <a:xfrm>
            <a:off x="4262558" y="3851714"/>
            <a:ext cx="4289042" cy="697895"/>
            <a:chOff x="6321863" y="3192521"/>
            <a:chExt cx="4289042" cy="697895"/>
          </a:xfrm>
        </p:grpSpPr>
        <p:sp>
          <p:nvSpPr>
            <p:cNvPr id="45" name="圆角矩形 35">
              <a:extLst>
                <a:ext uri="{FF2B5EF4-FFF2-40B4-BE49-F238E27FC236}">
                  <a16:creationId xmlns:a16="http://schemas.microsoft.com/office/drawing/2014/main" xmlns="" id="{41C2A66D-C0CA-409F-A3AB-ADF7906A5EA8}"/>
                </a:ext>
              </a:extLst>
            </p:cNvPr>
            <p:cNvSpPr/>
            <p:nvPr/>
          </p:nvSpPr>
          <p:spPr>
            <a:xfrm>
              <a:off x="6321863" y="3425153"/>
              <a:ext cx="4137661" cy="465263"/>
            </a:xfrm>
            <a:prstGeom prst="roundRect">
              <a:avLst>
                <a:gd name="adj" fmla="val 11994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eaLnBrk="0" hangingPunct="0">
                <a:lnSpc>
                  <a:spcPct val="125000"/>
                </a:lnSpc>
              </a:pPr>
              <a:r>
                <a:rPr lang="zh-CN" altLang="zh-CN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最小项的编号与变量的顺序是紧密相关的</a:t>
              </a:r>
              <a:endPara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endParaRPr>
            </a:p>
          </p:txBody>
        </p:sp>
        <p:pic>
          <p:nvPicPr>
            <p:cNvPr id="46" name="Picture 7">
              <a:extLst>
                <a:ext uri="{FF2B5EF4-FFF2-40B4-BE49-F238E27FC236}">
                  <a16:creationId xmlns:a16="http://schemas.microsoft.com/office/drawing/2014/main" xmlns="" id="{72012708-4F58-471E-802C-E478C4A1D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10148989" y="3192521"/>
              <a:ext cx="461916" cy="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92432" y="780143"/>
            <a:ext cx="3219448" cy="411055"/>
            <a:chOff x="392432" y="780143"/>
            <a:chExt cx="3219448" cy="411055"/>
          </a:xfrm>
        </p:grpSpPr>
        <p:sp>
          <p:nvSpPr>
            <p:cNvPr id="11" name="矩形 10"/>
            <p:cNvSpPr/>
            <p:nvPr/>
          </p:nvSpPr>
          <p:spPr>
            <a:xfrm>
              <a:off x="754216" y="805934"/>
              <a:ext cx="28576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、最小项的性质</a:t>
              </a:r>
            </a:p>
          </p:txBody>
        </p:sp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矩形 16"/>
          <p:cNvSpPr/>
          <p:nvPr/>
        </p:nvSpPr>
        <p:spPr>
          <a:xfrm>
            <a:off x="392432" y="1438021"/>
            <a:ext cx="3728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以三变量为例说明最小项的性质。 </a:t>
            </a:r>
          </a:p>
        </p:txBody>
      </p:sp>
      <p:pic>
        <p:nvPicPr>
          <p:cNvPr id="53275" name="Picture 2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432" y="2108305"/>
            <a:ext cx="5322886" cy="2800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3" name="组合 32"/>
          <p:cNvGrpSpPr/>
          <p:nvPr/>
        </p:nvGrpSpPr>
        <p:grpSpPr>
          <a:xfrm>
            <a:off x="5854066" y="1158755"/>
            <a:ext cx="3070223" cy="3760470"/>
            <a:chOff x="5876926" y="1332230"/>
            <a:chExt cx="3070223" cy="3760470"/>
          </a:xfrm>
        </p:grpSpPr>
        <p:sp>
          <p:nvSpPr>
            <p:cNvPr id="30" name="Rectangle 41"/>
            <p:cNvSpPr>
              <a:spLocks noChangeArrowheads="1"/>
            </p:cNvSpPr>
            <p:nvPr/>
          </p:nvSpPr>
          <p:spPr bwMode="auto">
            <a:xfrm>
              <a:off x="5876926" y="1700213"/>
              <a:ext cx="3048000" cy="3372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marL="266700" indent="-266700" eaLnBrk="0" hangingPunct="0">
                <a:lnSpc>
                  <a:spcPct val="125000"/>
                </a:lnSpc>
                <a:spcBef>
                  <a:spcPts val="600"/>
                </a:spcBef>
                <a:buFont typeface="Wingdings" pitchFamily="2" charset="2"/>
                <a:buChar char="Ø"/>
              </a:pPr>
              <a:r>
                <a:rPr lang="zh-CN" altLang="en-US" sz="16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对于任意一个最小项，只有一组变量取值使它的值为</a:t>
              </a:r>
              <a:r>
                <a:rPr lang="en-US" altLang="zh-CN" sz="16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16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，而其余变量取值均使它的值为</a:t>
              </a:r>
              <a:r>
                <a:rPr lang="en-US" altLang="zh-CN" sz="16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zh-CN" altLang="en-US" sz="1600" b="1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en-US" altLang="zh-CN" sz="16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marL="266700" indent="-266700" eaLnBrk="0" hangingPunct="0">
                <a:lnSpc>
                  <a:spcPct val="125000"/>
                </a:lnSpc>
                <a:spcBef>
                  <a:spcPts val="600"/>
                </a:spcBef>
                <a:buFont typeface="Wingdings" pitchFamily="2" charset="2"/>
                <a:buChar char="Ø"/>
              </a:pP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不同的最小项，使它的值为</a:t>
              </a:r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的那组变量取值也不同。</a:t>
              </a:r>
              <a:endParaRPr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marL="266700" indent="-266700" eaLnBrk="0" hangingPunct="0">
                <a:lnSpc>
                  <a:spcPct val="125000"/>
                </a:lnSpc>
                <a:spcBef>
                  <a:spcPts val="600"/>
                </a:spcBef>
                <a:buFont typeface="Wingdings" pitchFamily="2" charset="2"/>
                <a:buChar char="Ø"/>
              </a:pP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对于变量的任一组取值，任意两个最小项的乘积为</a:t>
              </a:r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0</a:t>
              </a: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。 </a:t>
              </a:r>
              <a:endParaRPr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marL="266700" indent="-266700" eaLnBrk="0" hangingPunct="0">
                <a:lnSpc>
                  <a:spcPct val="125000"/>
                </a:lnSpc>
                <a:spcBef>
                  <a:spcPts val="600"/>
                </a:spcBef>
                <a:buFont typeface="Wingdings" pitchFamily="2" charset="2"/>
                <a:buChar char="Ø"/>
              </a:pP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对于变量的任一组取值，全体最小项的和为</a:t>
              </a:r>
              <a:r>
                <a:rPr lang="en-US" altLang="zh-CN" sz="1600" b="1" dirty="0"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1600" b="1" dirty="0">
                  <a:latin typeface="楷体_GB2312" pitchFamily="49" charset="-122"/>
                  <a:ea typeface="楷体_GB2312" pitchFamily="49" charset="-122"/>
                </a:rPr>
                <a:t>。</a:t>
              </a:r>
              <a:endParaRPr lang="zh-CN" altLang="en-US" sz="16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5885460" y="1492249"/>
              <a:ext cx="3061689" cy="3600451"/>
            </a:xfrm>
            <a:prstGeom prst="roundRect">
              <a:avLst>
                <a:gd name="adj" fmla="val 486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流程图: 可选过程 31"/>
            <p:cNvSpPr/>
            <p:nvPr/>
          </p:nvSpPr>
          <p:spPr>
            <a:xfrm>
              <a:off x="6615141" y="1332230"/>
              <a:ext cx="1747809" cy="290457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最小项的性质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821496" y="2940050"/>
            <a:ext cx="3801304" cy="685800"/>
            <a:chOff x="821496" y="2863850"/>
            <a:chExt cx="3801304" cy="685800"/>
          </a:xfrm>
        </p:grpSpPr>
        <p:sp>
          <p:nvSpPr>
            <p:cNvPr id="42" name="圆角矩形 41"/>
            <p:cNvSpPr/>
            <p:nvPr/>
          </p:nvSpPr>
          <p:spPr>
            <a:xfrm>
              <a:off x="2120900" y="2863850"/>
              <a:ext cx="2501900" cy="685800"/>
            </a:xfrm>
            <a:prstGeom prst="roundRect">
              <a:avLst/>
            </a:prstGeom>
            <a:solidFill>
              <a:srgbClr val="FF66FF">
                <a:alpha val="3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AutoShape 134"/>
            <p:cNvSpPr>
              <a:spLocks noChangeArrowheads="1"/>
            </p:cNvSpPr>
            <p:nvPr/>
          </p:nvSpPr>
          <p:spPr bwMode="auto">
            <a:xfrm>
              <a:off x="821496" y="2928425"/>
              <a:ext cx="1052830" cy="549910"/>
            </a:xfrm>
            <a:prstGeom prst="wedgeRoundRectCallout">
              <a:avLst>
                <a:gd name="adj1" fmla="val 72844"/>
                <a:gd name="adj2" fmla="val 1231"/>
                <a:gd name="adj3" fmla="val 16667"/>
              </a:avLst>
            </a:prstGeom>
            <a:solidFill>
              <a:srgbClr val="FFFF99"/>
            </a:solidFill>
            <a:ln w="12700">
              <a:solidFill>
                <a:srgbClr val="6600FF"/>
              </a:solidFill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方正粗黑宋简体" pitchFamily="2" charset="-122"/>
                  <a:ea typeface="方正粗黑宋简体" pitchFamily="2" charset="-122"/>
                </a:rPr>
                <a:t>最小项表达式</a:t>
              </a:r>
            </a:p>
          </p:txBody>
        </p:sp>
      </p:grpSp>
      <p:graphicFrame>
        <p:nvGraphicFramePr>
          <p:cNvPr id="37" name="Object 23"/>
          <p:cNvGraphicFramePr>
            <a:graphicFrameLocks noChangeAspect="1"/>
          </p:cNvGraphicFramePr>
          <p:nvPr/>
        </p:nvGraphicFramePr>
        <p:xfrm>
          <a:off x="1944826" y="2960587"/>
          <a:ext cx="2690674" cy="663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6" name="公式" r:id="rId3" imgW="1523880" imgH="419040" progId="Equation.3">
                  <p:embed/>
                </p:oleObj>
              </mc:Choice>
              <mc:Fallback>
                <p:oleObj name="公式" r:id="rId3" imgW="1523880" imgH="419040" progId="Equation.3">
                  <p:embed/>
                  <p:pic>
                    <p:nvPicPr>
                      <p:cNvPr id="3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826" y="2960587"/>
                        <a:ext cx="2690674" cy="663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392432" y="780143"/>
            <a:ext cx="3804918" cy="411055"/>
            <a:chOff x="392432" y="780143"/>
            <a:chExt cx="3804918" cy="411055"/>
          </a:xfrm>
        </p:grpSpPr>
        <p:sp>
          <p:nvSpPr>
            <p:cNvPr id="26" name="矩形 25"/>
            <p:cNvSpPr/>
            <p:nvPr/>
          </p:nvSpPr>
          <p:spPr>
            <a:xfrm>
              <a:off x="754216" y="805934"/>
              <a:ext cx="344313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、逻辑函数的最小项表达式</a:t>
              </a:r>
            </a:p>
          </p:txBody>
        </p:sp>
        <p:pic>
          <p:nvPicPr>
            <p:cNvPr id="27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504514" y="1296335"/>
            <a:ext cx="7348537" cy="37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最小项表达式：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一个逻辑函数表达式的最小项之和的形式。</a:t>
            </a:r>
          </a:p>
        </p:txBody>
      </p:sp>
      <p:graphicFrame>
        <p:nvGraphicFramePr>
          <p:cNvPr id="35" name="Object 21"/>
          <p:cNvGraphicFramePr>
            <a:graphicFrameLocks noChangeAspect="1"/>
          </p:cNvGraphicFramePr>
          <p:nvPr/>
        </p:nvGraphicFramePr>
        <p:xfrm>
          <a:off x="895833" y="2191114"/>
          <a:ext cx="21113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7" name="公式" r:id="rId6" imgW="1219200" imgH="228600" progId="Equation.3">
                  <p:embed/>
                </p:oleObj>
              </mc:Choice>
              <mc:Fallback>
                <p:oleObj name="公式" r:id="rId6" imgW="1219200" imgH="228600" progId="Equation.3">
                  <p:embed/>
                  <p:pic>
                    <p:nvPicPr>
                      <p:cNvPr id="3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833" y="2191114"/>
                        <a:ext cx="2111375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1951521" y="2587014"/>
          <a:ext cx="2429979" cy="346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8" name="公式" r:id="rId8" imgW="1358640" imgH="215640" progId="Equation.3">
                  <p:embed/>
                </p:oleObj>
              </mc:Choice>
              <mc:Fallback>
                <p:oleObj name="公式" r:id="rId8" imgW="1358640" imgH="215640" progId="Equation.3">
                  <p:embed/>
                  <p:pic>
                    <p:nvPicPr>
                      <p:cNvPr id="3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521" y="2587014"/>
                        <a:ext cx="2429979" cy="3467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/>
          <p:cNvGrpSpPr/>
          <p:nvPr/>
        </p:nvGrpSpPr>
        <p:grpSpPr>
          <a:xfrm>
            <a:off x="63169" y="4312044"/>
            <a:ext cx="5692293" cy="1155457"/>
            <a:chOff x="5484307" y="2411485"/>
            <a:chExt cx="5692293" cy="1155457"/>
          </a:xfrm>
        </p:grpSpPr>
        <p:sp>
          <p:nvSpPr>
            <p:cNvPr id="44" name="圆角矩形 43"/>
            <p:cNvSpPr/>
            <p:nvPr/>
          </p:nvSpPr>
          <p:spPr>
            <a:xfrm>
              <a:off x="5774022" y="2783233"/>
              <a:ext cx="5402578" cy="783709"/>
            </a:xfrm>
            <a:prstGeom prst="roundRect">
              <a:avLst>
                <a:gd name="adj" fmla="val 11994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      最小项表达式与真值表之间有何联系？一个逻辑函数的最小项表达式是否具有唯一性？</a:t>
              </a:r>
            </a:p>
          </p:txBody>
        </p:sp>
        <p:pic>
          <p:nvPicPr>
            <p:cNvPr id="63507" name="Picture 19"/>
            <p:cNvPicPr>
              <a:picLocks noChangeAspect="1" noChangeArrowheads="1"/>
            </p:cNvPicPr>
            <p:nvPr/>
          </p:nvPicPr>
          <p:blipFill>
            <a:blip r:embed="rId10"/>
            <a:srcRect l="8485" t="6323" r="8486" b="10492"/>
            <a:stretch>
              <a:fillRect/>
            </a:stretch>
          </p:blipFill>
          <p:spPr bwMode="auto">
            <a:xfrm>
              <a:off x="5484307" y="2411485"/>
              <a:ext cx="631407" cy="6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" name="组合 1"/>
          <p:cNvGrpSpPr/>
          <p:nvPr/>
        </p:nvGrpSpPr>
        <p:grpSpPr>
          <a:xfrm>
            <a:off x="1702283" y="3642360"/>
            <a:ext cx="2609850" cy="792519"/>
            <a:chOff x="1702283" y="3642360"/>
            <a:chExt cx="2609850" cy="792519"/>
          </a:xfrm>
        </p:grpSpPr>
        <p:grpSp>
          <p:nvGrpSpPr>
            <p:cNvPr id="41" name="组合 40"/>
            <p:cNvGrpSpPr/>
            <p:nvPr/>
          </p:nvGrpSpPr>
          <p:grpSpPr>
            <a:xfrm>
              <a:off x="1702283" y="4009429"/>
              <a:ext cx="2609850" cy="425450"/>
              <a:chOff x="2311400" y="4038600"/>
              <a:chExt cx="2609850" cy="425450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2311400" y="4038600"/>
                <a:ext cx="2609850" cy="425450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63506" name="Object 21"/>
              <p:cNvGraphicFramePr>
                <a:graphicFrameLocks noChangeAspect="1"/>
              </p:cNvGraphicFramePr>
              <p:nvPr/>
            </p:nvGraphicFramePr>
            <p:xfrm>
              <a:off x="2420938" y="4070308"/>
              <a:ext cx="2366962" cy="374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769" name="公式" r:id="rId11" imgW="1587240" imgH="253800" progId="Equation.3">
                      <p:embed/>
                    </p:oleObj>
                  </mc:Choice>
                  <mc:Fallback>
                    <p:oleObj name="公式" r:id="rId11" imgW="1587240" imgH="253800" progId="Equation.3">
                      <p:embed/>
                      <p:pic>
                        <p:nvPicPr>
                          <p:cNvPr id="63506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0938" y="4070308"/>
                            <a:ext cx="2366962" cy="3746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" name="下箭头 48"/>
            <p:cNvSpPr/>
            <p:nvPr/>
          </p:nvSpPr>
          <p:spPr>
            <a:xfrm>
              <a:off x="2667000" y="3642360"/>
              <a:ext cx="484632" cy="35365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0" name="Group 541"/>
          <p:cNvGraphicFramePr>
            <a:graphicFrameLocks noGrp="1"/>
          </p:cNvGraphicFramePr>
          <p:nvPr/>
        </p:nvGraphicFramePr>
        <p:xfrm>
          <a:off x="6098852" y="2097405"/>
          <a:ext cx="2255797" cy="2001520"/>
        </p:xfrm>
        <a:graphic>
          <a:graphicData uri="http://schemas.openxmlformats.org/drawingml/2006/table">
            <a:tbl>
              <a:tblPr/>
              <a:tblGrid>
                <a:gridCol w="14599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58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A     B     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0      0      0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0      0      1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0      1      0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0      1      1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1      0      0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1      0      1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1      1      0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1      1      1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CF17E7F1-7DCF-4A3B-8401-9D1F6712F351}"/>
              </a:ext>
            </a:extLst>
          </p:cNvPr>
          <p:cNvSpPr txBox="1"/>
          <p:nvPr/>
        </p:nvSpPr>
        <p:spPr>
          <a:xfrm>
            <a:off x="421233" y="1766558"/>
            <a:ext cx="5737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1</a:t>
            </a:r>
            <a:r>
              <a:rPr lang="zh-CN" altLang="en-US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）将“与</a:t>
            </a:r>
            <a:r>
              <a:rPr lang="en-US" altLang="zh-CN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-</a:t>
            </a:r>
            <a:r>
              <a:rPr lang="zh-CN" altLang="en-US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或” 表达式变换为最小项表达式</a:t>
            </a:r>
            <a:endParaRPr lang="zh-CN" altLang="en-US" sz="1600" dirty="0">
              <a:solidFill>
                <a:srgbClr val="0070C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045177" y="4135218"/>
            <a:ext cx="2609850" cy="1213169"/>
            <a:chOff x="6045177" y="4135218"/>
            <a:chExt cx="2609850" cy="1213169"/>
          </a:xfrm>
        </p:grpSpPr>
        <p:sp>
          <p:nvSpPr>
            <p:cNvPr id="30" name="下箭头 48">
              <a:extLst>
                <a:ext uri="{FF2B5EF4-FFF2-40B4-BE49-F238E27FC236}">
                  <a16:creationId xmlns:a16="http://schemas.microsoft.com/office/drawing/2014/main" xmlns="" id="{43058397-126B-4A1F-8E18-D0CD4DB5C82F}"/>
                </a:ext>
              </a:extLst>
            </p:cNvPr>
            <p:cNvSpPr/>
            <p:nvPr/>
          </p:nvSpPr>
          <p:spPr>
            <a:xfrm>
              <a:off x="7089863" y="4135218"/>
              <a:ext cx="484632" cy="35365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xmlns="" id="{D9E9A3C6-6106-4DE6-8E4E-CAA68324A5F8}"/>
                </a:ext>
              </a:extLst>
            </p:cNvPr>
            <p:cNvGrpSpPr/>
            <p:nvPr/>
          </p:nvGrpSpPr>
          <p:grpSpPr>
            <a:xfrm>
              <a:off x="6045177" y="4564678"/>
              <a:ext cx="2609850" cy="783709"/>
              <a:chOff x="6562851" y="4385348"/>
              <a:chExt cx="2609850" cy="783709"/>
            </a:xfrm>
          </p:grpSpPr>
          <p:sp>
            <p:nvSpPr>
              <p:cNvPr id="34" name="圆角矩形 39">
                <a:extLst>
                  <a:ext uri="{FF2B5EF4-FFF2-40B4-BE49-F238E27FC236}">
                    <a16:creationId xmlns:a16="http://schemas.microsoft.com/office/drawing/2014/main" xmlns="" id="{22ACDDFC-07DF-408A-8038-09D0299A19FE}"/>
                  </a:ext>
                </a:extLst>
              </p:cNvPr>
              <p:cNvSpPr/>
              <p:nvPr/>
            </p:nvSpPr>
            <p:spPr>
              <a:xfrm>
                <a:off x="6562851" y="4385348"/>
                <a:ext cx="2609850" cy="783709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38" name="Object 21">
                <a:extLst>
                  <a:ext uri="{FF2B5EF4-FFF2-40B4-BE49-F238E27FC236}">
                    <a16:creationId xmlns:a16="http://schemas.microsoft.com/office/drawing/2014/main" xmlns="" id="{1013BAB6-E6D5-4A42-AF00-E0B072D341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893511" y="4810799"/>
              <a:ext cx="1978812" cy="313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770" name="公式" r:id="rId13" imgW="1587240" imgH="253800" progId="Equation.3">
                      <p:embed/>
                    </p:oleObj>
                  </mc:Choice>
                  <mc:Fallback>
                    <p:oleObj name="公式" r:id="rId13" imgW="1587240" imgH="253800" progId="Equation.3">
                      <p:embed/>
                      <p:pic>
                        <p:nvPicPr>
                          <p:cNvPr id="38" name="Object 21">
                            <a:extLst>
                              <a:ext uri="{FF2B5EF4-FFF2-40B4-BE49-F238E27FC236}">
                                <a16:creationId xmlns:a16="http://schemas.microsoft.com/office/drawing/2014/main" xmlns="" id="{1013BAB6-E6D5-4A42-AF00-E0B072D341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93511" y="4810799"/>
                            <a:ext cx="1978812" cy="31324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xmlns="" id="{F6C58C77-57FC-4A3B-ACAD-C0C37DA1FE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53958" y="4620780"/>
            <a:ext cx="2222569" cy="313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71" name="公式" r:id="rId14" imgW="1422400" imgH="203200" progId="Equation.3">
                    <p:embed/>
                  </p:oleObj>
                </mc:Choice>
                <mc:Fallback>
                  <p:oleObj name="公式" r:id="rId14" imgW="1422400" imgH="203200" progId="Equation.3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xmlns="" id="{F6C58C77-57FC-4A3B-ACAD-C0C37DA1FE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3958" y="4620780"/>
                          <a:ext cx="2222569" cy="3132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3804918" cy="411055"/>
            <a:chOff x="392432" y="780143"/>
            <a:chExt cx="380491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344313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、逻辑函数的最小项表达式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482441" y="1725572"/>
            <a:ext cx="8179117" cy="37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应先将其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变成“与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—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或表达式”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再转换。式中有很长的非号时，先把非号去掉。</a:t>
            </a:r>
          </a:p>
        </p:txBody>
      </p:sp>
      <p:graphicFrame>
        <p:nvGraphicFramePr>
          <p:cNvPr id="10" name="Object 19"/>
          <p:cNvGraphicFramePr>
            <a:graphicFrameLocks noChangeAspect="1"/>
          </p:cNvGraphicFramePr>
          <p:nvPr/>
        </p:nvGraphicFramePr>
        <p:xfrm>
          <a:off x="2450783" y="2726171"/>
          <a:ext cx="1888285" cy="359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0" name="公式" r:id="rId4" imgW="1168200" imgH="241200" progId="Equation.3">
                  <p:embed/>
                </p:oleObj>
              </mc:Choice>
              <mc:Fallback>
                <p:oleObj name="公式" r:id="rId4" imgW="1168200" imgH="241200" progId="Equation.3">
                  <p:embed/>
                  <p:pic>
                    <p:nvPicPr>
                      <p:cNvPr id="1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783" y="2726171"/>
                        <a:ext cx="1888285" cy="3599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2380506" y="4655820"/>
            <a:ext cx="35240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7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 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∑</a:t>
            </a:r>
            <a:r>
              <a:rPr lang="en-US" altLang="zh-CN" b="1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en-US" altLang="zh-CN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3,5,6,7 </a:t>
            </a:r>
            <a:r>
              <a:rPr lang="en-US" altLang="zh-CN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69330" y="2244012"/>
            <a:ext cx="3700780" cy="415792"/>
            <a:chOff x="581661" y="2015412"/>
            <a:chExt cx="3700780" cy="415792"/>
          </a:xfrm>
        </p:grpSpPr>
        <p:graphicFrame>
          <p:nvGraphicFramePr>
            <p:cNvPr id="9" name="Object 20"/>
            <p:cNvGraphicFramePr>
              <a:graphicFrameLocks noChangeAspect="1"/>
            </p:cNvGraphicFramePr>
            <p:nvPr/>
          </p:nvGraphicFramePr>
          <p:xfrm>
            <a:off x="998687" y="2015412"/>
            <a:ext cx="3283754" cy="415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791" name="公式" r:id="rId6" imgW="2005729" imgH="266584" progId="Equation.3">
                    <p:embed/>
                  </p:oleObj>
                </mc:Choice>
                <mc:Fallback>
                  <p:oleObj name="公式" r:id="rId6" imgW="2005729" imgH="266584" progId="Equation.3">
                    <p:embed/>
                    <p:pic>
                      <p:nvPicPr>
                        <p:cNvPr id="9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687" y="2015412"/>
                          <a:ext cx="3283754" cy="4157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6"/>
            <p:cNvSpPr>
              <a:spLocks noChangeArrowheads="1"/>
            </p:cNvSpPr>
            <p:nvPr/>
          </p:nvSpPr>
          <p:spPr bwMode="auto">
            <a:xfrm>
              <a:off x="581661" y="2113460"/>
              <a:ext cx="476660" cy="282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例：</a:t>
              </a:r>
              <a:endPara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2450783" y="3145075"/>
          <a:ext cx="2078328" cy="334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2" name="公式" r:id="rId8" imgW="1498320" imgH="241200" progId="Equation.3">
                  <p:embed/>
                </p:oleObj>
              </mc:Choice>
              <mc:Fallback>
                <p:oleObj name="公式" r:id="rId8" imgW="1498320" imgH="241200" progId="Equation.3">
                  <p:embed/>
                  <p:pic>
                    <p:nvPicPr>
                      <p:cNvPr id="737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783" y="3145075"/>
                        <a:ext cx="2078328" cy="334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2450783" y="3538696"/>
          <a:ext cx="184859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3" name="公式" r:id="rId10" imgW="1244520" imgH="215640" progId="Equation.3">
                  <p:embed/>
                </p:oleObj>
              </mc:Choice>
              <mc:Fallback>
                <p:oleObj name="公式" r:id="rId10" imgW="1244520" imgH="215640" progId="Equation.3">
                  <p:embed/>
                  <p:pic>
                    <p:nvPicPr>
                      <p:cNvPr id="737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783" y="3538696"/>
                        <a:ext cx="184859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/>
          <p:cNvGraphicFramePr>
            <a:graphicFrameLocks noChangeAspect="1"/>
          </p:cNvGraphicFramePr>
          <p:nvPr/>
        </p:nvGraphicFramePr>
        <p:xfrm>
          <a:off x="2450783" y="3918346"/>
          <a:ext cx="2357892" cy="334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4" name="公式" r:id="rId12" imgW="1701720" imgH="241200" progId="Equation.3">
                  <p:embed/>
                </p:oleObj>
              </mc:Choice>
              <mc:Fallback>
                <p:oleObj name="公式" r:id="rId12" imgW="1701720" imgH="241200" progId="Equation.3">
                  <p:embed/>
                  <p:pic>
                    <p:nvPicPr>
                      <p:cNvPr id="737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783" y="3918346"/>
                        <a:ext cx="2357892" cy="334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7"/>
          <p:cNvGraphicFramePr>
            <a:graphicFrameLocks noChangeAspect="1"/>
          </p:cNvGraphicFramePr>
          <p:nvPr/>
        </p:nvGraphicFramePr>
        <p:xfrm>
          <a:off x="2450783" y="4311650"/>
          <a:ext cx="2492936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5" name="公式" r:id="rId14" imgW="1803240" imgH="215640" progId="Equation.3">
                  <p:embed/>
                </p:oleObj>
              </mc:Choice>
              <mc:Fallback>
                <p:oleObj name="公式" r:id="rId14" imgW="1803240" imgH="215640" progId="Equation.3">
                  <p:embed/>
                  <p:pic>
                    <p:nvPicPr>
                      <p:cNvPr id="737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783" y="4311650"/>
                        <a:ext cx="2492936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BBDDDA38-DABA-4A56-AC4D-614616B9561D}"/>
              </a:ext>
            </a:extLst>
          </p:cNvPr>
          <p:cNvSpPr txBox="1"/>
          <p:nvPr/>
        </p:nvSpPr>
        <p:spPr>
          <a:xfrm>
            <a:off x="421233" y="1301738"/>
            <a:ext cx="5737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（</a:t>
            </a:r>
            <a:r>
              <a:rPr lang="en-US" altLang="zh-CN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2</a:t>
            </a:r>
            <a:r>
              <a:rPr lang="zh-CN" altLang="en-US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）将非“与</a:t>
            </a:r>
            <a:r>
              <a:rPr lang="en-US" altLang="zh-CN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-</a:t>
            </a:r>
            <a:r>
              <a:rPr lang="zh-CN" altLang="en-US" sz="16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Times New Roman" pitchFamily="18" charset="0"/>
              </a:rPr>
              <a:t>或” 表达式变换为最小项表达式</a:t>
            </a:r>
            <a:endParaRPr lang="zh-CN" altLang="en-US" sz="1600" dirty="0">
              <a:solidFill>
                <a:srgbClr val="0070C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10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101090" y="1824567"/>
            <a:ext cx="1371600" cy="760000"/>
            <a:chOff x="1101090" y="1824567"/>
            <a:chExt cx="1371600" cy="760000"/>
          </a:xfrm>
        </p:grpSpPr>
        <p:grpSp>
          <p:nvGrpSpPr>
            <p:cNvPr id="3" name="组合 35"/>
            <p:cNvGrpSpPr/>
            <p:nvPr/>
          </p:nvGrpSpPr>
          <p:grpSpPr>
            <a:xfrm>
              <a:off x="1101090" y="1972734"/>
              <a:ext cx="1371600" cy="110067"/>
              <a:chOff x="910590" y="1699260"/>
              <a:chExt cx="1371600" cy="9906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6"/>
            <p:cNvGrpSpPr/>
            <p:nvPr/>
          </p:nvGrpSpPr>
          <p:grpSpPr>
            <a:xfrm rot="5400000">
              <a:off x="986715" y="2155037"/>
              <a:ext cx="760000" cy="99060"/>
              <a:chOff x="910590" y="1699260"/>
              <a:chExt cx="1371600" cy="99060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442710" y="3136900"/>
            <a:ext cx="1371600" cy="760000"/>
            <a:chOff x="6442710" y="3136900"/>
            <a:chExt cx="1371600" cy="760000"/>
          </a:xfrm>
        </p:grpSpPr>
        <p:grpSp>
          <p:nvGrpSpPr>
            <p:cNvPr id="6" name="组合 35"/>
            <p:cNvGrpSpPr/>
            <p:nvPr/>
          </p:nvGrpSpPr>
          <p:grpSpPr>
            <a:xfrm rot="10800000">
              <a:off x="6442710" y="3638667"/>
              <a:ext cx="1371600" cy="110067"/>
              <a:chOff x="910590" y="1699260"/>
              <a:chExt cx="1371600" cy="99060"/>
            </a:xfrm>
          </p:grpSpPr>
          <p:cxnSp>
            <p:nvCxnSpPr>
              <p:cNvPr id="31" name="直接连接符 30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36"/>
            <p:cNvGrpSpPr/>
            <p:nvPr/>
          </p:nvGrpSpPr>
          <p:grpSpPr>
            <a:xfrm rot="16200000">
              <a:off x="7092485" y="3467370"/>
              <a:ext cx="760000" cy="99060"/>
              <a:chOff x="910590" y="1699260"/>
              <a:chExt cx="1371600" cy="9906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文本框 6"/>
          <p:cNvSpPr txBox="1"/>
          <p:nvPr/>
        </p:nvSpPr>
        <p:spPr>
          <a:xfrm>
            <a:off x="1041354" y="1884639"/>
            <a:ext cx="6498792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400" b="1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第二章 逻辑代数</a:t>
            </a:r>
            <a:endParaRPr lang="en-US" altLang="zh-CN" sz="3400" b="1" dirty="0">
              <a:ln w="12700">
                <a:solidFill>
                  <a:srgbClr val="7030A0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2.3 </a:t>
            </a:r>
            <a:r>
              <a:rPr lang="zh-CN" altLang="en-US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逻辑函数的卡诺图化简</a:t>
            </a:r>
            <a:endParaRPr lang="en-US" altLang="zh-CN" sz="28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（二）</a:t>
            </a:r>
            <a:r>
              <a:rPr lang="zh-CN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逻辑函数的卡诺图表示</a:t>
            </a:r>
            <a:endParaRPr lang="zh-CN" alt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21859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2266948" cy="411055"/>
            <a:chOff x="392432" y="780143"/>
            <a:chExt cx="226694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19051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 相邻最小项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447038" y="1287442"/>
            <a:ext cx="8059457" cy="791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7675" eaLnBrk="0" hangingPunct="0">
              <a:lnSpc>
                <a:spcPct val="150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如果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两个最小项中只有一个变量不同（互为反变量）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，则称这两个最小项为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相邻最小项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，简称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相邻项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 </a:t>
            </a:r>
          </a:p>
        </p:txBody>
      </p:sp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3432175" y="2159000"/>
          <a:ext cx="146843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0" name="公式" r:id="rId4" imgW="736560" imgH="190440" progId="Equation.3">
                  <p:embed/>
                </p:oleObj>
              </mc:Choice>
              <mc:Fallback>
                <p:oleObj name="公式" r:id="rId4" imgW="736560" imgH="190440" progId="Equation.3">
                  <p:embed/>
                  <p:pic>
                    <p:nvPicPr>
                      <p:cNvPr id="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159000"/>
                        <a:ext cx="1468438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447039" y="2716131"/>
            <a:ext cx="839597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如果两个相邻最小项出现在同一个逻辑函数中，可以合并为一项，消去互为相反的变量。 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xmlns="" id="{E43F7B2B-6FAC-4423-BB98-D4F7189835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6300" y="3584026"/>
          <a:ext cx="3520188" cy="46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1" name="公式" r:id="rId6" imgW="1739900" imgH="228600" progId="Equation.3">
                  <p:embed/>
                </p:oleObj>
              </mc:Choice>
              <mc:Fallback>
                <p:oleObj name="公式" r:id="rId6" imgW="1739900" imgH="228600" progId="Equation.3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xmlns="" id="{E43F7B2B-6FAC-4423-BB98-D4F7189835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300" y="3584026"/>
                        <a:ext cx="3520188" cy="4616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2266948" cy="411055"/>
            <a:chOff x="392432" y="780143"/>
            <a:chExt cx="226694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19051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、卡诺图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392432" y="1235518"/>
            <a:ext cx="8257857" cy="100790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449263" eaLnBrk="0" hangingPunct="0">
              <a:lnSpc>
                <a:spcPct val="200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用小方格来表示最小项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，一个小方格代表一个最小项，然后将这些最小项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按照相邻性排列起来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。即用小方格几何位置上的相邻性来表示最小项逻辑上的相邻性。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4317164" y="2666301"/>
            <a:ext cx="2916907" cy="2033154"/>
            <a:chOff x="5381272" y="2758440"/>
            <a:chExt cx="2916907" cy="1965960"/>
          </a:xfrm>
        </p:grpSpPr>
        <p:graphicFrame>
          <p:nvGraphicFramePr>
            <p:cNvPr id="76804" name="Object 8"/>
            <p:cNvGraphicFramePr>
              <a:graphicFrameLocks noChangeAspect="1"/>
            </p:cNvGraphicFramePr>
            <p:nvPr/>
          </p:nvGraphicFramePr>
          <p:xfrm>
            <a:off x="5531169" y="3204276"/>
            <a:ext cx="2595168" cy="1360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0" name="Visio" r:id="rId5" imgW="1465909" imgH="782099" progId="Visio.Drawing.11">
                    <p:embed/>
                  </p:oleObj>
                </mc:Choice>
                <mc:Fallback>
                  <p:oleObj name="Visio" r:id="rId5" imgW="1465909" imgH="782099" progId="Visio.Drawing.11">
                    <p:embed/>
                    <p:pic>
                      <p:nvPicPr>
                        <p:cNvPr id="7680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1169" y="3204276"/>
                          <a:ext cx="2595168" cy="13601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组合 30"/>
            <p:cNvGrpSpPr/>
            <p:nvPr/>
          </p:nvGrpSpPr>
          <p:grpSpPr>
            <a:xfrm>
              <a:off x="5381272" y="2758440"/>
              <a:ext cx="2916907" cy="1965960"/>
              <a:chOff x="5611221" y="3025140"/>
              <a:chExt cx="1325147" cy="1805940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5611221" y="3172380"/>
                <a:ext cx="1325147" cy="1658700"/>
              </a:xfrm>
              <a:prstGeom prst="roundRect">
                <a:avLst>
                  <a:gd name="adj" fmla="val 9776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流程图: 可选过程 21"/>
              <p:cNvSpPr/>
              <p:nvPr/>
            </p:nvSpPr>
            <p:spPr>
              <a:xfrm>
                <a:off x="5903547" y="3025140"/>
                <a:ext cx="740495" cy="290457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三变量卡诺图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1438862" y="2719641"/>
            <a:ext cx="2055846" cy="1964817"/>
            <a:chOff x="1438862" y="2719641"/>
            <a:chExt cx="2055846" cy="1964817"/>
          </a:xfrm>
        </p:grpSpPr>
        <p:grpSp>
          <p:nvGrpSpPr>
            <p:cNvPr id="16" name="组合 30"/>
            <p:cNvGrpSpPr/>
            <p:nvPr/>
          </p:nvGrpSpPr>
          <p:grpSpPr>
            <a:xfrm>
              <a:off x="1438862" y="2719641"/>
              <a:ext cx="2055846" cy="1964817"/>
              <a:chOff x="5548911" y="3026190"/>
              <a:chExt cx="933968" cy="1804890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5548911" y="3172380"/>
                <a:ext cx="933968" cy="1658700"/>
              </a:xfrm>
              <a:prstGeom prst="roundRect">
                <a:avLst>
                  <a:gd name="adj" fmla="val 9776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流程图: 可选过程 18"/>
              <p:cNvSpPr/>
              <p:nvPr/>
            </p:nvSpPr>
            <p:spPr>
              <a:xfrm>
                <a:off x="5645648" y="3026190"/>
                <a:ext cx="740495" cy="290457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两变量卡诺图</a:t>
                </a:r>
              </a:p>
            </p:txBody>
          </p:sp>
        </p:grpSp>
        <p:graphicFrame>
          <p:nvGraphicFramePr>
            <p:cNvPr id="38" name="Object 8"/>
            <p:cNvGraphicFramePr>
              <a:graphicFrameLocks noChangeAspect="1"/>
            </p:cNvGraphicFramePr>
            <p:nvPr/>
          </p:nvGraphicFramePr>
          <p:xfrm>
            <a:off x="1844687" y="3107522"/>
            <a:ext cx="1263650" cy="1308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1" name="Visio" r:id="rId7" imgW="860970" imgH="782099" progId="Visio.Drawing.11">
                    <p:embed/>
                  </p:oleObj>
                </mc:Choice>
                <mc:Fallback>
                  <p:oleObj name="Visio" r:id="rId7" imgW="860970" imgH="782099" progId="Visio.Drawing.11">
                    <p:embed/>
                    <p:pic>
                      <p:nvPicPr>
                        <p:cNvPr id="3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4687" y="3107522"/>
                          <a:ext cx="1263650" cy="1308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2194862" y="3469918"/>
            <a:ext cx="325438" cy="441325"/>
            <a:chOff x="1416050" y="4127500"/>
            <a:chExt cx="325438" cy="441325"/>
          </a:xfrm>
        </p:grpSpPr>
        <p:graphicFrame>
          <p:nvGraphicFramePr>
            <p:cNvPr id="76823" name="Object 23"/>
            <p:cNvGraphicFramePr>
              <a:graphicFrameLocks noChangeAspect="1"/>
            </p:cNvGraphicFramePr>
            <p:nvPr/>
          </p:nvGraphicFramePr>
          <p:xfrm>
            <a:off x="1416050" y="4127500"/>
            <a:ext cx="325438" cy="222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2" name="公式" r:id="rId9" imgW="279360" imgH="190440" progId="Equation.3">
                    <p:embed/>
                  </p:oleObj>
                </mc:Choice>
                <mc:Fallback>
                  <p:oleObj name="公式" r:id="rId9" imgW="279360" imgH="190440" progId="Equation.3">
                    <p:embed/>
                    <p:pic>
                      <p:nvPicPr>
                        <p:cNvPr id="7682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050" y="4127500"/>
                          <a:ext cx="325438" cy="222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7" name="Object 27"/>
            <p:cNvGraphicFramePr>
              <a:graphicFrameLocks noChangeAspect="1"/>
            </p:cNvGraphicFramePr>
            <p:nvPr/>
          </p:nvGraphicFramePr>
          <p:xfrm>
            <a:off x="1465263" y="430212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3" name="公式" r:id="rId11" imgW="203040" imgH="228600" progId="Equation.3">
                    <p:embed/>
                  </p:oleObj>
                </mc:Choice>
                <mc:Fallback>
                  <p:oleObj name="公式" r:id="rId11" imgW="203040" imgH="228600" progId="Equation.3">
                    <p:embed/>
                    <p:pic>
                      <p:nvPicPr>
                        <p:cNvPr id="7682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5263" y="430212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/>
        </p:nvGrpSpPr>
        <p:grpSpPr>
          <a:xfrm>
            <a:off x="2621900" y="3473728"/>
            <a:ext cx="311150" cy="427038"/>
            <a:chOff x="1900238" y="4127500"/>
            <a:chExt cx="311150" cy="427038"/>
          </a:xfrm>
        </p:grpSpPr>
        <p:graphicFrame>
          <p:nvGraphicFramePr>
            <p:cNvPr id="76824" name="Object 24"/>
            <p:cNvGraphicFramePr>
              <a:graphicFrameLocks noChangeAspect="1"/>
            </p:cNvGraphicFramePr>
            <p:nvPr/>
          </p:nvGraphicFramePr>
          <p:xfrm>
            <a:off x="1900238" y="4127500"/>
            <a:ext cx="311150" cy="222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4" name="公式" r:id="rId13" imgW="266400" imgH="190440" progId="Equation.3">
                    <p:embed/>
                  </p:oleObj>
                </mc:Choice>
                <mc:Fallback>
                  <p:oleObj name="公式" r:id="rId13" imgW="266400" imgH="190440" progId="Equation.3">
                    <p:embed/>
                    <p:pic>
                      <p:nvPicPr>
                        <p:cNvPr id="7682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238" y="4127500"/>
                          <a:ext cx="311150" cy="222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8" name="Object 28"/>
            <p:cNvGraphicFramePr>
              <a:graphicFrameLocks noChangeAspect="1"/>
            </p:cNvGraphicFramePr>
            <p:nvPr/>
          </p:nvGraphicFramePr>
          <p:xfrm>
            <a:off x="1939925" y="4302125"/>
            <a:ext cx="220663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5" name="公式" r:id="rId15" imgW="190440" imgH="215640" progId="Equation.3">
                    <p:embed/>
                  </p:oleObj>
                </mc:Choice>
                <mc:Fallback>
                  <p:oleObj name="公式" r:id="rId15" imgW="190440" imgH="215640" progId="Equation.3">
                    <p:embed/>
                    <p:pic>
                      <p:nvPicPr>
                        <p:cNvPr id="76828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925" y="4302125"/>
                          <a:ext cx="220663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/>
          <p:cNvGrpSpPr/>
          <p:nvPr/>
        </p:nvGrpSpPr>
        <p:grpSpPr>
          <a:xfrm>
            <a:off x="2634600" y="3935056"/>
            <a:ext cx="296862" cy="427037"/>
            <a:chOff x="2376488" y="4141788"/>
            <a:chExt cx="296862" cy="427037"/>
          </a:xfrm>
        </p:grpSpPr>
        <p:graphicFrame>
          <p:nvGraphicFramePr>
            <p:cNvPr id="76825" name="Object 25"/>
            <p:cNvGraphicFramePr>
              <a:graphicFrameLocks noChangeAspect="1"/>
            </p:cNvGraphicFramePr>
            <p:nvPr/>
          </p:nvGraphicFramePr>
          <p:xfrm>
            <a:off x="2376488" y="4141788"/>
            <a:ext cx="296862" cy="193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6" name="公式" r:id="rId17" imgW="253800" imgH="164880" progId="Equation.3">
                    <p:embed/>
                  </p:oleObj>
                </mc:Choice>
                <mc:Fallback>
                  <p:oleObj name="公式" r:id="rId17" imgW="253800" imgH="164880" progId="Equation.3">
                    <p:embed/>
                    <p:pic>
                      <p:nvPicPr>
                        <p:cNvPr id="76825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6488" y="4141788"/>
                          <a:ext cx="296862" cy="193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29" name="Object 29"/>
            <p:cNvGraphicFramePr>
              <a:graphicFrameLocks noChangeAspect="1"/>
            </p:cNvGraphicFramePr>
            <p:nvPr/>
          </p:nvGraphicFramePr>
          <p:xfrm>
            <a:off x="2413000" y="4302125"/>
            <a:ext cx="236538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7" name="公式" r:id="rId19" imgW="203040" imgH="228600" progId="Equation.3">
                    <p:embed/>
                  </p:oleObj>
                </mc:Choice>
                <mc:Fallback>
                  <p:oleObj name="公式" r:id="rId19" imgW="203040" imgH="228600" progId="Equation.3">
                    <p:embed/>
                    <p:pic>
                      <p:nvPicPr>
                        <p:cNvPr id="7682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000" y="4302125"/>
                          <a:ext cx="236538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/>
          <p:cNvGrpSpPr/>
          <p:nvPr/>
        </p:nvGrpSpPr>
        <p:grpSpPr>
          <a:xfrm>
            <a:off x="2223437" y="3898861"/>
            <a:ext cx="309563" cy="441325"/>
            <a:chOff x="2835275" y="4113213"/>
            <a:chExt cx="309563" cy="441325"/>
          </a:xfrm>
        </p:grpSpPr>
        <p:graphicFrame>
          <p:nvGraphicFramePr>
            <p:cNvPr id="76826" name="Object 26"/>
            <p:cNvGraphicFramePr>
              <a:graphicFrameLocks noChangeAspect="1"/>
            </p:cNvGraphicFramePr>
            <p:nvPr/>
          </p:nvGraphicFramePr>
          <p:xfrm>
            <a:off x="2835275" y="4113213"/>
            <a:ext cx="309563" cy="223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8" name="公式" r:id="rId21" imgW="266400" imgH="190440" progId="Equation.3">
                    <p:embed/>
                  </p:oleObj>
                </mc:Choice>
                <mc:Fallback>
                  <p:oleObj name="公式" r:id="rId21" imgW="266400" imgH="190440" progId="Equation.3">
                    <p:embed/>
                    <p:pic>
                      <p:nvPicPr>
                        <p:cNvPr id="7682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275" y="4113213"/>
                          <a:ext cx="309563" cy="223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30" name="Object 30"/>
            <p:cNvGraphicFramePr>
              <a:graphicFrameLocks noChangeAspect="1"/>
            </p:cNvGraphicFramePr>
            <p:nvPr/>
          </p:nvGraphicFramePr>
          <p:xfrm>
            <a:off x="2870200" y="4302125"/>
            <a:ext cx="236538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09" name="公式" r:id="rId23" imgW="203040" imgH="215640" progId="Equation.3">
                    <p:embed/>
                  </p:oleObj>
                </mc:Choice>
                <mc:Fallback>
                  <p:oleObj name="公式" r:id="rId23" imgW="203040" imgH="215640" progId="Equation.3">
                    <p:embed/>
                    <p:pic>
                      <p:nvPicPr>
                        <p:cNvPr id="7683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200" y="4302125"/>
                          <a:ext cx="236538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组合 89"/>
          <p:cNvGrpSpPr/>
          <p:nvPr/>
        </p:nvGrpSpPr>
        <p:grpSpPr>
          <a:xfrm>
            <a:off x="4871238" y="3515931"/>
            <a:ext cx="418953" cy="447675"/>
            <a:chOff x="5508626" y="3562350"/>
            <a:chExt cx="418953" cy="447675"/>
          </a:xfrm>
        </p:grpSpPr>
        <p:graphicFrame>
          <p:nvGraphicFramePr>
            <p:cNvPr id="76831" name="Object 31"/>
            <p:cNvGraphicFramePr>
              <a:graphicFrameLocks noChangeAspect="1"/>
            </p:cNvGraphicFramePr>
            <p:nvPr/>
          </p:nvGraphicFramePr>
          <p:xfrm>
            <a:off x="5508626" y="3562350"/>
            <a:ext cx="418953" cy="2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0" name="公式" r:id="rId25" imgW="393480" imgH="203040" progId="Equation.3">
                    <p:embed/>
                  </p:oleObj>
                </mc:Choice>
                <mc:Fallback>
                  <p:oleObj name="公式" r:id="rId25" imgW="393480" imgH="203040" progId="Equation.3">
                    <p:embed/>
                    <p:pic>
                      <p:nvPicPr>
                        <p:cNvPr id="76831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626" y="3562350"/>
                          <a:ext cx="418953" cy="21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32" name="Object 32"/>
            <p:cNvGraphicFramePr>
              <a:graphicFrameLocks noChangeAspect="1"/>
            </p:cNvGraphicFramePr>
            <p:nvPr/>
          </p:nvGraphicFramePr>
          <p:xfrm>
            <a:off x="5624513" y="374332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1" name="公式" r:id="rId27" imgW="203040" imgH="228600" progId="Equation.3">
                    <p:embed/>
                  </p:oleObj>
                </mc:Choice>
                <mc:Fallback>
                  <p:oleObj name="公式" r:id="rId27" imgW="203040" imgH="228600" progId="Equation.3">
                    <p:embed/>
                    <p:pic>
                      <p:nvPicPr>
                        <p:cNvPr id="76832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4513" y="374332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" name="组合 88"/>
          <p:cNvGrpSpPr/>
          <p:nvPr/>
        </p:nvGrpSpPr>
        <p:grpSpPr>
          <a:xfrm>
            <a:off x="5434800" y="3522281"/>
            <a:ext cx="377574" cy="433388"/>
            <a:chOff x="6072188" y="3568700"/>
            <a:chExt cx="377574" cy="433388"/>
          </a:xfrm>
        </p:grpSpPr>
        <p:graphicFrame>
          <p:nvGraphicFramePr>
            <p:cNvPr id="76833" name="Object 33"/>
            <p:cNvGraphicFramePr>
              <a:graphicFrameLocks noChangeAspect="1"/>
            </p:cNvGraphicFramePr>
            <p:nvPr/>
          </p:nvGraphicFramePr>
          <p:xfrm>
            <a:off x="6072188" y="3568700"/>
            <a:ext cx="377574" cy="2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2" name="公式" r:id="rId28" imgW="330120" imgH="190440" progId="Equation.3">
                    <p:embed/>
                  </p:oleObj>
                </mc:Choice>
                <mc:Fallback>
                  <p:oleObj name="公式" r:id="rId28" imgW="330120" imgH="190440" progId="Equation.3">
                    <p:embed/>
                    <p:pic>
                      <p:nvPicPr>
                        <p:cNvPr id="76833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2188" y="3568700"/>
                          <a:ext cx="377574" cy="2160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36" name="Object 36"/>
            <p:cNvGraphicFramePr>
              <a:graphicFrameLocks noChangeAspect="1"/>
            </p:cNvGraphicFramePr>
            <p:nvPr/>
          </p:nvGraphicFramePr>
          <p:xfrm>
            <a:off x="6146800" y="3749675"/>
            <a:ext cx="222250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3" name="公式" r:id="rId30" imgW="190440" imgH="215640" progId="Equation.3">
                    <p:embed/>
                  </p:oleObj>
                </mc:Choice>
                <mc:Fallback>
                  <p:oleObj name="公式" r:id="rId30" imgW="190440" imgH="215640" progId="Equation.3">
                    <p:embed/>
                    <p:pic>
                      <p:nvPicPr>
                        <p:cNvPr id="76836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6800" y="3749675"/>
                          <a:ext cx="222250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组合 87"/>
          <p:cNvGrpSpPr/>
          <p:nvPr/>
        </p:nvGrpSpPr>
        <p:grpSpPr>
          <a:xfrm>
            <a:off x="5930884" y="3515931"/>
            <a:ext cx="391409" cy="447675"/>
            <a:chOff x="6568272" y="3562350"/>
            <a:chExt cx="391409" cy="447675"/>
          </a:xfrm>
        </p:grpSpPr>
        <p:graphicFrame>
          <p:nvGraphicFramePr>
            <p:cNvPr id="76834" name="Object 34"/>
            <p:cNvGraphicFramePr>
              <a:graphicFrameLocks noChangeAspect="1"/>
            </p:cNvGraphicFramePr>
            <p:nvPr/>
          </p:nvGraphicFramePr>
          <p:xfrm>
            <a:off x="6568272" y="3562350"/>
            <a:ext cx="391409" cy="2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4" name="公式" r:id="rId32" imgW="368280" imgH="203040" progId="Equation.3">
                    <p:embed/>
                  </p:oleObj>
                </mc:Choice>
                <mc:Fallback>
                  <p:oleObj name="公式" r:id="rId32" imgW="368280" imgH="203040" progId="Equation.3">
                    <p:embed/>
                    <p:pic>
                      <p:nvPicPr>
                        <p:cNvPr id="76834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8272" y="3562350"/>
                          <a:ext cx="391409" cy="21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37" name="Object 37"/>
            <p:cNvGraphicFramePr>
              <a:graphicFrameLocks noChangeAspect="1"/>
            </p:cNvGraphicFramePr>
            <p:nvPr/>
          </p:nvGraphicFramePr>
          <p:xfrm>
            <a:off x="6657447" y="374332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5" name="公式" r:id="rId34" imgW="203040" imgH="228600" progId="Equation.3">
                    <p:embed/>
                  </p:oleObj>
                </mc:Choice>
                <mc:Fallback>
                  <p:oleObj name="公式" r:id="rId34" imgW="203040" imgH="228600" progId="Equation.3">
                    <p:embed/>
                    <p:pic>
                      <p:nvPicPr>
                        <p:cNvPr id="76837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7447" y="374332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组合 86"/>
          <p:cNvGrpSpPr/>
          <p:nvPr/>
        </p:nvGrpSpPr>
        <p:grpSpPr>
          <a:xfrm>
            <a:off x="6439688" y="3515931"/>
            <a:ext cx="405905" cy="439738"/>
            <a:chOff x="7077076" y="3562350"/>
            <a:chExt cx="405905" cy="439738"/>
          </a:xfrm>
        </p:grpSpPr>
        <p:graphicFrame>
          <p:nvGraphicFramePr>
            <p:cNvPr id="76835" name="Object 35"/>
            <p:cNvGraphicFramePr>
              <a:graphicFrameLocks noChangeAspect="1"/>
            </p:cNvGraphicFramePr>
            <p:nvPr/>
          </p:nvGraphicFramePr>
          <p:xfrm>
            <a:off x="7077076" y="3562350"/>
            <a:ext cx="405905" cy="2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6" name="公式" r:id="rId36" imgW="380880" imgH="203040" progId="Equation.3">
                    <p:embed/>
                  </p:oleObj>
                </mc:Choice>
                <mc:Fallback>
                  <p:oleObj name="公式" r:id="rId36" imgW="380880" imgH="203040" progId="Equation.3">
                    <p:embed/>
                    <p:pic>
                      <p:nvPicPr>
                        <p:cNvPr id="76835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7076" y="3562350"/>
                          <a:ext cx="405905" cy="21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38" name="Object 38"/>
            <p:cNvGraphicFramePr>
              <a:graphicFrameLocks noChangeAspect="1"/>
            </p:cNvGraphicFramePr>
            <p:nvPr/>
          </p:nvGraphicFramePr>
          <p:xfrm>
            <a:off x="7173913" y="3749675"/>
            <a:ext cx="2365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7" name="公式" r:id="rId38" imgW="203040" imgH="215640" progId="Equation.3">
                    <p:embed/>
                  </p:oleObj>
                </mc:Choice>
                <mc:Fallback>
                  <p:oleObj name="公式" r:id="rId38" imgW="203040" imgH="215640" progId="Equation.3">
                    <p:embed/>
                    <p:pic>
                      <p:nvPicPr>
                        <p:cNvPr id="76838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3913" y="3749675"/>
                          <a:ext cx="236537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6" name="组合 85"/>
          <p:cNvGrpSpPr/>
          <p:nvPr/>
        </p:nvGrpSpPr>
        <p:grpSpPr>
          <a:xfrm>
            <a:off x="4896637" y="3973131"/>
            <a:ext cx="404813" cy="439738"/>
            <a:chOff x="5534025" y="4019550"/>
            <a:chExt cx="404813" cy="439738"/>
          </a:xfrm>
        </p:grpSpPr>
        <p:graphicFrame>
          <p:nvGraphicFramePr>
            <p:cNvPr id="76839" name="Object 39"/>
            <p:cNvGraphicFramePr>
              <a:graphicFrameLocks noChangeAspect="1"/>
            </p:cNvGraphicFramePr>
            <p:nvPr/>
          </p:nvGraphicFramePr>
          <p:xfrm>
            <a:off x="5534025" y="4019550"/>
            <a:ext cx="404813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8" name="公式" r:id="rId40" imgW="380880" imgH="203040" progId="Equation.3">
                    <p:embed/>
                  </p:oleObj>
                </mc:Choice>
                <mc:Fallback>
                  <p:oleObj name="公式" r:id="rId40" imgW="380880" imgH="203040" progId="Equation.3">
                    <p:embed/>
                    <p:pic>
                      <p:nvPicPr>
                        <p:cNvPr id="76839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4025" y="4019550"/>
                          <a:ext cx="404813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40" name="Object 40"/>
            <p:cNvGraphicFramePr>
              <a:graphicFrameLocks noChangeAspect="1"/>
            </p:cNvGraphicFramePr>
            <p:nvPr/>
          </p:nvGraphicFramePr>
          <p:xfrm>
            <a:off x="5643563" y="4206875"/>
            <a:ext cx="2365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19" name="公式" r:id="rId42" imgW="203040" imgH="215640" progId="Equation.3">
                    <p:embed/>
                  </p:oleObj>
                </mc:Choice>
                <mc:Fallback>
                  <p:oleObj name="公式" r:id="rId42" imgW="203040" imgH="215640" progId="Equation.3">
                    <p:embed/>
                    <p:pic>
                      <p:nvPicPr>
                        <p:cNvPr id="7684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3563" y="4206875"/>
                          <a:ext cx="236537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组合 84"/>
          <p:cNvGrpSpPr/>
          <p:nvPr/>
        </p:nvGrpSpPr>
        <p:grpSpPr>
          <a:xfrm>
            <a:off x="5455285" y="3985831"/>
            <a:ext cx="357089" cy="434975"/>
            <a:chOff x="6092673" y="4032250"/>
            <a:chExt cx="357089" cy="434975"/>
          </a:xfrm>
        </p:grpSpPr>
        <p:graphicFrame>
          <p:nvGraphicFramePr>
            <p:cNvPr id="76841" name="Object 41"/>
            <p:cNvGraphicFramePr>
              <a:graphicFrameLocks noChangeAspect="1"/>
            </p:cNvGraphicFramePr>
            <p:nvPr/>
          </p:nvGraphicFramePr>
          <p:xfrm>
            <a:off x="6092673" y="4032250"/>
            <a:ext cx="357089" cy="200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0" name="公式" r:id="rId44" imgW="317160" imgH="177480" progId="Equation.3">
                    <p:embed/>
                  </p:oleObj>
                </mc:Choice>
                <mc:Fallback>
                  <p:oleObj name="公式" r:id="rId44" imgW="317160" imgH="177480" progId="Equation.3">
                    <p:embed/>
                    <p:pic>
                      <p:nvPicPr>
                        <p:cNvPr id="76841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2673" y="4032250"/>
                          <a:ext cx="357089" cy="2004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44" name="Object 44"/>
            <p:cNvGraphicFramePr>
              <a:graphicFrameLocks noChangeAspect="1"/>
            </p:cNvGraphicFramePr>
            <p:nvPr/>
          </p:nvGraphicFramePr>
          <p:xfrm>
            <a:off x="6159500" y="4200525"/>
            <a:ext cx="236538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1" name="公式" r:id="rId46" imgW="203040" imgH="228600" progId="Equation.3">
                    <p:embed/>
                  </p:oleObj>
                </mc:Choice>
                <mc:Fallback>
                  <p:oleObj name="公式" r:id="rId46" imgW="203040" imgH="228600" progId="Equation.3">
                    <p:embed/>
                    <p:pic>
                      <p:nvPicPr>
                        <p:cNvPr id="76844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9500" y="4200525"/>
                          <a:ext cx="236538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/>
          <p:nvPr/>
        </p:nvGrpSpPr>
        <p:grpSpPr>
          <a:xfrm>
            <a:off x="5955500" y="3992181"/>
            <a:ext cx="377825" cy="428625"/>
            <a:chOff x="6592888" y="4038600"/>
            <a:chExt cx="377825" cy="428625"/>
          </a:xfrm>
        </p:grpSpPr>
        <p:graphicFrame>
          <p:nvGraphicFramePr>
            <p:cNvPr id="76842" name="Object 42"/>
            <p:cNvGraphicFramePr>
              <a:graphicFrameLocks noChangeAspect="1"/>
            </p:cNvGraphicFramePr>
            <p:nvPr/>
          </p:nvGraphicFramePr>
          <p:xfrm>
            <a:off x="6592888" y="4038600"/>
            <a:ext cx="377825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2" name="公式" r:id="rId48" imgW="355320" imgH="177480" progId="Equation.3">
                    <p:embed/>
                  </p:oleObj>
                </mc:Choice>
                <mc:Fallback>
                  <p:oleObj name="公式" r:id="rId48" imgW="355320" imgH="177480" progId="Equation.3">
                    <p:embed/>
                    <p:pic>
                      <p:nvPicPr>
                        <p:cNvPr id="76842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2888" y="4038600"/>
                          <a:ext cx="377825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45" name="Object 45"/>
            <p:cNvGraphicFramePr>
              <a:graphicFrameLocks noChangeAspect="1"/>
            </p:cNvGraphicFramePr>
            <p:nvPr/>
          </p:nvGraphicFramePr>
          <p:xfrm>
            <a:off x="6677025" y="4200525"/>
            <a:ext cx="236538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3" name="公式" r:id="rId50" imgW="203040" imgH="228600" progId="Equation.3">
                    <p:embed/>
                  </p:oleObj>
                </mc:Choice>
                <mc:Fallback>
                  <p:oleObj name="公式" r:id="rId50" imgW="203040" imgH="228600" progId="Equation.3">
                    <p:embed/>
                    <p:pic>
                      <p:nvPicPr>
                        <p:cNvPr id="76845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7025" y="4200525"/>
                          <a:ext cx="236538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" name="组合 82"/>
          <p:cNvGrpSpPr/>
          <p:nvPr/>
        </p:nvGrpSpPr>
        <p:grpSpPr>
          <a:xfrm>
            <a:off x="6465087" y="3973131"/>
            <a:ext cx="392113" cy="447675"/>
            <a:chOff x="7102475" y="4019550"/>
            <a:chExt cx="392113" cy="447675"/>
          </a:xfrm>
        </p:grpSpPr>
        <p:graphicFrame>
          <p:nvGraphicFramePr>
            <p:cNvPr id="76843" name="Object 43"/>
            <p:cNvGraphicFramePr>
              <a:graphicFrameLocks noChangeAspect="1"/>
            </p:cNvGraphicFramePr>
            <p:nvPr/>
          </p:nvGraphicFramePr>
          <p:xfrm>
            <a:off x="7102475" y="4019550"/>
            <a:ext cx="392113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4" name="公式" r:id="rId52" imgW="368280" imgH="203040" progId="Equation.3">
                    <p:embed/>
                  </p:oleObj>
                </mc:Choice>
                <mc:Fallback>
                  <p:oleObj name="公式" r:id="rId52" imgW="368280" imgH="203040" progId="Equation.3">
                    <p:embed/>
                    <p:pic>
                      <p:nvPicPr>
                        <p:cNvPr id="7684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2475" y="4019550"/>
                          <a:ext cx="392113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46" name="Object 46"/>
            <p:cNvGraphicFramePr>
              <a:graphicFrameLocks noChangeAspect="1"/>
            </p:cNvGraphicFramePr>
            <p:nvPr/>
          </p:nvGraphicFramePr>
          <p:xfrm>
            <a:off x="7192963" y="420052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5" name="公式" r:id="rId54" imgW="203040" imgH="228600" progId="Equation.3">
                    <p:embed/>
                  </p:oleObj>
                </mc:Choice>
                <mc:Fallback>
                  <p:oleObj name="公式" r:id="rId54" imgW="203040" imgH="228600" progId="Equation.3">
                    <p:embed/>
                    <p:pic>
                      <p:nvPicPr>
                        <p:cNvPr id="76846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2963" y="420052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" name="组合 90"/>
          <p:cNvGrpSpPr/>
          <p:nvPr/>
        </p:nvGrpSpPr>
        <p:grpSpPr>
          <a:xfrm>
            <a:off x="4976012" y="3255581"/>
            <a:ext cx="1752600" cy="215444"/>
            <a:chOff x="1250950" y="3670300"/>
            <a:chExt cx="1752600" cy="215444"/>
          </a:xfrm>
        </p:grpSpPr>
        <p:sp>
          <p:nvSpPr>
            <p:cNvPr id="92" name="TextBox 91"/>
            <p:cNvSpPr txBox="1"/>
            <p:nvPr/>
          </p:nvSpPr>
          <p:spPr>
            <a:xfrm>
              <a:off x="1250950" y="3670300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00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758950" y="3670300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01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266950" y="3670300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11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774950" y="3670300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10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620412" y="3655631"/>
            <a:ext cx="230717" cy="602794"/>
            <a:chOff x="5257800" y="3702050"/>
            <a:chExt cx="230717" cy="602794"/>
          </a:xfrm>
        </p:grpSpPr>
        <p:sp>
          <p:nvSpPr>
            <p:cNvPr id="96" name="TextBox 95"/>
            <p:cNvSpPr txBox="1"/>
            <p:nvPr/>
          </p:nvSpPr>
          <p:spPr>
            <a:xfrm>
              <a:off x="5257800" y="3702050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259917" y="4089400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2" name="右中括号 101"/>
          <p:cNvSpPr/>
          <p:nvPr/>
        </p:nvSpPr>
        <p:spPr>
          <a:xfrm rot="16200000" flipV="1">
            <a:off x="5793892" y="2628201"/>
            <a:ext cx="160020" cy="1546860"/>
          </a:xfrm>
          <a:prstGeom prst="rightBracket">
            <a:avLst>
              <a:gd name="adj" fmla="val 158333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2231662" y="3213957"/>
            <a:ext cx="694267" cy="215444"/>
            <a:chOff x="2231662" y="3257239"/>
            <a:chExt cx="694267" cy="215444"/>
          </a:xfrm>
        </p:grpSpPr>
        <p:sp>
          <p:nvSpPr>
            <p:cNvPr id="105" name="TextBox 59">
              <a:extLst>
                <a:ext uri="{FF2B5EF4-FFF2-40B4-BE49-F238E27FC236}">
                  <a16:creationId xmlns:a16="http://schemas.microsoft.com/office/drawing/2014/main" xmlns="" id="{1A741440-5A1D-49EC-A187-FC11C20F62C5}"/>
                </a:ext>
              </a:extLst>
            </p:cNvPr>
            <p:cNvSpPr txBox="1"/>
            <p:nvPr/>
          </p:nvSpPr>
          <p:spPr>
            <a:xfrm>
              <a:off x="2231662" y="3257239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xmlns="" id="{4A64A420-80DA-4B50-A376-CE544FA54D02}"/>
                </a:ext>
              </a:extLst>
            </p:cNvPr>
            <p:cNvSpPr txBox="1"/>
            <p:nvPr/>
          </p:nvSpPr>
          <p:spPr>
            <a:xfrm>
              <a:off x="2697329" y="3257239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907812" y="3626707"/>
            <a:ext cx="230717" cy="602794"/>
            <a:chOff x="1907812" y="3669989"/>
            <a:chExt cx="230717" cy="602794"/>
          </a:xfrm>
        </p:grpSpPr>
        <p:sp>
          <p:nvSpPr>
            <p:cNvPr id="107" name="TextBox 63">
              <a:extLst>
                <a:ext uri="{FF2B5EF4-FFF2-40B4-BE49-F238E27FC236}">
                  <a16:creationId xmlns:a16="http://schemas.microsoft.com/office/drawing/2014/main" xmlns="" id="{CA1AFC2B-3442-4C39-B762-36936CE6878F}"/>
                </a:ext>
              </a:extLst>
            </p:cNvPr>
            <p:cNvSpPr txBox="1"/>
            <p:nvPr/>
          </p:nvSpPr>
          <p:spPr>
            <a:xfrm>
              <a:off x="1907812" y="3669989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TextBox 64">
              <a:extLst>
                <a:ext uri="{FF2B5EF4-FFF2-40B4-BE49-F238E27FC236}">
                  <a16:creationId xmlns:a16="http://schemas.microsoft.com/office/drawing/2014/main" xmlns="" id="{C712624C-7DEE-409D-973F-9966FC77724D}"/>
                </a:ext>
              </a:extLst>
            </p:cNvPr>
            <p:cNvSpPr txBox="1"/>
            <p:nvPr/>
          </p:nvSpPr>
          <p:spPr>
            <a:xfrm>
              <a:off x="1909929" y="4057339"/>
              <a:ext cx="22860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1400" b="1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03493" y="3622659"/>
          <a:ext cx="185565" cy="235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6" name="公式" r:id="rId56" imgW="139579" imgH="177646" progId="Equation.3">
                  <p:embed/>
                </p:oleObj>
              </mc:Choice>
              <mc:Fallback>
                <p:oleObj name="公式" r:id="rId56" imgW="139579" imgH="177646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493" y="3622659"/>
                        <a:ext cx="185565" cy="235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/>
          <p:cNvCxnSpPr/>
          <p:nvPr/>
        </p:nvCxnSpPr>
        <p:spPr>
          <a:xfrm>
            <a:off x="2122123" y="3763003"/>
            <a:ext cx="900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973495" y="3971112"/>
            <a:ext cx="2936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i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lang="zh-CN" altLang="en-US" sz="1400" dirty="0"/>
          </a:p>
        </p:txBody>
      </p:sp>
      <p:cxnSp>
        <p:nvCxnSpPr>
          <p:cNvPr id="75" name="直接箭头连接符 74"/>
          <p:cNvCxnSpPr/>
          <p:nvPr/>
        </p:nvCxnSpPr>
        <p:spPr>
          <a:xfrm>
            <a:off x="2122123" y="4134318"/>
            <a:ext cx="9000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2236569" y="4357889"/>
          <a:ext cx="189650" cy="240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27" name="公式" r:id="rId58" imgW="139579" imgH="177646" progId="Equation.3">
                  <p:embed/>
                </p:oleObj>
              </mc:Choice>
              <mc:Fallback>
                <p:oleObj name="公式" r:id="rId58" imgW="139579" imgH="177646" progId="Equation.3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569" y="4357889"/>
                        <a:ext cx="189650" cy="240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2" name="直接箭头连接符 81"/>
          <p:cNvCxnSpPr/>
          <p:nvPr/>
        </p:nvCxnSpPr>
        <p:spPr>
          <a:xfrm flipH="1">
            <a:off x="2339083" y="3467662"/>
            <a:ext cx="0" cy="900000"/>
          </a:xfrm>
          <a:prstGeom prst="straightConnector1">
            <a:avLst/>
          </a:prstGeom>
          <a:ln w="19050">
            <a:solidFill>
              <a:srgbClr val="66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H="1">
            <a:off x="2814814" y="3467662"/>
            <a:ext cx="0" cy="900000"/>
          </a:xfrm>
          <a:prstGeom prst="straightConnector1">
            <a:avLst/>
          </a:prstGeom>
          <a:ln w="19050">
            <a:solidFill>
              <a:srgbClr val="66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638792" y="4336431"/>
            <a:ext cx="2936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1400" i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1400" dirty="0"/>
          </a:p>
        </p:txBody>
      </p:sp>
      <p:grpSp>
        <p:nvGrpSpPr>
          <p:cNvPr id="44" name="组合 43"/>
          <p:cNvGrpSpPr/>
          <p:nvPr/>
        </p:nvGrpSpPr>
        <p:grpSpPr>
          <a:xfrm>
            <a:off x="2227015" y="3727913"/>
            <a:ext cx="725992" cy="439128"/>
            <a:chOff x="2227015" y="3727913"/>
            <a:chExt cx="725992" cy="43912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2447735" y="3727913"/>
              <a:ext cx="252000" cy="628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/>
            <p:nvPr/>
          </p:nvCxnSpPr>
          <p:spPr>
            <a:xfrm flipV="1">
              <a:off x="2447735" y="4166413"/>
              <a:ext cx="252000" cy="628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/>
            <p:nvPr/>
          </p:nvCxnSpPr>
          <p:spPr>
            <a:xfrm flipV="1">
              <a:off x="2227015" y="3807793"/>
              <a:ext cx="0" cy="21600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/>
            <p:nvPr/>
          </p:nvCxnSpPr>
          <p:spPr>
            <a:xfrm flipV="1">
              <a:off x="2953007" y="3807793"/>
              <a:ext cx="0" cy="21600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2481775" y="3807719"/>
            <a:ext cx="189337" cy="219387"/>
            <a:chOff x="2481775" y="3807719"/>
            <a:chExt cx="189337" cy="219387"/>
          </a:xfrm>
        </p:grpSpPr>
        <p:cxnSp>
          <p:nvCxnSpPr>
            <p:cNvPr id="112" name="直接箭头连接符 111"/>
            <p:cNvCxnSpPr/>
            <p:nvPr/>
          </p:nvCxnSpPr>
          <p:spPr>
            <a:xfrm flipV="1">
              <a:off x="2489288" y="3809484"/>
              <a:ext cx="181824" cy="217622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/>
            <p:cNvCxnSpPr/>
            <p:nvPr/>
          </p:nvCxnSpPr>
          <p:spPr>
            <a:xfrm>
              <a:off x="2481775" y="3807719"/>
              <a:ext cx="181824" cy="217622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乘号 42"/>
            <p:cNvSpPr/>
            <p:nvPr/>
          </p:nvSpPr>
          <p:spPr>
            <a:xfrm>
              <a:off x="2519939" y="3861558"/>
              <a:ext cx="119222" cy="111508"/>
            </a:xfrm>
            <a:prstGeom prst="mathMultiply">
              <a:avLst>
                <a:gd name="adj1" fmla="val 7201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601121" y="3680271"/>
            <a:ext cx="215563" cy="656230"/>
            <a:chOff x="6891991" y="3698031"/>
            <a:chExt cx="215563" cy="656230"/>
          </a:xfrm>
        </p:grpSpPr>
        <p:graphicFrame>
          <p:nvGraphicFramePr>
            <p:cNvPr id="99" name="对象 98"/>
            <p:cNvGraphicFramePr>
              <a:graphicFrameLocks noChangeAspect="1"/>
            </p:cNvGraphicFramePr>
            <p:nvPr/>
          </p:nvGraphicFramePr>
          <p:xfrm>
            <a:off x="6921989" y="3698031"/>
            <a:ext cx="185565" cy="235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8" name="公式" r:id="rId60" imgW="139579" imgH="177646" progId="Equation.3">
                    <p:embed/>
                  </p:oleObj>
                </mc:Choice>
                <mc:Fallback>
                  <p:oleObj name="公式" r:id="rId60" imgW="139579" imgH="177646" progId="Equation.3">
                    <p:embed/>
                    <p:pic>
                      <p:nvPicPr>
                        <p:cNvPr id="99" name="对象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1989" y="3698031"/>
                          <a:ext cx="185565" cy="23504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" name="矩形 99"/>
            <p:cNvSpPr/>
            <p:nvPr/>
          </p:nvSpPr>
          <p:spPr>
            <a:xfrm>
              <a:off x="6891991" y="4046484"/>
              <a:ext cx="20664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i="1" kern="1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zh-CN" altLang="en-US" sz="1400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967836" y="3317113"/>
            <a:ext cx="1790552" cy="190500"/>
            <a:chOff x="4982910" y="4469790"/>
            <a:chExt cx="1790552" cy="190500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4982910" y="4469790"/>
            <a:ext cx="2381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29" name="公式" r:id="rId61" imgW="241195" imgH="190417" progId="Equation.3">
                    <p:embed/>
                  </p:oleObj>
                </mc:Choice>
                <mc:Fallback>
                  <p:oleObj name="公式" r:id="rId61" imgW="241195" imgH="190417" progId="Equation.3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2910" y="4469790"/>
                          <a:ext cx="238125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5499314" y="4469790"/>
            <a:ext cx="2286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30" name="公式" r:id="rId63" imgW="228600" imgH="190500" progId="Equation.3">
                    <p:embed/>
                  </p:oleObj>
                </mc:Choice>
                <mc:Fallback>
                  <p:oleObj name="公式" r:id="rId63" imgW="228600" imgH="190500" progId="Equation.3">
                    <p:embed/>
                    <p:pic>
                      <p:nvPicPr>
                        <p:cNvPr id="17" name="对象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9314" y="4469790"/>
                          <a:ext cx="228600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6047575" y="4507890"/>
            <a:ext cx="228600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31" name="公式" r:id="rId65" imgW="228501" imgH="152334" progId="Equation.3">
                    <p:embed/>
                  </p:oleObj>
                </mc:Choice>
                <mc:Fallback>
                  <p:oleObj name="公式" r:id="rId65" imgW="228501" imgH="152334" progId="Equation.3">
                    <p:embed/>
                    <p:pic>
                      <p:nvPicPr>
                        <p:cNvPr id="25" name="对象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7575" y="4507890"/>
                          <a:ext cx="228600" cy="152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/>
          </p:nvGraphicFramePr>
          <p:xfrm>
            <a:off x="6535337" y="4469790"/>
            <a:ext cx="238125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32" name="公式" r:id="rId67" imgW="241195" imgH="190417" progId="Equation.3">
                    <p:embed/>
                  </p:oleObj>
                </mc:Choice>
                <mc:Fallback>
                  <p:oleObj name="公式" r:id="rId67" imgW="241195" imgH="190417" progId="Equation.3">
                    <p:embed/>
                    <p:pic>
                      <p:nvPicPr>
                        <p:cNvPr id="27" name="对象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5337" y="4469790"/>
                          <a:ext cx="238125" cy="190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1" name="右中括号 100"/>
          <p:cNvSpPr/>
          <p:nvPr/>
        </p:nvSpPr>
        <p:spPr>
          <a:xfrm rot="5400000">
            <a:off x="5778652" y="3710241"/>
            <a:ext cx="160020" cy="1546860"/>
          </a:xfrm>
          <a:prstGeom prst="rightBracket">
            <a:avLst>
              <a:gd name="adj" fmla="val 158333"/>
            </a:avLst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11111E-6 L 0.25747 1.11111E-6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22222E-6 L -0.00035 0.20611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0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000"/>
                            </p:stCondLst>
                            <p:childTnLst>
                              <p:par>
                                <p:cTn id="16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000"/>
                            </p:stCondLst>
                            <p:childTnLst>
                              <p:par>
                                <p:cTn id="18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"/>
                            </p:stCondLst>
                            <p:childTnLst>
                              <p:par>
                                <p:cTn id="18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2" grpId="0" animBg="1"/>
      <p:bldP spid="15" grpId="0"/>
      <p:bldP spid="36" grpId="0"/>
      <p:bldP spid="10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组合 76"/>
          <p:cNvGrpSpPr/>
          <p:nvPr/>
        </p:nvGrpSpPr>
        <p:grpSpPr>
          <a:xfrm>
            <a:off x="771172" y="1455420"/>
            <a:ext cx="3297908" cy="3215640"/>
            <a:chOff x="771172" y="1897380"/>
            <a:chExt cx="3297908" cy="3215640"/>
          </a:xfrm>
        </p:grpSpPr>
        <p:grpSp>
          <p:nvGrpSpPr>
            <p:cNvPr id="2" name="组合 1"/>
            <p:cNvGrpSpPr/>
            <p:nvPr/>
          </p:nvGrpSpPr>
          <p:grpSpPr>
            <a:xfrm>
              <a:off x="771172" y="1897380"/>
              <a:ext cx="3297908" cy="3215640"/>
              <a:chOff x="5381272" y="2758440"/>
              <a:chExt cx="2916907" cy="2727960"/>
            </a:xfrm>
          </p:grpSpPr>
          <p:graphicFrame>
            <p:nvGraphicFramePr>
              <p:cNvPr id="3" name="Object 8"/>
              <p:cNvGraphicFramePr>
                <a:graphicFrameLocks noChangeAspect="1"/>
              </p:cNvGraphicFramePr>
              <p:nvPr/>
            </p:nvGraphicFramePr>
            <p:xfrm>
              <a:off x="5464811" y="3101340"/>
              <a:ext cx="2702205" cy="22774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024" name="Visio" r:id="rId3" imgW="2092004" imgH="1729076" progId="Visio.Drawing.11">
                      <p:embed/>
                    </p:oleObj>
                  </mc:Choice>
                  <mc:Fallback>
                    <p:oleObj name="Visio" r:id="rId3" imgW="2092004" imgH="1729076" progId="Visio.Drawing.11">
                      <p:embed/>
                      <p:pic>
                        <p:nvPicPr>
                          <p:cNvPr id="3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4811" y="3101340"/>
                            <a:ext cx="2702205" cy="227742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组合 30"/>
              <p:cNvGrpSpPr/>
              <p:nvPr/>
            </p:nvGrpSpPr>
            <p:grpSpPr>
              <a:xfrm>
                <a:off x="5381272" y="2758440"/>
                <a:ext cx="2916907" cy="2727960"/>
                <a:chOff x="5611221" y="3025140"/>
                <a:chExt cx="1325147" cy="2505916"/>
              </a:xfrm>
            </p:grpSpPr>
            <p:sp>
              <p:nvSpPr>
                <p:cNvPr id="5" name="圆角矩形 4"/>
                <p:cNvSpPr/>
                <p:nvPr/>
              </p:nvSpPr>
              <p:spPr>
                <a:xfrm>
                  <a:off x="5611221" y="3158381"/>
                  <a:ext cx="1325147" cy="2372675"/>
                </a:xfrm>
                <a:prstGeom prst="roundRect">
                  <a:avLst>
                    <a:gd name="adj" fmla="val 7711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流程图: 可选过程 5"/>
                <p:cNvSpPr/>
                <p:nvPr/>
              </p:nvSpPr>
              <p:spPr>
                <a:xfrm>
                  <a:off x="5907009" y="3025140"/>
                  <a:ext cx="740495" cy="290457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四变量卡诺图</a:t>
                  </a:r>
                </a:p>
              </p:txBody>
            </p:sp>
          </p:grpSp>
        </p:grpSp>
        <p:grpSp>
          <p:nvGrpSpPr>
            <p:cNvPr id="66" name="组合 65"/>
            <p:cNvGrpSpPr/>
            <p:nvPr/>
          </p:nvGrpSpPr>
          <p:grpSpPr>
            <a:xfrm>
              <a:off x="1504950" y="2463800"/>
              <a:ext cx="2012950" cy="215444"/>
              <a:chOff x="1250950" y="3670300"/>
              <a:chExt cx="2012950" cy="215444"/>
            </a:xfrm>
          </p:grpSpPr>
          <p:sp>
            <p:nvSpPr>
              <p:cNvPr id="67" name="TextBox 66"/>
              <p:cNvSpPr txBox="1"/>
              <p:nvPr/>
            </p:nvSpPr>
            <p:spPr>
              <a:xfrm>
                <a:off x="125095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00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75895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01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2397125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11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03530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10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1092200" y="2914650"/>
              <a:ext cx="228600" cy="1860094"/>
              <a:chOff x="1250950" y="3670300"/>
              <a:chExt cx="228600" cy="1860094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125095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00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1250950" y="4218517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01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250950" y="4766734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11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1250950" y="531495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cs typeface="Times New Roman" pitchFamily="18" charset="0"/>
                  </a:rPr>
                  <a:t>10</a:t>
                </a:r>
                <a:endParaRPr lang="zh-CN" altLang="en-US" sz="14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392432" y="780143"/>
            <a:ext cx="2266948" cy="411055"/>
            <a:chOff x="392432" y="780143"/>
            <a:chExt cx="2266948" cy="411055"/>
          </a:xfrm>
        </p:grpSpPr>
        <p:sp>
          <p:nvSpPr>
            <p:cNvPr id="8" name="矩形 7"/>
            <p:cNvSpPr/>
            <p:nvPr/>
          </p:nvSpPr>
          <p:spPr>
            <a:xfrm>
              <a:off x="754216" y="805934"/>
              <a:ext cx="19051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、卡诺图</a:t>
              </a:r>
            </a:p>
          </p:txBody>
        </p:sp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组合 14"/>
          <p:cNvGrpSpPr/>
          <p:nvPr/>
        </p:nvGrpSpPr>
        <p:grpSpPr>
          <a:xfrm>
            <a:off x="4527551" y="769620"/>
            <a:ext cx="4385310" cy="3901440"/>
            <a:chOff x="4808220" y="670560"/>
            <a:chExt cx="4385310" cy="3901440"/>
          </a:xfrm>
        </p:grpSpPr>
        <p:sp>
          <p:nvSpPr>
            <p:cNvPr id="16" name="圆角矩形 15"/>
            <p:cNvSpPr/>
            <p:nvPr/>
          </p:nvSpPr>
          <p:spPr>
            <a:xfrm>
              <a:off x="4808220" y="1165860"/>
              <a:ext cx="3855720" cy="3406140"/>
            </a:xfrm>
            <a:prstGeom prst="roundRect">
              <a:avLst>
                <a:gd name="adj" fmla="val 7072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44500" indent="-444500">
                <a:lnSpc>
                  <a:spcPct val="125000"/>
                </a:lnSpc>
                <a:spcBef>
                  <a:spcPct val="50000"/>
                </a:spcBef>
              </a:pPr>
              <a:endPara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44500" indent="-444500">
                <a:lnSpc>
                  <a:spcPct val="125000"/>
                </a:lnSpc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CC00CC"/>
                  </a:solidFill>
                  <a:latin typeface="微软雅黑" pitchFamily="34" charset="-122"/>
                  <a:ea typeface="微软雅黑" pitchFamily="34" charset="-122"/>
                </a:rPr>
                <a:t>卡诺图的特点：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具有很强的相邻性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</a:p>
            <a:p>
              <a:pPr marL="266700" indent="-266700">
                <a:lnSpc>
                  <a:spcPct val="125000"/>
                </a:lnSpc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直观相邻性：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只要小方格在几何位置上相邻（不管上下左右），它代表的最小项在逻辑上一定是相邻的。</a:t>
              </a:r>
            </a:p>
            <a:p>
              <a:pPr marL="266700" indent="-266700">
                <a:lnSpc>
                  <a:spcPct val="125000"/>
                </a:lnSpc>
                <a:spcBef>
                  <a:spcPct val="50000"/>
                </a:spcBef>
                <a:buFont typeface="Wingdings" pitchFamily="2" charset="2"/>
                <a:buChar char="Ø"/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对边相邻性：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即与中心轴对称的左右两边和上下两边的小方格也具有相邻性。</a:t>
              </a:r>
              <a:endParaRPr lang="en-US" altLang="zh-CN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  <a:p>
              <a:pPr algn="ctr">
                <a:lnSpc>
                  <a:spcPct val="125000"/>
                </a:lnSpc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CC00CC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  <a:cs typeface="Times New Roman" pitchFamily="18" charset="0"/>
                </a:rPr>
                <a:t>具有循环邻接相邻特性 </a:t>
              </a:r>
              <a:endParaRPr lang="zh-CN" altLang="en-US" sz="1600" dirty="0">
                <a:solidFill>
                  <a:srgbClr val="CC00CC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cs typeface="Times New Roman" pitchFamily="18" charset="0"/>
              </a:endParaRPr>
            </a:p>
          </p:txBody>
        </p:sp>
        <p:pic>
          <p:nvPicPr>
            <p:cNvPr id="17" name="Picture 15"/>
            <p:cNvPicPr>
              <a:picLocks noChangeAspect="1" noChangeArrowheads="1"/>
            </p:cNvPicPr>
            <p:nvPr/>
          </p:nvPicPr>
          <p:blipFill>
            <a:blip r:embed="rId6"/>
            <a:srcRect l="7692"/>
            <a:stretch>
              <a:fillRect/>
            </a:stretch>
          </p:blipFill>
          <p:spPr bwMode="auto">
            <a:xfrm>
              <a:off x="7787640" y="670560"/>
              <a:ext cx="1405890" cy="93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8" name="直接连接符 17"/>
            <p:cNvCxnSpPr/>
            <p:nvPr/>
          </p:nvCxnSpPr>
          <p:spPr>
            <a:xfrm flipV="1">
              <a:off x="7777162" y="1165860"/>
              <a:ext cx="216218" cy="0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2" name="组合 61"/>
          <p:cNvGrpSpPr/>
          <p:nvPr/>
        </p:nvGrpSpPr>
        <p:grpSpPr>
          <a:xfrm>
            <a:off x="1363663" y="2282190"/>
            <a:ext cx="555625" cy="498475"/>
            <a:chOff x="1363663" y="2724150"/>
            <a:chExt cx="555625" cy="498475"/>
          </a:xfrm>
        </p:grpSpPr>
        <p:graphicFrame>
          <p:nvGraphicFramePr>
            <p:cNvPr id="77827" name="Object 3"/>
            <p:cNvGraphicFramePr>
              <a:graphicFrameLocks noChangeAspect="1"/>
            </p:cNvGraphicFramePr>
            <p:nvPr/>
          </p:nvGraphicFramePr>
          <p:xfrm>
            <a:off x="1363663" y="2724150"/>
            <a:ext cx="555625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25" name="公式" r:id="rId7" imgW="520560" imgH="203040" progId="Equation.3">
                    <p:embed/>
                  </p:oleObj>
                </mc:Choice>
                <mc:Fallback>
                  <p:oleObj name="公式" r:id="rId7" imgW="520560" imgH="203040" progId="Equation.3">
                    <p:embed/>
                    <p:pic>
                      <p:nvPicPr>
                        <p:cNvPr id="7782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3663" y="2724150"/>
                          <a:ext cx="555625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28" name="Object 4"/>
            <p:cNvGraphicFramePr>
              <a:graphicFrameLocks noChangeAspect="1"/>
            </p:cNvGraphicFramePr>
            <p:nvPr/>
          </p:nvGraphicFramePr>
          <p:xfrm>
            <a:off x="1535113" y="295592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26" name="公式" r:id="rId9" imgW="203040" imgH="228600" progId="Equation.3">
                    <p:embed/>
                  </p:oleObj>
                </mc:Choice>
                <mc:Fallback>
                  <p:oleObj name="公式" r:id="rId9" imgW="203040" imgH="228600" progId="Equation.3">
                    <p:embed/>
                    <p:pic>
                      <p:nvPicPr>
                        <p:cNvPr id="7782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5113" y="295592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/>
          <p:cNvGrpSpPr/>
          <p:nvPr/>
        </p:nvGrpSpPr>
        <p:grpSpPr>
          <a:xfrm>
            <a:off x="1960563" y="2282190"/>
            <a:ext cx="541337" cy="498475"/>
            <a:chOff x="1960563" y="2724150"/>
            <a:chExt cx="541337" cy="498475"/>
          </a:xfrm>
        </p:grpSpPr>
        <p:graphicFrame>
          <p:nvGraphicFramePr>
            <p:cNvPr id="77829" name="Object 5"/>
            <p:cNvGraphicFramePr>
              <a:graphicFrameLocks noChangeAspect="1"/>
            </p:cNvGraphicFramePr>
            <p:nvPr/>
          </p:nvGraphicFramePr>
          <p:xfrm>
            <a:off x="1960563" y="2724150"/>
            <a:ext cx="541337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27" name="公式" r:id="rId11" imgW="507960" imgH="203040" progId="Equation.3">
                    <p:embed/>
                  </p:oleObj>
                </mc:Choice>
                <mc:Fallback>
                  <p:oleObj name="公式" r:id="rId11" imgW="507960" imgH="203040" progId="Equation.3">
                    <p:embed/>
                    <p:pic>
                      <p:nvPicPr>
                        <p:cNvPr id="7782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0563" y="2724150"/>
                          <a:ext cx="541337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2" name="Object 8"/>
            <p:cNvGraphicFramePr>
              <a:graphicFrameLocks noChangeAspect="1"/>
            </p:cNvGraphicFramePr>
            <p:nvPr/>
          </p:nvGraphicFramePr>
          <p:xfrm>
            <a:off x="2113492" y="2971800"/>
            <a:ext cx="222250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28" name="公式" r:id="rId13" imgW="190440" imgH="215640" progId="Equation.3">
                    <p:embed/>
                  </p:oleObj>
                </mc:Choice>
                <mc:Fallback>
                  <p:oleObj name="公式" r:id="rId13" imgW="190440" imgH="215640" progId="Equation.3">
                    <p:embed/>
                    <p:pic>
                      <p:nvPicPr>
                        <p:cNvPr id="7783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3492" y="2971800"/>
                          <a:ext cx="222250" cy="250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组合 63"/>
          <p:cNvGrpSpPr/>
          <p:nvPr/>
        </p:nvGrpSpPr>
        <p:grpSpPr>
          <a:xfrm>
            <a:off x="2565400" y="2282190"/>
            <a:ext cx="514350" cy="498475"/>
            <a:chOff x="2565400" y="2724150"/>
            <a:chExt cx="514350" cy="498475"/>
          </a:xfrm>
        </p:grpSpPr>
        <p:graphicFrame>
          <p:nvGraphicFramePr>
            <p:cNvPr id="77830" name="Object 6"/>
            <p:cNvGraphicFramePr>
              <a:graphicFrameLocks noChangeAspect="1"/>
            </p:cNvGraphicFramePr>
            <p:nvPr/>
          </p:nvGraphicFramePr>
          <p:xfrm>
            <a:off x="2565400" y="2724150"/>
            <a:ext cx="5143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29" name="公式" r:id="rId15" imgW="482400" imgH="203040" progId="Equation.3">
                    <p:embed/>
                  </p:oleObj>
                </mc:Choice>
                <mc:Fallback>
                  <p:oleObj name="公式" r:id="rId15" imgW="482400" imgH="203040" progId="Equation.3">
                    <p:embed/>
                    <p:pic>
                      <p:nvPicPr>
                        <p:cNvPr id="7783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400" y="2724150"/>
                          <a:ext cx="51435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3" name="Object 9"/>
            <p:cNvGraphicFramePr>
              <a:graphicFrameLocks noChangeAspect="1"/>
            </p:cNvGraphicFramePr>
            <p:nvPr/>
          </p:nvGraphicFramePr>
          <p:xfrm>
            <a:off x="2677584" y="295592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0" name="公式" r:id="rId17" imgW="203040" imgH="228600" progId="Equation.3">
                    <p:embed/>
                  </p:oleObj>
                </mc:Choice>
                <mc:Fallback>
                  <p:oleObj name="公式" r:id="rId17" imgW="203040" imgH="228600" progId="Equation.3">
                    <p:embed/>
                    <p:pic>
                      <p:nvPicPr>
                        <p:cNvPr id="7783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7584" y="295592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/>
          <p:cNvGrpSpPr/>
          <p:nvPr/>
        </p:nvGrpSpPr>
        <p:grpSpPr>
          <a:xfrm>
            <a:off x="3148013" y="2282190"/>
            <a:ext cx="528637" cy="498475"/>
            <a:chOff x="3148013" y="2724150"/>
            <a:chExt cx="528637" cy="498475"/>
          </a:xfrm>
        </p:grpSpPr>
        <p:graphicFrame>
          <p:nvGraphicFramePr>
            <p:cNvPr id="77831" name="Object 7"/>
            <p:cNvGraphicFramePr>
              <a:graphicFrameLocks noChangeAspect="1"/>
            </p:cNvGraphicFramePr>
            <p:nvPr/>
          </p:nvGraphicFramePr>
          <p:xfrm>
            <a:off x="3148013" y="2724150"/>
            <a:ext cx="528637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1" name="公式" r:id="rId19" imgW="495000" imgH="203040" progId="Equation.3">
                    <p:embed/>
                  </p:oleObj>
                </mc:Choice>
                <mc:Fallback>
                  <p:oleObj name="公式" r:id="rId19" imgW="495000" imgH="203040" progId="Equation.3">
                    <p:embed/>
                    <p:pic>
                      <p:nvPicPr>
                        <p:cNvPr id="7783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8013" y="2724150"/>
                          <a:ext cx="528637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4" name="Object 10"/>
            <p:cNvGraphicFramePr>
              <a:graphicFrameLocks noChangeAspect="1"/>
            </p:cNvGraphicFramePr>
            <p:nvPr/>
          </p:nvGraphicFramePr>
          <p:xfrm>
            <a:off x="3255963" y="2970212"/>
            <a:ext cx="2365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2" name="公式" r:id="rId21" imgW="203040" imgH="215640" progId="Equation.3">
                    <p:embed/>
                  </p:oleObj>
                </mc:Choice>
                <mc:Fallback>
                  <p:oleObj name="公式" r:id="rId21" imgW="203040" imgH="215640" progId="Equation.3">
                    <p:embed/>
                    <p:pic>
                      <p:nvPicPr>
                        <p:cNvPr id="7783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5963" y="2970212"/>
                          <a:ext cx="236537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1382713" y="2834640"/>
            <a:ext cx="541337" cy="490538"/>
            <a:chOff x="1382713" y="3276600"/>
            <a:chExt cx="541337" cy="490538"/>
          </a:xfrm>
        </p:grpSpPr>
        <p:graphicFrame>
          <p:nvGraphicFramePr>
            <p:cNvPr id="77835" name="Object 11"/>
            <p:cNvGraphicFramePr>
              <a:graphicFrameLocks noChangeAspect="1"/>
            </p:cNvGraphicFramePr>
            <p:nvPr/>
          </p:nvGraphicFramePr>
          <p:xfrm>
            <a:off x="1382713" y="3276600"/>
            <a:ext cx="541337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3" name="公式" r:id="rId23" imgW="507960" imgH="203040" progId="Equation.3">
                    <p:embed/>
                  </p:oleObj>
                </mc:Choice>
                <mc:Fallback>
                  <p:oleObj name="公式" r:id="rId23" imgW="507960" imgH="203040" progId="Equation.3">
                    <p:embed/>
                    <p:pic>
                      <p:nvPicPr>
                        <p:cNvPr id="7783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713" y="3276600"/>
                          <a:ext cx="541337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6" name="Object 12"/>
            <p:cNvGraphicFramePr>
              <a:graphicFrameLocks noChangeAspect="1"/>
            </p:cNvGraphicFramePr>
            <p:nvPr/>
          </p:nvGraphicFramePr>
          <p:xfrm>
            <a:off x="1547813" y="3514725"/>
            <a:ext cx="23653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4" name="公式" r:id="rId25" imgW="203040" imgH="215640" progId="Equation.3">
                    <p:embed/>
                  </p:oleObj>
                </mc:Choice>
                <mc:Fallback>
                  <p:oleObj name="公式" r:id="rId25" imgW="203040" imgH="215640" progId="Equation.3">
                    <p:embed/>
                    <p:pic>
                      <p:nvPicPr>
                        <p:cNvPr id="7783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813" y="3514725"/>
                          <a:ext cx="236537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58"/>
          <p:cNvGrpSpPr/>
          <p:nvPr/>
        </p:nvGrpSpPr>
        <p:grpSpPr>
          <a:xfrm>
            <a:off x="1979613" y="2834640"/>
            <a:ext cx="527050" cy="506413"/>
            <a:chOff x="1979613" y="3276600"/>
            <a:chExt cx="527050" cy="506413"/>
          </a:xfrm>
        </p:grpSpPr>
        <p:graphicFrame>
          <p:nvGraphicFramePr>
            <p:cNvPr id="77837" name="Object 13"/>
            <p:cNvGraphicFramePr>
              <a:graphicFrameLocks noChangeAspect="1"/>
            </p:cNvGraphicFramePr>
            <p:nvPr/>
          </p:nvGraphicFramePr>
          <p:xfrm>
            <a:off x="1979613" y="3276600"/>
            <a:ext cx="5270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5" name="公式" r:id="rId27" imgW="495000" imgH="203040" progId="Equation.3">
                    <p:embed/>
                  </p:oleObj>
                </mc:Choice>
                <mc:Fallback>
                  <p:oleObj name="公式" r:id="rId27" imgW="495000" imgH="203040" progId="Equation.3">
                    <p:embed/>
                    <p:pic>
                      <p:nvPicPr>
                        <p:cNvPr id="7783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613" y="3276600"/>
                          <a:ext cx="52705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0" name="Object 16"/>
            <p:cNvGraphicFramePr>
              <a:graphicFrameLocks noChangeAspect="1"/>
            </p:cNvGraphicFramePr>
            <p:nvPr/>
          </p:nvGraphicFramePr>
          <p:xfrm>
            <a:off x="2117725" y="3517900"/>
            <a:ext cx="238125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6" name="公式" r:id="rId29" imgW="203040" imgH="228600" progId="Equation.3">
                    <p:embed/>
                  </p:oleObj>
                </mc:Choice>
                <mc:Fallback>
                  <p:oleObj name="公式" r:id="rId29" imgW="203040" imgH="228600" progId="Equation.3">
                    <p:embed/>
                    <p:pic>
                      <p:nvPicPr>
                        <p:cNvPr id="7784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7725" y="3517900"/>
                          <a:ext cx="238125" cy="265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/>
          <p:cNvGrpSpPr/>
          <p:nvPr/>
        </p:nvGrpSpPr>
        <p:grpSpPr>
          <a:xfrm>
            <a:off x="2584450" y="2834640"/>
            <a:ext cx="501650" cy="498475"/>
            <a:chOff x="2584450" y="3276600"/>
            <a:chExt cx="501650" cy="498475"/>
          </a:xfrm>
        </p:grpSpPr>
        <p:graphicFrame>
          <p:nvGraphicFramePr>
            <p:cNvPr id="77838" name="Object 14"/>
            <p:cNvGraphicFramePr>
              <a:graphicFrameLocks noChangeAspect="1"/>
            </p:cNvGraphicFramePr>
            <p:nvPr/>
          </p:nvGraphicFramePr>
          <p:xfrm>
            <a:off x="2584450" y="3276600"/>
            <a:ext cx="5016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7" name="公式" r:id="rId31" imgW="469800" imgH="203040" progId="Equation.3">
                    <p:embed/>
                  </p:oleObj>
                </mc:Choice>
                <mc:Fallback>
                  <p:oleObj name="公式" r:id="rId31" imgW="469800" imgH="203040" progId="Equation.3">
                    <p:embed/>
                    <p:pic>
                      <p:nvPicPr>
                        <p:cNvPr id="7783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450" y="3276600"/>
                          <a:ext cx="50165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1" name="Object 17"/>
            <p:cNvGraphicFramePr>
              <a:graphicFrameLocks noChangeAspect="1"/>
            </p:cNvGraphicFramePr>
            <p:nvPr/>
          </p:nvGraphicFramePr>
          <p:xfrm>
            <a:off x="2690813" y="350837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8" name="公式" r:id="rId33" imgW="203040" imgH="228600" progId="Equation.3">
                    <p:embed/>
                  </p:oleObj>
                </mc:Choice>
                <mc:Fallback>
                  <p:oleObj name="公式" r:id="rId33" imgW="203040" imgH="228600" progId="Equation.3">
                    <p:embed/>
                    <p:pic>
                      <p:nvPicPr>
                        <p:cNvPr id="7784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0813" y="350837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组合 60"/>
          <p:cNvGrpSpPr/>
          <p:nvPr/>
        </p:nvGrpSpPr>
        <p:grpSpPr>
          <a:xfrm>
            <a:off x="3167063" y="2834640"/>
            <a:ext cx="514350" cy="506413"/>
            <a:chOff x="3167063" y="3276600"/>
            <a:chExt cx="514350" cy="506413"/>
          </a:xfrm>
        </p:grpSpPr>
        <p:graphicFrame>
          <p:nvGraphicFramePr>
            <p:cNvPr id="77839" name="Object 15"/>
            <p:cNvGraphicFramePr>
              <a:graphicFrameLocks noChangeAspect="1"/>
            </p:cNvGraphicFramePr>
            <p:nvPr/>
          </p:nvGraphicFramePr>
          <p:xfrm>
            <a:off x="3167063" y="3276600"/>
            <a:ext cx="5143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39" name="公式" r:id="rId35" imgW="482400" imgH="203040" progId="Equation.3">
                    <p:embed/>
                  </p:oleObj>
                </mc:Choice>
                <mc:Fallback>
                  <p:oleObj name="公式" r:id="rId35" imgW="482400" imgH="203040" progId="Equation.3">
                    <p:embed/>
                    <p:pic>
                      <p:nvPicPr>
                        <p:cNvPr id="7783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7063" y="3276600"/>
                          <a:ext cx="51435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2" name="Object 18"/>
            <p:cNvGraphicFramePr>
              <a:graphicFrameLocks noChangeAspect="1"/>
            </p:cNvGraphicFramePr>
            <p:nvPr/>
          </p:nvGraphicFramePr>
          <p:xfrm>
            <a:off x="3268663" y="3516313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0" name="公式" r:id="rId37" imgW="203040" imgH="228600" progId="Equation.3">
                    <p:embed/>
                  </p:oleObj>
                </mc:Choice>
                <mc:Fallback>
                  <p:oleObj name="公式" r:id="rId37" imgW="203040" imgH="228600" progId="Equation.3">
                    <p:embed/>
                    <p:pic>
                      <p:nvPicPr>
                        <p:cNvPr id="7784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8663" y="3516313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/>
          <p:cNvGrpSpPr/>
          <p:nvPr/>
        </p:nvGrpSpPr>
        <p:grpSpPr>
          <a:xfrm>
            <a:off x="1389063" y="3387090"/>
            <a:ext cx="528637" cy="490538"/>
            <a:chOff x="1389063" y="3829050"/>
            <a:chExt cx="528637" cy="490538"/>
          </a:xfrm>
        </p:grpSpPr>
        <p:graphicFrame>
          <p:nvGraphicFramePr>
            <p:cNvPr id="77843" name="Object 19"/>
            <p:cNvGraphicFramePr>
              <a:graphicFrameLocks noChangeAspect="1"/>
            </p:cNvGraphicFramePr>
            <p:nvPr/>
          </p:nvGraphicFramePr>
          <p:xfrm>
            <a:off x="1389063" y="3829050"/>
            <a:ext cx="528637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1" name="公式" r:id="rId39" imgW="495000" imgH="203040" progId="Equation.3">
                    <p:embed/>
                  </p:oleObj>
                </mc:Choice>
                <mc:Fallback>
                  <p:oleObj name="公式" r:id="rId39" imgW="495000" imgH="203040" progId="Equation.3">
                    <p:embed/>
                    <p:pic>
                      <p:nvPicPr>
                        <p:cNvPr id="7784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9063" y="3829050"/>
                          <a:ext cx="528637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4" name="Object 20"/>
            <p:cNvGraphicFramePr>
              <a:graphicFrameLocks noChangeAspect="1"/>
            </p:cNvGraphicFramePr>
            <p:nvPr/>
          </p:nvGraphicFramePr>
          <p:xfrm>
            <a:off x="1525588" y="4067175"/>
            <a:ext cx="280987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2" name="公式" r:id="rId41" imgW="241200" imgH="215640" progId="Equation.3">
                    <p:embed/>
                  </p:oleObj>
                </mc:Choice>
                <mc:Fallback>
                  <p:oleObj name="公式" r:id="rId41" imgW="241200" imgH="215640" progId="Equation.3">
                    <p:embed/>
                    <p:pic>
                      <p:nvPicPr>
                        <p:cNvPr id="7784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5588" y="4067175"/>
                          <a:ext cx="280987" cy="252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/>
          <p:cNvGrpSpPr/>
          <p:nvPr/>
        </p:nvGrpSpPr>
        <p:grpSpPr>
          <a:xfrm>
            <a:off x="1985963" y="3387090"/>
            <a:ext cx="514350" cy="506413"/>
            <a:chOff x="1985963" y="3829050"/>
            <a:chExt cx="514350" cy="506413"/>
          </a:xfrm>
        </p:grpSpPr>
        <p:graphicFrame>
          <p:nvGraphicFramePr>
            <p:cNvPr id="77845" name="Object 21"/>
            <p:cNvGraphicFramePr>
              <a:graphicFrameLocks noChangeAspect="1"/>
            </p:cNvGraphicFramePr>
            <p:nvPr/>
          </p:nvGraphicFramePr>
          <p:xfrm>
            <a:off x="1985963" y="3829050"/>
            <a:ext cx="5143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3" name="公式" r:id="rId43" imgW="482400" imgH="203040" progId="Equation.3">
                    <p:embed/>
                  </p:oleObj>
                </mc:Choice>
                <mc:Fallback>
                  <p:oleObj name="公式" r:id="rId43" imgW="482400" imgH="203040" progId="Equation.3">
                    <p:embed/>
                    <p:pic>
                      <p:nvPicPr>
                        <p:cNvPr id="7784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5963" y="3829050"/>
                          <a:ext cx="51435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8" name="Object 24"/>
            <p:cNvGraphicFramePr>
              <a:graphicFrameLocks noChangeAspect="1"/>
            </p:cNvGraphicFramePr>
            <p:nvPr/>
          </p:nvGraphicFramePr>
          <p:xfrm>
            <a:off x="2097088" y="4070350"/>
            <a:ext cx="280987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4" name="公式" r:id="rId45" imgW="241200" imgH="228600" progId="Equation.3">
                    <p:embed/>
                  </p:oleObj>
                </mc:Choice>
                <mc:Fallback>
                  <p:oleObj name="公式" r:id="rId45" imgW="241200" imgH="228600" progId="Equation.3">
                    <p:embed/>
                    <p:pic>
                      <p:nvPicPr>
                        <p:cNvPr id="7784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7088" y="4070350"/>
                          <a:ext cx="280987" cy="265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/>
          <p:cNvGrpSpPr/>
          <p:nvPr/>
        </p:nvGrpSpPr>
        <p:grpSpPr>
          <a:xfrm>
            <a:off x="2592388" y="3406140"/>
            <a:ext cx="485775" cy="479425"/>
            <a:chOff x="2592388" y="3848100"/>
            <a:chExt cx="485775" cy="479425"/>
          </a:xfrm>
        </p:grpSpPr>
        <p:graphicFrame>
          <p:nvGraphicFramePr>
            <p:cNvPr id="77846" name="Object 22"/>
            <p:cNvGraphicFramePr>
              <a:graphicFrameLocks noChangeAspect="1"/>
            </p:cNvGraphicFramePr>
            <p:nvPr/>
          </p:nvGraphicFramePr>
          <p:xfrm>
            <a:off x="2592388" y="3848100"/>
            <a:ext cx="485775" cy="188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5" name="公式" r:id="rId47" imgW="457200" imgH="177480" progId="Equation.3">
                    <p:embed/>
                  </p:oleObj>
                </mc:Choice>
                <mc:Fallback>
                  <p:oleObj name="公式" r:id="rId47" imgW="457200" imgH="177480" progId="Equation.3">
                    <p:embed/>
                    <p:pic>
                      <p:nvPicPr>
                        <p:cNvPr id="77846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388" y="3848100"/>
                          <a:ext cx="485775" cy="1889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49" name="Object 25"/>
            <p:cNvGraphicFramePr>
              <a:graphicFrameLocks noChangeAspect="1"/>
            </p:cNvGraphicFramePr>
            <p:nvPr/>
          </p:nvGraphicFramePr>
          <p:xfrm>
            <a:off x="2668588" y="4060825"/>
            <a:ext cx="28098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6" name="公式" r:id="rId49" imgW="241200" imgH="228600" progId="Equation.3">
                    <p:embed/>
                  </p:oleObj>
                </mc:Choice>
                <mc:Fallback>
                  <p:oleObj name="公式" r:id="rId49" imgW="241200" imgH="228600" progId="Equation.3">
                    <p:embed/>
                    <p:pic>
                      <p:nvPicPr>
                        <p:cNvPr id="77849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8588" y="4060825"/>
                          <a:ext cx="28098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/>
        </p:nvGrpSpPr>
        <p:grpSpPr>
          <a:xfrm>
            <a:off x="3173413" y="3387090"/>
            <a:ext cx="501650" cy="498475"/>
            <a:chOff x="3173413" y="3829050"/>
            <a:chExt cx="501650" cy="498475"/>
          </a:xfrm>
        </p:grpSpPr>
        <p:graphicFrame>
          <p:nvGraphicFramePr>
            <p:cNvPr id="77847" name="Object 23"/>
            <p:cNvGraphicFramePr>
              <a:graphicFrameLocks noChangeAspect="1"/>
            </p:cNvGraphicFramePr>
            <p:nvPr/>
          </p:nvGraphicFramePr>
          <p:xfrm>
            <a:off x="3173413" y="3829050"/>
            <a:ext cx="50165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7" name="公式" r:id="rId51" imgW="469800" imgH="203040" progId="Equation.3">
                    <p:embed/>
                  </p:oleObj>
                </mc:Choice>
                <mc:Fallback>
                  <p:oleObj name="公式" r:id="rId51" imgW="469800" imgH="203040" progId="Equation.3">
                    <p:embed/>
                    <p:pic>
                      <p:nvPicPr>
                        <p:cNvPr id="778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3413" y="3829050"/>
                          <a:ext cx="50165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50" name="Object 26"/>
            <p:cNvGraphicFramePr>
              <a:graphicFrameLocks noChangeAspect="1"/>
            </p:cNvGraphicFramePr>
            <p:nvPr/>
          </p:nvGraphicFramePr>
          <p:xfrm>
            <a:off x="3246438" y="4075113"/>
            <a:ext cx="280987" cy="25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8" name="公式" r:id="rId53" imgW="241200" imgH="215640" progId="Equation.3">
                    <p:embed/>
                  </p:oleObj>
                </mc:Choice>
                <mc:Fallback>
                  <p:oleObj name="公式" r:id="rId53" imgW="241200" imgH="215640" progId="Equation.3">
                    <p:embed/>
                    <p:pic>
                      <p:nvPicPr>
                        <p:cNvPr id="7785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6438" y="4075113"/>
                          <a:ext cx="280987" cy="2524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/>
          <p:cNvGrpSpPr/>
          <p:nvPr/>
        </p:nvGrpSpPr>
        <p:grpSpPr>
          <a:xfrm>
            <a:off x="1363663" y="3939540"/>
            <a:ext cx="542925" cy="498475"/>
            <a:chOff x="1363663" y="4381500"/>
            <a:chExt cx="542925" cy="498475"/>
          </a:xfrm>
        </p:grpSpPr>
        <p:graphicFrame>
          <p:nvGraphicFramePr>
            <p:cNvPr id="77851" name="Object 27"/>
            <p:cNvGraphicFramePr>
              <a:graphicFrameLocks noChangeAspect="1"/>
            </p:cNvGraphicFramePr>
            <p:nvPr/>
          </p:nvGraphicFramePr>
          <p:xfrm>
            <a:off x="1363663" y="4381500"/>
            <a:ext cx="542925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49" name="公式" r:id="rId55" imgW="507960" imgH="203040" progId="Equation.3">
                    <p:embed/>
                  </p:oleObj>
                </mc:Choice>
                <mc:Fallback>
                  <p:oleObj name="公式" r:id="rId55" imgW="507960" imgH="203040" progId="Equation.3">
                    <p:embed/>
                    <p:pic>
                      <p:nvPicPr>
                        <p:cNvPr id="7785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3663" y="4381500"/>
                          <a:ext cx="542925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52" name="Object 28"/>
            <p:cNvGraphicFramePr>
              <a:graphicFrameLocks noChangeAspect="1"/>
            </p:cNvGraphicFramePr>
            <p:nvPr/>
          </p:nvGraphicFramePr>
          <p:xfrm>
            <a:off x="1528763" y="4613275"/>
            <a:ext cx="236537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0" name="公式" r:id="rId57" imgW="203040" imgH="228600" progId="Equation.3">
                    <p:embed/>
                  </p:oleObj>
                </mc:Choice>
                <mc:Fallback>
                  <p:oleObj name="公式" r:id="rId57" imgW="203040" imgH="228600" progId="Equation.3">
                    <p:embed/>
                    <p:pic>
                      <p:nvPicPr>
                        <p:cNvPr id="77852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8763" y="4613275"/>
                          <a:ext cx="236537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1960563" y="3939540"/>
            <a:ext cx="528637" cy="506413"/>
            <a:chOff x="1960563" y="4381500"/>
            <a:chExt cx="528637" cy="506413"/>
          </a:xfrm>
        </p:grpSpPr>
        <p:graphicFrame>
          <p:nvGraphicFramePr>
            <p:cNvPr id="77853" name="Object 29"/>
            <p:cNvGraphicFramePr>
              <a:graphicFrameLocks noChangeAspect="1"/>
            </p:cNvGraphicFramePr>
            <p:nvPr/>
          </p:nvGraphicFramePr>
          <p:xfrm>
            <a:off x="1960563" y="4381500"/>
            <a:ext cx="528637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1" name="公式" r:id="rId59" imgW="495000" imgH="203040" progId="Equation.3">
                    <p:embed/>
                  </p:oleObj>
                </mc:Choice>
                <mc:Fallback>
                  <p:oleObj name="公式" r:id="rId59" imgW="495000" imgH="203040" progId="Equation.3">
                    <p:embed/>
                    <p:pic>
                      <p:nvPicPr>
                        <p:cNvPr id="77853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0563" y="4381500"/>
                          <a:ext cx="528637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56" name="Object 32"/>
            <p:cNvGraphicFramePr>
              <a:graphicFrameLocks noChangeAspect="1"/>
            </p:cNvGraphicFramePr>
            <p:nvPr/>
          </p:nvGraphicFramePr>
          <p:xfrm>
            <a:off x="2098675" y="4622800"/>
            <a:ext cx="238125" cy="265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2" name="公式" r:id="rId61" imgW="203040" imgH="228600" progId="Equation.3">
                    <p:embed/>
                  </p:oleObj>
                </mc:Choice>
                <mc:Fallback>
                  <p:oleObj name="公式" r:id="rId61" imgW="203040" imgH="228600" progId="Equation.3">
                    <p:embed/>
                    <p:pic>
                      <p:nvPicPr>
                        <p:cNvPr id="7785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675" y="4622800"/>
                          <a:ext cx="238125" cy="265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/>
          <p:cNvGrpSpPr/>
          <p:nvPr/>
        </p:nvGrpSpPr>
        <p:grpSpPr>
          <a:xfrm>
            <a:off x="2565400" y="3939540"/>
            <a:ext cx="500063" cy="490538"/>
            <a:chOff x="2565400" y="4381500"/>
            <a:chExt cx="500063" cy="490538"/>
          </a:xfrm>
        </p:grpSpPr>
        <p:graphicFrame>
          <p:nvGraphicFramePr>
            <p:cNvPr id="77854" name="Object 30"/>
            <p:cNvGraphicFramePr>
              <a:graphicFrameLocks noChangeAspect="1"/>
            </p:cNvGraphicFramePr>
            <p:nvPr/>
          </p:nvGraphicFramePr>
          <p:xfrm>
            <a:off x="2565400" y="4381500"/>
            <a:ext cx="500063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3" name="公式" r:id="rId63" imgW="469800" imgH="203040" progId="Equation.3">
                    <p:embed/>
                  </p:oleObj>
                </mc:Choice>
                <mc:Fallback>
                  <p:oleObj name="公式" r:id="rId63" imgW="469800" imgH="203040" progId="Equation.3">
                    <p:embed/>
                    <p:pic>
                      <p:nvPicPr>
                        <p:cNvPr id="7785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400" y="4381500"/>
                          <a:ext cx="500063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57" name="Object 33"/>
            <p:cNvGraphicFramePr>
              <a:graphicFrameLocks noChangeAspect="1"/>
            </p:cNvGraphicFramePr>
            <p:nvPr/>
          </p:nvGraphicFramePr>
          <p:xfrm>
            <a:off x="2657475" y="4621213"/>
            <a:ext cx="266700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4" name="公式" r:id="rId65" imgW="228600" imgH="215640" progId="Equation.3">
                    <p:embed/>
                  </p:oleObj>
                </mc:Choice>
                <mc:Fallback>
                  <p:oleObj name="公式" r:id="rId65" imgW="228600" imgH="215640" progId="Equation.3">
                    <p:embed/>
                    <p:pic>
                      <p:nvPicPr>
                        <p:cNvPr id="77857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7475" y="4621213"/>
                          <a:ext cx="266700" cy="250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/>
          <p:cNvGrpSpPr/>
          <p:nvPr/>
        </p:nvGrpSpPr>
        <p:grpSpPr>
          <a:xfrm>
            <a:off x="3148013" y="3939540"/>
            <a:ext cx="515937" cy="506413"/>
            <a:chOff x="3148013" y="4381500"/>
            <a:chExt cx="515937" cy="506413"/>
          </a:xfrm>
        </p:grpSpPr>
        <p:graphicFrame>
          <p:nvGraphicFramePr>
            <p:cNvPr id="77855" name="Object 31"/>
            <p:cNvGraphicFramePr>
              <a:graphicFrameLocks noChangeAspect="1"/>
            </p:cNvGraphicFramePr>
            <p:nvPr/>
          </p:nvGraphicFramePr>
          <p:xfrm>
            <a:off x="3148013" y="4381500"/>
            <a:ext cx="515937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5" name="公式" r:id="rId67" imgW="482400" imgH="203040" progId="Equation.3">
                    <p:embed/>
                  </p:oleObj>
                </mc:Choice>
                <mc:Fallback>
                  <p:oleObj name="公式" r:id="rId67" imgW="482400" imgH="203040" progId="Equation.3">
                    <p:embed/>
                    <p:pic>
                      <p:nvPicPr>
                        <p:cNvPr id="77855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8013" y="4381500"/>
                          <a:ext cx="515937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58" name="Object 34"/>
            <p:cNvGraphicFramePr>
              <a:graphicFrameLocks noChangeAspect="1"/>
            </p:cNvGraphicFramePr>
            <p:nvPr/>
          </p:nvGraphicFramePr>
          <p:xfrm>
            <a:off x="3227388" y="4619625"/>
            <a:ext cx="280987" cy="268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56" name="公式" r:id="rId69" imgW="241200" imgH="228600" progId="Equation.3">
                    <p:embed/>
                  </p:oleObj>
                </mc:Choice>
                <mc:Fallback>
                  <p:oleObj name="公式" r:id="rId69" imgW="241200" imgH="228600" progId="Equation.3">
                    <p:embed/>
                    <p:pic>
                      <p:nvPicPr>
                        <p:cNvPr id="7785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7388" y="4619625"/>
                          <a:ext cx="280987" cy="268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0"/>
                            </p:stCondLst>
                            <p:childTnLst>
                              <p:par>
                                <p:cTn id="6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0"/>
                            </p:stCondLst>
                            <p:childTnLst>
                              <p:par>
                                <p:cTn id="6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000"/>
                            </p:stCondLst>
                            <p:childTnLst>
                              <p:par>
                                <p:cTn id="7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000"/>
                            </p:stCondLst>
                            <p:childTnLst>
                              <p:par>
                                <p:cTn id="7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4000"/>
                            </p:stCondLst>
                            <p:childTnLst>
                              <p:par>
                                <p:cTn id="8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0"/>
                            </p:stCondLst>
                            <p:childTnLst>
                              <p:par>
                                <p:cTn id="8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、用卡诺图表示逻辑函数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507368" y="1325591"/>
            <a:ext cx="3016882" cy="396000"/>
            <a:chOff x="358461" y="2491451"/>
            <a:chExt cx="3016882" cy="3960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8" y="2491452"/>
              <a:ext cx="2553015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从逻辑表达式到卡诺图</a:t>
              </a:r>
              <a:r>
                <a:rPr lang="zh-CN" altLang="en-US" b="1" dirty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endPara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396000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485775" y="1812362"/>
            <a:ext cx="7924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2925" indent="-542925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）如果逻辑表达式为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最小项表达式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，将函数式中出现的最小项在卡诺图对应的方格填入“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”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，没出现的最小项则在对应的小方格中填入“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”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 </a:t>
            </a:r>
          </a:p>
        </p:txBody>
      </p: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631825" y="2586048"/>
            <a:ext cx="5816600" cy="342901"/>
            <a:chOff x="657" y="1632"/>
            <a:chExt cx="3664" cy="216"/>
          </a:xfrm>
        </p:grpSpPr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657" y="1635"/>
              <a:ext cx="174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例： </a:t>
              </a:r>
              <a:r>
                <a:rPr lang="zh-CN" altLang="en-US" sz="16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用卡诺图表示逻辑函数 </a:t>
              </a:r>
            </a:p>
          </p:txBody>
        </p:sp>
        <p:graphicFrame>
          <p:nvGraphicFramePr>
            <p:cNvPr id="14" name="Object 7"/>
            <p:cNvGraphicFramePr>
              <a:graphicFrameLocks noChangeAspect="1"/>
            </p:cNvGraphicFramePr>
            <p:nvPr/>
          </p:nvGraphicFramePr>
          <p:xfrm>
            <a:off x="2337" y="1632"/>
            <a:ext cx="1984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68" name="公式" r:id="rId4" imgW="1752600" imgH="203200" progId="Equation.3">
                    <p:embed/>
                  </p:oleObj>
                </mc:Choice>
                <mc:Fallback>
                  <p:oleObj name="公式" r:id="rId4" imgW="1752600" imgH="203200" progId="Equation.3">
                    <p:embed/>
                    <p:pic>
                      <p:nvPicPr>
                        <p:cNvPr id="1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1632"/>
                          <a:ext cx="1984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2"/>
          <p:cNvGrpSpPr>
            <a:grpSpLocks/>
          </p:cNvGrpSpPr>
          <p:nvPr/>
        </p:nvGrpSpPr>
        <p:grpSpPr bwMode="auto">
          <a:xfrm>
            <a:off x="631825" y="3289102"/>
            <a:ext cx="7696200" cy="838200"/>
            <a:chOff x="428" y="1560"/>
            <a:chExt cx="4848" cy="528"/>
          </a:xfrm>
        </p:grpSpPr>
        <p:graphicFrame>
          <p:nvGraphicFramePr>
            <p:cNvPr id="19" name="Object 10"/>
            <p:cNvGraphicFramePr>
              <a:graphicFrameLocks noChangeAspect="1"/>
            </p:cNvGraphicFramePr>
            <p:nvPr/>
          </p:nvGraphicFramePr>
          <p:xfrm>
            <a:off x="726" y="1725"/>
            <a:ext cx="15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69" name="公式" r:id="rId6" imgW="2171520" imgH="241200" progId="Equation.3">
                    <p:embed/>
                  </p:oleObj>
                </mc:Choice>
                <mc:Fallback>
                  <p:oleObj name="公式" r:id="rId6" imgW="2171520" imgH="241200" progId="Equation.3">
                    <p:embed/>
                    <p:pic>
                      <p:nvPicPr>
                        <p:cNvPr id="1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1725"/>
                          <a:ext cx="1512" cy="1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28" y="1560"/>
              <a:ext cx="4848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解：</a:t>
              </a:r>
              <a:r>
                <a:rPr lang="zh-CN" altLang="en-US" sz="16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变换为简化形式：</a:t>
              </a:r>
              <a:r>
                <a:rPr lang="zh-CN" altLang="en-US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/>
              </a:r>
              <a:br>
                <a:rPr lang="zh-CN" altLang="en-US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</a:br>
              <a:r>
                <a:rPr lang="zh-CN" altLang="en-US" sz="16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     </a:t>
              </a:r>
              <a:endPara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     然后填入卡诺图：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112667" y="3137802"/>
            <a:ext cx="2916907" cy="1805673"/>
            <a:chOff x="5259352" y="2918727"/>
            <a:chExt cx="2916907" cy="1805673"/>
          </a:xfrm>
        </p:grpSpPr>
        <p:graphicFrame>
          <p:nvGraphicFramePr>
            <p:cNvPr id="22" name="Object 8"/>
            <p:cNvGraphicFramePr>
              <a:graphicFrameLocks noChangeAspect="1"/>
            </p:cNvGraphicFramePr>
            <p:nvPr/>
          </p:nvGraphicFramePr>
          <p:xfrm>
            <a:off x="5322888" y="2998788"/>
            <a:ext cx="2841625" cy="155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70" name="Visio" r:id="rId8" imgW="1591773" imgH="882818" progId="Visio.Drawing.11">
                    <p:embed/>
                  </p:oleObj>
                </mc:Choice>
                <mc:Fallback>
                  <p:oleObj name="Visio" r:id="rId8" imgW="1591773" imgH="882818" progId="Visio.Drawing.11">
                    <p:embed/>
                    <p:pic>
                      <p:nvPicPr>
                        <p:cNvPr id="2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2888" y="2998788"/>
                          <a:ext cx="2841625" cy="155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圆角矩形 22"/>
            <p:cNvSpPr/>
            <p:nvPr/>
          </p:nvSpPr>
          <p:spPr>
            <a:xfrm>
              <a:off x="5259352" y="2918727"/>
              <a:ext cx="2916907" cy="1805673"/>
            </a:xfrm>
            <a:prstGeom prst="roundRect">
              <a:avLst>
                <a:gd name="adj" fmla="val 9776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AutoShape 134"/>
          <p:cNvSpPr>
            <a:spLocks noChangeArrowheads="1"/>
          </p:cNvSpPr>
          <p:nvPr/>
        </p:nvSpPr>
        <p:spPr bwMode="auto">
          <a:xfrm>
            <a:off x="4022531" y="3548820"/>
            <a:ext cx="1052830" cy="549910"/>
          </a:xfrm>
          <a:prstGeom prst="wedgeRoundRectCallout">
            <a:avLst>
              <a:gd name="adj1" fmla="val 69527"/>
              <a:gd name="adj2" fmla="val -54543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表示逻辑函数</a:t>
            </a:r>
            <a:r>
              <a:rPr lang="en-US" altLang="zh-CN" sz="1600" i="1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F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5924550" y="3819525"/>
            <a:ext cx="1817257" cy="784027"/>
            <a:chOff x="5934075" y="3876675"/>
            <a:chExt cx="1817257" cy="784027"/>
          </a:xfrm>
        </p:grpSpPr>
        <p:sp>
          <p:nvSpPr>
            <p:cNvPr id="25" name="TextBox 24"/>
            <p:cNvSpPr txBox="1"/>
            <p:nvPr/>
          </p:nvSpPr>
          <p:spPr>
            <a:xfrm>
              <a:off x="5934075" y="3876675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0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53250" y="3886200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20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67600" y="4343400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20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34200" y="4352925"/>
              <a:ext cx="283732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en-US" altLang="zh-CN" sz="20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  <a:endParaRPr lang="zh-CN" altLang="en-US" sz="20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972175" y="3857625"/>
            <a:ext cx="1680815" cy="784027"/>
            <a:chOff x="5934075" y="3876675"/>
            <a:chExt cx="1680815" cy="784027"/>
          </a:xfrm>
        </p:grpSpPr>
        <p:sp>
          <p:nvSpPr>
            <p:cNvPr id="31" name="TextBox 30"/>
            <p:cNvSpPr txBox="1"/>
            <p:nvPr/>
          </p:nvSpPr>
          <p:spPr>
            <a:xfrm>
              <a:off x="5934075" y="3876675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000" b="1" baseline="-25000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53250" y="388620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000" b="1" baseline="-25000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86650" y="434340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000" b="1" baseline="-25000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953250" y="4352925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solidFill>
                    <a:srgbClr val="6600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000" b="1" baseline="-25000" dirty="0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991225" y="3876675"/>
            <a:ext cx="1652240" cy="774502"/>
            <a:chOff x="5991225" y="3876675"/>
            <a:chExt cx="1652240" cy="774502"/>
          </a:xfrm>
        </p:grpSpPr>
        <p:sp>
          <p:nvSpPr>
            <p:cNvPr id="35" name="TextBox 34"/>
            <p:cNvSpPr txBox="1"/>
            <p:nvPr/>
          </p:nvSpPr>
          <p:spPr>
            <a:xfrm>
              <a:off x="6505575" y="3876675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0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515225" y="3876675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0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991225" y="434340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0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05575" y="4343400"/>
              <a:ext cx="12824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0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xmlns="" id="{DF0FF6A1-E21A-46E1-A110-EDB3DC1249C0}"/>
              </a:ext>
            </a:extLst>
          </p:cNvPr>
          <p:cNvGrpSpPr/>
          <p:nvPr/>
        </p:nvGrpSpPr>
        <p:grpSpPr>
          <a:xfrm>
            <a:off x="562293" y="2949282"/>
            <a:ext cx="4368800" cy="710705"/>
            <a:chOff x="562293" y="2949282"/>
            <a:chExt cx="4368800" cy="710705"/>
          </a:xfrm>
        </p:grpSpPr>
        <p:sp>
          <p:nvSpPr>
            <p:cNvPr id="48" name="Rectangle 6">
              <a:extLst>
                <a:ext uri="{FF2B5EF4-FFF2-40B4-BE49-F238E27FC236}">
                  <a16:creationId xmlns:a16="http://schemas.microsoft.com/office/drawing/2014/main" xmlns="" id="{10AB2CAB-FBBC-4396-AA0C-FF10EB3D2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3" y="2949282"/>
              <a:ext cx="4368800" cy="338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例：</a:t>
              </a:r>
              <a:r>
                <a:rPr lang="zh-CN" altLang="en-US" sz="16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用卡诺图表示逻辑函数</a:t>
              </a: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xmlns="" id="{CA4F0107-6183-46A7-8A3D-DB2913BB70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9226" y="3288512"/>
            <a:ext cx="229552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886" name="公式" r:id="rId3" imgW="1333440" imgH="215640" progId="Equation.3">
                    <p:embed/>
                  </p:oleObj>
                </mc:Choice>
                <mc:Fallback>
                  <p:oleObj name="公式" r:id="rId3" imgW="1333440" imgH="215640" progId="Equation.3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xmlns="" id="{CA4F0107-6183-46A7-8A3D-DB2913BB70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9226" y="3288512"/>
                          <a:ext cx="2295525" cy="3714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Rectangle 4">
            <a:extLst>
              <a:ext uri="{FF2B5EF4-FFF2-40B4-BE49-F238E27FC236}">
                <a16:creationId xmlns:a16="http://schemas.microsoft.com/office/drawing/2014/main" xmlns="" id="{015687DA-0556-4F23-B329-29103969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3" y="1825625"/>
            <a:ext cx="8063547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41338" indent="-541338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）如果逻辑表达式为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非最小项表达式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，可将其先化成最小项表达式，再填入卡诺图。但若为“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与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—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或表达式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”，也可直接填入，方法：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分别找出每一个与项所包含的所有小方格，填入“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1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”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，其余填“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0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”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 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0BE8510E-617A-46DC-B660-1B4DB64BBD8D}"/>
              </a:ext>
            </a:extLst>
          </p:cNvPr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xmlns="" id="{5E2CE736-3E06-40C3-86B2-FCDB42376E23}"/>
                </a:ext>
              </a:extLst>
            </p:cNvPr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、用卡诺图表示逻辑函数</a:t>
              </a:r>
            </a:p>
          </p:txBody>
        </p:sp>
        <p:pic>
          <p:nvPicPr>
            <p:cNvPr id="53" name="Picture 3">
              <a:extLst>
                <a:ext uri="{FF2B5EF4-FFF2-40B4-BE49-F238E27FC236}">
                  <a16:creationId xmlns:a16="http://schemas.microsoft.com/office/drawing/2014/main" xmlns="" id="{5F578DA4-10FC-463C-AFCA-BA3F82DC7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xmlns="" id="{1FE90771-79EE-4A99-8BED-8C90A057D5D9}"/>
              </a:ext>
            </a:extLst>
          </p:cNvPr>
          <p:cNvGrpSpPr/>
          <p:nvPr/>
        </p:nvGrpSpPr>
        <p:grpSpPr>
          <a:xfrm>
            <a:off x="507368" y="1325591"/>
            <a:ext cx="3016882" cy="396000"/>
            <a:chOff x="358461" y="2491451"/>
            <a:chExt cx="3016882" cy="39600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xmlns="" id="{F881AA09-D661-427F-B66D-09973F28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8" y="2491452"/>
              <a:ext cx="2553015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从逻辑表达式到卡诺图</a:t>
              </a:r>
              <a:r>
                <a:rPr lang="zh-CN" altLang="en-US" b="1" dirty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endPara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xmlns="" id="{E5D766B9-54F8-411C-8539-C1640A24C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396000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xmlns="" id="{1433F1A2-8E79-45F2-BBE4-AEE420D543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xmlns="" id="{BFD83980-CEDC-48DD-BE9D-AA9D7F803C59}"/>
              </a:ext>
            </a:extLst>
          </p:cNvPr>
          <p:cNvGrpSpPr/>
          <p:nvPr/>
        </p:nvGrpSpPr>
        <p:grpSpPr>
          <a:xfrm>
            <a:off x="5489573" y="2867660"/>
            <a:ext cx="2582862" cy="2339340"/>
            <a:chOff x="5014593" y="2865120"/>
            <a:chExt cx="2582862" cy="2339340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xmlns="" id="{39628BF9-2946-40A8-8FDF-47EF3F3FCAA9}"/>
                </a:ext>
              </a:extLst>
            </p:cNvPr>
            <p:cNvGrpSpPr/>
            <p:nvPr/>
          </p:nvGrpSpPr>
          <p:grpSpPr>
            <a:xfrm>
              <a:off x="5014593" y="2865120"/>
              <a:ext cx="2582862" cy="2339340"/>
              <a:chOff x="5340025" y="2945905"/>
              <a:chExt cx="2284470" cy="1984558"/>
            </a:xfrm>
          </p:grpSpPr>
          <p:graphicFrame>
            <p:nvGraphicFramePr>
              <p:cNvPr id="70" name="Object 8">
                <a:extLst>
                  <a:ext uri="{FF2B5EF4-FFF2-40B4-BE49-F238E27FC236}">
                    <a16:creationId xmlns:a16="http://schemas.microsoft.com/office/drawing/2014/main" xmlns="" id="{8A6ADD36-0896-47B2-A3C8-F6A28AD7871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40025" y="2984422"/>
              <a:ext cx="2284470" cy="19393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887" name="Visio" r:id="rId6" imgW="2160494" imgH="1793952" progId="Visio.Drawing.11">
                      <p:embed/>
                    </p:oleObj>
                  </mc:Choice>
                  <mc:Fallback>
                    <p:oleObj name="Visio" r:id="rId6" imgW="2160494" imgH="1793952" progId="Visio.Drawing.11">
                      <p:embed/>
                      <p:pic>
                        <p:nvPicPr>
                          <p:cNvPr id="70" name="Object 8">
                            <a:extLst>
                              <a:ext uri="{FF2B5EF4-FFF2-40B4-BE49-F238E27FC236}">
                                <a16:creationId xmlns:a16="http://schemas.microsoft.com/office/drawing/2014/main" xmlns="" id="{8A6ADD36-0896-47B2-A3C8-F6A28AD787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0025" y="2984422"/>
                            <a:ext cx="2284470" cy="193930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" name="圆角矩形 20">
                <a:extLst>
                  <a:ext uri="{FF2B5EF4-FFF2-40B4-BE49-F238E27FC236}">
                    <a16:creationId xmlns:a16="http://schemas.microsoft.com/office/drawing/2014/main" xmlns="" id="{FF9E8CC6-33FD-489B-AEC9-D8D0C99D8954}"/>
                  </a:ext>
                </a:extLst>
              </p:cNvPr>
              <p:cNvSpPr/>
              <p:nvPr/>
            </p:nvSpPr>
            <p:spPr>
              <a:xfrm>
                <a:off x="5400121" y="2945905"/>
                <a:ext cx="2156698" cy="1984558"/>
              </a:xfrm>
              <a:prstGeom prst="roundRect">
                <a:avLst>
                  <a:gd name="adj" fmla="val 4454"/>
                </a:avLst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xmlns="" id="{50CDE673-C00D-4EC3-B25F-00AEE5F3655F}"/>
                </a:ext>
              </a:extLst>
            </p:cNvPr>
            <p:cNvGrpSpPr/>
            <p:nvPr/>
          </p:nvGrpSpPr>
          <p:grpSpPr>
            <a:xfrm>
              <a:off x="5596890" y="3119120"/>
              <a:ext cx="1647190" cy="215444"/>
              <a:chOff x="1250950" y="3670300"/>
              <a:chExt cx="1647190" cy="215444"/>
            </a:xfrm>
          </p:grpSpPr>
          <p:sp>
            <p:nvSpPr>
              <p:cNvPr id="66" name="TextBox 71">
                <a:extLst>
                  <a:ext uri="{FF2B5EF4-FFF2-40B4-BE49-F238E27FC236}">
                    <a16:creationId xmlns:a16="http://schemas.microsoft.com/office/drawing/2014/main" xmlns="" id="{8A8D0AAF-E4ED-4236-9EAD-6BE59D7077E1}"/>
                  </a:ext>
                </a:extLst>
              </p:cNvPr>
              <p:cNvSpPr txBox="1"/>
              <p:nvPr/>
            </p:nvSpPr>
            <p:spPr>
              <a:xfrm>
                <a:off x="125095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00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TextBox 72">
                <a:extLst>
                  <a:ext uri="{FF2B5EF4-FFF2-40B4-BE49-F238E27FC236}">
                    <a16:creationId xmlns:a16="http://schemas.microsoft.com/office/drawing/2014/main" xmlns="" id="{F3BD399A-CCCB-4027-8061-636334E09947}"/>
                  </a:ext>
                </a:extLst>
              </p:cNvPr>
              <p:cNvSpPr txBox="1"/>
              <p:nvPr/>
            </p:nvSpPr>
            <p:spPr>
              <a:xfrm>
                <a:off x="1723813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01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TextBox 73">
                <a:extLst>
                  <a:ext uri="{FF2B5EF4-FFF2-40B4-BE49-F238E27FC236}">
                    <a16:creationId xmlns:a16="http://schemas.microsoft.com/office/drawing/2014/main" xmlns="" id="{D1E22D35-089F-4BDB-B872-1B0974C91635}"/>
                  </a:ext>
                </a:extLst>
              </p:cNvPr>
              <p:cNvSpPr txBox="1"/>
              <p:nvPr/>
            </p:nvSpPr>
            <p:spPr>
              <a:xfrm>
                <a:off x="2196676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11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TextBox 74">
                <a:extLst>
                  <a:ext uri="{FF2B5EF4-FFF2-40B4-BE49-F238E27FC236}">
                    <a16:creationId xmlns:a16="http://schemas.microsoft.com/office/drawing/2014/main" xmlns="" id="{85C16814-9CF8-42AF-BD48-8926B6640F3D}"/>
                  </a:ext>
                </a:extLst>
              </p:cNvPr>
              <p:cNvSpPr txBox="1"/>
              <p:nvPr/>
            </p:nvSpPr>
            <p:spPr>
              <a:xfrm>
                <a:off x="266954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10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xmlns="" id="{2FBFD20B-C656-45E5-B8A7-2E035403D4B9}"/>
                </a:ext>
              </a:extLst>
            </p:cNvPr>
            <p:cNvGrpSpPr/>
            <p:nvPr/>
          </p:nvGrpSpPr>
          <p:grpSpPr>
            <a:xfrm>
              <a:off x="5229860" y="3409950"/>
              <a:ext cx="228600" cy="1585774"/>
              <a:chOff x="1250950" y="3670300"/>
              <a:chExt cx="228600" cy="1585774"/>
            </a:xfrm>
          </p:grpSpPr>
          <p:sp>
            <p:nvSpPr>
              <p:cNvPr id="62" name="TextBox 76">
                <a:extLst>
                  <a:ext uri="{FF2B5EF4-FFF2-40B4-BE49-F238E27FC236}">
                    <a16:creationId xmlns:a16="http://schemas.microsoft.com/office/drawing/2014/main" xmlns="" id="{8FCA7693-B0E6-4AB4-8AAB-CBB09676EAD3}"/>
                  </a:ext>
                </a:extLst>
              </p:cNvPr>
              <p:cNvSpPr txBox="1"/>
              <p:nvPr/>
            </p:nvSpPr>
            <p:spPr>
              <a:xfrm>
                <a:off x="1250950" y="367030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00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TextBox 77">
                <a:extLst>
                  <a:ext uri="{FF2B5EF4-FFF2-40B4-BE49-F238E27FC236}">
                    <a16:creationId xmlns:a16="http://schemas.microsoft.com/office/drawing/2014/main" xmlns="" id="{00E45B90-BD6F-4C21-BFBF-6C349A991D42}"/>
                  </a:ext>
                </a:extLst>
              </p:cNvPr>
              <p:cNvSpPr txBox="1"/>
              <p:nvPr/>
            </p:nvSpPr>
            <p:spPr>
              <a:xfrm>
                <a:off x="1250950" y="4127077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01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TextBox 78">
                <a:extLst>
                  <a:ext uri="{FF2B5EF4-FFF2-40B4-BE49-F238E27FC236}">
                    <a16:creationId xmlns:a16="http://schemas.microsoft.com/office/drawing/2014/main" xmlns="" id="{6149F1A0-B711-467A-A5C3-7470CFE3ACB1}"/>
                  </a:ext>
                </a:extLst>
              </p:cNvPr>
              <p:cNvSpPr txBox="1"/>
              <p:nvPr/>
            </p:nvSpPr>
            <p:spPr>
              <a:xfrm>
                <a:off x="1250950" y="4583854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11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TextBox 79">
                <a:extLst>
                  <a:ext uri="{FF2B5EF4-FFF2-40B4-BE49-F238E27FC236}">
                    <a16:creationId xmlns:a16="http://schemas.microsoft.com/office/drawing/2014/main" xmlns="" id="{5197D4A4-1419-4C9C-9300-964AB4190D66}"/>
                  </a:ext>
                </a:extLst>
              </p:cNvPr>
              <p:cNvSpPr txBox="1"/>
              <p:nvPr/>
            </p:nvSpPr>
            <p:spPr>
              <a:xfrm>
                <a:off x="1250950" y="5040630"/>
                <a:ext cx="228600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Times New Roman" pitchFamily="18" charset="0"/>
                    <a:cs typeface="Times New Roman" pitchFamily="18" charset="0"/>
                  </a:rPr>
                  <a:t>10</a:t>
                </a:r>
                <a:endParaRPr lang="zh-CN" altLang="en-US" sz="1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103" name="圆角矩形 81">
            <a:extLst>
              <a:ext uri="{FF2B5EF4-FFF2-40B4-BE49-F238E27FC236}">
                <a16:creationId xmlns:a16="http://schemas.microsoft.com/office/drawing/2014/main" xmlns="" id="{5E26807D-912C-40CB-AB41-6511AE64867A}"/>
              </a:ext>
            </a:extLst>
          </p:cNvPr>
          <p:cNvSpPr/>
          <p:nvPr/>
        </p:nvSpPr>
        <p:spPr>
          <a:xfrm>
            <a:off x="5963920" y="4687577"/>
            <a:ext cx="1922780" cy="448310"/>
          </a:xfrm>
          <a:prstGeom prst="roundRect">
            <a:avLst>
              <a:gd name="adj" fmla="val 0"/>
            </a:avLst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r>
              <a:rPr lang="en-US" altLang="zh-CN" sz="1600" b="1" dirty="0">
                <a:solidFill>
                  <a:srgbClr val="CC00CC"/>
                </a:solidFill>
              </a:rPr>
              <a:t>  1         1        1        1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xmlns="" id="{E573E178-7426-45EF-B0C9-06353CEAC032}"/>
              </a:ext>
            </a:extLst>
          </p:cNvPr>
          <p:cNvGrpSpPr/>
          <p:nvPr/>
        </p:nvGrpSpPr>
        <p:grpSpPr>
          <a:xfrm>
            <a:off x="6026150" y="3352800"/>
            <a:ext cx="1768536" cy="1296432"/>
            <a:chOff x="5619750" y="3289300"/>
            <a:chExt cx="1768536" cy="1296432"/>
          </a:xfrm>
        </p:grpSpPr>
        <p:sp>
          <p:nvSpPr>
            <p:cNvPr id="105" name="TextBox 83">
              <a:extLst>
                <a:ext uri="{FF2B5EF4-FFF2-40B4-BE49-F238E27FC236}">
                  <a16:creationId xmlns:a16="http://schemas.microsoft.com/office/drawing/2014/main" xmlns="" id="{7DB79542-5294-49AD-9E08-9B628142FD7F}"/>
                </a:ext>
              </a:extLst>
            </p:cNvPr>
            <p:cNvSpPr txBox="1"/>
            <p:nvPr/>
          </p:nvSpPr>
          <p:spPr>
            <a:xfrm>
              <a:off x="5619750" y="32893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06" name="TextBox 84">
              <a:extLst>
                <a:ext uri="{FF2B5EF4-FFF2-40B4-BE49-F238E27FC236}">
                  <a16:creationId xmlns:a16="http://schemas.microsoft.com/office/drawing/2014/main" xmlns="" id="{F6E83415-2077-46B3-BCD0-DBD781330069}"/>
                </a:ext>
              </a:extLst>
            </p:cNvPr>
            <p:cNvSpPr txBox="1"/>
            <p:nvPr/>
          </p:nvSpPr>
          <p:spPr>
            <a:xfrm>
              <a:off x="6121400" y="32893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dirty="0"/>
            </a:p>
          </p:txBody>
        </p:sp>
        <p:sp>
          <p:nvSpPr>
            <p:cNvPr id="107" name="TextBox 85">
              <a:extLst>
                <a:ext uri="{FF2B5EF4-FFF2-40B4-BE49-F238E27FC236}">
                  <a16:creationId xmlns:a16="http://schemas.microsoft.com/office/drawing/2014/main" xmlns="" id="{C8F420B7-66E9-4C80-9182-3D5D105167EA}"/>
                </a:ext>
              </a:extLst>
            </p:cNvPr>
            <p:cNvSpPr txBox="1"/>
            <p:nvPr/>
          </p:nvSpPr>
          <p:spPr>
            <a:xfrm>
              <a:off x="6604000" y="32893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08" name="TextBox 86">
              <a:extLst>
                <a:ext uri="{FF2B5EF4-FFF2-40B4-BE49-F238E27FC236}">
                  <a16:creationId xmlns:a16="http://schemas.microsoft.com/office/drawing/2014/main" xmlns="" id="{AD068A28-8440-4F91-A083-0889D2F866DE}"/>
                </a:ext>
              </a:extLst>
            </p:cNvPr>
            <p:cNvSpPr txBox="1"/>
            <p:nvPr/>
          </p:nvSpPr>
          <p:spPr>
            <a:xfrm>
              <a:off x="7086600" y="32893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09" name="TextBox 87">
              <a:extLst>
                <a:ext uri="{FF2B5EF4-FFF2-40B4-BE49-F238E27FC236}">
                  <a16:creationId xmlns:a16="http://schemas.microsoft.com/office/drawing/2014/main" xmlns="" id="{52BB8DFA-4793-4132-8AF5-82FD7A720438}"/>
                </a:ext>
              </a:extLst>
            </p:cNvPr>
            <p:cNvSpPr txBox="1"/>
            <p:nvPr/>
          </p:nvSpPr>
          <p:spPr>
            <a:xfrm>
              <a:off x="5619750" y="37528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10" name="TextBox 88">
              <a:extLst>
                <a:ext uri="{FF2B5EF4-FFF2-40B4-BE49-F238E27FC236}">
                  <a16:creationId xmlns:a16="http://schemas.microsoft.com/office/drawing/2014/main" xmlns="" id="{FDDAF349-BD5A-444E-A228-5B8B3349B0DD}"/>
                </a:ext>
              </a:extLst>
            </p:cNvPr>
            <p:cNvSpPr txBox="1"/>
            <p:nvPr/>
          </p:nvSpPr>
          <p:spPr>
            <a:xfrm>
              <a:off x="5619750" y="4216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11" name="TextBox 89">
              <a:extLst>
                <a:ext uri="{FF2B5EF4-FFF2-40B4-BE49-F238E27FC236}">
                  <a16:creationId xmlns:a16="http://schemas.microsoft.com/office/drawing/2014/main" xmlns="" id="{8281B36A-BF1F-430E-BB6F-87C2D01D584B}"/>
                </a:ext>
              </a:extLst>
            </p:cNvPr>
            <p:cNvSpPr txBox="1"/>
            <p:nvPr/>
          </p:nvSpPr>
          <p:spPr>
            <a:xfrm>
              <a:off x="6604000" y="37528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12" name="TextBox 90">
              <a:extLst>
                <a:ext uri="{FF2B5EF4-FFF2-40B4-BE49-F238E27FC236}">
                  <a16:creationId xmlns:a16="http://schemas.microsoft.com/office/drawing/2014/main" xmlns="" id="{FED3153D-BF5E-4EB5-BB48-FE6DF6FF94BE}"/>
                </a:ext>
              </a:extLst>
            </p:cNvPr>
            <p:cNvSpPr txBox="1"/>
            <p:nvPr/>
          </p:nvSpPr>
          <p:spPr>
            <a:xfrm>
              <a:off x="7086600" y="375285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13" name="TextBox 91">
              <a:extLst>
                <a:ext uri="{FF2B5EF4-FFF2-40B4-BE49-F238E27FC236}">
                  <a16:creationId xmlns:a16="http://schemas.microsoft.com/office/drawing/2014/main" xmlns="" id="{689FC925-F6F7-4D61-BA84-CB05BEDC952D}"/>
                </a:ext>
              </a:extLst>
            </p:cNvPr>
            <p:cNvSpPr txBox="1"/>
            <p:nvPr/>
          </p:nvSpPr>
          <p:spPr>
            <a:xfrm>
              <a:off x="7086600" y="4216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14" name="TextBox 92">
              <a:extLst>
                <a:ext uri="{FF2B5EF4-FFF2-40B4-BE49-F238E27FC236}">
                  <a16:creationId xmlns:a16="http://schemas.microsoft.com/office/drawing/2014/main" xmlns="" id="{8749C2C8-C361-47A7-97E5-8BC114F3D1BE}"/>
                </a:ext>
              </a:extLst>
            </p:cNvPr>
            <p:cNvSpPr txBox="1"/>
            <p:nvPr/>
          </p:nvSpPr>
          <p:spPr>
            <a:xfrm>
              <a:off x="6604000" y="4216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xmlns="" id="{115E8F43-0BC0-4D7A-AB52-EFFC4FBA622B}"/>
              </a:ext>
            </a:extLst>
          </p:cNvPr>
          <p:cNvGrpSpPr/>
          <p:nvPr/>
        </p:nvGrpSpPr>
        <p:grpSpPr>
          <a:xfrm>
            <a:off x="2888389" y="3286084"/>
            <a:ext cx="3074261" cy="1622466"/>
            <a:chOff x="2888389" y="3286084"/>
            <a:chExt cx="3074261" cy="1622466"/>
          </a:xfrm>
        </p:grpSpPr>
        <p:sp>
          <p:nvSpPr>
            <p:cNvPr id="116" name="任意多边形 94">
              <a:extLst>
                <a:ext uri="{FF2B5EF4-FFF2-40B4-BE49-F238E27FC236}">
                  <a16:creationId xmlns:a16="http://schemas.microsoft.com/office/drawing/2014/main" xmlns="" id="{7F5A4C8B-115E-4ECD-A388-A8F92A2258A9}"/>
                </a:ext>
              </a:extLst>
            </p:cNvPr>
            <p:cNvSpPr/>
            <p:nvPr/>
          </p:nvSpPr>
          <p:spPr>
            <a:xfrm>
              <a:off x="3040743" y="3598206"/>
              <a:ext cx="2921907" cy="1310344"/>
            </a:xfrm>
            <a:custGeom>
              <a:avLst/>
              <a:gdLst>
                <a:gd name="connsiteX0" fmla="*/ 0 w 2095500"/>
                <a:gd name="connsiteY0" fmla="*/ 0 h 1708150"/>
                <a:gd name="connsiteX1" fmla="*/ 317500 w 2095500"/>
                <a:gd name="connsiteY1" fmla="*/ 1009650 h 1708150"/>
                <a:gd name="connsiteX2" fmla="*/ 946150 w 2095500"/>
                <a:gd name="connsiteY2" fmla="*/ 1504950 h 1708150"/>
                <a:gd name="connsiteX3" fmla="*/ 2095500 w 2095500"/>
                <a:gd name="connsiteY3" fmla="*/ 1708150 h 170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0" h="1708150">
                  <a:moveTo>
                    <a:pt x="0" y="0"/>
                  </a:moveTo>
                  <a:cubicBezTo>
                    <a:pt x="79904" y="379412"/>
                    <a:pt x="159808" y="758825"/>
                    <a:pt x="317500" y="1009650"/>
                  </a:cubicBezTo>
                  <a:cubicBezTo>
                    <a:pt x="475192" y="1260475"/>
                    <a:pt x="649817" y="1388533"/>
                    <a:pt x="946150" y="1504950"/>
                  </a:cubicBezTo>
                  <a:cubicBezTo>
                    <a:pt x="1242483" y="1621367"/>
                    <a:pt x="2095500" y="1708150"/>
                    <a:pt x="2095500" y="1708150"/>
                  </a:cubicBezTo>
                </a:path>
              </a:pathLst>
            </a:cu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圆角矩形 95">
              <a:extLst>
                <a:ext uri="{FF2B5EF4-FFF2-40B4-BE49-F238E27FC236}">
                  <a16:creationId xmlns:a16="http://schemas.microsoft.com/office/drawing/2014/main" xmlns="" id="{C99EF081-633A-488B-872B-EEE2012FEDC7}"/>
                </a:ext>
              </a:extLst>
            </p:cNvPr>
            <p:cNvSpPr/>
            <p:nvPr/>
          </p:nvSpPr>
          <p:spPr>
            <a:xfrm>
              <a:off x="2888389" y="3286084"/>
              <a:ext cx="363220" cy="285750"/>
            </a:xfrm>
            <a:prstGeom prst="roundRect">
              <a:avLst/>
            </a:prstGeom>
            <a:solidFill>
              <a:schemeClr val="accent1">
                <a:alpha val="2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xmlns="" id="{76E635FF-3FFC-4250-9615-56405104FE6D}"/>
              </a:ext>
            </a:extLst>
          </p:cNvPr>
          <p:cNvGrpSpPr/>
          <p:nvPr/>
        </p:nvGrpSpPr>
        <p:grpSpPr>
          <a:xfrm>
            <a:off x="3334159" y="3296492"/>
            <a:ext cx="3111091" cy="945308"/>
            <a:chOff x="3334159" y="3296492"/>
            <a:chExt cx="3111091" cy="945308"/>
          </a:xfrm>
        </p:grpSpPr>
        <p:sp>
          <p:nvSpPr>
            <p:cNvPr id="119" name="圆角矩形 97">
              <a:extLst>
                <a:ext uri="{FF2B5EF4-FFF2-40B4-BE49-F238E27FC236}">
                  <a16:creationId xmlns:a16="http://schemas.microsoft.com/office/drawing/2014/main" xmlns="" id="{DB902B78-FF20-4888-8F76-835E8A25C016}"/>
                </a:ext>
              </a:extLst>
            </p:cNvPr>
            <p:cNvSpPr/>
            <p:nvPr/>
          </p:nvSpPr>
          <p:spPr>
            <a:xfrm>
              <a:off x="3334159" y="3296492"/>
              <a:ext cx="430769" cy="283210"/>
            </a:xfrm>
            <a:prstGeom prst="roundRect">
              <a:avLst>
                <a:gd name="adj" fmla="val 15831"/>
              </a:avLst>
            </a:prstGeom>
            <a:solidFill>
              <a:srgbClr val="FF000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altLang="zh-CN" sz="1600" b="1" dirty="0">
                <a:solidFill>
                  <a:srgbClr val="CC00CC"/>
                </a:solidFill>
              </a:endParaRPr>
            </a:p>
          </p:txBody>
        </p:sp>
        <p:sp>
          <p:nvSpPr>
            <p:cNvPr id="120" name="任意多边形 98">
              <a:extLst>
                <a:ext uri="{FF2B5EF4-FFF2-40B4-BE49-F238E27FC236}">
                  <a16:creationId xmlns:a16="http://schemas.microsoft.com/office/drawing/2014/main" xmlns="" id="{AFF78E96-369B-4D49-8464-037A6398CB5F}"/>
                </a:ext>
              </a:extLst>
            </p:cNvPr>
            <p:cNvSpPr/>
            <p:nvPr/>
          </p:nvSpPr>
          <p:spPr>
            <a:xfrm>
              <a:off x="3523343" y="3578436"/>
              <a:ext cx="2921907" cy="663364"/>
            </a:xfrm>
            <a:custGeom>
              <a:avLst/>
              <a:gdLst>
                <a:gd name="connsiteX0" fmla="*/ 0 w 2095500"/>
                <a:gd name="connsiteY0" fmla="*/ 0 h 1708150"/>
                <a:gd name="connsiteX1" fmla="*/ 317500 w 2095500"/>
                <a:gd name="connsiteY1" fmla="*/ 1009650 h 1708150"/>
                <a:gd name="connsiteX2" fmla="*/ 946150 w 2095500"/>
                <a:gd name="connsiteY2" fmla="*/ 1504950 h 1708150"/>
                <a:gd name="connsiteX3" fmla="*/ 2095500 w 2095500"/>
                <a:gd name="connsiteY3" fmla="*/ 1708150 h 170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500" h="1708150">
                  <a:moveTo>
                    <a:pt x="0" y="0"/>
                  </a:moveTo>
                  <a:cubicBezTo>
                    <a:pt x="79904" y="379412"/>
                    <a:pt x="159808" y="758825"/>
                    <a:pt x="317500" y="1009650"/>
                  </a:cubicBezTo>
                  <a:cubicBezTo>
                    <a:pt x="475192" y="1260475"/>
                    <a:pt x="649817" y="1388533"/>
                    <a:pt x="946150" y="1504950"/>
                  </a:cubicBezTo>
                  <a:cubicBezTo>
                    <a:pt x="1242483" y="1621367"/>
                    <a:pt x="2095500" y="1708150"/>
                    <a:pt x="2095500" y="1708150"/>
                  </a:cubicBezTo>
                </a:path>
              </a:pathLst>
            </a:custGeom>
            <a:ln w="28575">
              <a:solidFill>
                <a:srgbClr val="FF66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1" name="AutoShape 134">
            <a:extLst>
              <a:ext uri="{FF2B5EF4-FFF2-40B4-BE49-F238E27FC236}">
                <a16:creationId xmlns:a16="http://schemas.microsoft.com/office/drawing/2014/main" xmlns="" id="{66B1751E-5FDF-4CF5-BBC4-FFA0083A6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30" y="2571750"/>
            <a:ext cx="1184469" cy="409380"/>
          </a:xfrm>
          <a:prstGeom prst="wedgeRoundRectCallout">
            <a:avLst>
              <a:gd name="adj1" fmla="val -67251"/>
              <a:gd name="adj2" fmla="val 49349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0" rIns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逻辑函数</a:t>
            </a:r>
            <a:r>
              <a:rPr lang="en-US" altLang="zh-CN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G</a:t>
            </a:r>
            <a:endParaRPr lang="en-US" altLang="zh-CN" sz="1600" i="1" dirty="0">
              <a:solidFill>
                <a:schemeClr val="tx1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xmlns="" id="{8E8C6377-CD15-4910-A7DE-803B8128DB4E}"/>
              </a:ext>
            </a:extLst>
          </p:cNvPr>
          <p:cNvGrpSpPr/>
          <p:nvPr/>
        </p:nvGrpSpPr>
        <p:grpSpPr>
          <a:xfrm>
            <a:off x="6445192" y="3296492"/>
            <a:ext cx="481377" cy="1824553"/>
            <a:chOff x="6445192" y="3296492"/>
            <a:chExt cx="481377" cy="1824553"/>
          </a:xfrm>
        </p:grpSpPr>
        <p:sp>
          <p:nvSpPr>
            <p:cNvPr id="123" name="圆角矩形 82">
              <a:extLst>
                <a:ext uri="{FF2B5EF4-FFF2-40B4-BE49-F238E27FC236}">
                  <a16:creationId xmlns:a16="http://schemas.microsoft.com/office/drawing/2014/main" xmlns="" id="{FB8775B8-6876-4764-8D0E-FC930E73D021}"/>
                </a:ext>
              </a:extLst>
            </p:cNvPr>
            <p:cNvSpPr/>
            <p:nvPr/>
          </p:nvSpPr>
          <p:spPr>
            <a:xfrm>
              <a:off x="6445192" y="3296492"/>
              <a:ext cx="481377" cy="1824553"/>
            </a:xfrm>
            <a:prstGeom prst="roundRect">
              <a:avLst>
                <a:gd name="adj" fmla="val 0"/>
              </a:avLst>
            </a:prstGeom>
            <a:solidFill>
              <a:srgbClr val="FF000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 bIns="0" rtlCol="0" anchor="t" anchorCtr="0"/>
            <a:lstStyle/>
            <a:p>
              <a:pPr algn="ctr"/>
              <a:endParaRPr lang="en-US" altLang="zh-CN" sz="1600" b="1" dirty="0">
                <a:solidFill>
                  <a:srgbClr val="CC00CC"/>
                </a:solidFill>
              </a:endParaRP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xmlns="" id="{3E33B42F-10AE-4214-A3B0-34F4BD095A42}"/>
                </a:ext>
              </a:extLst>
            </p:cNvPr>
            <p:cNvSpPr txBox="1"/>
            <p:nvPr/>
          </p:nvSpPr>
          <p:spPr>
            <a:xfrm>
              <a:off x="6520713" y="3352610"/>
              <a:ext cx="3047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CC00CC"/>
                  </a:solidFill>
                </a:rPr>
                <a:t>1</a:t>
              </a: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xmlns="" id="{F487B410-2E39-4712-BA72-F98953F8FC6D}"/>
                </a:ext>
              </a:extLst>
            </p:cNvPr>
            <p:cNvSpPr txBox="1"/>
            <p:nvPr/>
          </p:nvSpPr>
          <p:spPr>
            <a:xfrm>
              <a:off x="6527800" y="3832388"/>
              <a:ext cx="3047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CC00CC"/>
                  </a:solidFill>
                </a:rPr>
                <a:t>1</a:t>
              </a: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xmlns="" id="{371EF40E-F982-4228-9D57-9B27CB0D14C5}"/>
                </a:ext>
              </a:extLst>
            </p:cNvPr>
            <p:cNvSpPr txBox="1"/>
            <p:nvPr/>
          </p:nvSpPr>
          <p:spPr>
            <a:xfrm>
              <a:off x="6534205" y="4279900"/>
              <a:ext cx="3047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CC00CC"/>
                  </a:solidFill>
                </a:rPr>
                <a:t>1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xmlns="" id="{C0135EE1-1FE7-4FB7-B576-2B1772FB98FD}"/>
                </a:ext>
              </a:extLst>
            </p:cNvPr>
            <p:cNvSpPr txBox="1"/>
            <p:nvPr/>
          </p:nvSpPr>
          <p:spPr>
            <a:xfrm>
              <a:off x="6546957" y="4735104"/>
              <a:ext cx="3047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rgbClr val="CC00CC"/>
                  </a:solidFill>
                </a:rPr>
                <a:t>1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03" grpId="0" animBg="1"/>
      <p:bldP spid="1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、用卡诺图表示逻辑函数</a:t>
              </a: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85458" y="1875155"/>
            <a:ext cx="607730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某逻辑函数的真值表如表所示，用卡诺图表示该逻辑函数。 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04508" y="2234883"/>
            <a:ext cx="8304212" cy="67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9263" indent="-449263"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解：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该函数为三变量，先画出三变量卡诺图，然后根据真值表将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个取值组合对应的最小项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的取值“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”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或者“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”填入卡诺图中对应的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个小方格中即可。 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E010191F-7F37-4AFE-B961-7090CF5FA91D}"/>
              </a:ext>
            </a:extLst>
          </p:cNvPr>
          <p:cNvGrpSpPr/>
          <p:nvPr/>
        </p:nvGrpSpPr>
        <p:grpSpPr>
          <a:xfrm>
            <a:off x="507368" y="1325591"/>
            <a:ext cx="2510152" cy="396000"/>
            <a:chOff x="358461" y="2491451"/>
            <a:chExt cx="2510152" cy="396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xmlns="" id="{32B3D1A8-7BCE-444D-9034-DDC96470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9" y="2491452"/>
              <a:ext cx="2046284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从真值表到卡诺图</a:t>
              </a:r>
              <a:r>
                <a:rPr lang="zh-CN" altLang="en-US" b="1" dirty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 </a:t>
              </a:r>
              <a:endPara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xmlns="" id="{22797C4C-A0A2-421C-A146-0EC52907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396000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B060B1F0-E4C4-49CB-85A5-BFEA44131A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  <p:graphicFrame>
        <p:nvGraphicFramePr>
          <p:cNvPr id="12" name="Group 541"/>
          <p:cNvGraphicFramePr>
            <a:graphicFrameLocks noGrp="1"/>
          </p:cNvGraphicFramePr>
          <p:nvPr/>
        </p:nvGraphicFramePr>
        <p:xfrm>
          <a:off x="1180936" y="3121660"/>
          <a:ext cx="1872144" cy="2245360"/>
        </p:xfrm>
        <a:graphic>
          <a:graphicData uri="http://schemas.openxmlformats.org/drawingml/2006/table">
            <a:tbl>
              <a:tblPr/>
              <a:tblGrid>
                <a:gridCol w="11497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24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A     B     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0     0     0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0     0     1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0     1     0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0     1     1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1     0     0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1     0     1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1     1     0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1     1     1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4215412" y="3208287"/>
            <a:ext cx="2916907" cy="1805673"/>
            <a:chOff x="5259352" y="2918727"/>
            <a:chExt cx="2916907" cy="1805673"/>
          </a:xfrm>
        </p:grpSpPr>
        <p:graphicFrame>
          <p:nvGraphicFramePr>
            <p:cNvPr id="14" name="Object 8"/>
            <p:cNvGraphicFramePr>
              <a:graphicFrameLocks noChangeAspect="1"/>
            </p:cNvGraphicFramePr>
            <p:nvPr/>
          </p:nvGraphicFramePr>
          <p:xfrm>
            <a:off x="5322888" y="2998788"/>
            <a:ext cx="2841625" cy="1558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904" name="Visio" r:id="rId4" imgW="1591773" imgH="882818" progId="Visio.Drawing.11">
                    <p:embed/>
                  </p:oleObj>
                </mc:Choice>
                <mc:Fallback>
                  <p:oleObj name="Visio" r:id="rId4" imgW="1591773" imgH="882818" progId="Visio.Drawing.11">
                    <p:embed/>
                    <p:pic>
                      <p:nvPicPr>
                        <p:cNvPr id="1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2888" y="2998788"/>
                          <a:ext cx="2841625" cy="1558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圆角矩形 15"/>
            <p:cNvSpPr/>
            <p:nvPr/>
          </p:nvSpPr>
          <p:spPr>
            <a:xfrm>
              <a:off x="5259352" y="2918727"/>
              <a:ext cx="2916907" cy="1805673"/>
            </a:xfrm>
            <a:prstGeom prst="roundRect">
              <a:avLst>
                <a:gd name="adj" fmla="val 9776"/>
              </a:avLst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AutoShape 134"/>
          <p:cNvSpPr>
            <a:spLocks noChangeArrowheads="1"/>
          </p:cNvSpPr>
          <p:nvPr/>
        </p:nvSpPr>
        <p:spPr bwMode="auto">
          <a:xfrm>
            <a:off x="4812470" y="2915581"/>
            <a:ext cx="1611189" cy="354157"/>
          </a:xfrm>
          <a:prstGeom prst="wedgeRoundRectCallout">
            <a:avLst>
              <a:gd name="adj1" fmla="val -51593"/>
              <a:gd name="adj2" fmla="val 93674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表示逻辑函数</a:t>
            </a:r>
            <a:r>
              <a:rPr lang="en-US" altLang="zh-CN" sz="1600" i="1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L</a:t>
            </a:r>
          </a:p>
        </p:txBody>
      </p:sp>
      <p:sp>
        <p:nvSpPr>
          <p:cNvPr id="35" name="矩形 34"/>
          <p:cNvSpPr/>
          <p:nvPr/>
        </p:nvSpPr>
        <p:spPr>
          <a:xfrm>
            <a:off x="2896155" y="3420319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0</a:t>
            </a:r>
          </a:p>
        </p:txBody>
      </p:sp>
      <p:sp>
        <p:nvSpPr>
          <p:cNvPr id="43" name="矩形 42"/>
          <p:cNvSpPr/>
          <p:nvPr/>
        </p:nvSpPr>
        <p:spPr>
          <a:xfrm>
            <a:off x="2896155" y="3658488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1</a:t>
            </a:r>
          </a:p>
        </p:txBody>
      </p:sp>
      <p:sp>
        <p:nvSpPr>
          <p:cNvPr id="44" name="矩形 43"/>
          <p:cNvSpPr/>
          <p:nvPr/>
        </p:nvSpPr>
        <p:spPr>
          <a:xfrm>
            <a:off x="2896155" y="3903096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0</a:t>
            </a:r>
          </a:p>
        </p:txBody>
      </p:sp>
      <p:sp>
        <p:nvSpPr>
          <p:cNvPr id="45" name="矩形 44"/>
          <p:cNvSpPr/>
          <p:nvPr/>
        </p:nvSpPr>
        <p:spPr>
          <a:xfrm>
            <a:off x="2896155" y="4147704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1</a:t>
            </a:r>
          </a:p>
        </p:txBody>
      </p:sp>
      <p:sp>
        <p:nvSpPr>
          <p:cNvPr id="46" name="矩形 45"/>
          <p:cNvSpPr/>
          <p:nvPr/>
        </p:nvSpPr>
        <p:spPr>
          <a:xfrm>
            <a:off x="2896155" y="4392312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0</a:t>
            </a:r>
          </a:p>
        </p:txBody>
      </p:sp>
      <p:sp>
        <p:nvSpPr>
          <p:cNvPr id="47" name="矩形 46"/>
          <p:cNvSpPr/>
          <p:nvPr/>
        </p:nvSpPr>
        <p:spPr>
          <a:xfrm>
            <a:off x="2896155" y="4636920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0</a:t>
            </a:r>
          </a:p>
        </p:txBody>
      </p:sp>
      <p:sp>
        <p:nvSpPr>
          <p:cNvPr id="48" name="矩形 47"/>
          <p:cNvSpPr/>
          <p:nvPr/>
        </p:nvSpPr>
        <p:spPr>
          <a:xfrm>
            <a:off x="2896155" y="4881528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1</a:t>
            </a:r>
          </a:p>
        </p:txBody>
      </p:sp>
      <p:sp>
        <p:nvSpPr>
          <p:cNvPr id="49" name="矩形 48"/>
          <p:cNvSpPr/>
          <p:nvPr/>
        </p:nvSpPr>
        <p:spPr>
          <a:xfrm>
            <a:off x="2896155" y="5126139"/>
            <a:ext cx="117020" cy="2462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>
              <a:spcAft>
                <a:spcPct val="0"/>
              </a:spcAft>
              <a:buClr>
                <a:schemeClr val="tx1"/>
              </a:buClr>
            </a:pPr>
            <a:r>
              <a:rPr lang="en-US" altLang="zh-CN" sz="1600" dirty="0">
                <a:solidFill>
                  <a:srgbClr val="000000"/>
                </a:solidFill>
                <a:latin typeface="方正粗黑宋简体" pitchFamily="2" charset="-122"/>
                <a:ea typeface="方正粗黑宋简体" pitchFamily="2" charset="-122"/>
              </a:rPr>
              <a:t>1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022E-16 C 0.09913 0.04056 0.19879 0.08167 0.23854 0.09833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27" y="4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33333E-6 C 0.1224 0.02333 0.24566 0.04694 0.29479 0.05666 " pathEditMode="relative" rAng="0" ptsTypes="AA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40" y="2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44444E-6 C 0.17031 0.00389 0.34149 0.00806 0.4099 0.00973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86" y="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22222E-6 C 0.14618 -0.01278 0.2934 -0.02583 0.35208 -0.03083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04" y="-1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 C 0.10069 0.00306 0.20226 0.00611 0.24271 0.0075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35" y="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22222E-6 C 0.12309 -0.01556 0.24705 -0.03084 0.29653 -0.03667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26" y="-1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44444E-6 C 0.16927 -0.03362 0.33976 -0.0675 0.40799 -0.08084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99" y="-4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33333E-6 C 0.14531 -0.05139 0.29149 -0.10333 0.35017 -0.12361 " pathEditMode="relative" rAng="0" ptsTypes="AA">
                                      <p:cBhvr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00" y="-6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8" grpId="0" animBg="1"/>
      <p:bldP spid="35" grpId="0"/>
      <p:bldP spid="35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101090" y="1824567"/>
            <a:ext cx="1371600" cy="760000"/>
            <a:chOff x="1101090" y="1824567"/>
            <a:chExt cx="1371600" cy="760000"/>
          </a:xfrm>
        </p:grpSpPr>
        <p:grpSp>
          <p:nvGrpSpPr>
            <p:cNvPr id="3" name="组合 35"/>
            <p:cNvGrpSpPr/>
            <p:nvPr/>
          </p:nvGrpSpPr>
          <p:grpSpPr>
            <a:xfrm>
              <a:off x="1101090" y="1972734"/>
              <a:ext cx="1371600" cy="110067"/>
              <a:chOff x="910590" y="1699260"/>
              <a:chExt cx="1371600" cy="9906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6"/>
            <p:cNvGrpSpPr/>
            <p:nvPr/>
          </p:nvGrpSpPr>
          <p:grpSpPr>
            <a:xfrm rot="5400000">
              <a:off x="986715" y="2155037"/>
              <a:ext cx="760000" cy="99060"/>
              <a:chOff x="910590" y="1699260"/>
              <a:chExt cx="1371600" cy="99060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442710" y="3136900"/>
            <a:ext cx="1371600" cy="760000"/>
            <a:chOff x="6442710" y="3136900"/>
            <a:chExt cx="1371600" cy="760000"/>
          </a:xfrm>
        </p:grpSpPr>
        <p:grpSp>
          <p:nvGrpSpPr>
            <p:cNvPr id="6" name="组合 35"/>
            <p:cNvGrpSpPr/>
            <p:nvPr/>
          </p:nvGrpSpPr>
          <p:grpSpPr>
            <a:xfrm rot="10800000">
              <a:off x="6442710" y="3638667"/>
              <a:ext cx="1371600" cy="110067"/>
              <a:chOff x="910590" y="1699260"/>
              <a:chExt cx="1371600" cy="99060"/>
            </a:xfrm>
          </p:grpSpPr>
          <p:cxnSp>
            <p:nvCxnSpPr>
              <p:cNvPr id="31" name="直接连接符 30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36"/>
            <p:cNvGrpSpPr/>
            <p:nvPr/>
          </p:nvGrpSpPr>
          <p:grpSpPr>
            <a:xfrm rot="16200000">
              <a:off x="7092485" y="3467370"/>
              <a:ext cx="760000" cy="99060"/>
              <a:chOff x="910590" y="1699260"/>
              <a:chExt cx="1371600" cy="9906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文本框 6"/>
          <p:cNvSpPr txBox="1"/>
          <p:nvPr/>
        </p:nvSpPr>
        <p:spPr>
          <a:xfrm>
            <a:off x="1041354" y="2073323"/>
            <a:ext cx="6498792" cy="1647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400" b="1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第二章 逻辑代数</a:t>
            </a:r>
            <a:endParaRPr lang="en-US" altLang="zh-CN" sz="3400" b="1" dirty="0">
              <a:ln w="12700">
                <a:solidFill>
                  <a:srgbClr val="7030A0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2.3 </a:t>
            </a:r>
            <a:r>
              <a:rPr lang="zh-CN" altLang="en-US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逻辑函数的卡诺图化简</a:t>
            </a:r>
            <a:endParaRPr lang="en-US" altLang="zh-CN" sz="28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（三）</a:t>
            </a:r>
            <a:r>
              <a:rPr lang="zh-CN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逻辑函数的卡诺图化简方法</a:t>
            </a:r>
            <a:endParaRPr lang="zh-CN" alt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</p:txBody>
      </p: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48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4202366" y="2703701"/>
          <a:ext cx="2304940" cy="102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4" name="公式" r:id="rId4" imgW="1409400" imgH="634680" progId="Equation.3">
                  <p:embed/>
                </p:oleObj>
              </mc:Choice>
              <mc:Fallback>
                <p:oleObj name="公式" r:id="rId4" imgW="1409400" imgH="634680" progId="Equation.3">
                  <p:embed/>
                  <p:pic>
                    <p:nvPicPr>
                      <p:cNvPr id="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366" y="2703701"/>
                        <a:ext cx="2304940" cy="1026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12" name="矩形 11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、卡诺图化简逻辑函数依据</a:t>
              </a:r>
            </a:p>
          </p:txBody>
        </p:sp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1E5EC66F-DF13-4C05-8D2B-B183C16DB05F}"/>
              </a:ext>
            </a:extLst>
          </p:cNvPr>
          <p:cNvSpPr txBox="1"/>
          <p:nvPr/>
        </p:nvSpPr>
        <p:spPr>
          <a:xfrm>
            <a:off x="392432" y="1305875"/>
            <a:ext cx="8469311" cy="67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>
            <a:defPPr>
              <a:defRPr lang="zh-CN"/>
            </a:defPPr>
            <a:lvl1pPr marL="539750" indent="-539750" eaLnBrk="0" hangingPunct="0">
              <a:lnSpc>
                <a:spcPct val="125000"/>
              </a:lnSpc>
              <a:defRPr sz="1600" b="1"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若一个逻辑函数的卡诺图中有两个相邻的小方格逻辑值均为“</a:t>
            </a:r>
            <a:r>
              <a:rPr lang="en-US" altLang="zh-CN" dirty="0"/>
              <a:t>1</a:t>
            </a:r>
            <a:r>
              <a:rPr lang="zh-CN" altLang="zh-CN" dirty="0"/>
              <a:t>”，这两相邻的最小项相结合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zh-CN" dirty="0"/>
              <a:t>（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用一个矩形包围圈圈起来形成一个</a:t>
            </a:r>
            <a:r>
              <a:rPr lang="zh-CN" altLang="en-US" sz="16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矩形组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zh-CN" dirty="0"/>
              <a:t>，就可以消去一个互为相反的变量。</a:t>
            </a:r>
            <a:endParaRPr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85BAFA7A-478C-418E-B9C2-0E5AF60939C9}"/>
              </a:ext>
            </a:extLst>
          </p:cNvPr>
          <p:cNvGrpSpPr/>
          <p:nvPr/>
        </p:nvGrpSpPr>
        <p:grpSpPr>
          <a:xfrm>
            <a:off x="956656" y="2635252"/>
            <a:ext cx="2466975" cy="2466975"/>
            <a:chOff x="956656" y="2635252"/>
            <a:chExt cx="2466975" cy="2466975"/>
          </a:xfrm>
        </p:grpSpPr>
        <p:sp>
          <p:nvSpPr>
            <p:cNvPr id="6" name="AutoShape 11"/>
            <p:cNvSpPr>
              <a:spLocks noChangeArrowheads="1"/>
            </p:cNvSpPr>
            <p:nvPr/>
          </p:nvSpPr>
          <p:spPr bwMode="auto">
            <a:xfrm>
              <a:off x="956656" y="2635252"/>
              <a:ext cx="2466975" cy="2466975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285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xmlns="" id="{991901F6-6B3C-404B-ACCB-38341E87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2354" y="2703701"/>
              <a:ext cx="2226197" cy="2260185"/>
            </a:xfrm>
            <a:prstGeom prst="rect">
              <a:avLst/>
            </a:prstGeom>
          </p:spPr>
        </p:pic>
      </p:grpSp>
      <p:sp>
        <p:nvSpPr>
          <p:cNvPr id="21" name="圆角矩形 18">
            <a:extLst>
              <a:ext uri="{FF2B5EF4-FFF2-40B4-BE49-F238E27FC236}">
                <a16:creationId xmlns:a16="http://schemas.microsoft.com/office/drawing/2014/main" xmlns="" id="{8085A3CE-2932-4C29-8DAE-952721E2D006}"/>
              </a:ext>
            </a:extLst>
          </p:cNvPr>
          <p:cNvSpPr/>
          <p:nvPr/>
        </p:nvSpPr>
        <p:spPr>
          <a:xfrm>
            <a:off x="1976169" y="3653642"/>
            <a:ext cx="369171" cy="754816"/>
          </a:xfrm>
          <a:prstGeom prst="roundRect">
            <a:avLst>
              <a:gd name="adj" fmla="val 11848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0752D413-6347-442E-A708-A72A6C1533BF}"/>
              </a:ext>
            </a:extLst>
          </p:cNvPr>
          <p:cNvGrpSpPr/>
          <p:nvPr/>
        </p:nvGrpSpPr>
        <p:grpSpPr>
          <a:xfrm>
            <a:off x="1485900" y="3172576"/>
            <a:ext cx="1784531" cy="317384"/>
            <a:chOff x="1485900" y="3172576"/>
            <a:chExt cx="1784531" cy="317384"/>
          </a:xfrm>
        </p:grpSpPr>
        <p:sp>
          <p:nvSpPr>
            <p:cNvPr id="28" name="右中括号 27">
              <a:extLst>
                <a:ext uri="{FF2B5EF4-FFF2-40B4-BE49-F238E27FC236}">
                  <a16:creationId xmlns:a16="http://schemas.microsoft.com/office/drawing/2014/main" xmlns="" id="{D90D9251-D7C4-4AAF-AA14-91CA1B3FECB7}"/>
                </a:ext>
              </a:extLst>
            </p:cNvPr>
            <p:cNvSpPr/>
            <p:nvPr/>
          </p:nvSpPr>
          <p:spPr>
            <a:xfrm>
              <a:off x="1485900" y="3172576"/>
              <a:ext cx="365760" cy="317384"/>
            </a:xfrm>
            <a:prstGeom prst="rightBracket">
              <a:avLst>
                <a:gd name="adj" fmla="val 11899"/>
              </a:avLst>
            </a:prstGeom>
            <a:solidFill>
              <a:srgbClr val="FF000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b="1">
                <a:solidFill>
                  <a:srgbClr val="CC00CC"/>
                </a:solidFill>
              </a:endParaRPr>
            </a:p>
          </p:txBody>
        </p:sp>
        <p:sp>
          <p:nvSpPr>
            <p:cNvPr id="30" name="右中括号 29">
              <a:extLst>
                <a:ext uri="{FF2B5EF4-FFF2-40B4-BE49-F238E27FC236}">
                  <a16:creationId xmlns:a16="http://schemas.microsoft.com/office/drawing/2014/main" xmlns="" id="{44FEC0B1-9A67-4140-A868-A1B1DE811637}"/>
                </a:ext>
              </a:extLst>
            </p:cNvPr>
            <p:cNvSpPr/>
            <p:nvPr/>
          </p:nvSpPr>
          <p:spPr>
            <a:xfrm flipH="1">
              <a:off x="2904671" y="3172576"/>
              <a:ext cx="365760" cy="317384"/>
            </a:xfrm>
            <a:prstGeom prst="rightBracket">
              <a:avLst>
                <a:gd name="adj" fmla="val 11899"/>
              </a:avLst>
            </a:prstGeom>
            <a:solidFill>
              <a:srgbClr val="FF0000">
                <a:alpha val="23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 b="1">
                <a:solidFill>
                  <a:srgbClr val="CC00CC"/>
                </a:solidFill>
              </a:endParaRPr>
            </a:p>
          </p:txBody>
        </p:sp>
      </p:grpSp>
      <p:graphicFrame>
        <p:nvGraphicFramePr>
          <p:cNvPr id="82944" name="对象 82943">
            <a:extLst>
              <a:ext uri="{FF2B5EF4-FFF2-40B4-BE49-F238E27FC236}">
                <a16:creationId xmlns:a16="http://schemas.microsoft.com/office/drawing/2014/main" xmlns="" id="{3743CA99-C2DF-4612-AC9B-BA866517E6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7067" y="3944161"/>
          <a:ext cx="2263138" cy="1026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5" name="公式" r:id="rId8" imgW="1422360" imgH="634680" progId="Equation.3">
                  <p:embed/>
                </p:oleObj>
              </mc:Choice>
              <mc:Fallback>
                <p:oleObj name="公式" r:id="rId8" imgW="1422360" imgH="634680" progId="Equation.3">
                  <p:embed/>
                  <p:pic>
                    <p:nvPicPr>
                      <p:cNvPr id="82944" name="对象 82943">
                        <a:extLst>
                          <a:ext uri="{FF2B5EF4-FFF2-40B4-BE49-F238E27FC236}">
                            <a16:creationId xmlns:a16="http://schemas.microsoft.com/office/drawing/2014/main" xmlns="" id="{3743CA99-C2DF-4612-AC9B-BA866517E6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7067" y="3944161"/>
                        <a:ext cx="2263138" cy="1026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xmlns="" id="{2B547816-6249-431F-9753-19C19724D5FF}"/>
              </a:ext>
            </a:extLst>
          </p:cNvPr>
          <p:cNvCxnSpPr>
            <a:cxnSpLocks/>
          </p:cNvCxnSpPr>
          <p:nvPr/>
        </p:nvCxnSpPr>
        <p:spPr>
          <a:xfrm>
            <a:off x="3157994" y="3342792"/>
            <a:ext cx="939292" cy="7892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952" name="任意多边形: 形状 82951">
            <a:extLst>
              <a:ext uri="{FF2B5EF4-FFF2-40B4-BE49-F238E27FC236}">
                <a16:creationId xmlns:a16="http://schemas.microsoft.com/office/drawing/2014/main" xmlns="" id="{2CA7174A-ABC4-4983-95E7-8813F5D07AFF}"/>
              </a:ext>
            </a:extLst>
          </p:cNvPr>
          <p:cNvSpPr/>
          <p:nvPr/>
        </p:nvSpPr>
        <p:spPr>
          <a:xfrm>
            <a:off x="2286000" y="3093720"/>
            <a:ext cx="1973580" cy="990600"/>
          </a:xfrm>
          <a:custGeom>
            <a:avLst/>
            <a:gdLst>
              <a:gd name="connsiteX0" fmla="*/ 0 w 1973580"/>
              <a:gd name="connsiteY0" fmla="*/ 990600 h 990600"/>
              <a:gd name="connsiteX1" fmla="*/ 670560 w 1973580"/>
              <a:gd name="connsiteY1" fmla="*/ 822960 h 990600"/>
              <a:gd name="connsiteX2" fmla="*/ 1310640 w 1973580"/>
              <a:gd name="connsiteY2" fmla="*/ 541020 h 990600"/>
              <a:gd name="connsiteX3" fmla="*/ 1973580 w 1973580"/>
              <a:gd name="connsiteY3" fmla="*/ 0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3580" h="990600">
                <a:moveTo>
                  <a:pt x="0" y="990600"/>
                </a:moveTo>
                <a:cubicBezTo>
                  <a:pt x="226060" y="944245"/>
                  <a:pt x="452120" y="897890"/>
                  <a:pt x="670560" y="822960"/>
                </a:cubicBezTo>
                <a:cubicBezTo>
                  <a:pt x="889000" y="748030"/>
                  <a:pt x="1093470" y="678180"/>
                  <a:pt x="1310640" y="541020"/>
                </a:cubicBezTo>
                <a:cubicBezTo>
                  <a:pt x="1527810" y="403860"/>
                  <a:pt x="1750695" y="201930"/>
                  <a:pt x="1973580" y="0"/>
                </a:cubicBezTo>
              </a:path>
            </a:pathLst>
          </a:cu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8">
            <a:extLst>
              <a:ext uri="{FF2B5EF4-FFF2-40B4-BE49-F238E27FC236}">
                <a16:creationId xmlns:a16="http://schemas.microsoft.com/office/drawing/2014/main" xmlns="" id="{6691584C-7E94-4C41-9553-F6282BFA5D37}"/>
              </a:ext>
            </a:extLst>
          </p:cNvPr>
          <p:cNvSpPr/>
          <p:nvPr/>
        </p:nvSpPr>
        <p:spPr>
          <a:xfrm>
            <a:off x="1976168" y="2932348"/>
            <a:ext cx="369171" cy="161372"/>
          </a:xfrm>
          <a:prstGeom prst="roundRect">
            <a:avLst>
              <a:gd name="adj" fmla="val 11848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xmlns="" id="{B9060153-6214-4478-AB31-A26ED818F2EB}"/>
              </a:ext>
            </a:extLst>
          </p:cNvPr>
          <p:cNvSpPr/>
          <p:nvPr/>
        </p:nvSpPr>
        <p:spPr>
          <a:xfrm>
            <a:off x="1252732" y="3653643"/>
            <a:ext cx="233167" cy="740974"/>
          </a:xfrm>
          <a:prstGeom prst="roundRect">
            <a:avLst>
              <a:gd name="adj" fmla="val 11848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8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1" grpId="0" animBg="1"/>
      <p:bldP spid="82952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11442" y="4382792"/>
            <a:ext cx="8513762" cy="11387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42925" indent="-542925" eaLnBrk="0" hangingPunct="0">
              <a:lnSpc>
                <a:spcPct val="125000"/>
              </a:lnSpc>
              <a:spcBef>
                <a:spcPct val="50000"/>
              </a:spcBef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）同理：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个最小项相邻并排列成一个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矩形组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，可以消去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个变量；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16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个最小项相邻，可以消去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个变量。</a:t>
            </a:r>
          </a:p>
          <a:p>
            <a:pPr marL="723900" indent="-723900" eaLnBrk="0" hangingPunct="0">
              <a:lnSpc>
                <a:spcPct val="125000"/>
              </a:lnSpc>
              <a:spcBef>
                <a:spcPct val="50000"/>
              </a:spcBef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   总之，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1600" b="1" baseline="300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个最小项相邻并排列成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矩形组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，可以消去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个变量。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FDD5BCA8-D25B-46AE-8E88-FCACDA837264}"/>
              </a:ext>
            </a:extLst>
          </p:cNvPr>
          <p:cNvSpPr txBox="1"/>
          <p:nvPr/>
        </p:nvSpPr>
        <p:spPr>
          <a:xfrm>
            <a:off x="392432" y="1283538"/>
            <a:ext cx="8471692" cy="68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>
            <a:defPPr>
              <a:defRPr lang="zh-CN"/>
            </a:defPPr>
            <a:lvl1pPr marL="539750" indent="-539750" eaLnBrk="0" hangingPunct="0">
              <a:lnSpc>
                <a:spcPct val="125000"/>
              </a:lnSpc>
              <a:defRPr sz="1600" b="1">
                <a:latin typeface="Times New Roman" pitchFamily="18" charset="0"/>
                <a:ea typeface="黑体" pitchFamily="49" charset="-122"/>
                <a:cs typeface="Times New Roman" pitchFamily="18" charset="0"/>
              </a:defRPr>
            </a:lvl1pPr>
          </a:lstStyle>
          <a:p>
            <a:r>
              <a:rPr lang="zh-CN" altLang="zh-CN" dirty="0"/>
              <a:t>（</a:t>
            </a:r>
            <a:r>
              <a:rPr lang="en-GB" altLang="zh-CN" dirty="0"/>
              <a:t>2</a:t>
            </a:r>
            <a:r>
              <a:rPr lang="zh-CN" altLang="zh-CN" dirty="0"/>
              <a:t>）若一个逻辑函数的卡诺图中有四个相邻的方格逻辑值均为</a:t>
            </a:r>
            <a:r>
              <a:rPr lang="en-GB" altLang="zh-CN" dirty="0"/>
              <a:t>“1”</a:t>
            </a:r>
            <a:r>
              <a:rPr lang="zh-CN" altLang="zh-CN" dirty="0"/>
              <a:t>，则这四个相邻的最小项相结合（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用一个矩形包围圈圈起来形成一个</a:t>
            </a:r>
            <a:r>
              <a:rPr lang="zh-CN" altLang="en-US" sz="16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矩形组</a:t>
            </a:r>
            <a:r>
              <a:rPr lang="zh-CN" altLang="zh-CN" dirty="0"/>
              <a:t>）可消去两个互为相反的变量。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5531C1A1-3CF4-4574-A29B-F29BC28F6EF4}"/>
              </a:ext>
            </a:extLst>
          </p:cNvPr>
          <p:cNvGrpSpPr/>
          <p:nvPr/>
        </p:nvGrpSpPr>
        <p:grpSpPr>
          <a:xfrm>
            <a:off x="3353027" y="2053930"/>
            <a:ext cx="2305010" cy="2193687"/>
            <a:chOff x="3353027" y="2053930"/>
            <a:chExt cx="2305010" cy="2193687"/>
          </a:xfrm>
        </p:grpSpPr>
        <p:sp>
          <p:nvSpPr>
            <p:cNvPr id="6" name="AutoShape 11"/>
            <p:cNvSpPr>
              <a:spLocks noChangeArrowheads="1"/>
            </p:cNvSpPr>
            <p:nvPr/>
          </p:nvSpPr>
          <p:spPr bwMode="auto">
            <a:xfrm>
              <a:off x="3353027" y="2053930"/>
              <a:ext cx="2305010" cy="2193687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285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xmlns="" id="{8E6FDDDB-7422-4478-8D84-740632001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159" y="2112005"/>
              <a:ext cx="2209037" cy="2071134"/>
            </a:xfrm>
            <a:prstGeom prst="rect">
              <a:avLst/>
            </a:prstGeom>
          </p:spPr>
        </p:pic>
      </p:grpSp>
      <p:sp>
        <p:nvSpPr>
          <p:cNvPr id="22" name="圆角矩形 18">
            <a:extLst>
              <a:ext uri="{FF2B5EF4-FFF2-40B4-BE49-F238E27FC236}">
                <a16:creationId xmlns:a16="http://schemas.microsoft.com/office/drawing/2014/main" xmlns="" id="{60AF997E-E0F1-4C35-9264-036A759212D0}"/>
              </a:ext>
            </a:extLst>
          </p:cNvPr>
          <p:cNvSpPr/>
          <p:nvPr/>
        </p:nvSpPr>
        <p:spPr>
          <a:xfrm>
            <a:off x="3793657" y="2945354"/>
            <a:ext cx="809532" cy="727531"/>
          </a:xfrm>
          <a:prstGeom prst="roundRect">
            <a:avLst>
              <a:gd name="adj" fmla="val 6800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  <p:sp>
        <p:nvSpPr>
          <p:cNvPr id="23" name="圆角矩形 18">
            <a:extLst>
              <a:ext uri="{FF2B5EF4-FFF2-40B4-BE49-F238E27FC236}">
                <a16:creationId xmlns:a16="http://schemas.microsoft.com/office/drawing/2014/main" xmlns="" id="{38D9113B-4B14-4539-8366-96CAC9901E15}"/>
              </a:ext>
            </a:extLst>
          </p:cNvPr>
          <p:cNvSpPr/>
          <p:nvPr/>
        </p:nvSpPr>
        <p:spPr>
          <a:xfrm>
            <a:off x="5139958" y="2531508"/>
            <a:ext cx="354186" cy="1577797"/>
          </a:xfrm>
          <a:prstGeom prst="roundRect">
            <a:avLst>
              <a:gd name="adj" fmla="val 6800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719BF365-C1DD-4A35-8F2C-3C1F75E706AB}"/>
              </a:ext>
            </a:extLst>
          </p:cNvPr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3D3D35E4-9C87-4589-9F95-09A4EB3475A2}"/>
                </a:ext>
              </a:extLst>
            </p:cNvPr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、卡诺图化简逻辑函数依据</a:t>
              </a:r>
            </a:p>
          </p:txBody>
        </p:sp>
        <p:pic>
          <p:nvPicPr>
            <p:cNvPr id="30" name="Picture 3">
              <a:extLst>
                <a:ext uri="{FF2B5EF4-FFF2-40B4-BE49-F238E27FC236}">
                  <a16:creationId xmlns:a16="http://schemas.microsoft.com/office/drawing/2014/main" xmlns="" id="{CF6DA733-3CFA-4254-861A-0220638B72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77DFAEAC-223B-4073-87FE-5CA6F576AA47}"/>
              </a:ext>
            </a:extLst>
          </p:cNvPr>
          <p:cNvGrpSpPr/>
          <p:nvPr/>
        </p:nvGrpSpPr>
        <p:grpSpPr>
          <a:xfrm>
            <a:off x="563882" y="2669348"/>
            <a:ext cx="3332883" cy="670140"/>
            <a:chOff x="563882" y="2669348"/>
            <a:chExt cx="3332883" cy="670140"/>
          </a:xfrm>
        </p:grpSpPr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xmlns="" id="{13193144-90F1-43CB-BE59-FC7016F144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3882" y="2669348"/>
            <a:ext cx="2193394" cy="356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58" name="公式" r:id="rId5" imgW="1320480" imgH="215640" progId="Equation.3">
                    <p:embed/>
                  </p:oleObj>
                </mc:Choice>
                <mc:Fallback>
                  <p:oleObj name="公式" r:id="rId5" imgW="1320480" imgH="215640" progId="Equation.3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xmlns="" id="{13193144-90F1-43CB-BE59-FC7016F144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882" y="2669348"/>
                          <a:ext cx="2193394" cy="3561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xmlns="" id="{EAF615BB-588D-465F-AF0C-9E3850B15E90}"/>
                </a:ext>
              </a:extLst>
            </p:cNvPr>
            <p:cNvGrpSpPr/>
            <p:nvPr/>
          </p:nvGrpSpPr>
          <p:grpSpPr>
            <a:xfrm>
              <a:off x="563882" y="3073284"/>
              <a:ext cx="3332883" cy="266204"/>
              <a:chOff x="648566" y="3383992"/>
              <a:chExt cx="3465193" cy="153833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xmlns="" id="{5EED244B-AFF2-4EC5-B9FA-388C7FE87D46}"/>
                  </a:ext>
                </a:extLst>
              </p:cNvPr>
              <p:cNvCxnSpPr/>
              <p:nvPr/>
            </p:nvCxnSpPr>
            <p:spPr>
              <a:xfrm>
                <a:off x="648566" y="3383992"/>
                <a:ext cx="2179318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xmlns="" id="{2249E030-F486-47AB-B754-5C8F7DFE90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7884" y="3383992"/>
                <a:ext cx="1285875" cy="15383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8848C7F8-5731-48B5-BECE-42D89ED96CE6}"/>
              </a:ext>
            </a:extLst>
          </p:cNvPr>
          <p:cNvGrpSpPr/>
          <p:nvPr/>
        </p:nvGrpSpPr>
        <p:grpSpPr>
          <a:xfrm>
            <a:off x="5332219" y="2788510"/>
            <a:ext cx="2719927" cy="550644"/>
            <a:chOff x="5332219" y="2788510"/>
            <a:chExt cx="2719927" cy="550644"/>
          </a:xfrm>
        </p:grpSpPr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xmlns="" id="{F38CBF60-E8DE-4D40-A5C5-D59CA2D7AE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47339" y="2788510"/>
            <a:ext cx="2193393" cy="356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59" name="公式" r:id="rId7" imgW="1333440" imgH="215640" progId="Equation.3">
                    <p:embed/>
                  </p:oleObj>
                </mc:Choice>
                <mc:Fallback>
                  <p:oleObj name="公式" r:id="rId7" imgW="1333440" imgH="215640" progId="Equation.3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xmlns="" id="{F38CBF60-E8DE-4D40-A5C5-D59CA2D7AE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7339" y="2788510"/>
                          <a:ext cx="2193393" cy="3561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xmlns="" id="{8CBCD27F-1839-4B6E-8B45-9E007E115678}"/>
                </a:ext>
              </a:extLst>
            </p:cNvPr>
            <p:cNvGrpSpPr/>
            <p:nvPr/>
          </p:nvGrpSpPr>
          <p:grpSpPr>
            <a:xfrm>
              <a:off x="5332219" y="3139428"/>
              <a:ext cx="2719927" cy="199726"/>
              <a:chOff x="-20" y="3383992"/>
              <a:chExt cx="2827904" cy="115417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xmlns="" id="{06FB7AD0-24B0-486F-A5E5-CCA8E72AF702}"/>
                  </a:ext>
                </a:extLst>
              </p:cNvPr>
              <p:cNvCxnSpPr/>
              <p:nvPr/>
            </p:nvCxnSpPr>
            <p:spPr>
              <a:xfrm>
                <a:off x="648566" y="3383992"/>
                <a:ext cx="2179318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xmlns="" id="{75B87F33-857D-4BF1-AFC8-446E889057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20" y="3383992"/>
                <a:ext cx="648586" cy="115417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圆角矩形 18">
            <a:extLst>
              <a:ext uri="{FF2B5EF4-FFF2-40B4-BE49-F238E27FC236}">
                <a16:creationId xmlns:a16="http://schemas.microsoft.com/office/drawing/2014/main" xmlns="" id="{1FA5C51F-D2D6-48C1-B240-820E76D706A8}"/>
              </a:ext>
            </a:extLst>
          </p:cNvPr>
          <p:cNvSpPr/>
          <p:nvPr/>
        </p:nvSpPr>
        <p:spPr>
          <a:xfrm>
            <a:off x="3827049" y="2319281"/>
            <a:ext cx="742748" cy="145433"/>
          </a:xfrm>
          <a:prstGeom prst="roundRect">
            <a:avLst>
              <a:gd name="adj" fmla="val 11848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  <p:sp>
        <p:nvSpPr>
          <p:cNvPr id="25" name="圆角矩形 18">
            <a:extLst>
              <a:ext uri="{FF2B5EF4-FFF2-40B4-BE49-F238E27FC236}">
                <a16:creationId xmlns:a16="http://schemas.microsoft.com/office/drawing/2014/main" xmlns="" id="{3F123EE0-DD0D-4B6B-AFF9-B9D9ECB9E915}"/>
              </a:ext>
            </a:extLst>
          </p:cNvPr>
          <p:cNvSpPr/>
          <p:nvPr/>
        </p:nvSpPr>
        <p:spPr>
          <a:xfrm>
            <a:off x="3550919" y="2949919"/>
            <a:ext cx="207319" cy="740974"/>
          </a:xfrm>
          <a:prstGeom prst="roundRect">
            <a:avLst>
              <a:gd name="adj" fmla="val 11848"/>
            </a:avLst>
          </a:prstGeom>
          <a:solidFill>
            <a:srgbClr val="FF000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1600" b="1" dirty="0">
              <a:solidFill>
                <a:srgbClr val="CC00CC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/>
          <p:nvPr/>
        </p:nvGrpSpPr>
        <p:grpSpPr>
          <a:xfrm>
            <a:off x="392432" y="780143"/>
            <a:ext cx="5368288" cy="411055"/>
            <a:chOff x="392432" y="780143"/>
            <a:chExt cx="536828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50065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卡诺图化简逻辑函数原则（画圈的原则）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8" name="组合 37"/>
          <p:cNvGrpSpPr/>
          <p:nvPr/>
        </p:nvGrpSpPr>
        <p:grpSpPr>
          <a:xfrm>
            <a:off x="6329900" y="2715481"/>
            <a:ext cx="2369818" cy="2236366"/>
            <a:chOff x="6359525" y="676275"/>
            <a:chExt cx="2593975" cy="2554821"/>
          </a:xfrm>
        </p:grpSpPr>
        <p:grpSp>
          <p:nvGrpSpPr>
            <p:cNvPr id="40" name="Group 18"/>
            <p:cNvGrpSpPr>
              <a:grpSpLocks/>
            </p:cNvGrpSpPr>
            <p:nvPr/>
          </p:nvGrpSpPr>
          <p:grpSpPr bwMode="auto">
            <a:xfrm>
              <a:off x="6359525" y="687949"/>
              <a:ext cx="2590800" cy="2543147"/>
              <a:chOff x="1514" y="2186"/>
              <a:chExt cx="1704" cy="1686"/>
            </a:xfrm>
          </p:grpSpPr>
          <p:sp>
            <p:nvSpPr>
              <p:cNvPr id="42" name="AutoShape 16"/>
              <p:cNvSpPr>
                <a:spLocks noChangeArrowheads="1"/>
              </p:cNvSpPr>
              <p:nvPr/>
            </p:nvSpPr>
            <p:spPr bwMode="auto">
              <a:xfrm>
                <a:off x="1514" y="2186"/>
                <a:ext cx="1704" cy="1686"/>
              </a:xfrm>
              <a:prstGeom prst="roundRect">
                <a:avLst>
                  <a:gd name="adj" fmla="val 3597"/>
                </a:avLst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43" name="Object 13"/>
              <p:cNvGraphicFramePr>
                <a:graphicFrameLocks noChangeAspect="1"/>
              </p:cNvGraphicFramePr>
              <p:nvPr/>
            </p:nvGraphicFramePr>
            <p:xfrm>
              <a:off x="1576" y="2197"/>
              <a:ext cx="1604" cy="15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976" name="Visio" r:id="rId4" imgW="1508939" imgH="1498604" progId="Visio.Drawing.11">
                      <p:embed/>
                    </p:oleObj>
                  </mc:Choice>
                  <mc:Fallback>
                    <p:oleObj name="Visio" r:id="rId4" imgW="1508939" imgH="1498604" progId="Visio.Drawing.11">
                      <p:embed/>
                      <p:pic>
                        <p:nvPicPr>
                          <p:cNvPr id="43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76" y="2197"/>
                            <a:ext cx="1604" cy="15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" name="AutoShape 11"/>
            <p:cNvSpPr>
              <a:spLocks noChangeArrowheads="1"/>
            </p:cNvSpPr>
            <p:nvPr/>
          </p:nvSpPr>
          <p:spPr bwMode="auto">
            <a:xfrm>
              <a:off x="6419850" y="676275"/>
              <a:ext cx="2533650" cy="2466975"/>
            </a:xfrm>
            <a:prstGeom prst="roundRect">
              <a:avLst>
                <a:gd name="adj" fmla="val 3597"/>
              </a:avLst>
            </a:prstGeom>
            <a:noFill/>
            <a:ln w="285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Rectangle 69">
            <a:extLst>
              <a:ext uri="{FF2B5EF4-FFF2-40B4-BE49-F238E27FC236}">
                <a16:creationId xmlns:a16="http://schemas.microsoft.com/office/drawing/2014/main" xmlns="" id="{2627E21C-2655-4CBA-946B-F9E95B022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48" y="2301696"/>
            <a:ext cx="5416413" cy="2746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marL="539750" indent="-539750" eaLnBrk="0" hangingPunct="0">
              <a:lnSpc>
                <a:spcPct val="125000"/>
              </a:lnSpc>
              <a:spcBef>
                <a:spcPts val="600"/>
              </a:spcBef>
            </a:pPr>
            <a:r>
              <a:rPr lang="zh-CN" altLang="en-GB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GB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）每个圈包含的方格数必须为</a:t>
            </a:r>
            <a:r>
              <a:rPr lang="en-US" altLang="zh-CN" sz="14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1400" b="1" i="1" baseline="30000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4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=1,2,3,…</a:t>
            </a:r>
            <a:r>
              <a:rPr lang="zh-CN" altLang="en-US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个，</a:t>
            </a:r>
            <a:r>
              <a:rPr lang="zh-CN" altLang="en-GB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每个圈包围的方格数尽可能多（</a:t>
            </a:r>
            <a:r>
              <a:rPr lang="zh-CN" altLang="en-GB" sz="14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圈尽可能大</a:t>
            </a:r>
            <a:r>
              <a:rPr lang="zh-CN" altLang="en-GB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），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每个圈所包围的小方格构成的图形应是一个</a:t>
            </a:r>
            <a:r>
              <a:rPr lang="zh-CN" altLang="zh-CN" sz="14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矩形</a:t>
            </a:r>
            <a:r>
              <a:rPr lang="en-US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;</a:t>
            </a:r>
          </a:p>
          <a:p>
            <a:pPr marL="539750" indent="-539750" eaLnBrk="0" hangingPunct="0">
              <a:lnSpc>
                <a:spcPct val="125000"/>
              </a:lnSpc>
              <a:spcBef>
                <a:spcPts val="600"/>
              </a:spcBef>
            </a:pP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r>
              <a:rPr lang="zh-CN" altLang="zh-CN" sz="14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保持相邻性</a:t>
            </a:r>
            <a:r>
              <a:rPr lang="zh-CN" altLang="en-US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上下、左右相邻；最上行与最下行相邻；最左列与最右列相邻；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个角是相邻的</a:t>
            </a:r>
            <a:r>
              <a:rPr lang="en-US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;</a:t>
            </a:r>
            <a:endParaRPr lang="zh-CN" altLang="zh-CN" sz="1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539750" indent="-539750" eaLnBrk="0" hangingPunct="0">
              <a:lnSpc>
                <a:spcPct val="125000"/>
              </a:lnSpc>
              <a:spcBef>
                <a:spcPts val="600"/>
              </a:spcBef>
            </a:pP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）所有取值为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“1”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的小方格都要被圈到</a:t>
            </a:r>
            <a:r>
              <a:rPr lang="en-US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;</a:t>
            </a:r>
          </a:p>
          <a:p>
            <a:pPr marL="539750" indent="-539750" eaLnBrk="0" hangingPunct="0">
              <a:lnSpc>
                <a:spcPct val="125000"/>
              </a:lnSpc>
              <a:spcBef>
                <a:spcPts val="600"/>
              </a:spcBef>
            </a:pP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）小方格可以被多个圈重复包围，但每一个圈中至少要有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个取值为</a:t>
            </a:r>
            <a:r>
              <a:rPr lang="en-GB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“1”</a:t>
            </a:r>
            <a:r>
              <a:rPr lang="zh-CN" altLang="zh-CN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小方格未被别的圈包围，否则该圈是多余的</a:t>
            </a:r>
            <a:r>
              <a:rPr lang="zh-CN" altLang="en-US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。（</a:t>
            </a:r>
            <a:r>
              <a:rPr lang="zh-CN" altLang="zh-CN" sz="14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新圈有新格</a:t>
            </a:r>
            <a:r>
              <a:rPr lang="zh-CN" altLang="en-US" sz="1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  <a:endParaRPr lang="zh-CN" altLang="zh-CN" sz="14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15638" y="1255954"/>
            <a:ext cx="8369110" cy="453646"/>
            <a:chOff x="508763" y="1222573"/>
            <a:chExt cx="8369110" cy="453646"/>
          </a:xfrm>
        </p:grpSpPr>
        <p:sp>
          <p:nvSpPr>
            <p:cNvPr id="6" name="圆角矩形 5"/>
            <p:cNvSpPr/>
            <p:nvPr/>
          </p:nvSpPr>
          <p:spPr>
            <a:xfrm>
              <a:off x="508763" y="1222573"/>
              <a:ext cx="8369110" cy="45364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xmlns="" id="{73471774-8DC0-476E-B943-8D5AEB14270E}"/>
                </a:ext>
              </a:extLst>
            </p:cNvPr>
            <p:cNvSpPr txBox="1"/>
            <p:nvPr/>
          </p:nvSpPr>
          <p:spPr>
            <a:xfrm>
              <a:off x="642399" y="1288843"/>
              <a:ext cx="82354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600" b="1" dirty="0">
                  <a:solidFill>
                    <a:srgbClr val="FFC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圈</a:t>
              </a:r>
              <a:r>
                <a:rPr lang="zh-CN" altLang="en-US" sz="1600" b="1" dirty="0">
                  <a:solidFill>
                    <a:srgbClr val="FFC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“</a:t>
              </a:r>
              <a:r>
                <a:rPr lang="en-US" altLang="zh-CN" sz="1600" b="1" dirty="0">
                  <a:solidFill>
                    <a:srgbClr val="FFC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</a:t>
              </a:r>
              <a:r>
                <a:rPr lang="zh-CN" altLang="en-US" sz="1600" b="1" dirty="0">
                  <a:solidFill>
                    <a:srgbClr val="FFC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”</a:t>
              </a:r>
              <a:r>
                <a:rPr lang="en-US" altLang="zh-CN" sz="1600" b="1" dirty="0">
                  <a:solidFill>
                    <a:srgbClr val="FFC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zh-CN" altLang="zh-CN" sz="1600" b="1" dirty="0">
                  <a:solidFill>
                    <a:srgbClr val="FFC00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法</a:t>
              </a:r>
              <a:r>
                <a:rPr lang="zh-CN" altLang="en-US" sz="1600" b="1" dirty="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：</a:t>
              </a:r>
              <a:r>
                <a:rPr lang="zh-CN" altLang="zh-CN" sz="1600" kern="1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利用</a:t>
              </a:r>
              <a:r>
                <a:rPr lang="zh-CN" altLang="zh-CN" sz="1600" kern="100" dirty="0">
                  <a:solidFill>
                    <a:schemeClr val="bg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给相邻取值为</a:t>
              </a:r>
              <a:r>
                <a:rPr lang="en-US" altLang="zh-CN" sz="1600" kern="100" dirty="0">
                  <a:solidFill>
                    <a:schemeClr val="bg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rPr>
                <a:t>“1”</a:t>
              </a:r>
              <a:r>
                <a:rPr lang="zh-CN" altLang="zh-CN" sz="1600" kern="100" dirty="0">
                  <a:solidFill>
                    <a:schemeClr val="bg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的小方格画圈的方法来合并最小项</a:t>
              </a:r>
              <a:r>
                <a:rPr lang="zh-CN" altLang="en-US" sz="1600" kern="100" dirty="0">
                  <a:solidFill>
                    <a:schemeClr val="bg1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。</a:t>
              </a:r>
              <a:endParaRPr lang="zh-CN" altLang="en-US" sz="1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3" name="AutoShape 16">
            <a:extLst>
              <a:ext uri="{FF2B5EF4-FFF2-40B4-BE49-F238E27FC236}">
                <a16:creationId xmlns:a16="http://schemas.microsoft.com/office/drawing/2014/main" xmlns="" id="{22130E12-D42C-4985-A3FC-B37A7A1D8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153" y="3675149"/>
            <a:ext cx="765997" cy="692494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Group 21">
            <a:extLst>
              <a:ext uri="{FF2B5EF4-FFF2-40B4-BE49-F238E27FC236}">
                <a16:creationId xmlns:a16="http://schemas.microsoft.com/office/drawing/2014/main" xmlns="" id="{31D0E440-5BC8-423F-B428-16FAFD4C5F5B}"/>
              </a:ext>
            </a:extLst>
          </p:cNvPr>
          <p:cNvGrpSpPr>
            <a:grpSpLocks/>
          </p:cNvGrpSpPr>
          <p:nvPr/>
        </p:nvGrpSpPr>
        <p:grpSpPr bwMode="auto">
          <a:xfrm>
            <a:off x="6953978" y="3281570"/>
            <a:ext cx="1546182" cy="1490620"/>
            <a:chOff x="4101" y="1933"/>
            <a:chExt cx="1249" cy="1242"/>
          </a:xfrm>
        </p:grpSpPr>
        <p:sp>
          <p:nvSpPr>
            <p:cNvPr id="15" name="Arc 17">
              <a:extLst>
                <a:ext uri="{FF2B5EF4-FFF2-40B4-BE49-F238E27FC236}">
                  <a16:creationId xmlns:a16="http://schemas.microsoft.com/office/drawing/2014/main" xmlns="" id="{5A1D0565-031B-4D81-9272-4CF7FAF82CB2}"/>
                </a:ext>
              </a:extLst>
            </p:cNvPr>
            <p:cNvSpPr>
              <a:spLocks/>
            </p:cNvSpPr>
            <p:nvPr/>
          </p:nvSpPr>
          <p:spPr bwMode="auto">
            <a:xfrm rot="1874818">
              <a:off x="4101" y="1933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Arc 18">
              <a:extLst>
                <a:ext uri="{FF2B5EF4-FFF2-40B4-BE49-F238E27FC236}">
                  <a16:creationId xmlns:a16="http://schemas.microsoft.com/office/drawing/2014/main" xmlns="" id="{521657D1-75E6-4A0D-BBCE-259A3EF6AF36}"/>
                </a:ext>
              </a:extLst>
            </p:cNvPr>
            <p:cNvSpPr>
              <a:spLocks/>
            </p:cNvSpPr>
            <p:nvPr/>
          </p:nvSpPr>
          <p:spPr bwMode="auto">
            <a:xfrm rot="19725182" flipH="1">
              <a:off x="5102" y="1934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rc 19">
              <a:extLst>
                <a:ext uri="{FF2B5EF4-FFF2-40B4-BE49-F238E27FC236}">
                  <a16:creationId xmlns:a16="http://schemas.microsoft.com/office/drawing/2014/main" xmlns="" id="{D394248D-3B4F-4BC0-BB79-0610D44285AA}"/>
                </a:ext>
              </a:extLst>
            </p:cNvPr>
            <p:cNvSpPr>
              <a:spLocks/>
            </p:cNvSpPr>
            <p:nvPr/>
          </p:nvSpPr>
          <p:spPr bwMode="auto">
            <a:xfrm rot="1874818" flipH="1" flipV="1">
              <a:off x="5103" y="2911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Arc 20">
              <a:extLst>
                <a:ext uri="{FF2B5EF4-FFF2-40B4-BE49-F238E27FC236}">
                  <a16:creationId xmlns:a16="http://schemas.microsoft.com/office/drawing/2014/main" xmlns="" id="{90B203D3-C479-48D1-94AA-77860B641372}"/>
                </a:ext>
              </a:extLst>
            </p:cNvPr>
            <p:cNvSpPr>
              <a:spLocks/>
            </p:cNvSpPr>
            <p:nvPr/>
          </p:nvSpPr>
          <p:spPr bwMode="auto">
            <a:xfrm rot="19725182" flipV="1">
              <a:off x="4120" y="2896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1FE90771-79EE-4A99-8BED-8C90A057D5D9}"/>
              </a:ext>
            </a:extLst>
          </p:cNvPr>
          <p:cNvGrpSpPr/>
          <p:nvPr/>
        </p:nvGrpSpPr>
        <p:grpSpPr>
          <a:xfrm>
            <a:off x="515638" y="1787659"/>
            <a:ext cx="3016882" cy="396000"/>
            <a:chOff x="358461" y="2491451"/>
            <a:chExt cx="3016882" cy="3960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F881AA09-D661-427F-B66D-09973F28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328" y="2491452"/>
              <a:ext cx="2553015" cy="395286"/>
            </a:xfrm>
            <a:prstGeom prst="rect">
              <a:avLst/>
            </a:prstGeom>
            <a:solidFill>
              <a:srgbClr val="05AFC8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圈“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1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”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的原则：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E5D766B9-54F8-411C-8539-C1640A24C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61" y="2491451"/>
              <a:ext cx="449288" cy="396000"/>
            </a:xfrm>
            <a:prstGeom prst="rect">
              <a:avLst/>
            </a:prstGeom>
            <a:solidFill>
              <a:srgbClr val="3C3C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395E8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xmlns="" id="{1433F1A2-8E79-45F2-BBE4-AEE420D543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9898" y="2555590"/>
              <a:ext cx="306580" cy="288000"/>
            </a:xfrm>
            <a:custGeom>
              <a:avLst/>
              <a:gdLst>
                <a:gd name="T0" fmla="*/ 40 w 128"/>
                <a:gd name="T1" fmla="*/ 120 h 120"/>
                <a:gd name="T2" fmla="*/ 12 w 128"/>
                <a:gd name="T3" fmla="*/ 108 h 120"/>
                <a:gd name="T4" fmla="*/ 0 w 128"/>
                <a:gd name="T5" fmla="*/ 80 h 120"/>
                <a:gd name="T6" fmla="*/ 12 w 128"/>
                <a:gd name="T7" fmla="*/ 52 h 120"/>
                <a:gd name="T8" fmla="*/ 58 w 128"/>
                <a:gd name="T9" fmla="*/ 2 h 120"/>
                <a:gd name="T10" fmla="*/ 64 w 128"/>
                <a:gd name="T11" fmla="*/ 8 h 120"/>
                <a:gd name="T12" fmla="*/ 17 w 128"/>
                <a:gd name="T13" fmla="*/ 57 h 120"/>
                <a:gd name="T14" fmla="*/ 8 w 128"/>
                <a:gd name="T15" fmla="*/ 80 h 120"/>
                <a:gd name="T16" fmla="*/ 17 w 128"/>
                <a:gd name="T17" fmla="*/ 103 h 120"/>
                <a:gd name="T18" fmla="*/ 40 w 128"/>
                <a:gd name="T19" fmla="*/ 112 h 120"/>
                <a:gd name="T20" fmla="*/ 63 w 128"/>
                <a:gd name="T21" fmla="*/ 103 h 120"/>
                <a:gd name="T22" fmla="*/ 113 w 128"/>
                <a:gd name="T23" fmla="*/ 49 h 120"/>
                <a:gd name="T24" fmla="*/ 120 w 128"/>
                <a:gd name="T25" fmla="*/ 32 h 120"/>
                <a:gd name="T26" fmla="*/ 113 w 128"/>
                <a:gd name="T27" fmla="*/ 15 h 120"/>
                <a:gd name="T28" fmla="*/ 96 w 128"/>
                <a:gd name="T29" fmla="*/ 8 h 120"/>
                <a:gd name="T30" fmla="*/ 79 w 128"/>
                <a:gd name="T31" fmla="*/ 15 h 120"/>
                <a:gd name="T32" fmla="*/ 29 w 128"/>
                <a:gd name="T33" fmla="*/ 69 h 120"/>
                <a:gd name="T34" fmla="*/ 29 w 128"/>
                <a:gd name="T35" fmla="*/ 91 h 120"/>
                <a:gd name="T36" fmla="*/ 40 w 128"/>
                <a:gd name="T37" fmla="*/ 96 h 120"/>
                <a:gd name="T38" fmla="*/ 40 w 128"/>
                <a:gd name="T39" fmla="*/ 96 h 120"/>
                <a:gd name="T40" fmla="*/ 51 w 128"/>
                <a:gd name="T41" fmla="*/ 91 h 120"/>
                <a:gd name="T42" fmla="*/ 100 w 128"/>
                <a:gd name="T43" fmla="*/ 41 h 120"/>
                <a:gd name="T44" fmla="*/ 105 w 128"/>
                <a:gd name="T45" fmla="*/ 47 h 120"/>
                <a:gd name="T46" fmla="*/ 57 w 128"/>
                <a:gd name="T47" fmla="*/ 97 h 120"/>
                <a:gd name="T48" fmla="*/ 40 w 128"/>
                <a:gd name="T49" fmla="*/ 104 h 120"/>
                <a:gd name="T50" fmla="*/ 40 w 128"/>
                <a:gd name="T51" fmla="*/ 104 h 120"/>
                <a:gd name="T52" fmla="*/ 23 w 128"/>
                <a:gd name="T53" fmla="*/ 97 h 120"/>
                <a:gd name="T54" fmla="*/ 23 w 128"/>
                <a:gd name="T55" fmla="*/ 63 h 120"/>
                <a:gd name="T56" fmla="*/ 73 w 128"/>
                <a:gd name="T57" fmla="*/ 9 h 120"/>
                <a:gd name="T58" fmla="*/ 96 w 128"/>
                <a:gd name="T59" fmla="*/ 0 h 120"/>
                <a:gd name="T60" fmla="*/ 119 w 128"/>
                <a:gd name="T61" fmla="*/ 9 h 120"/>
                <a:gd name="T62" fmla="*/ 128 w 128"/>
                <a:gd name="T63" fmla="*/ 32 h 120"/>
                <a:gd name="T64" fmla="*/ 119 w 128"/>
                <a:gd name="T65" fmla="*/ 55 h 120"/>
                <a:gd name="T66" fmla="*/ 68 w 128"/>
                <a:gd name="T67" fmla="*/ 108 h 120"/>
                <a:gd name="T68" fmla="*/ 40 w 128"/>
                <a:gd name="T6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20">
                  <a:moveTo>
                    <a:pt x="40" y="120"/>
                  </a:moveTo>
                  <a:cubicBezTo>
                    <a:pt x="29" y="120"/>
                    <a:pt x="19" y="116"/>
                    <a:pt x="12" y="108"/>
                  </a:cubicBezTo>
                  <a:cubicBezTo>
                    <a:pt x="4" y="101"/>
                    <a:pt x="0" y="91"/>
                    <a:pt x="0" y="80"/>
                  </a:cubicBezTo>
                  <a:cubicBezTo>
                    <a:pt x="0" y="69"/>
                    <a:pt x="4" y="59"/>
                    <a:pt x="12" y="5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1" y="63"/>
                    <a:pt x="8" y="71"/>
                    <a:pt x="8" y="80"/>
                  </a:cubicBezTo>
                  <a:cubicBezTo>
                    <a:pt x="8" y="89"/>
                    <a:pt x="11" y="97"/>
                    <a:pt x="17" y="103"/>
                  </a:cubicBezTo>
                  <a:cubicBezTo>
                    <a:pt x="23" y="109"/>
                    <a:pt x="31" y="112"/>
                    <a:pt x="40" y="112"/>
                  </a:cubicBezTo>
                  <a:cubicBezTo>
                    <a:pt x="49" y="112"/>
                    <a:pt x="57" y="109"/>
                    <a:pt x="63" y="103"/>
                  </a:cubicBezTo>
                  <a:cubicBezTo>
                    <a:pt x="113" y="49"/>
                    <a:pt x="113" y="49"/>
                    <a:pt x="113" y="49"/>
                  </a:cubicBezTo>
                  <a:cubicBezTo>
                    <a:pt x="118" y="44"/>
                    <a:pt x="120" y="38"/>
                    <a:pt x="120" y="32"/>
                  </a:cubicBezTo>
                  <a:cubicBezTo>
                    <a:pt x="120" y="26"/>
                    <a:pt x="118" y="20"/>
                    <a:pt x="113" y="15"/>
                  </a:cubicBezTo>
                  <a:cubicBezTo>
                    <a:pt x="108" y="10"/>
                    <a:pt x="102" y="8"/>
                    <a:pt x="96" y="8"/>
                  </a:cubicBezTo>
                  <a:cubicBezTo>
                    <a:pt x="90" y="8"/>
                    <a:pt x="84" y="10"/>
                    <a:pt x="79" y="15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2" y="75"/>
                    <a:pt x="22" y="85"/>
                    <a:pt x="29" y="91"/>
                  </a:cubicBezTo>
                  <a:cubicBezTo>
                    <a:pt x="32" y="94"/>
                    <a:pt x="36" y="96"/>
                    <a:pt x="40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4" y="96"/>
                    <a:pt x="48" y="94"/>
                    <a:pt x="51" y="91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57" y="97"/>
                    <a:pt x="57" y="97"/>
                    <a:pt x="57" y="97"/>
                  </a:cubicBezTo>
                  <a:cubicBezTo>
                    <a:pt x="52" y="102"/>
                    <a:pt x="46" y="104"/>
                    <a:pt x="40" y="104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4"/>
                    <a:pt x="28" y="102"/>
                    <a:pt x="23" y="97"/>
                  </a:cubicBezTo>
                  <a:cubicBezTo>
                    <a:pt x="14" y="88"/>
                    <a:pt x="14" y="72"/>
                    <a:pt x="23" y="63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9" y="3"/>
                    <a:pt x="87" y="0"/>
                    <a:pt x="96" y="0"/>
                  </a:cubicBezTo>
                  <a:cubicBezTo>
                    <a:pt x="105" y="0"/>
                    <a:pt x="113" y="3"/>
                    <a:pt x="119" y="9"/>
                  </a:cubicBezTo>
                  <a:cubicBezTo>
                    <a:pt x="125" y="15"/>
                    <a:pt x="128" y="23"/>
                    <a:pt x="128" y="32"/>
                  </a:cubicBezTo>
                  <a:cubicBezTo>
                    <a:pt x="128" y="41"/>
                    <a:pt x="125" y="49"/>
                    <a:pt x="119" y="55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1" y="116"/>
                    <a:pt x="51" y="120"/>
                    <a:pt x="40" y="120"/>
                  </a:cubicBezTo>
                </a:path>
              </a:pathLst>
            </a:custGeom>
            <a:solidFill>
              <a:schemeClr val="bg1"/>
            </a:solidFill>
            <a:ln w="6350" cmpd="sng">
              <a:solidFill>
                <a:schemeClr val="bg1"/>
              </a:solidFill>
            </a:ln>
            <a:effectLst/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30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6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91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52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152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78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413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7044" algn="l" defTabSz="609630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1219170"/>
              <a:endParaRPr lang="zh-CN" altLang="en-US" sz="320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6359525" y="676275"/>
            <a:ext cx="2593975" cy="2554821"/>
            <a:chOff x="6359525" y="676275"/>
            <a:chExt cx="2593975" cy="2554821"/>
          </a:xfrm>
        </p:grpSpPr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6359525" y="687949"/>
              <a:ext cx="2590800" cy="2543147"/>
              <a:chOff x="1514" y="2186"/>
              <a:chExt cx="1704" cy="1686"/>
            </a:xfrm>
          </p:grpSpPr>
          <p:sp>
            <p:nvSpPr>
              <p:cNvPr id="15" name="AutoShape 16"/>
              <p:cNvSpPr>
                <a:spLocks noChangeArrowheads="1"/>
              </p:cNvSpPr>
              <p:nvPr/>
            </p:nvSpPr>
            <p:spPr bwMode="auto">
              <a:xfrm>
                <a:off x="1514" y="2186"/>
                <a:ext cx="1704" cy="1686"/>
              </a:xfrm>
              <a:prstGeom prst="roundRect">
                <a:avLst>
                  <a:gd name="adj" fmla="val 3597"/>
                </a:avLst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16" name="Object 13"/>
              <p:cNvGraphicFramePr>
                <a:graphicFrameLocks noChangeAspect="1"/>
              </p:cNvGraphicFramePr>
              <p:nvPr/>
            </p:nvGraphicFramePr>
            <p:xfrm>
              <a:off x="1576" y="2197"/>
              <a:ext cx="1604" cy="15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012" name="Visio" r:id="rId3" imgW="1508939" imgH="1498604" progId="Visio.Drawing.11">
                      <p:embed/>
                    </p:oleObj>
                  </mc:Choice>
                  <mc:Fallback>
                    <p:oleObj name="Visio" r:id="rId3" imgW="1508939" imgH="1498604" progId="Visio.Drawing.11">
                      <p:embed/>
                      <p:pic>
                        <p:nvPicPr>
                          <p:cNvPr id="16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76" y="2197"/>
                            <a:ext cx="1604" cy="15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4" name="AutoShape 11"/>
            <p:cNvSpPr>
              <a:spLocks noChangeArrowheads="1"/>
            </p:cNvSpPr>
            <p:nvPr/>
          </p:nvSpPr>
          <p:spPr bwMode="auto">
            <a:xfrm>
              <a:off x="6419850" y="676275"/>
              <a:ext cx="2533650" cy="2466975"/>
            </a:xfrm>
            <a:prstGeom prst="roundRect">
              <a:avLst>
                <a:gd name="adj" fmla="val 3597"/>
              </a:avLst>
            </a:prstGeom>
            <a:noFill/>
            <a:ln w="285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0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、逻辑函数的卡诺图化简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步骤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oup 20"/>
          <p:cNvGrpSpPr>
            <a:grpSpLocks/>
          </p:cNvGrpSpPr>
          <p:nvPr/>
        </p:nvGrpSpPr>
        <p:grpSpPr bwMode="auto">
          <a:xfrm>
            <a:off x="444500" y="1290641"/>
            <a:ext cx="5603875" cy="344488"/>
            <a:chOff x="368" y="686"/>
            <a:chExt cx="3530" cy="217"/>
          </a:xfrm>
        </p:grpSpPr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68" y="690"/>
              <a:ext cx="166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例：</a:t>
              </a:r>
              <a:r>
                <a:rPr lang="zh-CN" altLang="en-US" sz="1600" b="1" dirty="0"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用卡诺图化简逻辑函数</a:t>
              </a:r>
            </a:p>
          </p:txBody>
        </p:sp>
        <p:graphicFrame>
          <p:nvGraphicFramePr>
            <p:cNvPr id="11" name="Object 5"/>
            <p:cNvGraphicFramePr>
              <a:graphicFrameLocks noChangeAspect="1"/>
            </p:cNvGraphicFramePr>
            <p:nvPr/>
          </p:nvGraphicFramePr>
          <p:xfrm>
            <a:off x="2030" y="686"/>
            <a:ext cx="186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013" name="公式" r:id="rId6" imgW="2247900" imgH="215900" progId="Equation.3">
                    <p:embed/>
                  </p:oleObj>
                </mc:Choice>
                <mc:Fallback>
                  <p:oleObj name="公式" r:id="rId6" imgW="2247900" imgH="215900" progId="Equation.3">
                    <p:embed/>
                    <p:pic>
                      <p:nvPicPr>
                        <p:cNvPr id="11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0" y="686"/>
                          <a:ext cx="1868" cy="1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822960" y="1779420"/>
            <a:ext cx="50654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rIns="0" anchor="ctr">
            <a:spAutoFit/>
          </a:bodyPr>
          <a:lstStyle/>
          <a:p>
            <a:pPr eaLnBrk="0" hangingPunct="0"/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）用卡诺图表示逻辑函数（画出逻辑函数的卡诺图）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847979" y="2355584"/>
            <a:ext cx="2056338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rIns="0" anchor="ctr">
            <a:spAutoFit/>
          </a:bodyPr>
          <a:lstStyle/>
          <a:p>
            <a:pPr eaLnBrk="0" hangingPunct="0"/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）合并最小项</a:t>
            </a:r>
            <a:endParaRPr lang="en-US" altLang="zh-CN" sz="16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4" name="Rectangle 16"/>
          <p:cNvSpPr>
            <a:spLocks noChangeArrowheads="1"/>
          </p:cNvSpPr>
          <p:nvPr/>
        </p:nvSpPr>
        <p:spPr bwMode="auto">
          <a:xfrm>
            <a:off x="862013" y="4740404"/>
            <a:ext cx="262892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rIns="0" anchor="ctr">
            <a:spAutoFit/>
          </a:bodyPr>
          <a:lstStyle/>
          <a:p>
            <a:pPr eaLnBrk="0" hangingPunct="0"/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）写化简后的逻辑表达式</a:t>
            </a:r>
            <a:endParaRPr lang="zh-CN" altLang="en-US" sz="22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193285" y="3188216"/>
            <a:ext cx="2798315" cy="2041188"/>
            <a:chOff x="6107560" y="3205145"/>
            <a:chExt cx="2798315" cy="2041188"/>
          </a:xfrm>
        </p:grpSpPr>
        <p:sp>
          <p:nvSpPr>
            <p:cNvPr id="36" name="圆角矩形 35"/>
            <p:cNvSpPr/>
            <p:nvPr/>
          </p:nvSpPr>
          <p:spPr>
            <a:xfrm>
              <a:off x="6321863" y="3425153"/>
              <a:ext cx="2584012" cy="1821180"/>
            </a:xfrm>
            <a:prstGeom prst="roundRect">
              <a:avLst>
                <a:gd name="adj" fmla="val 11994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eaLnBrk="0" hangingPunct="0">
                <a:lnSpc>
                  <a:spcPct val="125000"/>
                </a:lnSpc>
              </a:pPr>
              <a:r>
                <a:rPr lang="zh-CN" altLang="en-US" sz="1600" dirty="0">
                  <a:solidFill>
                    <a:srgbClr val="262626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     每个圈写一个最简与项</a:t>
              </a:r>
              <a:r>
                <a:rPr lang="en-US" altLang="zh-CN" sz="1600" dirty="0">
                  <a:solidFill>
                    <a:srgbClr val="262626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(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消去不同的变量，留下相同的变量</a:t>
              </a:r>
              <a:r>
                <a:rPr lang="en-US" altLang="zh-CN" sz="1600" dirty="0">
                  <a:solidFill>
                    <a:srgbClr val="262626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)</a:t>
              </a:r>
              <a:r>
                <a:rPr lang="zh-CN" altLang="en-US" sz="1600" dirty="0">
                  <a:solidFill>
                    <a:srgbClr val="262626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，然后将所有与项进行逻辑加。即得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最简与</a:t>
              </a:r>
              <a:r>
                <a:rPr lang="en-US" altLang="zh-CN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—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或表达式</a:t>
              </a:r>
              <a:r>
                <a:rPr lang="zh-CN" altLang="en-US" sz="1600" dirty="0">
                  <a:solidFill>
                    <a:srgbClr val="262626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。 </a:t>
              </a:r>
            </a:p>
          </p:txBody>
        </p:sp>
        <p:pic>
          <p:nvPicPr>
            <p:cNvPr id="86023" name="Picture 7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107560" y="3205145"/>
              <a:ext cx="461916" cy="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31" name="组合 30"/>
          <p:cNvGrpSpPr/>
          <p:nvPr/>
        </p:nvGrpSpPr>
        <p:grpSpPr>
          <a:xfrm>
            <a:off x="1895982" y="2446650"/>
            <a:ext cx="4572000" cy="2238494"/>
            <a:chOff x="1911350" y="2523490"/>
            <a:chExt cx="4572000" cy="2238494"/>
          </a:xfrm>
        </p:grpSpPr>
        <p:sp>
          <p:nvSpPr>
            <p:cNvPr id="32" name="矩形 31"/>
            <p:cNvSpPr/>
            <p:nvPr/>
          </p:nvSpPr>
          <p:spPr>
            <a:xfrm>
              <a:off x="1911350" y="3746321"/>
              <a:ext cx="4572000" cy="101566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0" hangingPunct="0">
                <a:lnSpc>
                  <a:spcPct val="125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②  </a:t>
              </a:r>
              <a:r>
                <a:rPr lang="zh-CN" altLang="en-US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相邻格被包围数应为</a:t>
              </a:r>
              <a:r>
                <a:rPr lang="en-US" altLang="zh-CN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2</a:t>
              </a:r>
              <a:r>
                <a:rPr lang="en-US" altLang="zh-CN" sz="1600" b="1" baseline="30000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n</a:t>
              </a:r>
              <a:r>
                <a:rPr lang="zh-CN" altLang="en-US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个</a:t>
              </a:r>
              <a:r>
                <a:rPr lang="en-US" altLang="zh-CN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(n=0,1,2…)</a:t>
              </a:r>
              <a:r>
                <a:rPr lang="zh-CN" altLang="en-US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；</a:t>
              </a:r>
              <a:endParaRPr lang="en-US" altLang="zh-CN" sz="1600" b="1" dirty="0">
                <a:solidFill>
                  <a:srgbClr val="0070C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  <a:p>
              <a:pPr marL="342900" indent="-342900" eaLnBrk="0" hangingPunct="0">
                <a:lnSpc>
                  <a:spcPct val="125000"/>
                </a:lnSpc>
              </a:pPr>
              <a:r>
                <a:rPr lang="zh-CN" altLang="en-US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③  每个圈方格数尽量多；</a:t>
              </a:r>
              <a:endParaRPr lang="en-US" altLang="zh-CN" sz="1600" b="1" dirty="0">
                <a:solidFill>
                  <a:srgbClr val="0070C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endParaRPr>
            </a:p>
            <a:p>
              <a:pPr marL="342900" indent="-342900" eaLnBrk="0" hangingPunct="0">
                <a:lnSpc>
                  <a:spcPct val="125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④  </a:t>
              </a:r>
              <a:r>
                <a:rPr lang="zh-CN" altLang="en-US" sz="1600" b="1" dirty="0">
                  <a:solidFill>
                    <a:srgbClr val="0070C0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方格可重复包围，但新圈需要有新格。</a:t>
              </a: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911350" y="2523490"/>
              <a:ext cx="3892574" cy="1169551"/>
              <a:chOff x="1911350" y="2523490"/>
              <a:chExt cx="3892574" cy="1169551"/>
            </a:xfrm>
          </p:grpSpPr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1911350" y="2909888"/>
                <a:ext cx="2148345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eaLnBrk="0" hangingPunct="0"/>
                <a:r>
                  <a:rPr lang="en-US" altLang="zh-CN" sz="1600" b="1" dirty="0">
                    <a:solidFill>
                      <a:srgbClr val="0070C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①  </a:t>
                </a:r>
                <a:r>
                  <a:rPr lang="zh-CN" altLang="en-US" sz="1600" b="1" dirty="0">
                    <a:solidFill>
                      <a:srgbClr val="0070C0"/>
                    </a:solidFill>
                    <a:latin typeface="Times New Roman" pitchFamily="18" charset="0"/>
                    <a:ea typeface="黑体" pitchFamily="49" charset="-122"/>
                    <a:cs typeface="Times New Roman" pitchFamily="18" charset="0"/>
                  </a:rPr>
                  <a:t>保持相邻性</a:t>
                </a:r>
              </a:p>
            </p:txBody>
          </p:sp>
          <p:sp>
            <p:nvSpPr>
              <p:cNvPr id="33" name="左大括号 32"/>
              <p:cNvSpPr/>
              <p:nvPr/>
            </p:nvSpPr>
            <p:spPr>
              <a:xfrm>
                <a:off x="3430234" y="2622550"/>
                <a:ext cx="198119" cy="965200"/>
              </a:xfrm>
              <a:prstGeom prst="leftBrace">
                <a:avLst>
                  <a:gd name="adj1" fmla="val 59615"/>
                  <a:gd name="adj2" fmla="val 50000"/>
                </a:avLst>
              </a:prstGeom>
              <a:ln w="19050">
                <a:solidFill>
                  <a:srgbClr val="66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Rectangle 9"/>
              <p:cNvSpPr>
                <a:spLocks noChangeArrowheads="1"/>
              </p:cNvSpPr>
              <p:nvPr/>
            </p:nvSpPr>
            <p:spPr bwMode="auto">
              <a:xfrm>
                <a:off x="3634740" y="2523490"/>
                <a:ext cx="2169184" cy="11695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25000"/>
                  </a:lnSpc>
                  <a:buSzPct val="80000"/>
                  <a:buFont typeface="Wingdings" pitchFamily="2" charset="2"/>
                  <a:buChar char="Ø"/>
                  <a:tabLst>
                    <a:tab pos="1333500" algn="l"/>
                  </a:tabLst>
                </a:pPr>
                <a:r>
                  <a:rPr lang="zh-CN" altLang="en-US" sz="14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 上下、左右相邻</a:t>
                </a:r>
              </a:p>
              <a:p>
                <a:pPr>
                  <a:lnSpc>
                    <a:spcPct val="125000"/>
                  </a:lnSpc>
                  <a:buSzPct val="80000"/>
                  <a:buFont typeface="Wingdings" pitchFamily="2" charset="2"/>
                  <a:buChar char="Ø"/>
                  <a:tabLst>
                    <a:tab pos="1333500" algn="l"/>
                  </a:tabLst>
                </a:pPr>
                <a:r>
                  <a:rPr lang="zh-CN" altLang="en-US" sz="14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  最上行与最下行相邻</a:t>
                </a:r>
              </a:p>
              <a:p>
                <a:pPr>
                  <a:lnSpc>
                    <a:spcPct val="125000"/>
                  </a:lnSpc>
                  <a:buSzPct val="80000"/>
                  <a:buFont typeface="Wingdings" pitchFamily="2" charset="2"/>
                  <a:buChar char="Ø"/>
                  <a:tabLst>
                    <a:tab pos="1333500" algn="l"/>
                  </a:tabLst>
                </a:pPr>
                <a:r>
                  <a:rPr lang="zh-CN" altLang="en-US" sz="14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  最左列与最右列相邻</a:t>
                </a:r>
              </a:p>
              <a:p>
                <a:pPr>
                  <a:lnSpc>
                    <a:spcPct val="125000"/>
                  </a:lnSpc>
                  <a:buSzPct val="80000"/>
                  <a:buFont typeface="Wingdings" pitchFamily="2" charset="2"/>
                  <a:buChar char="Ø"/>
                  <a:tabLst>
                    <a:tab pos="1333500" algn="l"/>
                  </a:tabLst>
                </a:pPr>
                <a:r>
                  <a:rPr lang="en-US" altLang="zh-CN" sz="14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  4</a:t>
                </a:r>
                <a:r>
                  <a:rPr lang="zh-CN" altLang="en-US" sz="14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角相邻</a:t>
                </a:r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1400" b="1" i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m</a:t>
                </a:r>
                <a:r>
                  <a:rPr lang="en-US" altLang="zh-CN" sz="1400" b="1" baseline="-250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0</a:t>
                </a:r>
                <a:r>
                  <a:rPr lang="en-US" altLang="zh-CN" sz="1400" b="1" i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,m</a:t>
                </a:r>
                <a:r>
                  <a:rPr lang="en-US" altLang="zh-CN" sz="1400" b="1" baseline="-250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2</a:t>
                </a:r>
                <a:r>
                  <a:rPr lang="en-US" altLang="zh-CN" sz="1400" b="1" i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,m</a:t>
                </a:r>
                <a:r>
                  <a:rPr lang="en-US" altLang="zh-CN" sz="1400" b="1" baseline="-250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8</a:t>
                </a:r>
                <a:r>
                  <a:rPr lang="en-US" altLang="zh-CN" sz="1400" b="1" i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,m</a:t>
                </a:r>
                <a:r>
                  <a:rPr lang="en-US" altLang="zh-CN" sz="1400" b="1" baseline="-25000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10</a:t>
                </a:r>
                <a:r>
                  <a:rPr lang="en-US" altLang="zh-CN" sz="1400" b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)</a:t>
                </a:r>
                <a:r>
                  <a:rPr lang="zh-CN" altLang="en-US" sz="1400" b="1" dirty="0">
                    <a:solidFill>
                      <a:srgbClr val="6600FF"/>
                    </a:solidFill>
                    <a:latin typeface="Times New Roman" pitchFamily="18" charset="0"/>
                    <a:ea typeface="方正粗黑宋简体" pitchFamily="2" charset="-122"/>
                    <a:cs typeface="Times New Roman" pitchFamily="18" charset="0"/>
                  </a:rPr>
                  <a:t> </a:t>
                </a: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7924800" y="2141220"/>
            <a:ext cx="922020" cy="464820"/>
            <a:chOff x="7924800" y="2141220"/>
            <a:chExt cx="922020" cy="464820"/>
          </a:xfrm>
        </p:grpSpPr>
        <p:sp>
          <p:nvSpPr>
            <p:cNvPr id="44" name="矩形 43"/>
            <p:cNvSpPr/>
            <p:nvPr/>
          </p:nvSpPr>
          <p:spPr>
            <a:xfrm>
              <a:off x="7924800" y="2141220"/>
              <a:ext cx="457200" cy="464820"/>
            </a:xfrm>
            <a:prstGeom prst="rect">
              <a:avLst/>
            </a:prstGeom>
            <a:solidFill>
              <a:srgbClr val="FF0000">
                <a:alpha val="19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6600FF"/>
                  </a:solidFill>
                </a:rPr>
                <a:t>1</a:t>
              </a:r>
              <a:endParaRPr lang="zh-CN" altLang="en-US" sz="2000" b="1" dirty="0">
                <a:solidFill>
                  <a:srgbClr val="6600FF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389620" y="2141220"/>
              <a:ext cx="457200" cy="464820"/>
            </a:xfrm>
            <a:prstGeom prst="rect">
              <a:avLst/>
            </a:prstGeom>
            <a:solidFill>
              <a:srgbClr val="FF0000">
                <a:alpha val="19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6600FF"/>
                  </a:solidFill>
                </a:rPr>
                <a:t>1</a:t>
              </a:r>
              <a:endParaRPr lang="zh-CN" altLang="en-US" sz="2000" b="1" dirty="0">
                <a:solidFill>
                  <a:srgbClr val="6600FF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7459980" y="2141220"/>
            <a:ext cx="922020" cy="464820"/>
            <a:chOff x="7924800" y="2141220"/>
            <a:chExt cx="922020" cy="464820"/>
          </a:xfrm>
          <a:solidFill>
            <a:srgbClr val="FFFF00">
              <a:alpha val="43000"/>
            </a:srgbClr>
          </a:solidFill>
        </p:grpSpPr>
        <p:sp>
          <p:nvSpPr>
            <p:cNvPr id="50" name="矩形 49"/>
            <p:cNvSpPr/>
            <p:nvPr/>
          </p:nvSpPr>
          <p:spPr>
            <a:xfrm>
              <a:off x="7924800" y="2141220"/>
              <a:ext cx="457200" cy="4648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6600FF"/>
                  </a:solidFill>
                </a:rPr>
                <a:t>1</a:t>
              </a:r>
              <a:endParaRPr lang="zh-CN" altLang="en-US" sz="2000" b="1" dirty="0">
                <a:solidFill>
                  <a:srgbClr val="6600FF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8389620" y="2141220"/>
              <a:ext cx="457200" cy="4648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6600FF"/>
                  </a:solidFill>
                </a:rPr>
                <a:t>1</a:t>
              </a:r>
              <a:endParaRPr lang="zh-CN" altLang="en-US" sz="2000" b="1" dirty="0">
                <a:solidFill>
                  <a:srgbClr val="6600FF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995160" y="1684020"/>
            <a:ext cx="922020" cy="464820"/>
            <a:chOff x="7924800" y="2141220"/>
            <a:chExt cx="922020" cy="464820"/>
          </a:xfrm>
          <a:solidFill>
            <a:srgbClr val="FFFF00">
              <a:alpha val="43000"/>
            </a:srgbClr>
          </a:solidFill>
        </p:grpSpPr>
        <p:sp>
          <p:nvSpPr>
            <p:cNvPr id="53" name="矩形 52"/>
            <p:cNvSpPr/>
            <p:nvPr/>
          </p:nvSpPr>
          <p:spPr>
            <a:xfrm>
              <a:off x="7924800" y="2141220"/>
              <a:ext cx="457200" cy="4648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6600FF"/>
                  </a:solidFill>
                </a:rPr>
                <a:t>1</a:t>
              </a:r>
              <a:endParaRPr lang="zh-CN" altLang="en-US" sz="2000" b="1" dirty="0">
                <a:solidFill>
                  <a:srgbClr val="6600FF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8389620" y="2141220"/>
              <a:ext cx="457200" cy="4648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6600FF"/>
                  </a:solidFill>
                </a:rPr>
                <a:t>1</a:t>
              </a:r>
              <a:endParaRPr lang="zh-CN" altLang="en-US" sz="2000" b="1" dirty="0">
                <a:solidFill>
                  <a:srgbClr val="6600FF"/>
                </a:solidFill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909560" y="1219200"/>
            <a:ext cx="480060" cy="1844040"/>
            <a:chOff x="7924800" y="1219200"/>
            <a:chExt cx="464820" cy="1844040"/>
          </a:xfrm>
        </p:grpSpPr>
        <p:grpSp>
          <p:nvGrpSpPr>
            <p:cNvPr id="61" name="组合 60"/>
            <p:cNvGrpSpPr/>
            <p:nvPr/>
          </p:nvGrpSpPr>
          <p:grpSpPr>
            <a:xfrm>
              <a:off x="7932420" y="1219200"/>
              <a:ext cx="457200" cy="929640"/>
              <a:chOff x="7924800" y="2141220"/>
              <a:chExt cx="457200" cy="929640"/>
            </a:xfrm>
            <a:solidFill>
              <a:srgbClr val="0070C0">
                <a:alpha val="43000"/>
              </a:srgbClr>
            </a:solidFill>
          </p:grpSpPr>
          <p:sp>
            <p:nvSpPr>
              <p:cNvPr id="62" name="矩形 61"/>
              <p:cNvSpPr/>
              <p:nvPr/>
            </p:nvSpPr>
            <p:spPr>
              <a:xfrm>
                <a:off x="7924800" y="2141220"/>
                <a:ext cx="457200" cy="4648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7924800" y="2606040"/>
                <a:ext cx="457200" cy="4648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7924800" y="2141220"/>
              <a:ext cx="457200" cy="922020"/>
              <a:chOff x="7924800" y="2141220"/>
              <a:chExt cx="457200" cy="929640"/>
            </a:xfrm>
            <a:solidFill>
              <a:srgbClr val="0070C0">
                <a:alpha val="43000"/>
              </a:srgbClr>
            </a:solidFill>
          </p:grpSpPr>
          <p:sp>
            <p:nvSpPr>
              <p:cNvPr id="65" name="矩形 64"/>
              <p:cNvSpPr/>
              <p:nvPr/>
            </p:nvSpPr>
            <p:spPr>
              <a:xfrm>
                <a:off x="7924800" y="2141220"/>
                <a:ext cx="457200" cy="4648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7924800" y="2606040"/>
                <a:ext cx="457200" cy="4648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6995160" y="1676400"/>
            <a:ext cx="1859280" cy="929640"/>
            <a:chOff x="6987540" y="1684020"/>
            <a:chExt cx="1859280" cy="929640"/>
          </a:xfrm>
        </p:grpSpPr>
        <p:grpSp>
          <p:nvGrpSpPr>
            <p:cNvPr id="71" name="组合 70"/>
            <p:cNvGrpSpPr/>
            <p:nvPr/>
          </p:nvGrpSpPr>
          <p:grpSpPr>
            <a:xfrm>
              <a:off x="6987540" y="1684020"/>
              <a:ext cx="464820" cy="922020"/>
              <a:chOff x="6987540" y="1684020"/>
              <a:chExt cx="464820" cy="922020"/>
            </a:xfrm>
          </p:grpSpPr>
          <p:sp>
            <p:nvSpPr>
              <p:cNvPr id="69" name="矩形 68"/>
              <p:cNvSpPr/>
              <p:nvPr/>
            </p:nvSpPr>
            <p:spPr>
              <a:xfrm>
                <a:off x="6987540" y="1684020"/>
                <a:ext cx="457200" cy="464820"/>
              </a:xfrm>
              <a:prstGeom prst="rect">
                <a:avLst/>
              </a:prstGeom>
              <a:solidFill>
                <a:srgbClr val="0070C0">
                  <a:alpha val="43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6995160" y="2141220"/>
                <a:ext cx="457200" cy="464820"/>
              </a:xfrm>
              <a:prstGeom prst="rect">
                <a:avLst/>
              </a:prstGeom>
              <a:solidFill>
                <a:srgbClr val="0070C0">
                  <a:alpha val="43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8389620" y="1684020"/>
              <a:ext cx="457200" cy="929640"/>
              <a:chOff x="7002780" y="1684020"/>
              <a:chExt cx="457200" cy="929640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7002780" y="1684020"/>
                <a:ext cx="457200" cy="464820"/>
              </a:xfrm>
              <a:prstGeom prst="rect">
                <a:avLst/>
              </a:prstGeom>
              <a:solidFill>
                <a:srgbClr val="0070C0">
                  <a:alpha val="43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7002780" y="2148840"/>
                <a:ext cx="457200" cy="464820"/>
              </a:xfrm>
              <a:prstGeom prst="rect">
                <a:avLst/>
              </a:prstGeom>
              <a:solidFill>
                <a:srgbClr val="0070C0">
                  <a:alpha val="43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>
                    <a:solidFill>
                      <a:srgbClr val="6600FF"/>
                    </a:solidFill>
                  </a:rPr>
                  <a:t>1</a:t>
                </a:r>
                <a:endParaRPr lang="zh-CN" altLang="en-US" sz="2000" b="1" dirty="0">
                  <a:solidFill>
                    <a:srgbClr val="6600FF"/>
                  </a:solidFill>
                </a:endParaRPr>
              </a:p>
            </p:txBody>
          </p:sp>
        </p:grpSp>
      </p:grpSp>
      <p:cxnSp>
        <p:nvCxnSpPr>
          <p:cNvPr id="77" name="直接连接符 76"/>
          <p:cNvCxnSpPr/>
          <p:nvPr/>
        </p:nvCxnSpPr>
        <p:spPr>
          <a:xfrm>
            <a:off x="3449955" y="1592580"/>
            <a:ext cx="396240" cy="0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4067175" y="1592580"/>
            <a:ext cx="396240" cy="0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646295" y="1592580"/>
            <a:ext cx="396240" cy="0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5217795" y="1592580"/>
            <a:ext cx="288000" cy="0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5713095" y="1592580"/>
            <a:ext cx="288000" cy="0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6359525" y="662849"/>
            <a:ext cx="2593975" cy="2554821"/>
            <a:chOff x="6359525" y="676275"/>
            <a:chExt cx="2593975" cy="2554821"/>
          </a:xfrm>
        </p:grpSpPr>
        <p:grpSp>
          <p:nvGrpSpPr>
            <p:cNvPr id="40" name="Group 18"/>
            <p:cNvGrpSpPr>
              <a:grpSpLocks/>
            </p:cNvGrpSpPr>
            <p:nvPr/>
          </p:nvGrpSpPr>
          <p:grpSpPr bwMode="auto">
            <a:xfrm>
              <a:off x="6359525" y="687949"/>
              <a:ext cx="2590800" cy="2543147"/>
              <a:chOff x="1514" y="2186"/>
              <a:chExt cx="1704" cy="1686"/>
            </a:xfrm>
          </p:grpSpPr>
          <p:sp>
            <p:nvSpPr>
              <p:cNvPr id="42" name="AutoShape 16"/>
              <p:cNvSpPr>
                <a:spLocks noChangeArrowheads="1"/>
              </p:cNvSpPr>
              <p:nvPr/>
            </p:nvSpPr>
            <p:spPr bwMode="auto">
              <a:xfrm>
                <a:off x="1514" y="2186"/>
                <a:ext cx="1704" cy="1686"/>
              </a:xfrm>
              <a:prstGeom prst="roundRect">
                <a:avLst>
                  <a:gd name="adj" fmla="val 3597"/>
                </a:avLst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43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158817"/>
                  </p:ext>
                </p:extLst>
              </p:nvPr>
            </p:nvGraphicFramePr>
            <p:xfrm>
              <a:off x="1576" y="2197"/>
              <a:ext cx="1604" cy="15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014" name="Visio" r:id="rId9" imgW="1508939" imgH="1498604" progId="Visio.Drawing.11">
                      <p:embed/>
                    </p:oleObj>
                  </mc:Choice>
                  <mc:Fallback>
                    <p:oleObj name="Visio" r:id="rId9" imgW="1508939" imgH="1498604" progId="Visio.Drawing.11">
                      <p:embed/>
                      <p:pic>
                        <p:nvPicPr>
                          <p:cNvPr id="43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76" y="2197"/>
                            <a:ext cx="1604" cy="159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" name="AutoShape 11"/>
            <p:cNvSpPr>
              <a:spLocks noChangeArrowheads="1"/>
            </p:cNvSpPr>
            <p:nvPr/>
          </p:nvSpPr>
          <p:spPr bwMode="auto">
            <a:xfrm>
              <a:off x="6419850" y="676275"/>
              <a:ext cx="2533650" cy="2466975"/>
            </a:xfrm>
            <a:prstGeom prst="roundRect">
              <a:avLst>
                <a:gd name="adj" fmla="val 3597"/>
              </a:avLst>
            </a:prstGeom>
            <a:noFill/>
            <a:ln w="285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7978140" y="1274661"/>
            <a:ext cx="342900" cy="1760220"/>
          </a:xfrm>
          <a:prstGeom prst="roundRect">
            <a:avLst>
              <a:gd name="adj" fmla="val 11667"/>
            </a:avLst>
          </a:prstGeom>
          <a:solidFill>
            <a:srgbClr val="FF0000">
              <a:alpha val="2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7025640" y="1739481"/>
            <a:ext cx="1783080" cy="807720"/>
          </a:xfrm>
          <a:prstGeom prst="roundRect">
            <a:avLst>
              <a:gd name="adj" fmla="val 11667"/>
            </a:avLst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10825" y="4731536"/>
            <a:ext cx="1285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 </a:t>
            </a:r>
            <a:r>
              <a:rPr lang="en-US" altLang="zh-CN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lang="en-US" altLang="zh-CN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lang="en-US" altLang="zh-CN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+ </a:t>
            </a:r>
            <a:r>
              <a:rPr lang="en-US" altLang="zh-CN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CD</a:t>
            </a:r>
            <a:endParaRPr lang="zh-CN" altLang="en-US" dirty="0"/>
          </a:p>
        </p:txBody>
      </p:sp>
      <p:sp>
        <p:nvSpPr>
          <p:cNvPr id="68" name="AutoShape 134"/>
          <p:cNvSpPr>
            <a:spLocks noChangeArrowheads="1"/>
          </p:cNvSpPr>
          <p:nvPr/>
        </p:nvSpPr>
        <p:spPr bwMode="auto">
          <a:xfrm>
            <a:off x="4412200" y="5229404"/>
            <a:ext cx="1947325" cy="354157"/>
          </a:xfrm>
          <a:prstGeom prst="wedgeRoundRectCallout">
            <a:avLst>
              <a:gd name="adj1" fmla="val -34667"/>
              <a:gd name="adj2" fmla="val -89777"/>
              <a:gd name="adj3" fmla="val 16667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rPr>
              <a:t>最简与或表达式</a:t>
            </a:r>
            <a:endParaRPr lang="en-US" altLang="zh-CN" sz="1600" i="1" dirty="0">
              <a:solidFill>
                <a:schemeClr val="tx1"/>
              </a:solidFill>
              <a:latin typeface="方正粗黑宋简体" pitchFamily="2" charset="-122"/>
              <a:ea typeface="方正粗黑宋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4587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1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00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34" grpId="0"/>
      <p:bldP spid="28" grpId="0" animBg="1"/>
      <p:bldP spid="27" grpId="0" animBg="1"/>
      <p:bldP spid="5" grpId="0"/>
      <p:bldP spid="6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0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10" name="矩形 9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、逻辑函数的卡诺图化简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步骤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92432" y="1373406"/>
            <a:ext cx="441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用卡诺图化简逻辑函数 </a:t>
            </a: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488315" y="2719970"/>
            <a:ext cx="3144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）由表达式填出卡诺图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;</a:t>
            </a:r>
            <a:endParaRPr lang="zh-CN" altLang="en-US" sz="16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474260" y="3116268"/>
            <a:ext cx="3653155" cy="368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42925" indent="-542925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）画包围圈合并最小项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;</a:t>
            </a:r>
            <a:endParaRPr lang="zh-CN" altLang="en-US" sz="16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58495" y="1711960"/>
            <a:ext cx="3224213" cy="3098800"/>
            <a:chOff x="5158495" y="1711960"/>
            <a:chExt cx="3224213" cy="3098800"/>
          </a:xfrm>
        </p:grpSpPr>
        <p:grpSp>
          <p:nvGrpSpPr>
            <p:cNvPr id="29" name="Group 19"/>
            <p:cNvGrpSpPr>
              <a:grpSpLocks/>
            </p:cNvGrpSpPr>
            <p:nvPr/>
          </p:nvGrpSpPr>
          <p:grpSpPr bwMode="auto">
            <a:xfrm>
              <a:off x="5158495" y="1711960"/>
              <a:ext cx="3224213" cy="3098800"/>
              <a:chOff x="3602" y="1272"/>
              <a:chExt cx="2031" cy="1952"/>
            </a:xfrm>
          </p:grpSpPr>
          <p:sp>
            <p:nvSpPr>
              <p:cNvPr id="30" name="AutoShape 16"/>
              <p:cNvSpPr>
                <a:spLocks noChangeArrowheads="1"/>
              </p:cNvSpPr>
              <p:nvPr/>
            </p:nvSpPr>
            <p:spPr bwMode="auto">
              <a:xfrm>
                <a:off x="3602" y="1272"/>
                <a:ext cx="2031" cy="1952"/>
              </a:xfrm>
              <a:prstGeom prst="roundRect">
                <a:avLst>
                  <a:gd name="adj" fmla="val 3597"/>
                </a:avLst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31" name="Object 10"/>
              <p:cNvGraphicFramePr>
                <a:graphicFrameLocks noChangeAspect="1"/>
              </p:cNvGraphicFramePr>
              <p:nvPr/>
            </p:nvGraphicFramePr>
            <p:xfrm>
              <a:off x="3669" y="1306"/>
              <a:ext cx="1868" cy="18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042" name="Visio" r:id="rId4" imgW="1508939" imgH="1498604" progId="Visio.Drawing.11">
                      <p:embed/>
                    </p:oleObj>
                  </mc:Choice>
                  <mc:Fallback>
                    <p:oleObj name="Visio" r:id="rId4" imgW="1508939" imgH="1498604" progId="Visio.Drawing.11">
                      <p:embed/>
                      <p:pic>
                        <p:nvPicPr>
                          <p:cNvPr id="31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69" y="1306"/>
                            <a:ext cx="1868" cy="185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" name="TextBox 21"/>
            <p:cNvSpPr txBox="1"/>
            <p:nvPr/>
          </p:nvSpPr>
          <p:spPr>
            <a:xfrm>
              <a:off x="6050280" y="247650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57160" y="248412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78040" y="248412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065520" y="304800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757160" y="304800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178040" y="304800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757160" y="419100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178040" y="419100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590604" y="4199453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757160" y="361188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178040" y="3611880"/>
              <a:ext cx="3433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1</a:t>
              </a:r>
              <a:endPara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6057900" y="2476500"/>
              <a:ext cx="892004" cy="2114610"/>
              <a:chOff x="6057900" y="2476500"/>
              <a:chExt cx="892004" cy="2114610"/>
            </a:xfrm>
          </p:grpSpPr>
          <p:sp>
            <p:nvSpPr>
              <p:cNvPr id="48" name="TextBox 47"/>
              <p:cNvSpPr txBox="1"/>
              <p:nvPr/>
            </p:nvSpPr>
            <p:spPr>
              <a:xfrm>
                <a:off x="6598920" y="2476500"/>
                <a:ext cx="3433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0</a:t>
                </a:r>
                <a:endParaRPr lang="zh-CN" altLang="en-US" sz="20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6606540" y="3048000"/>
                <a:ext cx="3433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0</a:t>
                </a:r>
                <a:endParaRPr lang="zh-CN" altLang="en-US" sz="20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6057900" y="3611880"/>
                <a:ext cx="3433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0</a:t>
                </a:r>
                <a:endParaRPr lang="zh-CN" altLang="en-US" sz="20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6080760" y="4191000"/>
                <a:ext cx="3433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0</a:t>
                </a:r>
                <a:endParaRPr lang="zh-CN" altLang="en-US" sz="20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6574678" y="3606920"/>
                <a:ext cx="3433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0070C0"/>
                    </a:solidFill>
                    <a:latin typeface="微软雅黑" pitchFamily="34" charset="-122"/>
                    <a:ea typeface="微软雅黑" pitchFamily="34" charset="-122"/>
                    <a:cs typeface="Times New Roman" pitchFamily="18" charset="0"/>
                  </a:rPr>
                  <a:t>0</a:t>
                </a:r>
                <a:endParaRPr lang="zh-CN" altLang="en-US" sz="20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36" name="AutoShape 24"/>
          <p:cNvSpPr>
            <a:spLocks noChangeArrowheads="1"/>
          </p:cNvSpPr>
          <p:nvPr/>
        </p:nvSpPr>
        <p:spPr bwMode="auto">
          <a:xfrm>
            <a:off x="6540804" y="4204456"/>
            <a:ext cx="914400" cy="36830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2" name="Group 23"/>
          <p:cNvGrpSpPr>
            <a:grpSpLocks/>
          </p:cNvGrpSpPr>
          <p:nvPr/>
        </p:nvGrpSpPr>
        <p:grpSpPr bwMode="auto">
          <a:xfrm>
            <a:off x="5894626" y="2472116"/>
            <a:ext cx="2249488" cy="950912"/>
            <a:chOff x="4080" y="1753"/>
            <a:chExt cx="1417" cy="599"/>
          </a:xfrm>
        </p:grpSpPr>
        <p:sp>
          <p:nvSpPr>
            <p:cNvPr id="33" name="AutoShape 20"/>
            <p:cNvSpPr>
              <a:spLocks/>
            </p:cNvSpPr>
            <p:nvPr/>
          </p:nvSpPr>
          <p:spPr bwMode="auto">
            <a:xfrm>
              <a:off x="4080" y="1760"/>
              <a:ext cx="295" cy="592"/>
            </a:xfrm>
            <a:prstGeom prst="rightBracket">
              <a:avLst>
                <a:gd name="adj" fmla="val 19892"/>
              </a:avLst>
            </a:prstGeom>
            <a:solidFill>
              <a:srgbClr val="FF00FF">
                <a:alpha val="14902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AutoShape 21"/>
            <p:cNvSpPr>
              <a:spLocks/>
            </p:cNvSpPr>
            <p:nvPr/>
          </p:nvSpPr>
          <p:spPr bwMode="auto">
            <a:xfrm flipH="1">
              <a:off x="5249" y="1753"/>
              <a:ext cx="248" cy="592"/>
            </a:xfrm>
            <a:prstGeom prst="rightBracket">
              <a:avLst>
                <a:gd name="adj" fmla="val 19892"/>
              </a:avLst>
            </a:prstGeom>
            <a:solidFill>
              <a:srgbClr val="FF00FF">
                <a:alpha val="14902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AutoShape 22"/>
          <p:cNvSpPr>
            <a:spLocks noChangeArrowheads="1"/>
          </p:cNvSpPr>
          <p:nvPr/>
        </p:nvSpPr>
        <p:spPr bwMode="auto">
          <a:xfrm>
            <a:off x="7129780" y="2476500"/>
            <a:ext cx="949960" cy="2095500"/>
          </a:xfrm>
          <a:prstGeom prst="roundRect">
            <a:avLst>
              <a:gd name="adj" fmla="val 8334"/>
            </a:avLst>
          </a:prstGeom>
          <a:solidFill>
            <a:schemeClr val="accent1">
              <a:alpha val="16078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AD288DF1-2A5F-4C7D-8125-BE282072C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2260160"/>
          <a:ext cx="4146388" cy="37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3" name="公式" r:id="rId6" imgW="2412720" imgH="215640" progId="Equation.3">
                  <p:embed/>
                </p:oleObj>
              </mc:Choice>
              <mc:Fallback>
                <p:oleObj name="公式" r:id="rId6" imgW="2412720" imgH="215640" progId="Equation.3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xmlns="" id="{AD288DF1-2A5F-4C7D-8125-BE282072C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2260160"/>
                        <a:ext cx="4146388" cy="370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5"/>
          <p:cNvSpPr>
            <a:spLocks noChangeArrowheads="1"/>
          </p:cNvSpPr>
          <p:nvPr/>
        </p:nvSpPr>
        <p:spPr bwMode="auto">
          <a:xfrm>
            <a:off x="488315" y="3485023"/>
            <a:ext cx="36531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42925" indent="-542925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）写最简的与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或表达式。</a:t>
            </a: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xmlns="" id="{F491A614-E653-4A24-AAED-82CD2809F2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1846263"/>
          <a:ext cx="405288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4" name="公式" r:id="rId8" imgW="2374560" imgH="203040" progId="Equation.3">
                  <p:embed/>
                </p:oleObj>
              </mc:Choice>
              <mc:Fallback>
                <p:oleObj name="公式" r:id="rId8" imgW="2374560" imgH="203040" progId="Equation.3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xmlns="" id="{0E0E3A55-4334-4807-BA3B-AD404563EA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1846263"/>
                        <a:ext cx="4052888" cy="347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xmlns="" id="{DE56E734-EC0C-4F2E-88A5-973216DBFC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805107"/>
              </p:ext>
            </p:extLst>
          </p:nvPr>
        </p:nvGraphicFramePr>
        <p:xfrm>
          <a:off x="1043476" y="4141539"/>
          <a:ext cx="1958433" cy="400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45" name="Equation" r:id="rId10" imgW="1180800" imgH="241200" progId="Equation.DSMT4">
                  <p:embed/>
                </p:oleObj>
              </mc:Choice>
              <mc:Fallback>
                <p:oleObj name="Equation" r:id="rId10" imgW="1180800" imgH="241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xmlns="" id="{98DB85E3-C346-4D41-A7B2-F3DE2B5B2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43476" y="4141539"/>
                        <a:ext cx="1958433" cy="400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7" grpId="0"/>
      <p:bldP spid="36" grpId="0" animBg="1"/>
      <p:bldP spid="35" grpId="0" animBg="1"/>
      <p:bldP spid="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10" name="矩形 9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、逻辑函数的卡诺图化简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步骤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9" name="Group 24"/>
          <p:cNvGrpSpPr>
            <a:grpSpLocks/>
          </p:cNvGrpSpPr>
          <p:nvPr/>
        </p:nvGrpSpPr>
        <p:grpSpPr bwMode="auto">
          <a:xfrm>
            <a:off x="5194935" y="1684020"/>
            <a:ext cx="3224213" cy="3098800"/>
            <a:chOff x="3594" y="1440"/>
            <a:chExt cx="2031" cy="1952"/>
          </a:xfrm>
        </p:grpSpPr>
        <p:sp>
          <p:nvSpPr>
            <p:cNvPr id="30" name="AutoShape 14"/>
            <p:cNvSpPr>
              <a:spLocks noChangeArrowheads="1"/>
            </p:cNvSpPr>
            <p:nvPr/>
          </p:nvSpPr>
          <p:spPr bwMode="auto">
            <a:xfrm>
              <a:off x="3594" y="1440"/>
              <a:ext cx="2031" cy="1952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19050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31" name="Object 11"/>
            <p:cNvGraphicFramePr>
              <a:graphicFrameLocks noChangeAspect="1"/>
            </p:cNvGraphicFramePr>
            <p:nvPr/>
          </p:nvGraphicFramePr>
          <p:xfrm>
            <a:off x="3656" y="1496"/>
            <a:ext cx="1848" cy="1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060" name="Visio" r:id="rId4" imgW="1556273" imgH="1534448" progId="Visio.Drawing.11">
                    <p:embed/>
                  </p:oleObj>
                </mc:Choice>
                <mc:Fallback>
                  <p:oleObj name="Visio" r:id="rId4" imgW="1556273" imgH="1534448" progId="Visio.Drawing.11">
                    <p:embed/>
                    <p:pic>
                      <p:nvPicPr>
                        <p:cNvPr id="3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6" y="1496"/>
                          <a:ext cx="1848" cy="18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AutoShape 16"/>
          <p:cNvSpPr>
            <a:spLocks noChangeArrowheads="1"/>
          </p:cNvSpPr>
          <p:nvPr/>
        </p:nvSpPr>
        <p:spPr bwMode="auto">
          <a:xfrm>
            <a:off x="6529388" y="3616008"/>
            <a:ext cx="914400" cy="82550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Group 21"/>
          <p:cNvGrpSpPr>
            <a:grpSpLocks/>
          </p:cNvGrpSpPr>
          <p:nvPr/>
        </p:nvGrpSpPr>
        <p:grpSpPr bwMode="auto">
          <a:xfrm>
            <a:off x="5999798" y="2466658"/>
            <a:ext cx="1982787" cy="1971675"/>
            <a:chOff x="4101" y="1933"/>
            <a:chExt cx="1249" cy="1242"/>
          </a:xfrm>
        </p:grpSpPr>
        <p:sp>
          <p:nvSpPr>
            <p:cNvPr id="34" name="Arc 17"/>
            <p:cNvSpPr>
              <a:spLocks/>
            </p:cNvSpPr>
            <p:nvPr/>
          </p:nvSpPr>
          <p:spPr bwMode="auto">
            <a:xfrm rot="1874818">
              <a:off x="4101" y="1933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rc 18"/>
            <p:cNvSpPr>
              <a:spLocks/>
            </p:cNvSpPr>
            <p:nvPr/>
          </p:nvSpPr>
          <p:spPr bwMode="auto">
            <a:xfrm rot="19725182" flipH="1">
              <a:off x="5102" y="1934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rc 19"/>
            <p:cNvSpPr>
              <a:spLocks/>
            </p:cNvSpPr>
            <p:nvPr/>
          </p:nvSpPr>
          <p:spPr bwMode="auto">
            <a:xfrm rot="1874818" flipH="1" flipV="1">
              <a:off x="5103" y="2911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rc 20"/>
            <p:cNvSpPr>
              <a:spLocks/>
            </p:cNvSpPr>
            <p:nvPr/>
          </p:nvSpPr>
          <p:spPr bwMode="auto">
            <a:xfrm rot="19725182" flipV="1">
              <a:off x="4120" y="2896"/>
              <a:ext cx="247" cy="264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0000">
                <a:alpha val="14117"/>
              </a:srgbClr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393633" y="2506931"/>
            <a:ext cx="314483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）由表达式填出卡诺图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;</a:t>
            </a:r>
            <a:endParaRPr lang="zh-CN" altLang="en-US" sz="16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9" name="Rectangle 25"/>
          <p:cNvSpPr>
            <a:spLocks noChangeArrowheads="1"/>
          </p:cNvSpPr>
          <p:nvPr/>
        </p:nvSpPr>
        <p:spPr bwMode="auto">
          <a:xfrm>
            <a:off x="392432" y="3353272"/>
            <a:ext cx="36531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42925" indent="-542925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）得最简的与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或表达式。</a:t>
            </a:r>
          </a:p>
        </p:txBody>
      </p:sp>
      <p:graphicFrame>
        <p:nvGraphicFramePr>
          <p:cNvPr id="1145878" name="Object 22"/>
          <p:cNvGraphicFramePr>
            <a:graphicFrameLocks noChangeAspect="1"/>
          </p:cNvGraphicFramePr>
          <p:nvPr/>
        </p:nvGraphicFramePr>
        <p:xfrm>
          <a:off x="1279525" y="3973513"/>
          <a:ext cx="16652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1" name="公式" r:id="rId6" imgW="787320" imgH="215640" progId="Equation.3">
                  <p:embed/>
                </p:oleObj>
              </mc:Choice>
              <mc:Fallback>
                <p:oleObj name="公式" r:id="rId6" imgW="787320" imgH="215640" progId="Equation.3">
                  <p:embed/>
                  <p:pic>
                    <p:nvPicPr>
                      <p:cNvPr id="114587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3973513"/>
                        <a:ext cx="1665288" cy="458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xmlns="" id="{2FC4AB9C-7D03-4455-AAB4-C0D4EA574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2" y="1889050"/>
          <a:ext cx="4146388" cy="37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2" name="公式" r:id="rId8" imgW="2412720" imgH="215640" progId="Equation.3">
                  <p:embed/>
                </p:oleObj>
              </mc:Choice>
              <mc:Fallback>
                <p:oleObj name="公式" r:id="rId8" imgW="2412720" imgH="215640" progId="Equation.3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xmlns="" id="{2FC4AB9C-7D03-4455-AAB4-C0D4EA5743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2" y="1889050"/>
                        <a:ext cx="4146388" cy="370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4">
            <a:extLst>
              <a:ext uri="{FF2B5EF4-FFF2-40B4-BE49-F238E27FC236}">
                <a16:creationId xmlns:a16="http://schemas.microsoft.com/office/drawing/2014/main" xmlns="" id="{58A437B2-A54A-4EBC-AC00-A410E6DD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2" y="1373406"/>
            <a:ext cx="4419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用卡诺图化简逻辑函数 </a:t>
            </a:r>
          </a:p>
        </p:txBody>
      </p:sp>
      <p:sp>
        <p:nvSpPr>
          <p:cNvPr id="25" name="AutoShape 16">
            <a:extLst>
              <a:ext uri="{FF2B5EF4-FFF2-40B4-BE49-F238E27FC236}">
                <a16:creationId xmlns:a16="http://schemas.microsoft.com/office/drawing/2014/main" xmlns="" id="{CCE1E6B2-0E6F-4946-827A-FFC1BA43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567" y="4061158"/>
            <a:ext cx="2081689" cy="403402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28575">
            <a:solidFill>
              <a:srgbClr val="0000FF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392432" y="2931784"/>
            <a:ext cx="365315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42925" indent="-542925" eaLnBrk="0" hangingPunct="0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）画包围圈合并最小项；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1000"/>
                                        <p:tgtEl>
                                          <p:spTgt spid="114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8" grpId="0"/>
      <p:bldP spid="39" grpId="0"/>
      <p:bldP spid="25" grpId="0" animBg="1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92432" y="1506983"/>
            <a:ext cx="612266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已知逻辑函数的真值表如表所示，用卡诺图化简该逻辑函数。 </a:t>
            </a:r>
          </a:p>
        </p:txBody>
      </p:sp>
      <p:graphicFrame>
        <p:nvGraphicFramePr>
          <p:cNvPr id="10" name="Group 541"/>
          <p:cNvGraphicFramePr>
            <a:graphicFrameLocks noGrp="1"/>
          </p:cNvGraphicFramePr>
          <p:nvPr/>
        </p:nvGraphicFramePr>
        <p:xfrm>
          <a:off x="791337" y="2257252"/>
          <a:ext cx="1630441" cy="2291888"/>
        </p:xfrm>
        <a:graphic>
          <a:graphicData uri="http://schemas.openxmlformats.org/drawingml/2006/table">
            <a:tbl>
              <a:tblPr/>
              <a:tblGrid>
                <a:gridCol w="11219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84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5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A   B   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964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1   1   1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2949575" y="2560320"/>
            <a:ext cx="5386705" cy="1988820"/>
            <a:chOff x="2949575" y="2301240"/>
            <a:chExt cx="5386705" cy="1988820"/>
          </a:xfrm>
        </p:grpSpPr>
        <p:sp>
          <p:nvSpPr>
            <p:cNvPr id="20" name="AutoShape 12"/>
            <p:cNvSpPr>
              <a:spLocks noChangeArrowheads="1"/>
            </p:cNvSpPr>
            <p:nvPr/>
          </p:nvSpPr>
          <p:spPr bwMode="auto">
            <a:xfrm>
              <a:off x="2949575" y="2301240"/>
              <a:ext cx="5386705" cy="1988820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1" name="Object 9"/>
            <p:cNvGraphicFramePr>
              <a:graphicFrameLocks noChangeAspect="1"/>
            </p:cNvGraphicFramePr>
            <p:nvPr/>
          </p:nvGraphicFramePr>
          <p:xfrm>
            <a:off x="3040475" y="2349764"/>
            <a:ext cx="2457322" cy="14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090" name="Visio" r:id="rId3" imgW="1504995" imgH="825469" progId="Visio.Drawing.11">
                    <p:embed/>
                  </p:oleObj>
                </mc:Choice>
                <mc:Fallback>
                  <p:oleObj name="Visio" r:id="rId3" imgW="1504995" imgH="825469" progId="Visio.Drawing.11">
                    <p:embed/>
                    <p:pic>
                      <p:nvPicPr>
                        <p:cNvPr id="2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0475" y="2349764"/>
                          <a:ext cx="2457322" cy="1440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124" name="Object 9"/>
            <p:cNvGraphicFramePr>
              <a:graphicFrameLocks noChangeAspect="1"/>
            </p:cNvGraphicFramePr>
            <p:nvPr/>
          </p:nvGraphicFramePr>
          <p:xfrm>
            <a:off x="5709285" y="2349764"/>
            <a:ext cx="2457450" cy="1439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091" name="Visio" r:id="rId5" imgW="1504995" imgH="825469" progId="Visio.Drawing.11">
                    <p:embed/>
                  </p:oleObj>
                </mc:Choice>
                <mc:Fallback>
                  <p:oleObj name="Visio" r:id="rId5" imgW="1504995" imgH="825469" progId="Visio.Drawing.11">
                    <p:embed/>
                    <p:pic>
                      <p:nvPicPr>
                        <p:cNvPr id="9012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9285" y="2349764"/>
                          <a:ext cx="2457450" cy="1439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圆角矩形标注 29"/>
          <p:cNvSpPr/>
          <p:nvPr/>
        </p:nvSpPr>
        <p:spPr>
          <a:xfrm>
            <a:off x="6515100" y="1188720"/>
            <a:ext cx="2400300" cy="1043940"/>
          </a:xfrm>
          <a:prstGeom prst="wedgeRoundRectCallout">
            <a:avLst>
              <a:gd name="adj1" fmla="val -39810"/>
              <a:gd name="adj2" fmla="val 80401"/>
              <a:gd name="adj3" fmla="val 16667"/>
            </a:avLst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一个逻辑函数在化简后，其最简与</a:t>
            </a:r>
            <a:r>
              <a:rPr lang="en-US" altLang="zh-CN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-</a:t>
            </a:r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或式可能是不是唯一的 ！</a:t>
            </a:r>
            <a:endParaRPr lang="zh-CN" altLang="en-US" sz="1600" dirty="0">
              <a:solidFill>
                <a:srgbClr val="FFFF00"/>
              </a:solidFill>
            </a:endParaRPr>
          </a:p>
        </p:txBody>
      </p:sp>
      <p:grpSp>
        <p:nvGrpSpPr>
          <p:cNvPr id="39" name="Group 23"/>
          <p:cNvGrpSpPr>
            <a:grpSpLocks/>
          </p:cNvGrpSpPr>
          <p:nvPr/>
        </p:nvGrpSpPr>
        <p:grpSpPr bwMode="auto">
          <a:xfrm>
            <a:off x="3573780" y="3632200"/>
            <a:ext cx="1859280" cy="307340"/>
            <a:chOff x="4080" y="1753"/>
            <a:chExt cx="1417" cy="599"/>
          </a:xfrm>
        </p:grpSpPr>
        <p:sp>
          <p:nvSpPr>
            <p:cNvPr id="40" name="AutoShape 20"/>
            <p:cNvSpPr>
              <a:spLocks/>
            </p:cNvSpPr>
            <p:nvPr/>
          </p:nvSpPr>
          <p:spPr bwMode="auto">
            <a:xfrm>
              <a:off x="4080" y="1760"/>
              <a:ext cx="248" cy="592"/>
            </a:xfrm>
            <a:prstGeom prst="rightBracket">
              <a:avLst>
                <a:gd name="adj" fmla="val 19892"/>
              </a:avLst>
            </a:prstGeom>
            <a:solidFill>
              <a:srgbClr val="FF00FF">
                <a:alpha val="14902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AutoShape 21"/>
            <p:cNvSpPr>
              <a:spLocks/>
            </p:cNvSpPr>
            <p:nvPr/>
          </p:nvSpPr>
          <p:spPr bwMode="auto">
            <a:xfrm flipH="1">
              <a:off x="5249" y="1753"/>
              <a:ext cx="248" cy="592"/>
            </a:xfrm>
            <a:prstGeom prst="rightBracket">
              <a:avLst>
                <a:gd name="adj" fmla="val 19892"/>
              </a:avLst>
            </a:prstGeom>
            <a:solidFill>
              <a:srgbClr val="FF00FF">
                <a:alpha val="14902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AutoShape 24"/>
          <p:cNvSpPr>
            <a:spLocks noChangeArrowheads="1"/>
          </p:cNvSpPr>
          <p:nvPr/>
        </p:nvSpPr>
        <p:spPr bwMode="auto">
          <a:xfrm>
            <a:off x="4560888" y="3215640"/>
            <a:ext cx="856932" cy="29718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AutoShape 24"/>
          <p:cNvSpPr>
            <a:spLocks noChangeArrowheads="1"/>
          </p:cNvSpPr>
          <p:nvPr/>
        </p:nvSpPr>
        <p:spPr bwMode="auto">
          <a:xfrm>
            <a:off x="4096068" y="3215640"/>
            <a:ext cx="361632" cy="73914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AutoShape 24"/>
          <p:cNvSpPr>
            <a:spLocks noChangeArrowheads="1"/>
          </p:cNvSpPr>
          <p:nvPr/>
        </p:nvSpPr>
        <p:spPr bwMode="auto">
          <a:xfrm>
            <a:off x="6283008" y="3634740"/>
            <a:ext cx="856932" cy="29718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AutoShape 24"/>
          <p:cNvSpPr>
            <a:spLocks noChangeArrowheads="1"/>
          </p:cNvSpPr>
          <p:nvPr/>
        </p:nvSpPr>
        <p:spPr bwMode="auto">
          <a:xfrm>
            <a:off x="6747828" y="3230880"/>
            <a:ext cx="856932" cy="29718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AutoShape 24"/>
          <p:cNvSpPr>
            <a:spLocks noChangeArrowheads="1"/>
          </p:cNvSpPr>
          <p:nvPr/>
        </p:nvSpPr>
        <p:spPr bwMode="auto">
          <a:xfrm>
            <a:off x="7700328" y="3185160"/>
            <a:ext cx="361632" cy="73914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47" name="Object 14"/>
          <p:cNvGraphicFramePr>
            <a:graphicFrameLocks noChangeAspect="1"/>
          </p:cNvGraphicFramePr>
          <p:nvPr/>
        </p:nvGraphicFramePr>
        <p:xfrm>
          <a:off x="3484563" y="4122738"/>
          <a:ext cx="18288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2" name="公式" r:id="rId7" imgW="1002960" imgH="190440" progId="Equation.3">
                  <p:embed/>
                </p:oleObj>
              </mc:Choice>
              <mc:Fallback>
                <p:oleObj name="公式" r:id="rId7" imgW="1002960" imgH="190440" progId="Equation.3">
                  <p:embed/>
                  <p:pic>
                    <p:nvPicPr>
                      <p:cNvPr id="4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4122738"/>
                        <a:ext cx="1828800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6"/>
          <p:cNvGraphicFramePr>
            <a:graphicFrameLocks noChangeAspect="1"/>
          </p:cNvGraphicFramePr>
          <p:nvPr/>
        </p:nvGraphicFramePr>
        <p:xfrm>
          <a:off x="6176963" y="4100513"/>
          <a:ext cx="184308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3" name="公式" r:id="rId9" imgW="1002960" imgH="190440" progId="Equation.3">
                  <p:embed/>
                </p:oleObj>
              </mc:Choice>
              <mc:Fallback>
                <p:oleObj name="公式" r:id="rId9" imgW="1002960" imgH="190440" progId="Equation.3">
                  <p:embed/>
                  <p:pic>
                    <p:nvPicPr>
                      <p:cNvPr id="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4100513"/>
                        <a:ext cx="1843087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10">
            <a:extLst>
              <a:ext uri="{FF2B5EF4-FFF2-40B4-BE49-F238E27FC236}">
                <a16:creationId xmlns:a16="http://schemas.microsoft.com/office/drawing/2014/main" xmlns="" id="{B0C64421-1847-4607-8AA4-7AE54BA782AA}"/>
              </a:ext>
            </a:extLst>
          </p:cNvPr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DA918AFE-BFA1-482B-979F-E08787D72BAD}"/>
                </a:ext>
              </a:extLst>
            </p:cNvPr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3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、逻辑函数的卡诺图化简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步骤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29" name="Picture 3">
              <a:extLst>
                <a:ext uri="{FF2B5EF4-FFF2-40B4-BE49-F238E27FC236}">
                  <a16:creationId xmlns:a16="http://schemas.microsoft.com/office/drawing/2014/main" xmlns="" id="{FC043B38-A6E1-4201-81B2-C5A3E3838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/>
          <p:nvPr/>
        </p:nvGrpSpPr>
        <p:grpSpPr>
          <a:xfrm>
            <a:off x="392432" y="780143"/>
            <a:ext cx="4994908" cy="411055"/>
            <a:chOff x="392432" y="780143"/>
            <a:chExt cx="4994908" cy="411055"/>
          </a:xfrm>
        </p:grpSpPr>
        <p:sp>
          <p:nvSpPr>
            <p:cNvPr id="3" name="矩形 2"/>
            <p:cNvSpPr/>
            <p:nvPr/>
          </p:nvSpPr>
          <p:spPr>
            <a:xfrm>
              <a:off x="754216" y="805934"/>
              <a:ext cx="463312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4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卡诺图化简逻辑函数</a:t>
              </a:r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-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圈</a:t>
              </a:r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“0”</a:t>
              </a:r>
              <a:r>
                <a:rPr lang="zh-CN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法</a:t>
              </a:r>
              <a:endParaRPr lang="zh-CN" altLang="en-US" dirty="0">
                <a:solidFill>
                  <a:srgbClr val="002060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98475" y="1965325"/>
            <a:ext cx="63366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625475" indent="-625475" eaLnBrk="0" hangingPunct="0"/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已知逻辑函数的卡诺图，分别用“圈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法”和“圈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法”化简。</a:t>
            </a:r>
          </a:p>
        </p:txBody>
      </p: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1028371" y="2539408"/>
            <a:ext cx="4602809" cy="1975565"/>
            <a:chOff x="1033" y="1792"/>
            <a:chExt cx="3369" cy="1581"/>
          </a:xfrm>
        </p:grpSpPr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1033" y="1792"/>
              <a:ext cx="3359" cy="1560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7" name="Group 11"/>
            <p:cNvGrpSpPr>
              <a:grpSpLocks/>
            </p:cNvGrpSpPr>
            <p:nvPr/>
          </p:nvGrpSpPr>
          <p:grpSpPr bwMode="auto">
            <a:xfrm>
              <a:off x="1057" y="1808"/>
              <a:ext cx="3345" cy="1565"/>
              <a:chOff x="921" y="1966"/>
              <a:chExt cx="1946" cy="930"/>
            </a:xfrm>
          </p:grpSpPr>
          <p:graphicFrame>
            <p:nvGraphicFramePr>
              <p:cNvPr id="18" name="Object 8"/>
              <p:cNvGraphicFramePr>
                <a:graphicFrameLocks noChangeAspect="1"/>
              </p:cNvGraphicFramePr>
              <p:nvPr/>
            </p:nvGraphicFramePr>
            <p:xfrm>
              <a:off x="921" y="1972"/>
              <a:ext cx="974" cy="9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144" name="Visio" r:id="rId4" imgW="1438813" imgH="1379710" progId="Visio.Drawing.11">
                      <p:embed/>
                    </p:oleObj>
                  </mc:Choice>
                  <mc:Fallback>
                    <p:oleObj name="Visio" r:id="rId4" imgW="1438813" imgH="1379710" progId="Visio.Drawing.11">
                      <p:embed/>
                      <p:pic>
                        <p:nvPicPr>
                          <p:cNvPr id="18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1" y="1972"/>
                            <a:ext cx="974" cy="9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10"/>
              <p:cNvGraphicFramePr>
                <a:graphicFrameLocks noChangeAspect="1"/>
              </p:cNvGraphicFramePr>
              <p:nvPr/>
            </p:nvGraphicFramePr>
            <p:xfrm>
              <a:off x="1894" y="1966"/>
              <a:ext cx="973" cy="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145" name="Visio" r:id="rId6" imgW="1438813" imgH="1379710" progId="Visio.Drawing.11">
                      <p:embed/>
                    </p:oleObj>
                  </mc:Choice>
                  <mc:Fallback>
                    <p:oleObj name="Visio" r:id="rId6" imgW="1438813" imgH="1379710" progId="Visio.Drawing.11">
                      <p:embed/>
                      <p:pic>
                        <p:nvPicPr>
                          <p:cNvPr id="19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94" y="1966"/>
                            <a:ext cx="973" cy="9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3809078" y="3335541"/>
          <a:ext cx="354013" cy="707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6" name="Visio" r:id="rId8" imgW="190353" imgH="446863" progId="Visio.Drawing.11">
                  <p:embed/>
                </p:oleObj>
              </mc:Choice>
              <mc:Fallback>
                <p:oleObj name="Visio" r:id="rId8" imgW="190353" imgH="446863" progId="Visio.Drawing.11">
                  <p:embed/>
                  <p:pic>
                    <p:nvPicPr>
                      <p:cNvPr id="2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078" y="3335541"/>
                        <a:ext cx="354013" cy="707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1545069" y="2946127"/>
          <a:ext cx="1569402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7" name="Visio" r:id="rId10" imgW="969067" imgH="1067065" progId="Visio.Drawing.11">
                  <p:embed/>
                </p:oleObj>
              </mc:Choice>
              <mc:Fallback>
                <p:oleObj name="Visio" r:id="rId10" imgW="969067" imgH="1067065" progId="Visio.Drawing.11">
                  <p:embed/>
                  <p:pic>
                    <p:nvPicPr>
                      <p:cNvPr id="2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5069" y="2946127"/>
                        <a:ext cx="1569402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2384664" y="3023493"/>
          <a:ext cx="700087" cy="1388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8" name="Visio" r:id="rId12" imgW="436710" imgH="950340" progId="Visio.Drawing.11">
                  <p:embed/>
                </p:oleObj>
              </mc:Choice>
              <mc:Fallback>
                <p:oleObj name="Visio" r:id="rId12" imgW="436710" imgH="950340" progId="Visio.Drawing.11">
                  <p:embed/>
                  <p:pic>
                    <p:nvPicPr>
                      <p:cNvPr id="2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664" y="3023493"/>
                        <a:ext cx="700087" cy="1388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1997315" y="3023811"/>
          <a:ext cx="662622" cy="1396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9" name="Visio" r:id="rId14" imgW="447407" imgH="961154" progId="Visio.Drawing.11">
                  <p:embed/>
                </p:oleObj>
              </mc:Choice>
              <mc:Fallback>
                <p:oleObj name="Visio" r:id="rId14" imgW="447407" imgH="961154" progId="Visio.Drawing.11">
                  <p:embed/>
                  <p:pic>
                    <p:nvPicPr>
                      <p:cNvPr id="2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315" y="3023811"/>
                        <a:ext cx="662622" cy="1396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922" name="Object 18"/>
          <p:cNvGraphicFramePr>
            <a:graphicFrameLocks noChangeAspect="1"/>
          </p:cNvGraphicFramePr>
          <p:nvPr/>
        </p:nvGraphicFramePr>
        <p:xfrm>
          <a:off x="3200492" y="4624200"/>
          <a:ext cx="840903" cy="296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50" name="公式" r:id="rId16" imgW="571252" imgH="203112" progId="Equation.3">
                  <p:embed/>
                </p:oleObj>
              </mc:Choice>
              <mc:Fallback>
                <p:oleObj name="公式" r:id="rId16" imgW="571252" imgH="203112" progId="Equation.3">
                  <p:embed/>
                  <p:pic>
                    <p:nvPicPr>
                      <p:cNvPr id="11479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92" y="4624200"/>
                        <a:ext cx="840903" cy="2968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924" name="Object 20"/>
          <p:cNvGraphicFramePr>
            <a:graphicFrameLocks noChangeAspect="1"/>
          </p:cNvGraphicFramePr>
          <p:nvPr/>
        </p:nvGraphicFramePr>
        <p:xfrm>
          <a:off x="4091910" y="4600755"/>
          <a:ext cx="1710606" cy="318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51" name="公式" r:id="rId18" imgW="1257300" imgH="228600" progId="Equation.3">
                  <p:embed/>
                </p:oleObj>
              </mc:Choice>
              <mc:Fallback>
                <p:oleObj name="公式" r:id="rId18" imgW="1257300" imgH="228600" progId="Equation.3">
                  <p:embed/>
                  <p:pic>
                    <p:nvPicPr>
                      <p:cNvPr id="11479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1910" y="4600755"/>
                        <a:ext cx="1710606" cy="3184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926" name="Object 22"/>
          <p:cNvGraphicFramePr>
            <a:graphicFrameLocks noChangeAspect="1"/>
          </p:cNvGraphicFramePr>
          <p:nvPr/>
        </p:nvGraphicFramePr>
        <p:xfrm>
          <a:off x="1372475" y="4606411"/>
          <a:ext cx="1287462" cy="307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52" name="公式" r:id="rId20" imgW="799753" imgH="203112" progId="Equation.3">
                  <p:embed/>
                </p:oleObj>
              </mc:Choice>
              <mc:Fallback>
                <p:oleObj name="公式" r:id="rId20" imgW="799753" imgH="203112" progId="Equation.3">
                  <p:embed/>
                  <p:pic>
                    <p:nvPicPr>
                      <p:cNvPr id="11479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2475" y="4606411"/>
                        <a:ext cx="1287462" cy="3071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5802516" y="2531720"/>
            <a:ext cx="3028871" cy="2041188"/>
            <a:chOff x="6107560" y="3205145"/>
            <a:chExt cx="2857298" cy="2041188"/>
          </a:xfrm>
        </p:grpSpPr>
        <p:sp>
          <p:nvSpPr>
            <p:cNvPr id="30" name="圆角矩形 29"/>
            <p:cNvSpPr/>
            <p:nvPr/>
          </p:nvSpPr>
          <p:spPr>
            <a:xfrm>
              <a:off x="6321863" y="3425153"/>
              <a:ext cx="2642995" cy="1821180"/>
            </a:xfrm>
            <a:prstGeom prst="roundRect">
              <a:avLst>
                <a:gd name="adj" fmla="val 11994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eaLnBrk="0" hangingPunct="0">
                <a:lnSpc>
                  <a:spcPct val="12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    利用“圈</a:t>
              </a:r>
              <a:r>
                <a:rPr lang="en-US" altLang="zh-CN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0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法”，将直接得到某函数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反函数的最简与</a:t>
              </a:r>
              <a:r>
                <a:rPr lang="en-US" altLang="zh-CN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-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或表达式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，对函数取反，即可方便得到一个函数的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最简与或非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表达式。 </a:t>
              </a:r>
            </a:p>
          </p:txBody>
        </p:sp>
        <p:pic>
          <p:nvPicPr>
            <p:cNvPr id="31" name="Picture 7"/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6107560" y="3205145"/>
              <a:ext cx="461916" cy="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256C0E9E-4E2F-42AD-B403-F5E32EB4D6F9}"/>
              </a:ext>
            </a:extLst>
          </p:cNvPr>
          <p:cNvSpPr txBox="1"/>
          <p:nvPr/>
        </p:nvSpPr>
        <p:spPr>
          <a:xfrm>
            <a:off x="407043" y="1186351"/>
            <a:ext cx="8424344" cy="67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 indent="446088"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如果一个逻辑函数的卡诺图中里面的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很少且相邻性很强，用圈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法化简更简便。圈</a:t>
            </a:r>
            <a:r>
              <a:rPr lang="en-US" altLang="zh-CN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后写出的是</a:t>
            </a:r>
            <a:r>
              <a:rPr lang="zh-CN" altLang="en-US" sz="16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反函数的最简与</a:t>
            </a:r>
            <a:r>
              <a:rPr lang="en-US" altLang="zh-CN" sz="16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-</a:t>
            </a:r>
            <a:r>
              <a:rPr lang="zh-CN" altLang="en-US" sz="16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或式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，通过</a:t>
            </a:r>
            <a:r>
              <a:rPr lang="zh-CN" altLang="en-US" sz="1600" b="1" dirty="0">
                <a:solidFill>
                  <a:srgbClr val="66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取非可得原函数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  </a:t>
            </a:r>
            <a:endParaRPr lang="zh-CN" altLang="en-US" sz="1600" dirty="0">
              <a:solidFill>
                <a:schemeClr val="tx1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101090" y="1824567"/>
            <a:ext cx="1371600" cy="760000"/>
            <a:chOff x="1101090" y="1824567"/>
            <a:chExt cx="1371600" cy="760000"/>
          </a:xfrm>
        </p:grpSpPr>
        <p:grpSp>
          <p:nvGrpSpPr>
            <p:cNvPr id="3" name="组合 35"/>
            <p:cNvGrpSpPr/>
            <p:nvPr/>
          </p:nvGrpSpPr>
          <p:grpSpPr>
            <a:xfrm>
              <a:off x="1101090" y="1972734"/>
              <a:ext cx="1371600" cy="110067"/>
              <a:chOff x="910590" y="1699260"/>
              <a:chExt cx="1371600" cy="9906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36"/>
            <p:cNvGrpSpPr/>
            <p:nvPr/>
          </p:nvGrpSpPr>
          <p:grpSpPr>
            <a:xfrm rot="5400000">
              <a:off x="986715" y="2155037"/>
              <a:ext cx="760000" cy="99060"/>
              <a:chOff x="910590" y="1699260"/>
              <a:chExt cx="1371600" cy="99060"/>
            </a:xfrm>
          </p:grpSpPr>
          <p:cxnSp>
            <p:nvCxnSpPr>
              <p:cNvPr id="20" name="直接连接符 19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组合 17"/>
          <p:cNvGrpSpPr/>
          <p:nvPr/>
        </p:nvGrpSpPr>
        <p:grpSpPr>
          <a:xfrm>
            <a:off x="6442710" y="3136900"/>
            <a:ext cx="1371600" cy="760000"/>
            <a:chOff x="6442710" y="3136900"/>
            <a:chExt cx="1371600" cy="760000"/>
          </a:xfrm>
        </p:grpSpPr>
        <p:grpSp>
          <p:nvGrpSpPr>
            <p:cNvPr id="6" name="组合 35"/>
            <p:cNvGrpSpPr/>
            <p:nvPr/>
          </p:nvGrpSpPr>
          <p:grpSpPr>
            <a:xfrm rot="10800000">
              <a:off x="6442710" y="3638667"/>
              <a:ext cx="1371600" cy="110067"/>
              <a:chOff x="910590" y="1699260"/>
              <a:chExt cx="1371600" cy="99060"/>
            </a:xfrm>
          </p:grpSpPr>
          <p:cxnSp>
            <p:nvCxnSpPr>
              <p:cNvPr id="31" name="直接连接符 30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36"/>
            <p:cNvGrpSpPr/>
            <p:nvPr/>
          </p:nvGrpSpPr>
          <p:grpSpPr>
            <a:xfrm rot="16200000">
              <a:off x="7092485" y="3467370"/>
              <a:ext cx="760000" cy="99060"/>
              <a:chOff x="910590" y="1699260"/>
              <a:chExt cx="1371600" cy="99060"/>
            </a:xfrm>
          </p:grpSpPr>
          <p:cxnSp>
            <p:nvCxnSpPr>
              <p:cNvPr id="28" name="直接连接符 27"/>
              <p:cNvCxnSpPr/>
              <p:nvPr/>
            </p:nvCxnSpPr>
            <p:spPr>
              <a:xfrm>
                <a:off x="910590" y="169926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910590" y="1798320"/>
                <a:ext cx="1371600" cy="0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文本框 6"/>
          <p:cNvSpPr txBox="1"/>
          <p:nvPr/>
        </p:nvSpPr>
        <p:spPr>
          <a:xfrm>
            <a:off x="1041354" y="1884639"/>
            <a:ext cx="6498792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400" b="1" dirty="0">
                <a:ln w="12700">
                  <a:solidFill>
                    <a:srgbClr val="7030A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第二章 逻辑代数</a:t>
            </a:r>
            <a:endParaRPr lang="en-US" altLang="zh-CN" sz="3400" b="1" dirty="0">
              <a:ln w="12700">
                <a:solidFill>
                  <a:srgbClr val="7030A0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2.3 </a:t>
            </a:r>
            <a:r>
              <a:rPr lang="zh-CN" altLang="en-US" sz="280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6600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逻辑函数的卡诺图化简</a:t>
            </a:r>
            <a:endParaRPr lang="en-US" altLang="zh-CN" sz="2800" dirty="0">
              <a:ln w="12700">
                <a:solidFill>
                  <a:srgbClr val="7030A0"/>
                </a:solidFill>
                <a:prstDash val="solid"/>
              </a:ln>
              <a:solidFill>
                <a:srgbClr val="6600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方正粗黑宋简体" pitchFamily="2" charset="-122"/>
              <a:ea typeface="方正粗黑宋简体" pitchFamily="2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粗黑宋简体" pitchFamily="2" charset="-122"/>
                <a:ea typeface="方正粗黑宋简体" pitchFamily="2" charset="-122"/>
              </a:rPr>
              <a:t>（四）具有无关项的逻辑函数的化简</a:t>
            </a:r>
          </a:p>
        </p:txBody>
      </p:sp>
      <p:sp>
        <p:nvSpPr>
          <p:cNvPr id="37890" name="AutoShape 2" descr="http://img1.imgtn.bdimg.com/it/u=2942258362,1117296489&amp;fm=26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59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oup 541"/>
          <p:cNvGraphicFramePr>
            <a:graphicFrameLocks noGrp="1"/>
          </p:cNvGraphicFramePr>
          <p:nvPr/>
        </p:nvGraphicFramePr>
        <p:xfrm>
          <a:off x="4297680" y="2889556"/>
          <a:ext cx="1810813" cy="2291888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58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95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A    B    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964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0     0     0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0     0     1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0     1     0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0     1     1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1     0     0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1     0     1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1     1     0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1     1     1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方正粗黑宋简体" pitchFamily="2" charset="-122"/>
                        <a:ea typeface="方正粗黑宋简体" pitchFamily="2" charset="-122"/>
                        <a:cs typeface="+mn-cs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646919" y="2181670"/>
            <a:ext cx="82511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8775" indent="-358775"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例：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在十字路口有红绿黄三色交通信号灯，规定红灯停，绿灯行，黄灯等一等，试分析车行与三色信号灯之间逻辑关系。</a:t>
            </a: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46918" y="2889556"/>
            <a:ext cx="3502459" cy="1292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6088" indent="-446088"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解：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设红、黄、绿灯分别用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A</a:t>
            </a:r>
            <a:r>
              <a:rPr lang="zh-CN" altLang="en-US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lang="zh-CN" altLang="en-US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表示，且灯亮为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，灯灭为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。车用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表示，车行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=1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，车停</a:t>
            </a:r>
            <a:r>
              <a:rPr lang="en-US" altLang="zh-CN" sz="16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lang="en-US" altLang="zh-CN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=0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。列出该函数的真值表。</a:t>
            </a:r>
          </a:p>
        </p:txBody>
      </p:sp>
      <p:grpSp>
        <p:nvGrpSpPr>
          <p:cNvPr id="10" name="组合 10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11" name="矩形 10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1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、无关项定义</a:t>
              </a:r>
            </a:p>
          </p:txBody>
        </p:sp>
        <p:pic>
          <p:nvPicPr>
            <p:cNvPr id="12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8" name="组合 17"/>
          <p:cNvGrpSpPr/>
          <p:nvPr/>
        </p:nvGrpSpPr>
        <p:grpSpPr>
          <a:xfrm>
            <a:off x="6195229" y="2857500"/>
            <a:ext cx="2718174" cy="2284317"/>
            <a:chOff x="5576725" y="3377088"/>
            <a:chExt cx="2457676" cy="2284317"/>
          </a:xfrm>
        </p:grpSpPr>
        <p:sp>
          <p:nvSpPr>
            <p:cNvPr id="19" name="圆角矩形 18"/>
            <p:cNvSpPr/>
            <p:nvPr/>
          </p:nvSpPr>
          <p:spPr>
            <a:xfrm>
              <a:off x="5791031" y="3604907"/>
              <a:ext cx="2243370" cy="2056498"/>
            </a:xfrm>
            <a:prstGeom prst="roundRect">
              <a:avLst>
                <a:gd name="adj" fmla="val 11994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b"/>
            <a:lstStyle/>
            <a:p>
              <a:pPr eaLnBrk="0" hangingPunct="0">
                <a:lnSpc>
                  <a:spcPct val="125000"/>
                </a:lnSpc>
              </a:pP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有五种情况是不会出现的 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，因为一个正常的交通灯系统不可能出现这些情况，如果出现了，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车可以行也可以停，即逻辑值任意</a:t>
              </a:r>
              <a:r>
                <a:rPr lang="zh-CN" altLang="en-US" sz="1600" b="1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。 </a:t>
              </a:r>
            </a:p>
          </p:txBody>
        </p:sp>
        <p:pic>
          <p:nvPicPr>
            <p:cNvPr id="20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76725" y="3377088"/>
              <a:ext cx="461916" cy="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E3C29AE7-4393-4DEA-A370-A6CDC23F34CD}"/>
              </a:ext>
            </a:extLst>
          </p:cNvPr>
          <p:cNvSpPr txBox="1"/>
          <p:nvPr/>
        </p:nvSpPr>
        <p:spPr>
          <a:xfrm>
            <a:off x="735332" y="1160334"/>
            <a:ext cx="8004636" cy="995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363" eaLnBrk="0" hangingPunct="0">
              <a:lnSpc>
                <a:spcPct val="125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在有些逻辑函数中，输入变量的某些取值组合不会出现，或者一旦出现，逻辑值可以是任意的。这样的取值组合所对应的最小项称为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无关项、任意项或约束项</a:t>
            </a:r>
            <a:r>
              <a:rPr lang="zh-CN" altLang="en-US" sz="1600" dirty="0">
                <a:solidFill>
                  <a:srgbClr val="0070C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，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用符号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×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来表示其逻辑值</a:t>
            </a:r>
            <a:r>
              <a:rPr lang="zh-CN" altLang="en-US" sz="1600" dirty="0">
                <a:solidFill>
                  <a:srgbClr val="0070C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。</a:t>
            </a:r>
            <a:endParaRPr lang="zh-CN" altLang="en-US" sz="1600" b="1" dirty="0">
              <a:solidFill>
                <a:srgbClr val="0070C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6965D985-7EBB-4AC4-A21F-1B0E144BFA61}"/>
              </a:ext>
            </a:extLst>
          </p:cNvPr>
          <p:cNvGrpSpPr/>
          <p:nvPr/>
        </p:nvGrpSpPr>
        <p:grpSpPr>
          <a:xfrm>
            <a:off x="646917" y="3394976"/>
            <a:ext cx="3357346" cy="1688514"/>
            <a:chOff x="646917" y="3394976"/>
            <a:chExt cx="3357346" cy="1688514"/>
          </a:xfrm>
        </p:grpSpPr>
        <p:sp>
          <p:nvSpPr>
            <p:cNvPr id="9" name="AutoShape 12"/>
            <p:cNvSpPr>
              <a:spLocks noChangeArrowheads="1"/>
            </p:cNvSpPr>
            <p:nvPr/>
          </p:nvSpPr>
          <p:spPr bwMode="auto">
            <a:xfrm>
              <a:off x="646917" y="3394976"/>
              <a:ext cx="3357346" cy="1688514"/>
            </a:xfrm>
            <a:prstGeom prst="wedgeRoundRectCallout">
              <a:avLst>
                <a:gd name="adj1" fmla="val 55708"/>
                <a:gd name="adj2" fmla="val -3497"/>
                <a:gd name="adj3" fmla="val 16667"/>
              </a:avLst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t"/>
            <a:lstStyle/>
            <a:p>
              <a:pPr algn="ctr" eaLnBrk="0" hangingPunct="0">
                <a:lnSpc>
                  <a:spcPct val="125000"/>
                </a:lnSpc>
              </a:pPr>
              <a:r>
                <a:rPr lang="zh-CN" altLang="en-US" sz="1400" dirty="0">
                  <a:solidFill>
                    <a:srgbClr val="0070C0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带无关项的逻辑函数的最小项表达式</a:t>
              </a:r>
              <a:endParaRPr lang="en-US" altLang="zh-CN" sz="1400" dirty="0">
                <a:solidFill>
                  <a:srgbClr val="0070C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endParaRPr>
            </a:p>
            <a:p>
              <a:pPr eaLnBrk="0" hangingPunct="0">
                <a:lnSpc>
                  <a:spcPct val="125000"/>
                </a:lnSpc>
              </a:pPr>
              <a:endParaRPr lang="zh-CN" altLang="en-US" sz="1400" dirty="0">
                <a:solidFill>
                  <a:srgbClr val="0070C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endParaRPr>
            </a:p>
            <a:p>
              <a:pPr eaLnBrk="0" hangingPunct="0">
                <a:lnSpc>
                  <a:spcPct val="125000"/>
                </a:lnSpc>
              </a:pPr>
              <a:endParaRPr lang="zh-CN" altLang="en-US" sz="1600" b="1" dirty="0">
                <a:solidFill>
                  <a:srgbClr val="FF00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876583" y="3920799"/>
            <a:ext cx="2411693" cy="318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126" name="公式" r:id="rId6" imgW="1447800" imgH="190500" progId="Equation.3">
                    <p:embed/>
                  </p:oleObj>
                </mc:Choice>
                <mc:Fallback>
                  <p:oleObj name="公式" r:id="rId6" imgW="1447800" imgH="190500" progId="Equation.3">
                    <p:embed/>
                    <p:pic>
                      <p:nvPicPr>
                        <p:cNvPr id="3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583" y="3920799"/>
                          <a:ext cx="2411693" cy="3184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xmlns="" id="{706F4D5E-ECE9-4C92-92BF-C840EE8613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488" y="4449763"/>
          <a:ext cx="2957512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27" name="Equation" r:id="rId8" imgW="2361960" imgH="253800" progId="Equation.DSMT4">
                  <p:embed/>
                </p:oleObj>
              </mc:Choice>
              <mc:Fallback>
                <p:oleObj name="Equation" r:id="rId8" imgW="2361960" imgH="253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xmlns="" id="{706F4D5E-ECE9-4C92-92BF-C840EE861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4449763"/>
                        <a:ext cx="2957512" cy="319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2575825" y="3897496"/>
            <a:ext cx="1559976" cy="883031"/>
            <a:chOff x="1760832" y="3537723"/>
            <a:chExt cx="1559976" cy="883031"/>
          </a:xfrm>
        </p:grpSpPr>
        <p:sp>
          <p:nvSpPr>
            <p:cNvPr id="24" name="AutoShape 134"/>
            <p:cNvSpPr>
              <a:spLocks noChangeArrowheads="1"/>
            </p:cNvSpPr>
            <p:nvPr/>
          </p:nvSpPr>
          <p:spPr bwMode="auto">
            <a:xfrm>
              <a:off x="2486859" y="3537723"/>
              <a:ext cx="833949" cy="386520"/>
            </a:xfrm>
            <a:prstGeom prst="wedgeRoundRectCallout">
              <a:avLst>
                <a:gd name="adj1" fmla="val -53054"/>
                <a:gd name="adj2" fmla="val 95029"/>
                <a:gd name="adj3" fmla="val 16667"/>
              </a:avLst>
            </a:prstGeom>
            <a:solidFill>
              <a:srgbClr val="FFFF99"/>
            </a:solidFill>
            <a:ln w="38100">
              <a:solidFill>
                <a:srgbClr val="FF00FF"/>
              </a:solidFill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方正粗黑宋简体" pitchFamily="2" charset="-122"/>
                  <a:ea typeface="方正粗黑宋简体" pitchFamily="2" charset="-122"/>
                </a:rPr>
                <a:t>无关项</a:t>
              </a:r>
              <a:endParaRPr lang="en-US" altLang="zh-CN" sz="1600" dirty="0">
                <a:solidFill>
                  <a:schemeClr val="tx1"/>
                </a:solidFill>
                <a:latin typeface="方正粗黑宋简体" pitchFamily="2" charset="-122"/>
                <a:ea typeface="方正粗黑宋简体" pitchFamily="2" charset="-122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760832" y="4059913"/>
              <a:ext cx="1306745" cy="360841"/>
            </a:xfrm>
            <a:prstGeom prst="roundRect">
              <a:avLst/>
            </a:prstGeom>
            <a:solidFill>
              <a:schemeClr val="accent1">
                <a:alpha val="2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77850" y="1190943"/>
            <a:ext cx="82994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449263">
              <a:lnSpc>
                <a:spcPct val="125000"/>
              </a:lnSpc>
            </a:pP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化简具有无关项的逻辑函数时，要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充分利用无关项可以当“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0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”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也可以当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“</a:t>
            </a:r>
            <a:r>
              <a:rPr lang="en-US" altLang="zh-CN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1</a:t>
            </a:r>
            <a:r>
              <a:rPr lang="zh-CN" altLang="en-US" sz="1600" dirty="0">
                <a:solidFill>
                  <a:srgbClr val="6600FF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”的特点，尽量扩大卡诺圈，使逻辑函数更简</a:t>
            </a:r>
            <a:r>
              <a:rPr lang="zh-CN" altLang="en-US" sz="16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。</a:t>
            </a:r>
            <a:endParaRPr lang="en-US" altLang="zh-CN" sz="1600" b="1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641600" y="2038010"/>
            <a:ext cx="5494215" cy="1901530"/>
            <a:chOff x="2641600" y="2038010"/>
            <a:chExt cx="5494215" cy="1901530"/>
          </a:xfrm>
        </p:grpSpPr>
        <p:sp>
          <p:nvSpPr>
            <p:cNvPr id="9" name="AutoShape 13"/>
            <p:cNvSpPr>
              <a:spLocks noChangeArrowheads="1"/>
            </p:cNvSpPr>
            <p:nvPr/>
          </p:nvSpPr>
          <p:spPr bwMode="auto">
            <a:xfrm>
              <a:off x="2641600" y="2038010"/>
              <a:ext cx="5494215" cy="1901530"/>
            </a:xfrm>
            <a:prstGeom prst="roundRect">
              <a:avLst>
                <a:gd name="adj" fmla="val 3597"/>
              </a:avLst>
            </a:prstGeom>
            <a:solidFill>
              <a:srgbClr val="FFFFFF"/>
            </a:solidFill>
            <a:ln w="19050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2" name="Object 8"/>
            <p:cNvGraphicFramePr>
              <a:graphicFrameLocks noChangeAspect="1"/>
            </p:cNvGraphicFramePr>
            <p:nvPr/>
          </p:nvGraphicFramePr>
          <p:xfrm>
            <a:off x="2779713" y="2105025"/>
            <a:ext cx="2439987" cy="1330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162" name="Visio" r:id="rId4" imgW="1504995" imgH="825469" progId="Visio.Drawing.11">
                    <p:embed/>
                  </p:oleObj>
                </mc:Choice>
                <mc:Fallback>
                  <p:oleObj name="Visio" r:id="rId4" imgW="1504995" imgH="825469" progId="Visio.Drawing.11">
                    <p:embed/>
                    <p:pic>
                      <p:nvPicPr>
                        <p:cNvPr id="1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9713" y="2105025"/>
                          <a:ext cx="2439987" cy="1330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0"/>
            <p:cNvGraphicFramePr>
              <a:graphicFrameLocks noChangeAspect="1"/>
            </p:cNvGraphicFramePr>
            <p:nvPr/>
          </p:nvGraphicFramePr>
          <p:xfrm>
            <a:off x="5485857" y="2104932"/>
            <a:ext cx="2439987" cy="1330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1163" name="Visio" r:id="rId6" imgW="1504995" imgH="825469" progId="Visio.Drawing.11">
                    <p:embed/>
                  </p:oleObj>
                </mc:Choice>
                <mc:Fallback>
                  <p:oleObj name="Visio" r:id="rId6" imgW="1504995" imgH="825469" progId="Visio.Drawing.11">
                    <p:embed/>
                    <p:pic>
                      <p:nvPicPr>
                        <p:cNvPr id="1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5857" y="2104932"/>
                          <a:ext cx="2439987" cy="1330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AutoShape 22"/>
          <p:cNvSpPr>
            <a:spLocks noChangeArrowheads="1"/>
          </p:cNvSpPr>
          <p:nvPr/>
        </p:nvSpPr>
        <p:spPr bwMode="auto">
          <a:xfrm>
            <a:off x="4599939" y="713740"/>
            <a:ext cx="4254501" cy="1023620"/>
          </a:xfrm>
          <a:prstGeom prst="wedgeRoundRectCallout">
            <a:avLst>
              <a:gd name="adj1" fmla="val -31747"/>
              <a:gd name="adj2" fmla="val 79969"/>
              <a:gd name="adj3" fmla="val 16667"/>
            </a:avLst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在考虑无关项时，哪些无关项当作“</a:t>
            </a:r>
            <a:r>
              <a:rPr lang="en-US" altLang="zh-CN" sz="1600" b="1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1</a:t>
            </a:r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”</a:t>
            </a:r>
            <a:r>
              <a:rPr lang="en-US" altLang="zh-CN" sz="1600" b="1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，哪些无关项当作“</a:t>
            </a:r>
            <a:r>
              <a:rPr lang="en-US" altLang="zh-CN" sz="1600" b="1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0</a:t>
            </a:r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”</a:t>
            </a:r>
            <a:r>
              <a:rPr lang="en-US" altLang="zh-CN" sz="1600" b="1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 </a:t>
            </a:r>
            <a:r>
              <a:rPr lang="zh-CN" altLang="en-US" sz="1600" dirty="0">
                <a:solidFill>
                  <a:srgbClr val="FFFF00"/>
                </a:solidFill>
                <a:latin typeface="Times New Roman" pitchFamily="18" charset="0"/>
                <a:ea typeface="方正粗黑宋简体" pitchFamily="2" charset="-122"/>
                <a:cs typeface="Times New Roman" pitchFamily="18" charset="0"/>
              </a:rPr>
              <a:t>，要以尽量扩大卡诺圈、减少圈的个数，使逻辑函数更简为原则。</a:t>
            </a:r>
          </a:p>
        </p:txBody>
      </p:sp>
      <p:grpSp>
        <p:nvGrpSpPr>
          <p:cNvPr id="18" name="组合 10"/>
          <p:cNvGrpSpPr/>
          <p:nvPr/>
        </p:nvGrpSpPr>
        <p:grpSpPr>
          <a:xfrm>
            <a:off x="392432" y="780143"/>
            <a:ext cx="3905248" cy="411055"/>
            <a:chOff x="392432" y="780143"/>
            <a:chExt cx="3905248" cy="411055"/>
          </a:xfrm>
        </p:grpSpPr>
        <p:sp>
          <p:nvSpPr>
            <p:cNvPr id="19" name="矩形 18"/>
            <p:cNvSpPr/>
            <p:nvPr/>
          </p:nvSpPr>
          <p:spPr>
            <a:xfrm>
              <a:off x="754216" y="805934"/>
              <a:ext cx="35434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2</a:t>
              </a:r>
              <a:r>
                <a:rPr lang="zh-CN" altLang="en-US" dirty="0">
                  <a:solidFill>
                    <a:srgbClr val="002060"/>
                  </a:solidFill>
                  <a:latin typeface="方正粗黑宋简体" pitchFamily="2" charset="-122"/>
                  <a:ea typeface="方正粗黑宋简体" pitchFamily="2" charset="-122"/>
                </a:rPr>
                <a:t>、具有无关项的逻辑函数的化简</a:t>
              </a:r>
            </a:p>
          </p:txBody>
        </p:sp>
        <p:pic>
          <p:nvPicPr>
            <p:cNvPr id="20" name="Picture 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flipH="1">
              <a:off x="392432" y="780143"/>
              <a:ext cx="342900" cy="4110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21" name="Group 541"/>
          <p:cNvGraphicFramePr>
            <a:graphicFrameLocks noGrp="1"/>
          </p:cNvGraphicFramePr>
          <p:nvPr/>
        </p:nvGraphicFramePr>
        <p:xfrm>
          <a:off x="737206" y="1980198"/>
          <a:ext cx="1810813" cy="1997442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58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57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A    B    C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39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0     0     0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0     0     1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0     1     0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0     1     1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1     0     0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1     0     1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1     1     0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</a:rPr>
                        <a:t>1     1     1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方正粗黑宋简体" pitchFamily="2" charset="-122"/>
                          <a:ea typeface="方正粗黑宋简体" pitchFamily="2" charset="-122"/>
                          <a:cs typeface="+mn-cs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Times New Roman"/>
                          <a:ea typeface="方正粗黑宋简体" pitchFamily="2" charset="-122"/>
                          <a:cs typeface="Times New Roman"/>
                        </a:rPr>
                        <a:t>×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方正粗黑宋简体" pitchFamily="2" charset="-122"/>
                        <a:ea typeface="方正粗黑宋简体" pitchFamily="2" charset="-122"/>
                        <a:cs typeface="+mn-cs"/>
                      </a:endParaRP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613296" y="4002380"/>
            <a:ext cx="7463904" cy="1202080"/>
            <a:chOff x="613296" y="4010000"/>
            <a:chExt cx="7463904" cy="1202080"/>
          </a:xfrm>
        </p:grpSpPr>
        <p:sp>
          <p:nvSpPr>
            <p:cNvPr id="24" name="剪去对角的矩形 23"/>
            <p:cNvSpPr/>
            <p:nvPr/>
          </p:nvSpPr>
          <p:spPr>
            <a:xfrm>
              <a:off x="855980" y="4226560"/>
              <a:ext cx="7221220" cy="985520"/>
            </a:xfrm>
            <a:prstGeom prst="snip2Diag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zh-CN" altLang="en-US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en-US" sz="1600" dirty="0">
                  <a:solidFill>
                    <a:srgbClr val="6600FF"/>
                  </a:solidFill>
                  <a:latin typeface="Times New Roman" pitchFamily="18" charset="0"/>
                  <a:ea typeface="方正粗黑宋简体" pitchFamily="2" charset="-122"/>
                  <a:cs typeface="Times New Roman" pitchFamily="18" charset="0"/>
                </a:rPr>
                <a:t>卡诺图化简法的特点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：优点是简单、直观，有一定的化简步骤可循，不易出错，且容易化到最简。但是在逻辑变量超过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1600" b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个时，就失去了简单、直观的优点，其实用意义大打折扣。 </a:t>
              </a:r>
            </a:p>
          </p:txBody>
        </p:sp>
        <p:pic>
          <p:nvPicPr>
            <p:cNvPr id="26" name="Picture 7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613296" y="4010000"/>
              <a:ext cx="489653" cy="465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2" name="AutoShape 24"/>
          <p:cNvSpPr>
            <a:spLocks noChangeArrowheads="1"/>
          </p:cNvSpPr>
          <p:nvPr/>
        </p:nvSpPr>
        <p:spPr bwMode="auto">
          <a:xfrm>
            <a:off x="3829368" y="2644140"/>
            <a:ext cx="354012" cy="297180"/>
          </a:xfrm>
          <a:prstGeom prst="roundRect">
            <a:avLst>
              <a:gd name="adj" fmla="val 16667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6526848" y="2659380"/>
            <a:ext cx="818832" cy="678180"/>
          </a:xfrm>
          <a:prstGeom prst="roundRect">
            <a:avLst>
              <a:gd name="adj" fmla="val 11049"/>
            </a:avLst>
          </a:prstGeom>
          <a:solidFill>
            <a:srgbClr val="00FF00">
              <a:alpha val="16078"/>
            </a:srgb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5" name="Object 17"/>
          <p:cNvGraphicFramePr>
            <a:graphicFrameLocks noChangeAspect="1"/>
          </p:cNvGraphicFramePr>
          <p:nvPr/>
        </p:nvGraphicFramePr>
        <p:xfrm>
          <a:off x="3631243" y="3481817"/>
          <a:ext cx="1128346" cy="31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4" name="公式" r:id="rId10" imgW="622080" imgH="203040" progId="Equation.3">
                  <p:embed/>
                </p:oleObj>
              </mc:Choice>
              <mc:Fallback>
                <p:oleObj name="公式" r:id="rId10" imgW="622080" imgH="203040" progId="Equation.3">
                  <p:embed/>
                  <p:pic>
                    <p:nvPicPr>
                      <p:cNvPr id="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243" y="3481817"/>
                        <a:ext cx="1128346" cy="3126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9"/>
          <p:cNvGraphicFramePr>
            <a:graphicFrameLocks noChangeAspect="1"/>
          </p:cNvGraphicFramePr>
          <p:nvPr/>
        </p:nvGraphicFramePr>
        <p:xfrm>
          <a:off x="6511701" y="3481817"/>
          <a:ext cx="576853" cy="264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5" name="公式" r:id="rId12" imgW="393480" imgH="177480" progId="Equation.3">
                  <p:embed/>
                </p:oleObj>
              </mc:Choice>
              <mc:Fallback>
                <p:oleObj name="公式" r:id="rId12" imgW="393480" imgH="177480" progId="Equation.3">
                  <p:embed/>
                  <p:pic>
                    <p:nvPicPr>
                      <p:cNvPr id="2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701" y="3481817"/>
                        <a:ext cx="576853" cy="2645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学术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12776</TotalTime>
  <Words>3166</Words>
  <Application>Microsoft Office PowerPoint</Application>
  <PresentationFormat>全屏显示(16:10)</PresentationFormat>
  <Paragraphs>419</Paragraphs>
  <Slides>39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39</vt:i4>
      </vt:variant>
    </vt:vector>
  </HeadingPairs>
  <TitlesOfParts>
    <vt:vector size="57" baseType="lpstr">
      <vt:lpstr>Monotype Sorts</vt:lpstr>
      <vt:lpstr>方正粗黑宋简体</vt:lpstr>
      <vt:lpstr>方正大黑简体</vt:lpstr>
      <vt:lpstr>黑体</vt:lpstr>
      <vt:lpstr>楷体</vt:lpstr>
      <vt:lpstr>楷体_GB2312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</vt:lpstr>
      <vt:lpstr>公式</vt:lpstr>
      <vt:lpstr>Equation</vt:lpstr>
      <vt:lpstr>Equation.3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Administrator</cp:lastModifiedBy>
  <cp:revision>997</cp:revision>
  <dcterms:created xsi:type="dcterms:W3CDTF">2015-01-13T10:49:01Z</dcterms:created>
  <dcterms:modified xsi:type="dcterms:W3CDTF">2024-09-09T12:38:29Z</dcterms:modified>
</cp:coreProperties>
</file>